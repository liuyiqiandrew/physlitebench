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5.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6.xml" ContentType="application/vnd.openxmlformats-officedocument.drawingml.chart+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a9400a9c0be4699" /><Relationship Type="http://schemas.openxmlformats.org/officeDocument/2006/relationships/extended-properties" Target="/docProps/app.xml" Id="R8d0bf4c5559f4d27" /><Relationship Type="http://schemas.openxmlformats.org/officeDocument/2006/relationships/officeDocument" Target="/ppt/presentation.xml" Id="Rb91284e105844902" /></Relationships>
</file>

<file path=ppt/presentation.xml><?xml version="1.0" encoding="utf-8"?>
<p:presentation xmlns:p="http://schemas.openxmlformats.org/presentationml/2006/main">
  <p:sldMasterIdLst>
    <p:sldMasterId xmlns:r="http://schemas.openxmlformats.org/officeDocument/2006/relationships" id="2147483648" r:id="R75e115ce6e53426c"/>
  </p:sldMasterIdLst>
  <p:notesMasterIdLst>
    <p:notesMasterId xmlns:r="http://schemas.openxmlformats.org/officeDocument/2006/relationships" r:id="R148017fd21884132"/>
  </p:notesMasterIdLst>
  <p:sldIdLst>
    <p:sldId xmlns:r="http://schemas.openxmlformats.org/officeDocument/2006/relationships" id="256" r:id="R6d5d0fc107c34e49"/>
    <p:sldId xmlns:r="http://schemas.openxmlformats.org/officeDocument/2006/relationships" id="257" r:id="Rc7752c1980a643c0"/>
    <p:sldId xmlns:r="http://schemas.openxmlformats.org/officeDocument/2006/relationships" id="258" r:id="Rd548ccb4e3f1492a"/>
    <p:sldId xmlns:r="http://schemas.openxmlformats.org/officeDocument/2006/relationships" id="259" r:id="Recb0b5fcd7bd4e0f"/>
    <p:sldId xmlns:r="http://schemas.openxmlformats.org/officeDocument/2006/relationships" id="260" r:id="Rcff01814ff674f06"/>
    <p:sldId xmlns:r="http://schemas.openxmlformats.org/officeDocument/2006/relationships" id="261" r:id="R30675e5cd6d74c7d"/>
    <p:sldId xmlns:r="http://schemas.openxmlformats.org/officeDocument/2006/relationships" id="262" r:id="Rf2ff5b862df04550"/>
    <p:sldId xmlns:r="http://schemas.openxmlformats.org/officeDocument/2006/relationships" id="263" r:id="Re1881ce2bfe64832"/>
    <p:sldId xmlns:r="http://schemas.openxmlformats.org/officeDocument/2006/relationships" id="264" r:id="Re7a6857db66f47c7"/>
    <p:sldId xmlns:r="http://schemas.openxmlformats.org/officeDocument/2006/relationships" id="265" r:id="R94152870c0c84cc3"/>
    <p:sldId xmlns:r="http://schemas.openxmlformats.org/officeDocument/2006/relationships" id="266" r:id="R79bda22c80f54717"/>
    <p:sldId xmlns:r="http://schemas.openxmlformats.org/officeDocument/2006/relationships" id="267" r:id="R1251caeff8e948d5"/>
    <p:sldId xmlns:r="http://schemas.openxmlformats.org/officeDocument/2006/relationships" id="268" r:id="R9d7389c25ecd43d1"/>
    <p:sldId xmlns:r="http://schemas.openxmlformats.org/officeDocument/2006/relationships" id="269" r:id="R632ecbf12da54b5b"/>
    <p:sldId xmlns:r="http://schemas.openxmlformats.org/officeDocument/2006/relationships" id="270" r:id="Rc9e5b559f1924c5e"/>
    <p:sldId xmlns:r="http://schemas.openxmlformats.org/officeDocument/2006/relationships" id="271" r:id="Ra8404690b7974570"/>
    <p:sldId xmlns:r="http://schemas.openxmlformats.org/officeDocument/2006/relationships" id="272" r:id="R917a3b391b6246e7"/>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e7a4f9cfc0a41c9" /><Relationship Type="http://schemas.openxmlformats.org/officeDocument/2006/relationships/slideMaster" Target="/ppt/slideMasters/slideMaster1.xml" Id="R75e115ce6e53426c" /><Relationship Type="http://schemas.openxmlformats.org/officeDocument/2006/relationships/notesMaster" Target="/ppt/notesMasters/notesMaster1.xml" Id="R148017fd21884132" /><Relationship Type="http://schemas.openxmlformats.org/officeDocument/2006/relationships/presProps" Target="/ppt/presProps.xml" Id="Rf8c2d8b28d0b4dc0" /><Relationship Type="http://schemas.openxmlformats.org/officeDocument/2006/relationships/viewProps" Target="/ppt/viewProps.xml" Id="Rfb521fa43c8b4135" /><Relationship Type="http://schemas.openxmlformats.org/officeDocument/2006/relationships/tableStyles" Target="/ppt/tableStyles.xml" Id="R036090b0c1854f19" /><Relationship Type="http://schemas.openxmlformats.org/officeDocument/2006/relationships/slide" Target="/ppt/slides/slide1.xml" Id="R6d5d0fc107c34e49" /><Relationship Type="http://schemas.openxmlformats.org/officeDocument/2006/relationships/slide" Target="/ppt/slides/slide2.xml" Id="Rc7752c1980a643c0" /><Relationship Type="http://schemas.openxmlformats.org/officeDocument/2006/relationships/slide" Target="/ppt/slides/slide3.xml" Id="Rd548ccb4e3f1492a" /><Relationship Type="http://schemas.openxmlformats.org/officeDocument/2006/relationships/slide" Target="/ppt/slides/slide4.xml" Id="Recb0b5fcd7bd4e0f" /><Relationship Type="http://schemas.openxmlformats.org/officeDocument/2006/relationships/slide" Target="/ppt/slides/slide5.xml" Id="Rcff01814ff674f06" /><Relationship Type="http://schemas.openxmlformats.org/officeDocument/2006/relationships/slide" Target="/ppt/slides/slide6.xml" Id="R30675e5cd6d74c7d" /><Relationship Type="http://schemas.openxmlformats.org/officeDocument/2006/relationships/slide" Target="/ppt/slides/slide7.xml" Id="Rf2ff5b862df04550" /><Relationship Type="http://schemas.openxmlformats.org/officeDocument/2006/relationships/slide" Target="/ppt/slides/slide8.xml" Id="Re1881ce2bfe64832" /><Relationship Type="http://schemas.openxmlformats.org/officeDocument/2006/relationships/slide" Target="/ppt/slides/slide9.xml" Id="Re7a6857db66f47c7" /><Relationship Type="http://schemas.openxmlformats.org/officeDocument/2006/relationships/slide" Target="/ppt/slides/slide10.xml" Id="R94152870c0c84cc3" /><Relationship Type="http://schemas.openxmlformats.org/officeDocument/2006/relationships/slide" Target="/ppt/slides/slide11.xml" Id="R79bda22c80f54717" /><Relationship Type="http://schemas.openxmlformats.org/officeDocument/2006/relationships/slide" Target="/ppt/slides/slide12.xml" Id="R1251caeff8e948d5" /><Relationship Type="http://schemas.openxmlformats.org/officeDocument/2006/relationships/slide" Target="/ppt/slides/slide13.xml" Id="R9d7389c25ecd43d1" /><Relationship Type="http://schemas.openxmlformats.org/officeDocument/2006/relationships/slide" Target="/ppt/slides/slide14.xml" Id="R632ecbf12da54b5b" /><Relationship Type="http://schemas.openxmlformats.org/officeDocument/2006/relationships/slide" Target="/ppt/slides/slide15.xml" Id="Rc9e5b559f1924c5e" /><Relationship Type="http://schemas.openxmlformats.org/officeDocument/2006/relationships/slide" Target="/ppt/slides/slide16.xml" Id="Ra8404690b7974570" /><Relationship Type="http://schemas.openxmlformats.org/officeDocument/2006/relationships/slide" Target="/ppt/slides/slide17.xml" Id="R917a3b391b6246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55c7c0ad074f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48326f189d45cc" /><Relationship Type="http://schemas.openxmlformats.org/officeDocument/2006/relationships/notesMaster" Target="/ppt/notesMasters/notesMaster1.xml" Id="R859c4ed2125741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800d4a81394ffd" /><Relationship Type="http://schemas.openxmlformats.org/officeDocument/2006/relationships/notesMaster" Target="/ppt/notesMasters/notesMaster1.xml" Id="R33c3e4094d1f4e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22864bf1b14a40" /><Relationship Type="http://schemas.openxmlformats.org/officeDocument/2006/relationships/notesMaster" Target="/ppt/notesMasters/notesMaster1.xml" Id="R8fbc8dd49eb140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6be97c8dfa4061" /><Relationship Type="http://schemas.openxmlformats.org/officeDocument/2006/relationships/notesMaster" Target="/ppt/notesMasters/notesMaster1.xml" Id="Racf2d1c75a6b41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7ffeb9bfd740aa" /><Relationship Type="http://schemas.openxmlformats.org/officeDocument/2006/relationships/notesMaster" Target="/ppt/notesMasters/notesMaster1.xml" Id="R017bac46ff8949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a26963158342f5" /><Relationship Type="http://schemas.openxmlformats.org/officeDocument/2006/relationships/notesMaster" Target="/ppt/notesMasters/notesMaster1.xml" Id="R4266acf096224d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ea389c174444f6" /><Relationship Type="http://schemas.openxmlformats.org/officeDocument/2006/relationships/notesMaster" Target="/ppt/notesMasters/notesMaster1.xml" Id="R29c4f60b76644c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32d4f1bf614d28" /><Relationship Type="http://schemas.openxmlformats.org/officeDocument/2006/relationships/notesMaster" Target="/ppt/notesMasters/notesMaster1.xml" Id="Rd7cf867049744db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6d7a7ae49d410f" /><Relationship Type="http://schemas.openxmlformats.org/officeDocument/2006/relationships/notesMaster" Target="/ppt/notesMasters/notesMaster1.xml" Id="Re046921538f346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108d04ae004ff2" /><Relationship Type="http://schemas.openxmlformats.org/officeDocument/2006/relationships/notesMaster" Target="/ppt/notesMasters/notesMaster1.xml" Id="R81d827b3692e435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e7a011c56f4f4f" /><Relationship Type="http://schemas.openxmlformats.org/officeDocument/2006/relationships/notesMaster" Target="/ppt/notesMasters/notesMaster1.xml" Id="R2ac3336502464a1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b39f25934204855" /><Relationship Type="http://schemas.openxmlformats.org/officeDocument/2006/relationships/notesMaster" Target="/ppt/notesMasters/notesMaster1.xml" Id="Rbc18d6f055b94aa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69bcff32ad24793" /><Relationship Type="http://schemas.openxmlformats.org/officeDocument/2006/relationships/notesMaster" Target="/ppt/notesMasters/notesMaster1.xml" Id="R7bccdf4c350946f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558638750054c41" /><Relationship Type="http://schemas.openxmlformats.org/officeDocument/2006/relationships/notesMaster" Target="/ppt/notesMasters/notesMaster1.xml" Id="R8e6bdbce76fd4c9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87940f6da144a6" /><Relationship Type="http://schemas.openxmlformats.org/officeDocument/2006/relationships/notesMaster" Target="/ppt/notesMasters/notesMaster1.xml" Id="Rdc58325c69054e9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5acbe5a928f424b" /><Relationship Type="http://schemas.openxmlformats.org/officeDocument/2006/relationships/notesMaster" Target="/ppt/notesMasters/notesMaster1.xml" Id="Rfcf5d0ae6d7c47f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91c7e393f8f4331" /><Relationship Type="http://schemas.openxmlformats.org/officeDocument/2006/relationships/notesMaster" Target="/ppt/notesMasters/notesMaster1.xml" Id="R209340d1d81342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 seconds.</a:t>
            </a:r>
          </a:p>
          <a:p xmlns:a="http://schemas.openxmlformats.org/drawingml/2006/main">
            <a:r>
              <a:t/>
            </a:r>
            <a:endParaRPr/>
          </a:p>
          <a:p xmlns:a="http://schemas.openxmlformats.org/drawingml/2006/main">
            <a:r>
              <a:t>We study how well coding agents can turn a physical setup and limited measurements into predictions.</a:t>
            </a:r>
          </a:p>
          <a:p xmlns:a="http://schemas.openxmlformats.org/drawingml/2006/main">
            <a:r>
              <a:t/>
            </a:r>
            <a:endParaRPr/>
          </a:p>
          <a:p xmlns:a="http://schemas.openxmlformats.org/drawingml/2006/main">
            <a:r>
              <a:t>Sources:</a:t>
            </a: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45 seconds.</a:t>
            </a:r>
          </a:p>
          <a:p xmlns:a="http://schemas.openxmlformats.org/drawingml/2006/main">
            <a:r>
              <a:t/>
            </a:r>
            <a:endParaRPr/>
          </a:p>
          <a:p xmlns:a="http://schemas.openxmlformats.org/drawingml/2006/main">
            <a:r>
              <a:t>PhysLiteBench asks whether a coding agent can turn a physical description and limited measurements into reliable predictions. Think of the supplied measurements as training data. They cover only some settings of the experiment. The agent receives the setup, starter code and public tests. It can change the entire model. The evaluator then checks whether the program fits the measurements and makes correct predictions at other settings, within a fixed time budget. Our suite has thirteen tasks. They were selected using GPT-5.6 Luna, so this is a deliberately challenging sample. I will explain one example using beads moving inside a narrow tube.</a:t>
            </a:r>
          </a:p>
          <a:p xmlns:a="http://schemas.openxmlformats.org/drawingml/2006/main">
            <a:r>
              <a:t/>
            </a:r>
            <a:endParaRPr/>
          </a:p>
          <a:p xmlns:a="http://schemas.openxmlformats.org/drawingml/2006/main">
            <a:r>
              <a:t>Sources:</a:t>
            </a:r>
          </a:p>
          <a:p xmlns:a="http://schemas.openxmlformats.org/drawingml/2006/main">
            <a:r>
              <a:t>/Users/yp9846/Desktop/PhysLiteBench/README.md</a:t>
            </a:r>
          </a:p>
          <a:p xmlns:a="http://schemas.openxmlformats.org/drawingml/2006/main">
            <a:r>
              <a:t>/Users/yp9846/Desktop/PhysLiteBench/docs/BENCHMARK.md</a:t>
            </a:r>
          </a:p>
          <a:p xmlns:a="http://schemas.openxmlformats.org/drawingml/2006/main">
            <a:r>
              <a:t>/Users/yp9846/Desktop/PhysLiteBench/results/task-roster.json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85 seconds.</a:t>
            </a:r>
          </a:p>
          <a:p xmlns:a="http://schemas.openxmlformats.org/drawingml/2006/main">
            <a:r>
              <a:t/>
            </a:r>
            <a:endParaRPr/>
          </a:p>
          <a:p xmlns:a="http://schemas.openxmlformats.org/drawingml/2006/main">
            <a:r>
              <a:t>Imagine a long tube containing a row of beads. Random motion makes them bump around, but the tube is too narrow for one bead to pass another. We mark one bead orange and observe it. Every repeat starts with all the beads in exactly the same evenly spaced positions. We release them, then record the orange bead's position early and later in the same run. The next run starts from the original row but has different random motion. The pictures illustrate one possible run, not measured data. What does the agent know? It has this description, starter code, and measurements of how far the orange bead typically moves at several chosen times. These data let it estimate how strong the random motion is. What must it predict? Across many repeats, how strongly are the orange bead's early and later positions connected? For example, in runs where it is farther right early, does it also tend to be farther right later, and how strong is that relationship? The agent must write a numerical prediction for this relationship. The important physical detail is how we start the experiment. The beads begin in a regular row and cannot pass one another. That arrangement can still influence how motion at one time relates to motion later. Fitting the movement strength alone does not settle that question.</a:t>
            </a:r>
          </a:p>
          <a:p xmlns:a="http://schemas.openxmlformats.org/drawingml/2006/main">
            <a:r>
              <a:t/>
            </a:r>
            <a:endParaRPr/>
          </a:p>
          <a:p xmlns:a="http://schemas.openxmlformats.org/drawingml/2006/main">
            <a:r>
              <a:t>Sources:</a:t>
            </a:r>
          </a:p>
          <a:p xmlns:a="http://schemas.openxmlformats.org/drawingml/2006/main">
            <a:r>
              <a:t>/Users/yp9846/Desktop/PhysLiteBench/tasks/single-file-memory/environment/README.md</a:t>
            </a:r>
          </a:p>
          <a:p xmlns:a="http://schemas.openxmlformats.org/drawingml/2006/main">
            <a:r>
              <a:t>/Users/yp9846/Desktop/PhysLiteBench/tasks/single-file-memory/instruction.md</a:t>
            </a:r>
          </a:p>
          <a:p xmlns:a="http://schemas.openxmlformats.org/drawingml/2006/main">
            <a:r>
              <a:t>/Users/yp9846/Desktop/PhysLiteBench/tasks/single-file-memory/environment/model.py</a:t>
            </a:r>
          </a:p>
          <a:p xmlns:a="http://schemas.openxmlformats.org/drawingml/2006/main">
            <a:r>
              <a:t>/Users/yp9846/Desktop/PhysLiteBench/tasks/single-file-memory/solution/model.py</a:t>
            </a:r>
          </a:p>
          <a:p xmlns:a="http://schemas.openxmlformats.org/drawingml/2006/main">
            <a:r>
              <a:t>/Users/yp9846/Desktop/PhysLiteBench/tasks/single-file-memory/AUTHOR.md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60 seconds.</a:t>
            </a:r>
          </a:p>
          <a:p xmlns:a="http://schemas.openxmlformats.org/drawingml/2006/main">
            <a:r>
              <a:t/>
            </a:r>
            <a:endParaRPr/>
          </a:p>
          <a:p xmlns:a="http://schemas.openxmlformats.org/drawingml/2006/main">
            <a:r>
              <a:t>There are three prompt conditions. The baseline gives the original task and public files. The general hint asks the agent to check its implementation and test correctness. It does not identify which assumption might need attention. The physics hint points to a specific feature of the experiment. For the beads, it emphasizes that the same starting arrangement can affect the relationship between positions measured at two times. The full hint also suggests how to calculate this relationship. The slide summarizes its physical idea in everyday language. The hint supplies a direction for thinking, not the final formula. We keep the task files and grading the same across these conditions.</a:t>
            </a:r>
          </a:p>
          <a:p xmlns:a="http://schemas.openxmlformats.org/drawingml/2006/main">
            <a:r>
              <a:t/>
            </a:r>
            <a:endParaRPr/>
          </a:p>
          <a:p xmlns:a="http://schemas.openxmlformats.org/drawingml/2006/main">
            <a:r>
              <a:t>Sources:</a:t>
            </a:r>
          </a:p>
          <a:p xmlns:a="http://schemas.openxmlformats.org/drawingml/2006/main">
            <a:r>
              <a:t>/Users/yp9846/Desktop/PhysLiteBench/results/hint-comparison-20261014/plan.json</a:t>
            </a:r>
          </a:p>
          <a:p xmlns:a="http://schemas.openxmlformats.org/drawingml/2006/main">
            <a:r>
              <a:t>/Users/yp9846/Desktop/PhysLiteBench/tasks/single-file-memory/hint.md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endParaRPr/>
          </a:p>
          <a:p xmlns:a="http://schemas.openxmlformats.org/drawingml/2006/main">
            <a:r>
              <a:t>We now have three experiment cohorts. The original no-hint sweep contains 585 attempts and includes GPT-6 models. The collaborator has completed 780 hinted trials, with 390 historical no-hint controls. Its Luna model is GPT-5.6, with six reasoning settings. It also includes Terra and Sol at Low and Medium. The next two slides use the completed collaborator Luna results. Our separate three-model High-effort study is still running. These cohorts stay separate. We use the same 600-second agent and 60-second verifier limits. A timeout cannot be called a physical modeling failure. Historical control batches differ in concurrency and CPU quotas, which matters for timing-sensitive comparisons.</a:t>
            </a:r>
          </a:p>
          <a:p xmlns:a="http://schemas.openxmlformats.org/drawingml/2006/main">
            <a:r>
              <a:t/>
            </a:r>
            <a:endParaRPr/>
          </a:p>
          <a:p xmlns:a="http://schemas.openxmlformats.org/drawingml/2006/main">
            <a:r>
              <a:t>Sources:</a:t>
            </a:r>
          </a:p>
          <a:p xmlns:a="http://schemas.openxmlformats.org/drawingml/2006/main">
            <a:r>
              <a:t>https://github.com/liuyiqiandrew/PhysLiteBench/blob/c925ddf30d7729a629125f942bab67d9edc53f1f/results/hint-comparison-20261015-005800/summary.md</a:t>
            </a:r>
          </a:p>
          <a:p xmlns:a="http://schemas.openxmlformats.org/drawingml/2006/main">
            <a:r>
              <a:t>https://github.com/liuyiqiandrew/PhysLiteBench/blob/c925ddf30d7729a629125f942bab67d9edc53f1f/results/hint-comparison-20261015-005800/summary.csv</a:t>
            </a:r>
          </a:p>
          <a:p xmlns:a="http://schemas.openxmlformats.org/drawingml/2006/main">
            <a:r>
              <a:t>https://github.com/liuyiqiandrew/PhysLiteBench/blob/c925ddf30d7729a629125f942bab67d9edc53f1f/results/hint-comparison-20261015-005800/verification.json</a:t>
            </a:r>
          </a:p>
          <a:p xmlns:a="http://schemas.openxmlformats.org/drawingml/2006/main">
            <a:r>
              <a:t>/Users/yp9846/Desktop/PhysLiteBench/results/reasoning-sweep-20261011/README.md</a:t>
            </a:r>
          </a:p>
          <a:p xmlns:a="http://schemas.openxmlformats.org/drawingml/2006/main">
            <a:r>
              <a:t>/Users/yp9846/Desktop/PhysLiteBench/results/hint-comparison-20261014/plan.json</a:t>
            </a:r>
          </a:p>
          <a:p xmlns:a="http://schemas.openxmlformats.org/drawingml/2006/main">
            <a:r>
              <a:t/>
            </a:r>
          </a:p>
          <a:p xmlns:a="http://schemas.openxmlformats.org/drawingml/2006/main">
            <a:r>
              <a:t>Provenance: published aggregates and verification metadata checked locally. Raw collaborator trajectories were not available for independent local review. Historical no-hint runs used four workers without the new per-container CPU quotas. Hint runs used up to eight workers with CPU quotas. These are independent batches, not matched-seed pairs. Costs are frozen API-equivalent estimates, not subscription charges.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60 seconds.</a:t>
            </a:r>
          </a:p>
          <a:p xmlns:a="http://schemas.openxmlformats.org/drawingml/2006/main">
            <a:r>
              <a:t/>
            </a:r>
            <a:endParaRPr/>
          </a:p>
          <a:p xmlns:a="http://schemas.openxmlformats.org/drawingml/2006/main">
            <a:r>
              <a:t>This is the observed no-hint cost-success frontier. Every point contains thirty-nine attempts. Higher is better success, and left is lower estimated cost. A Pareto point is one that no other eligible setting beats on both quantities. The dashed line connects those non-dominated settings. GPT-6 Luna Low passes four of thirty-nine at about four tenths of a cent per attempt. Luna Extra High passes twelve at about one point three cents. GPT-6 Sol Low passes thirty-seven at about seven point seven cents. Sol High passes all thirty-nine at about nineteen point eight cents. The exact coordinates in the table help distinguish the low-cost points clustered near the origin. More expensive settings do not exceed that maximum observed score. DeepSeek costs are lower bounds because interrupted requests can have incomplete accounting, so those points do not determine the exact-cost frontier. This comparison describes the selected tasks and fixed runtime budget. Three repeats per task are too few to infer a universal model ranking.</a:t>
            </a:r>
          </a:p>
          <a:p xmlns:a="http://schemas.openxmlformats.org/drawingml/2006/main">
            <a:r>
              <a:t/>
            </a:r>
            <a:endParaRP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/Users/yp9846/Desktop/PhysLiteBench/output/reasoning-sweep-20261011/pareto-frontier.json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60 seconds.</a:t>
            </a:r>
          </a:p>
          <a:p xmlns:a="http://schemas.openxmlformats.org/drawingml/2006/main">
            <a:r>
              <a:t/>
            </a:r>
            <a:endParaRPr/>
          </a:p>
          <a:p xmlns:a="http://schemas.openxmlformats.org/drawingml/2006/main">
            <a:r>
              <a:t>These are three separate cost-success frontiers for GPT-5.6 Luna, one for each prompt condition. Each point represents a reasoning-effort setting on all thirteen tasks with three trials each. Upper left is better. To avoid treating missing costs as zero, the curves use only the eleven settings with complete cost records. Seven settings remain outside this cost plot, and the next slide includes their success rates. The clearest High-effort comparison is four passes without hints, eighteen with a general hint, and thirty with a physics hint, all out of thirty-nine. The physics High point costs about 4.55 cents per attempt at the frozen API prices. The two other High costs are incomplete. Because the no-hint controls come from earlier batches with different concurrency and CPU quotas, these results are descriptive rather than an isolated causal estimate.</a:t>
            </a:r>
          </a:p>
          <a:p xmlns:a="http://schemas.openxmlformats.org/drawingml/2006/main">
            <a:r>
              <a:t/>
            </a:r>
            <a:endParaRPr/>
          </a:p>
          <a:p xmlns:a="http://schemas.openxmlformats.org/drawingml/2006/main">
            <a:r>
              <a:t>Sources:</a:t>
            </a:r>
          </a:p>
          <a:p xmlns:a="http://schemas.openxmlformats.org/drawingml/2006/main">
            <a:r>
              <a:t>https://github.com/liuyiqiandrew/PhysLiteBench/blob/c925ddf30d7729a629125f942bab67d9edc53f1f/results/hint-comparison-20261015-005800/summary.md</a:t>
            </a:r>
          </a:p>
          <a:p xmlns:a="http://schemas.openxmlformats.org/drawingml/2006/main">
            <a:r>
              <a:t>https://github.com/liuyiqiandrew/PhysLiteBench/blob/c925ddf30d7729a629125f942bab67d9edc53f1f/results/hint-comparison-20261015-005800/summary.csv</a:t>
            </a:r>
          </a:p>
          <a:p xmlns:a="http://schemas.openxmlformats.org/drawingml/2006/main">
            <a:r>
              <a:t>https://github.com/liuyiqiandrew/PhysLiteBench/blob/c925ddf30d7729a629125f942bab67d9edc53f1f/results/hint-comparison-20261015-005800/verification.json</a:t>
            </a:r>
          </a:p>
          <a:p xmlns:a="http://schemas.openxmlformats.org/drawingml/2006/main">
            <a:r>
              <a:t>Historical baseline: https://github.com/liuyiqiandrew/PhysLiteBench/blob/c925ddf30d7729a629125f942bab67d9edc53f1f/results/luna-all-efforts-20261011-205240/report.md</a:t>
            </a:r>
          </a:p>
          <a:p xmlns:a="http://schemas.openxmlformats.org/drawingml/2006/main">
            <a:r>
              <a:t>Known-cost curve construction: retain nondominated points separately within each prompt condition, among cost-complete panels only. Missing costs do not participate in dominance comparisons.</a:t>
            </a:r>
          </a:p>
          <a:p xmlns:a="http://schemas.openxmlformats.org/drawingml/2006/main">
            <a:r>
              <a:t/>
            </a:r>
          </a:p>
          <a:p xmlns:a="http://schemas.openxmlformats.org/drawingml/2006/main">
            <a:r>
              <a:t>Provenance: published aggregates and verification metadata checked locally. Raw collaborator trajectories were not available for independent local review. Historical no-hint runs used four workers without the new per-container CPU quotas. Hint runs used up to eight workers with CPU quotas. These are independent batches, not matched-seed pairs. Costs are frozen API-equivalent estimates, not subscription charges.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endParaRPr/>
          </a:p>
          <a:p xmlns:a="http://schemas.openxmlformats.org/drawingml/2006/main">
            <a:r>
              <a:t>Now hold the model fixed and compare all six reasoning settings. The three bars at each setting correspond to no hint, general hint, and physics hint. Physics hints have the highest observed success at every effort setting. At High the counts are four, eighteen, and thirty out of thirty-nine. At Max they are eight, twenty-seven, and thirty-five. More reasoning alone does not show a monotonic trend without hints, but the hinted results improve substantially from Low to Max. A physics hint also does not guarantee success, especially with little reasoning. Every panel is complete, including timeouts and the capacity rejection where applicable. The historical controls and small task-level samples limit causal interpretation and precision. The original multi-model no-hint effort comparison is preserved in backup slide seventeen.</a:t>
            </a:r>
          </a:p>
          <a:p xmlns:a="http://schemas.openxmlformats.org/drawingml/2006/main">
            <a:r>
              <a:t/>
            </a:r>
            <a:endParaRPr/>
          </a:p>
          <a:p xmlns:a="http://schemas.openxmlformats.org/drawingml/2006/main">
            <a:r>
              <a:t>Sources:</a:t>
            </a:r>
          </a:p>
          <a:p xmlns:a="http://schemas.openxmlformats.org/drawingml/2006/main">
            <a:r>
              <a:t>https://github.com/liuyiqiandrew/PhysLiteBench/blob/c925ddf30d7729a629125f942bab67d9edc53f1f/results/hint-comparison-20261015-005800/summary.md</a:t>
            </a:r>
          </a:p>
          <a:p xmlns:a="http://schemas.openxmlformats.org/drawingml/2006/main">
            <a:r>
              <a:t>https://github.com/liuyiqiandrew/PhysLiteBench/blob/c925ddf30d7729a629125f942bab67d9edc53f1f/results/hint-comparison-20261015-005800/summary.csv</a:t>
            </a:r>
          </a:p>
          <a:p xmlns:a="http://schemas.openxmlformats.org/drawingml/2006/main">
            <a:r>
              <a:t>https://github.com/liuyiqiandrew/PhysLiteBench/blob/c925ddf30d7729a629125f942bab67d9edc53f1f/results/hint-comparison-20261015-005800/verification.json</a:t>
            </a:r>
          </a:p>
          <a:p xmlns:a="http://schemas.openxmlformats.org/drawingml/2006/main">
            <a:r>
              <a:t/>
            </a:r>
          </a:p>
          <a:p xmlns:a="http://schemas.openxmlformats.org/drawingml/2006/main">
            <a:r>
              <a:t/>
            </a:r>
          </a:p>
          <a:p xmlns:a="http://schemas.openxmlformats.org/drawingml/2006/main">
            <a:r>
              <a:t>Provenance: published aggregates and verification metadata checked locally. Raw collaborator trajectories were not available for independent local review. Historical no-hint runs used four workers without the new per-container CPU quotas. Hint runs used up to eight workers with CPU quotas. These are independent batches, not matched-seed pairs. Costs are frozen API-equivalent estimates, not subscription charges.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endParaRPr/>
          </a:p>
          <a:p xmlns:a="http://schemas.openxmlformats.org/drawingml/2006/main">
            <a:r>
              <a:t>The trajectory analysis combines recorded tool actions, final programs, and verifier outcomes. It does not expose private reasoning. Each bar contains one hundred seventeen attempts across three efforts for that model. Of one hundred ninety-one normally completed failures, one hundred eighty-six fail only hidden prediction checks. At least one hundred forty-one of those also show public-test passes in the recorded actions. This is the calibration-to-prediction gap illustrated by the particle task. DeepSeek has a different dominant bottleneck: one hundred five of its one hundred seventeen attempts end with execution errors, including eighty-three timeouts. A zero overall pass rate therefore cannot be interpreted as one hundred seventeen physics mistakes. The aggregate categories tell us where failures appear. A saved program and a targeted intervention are needed to diagnose a particular physical mistake.</a:t>
            </a:r>
          </a:p>
          <a:p xmlns:a="http://schemas.openxmlformats.org/drawingml/2006/main">
            <a:r>
              <a:t/>
            </a:r>
            <a:endParaRPr/>
          </a:p>
          <a:p xmlns:a="http://schemas.openxmlformats.org/drawingml/2006/main">
            <a:r>
              <a:t>Sources:</a:t>
            </a:r>
          </a:p>
          <a:p xmlns:a="http://schemas.openxmlformats.org/drawingml/2006/main">
            <a:r>
              <a:t>/Users/yp9846/Desktop/PhysLiteBench/results/trajectory-analysis-20261014/analysis.json</a:t>
            </a:r>
          </a:p>
          <a:p xmlns:a="http://schemas.openxmlformats.org/drawingml/2006/main">
            <a:r>
              <a:t>/Users/yp9846/Desktop/PhysLiteBench/output/trajectory-analysis-20261014/report.html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85 seconds.</a:t>
            </a:r>
          </a:p>
          <a:p xmlns:a="http://schemas.openxmlformats.org/drawingml/2006/main">
            <a:r>
              <a:t/>
            </a:r>
            <a:endParaRPr/>
          </a:p>
          <a:p xmlns:a="http://schemas.openxmlformats.org/drawingml/2006/main">
            <a:r>
              <a:t>Here is the same bead example, now using a saved Terra run. Every repeat starts with the neighbors evenly spaced. We record the orange bead early and again later. The red arrow means a statistical link across repeats, not a force between two beads.</a:t>
            </a:r>
          </a:p>
          <a:p xmlns:a="http://schemas.openxmlformats.org/drawingml/2006/main">
            <a:r>
              <a:t/>
            </a:r>
            <a:endParaRPr/>
          </a:p>
          <a:p xmlns:a="http://schemas.openxmlformats.org/drawingml/2006/main">
            <a:r>
              <a:t>The agent adjusted one number controlling the amount of random motion. Its code matched the supplied measurements of how far the bead wanders at each time, and the public test passed.</a:t>
            </a:r>
          </a:p>
          <a:p xmlns:a="http://schemas.openxmlformats.org/drawingml/2006/main">
            <a:r>
              <a:t/>
            </a:r>
            <a:endParaRPr/>
          </a:p>
          <a:p xmlns:a="http://schemas.openxmlformats.org/drawingml/2006/main">
            <a:r>
              <a:t>But it kept the starter's rule for connecting the two observations. In plain terms, that rule made an early displacement count too much when predicting the later motion. The evenly spaced starting row affects this connection, and its formula did not account for that effect correctly. Matching the spread at each time could not reveal this mistake.</a:t>
            </a:r>
          </a:p>
          <a:p xmlns:a="http://schemas.openxmlformats.org/drawingml/2006/main">
            <a:r>
              <a:t/>
            </a:r>
            <a:endParaRPr/>
          </a:p>
          <a:p xmlns:a="http://schemas.openxmlformats.org/drawingml/2006/main">
            <a:r>
              <a:t>The hidden predictions were wrong by as much as 136%, against a 4% allowance. We checked the diagnosis by keeping its fitted motion strength and replacing only the rule connecting two times. The largest error fell to about 0.003%. That is our diagnostic correction, not a new agent pass or a hint result. The conclusion comes from the saved code, tool actions and tests.</a:t>
            </a:r>
          </a:p>
          <a:p xmlns:a="http://schemas.openxmlformats.org/drawingml/2006/main">
            <a:r>
              <a:t/>
            </a:r>
            <a:endParaRPr/>
          </a:p>
          <a:p xmlns:a="http://schemas.openxmlformats.org/drawingml/2006/main">
            <a:r>
              <a:t>Sources:</a:t>
            </a:r>
          </a:p>
          <a:p xmlns:a="http://schemas.openxmlformats.org/drawingml/2006/main">
            <a:r>
              <a:t>/Users/yp9846/Desktop/PhysLiteBench/tasks/single-file-memory/environment/README.md</a:t>
            </a:r>
          </a:p>
          <a:p xmlns:a="http://schemas.openxmlformats.org/drawingml/2006/main">
            <a:r>
              <a:t>/Users/yp9846/Desktop/PhysLiteBench/tasks/single-file-memory/environment/model.py</a:t>
            </a:r>
          </a:p>
          <a:p xmlns:a="http://schemas.openxmlformats.org/drawingml/2006/main">
            <a:r>
              <a:t>/Users/yp9846/Desktop/PhysLiteBench/tasks/single-file-memory/solution/model.py</a:t>
            </a:r>
          </a:p>
          <a:p xmlns:a="http://schemas.openxmlformats.org/drawingml/2006/main">
            <a:r>
              <a:t>/Users/yp9846/Desktop/PhysLiteBench/results/trajectory-analysis-20261014/cases/single-file-memory__PC6LumP/review.json</a:t>
            </a:r>
          </a:p>
          <a:p xmlns:a="http://schemas.openxmlformats.org/drawingml/2006/main">
            <a:r>
              <a:t>/Users/yp9846/Desktop/PhysLiteBench/results/trajectory-analysis-20261014/cases/single-file-memory__PC6LumP/model.diff</a:t>
            </a:r>
          </a:p>
          <a:p xmlns:a="http://schemas.openxmlformats.org/drawingml/2006/main">
            <a:r>
              <a:t>/Users/yp9846/Desktop/PhysLiteBench/results/trajectory-analysis-20261014/cases/single-file-memory__PC6LumP/metrics.json</a:t>
            </a:r>
          </a:p>
          <a:p xmlns:a="http://schemas.openxmlformats.org/drawingml/2006/main">
            <a:r>
              <a:t>/Users/yp9846/Desktop/PhysLiteBench/results/trajectory-analysis-20261014/diagnostic-repairs.json</a:t>
            </a:r>
          </a:p>
          <a:p xmlns:a="http://schemas.openxmlformats.org/drawingml/2006/main">
            <a:r>
              <a:t/>
            </a:r>
            <a:endParaRPr/>
          </a:p>
          <a:p xmlns:a="http://schemas.openxmlformats.org/drawingml/2006/main">
            <a:r>
              <a:t>Technical clarification for questions: both formulas have correlated motion and agree at equal times. The saved formula overestimates the two-time covariance. It incorrectly treats increments as depending only on the time gap. The benchmark uses a joint long-time coefficient, not the finite-time positions drawn in this schematic. Equations and exact metrics remain in backup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30 seconds.</a:t>
            </a:r>
          </a:p>
          <a:p xmlns:a="http://schemas.openxmlformats.org/drawingml/2006/main">
            <a:r>
              <a:t/>
            </a:r>
            <a:endParaRPr/>
          </a:p>
          <a:p xmlns:a="http://schemas.openxmlformats.org/drawingml/2006/main">
            <a:r>
              <a:t>A good calibration fit can hide the wrong physical model, as the bead example shows. Model choice, reasoning effort, and completing on time all affect benchmark success. The completed collaborator study adds a clear descriptive result: at Luna High, passes rise from four without hints to eighteen with general hints and thirty with physics hints. Our separate three-model High-effort comparison is still running. We keep those cohorts and the historical-control caveats separate.</a:t>
            </a:r>
          </a:p>
          <a:p xmlns:a="http://schemas.openxmlformats.org/drawingml/2006/main">
            <a:r>
              <a:t/>
            </a:r>
            <a:endParaRPr/>
          </a:p>
          <a:p xmlns:a="http://schemas.openxmlformats.org/drawingml/2006/main">
            <a:r>
              <a:t>Sources:</a:t>
            </a:r>
          </a:p>
          <a:p xmlns:a="http://schemas.openxmlformats.org/drawingml/2006/main">
            <a:r>
              <a:t>https://github.com/liuyiqiandrew/PhysLiteBench/blob/c925ddf30d7729a629125f942bab67d9edc53f1f/results/hint-comparison-20261015-005800/summary.md</a:t>
            </a:r>
          </a:p>
          <a:p xmlns:a="http://schemas.openxmlformats.org/drawingml/2006/main">
            <a:r>
              <a:t>https://github.com/liuyiqiandrew/PhysLiteBench/blob/c925ddf30d7729a629125f942bab67d9edc53f1f/results/hint-comparison-20261015-005800/summary.csv</a:t>
            </a:r>
          </a:p>
          <a:p xmlns:a="http://schemas.openxmlformats.org/drawingml/2006/main">
            <a:r>
              <a:t>https://github.com/liuyiqiandrew/PhysLiteBench/blob/c925ddf30d7729a629125f942bab67d9edc53f1f/results/hint-comparison-20261015-005800/verification.json</a:t>
            </a:r>
          </a:p>
          <a:p xmlns:a="http://schemas.openxmlformats.org/drawingml/2006/main">
            <a:r>
              <a:t/>
            </a:r>
          </a:p>
          <a:p xmlns:a="http://schemas.openxmlformats.org/drawingml/2006/main">
            <a:r>
              <a:t/>
            </a:r>
          </a:p>
          <a:p xmlns:a="http://schemas.openxmlformats.org/drawingml/2006/main">
            <a:r>
              <a:t>Provenance: published aggregates and verification metadata checked locally. Raw collaborator trajectories were not available for independent local review. Historical no-hint runs used four workers without the new per-container CPU quotas. Hint runs used up to eight workers with CPU quotas. These are independent batches, not matched-seed pairs. Costs are frozen API-equivalent estimates, not subscription charges.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180 seconds.</a:t>
            </a:r>
          </a:p>
          <a:p xmlns:a="http://schemas.openxmlformats.org/drawingml/2006/main">
            <a:endParaRPr/>
          </a:p>
          <a:p xmlns:a="http://schemas.openxmlformats.org/drawingml/2006/main">
            <a:r>
              <a:t>Suggested discussion prompts: How much does selecting tasks against Luna affect the ranking? How should timeout checkpoints enter a benchmark score? What evidence would isolate a causal hint effect? The backup slides give the full no-hint counts, the collaborator cohort and the task roster. Answer with the specific scope limits: selected tasks, three repeats per task, preserved failures, historical baselines and the time budget.</a:t>
            </a:r>
          </a:p>
          <a:p xmlns:a="http://schemas.openxmlformats.org/drawingml/2006/main">
            <a:endParaRPr/>
          </a:p>
          <a:p xmlns:a="http://schemas.openxmlformats.org/drawingml/2006/main">
            <a:r>
              <a:t>Sources:</a:t>
            </a:r>
          </a:p>
          <a:p xmlns:a="http://schemas.openxmlformats.org/drawingml/2006/main">
            <a:r>
              <a:t>/Users/yp9846/Desktop/PhysLiteBench/results/reasoning-sweep-20261011/README.md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endParaRPr/>
          </a:p>
          <a:p xmlns:a="http://schemas.openxmlformats.org/drawingml/2006/main">
            <a:r>
              <a:t>Use this slide for exact-count questions. Astra Extra High has thirty-seven completed passes but thirty-nine passing checkpoints. Terra Extra High has nineteen completed passes and twenty passing checkpoints. Luna Extra High has twelve completed passes and thirteen passing checkpoints. DeepSeek Low, High and Max costs remain lower bounds because of interrupted-response accounting. Four historical Terra High attempts were affected by host sleep, and three started DeepSeek High connection failures overlapped host sleep. Those outcomes are preserved in the primary data.</a:t>
            </a:r>
          </a:p>
          <a:p xmlns:a="http://schemas.openxmlformats.org/drawingml/2006/main">
            <a:endParaRP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/Users/yp9846/Desktop/PhysLiteBench/results/reasoning-sweep-20261011/README.md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endParaRPr/>
          </a:p>
          <a:p xmlns:a="http://schemas.openxmlformats.org/drawingml/2006/main">
            <a:r>
              <a:t>The collaborator completed twenty hinted panels of thirty-nine model attempts, or 780 attempts. Its ten historical no-hint panels contribute another 390 controls. There are 440 clean hinted passes, 315 graded failures, 24 timeouts, and one API-capacity rejection. Five additional pre-agent setup failures are retained outside those matrix denominators, giving 785 orchestration records. The collaborator filled only those five setup slots, and reports that no model-phase failure was resampled. Our ongoing local study follows its own frozen retention rule and remains separate. Nineteen hinted attempts have unknown full cost. We checked aggregate arithmetic and published metadata locally, not raw remote sessions.</a:t>
            </a:r>
          </a:p>
          <a:p xmlns:a="http://schemas.openxmlformats.org/drawingml/2006/main">
            <a:r>
              <a:t/>
            </a:r>
            <a:endParaRPr/>
          </a:p>
          <a:p xmlns:a="http://schemas.openxmlformats.org/drawingml/2006/main">
            <a:r>
              <a:t>Sources:</a:t>
            </a:r>
          </a:p>
          <a:p xmlns:a="http://schemas.openxmlformats.org/drawingml/2006/main">
            <a:r>
              <a:t>https://github.com/liuyiqiandrew/PhysLiteBench/blob/c925ddf30d7729a629125f942bab67d9edc53f1f/results/hint-comparison-20261015-005800/summary.md</a:t>
            </a:r>
          </a:p>
          <a:p xmlns:a="http://schemas.openxmlformats.org/drawingml/2006/main">
            <a:r>
              <a:t>https://github.com/liuyiqiandrew/PhysLiteBench/blob/c925ddf30d7729a629125f942bab67d9edc53f1f/results/hint-comparison-20261015-005800/summary.csv</a:t>
            </a:r>
          </a:p>
          <a:p xmlns:a="http://schemas.openxmlformats.org/drawingml/2006/main">
            <a:r>
              <a:t>https://github.com/liuyiqiandrew/PhysLiteBench/blob/c925ddf30d7729a629125f942bab67d9edc53f1f/results/hint-comparison-20261015-005800/verification.json</a:t>
            </a:r>
          </a:p>
          <a:p xmlns:a="http://schemas.openxmlformats.org/drawingml/2006/main">
            <a:r>
              <a:t/>
            </a:r>
          </a:p>
          <a:p xmlns:a="http://schemas.openxmlformats.org/drawingml/2006/main">
            <a:r>
              <a:t/>
            </a:r>
          </a:p>
          <a:p xmlns:a="http://schemas.openxmlformats.org/drawingml/2006/main">
            <a:r>
              <a:t>Provenance: published aggregates and verification metadata checked locally. Raw collaborator trajectories were not available for independent local review. Historical no-hint runs used four workers without the new per-container CPU quotas. Hint runs used up to eight workers with CPU quotas. These are independent batches, not matched-seed pairs. Costs are frozen API-equivalent estimates, not subscription charges.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endParaRPr/>
          </a:p>
          <a:p xmlns:a="http://schemas.openxmlformats.org/drawingml/2006/main">
            <a:r>
              <a:t>This is the complete thirteen-task roster used in the current comparison. The inherited hydrodynamic-heating and thermoelastic-rod folders are outside the roster. The main experiment keeps task files, public instructions, grading and time limits fixed. The results describe this selected suite, and they do not establish population-wide success rates. A zero out of three observation also leaves substantial uncertainty about a task’s underlying pass probability.</a:t>
            </a:r>
          </a:p>
          <a:p xmlns:a="http://schemas.openxmlformats.org/drawingml/2006/main">
            <a:endParaRPr/>
          </a:p>
          <a:p xmlns:a="http://schemas.openxmlformats.org/drawingml/2006/main">
            <a:r>
              <a:t>Sources:</a:t>
            </a:r>
          </a:p>
          <a:p xmlns:a="http://schemas.openxmlformats.org/drawingml/2006/main">
            <a:r>
              <a:t>/Users/yp9846/Desktop/PhysLiteBench/results/task-roster.json</a:t>
            </a:r>
          </a:p>
          <a:p xmlns:a="http://schemas.openxmlformats.org/drawingml/2006/main">
            <a:r>
              <a:t>/Users/yp9846/Desktop/PhysLiteBench/results/hint-comparison-20261014/plan.json</a:t>
            </a:r>
          </a:p>
          <a:p xmlns:a="http://schemas.openxmlformats.org/drawingml/2006/main">
            <a:r>
              <a:t>/Users/yp9846/Desktop/PhysLiteBench/AGENTS.md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endParaRPr/>
          </a:p>
          <a:p xmlns:a="http://schemas.openxmlformats.org/drawingml/2006/main">
            <a:r>
              <a:t>Technical detail for questions. The channel represents an infinite line of identical Brownian point particles with reflecting collisions and fixed initial positions j/rho in each independent repeat. The task predicts the joint long-time covariance coefficient, not finite-time trajectories or the exact position in one realization. With A = sqrt(D/pi)/rho, the correct coefficient is A[sqrt(t+s)-sqrt(abs(t-s))]. The starter uses A/sqrt(2)[sqrt(t)+sqrt(s)-sqrt(abs(t-s))]. Both agree on every equal-time setting. The plotted curves use the same D and density, normalized to the equal-time value, with earlier time multiplier 0.5 and later multiplier from 0.5 to 4. They therefore isolate the time-dependence difference. This plot is analytic, not a measured trial result. The apparent memory comes from the fixed preparation and no-passing constraint, even though the random forcing on different particles is independent. The saved Terra fit is 0.949947415037877. Its parameter error is 0.005535%, and its prediction-group errors at later/earlier ratios 2, 4 and 8 are 36.60%, 77.88% and 136.06%. Replacing only the covariance expression at the fixed fitted D reduces all tested group errors to 0.002768%.</a:t>
            </a:r>
          </a:p>
          <a:p xmlns:a="http://schemas.openxmlformats.org/drawingml/2006/main">
            <a:endParaRPr/>
          </a:p>
          <a:p xmlns:a="http://schemas.openxmlformats.org/drawingml/2006/main">
            <a:r>
              <a:t>Sources:</a:t>
            </a:r>
          </a:p>
          <a:p xmlns:a="http://schemas.openxmlformats.org/drawingml/2006/main">
            <a:r>
              <a:t>/Users/yp9846/Desktop/PhysLiteBench/tasks/single-file-memory/environment/README.md</a:t>
            </a:r>
          </a:p>
          <a:p xmlns:a="http://schemas.openxmlformats.org/drawingml/2006/main">
            <a:r>
              <a:t>/Users/yp9846/Desktop/PhysLiteBench/tasks/single-file-memory/instruction.md</a:t>
            </a:r>
          </a:p>
          <a:p xmlns:a="http://schemas.openxmlformats.org/drawingml/2006/main">
            <a:r>
              <a:t>/Users/yp9846/Desktop/PhysLiteBench/tasks/single-file-memory/environment/model.py</a:t>
            </a:r>
          </a:p>
          <a:p xmlns:a="http://schemas.openxmlformats.org/drawingml/2006/main">
            <a:r>
              <a:t>/Users/yp9846/Desktop/PhysLiteBench/tasks/single-file-memory/solution/model.py</a:t>
            </a:r>
          </a:p>
          <a:p xmlns:a="http://schemas.openxmlformats.org/drawingml/2006/main">
            <a:r>
              <a:t>/Users/yp9846/Desktop/PhysLiteBench/tasks/single-file-memory/AUTHOR.md</a:t>
            </a:r>
          </a:p>
          <a:p xmlns:a="http://schemas.openxmlformats.org/drawingml/2006/main">
            <a:r>
              <a:t>/Users/yp9846/Desktop/PhysLiteBench/results/trajectory-analysis-20261014/cases/single-file-memory__PC6LumP/metrics.json</a:t>
            </a:r>
          </a:p>
          <a:p xmlns:a="http://schemas.openxmlformats.org/drawingml/2006/main">
            <a:r>
              <a:t>/Users/yp9846/Desktop/PhysLiteBench/results/trajectory-analysis-20261014/diagnostic-repairs.json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endParaRPr/>
          </a:p>
          <a:p xmlns:a="http://schemas.openxmlformats.org/drawingml/2006/main">
            <a:r>
              <a:t>Here we hold each model fixed and compare its effort settings on the same task suite. Terra increases from four to nine to nineteen completed passes. Luna rises substantially at Extra High, although its Low-to-High change goes the other way. Sol already succeeds on almost every attempt at Low. The Astra Extra High setting loses two completed passes because of timeouts. Both saved checkpoints pass the verifier afterward, but completion within the allowed budget is part of the score. These are descriptive comparisons: each point has only three repeats per task, and the High settings include earlier matching observations. Configuring more reasoning can improve a model's predictions, but it can also consume its execution budget, so completed success need not increase monotonically.</a:t>
            </a:r>
          </a:p>
          <a:p xmlns:a="http://schemas.openxmlformats.org/drawingml/2006/main">
            <a:r>
              <a:t/>
            </a:r>
            <a:endParaRP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/Users/yp9846/Desktop/PhysLiteBench/results/trajectory-analysis-20261014/analysis.json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42c32edefd4a0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4468db104d440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301ac2f968443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e4935d428a14c6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a48131b29154a0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d042c803b534f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DAF00F-B395-4BB8-A439-9AA89BEDDA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B816860D-B2BB-4679-95BC-EC17130D2CD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6704A9-9853-44A6-8B4A-4DC4DB9A47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E75D2A-E789-411F-A213-993328928F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EEEACEAE-9A1D-4507-A60D-2AE6FC7CF3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CEFAC2-A0C9-4F70-B012-77B95FAB7D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FE9C7553-1AB5-446B-B4C5-ABBCB0AC29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B0184D06-C74C-4068-BE3F-45139A68C7E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7D4CBD-570B-4FE0-8AC2-C6CC842A2C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2ACBB10A-755C-4118-A48F-8124498F7F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d38e1f540a4df7" /><Relationship Type="http://schemas.openxmlformats.org/officeDocument/2006/relationships/slideLayout" Target="/ppt/slideLayouts/slideLayout1.xml" Id="Rf32258cc679c48dd" /><Relationship Type="http://schemas.openxmlformats.org/officeDocument/2006/relationships/slideLayout" Target="/ppt/slideLayouts/slideLayout2.xml" Id="R4c2a048e1c8142f7" /><Relationship Type="http://schemas.openxmlformats.org/officeDocument/2006/relationships/slideLayout" Target="/ppt/slideLayouts/slideLayout3.xml" Id="R1bca3a448e934e50" /><Relationship Type="http://schemas.openxmlformats.org/officeDocument/2006/relationships/slideLayout" Target="/ppt/slideLayouts/slideLayout4.xml" Id="R58fe02ccda14430f" /><Relationship Type="http://schemas.openxmlformats.org/officeDocument/2006/relationships/slideLayout" Target="/ppt/slideLayouts/slideLayout5.xml" Id="R7d4972b40eb74b73" /><Relationship Type="http://schemas.openxmlformats.org/officeDocument/2006/relationships/slideLayout" Target="/ppt/slideLayouts/slideLayout6.xml" Id="R7eea9bcc3ee54c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2258cc679c48dd"/>
    <p:sldLayoutId xmlns:r="http://schemas.openxmlformats.org/officeDocument/2006/relationships" id="2147483650" r:id="R4c2a048e1c8142f7"/>
    <p:sldLayoutId xmlns:r="http://schemas.openxmlformats.org/officeDocument/2006/relationships" id="2147483651" r:id="R1bca3a448e934e50"/>
    <p:sldLayoutId xmlns:r="http://schemas.openxmlformats.org/officeDocument/2006/relationships" id="2147483652" r:id="R58fe02ccda14430f"/>
    <p:sldLayoutId xmlns:r="http://schemas.openxmlformats.org/officeDocument/2006/relationships" id="2147483653" r:id="R7d4972b40eb74b73"/>
    <p:sldLayoutId xmlns:r="http://schemas.openxmlformats.org/officeDocument/2006/relationships" id="2147483654" r:id="R7eea9bcc3ee54c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16aac7e06404af9" /><Relationship Type="http://schemas.openxmlformats.org/officeDocument/2006/relationships/notesSlide" Target="/ppt/notesSlides/notesSlide1.xml" Id="Re8993f311e9845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9ca3d1ee32c46e9" /><Relationship Type="http://schemas.openxmlformats.org/officeDocument/2006/relationships/notesSlide" Target="/ppt/notesSlides/notesSlide2.xml" Id="R4fda94a1e5574d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bae782b2aad4e00" /><Relationship Type="http://schemas.openxmlformats.org/officeDocument/2006/relationships/notesSlide" Target="/ppt/notesSlides/notesSlide3.xml" Id="R7fd41924805c47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ecf8994a40f4a6d" /><Relationship Type="http://schemas.openxmlformats.org/officeDocument/2006/relationships/notesSlide" Target="/ppt/notesSlides/notesSlide4.xml" Id="R60cea447a6c340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0a439b591d54bdc" /><Relationship Type="http://schemas.openxmlformats.org/officeDocument/2006/relationships/notesSlide" Target="/ppt/notesSlides/notesSlide5.xml" Id="R5f2fd2678c4f4c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c7a57d4c7d84822" /><Relationship Type="http://schemas.openxmlformats.org/officeDocument/2006/relationships/chart" Target="/ppt/slides/charts/chart1.xml" Id="R1cebc59cd6cd4603" /><Relationship Type="http://schemas.openxmlformats.org/officeDocument/2006/relationships/notesSlide" Target="/ppt/notesSlides/notesSlide6.xml" Id="R4e1beca98ca845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ad5283480594ef3" /><Relationship Type="http://schemas.openxmlformats.org/officeDocument/2006/relationships/chart" Target="/ppt/slides/charts/chart2.xml" Id="R61fb30597e384489" /><Relationship Type="http://schemas.openxmlformats.org/officeDocument/2006/relationships/notesSlide" Target="/ppt/notesSlides/notesSlide7.xml" Id="Rc8df6f2e20c64f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ae5a8e835854407" /><Relationship Type="http://schemas.openxmlformats.org/officeDocument/2006/relationships/chart" Target="/ppt/slides/charts/chart3.xml" Id="Racddd053935744b2" /><Relationship Type="http://schemas.openxmlformats.org/officeDocument/2006/relationships/notesSlide" Target="/ppt/notesSlides/notesSlide8.xml" Id="R73edea8ad14d41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17c009480334bd9" /><Relationship Type="http://schemas.openxmlformats.org/officeDocument/2006/relationships/chart" Target="/ppt/slides/charts/chart4.xml" Id="R0473061129a74e75" /><Relationship Type="http://schemas.openxmlformats.org/officeDocument/2006/relationships/notesSlide" Target="/ppt/notesSlides/notesSlide9.xml" Id="R8307f9a506744a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0ee60237b1d4194" /><Relationship Type="http://schemas.openxmlformats.org/officeDocument/2006/relationships/notesSlide" Target="/ppt/notesSlides/notesSlide10.xml" Id="Rca4cecfc1b8742e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3d53a3851924448" /><Relationship Type="http://schemas.openxmlformats.org/officeDocument/2006/relationships/notesSlide" Target="/ppt/notesSlides/notesSlide11.xml" Id="Re44fed2bd97747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687a7d15082481c" /><Relationship Type="http://schemas.openxmlformats.org/officeDocument/2006/relationships/notesSlide" Target="/ppt/notesSlides/notesSlide12.xml" Id="R01f1b2608912410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7362fd02d654658" /><Relationship Type="http://schemas.openxmlformats.org/officeDocument/2006/relationships/notesSlide" Target="/ppt/notesSlides/notesSlide13.xml" Id="Ra749b421660645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24dbbd3bf304b20" /><Relationship Type="http://schemas.openxmlformats.org/officeDocument/2006/relationships/notesSlide" Target="/ppt/notesSlides/notesSlide14.xml" Id="R48045c4532f6421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527561e6b9f4b54" /><Relationship Type="http://schemas.openxmlformats.org/officeDocument/2006/relationships/notesSlide" Target="/ppt/notesSlides/notesSlide15.xml" Id="Rdfa07db2fdab4bc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80c100994ae42db" /><Relationship Type="http://schemas.openxmlformats.org/officeDocument/2006/relationships/chart" Target="/ppt/slides/charts/chart5.xml" Id="R86dd4277d3b04eb2" /><Relationship Type="http://schemas.openxmlformats.org/officeDocument/2006/relationships/notesSlide" Target="/ppt/notesSlides/notesSlide16.xml" Id="R55d6aad7cfdb42e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efd859c5e5a4487" /><Relationship Type="http://schemas.openxmlformats.org/officeDocument/2006/relationships/chart" Target="/ppt/slides/charts/chart6.xml" Id="R259f42c74cb44bf5" /><Relationship Type="http://schemas.openxmlformats.org/officeDocument/2006/relationships/notesSlide" Target="/ppt/notesSlides/notesSlide17.xml" Id="R5f87c212b36a4050" /></Relationships>
</file>

<file path=ppt/slides/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slides/charts/_rels/chart2.xml.rels><Relationships xmlns="http://schemas.openxmlformats.org/package/2006/relationships"><Relationship Id="rIdChartSnapshot1" Type="http://schemas.openxmlformats.org/officeDocument/2006/relationships/package" Target="../../embeddings/chart-data-snapshot-001.xlsx"/></Relationships>
</file>

<file path=ppt/slides/charts/_rels/chart3.xml.rels><Relationships xmlns="http://schemas.openxmlformats.org/package/2006/relationships"><Relationship Id="rIdChartSnapshot1" Type="http://schemas.openxmlformats.org/officeDocument/2006/relationships/package" Target="../../embeddings/chart-data-snapshot-002.xlsx"/></Relationships>
</file>

<file path=ppt/slides/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slides/charts/_rels/chart5.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slides/charts/_rels/chart6.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slides/charts/chart1.xml><?xml version="1.0" encoding="utf-8"?>
<c:chartSpace xmlns:a="http://schemas.openxmlformats.org/drawingml/2006/main" xmlns:c="http://schemas.openxmlformats.org/drawingml/2006/chart" xmlns:r="http://schemas.openxmlformats.org/officeDocument/2006/relationships">
  <c:lang val="en-US"/>
  <c:roundedCorners val="1"/>
  <c:style val="2"/>
  <c:chart>
    <c:autoTitleDeleted val="1"/>
    <c:plotArea>
      <c:scatterChart>
        <c:scatterStyle val="lineMarker"/>
        <c:varyColors val="0"/>
        <c:ser>
          <c:idx val="0"/>
          <c:order val="0"/>
          <c:tx>
            <c:v>Observed frontier</c:v>
          </c:tx>
          <c:spPr>
            <a:ln w="19050">
              <a:solidFill>
                <a:srgbClr val="0F766E"/>
              </a:solidFill>
              <a:prstDash val="dash"/>
            </a:ln>
          </c:spPr>
          <c:marker>
            <c:symbol val="none"/>
          </c:marker>
          <c:xVal>
            <c:numRef>
              <c:f>'Chart Data'!$A$2:$A$5</c:f>
              <c:numCache>
                <c:formatCode>General</c:formatCode>
                <c:ptCount val="4"/>
                <c:pt idx="0">
                  <c:v>0.004017401</c:v>
                </c:pt>
                <c:pt idx="1">
                  <c:v>0.012608159</c:v>
                </c:pt>
                <c:pt idx="2">
                  <c:v>0.077331221</c:v>
                </c:pt>
                <c:pt idx="3">
                  <c:v>0.19754441</c:v>
                </c:pt>
              </c:numCache>
            </c:numRef>
          </c:xVal>
          <c:yVal>
            <c:numRef>
              <c:f>'Chart Data'!$B$2:$B$5</c:f>
              <c:numCache>
                <c:formatCode>0%</c:formatCode>
                <c:ptCount val="4"/>
                <c:pt idx="0">
                  <c:v>0.102564103</c:v>
                </c:pt>
                <c:pt idx="1">
                  <c:v>0.307692308</c:v>
                </c:pt>
                <c:pt idx="2">
                  <c:v>0.948717949</c:v>
                </c:pt>
                <c:pt idx="3">
                  <c:v>1</c:v>
                </c:pt>
              </c:numCache>
            </c:numRef>
          </c:yVal>
        </c:ser>
        <c:ser>
          <c:idx val="1"/>
          <c:order val="1"/>
          <c:tx>
            <c:v>GPT-6 Luna Low</c:v>
          </c:tx>
          <c:spPr>
            <a:ln w="0">
              <a:noFill/>
            </a:ln>
          </c:spPr>
          <c:marker>
            <c:symbol val="circle"/>
            <c:size val="12"/>
            <c:spPr>
              <a:solidFill>
                <a:srgbClr val="1D4E89"/>
              </a:solidFill>
            </c:spPr>
          </c:marker>
          <c:xVal>
            <c:numRef>
              <c:f>'Chart Data'!$C$2:$C$2</c:f>
              <c:numCache>
                <c:formatCode>General</c:formatCode>
                <c:ptCount val="1"/>
                <c:pt idx="0">
                  <c:v>0.004017401</c:v>
                </c:pt>
              </c:numCache>
            </c:numRef>
          </c:xVal>
          <c:yVal>
            <c:numRef>
              <c:f>'Chart Data'!$D$2:$D$2</c:f>
              <c:numCache>
                <c:formatCode>0%</c:formatCode>
                <c:ptCount val="1"/>
                <c:pt idx="0">
                  <c:v>0.102564103</c:v>
                </c:pt>
              </c:numCache>
            </c:numRef>
          </c:yVal>
        </c:ser>
        <c:ser>
          <c:idx val="2"/>
          <c:order val="2"/>
          <c:tx>
            <c:v>GPT-6 Luna High</c:v>
          </c:tx>
          <c:spPr>
            <a:ln w="0">
              <a:noFill/>
            </a:ln>
          </c:spPr>
          <c:marker>
            <c:symbol val="square"/>
            <c:size val="12"/>
            <c:spPr>
              <a:solidFill>
                <a:srgbClr val="1D4E89"/>
              </a:solidFill>
            </c:spPr>
          </c:marker>
          <c:xVal>
            <c:numRef>
              <c:f>'Chart Data'!$E$2:$E$2</c:f>
              <c:numCache>
                <c:formatCode>General</c:formatCode>
                <c:ptCount val="1"/>
                <c:pt idx="0">
                  <c:v>0.005174499</c:v>
                </c:pt>
              </c:numCache>
            </c:numRef>
          </c:xVal>
          <c:yVal>
            <c:numRef>
              <c:f>'Chart Data'!$F$2:$F$2</c:f>
              <c:numCache>
                <c:formatCode>0%</c:formatCode>
                <c:ptCount val="1"/>
                <c:pt idx="0">
                  <c:v>0.025641026</c:v>
                </c:pt>
              </c:numCache>
            </c:numRef>
          </c:yVal>
        </c:ser>
        <c:ser>
          <c:idx val="3"/>
          <c:order val="3"/>
          <c:tx>
            <c:v>GPT-6 Luna Extra High</c:v>
          </c:tx>
          <c:spPr>
            <a:ln w="0">
              <a:noFill/>
            </a:ln>
          </c:spPr>
          <c:marker>
            <c:symbol val="triangle"/>
            <c:size val="12"/>
            <c:spPr>
              <a:solidFill>
                <a:srgbClr val="1D4E89"/>
              </a:solidFill>
            </c:spPr>
          </c:marker>
          <c:xVal>
            <c:numRef>
              <c:f>'Chart Data'!$G$2:$G$2</c:f>
              <c:numCache>
                <c:formatCode>General</c:formatCode>
                <c:ptCount val="1"/>
                <c:pt idx="0">
                  <c:v>0.012608159</c:v>
                </c:pt>
              </c:numCache>
            </c:numRef>
          </c:xVal>
          <c:yVal>
            <c:numRef>
              <c:f>'Chart Data'!$H$2:$H$2</c:f>
              <c:numCache>
                <c:formatCode>0%</c:formatCode>
                <c:ptCount val="1"/>
                <c:pt idx="0">
                  <c:v>0.307692308</c:v>
                </c:pt>
              </c:numCache>
            </c:numRef>
          </c:yVal>
        </c:ser>
        <c:ser>
          <c:idx val="4"/>
          <c:order val="4"/>
          <c:tx>
            <c:v>GPT-6 Sol Low</c:v>
          </c:tx>
          <c:spPr>
            <a:ln w="0">
              <a:noFill/>
            </a:ln>
          </c:spPr>
          <c:marker>
            <c:symbol val="circle"/>
            <c:size val="12"/>
            <c:spPr>
              <a:solidFill>
                <a:srgbClr val="0F766E"/>
              </a:solidFill>
            </c:spPr>
          </c:marker>
          <c:xVal>
            <c:numRef>
              <c:f>'Chart Data'!$I$2:$I$2</c:f>
              <c:numCache>
                <c:formatCode>General</c:formatCode>
                <c:ptCount val="1"/>
                <c:pt idx="0">
                  <c:v>0.077331221</c:v>
                </c:pt>
              </c:numCache>
            </c:numRef>
          </c:xVal>
          <c:yVal>
            <c:numRef>
              <c:f>'Chart Data'!$J$2:$J$2</c:f>
              <c:numCache>
                <c:formatCode>0%</c:formatCode>
                <c:ptCount val="1"/>
                <c:pt idx="0">
                  <c:v>0.948717949</c:v>
                </c:pt>
              </c:numCache>
            </c:numRef>
          </c:yVal>
        </c:ser>
        <c:ser>
          <c:idx val="5"/>
          <c:order val="5"/>
          <c:tx>
            <c:v>GPT-6 Sol High</c:v>
          </c:tx>
          <c:spPr>
            <a:ln w="0">
              <a:noFill/>
            </a:ln>
          </c:spPr>
          <c:marker>
            <c:symbol val="square"/>
            <c:size val="12"/>
            <c:spPr>
              <a:solidFill>
                <a:srgbClr val="0F766E"/>
              </a:solidFill>
            </c:spPr>
          </c:marker>
          <c:xVal>
            <c:numRef>
              <c:f>'Chart Data'!$K$2:$K$2</c:f>
              <c:numCache>
                <c:formatCode>General</c:formatCode>
                <c:ptCount val="1"/>
                <c:pt idx="0">
                  <c:v>0.19754441</c:v>
                </c:pt>
              </c:numCache>
            </c:numRef>
          </c:xVal>
          <c:yVal>
            <c:numRef>
              <c:f>'Chart Data'!$L$2:$L$2</c:f>
              <c:numCache>
                <c:formatCode>0%</c:formatCode>
                <c:ptCount val="1"/>
                <c:pt idx="0">
                  <c:v>1</c:v>
                </c:pt>
              </c:numCache>
            </c:numRef>
          </c:yVal>
        </c:ser>
        <c:ser>
          <c:idx val="6"/>
          <c:order val="6"/>
          <c:tx>
            <c:v>GPT-6 Sol Extra High</c:v>
          </c:tx>
          <c:spPr>
            <a:ln w="0">
              <a:noFill/>
            </a:ln>
          </c:spPr>
          <c:marker>
            <c:symbol val="triangle"/>
            <c:size val="12"/>
            <c:spPr>
              <a:solidFill>
                <a:srgbClr val="0F766E"/>
              </a:solidFill>
            </c:spPr>
          </c:marker>
          <c:xVal>
            <c:numRef>
              <c:f>'Chart Data'!$M$2:$M$2</c:f>
              <c:numCache>
                <c:formatCode>General</c:formatCode>
                <c:ptCount val="1"/>
                <c:pt idx="0">
                  <c:v>0.230608174</c:v>
                </c:pt>
              </c:numCache>
            </c:numRef>
          </c:xVal>
          <c:yVal>
            <c:numRef>
              <c:f>'Chart Data'!$N$2:$N$2</c:f>
              <c:numCache>
                <c:formatCode>0%</c:formatCode>
                <c:ptCount val="1"/>
                <c:pt idx="0">
                  <c:v>1</c:v>
                </c:pt>
              </c:numCache>
            </c:numRef>
          </c:yVal>
        </c:ser>
        <c:ser>
          <c:idx val="7"/>
          <c:order val="7"/>
          <c:tx>
            <c:v>GPT-5.6 Terra Low</c:v>
          </c:tx>
          <c:spPr>
            <a:ln w="0">
              <a:noFill/>
            </a:ln>
          </c:spPr>
          <c:marker>
            <c:symbol val="circle"/>
            <c:size val="12"/>
            <c:spPr>
              <a:solidFill>
                <a:srgbClr val="B45309"/>
              </a:solidFill>
            </c:spPr>
          </c:marker>
          <c:xVal>
            <c:numRef>
              <c:f>'Chart Data'!$O$2:$O$2</c:f>
              <c:numCache>
                <c:formatCode>General</c:formatCode>
                <c:ptCount val="1"/>
                <c:pt idx="0">
                  <c:v>0.110705877</c:v>
                </c:pt>
              </c:numCache>
            </c:numRef>
          </c:xVal>
          <c:yVal>
            <c:numRef>
              <c:f>'Chart Data'!$P$2:$P$2</c:f>
              <c:numCache>
                <c:formatCode>0%</c:formatCode>
                <c:ptCount val="1"/>
                <c:pt idx="0">
                  <c:v>0.102564103</c:v>
                </c:pt>
              </c:numCache>
            </c:numRef>
          </c:yVal>
        </c:ser>
        <c:ser>
          <c:idx val="8"/>
          <c:order val="8"/>
          <c:tx>
            <c:v>GPT-5.6 Terra High</c:v>
          </c:tx>
          <c:spPr>
            <a:ln w="0">
              <a:noFill/>
            </a:ln>
          </c:spPr>
          <c:marker>
            <c:symbol val="square"/>
            <c:size val="12"/>
            <c:spPr>
              <a:solidFill>
                <a:srgbClr val="B45309"/>
              </a:solidFill>
            </c:spPr>
          </c:marker>
          <c:xVal>
            <c:numRef>
              <c:f>'Chart Data'!$Q$2:$Q$2</c:f>
              <c:numCache>
                <c:formatCode>General</c:formatCode>
                <c:ptCount val="1"/>
                <c:pt idx="0">
                  <c:v>0.194193528</c:v>
                </c:pt>
              </c:numCache>
            </c:numRef>
          </c:xVal>
          <c:yVal>
            <c:numRef>
              <c:f>'Chart Data'!$R$2:$R$2</c:f>
              <c:numCache>
                <c:formatCode>0%</c:formatCode>
                <c:ptCount val="1"/>
                <c:pt idx="0">
                  <c:v>0.230769231</c:v>
                </c:pt>
              </c:numCache>
            </c:numRef>
          </c:yVal>
        </c:ser>
        <c:ser>
          <c:idx val="9"/>
          <c:order val="9"/>
          <c:tx>
            <c:v>GPT-5.6 Terra Extra High</c:v>
          </c:tx>
          <c:spPr>
            <a:ln w="0">
              <a:noFill/>
            </a:ln>
          </c:spPr>
          <c:marker>
            <c:symbol val="triangle"/>
            <c:size val="12"/>
            <c:spPr>
              <a:solidFill>
                <a:srgbClr val="B45309"/>
              </a:solidFill>
            </c:spPr>
          </c:marker>
          <c:xVal>
            <c:numRef>
              <c:f>'Chart Data'!$S$2:$S$2</c:f>
              <c:numCache>
                <c:formatCode>General</c:formatCode>
                <c:ptCount val="1"/>
                <c:pt idx="0">
                  <c:v>0.319629651</c:v>
                </c:pt>
              </c:numCache>
            </c:numRef>
          </c:xVal>
          <c:yVal>
            <c:numRef>
              <c:f>'Chart Data'!$T$2:$T$2</c:f>
              <c:numCache>
                <c:formatCode>0%</c:formatCode>
                <c:ptCount val="1"/>
                <c:pt idx="0">
                  <c:v>0.487179487</c:v>
                </c:pt>
              </c:numCache>
            </c:numRef>
          </c:yVal>
        </c:ser>
        <c:ser>
          <c:idx val="10"/>
          <c:order val="10"/>
          <c:tx>
            <c:v>GPT-6 Astra Low</c:v>
          </c:tx>
          <c:spPr>
            <a:ln w="0">
              <a:noFill/>
            </a:ln>
          </c:spPr>
          <c:marker>
            <c:symbol val="circle"/>
            <c:size val="12"/>
            <c:spPr>
              <a:solidFill>
                <a:srgbClr val="5B4B7C"/>
              </a:solidFill>
            </c:spPr>
          </c:marker>
          <c:xVal>
            <c:numRef>
              <c:f>'Chart Data'!$U$2:$U$2</c:f>
              <c:numCache>
                <c:formatCode>General</c:formatCode>
                <c:ptCount val="1"/>
                <c:pt idx="0">
                  <c:v>0.445010154</c:v>
                </c:pt>
              </c:numCache>
            </c:numRef>
          </c:xVal>
          <c:yVal>
            <c:numRef>
              <c:f>'Chart Data'!$V$2:$V$2</c:f>
              <c:numCache>
                <c:formatCode>0%</c:formatCode>
                <c:ptCount val="1"/>
                <c:pt idx="0">
                  <c:v>1</c:v>
                </c:pt>
              </c:numCache>
            </c:numRef>
          </c:yVal>
        </c:ser>
        <c:ser>
          <c:idx val="11"/>
          <c:order val="11"/>
          <c:tx>
            <c:v>GPT-6 Astra High</c:v>
          </c:tx>
          <c:spPr>
            <a:ln w="0">
              <a:noFill/>
            </a:ln>
          </c:spPr>
          <c:marker>
            <c:symbol val="square"/>
            <c:size val="12"/>
            <c:spPr>
              <a:solidFill>
                <a:srgbClr val="5B4B7C"/>
              </a:solidFill>
            </c:spPr>
          </c:marker>
          <c:xVal>
            <c:numRef>
              <c:f>'Chart Data'!$W$2:$W$2</c:f>
              <c:numCache>
                <c:formatCode>General</c:formatCode>
                <c:ptCount val="1"/>
                <c:pt idx="0">
                  <c:v>0.713228256</c:v>
                </c:pt>
              </c:numCache>
            </c:numRef>
          </c:xVal>
          <c:yVal>
            <c:numRef>
              <c:f>'Chart Data'!$X$2:$X$2</c:f>
              <c:numCache>
                <c:formatCode>0%</c:formatCode>
                <c:ptCount val="1"/>
                <c:pt idx="0">
                  <c:v>1</c:v>
                </c:pt>
              </c:numCache>
            </c:numRef>
          </c:yVal>
        </c:ser>
        <c:ser>
          <c:idx val="12"/>
          <c:order val="12"/>
          <c:tx>
            <c:v>GPT-6 Astra Extra High</c:v>
          </c:tx>
          <c:spPr>
            <a:ln w="0">
              <a:noFill/>
            </a:ln>
          </c:spPr>
          <c:marker>
            <c:symbol val="triangle"/>
            <c:size val="12"/>
            <c:spPr>
              <a:solidFill>
                <a:srgbClr val="5B4B7C"/>
              </a:solidFill>
            </c:spPr>
          </c:marker>
          <c:xVal>
            <c:numRef>
              <c:f>'Chart Data'!$Y$2:$Y$2</c:f>
              <c:numCache>
                <c:formatCode>General</c:formatCode>
                <c:ptCount val="1"/>
                <c:pt idx="0">
                  <c:v>1.080135385</c:v>
                </c:pt>
              </c:numCache>
            </c:numRef>
          </c:xVal>
          <c:yVal>
            <c:numRef>
              <c:f>'Chart Data'!$Z$2:$Z$2</c:f>
              <c:numCache>
                <c:formatCode>0%</c:formatCode>
                <c:ptCount val="1"/>
                <c:pt idx="0">
                  <c:v>0.948717949</c:v>
                </c:pt>
              </c:numCache>
            </c:numRef>
          </c:yVal>
        </c:ser>
        <c:ser>
          <c:idx val="13"/>
          <c:order val="13"/>
          <c:tx>
            <c:v>DeepSeek V4.1 Flash High</c:v>
          </c:tx>
          <c:spPr>
            <a:ln w="0">
              <a:noFill/>
            </a:ln>
          </c:spPr>
          <c:marker>
            <c:symbol val="square"/>
            <c:size val="12"/>
            <c:spPr>
              <a:solidFill>
                <a:srgbClr val="A50026"/>
              </a:solidFill>
            </c:spPr>
          </c:marker>
          <c:xVal>
            <c:numRef>
              <c:f>'Chart Data'!$AA$2:$AA$2</c:f>
              <c:numCache>
                <c:formatCode>General</c:formatCode>
                <c:ptCount val="1"/>
                <c:pt idx="0">
                  <c:v>0.150040014</c:v>
                </c:pt>
              </c:numCache>
            </c:numRef>
          </c:xVal>
          <c:yVal>
            <c:numRef>
              <c:f>'Chart Data'!$AB$2:$AB$2</c:f>
              <c:numCache>
                <c:formatCode>0%</c:formatCode>
                <c:ptCount val="1"/>
                <c:pt idx="0">
                  <c:v>0</c:v>
                </c:pt>
              </c:numCache>
            </c:numRef>
          </c:yVal>
        </c:ser>
        <c:ser>
          <c:idx val="14"/>
          <c:order val="14"/>
          <c:tx>
            <c:v>DeepSeek V4.1 Flash Low</c:v>
          </c:tx>
          <c:spPr>
            <a:ln w="0">
              <a:noFill/>
            </a:ln>
          </c:spPr>
          <c:marker>
            <c:symbol val="circle"/>
            <c:size val="12"/>
            <c:spPr>
              <a:solidFill>
                <a:srgbClr val="A50026"/>
              </a:solidFill>
            </c:spPr>
          </c:marker>
          <c:xVal>
            <c:numRef>
              <c:f>'Chart Data'!$AC$2:$AC$2</c:f>
              <c:numCache>
                <c:formatCode>General</c:formatCode>
                <c:ptCount val="1"/>
                <c:pt idx="0">
                  <c:v>0.099535269</c:v>
                </c:pt>
              </c:numCache>
            </c:numRef>
          </c:xVal>
          <c:yVal>
            <c:numRef>
              <c:f>'Chart Data'!$AD$2:$AD$2</c:f>
              <c:numCache>
                <c:formatCode>0%</c:formatCode>
                <c:ptCount val="1"/>
                <c:pt idx="0">
                  <c:v>0</c:v>
                </c:pt>
              </c:numCache>
            </c:numRef>
          </c:yVal>
        </c:ser>
        <c:ser>
          <c:idx val="15"/>
          <c:order val="15"/>
          <c:tx>
            <c:v>DeepSeek V4.1 Flash Max</c:v>
          </c:tx>
          <c:spPr>
            <a:ln w="0">
              <a:noFill/>
            </a:ln>
          </c:spPr>
          <c:marker>
            <c:symbol val="diamond"/>
            <c:size val="12"/>
            <c:spPr>
              <a:solidFill>
                <a:srgbClr val="A50026"/>
              </a:solidFill>
            </c:spPr>
          </c:marker>
          <c:xVal>
            <c:numRef>
              <c:f>'Chart Data'!$AE$2:$AE$2</c:f>
              <c:numCache>
                <c:formatCode>General</c:formatCode>
                <c:ptCount val="1"/>
                <c:pt idx="0">
                  <c:v>0.244972869</c:v>
                </c:pt>
              </c:numCache>
            </c:numRef>
          </c:xVal>
          <c:yVal>
            <c:numRef>
              <c:f>'Chart Data'!$AF$2:$AF$2</c:f>
              <c:numCache>
                <c:formatCode>0%</c:formatCode>
                <c:ptCount val="1"/>
                <c:pt idx="0">
                  <c:v>0</c:v>
                </c:pt>
              </c:numCache>
            </c:numRef>
          </c:yVal>
        </c:ser>
        <c:dLbls>
          <c:showLegendKey val="0"/>
          <c:showVal val="0"/>
          <c:showCatName val="0"/>
          <c:showSerName val="0"/>
          <c:showPercent val="0"/>
          <c:showBubbleSize val="0"/>
          <c:showLeaderLines val="0"/>
        </c:dLbls>
        <c:axId val="48650112"/>
        <c:axId val="48672768"/>
      </c:scatterChart>
      <c:valAx>
        <c:axId val="48672768"/>
        <c:scaling>
          <c:orientation val="minMax"/>
          <c:max val="1.06"/>
          <c:min val="0"/>
        </c:scaling>
        <c:delete val="0"/>
        <c:axPos val="l"/>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Completed pass rate</a:t>
                </a:r>
              </a:p>
            </c:rich>
          </c:tx>
          <c:overlay val="0"/>
          <c:txPr>
            <a:bodyPr anchorCtr="1"/>
            <a:lstStyle/>
            <a:p>
              <a:pPr>
                <a:defRPr sz="1575">
                  <a:solidFill>
                    <a:srgbClr val="444444"/>
                  </a:solidFill>
                  <a:latin typeface="Times New Roman"/>
                  <a:ea typeface="Times New Roman"/>
                  <a:cs typeface="Times New Roman"/>
                </a:defRPr>
              </a:pPr>
            </a:p>
          </c:txPr>
        </c:title>
        <c:numFmt formatCode="0%"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50112"/>
        <c:crosses val="autoZero"/>
        <c:crossBetween val="midCat"/>
        <c:majorUnit val="0.25"/>
      </c:valAx>
      <c:valAx>
        <c:axId val="48650112"/>
        <c:scaling>
          <c:orientation val="minMax"/>
          <c:max val="1.15"/>
          <c:min val="0"/>
        </c:scaling>
        <c:delete val="0"/>
        <c:axPos val="b"/>
        <c:title>
          <c:tx>
            <c:rich>
              <a:bodyPr/>
              <a:lstStyle/>
              <a:p>
                <a:r>
                  <a:rPr sz="1575">
                    <a:solidFill>
                      <a:srgbClr val="444444"/>
                    </a:solidFill>
                    <a:latin typeface="Times New Roman"/>
                    <a:ea typeface="Times New Roman"/>
                    <a:cs typeface="Times New Roman"/>
                  </a:rPr>
                  <a:t>Estimated API cost per attempt (USD)</a:t>
                </a:r>
              </a:p>
            </c:rich>
          </c:tx>
          <c:overlay val="0"/>
          <c:txPr>
            <a:bodyPr anchorCtr="1"/>
            <a:lstStyle/>
            <a:p>
              <a:pPr>
                <a:defRPr sz="1575">
                  <a:solidFill>
                    <a:srgbClr val="444444"/>
                  </a:solidFill>
                  <a:latin typeface="Times New Roman"/>
                  <a:ea typeface="Times New Roman"/>
                  <a:cs typeface="Times New Roman"/>
                </a:defRPr>
              </a:pPr>
            </a:p>
          </c:txPr>
        </c:title>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72768"/>
        <c:crosses val="autoZero"/>
        <c:crossBetween val="midCat"/>
        <c:majorUnit val="0.2"/>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No hint</c:v>
          </c:tx>
          <c:spPr>
            <a:ln xmlns:a="http://schemas.openxmlformats.org/drawingml/2006/main" w="23813">
              <a:solidFill>
                <a:srgbClr val="1D4E89"/>
              </a:solidFill>
              <a:prstDash val="solid"/>
            </a:ln>
          </c:spPr>
          <c:marker>
            <c:symbol val="circle"/>
            <c:size val="8"/>
            <c:spPr>
              <a:solidFill xmlns:a="http://schemas.openxmlformats.org/drawingml/2006/main">
                <a:srgbClr val="1D4E89"/>
              </a:solidFill>
            </c:spPr>
          </c:marker>
          <c:dLbls>
            <c:showLegendKey val="0"/>
            <c:showVal val="0"/>
            <c:showCatName val="0"/>
            <c:showSerName val="0"/>
            <c:showPercent val="0"/>
            <c:showBubbleSize val="0"/>
            <c:showLeaderLines val="0"/>
          </c:dLbls>
          <c:xVal>
            <c:numRef>
              <c:f>'Chart Data'!$A$2:$A$4</c:f>
              <c:numCache>
                <c:formatCode>General</c:formatCode>
                <c:ptCount val="3"/>
                <c:pt idx="0">
                  <c:v>0.007435875</c:v>
                </c:pt>
                <c:pt idx="1">
                  <c:v>0.008353351</c:v>
                </c:pt>
                <c:pt idx="2">
                  <c:v>0.051259722</c:v>
                </c:pt>
              </c:numCache>
            </c:numRef>
          </c:xVal>
          <c:yVal>
            <c:numRef>
              <c:f>'Chart Data'!$B$2:$B$4</c:f>
              <c:numCache>
                <c:formatCode>General</c:formatCode>
                <c:ptCount val="3"/>
                <c:pt idx="0">
                  <c:v>0</c:v>
                </c:pt>
                <c:pt idx="1">
                  <c:v>1</c:v>
                </c:pt>
                <c:pt idx="2">
                  <c:v>8</c:v>
                </c:pt>
              </c:numCache>
            </c:numRef>
          </c:yVal>
        </c:ser>
        <c:ser>
          <c:idx val="1"/>
          <c:order val="1"/>
          <c:tx>
            <c:v>General hint</c:v>
          </c:tx>
          <c:spPr>
            <a:ln xmlns:a="http://schemas.openxmlformats.org/drawingml/2006/main" w="23813">
              <a:solidFill>
                <a:srgbClr val="B45309"/>
              </a:solidFill>
              <a:prstDash val="solid"/>
            </a:ln>
          </c:spPr>
          <c:marker>
            <c:symbol val="square"/>
            <c:size val="8"/>
            <c:spPr>
              <a:solidFill xmlns:a="http://schemas.openxmlformats.org/drawingml/2006/main">
                <a:srgbClr val="B45309"/>
              </a:solidFill>
            </c:spPr>
          </c:marker>
          <c:dLbls>
            <c:showLegendKey val="0"/>
            <c:showVal val="0"/>
            <c:showCatName val="0"/>
            <c:showSerName val="0"/>
            <c:showPercent val="0"/>
            <c:showBubbleSize val="0"/>
            <c:showLeaderLines val="0"/>
          </c:dLbls>
          <c:xVal>
            <c:numRef>
              <c:f>'Chart Data'!$C$2:$C$4</c:f>
              <c:numCache>
                <c:formatCode>General</c:formatCode>
                <c:ptCount val="3"/>
                <c:pt idx="0">
                  <c:v>0.009903926</c:v>
                </c:pt>
                <c:pt idx="1">
                  <c:v>0.010303358</c:v>
                </c:pt>
                <c:pt idx="2">
                  <c:v>0.018158369</c:v>
                </c:pt>
              </c:numCache>
            </c:numRef>
          </c:xVal>
          <c:yVal>
            <c:numRef>
              <c:f>'Chart Data'!$D$2:$D$4</c:f>
              <c:numCache>
                <c:formatCode>General</c:formatCode>
                <c:ptCount val="3"/>
                <c:pt idx="0">
                  <c:v>0</c:v>
                </c:pt>
                <c:pt idx="1">
                  <c:v>1</c:v>
                </c:pt>
                <c:pt idx="2">
                  <c:v>9</c:v>
                </c:pt>
              </c:numCache>
            </c:numRef>
          </c:yVal>
        </c:ser>
        <c:ser>
          <c:idx val="2"/>
          <c:order val="2"/>
          <c:tx>
            <c:v>Physics hint</c:v>
          </c:tx>
          <c:spPr>
            <a:ln xmlns:a="http://schemas.openxmlformats.org/drawingml/2006/main" w="23813">
              <a:solidFill>
                <a:srgbClr val="0F766E"/>
              </a:solidFill>
              <a:prstDash val="solid"/>
            </a:ln>
          </c:spPr>
          <c:marker>
            <c:symbol val="triangle"/>
            <c:size val="8"/>
            <c:spPr>
              <a:solidFill xmlns:a="http://schemas.openxmlformats.org/drawingml/2006/main">
                <a:srgbClr val="0F766E"/>
              </a:solidFill>
            </c:spPr>
          </c:marker>
          <c:dLbls>
            <c:showLegendKey val="0"/>
            <c:showVal val="0"/>
            <c:showCatName val="0"/>
            <c:showSerName val="0"/>
            <c:showPercent val="0"/>
            <c:showBubbleSize val="0"/>
            <c:showLeaderLines val="0"/>
          </c:dLbls>
          <c:xVal>
            <c:numRef>
              <c:f>'Chart Data'!$E$2:$E$5</c:f>
              <c:numCache>
                <c:formatCode>General</c:formatCode>
                <c:ptCount val="4"/>
                <c:pt idx="0">
                  <c:v>0.010673996</c:v>
                </c:pt>
                <c:pt idx="1">
                  <c:v>0.010990429</c:v>
                </c:pt>
                <c:pt idx="2">
                  <c:v>0.021472144</c:v>
                </c:pt>
                <c:pt idx="3">
                  <c:v>0.045462435</c:v>
                </c:pt>
              </c:numCache>
            </c:numRef>
          </c:xVal>
          <c:yVal>
            <c:numRef>
              <c:f>'Chart Data'!$F$2:$F$5</c:f>
              <c:numCache>
                <c:formatCode>General</c:formatCode>
                <c:ptCount val="4"/>
                <c:pt idx="0">
                  <c:v>3</c:v>
                </c:pt>
                <c:pt idx="1">
                  <c:v>8</c:v>
                </c:pt>
                <c:pt idx="2">
                  <c:v>16</c:v>
                </c:pt>
                <c:pt idx="3">
                  <c:v>30</c:v>
                </c:pt>
              </c:numCache>
            </c:numRef>
          </c:yVal>
        </c:ser>
        <c:dLbls>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showLegendKey val="0"/>
          <c:showVal val="0"/>
          <c:showCatName val="0"/>
          <c:showSerName val="0"/>
          <c:showPercent val="0"/>
          <c:showBubbleSize val="0"/>
          <c:showLeaderLines val="0"/>
        </c:dLbls>
        <c:axId val="48650112"/>
        <c:axId val="48672768"/>
      </c:scatterChart>
      <c:valAx>
        <c:axId val="48672768"/>
        <c:scaling>
          <c:orientation val="minMax"/>
          <c:max val="39"/>
          <c:min val="0"/>
        </c:scaling>
        <c:delete val="0"/>
        <c:axPos val="l"/>
        <c:majorGridlines>
          <c:spPr>
            <a:ln xmlns:a="http://schemas.openxmlformats.org/drawingml/2006/main" w="9525">
              <a:solidFill>
                <a:srgbClr val="D1D5DB"/>
              </a:solidFill>
              <a:prstDash val="solid"/>
            </a:ln>
          </c:spPr>
        </c:majorGridlines>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Completed passes out of 39</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Times New Roman"/>
                <a:ea typeface="Times New Roman"/>
                <a:cs typeface="Times New Roman"/>
              </a:defRPr>
            </a:pPr>
          </a:p>
        </c:txPr>
        <c:crossAx val="48650112"/>
        <c:majorUnit val="10"/>
      </c:valAx>
      <c:valAx>
        <c:axId val="48650112"/>
        <c:scaling>
          <c:orientation val="minMax"/>
          <c:max val="0.06"/>
          <c:min val="0"/>
        </c:scaling>
        <c:delete val="0"/>
        <c:axPos val="b"/>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Estimated API cost per attempt (USD)</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0.00"/>
        <c:majorTickMark val="none"/>
        <c:minorTickMark val="none"/>
        <c:spPr>
          <a:ln xmlns:a="http://schemas.openxmlformats.org/drawingml/2006/main" w="9525">
            <a:solidFill>
              <a:srgbClr val="D1D5DB"/>
            </a:solidFill>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Times New Roman"/>
                <a:ea typeface="Times New Roman"/>
                <a:cs typeface="Times New Roman"/>
              </a:defRPr>
            </a:pPr>
          </a:p>
        </c:txPr>
        <c:crossAx val="48672768"/>
        <c:majorUnit val="0.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Times New Roman"/>
              <a:ea typeface="Times New Roman"/>
              <a:cs typeface="Times New Roman"/>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No hint</c:v>
          </c:tx>
          <c:spPr>
            <a:solidFill xmlns:a="http://schemas.openxmlformats.org/drawingml/2006/main">
              <a:srgbClr val="1D4E89"/>
            </a:solidFill>
            <a:ln xmlns:a="http://schemas.openxmlformats.org/drawingml/2006/main" w="0">
              <a:noFill/>
            </a:ln>
          </c:spPr>
          <c:invertIfNegative val="0"/>
          <c:cat>
            <c:strRef>
              <c:f>'Chart Data'!$A$2:$A$7</c:f>
              <c:strCache>
                <c:ptCount val="6"/>
                <c:pt idx="0">
                  <c:v>None</c:v>
                </c:pt>
                <c:pt idx="1">
                  <c:v>Low</c:v>
                </c:pt>
                <c:pt idx="2">
                  <c:v>Medium</c:v>
                </c:pt>
                <c:pt idx="3">
                  <c:v>High</c:v>
                </c:pt>
                <c:pt idx="4">
                  <c:v>Extra High</c:v>
                </c:pt>
                <c:pt idx="5">
                  <c:v>Max</c:v>
                </c:pt>
              </c:strCache>
            </c:strRef>
          </c:cat>
          <c:val>
            <c:numRef>
              <c:f>'Chart Data'!$B$2:$B$7</c:f>
              <c:numCache>
                <c:formatCode>General</c:formatCode>
                <c:ptCount val="6"/>
                <c:pt idx="0">
                  <c:v>1</c:v>
                </c:pt>
                <c:pt idx="1">
                  <c:v>0</c:v>
                </c:pt>
                <c:pt idx="2">
                  <c:v>0</c:v>
                </c:pt>
                <c:pt idx="3">
                  <c:v>4</c:v>
                </c:pt>
                <c:pt idx="4">
                  <c:v>6</c:v>
                </c:pt>
                <c:pt idx="5">
                  <c:v>8</c:v>
                </c:pt>
              </c:numCache>
            </c:numRef>
          </c:val>
        </c:ser>
        <c:ser>
          <c:idx val="1"/>
          <c:order val="1"/>
          <c:tx>
            <c:v>General hint</c:v>
          </c:tx>
          <c:spPr>
            <a:solidFill xmlns:a="http://schemas.openxmlformats.org/drawingml/2006/main">
              <a:srgbClr val="B45309"/>
            </a:solidFill>
            <a:ln xmlns:a="http://schemas.openxmlformats.org/drawingml/2006/main" w="0">
              <a:noFill/>
            </a:ln>
          </c:spPr>
          <c:invertIfNegative val="0"/>
          <c:cat>
            <c:strRef>
              <c:f>'Chart Data'!$C$2:$C$7</c:f>
              <c:strCache>
                <c:ptCount val="6"/>
                <c:pt idx="0">
                  <c:v>None</c:v>
                </c:pt>
                <c:pt idx="1">
                  <c:v>Low</c:v>
                </c:pt>
                <c:pt idx="2">
                  <c:v>Medium</c:v>
                </c:pt>
                <c:pt idx="3">
                  <c:v>High</c:v>
                </c:pt>
                <c:pt idx="4">
                  <c:v>Extra High</c:v>
                </c:pt>
                <c:pt idx="5">
                  <c:v>Max</c:v>
                </c:pt>
              </c:strCache>
            </c:strRef>
          </c:cat>
          <c:val>
            <c:numRef>
              <c:f>'Chart Data'!$D$2:$D$7</c:f>
              <c:numCache>
                <c:formatCode>General</c:formatCode>
                <c:ptCount val="6"/>
                <c:pt idx="0">
                  <c:v>1</c:v>
                </c:pt>
                <c:pt idx="1">
                  <c:v>0</c:v>
                </c:pt>
                <c:pt idx="2">
                  <c:v>9</c:v>
                </c:pt>
                <c:pt idx="3">
                  <c:v>18</c:v>
                </c:pt>
                <c:pt idx="4">
                  <c:v>22</c:v>
                </c:pt>
                <c:pt idx="5">
                  <c:v>27</c:v>
                </c:pt>
              </c:numCache>
            </c:numRef>
          </c:val>
        </c:ser>
        <c:ser>
          <c:idx val="2"/>
          <c:order val="2"/>
          <c:tx>
            <c:v>Physics hint</c:v>
          </c:tx>
          <c:spPr>
            <a:solidFill xmlns:a="http://schemas.openxmlformats.org/drawingml/2006/main">
              <a:srgbClr val="0F766E"/>
            </a:solidFill>
            <a:ln xmlns:a="http://schemas.openxmlformats.org/drawingml/2006/main" w="0">
              <a:noFill/>
            </a:ln>
          </c:spPr>
          <c:invertIfNegative val="0"/>
          <c:cat>
            <c:strRef>
              <c:f>'Chart Data'!$E$2:$E$7</c:f>
              <c:strCache>
                <c:ptCount val="6"/>
                <c:pt idx="0">
                  <c:v>None</c:v>
                </c:pt>
                <c:pt idx="1">
                  <c:v>Low</c:v>
                </c:pt>
                <c:pt idx="2">
                  <c:v>Medium</c:v>
                </c:pt>
                <c:pt idx="3">
                  <c:v>High</c:v>
                </c:pt>
                <c:pt idx="4">
                  <c:v>Extra High</c:v>
                </c:pt>
                <c:pt idx="5">
                  <c:v>Max</c:v>
                </c:pt>
              </c:strCache>
            </c:strRef>
          </c:cat>
          <c:val>
            <c:numRef>
              <c:f>'Chart Data'!$F$2:$F$7</c:f>
              <c:numCache>
                <c:formatCode>General</c:formatCode>
                <c:ptCount val="6"/>
                <c:pt idx="0">
                  <c:v>3</c:v>
                </c:pt>
                <c:pt idx="1">
                  <c:v>8</c:v>
                </c:pt>
                <c:pt idx="2">
                  <c:v>16</c:v>
                </c:pt>
                <c:pt idx="3">
                  <c:v>30</c:v>
                </c:pt>
                <c:pt idx="4">
                  <c:v>33</c:v>
                </c:pt>
                <c:pt idx="5">
                  <c:v>35</c:v>
                </c:pt>
              </c:numCache>
            </c:numRef>
          </c:val>
        </c:ser>
        <c:dLbls>
          <c:txPr>
            <a:bodyPr xmlns:a="http://schemas.openxmlformats.org/drawingml/2006/main" anchorCtr="1"/>
            <a:lstStyle xmlns:a="http://schemas.openxmlformats.org/drawingml/2006/main"/>
            <a:p xmlns:a="http://schemas.openxmlformats.org/drawingml/2006/main">
              <a:pPr>
                <a:defRPr sz="1575" b="1">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6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1D5DB"/>
            </a:solidFill>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Times New Roman"/>
                <a:ea typeface="Times New Roman"/>
                <a:cs typeface="Times New Roman"/>
              </a:defRPr>
            </a:pPr>
          </a:p>
        </c:txPr>
        <c:crossAx val="48672768"/>
      </c:catAx>
      <c:valAx>
        <c:axId val="48672768"/>
        <c:scaling>
          <c:orientation val="minMax"/>
          <c:max val="39"/>
          <c:min val="0"/>
        </c:scaling>
        <c:delete val="0"/>
        <c:axPos val="l"/>
        <c:majorGridlines>
          <c:spPr>
            <a:ln xmlns:a="http://schemas.openxmlformats.org/drawingml/2006/main" w="9525">
              <a:solidFill>
                <a:srgbClr val="D1D5DB"/>
              </a:solidFill>
              <a:prstDash val="solid"/>
            </a:ln>
          </c:spPr>
        </c:majorGridlines>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Completed passes out of 39</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Times New Roman"/>
                <a:ea typeface="Times New Roman"/>
                <a:cs typeface="Times New Roman"/>
              </a:defRPr>
            </a:pPr>
          </a:p>
        </c:txPr>
        <c:crossAx val="48650112"/>
        <c:crossBetween val="between"/>
        <c:majorUnit val="1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latin typeface="Times New Roman"/>
              <a:ea typeface="Times New Roman"/>
              <a:cs typeface="Times New Roman"/>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a="http://schemas.openxmlformats.org/drawingml/2006/main" xmlns:c="http://schemas.openxmlformats.org/drawingml/2006/chart" xmlns:r="http://schemas.openxmlformats.org/officeDocument/2006/relationships">
  <c:lang val="en-US"/>
  <c:roundedCorners val="1"/>
  <c:style val="2"/>
  <c:chart>
    <c:autoTitleDeleted val="1"/>
    <c:plotArea>
      <c:barChart>
        <c:barDir val="bar"/>
        <c:grouping val="stacked"/>
        <c:varyColors val="0"/>
        <c:ser>
          <c:idx val="0"/>
          <c:order val="0"/>
          <c:tx>
            <c:v>Completed pass</c:v>
          </c:tx>
          <c:spPr>
            <a:solidFill>
              <a:srgbClr val="0F766E"/>
            </a:solidFill>
          </c:spPr>
          <c:invertIfNegative val="0"/>
          <c:cat>
            <c:strRef>
              <c:f>'Chart Data'!$A$2:$A$6</c:f>
              <c:strCache>
                <c:ptCount val="5"/>
                <c:pt idx="0">
                  <c:v>Luna 6</c:v>
                </c:pt>
                <c:pt idx="1">
                  <c:v>Terra 5.6</c:v>
                </c:pt>
                <c:pt idx="2">
                  <c:v>DeepSeek</c:v>
                </c:pt>
                <c:pt idx="3">
                  <c:v>Sol 6</c:v>
                </c:pt>
                <c:pt idx="4">
                  <c:v>Astra 6</c:v>
                </c:pt>
              </c:strCache>
            </c:strRef>
          </c:cat>
          <c:val>
            <c:numRef>
              <c:f>'Chart Data'!$B$2:$B$6</c:f>
              <c:numCache>
                <c:formatCode>General</c:formatCode>
                <c:ptCount val="5"/>
                <c:pt idx="0">
                  <c:v>17</c:v>
                </c:pt>
                <c:pt idx="1">
                  <c:v>32</c:v>
                </c:pt>
                <c:pt idx="2">
                  <c:v>0</c:v>
                </c:pt>
                <c:pt idx="3">
                  <c:v>115</c:v>
                </c:pt>
                <c:pt idx="4">
                  <c:v>115</c:v>
                </c:pt>
              </c:numCache>
            </c:numRef>
          </c:val>
        </c:ser>
        <c:ser>
          <c:idx val="1"/>
          <c:order val="1"/>
          <c:tx>
            <c:v>Prediction only</c:v>
          </c:tx>
          <c:spPr>
            <a:solidFill>
              <a:srgbClr val="B45309"/>
            </a:solidFill>
          </c:spPr>
          <c:invertIfNegative val="0"/>
          <c:cat>
            <c:strRef>
              <c:f>'Chart Data'!$C$2:$C$6</c:f>
              <c:strCache>
                <c:ptCount val="5"/>
                <c:pt idx="0">
                  <c:v>Luna 6</c:v>
                </c:pt>
                <c:pt idx="1">
                  <c:v>Terra 5.6</c:v>
                </c:pt>
                <c:pt idx="2">
                  <c:v>DeepSeek</c:v>
                </c:pt>
                <c:pt idx="3">
                  <c:v>Sol 6</c:v>
                </c:pt>
                <c:pt idx="4">
                  <c:v>Astra 6</c:v>
                </c:pt>
              </c:strCache>
            </c:strRef>
          </c:cat>
          <c:val>
            <c:numRef>
              <c:f>'Chart Data'!$D$2:$D$6</c:f>
              <c:numCache>
                <c:formatCode>General</c:formatCode>
                <c:ptCount val="5"/>
                <c:pt idx="0">
                  <c:v>91</c:v>
                </c:pt>
                <c:pt idx="1">
                  <c:v>81</c:v>
                </c:pt>
                <c:pt idx="2">
                  <c:v>12</c:v>
                </c:pt>
                <c:pt idx="3">
                  <c:v>2</c:v>
                </c:pt>
                <c:pt idx="4">
                  <c:v>0</c:v>
                </c:pt>
              </c:numCache>
            </c:numRef>
          </c:val>
        </c:ser>
        <c:ser>
          <c:idx val="2"/>
          <c:order val="2"/>
          <c:tx>
            <c:v>Other grading</c:v>
          </c:tx>
          <c:spPr>
            <a:solidFill>
              <a:srgbClr val="5B4B7C"/>
            </a:solidFill>
          </c:spPr>
          <c:invertIfNegative val="0"/>
          <c:cat>
            <c:strRef>
              <c:f>'Chart Data'!$E$2:$E$6</c:f>
              <c:strCache>
                <c:ptCount val="5"/>
                <c:pt idx="0">
                  <c:v>Luna 6</c:v>
                </c:pt>
                <c:pt idx="1">
                  <c:v>Terra 5.6</c:v>
                </c:pt>
                <c:pt idx="2">
                  <c:v>DeepSeek</c:v>
                </c:pt>
                <c:pt idx="3">
                  <c:v>Sol 6</c:v>
                </c:pt>
                <c:pt idx="4">
                  <c:v>Astra 6</c:v>
                </c:pt>
              </c:strCache>
            </c:strRef>
          </c:cat>
          <c:val>
            <c:numRef>
              <c:f>'Chart Data'!$F$2:$F$6</c:f>
              <c:numCache>
                <c:formatCode>General</c:formatCode>
                <c:ptCount val="5"/>
                <c:pt idx="0">
                  <c:v>5</c:v>
                </c:pt>
                <c:pt idx="1">
                  <c:v>0</c:v>
                </c:pt>
                <c:pt idx="2">
                  <c:v>0</c:v>
                </c:pt>
                <c:pt idx="3">
                  <c:v>0</c:v>
                </c:pt>
                <c:pt idx="4">
                  <c:v>0</c:v>
                </c:pt>
              </c:numCache>
            </c:numRef>
          </c:val>
        </c:ser>
        <c:ser>
          <c:idx val="3"/>
          <c:order val="3"/>
          <c:tx>
            <c:v>Timeout</c:v>
          </c:tx>
          <c:spPr>
            <a:solidFill>
              <a:srgbClr val="A50026"/>
            </a:solidFill>
          </c:spPr>
          <c:invertIfNegative val="0"/>
          <c:cat>
            <c:strRef>
              <c:f>'Chart Data'!$G$2:$G$6</c:f>
              <c:strCache>
                <c:ptCount val="5"/>
                <c:pt idx="0">
                  <c:v>Luna 6</c:v>
                </c:pt>
                <c:pt idx="1">
                  <c:v>Terra 5.6</c:v>
                </c:pt>
                <c:pt idx="2">
                  <c:v>DeepSeek</c:v>
                </c:pt>
                <c:pt idx="3">
                  <c:v>Sol 6</c:v>
                </c:pt>
                <c:pt idx="4">
                  <c:v>Astra 6</c:v>
                </c:pt>
              </c:strCache>
            </c:strRef>
          </c:cat>
          <c:val>
            <c:numRef>
              <c:f>'Chart Data'!$H$2:$H$6</c:f>
              <c:numCache>
                <c:formatCode>General</c:formatCode>
                <c:ptCount val="5"/>
                <c:pt idx="0">
                  <c:v>2</c:v>
                </c:pt>
                <c:pt idx="1">
                  <c:v>4</c:v>
                </c:pt>
                <c:pt idx="2">
                  <c:v>83</c:v>
                </c:pt>
                <c:pt idx="3">
                  <c:v>0</c:v>
                </c:pt>
                <c:pt idx="4">
                  <c:v>2</c:v>
                </c:pt>
              </c:numCache>
            </c:numRef>
          </c:val>
        </c:ser>
        <c:ser>
          <c:idx val="4"/>
          <c:order val="4"/>
          <c:tx>
            <c:v>Other execution</c:v>
          </c:tx>
          <c:spPr>
            <a:solidFill>
              <a:srgbClr val="AFB6BC"/>
            </a:solidFill>
          </c:spPr>
          <c:invertIfNegative val="0"/>
          <c:cat>
            <c:strRef>
              <c:f>'Chart Data'!$I$2:$I$6</c:f>
              <c:strCache>
                <c:ptCount val="5"/>
                <c:pt idx="0">
                  <c:v>Luna 6</c:v>
                </c:pt>
                <c:pt idx="1">
                  <c:v>Terra 5.6</c:v>
                </c:pt>
                <c:pt idx="2">
                  <c:v>DeepSeek</c:v>
                </c:pt>
                <c:pt idx="3">
                  <c:v>Sol 6</c:v>
                </c:pt>
                <c:pt idx="4">
                  <c:v>Astra 6</c:v>
                </c:pt>
              </c:strCache>
            </c:strRef>
          </c:cat>
          <c:val>
            <c:numRef>
              <c:f>'Chart Data'!$J$2:$J$6</c:f>
              <c:numCache>
                <c:formatCode>General</c:formatCode>
                <c:ptCount val="5"/>
                <c:pt idx="0">
                  <c:v>2</c:v>
                </c:pt>
                <c:pt idx="1">
                  <c:v>0</c:v>
                </c:pt>
                <c:pt idx="2">
                  <c:v>22</c:v>
                </c:pt>
                <c:pt idx="3">
                  <c:v>0</c:v>
                </c:pt>
                <c:pt idx="4">
                  <c:v>0</c:v>
                </c:pt>
              </c:numCache>
            </c:numRef>
          </c:val>
        </c:ser>
        <c:dLbls>
          <c:showLegendKey val="0"/>
          <c:showVal val="0"/>
          <c:showCatName val="0"/>
          <c:showSerName val="0"/>
          <c:showPercent val="0"/>
          <c:showBubbleSize val="0"/>
          <c:showLeaderLines val="0"/>
        </c:dLbls>
        <c:gapWidth val="55"/>
        <c:overlap val="10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72768"/>
        <c:crosses val="autoZero"/>
        <c:lblAlgn val="ctr"/>
        <c:noMultiLvlLbl val="1"/>
        <c:lblOffset val="100"/>
      </c:catAx>
      <c:valAx>
        <c:axId val="48672768"/>
        <c:scaling>
          <c:orientation val="minMax"/>
          <c:max val="117"/>
          <c:min val="0"/>
        </c:scaling>
        <c:delete val="0"/>
        <c:axPos val="b"/>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Attempts across three effort settings</a:t>
                </a:r>
              </a:p>
            </c:rich>
          </c:tx>
          <c:overlay val="0"/>
          <c:txPr>
            <a:bodyPr anchorCtr="1"/>
            <a:lstStyle/>
            <a:p>
              <a:pPr>
                <a:defRPr sz="1575">
                  <a:solidFill>
                    <a:srgbClr val="444444"/>
                  </a:solidFill>
                  <a:latin typeface="Times New Roman"/>
                  <a:ea typeface="Times New Roman"/>
                  <a:cs typeface="Times New Roman"/>
                </a:defRPr>
              </a:pPr>
            </a:p>
          </c:txPr>
        </c:title>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50112"/>
        <c:crosses val="autoZero"/>
        <c:crossBetween val="between"/>
        <c:majorUnit val="39"/>
      </c:valAx>
      <c:spPr>
        <a:solidFill>
          <a:srgbClr val="FFFFFF"/>
        </a:solidFill>
      </c:spPr>
    </c:plotArea>
    <c:legend>
      <c:legendPos val="b"/>
      <c:overlay val="0"/>
      <c:txPr>
        <a:bodyPr anchorCtr="1"/>
        <a:lstStyle/>
        <a:p>
          <a:pPr>
            <a:defRPr sz="1425">
              <a:solidFill>
                <a:srgbClr val="111111"/>
              </a:solidFill>
              <a:latin typeface="Times New Roman"/>
              <a:ea typeface="Times New Roman"/>
              <a:cs typeface="Times New Roman"/>
            </a:defRPr>
          </a:pPr>
        </a:p>
      </c:txPr>
    </c:legend>
    <c:plotVisOnly val="1"/>
    <c:dispBlanksAs val="zero"/>
    <c:showDLblsOverMax val="1"/>
  </c:chart>
  <c:spPr>
    <a:solidFill>
      <a:srgbClr val="FFFFFF"/>
    </a:solidFill>
    <a:ln w="0">
      <a:noFill/>
    </a:ln>
  </c:spPr>
  <c:externalData r:id="rId1">
    <c:autoUpdate val="0"/>
  </c:externalData>
</c:chartSpace>
</file>

<file path=ppt/slides/charts/chart5.xml><?xml version="1.0" encoding="utf-8"?>
<c:chartSpace xmlns:a="http://schemas.openxmlformats.org/drawingml/2006/main" xmlns:c="http://schemas.openxmlformats.org/drawingml/2006/chart" xmlns:r="http://schemas.openxmlformats.org/officeDocument/2006/relationships">
  <c:lang val="en-US"/>
  <c:roundedCorners val="1"/>
  <c:style val="2"/>
  <c:chart>
    <c:autoTitleDeleted val="1"/>
    <c:plotArea>
      <c:scatterChart>
        <c:scatterStyle val="lineMarker"/>
        <c:varyColors val="0"/>
        <c:ser>
          <c:idx val="0"/>
          <c:order val="0"/>
          <c:tx>
            <c:v>Starter formula</c:v>
          </c:tx>
          <c:spPr>
            <a:ln w="25718">
              <a:solidFill>
                <a:srgbClr val="A50026"/>
              </a:solidFill>
            </a:ln>
          </c:spPr>
          <c:marker>
            <c:symbol val="none"/>
          </c:marker>
          <c:xVal>
            <c:numRef>
              <c:f>'Chart Data'!$A$2:$A$58</c:f>
              <c:numCache>
                <c:formatCode>General</c:formatCode>
                <c:ptCount val="57"/>
                <c:pt idx="0">
                  <c:v>1</c:v>
                </c:pt>
                <c:pt idx="1">
                  <c:v>1.125</c:v>
                </c:pt>
                <c:pt idx="2">
                  <c:v>1.25</c:v>
                </c:pt>
                <c:pt idx="3">
                  <c:v>1.375</c:v>
                </c:pt>
                <c:pt idx="4">
                  <c:v>1.5</c:v>
                </c:pt>
                <c:pt idx="5">
                  <c:v>1.625</c:v>
                </c:pt>
                <c:pt idx="6">
                  <c:v>1.75</c:v>
                </c:pt>
                <c:pt idx="7">
                  <c:v>1.875</c:v>
                </c:pt>
                <c:pt idx="8">
                  <c:v>2</c:v>
                </c:pt>
                <c:pt idx="9">
                  <c:v>2.125</c:v>
                </c:pt>
                <c:pt idx="10">
                  <c:v>2.25</c:v>
                </c:pt>
                <c:pt idx="11">
                  <c:v>2.375</c:v>
                </c:pt>
                <c:pt idx="12">
                  <c:v>2.5</c:v>
                </c:pt>
                <c:pt idx="13">
                  <c:v>2.625</c:v>
                </c:pt>
                <c:pt idx="14">
                  <c:v>2.75</c:v>
                </c:pt>
                <c:pt idx="15">
                  <c:v>2.875</c:v>
                </c:pt>
                <c:pt idx="16">
                  <c:v>3</c:v>
                </c:pt>
                <c:pt idx="17">
                  <c:v>3.125</c:v>
                </c:pt>
                <c:pt idx="18">
                  <c:v>3.25</c:v>
                </c:pt>
                <c:pt idx="19">
                  <c:v>3.375</c:v>
                </c:pt>
                <c:pt idx="20">
                  <c:v>3.5</c:v>
                </c:pt>
                <c:pt idx="21">
                  <c:v>3.625</c:v>
                </c:pt>
                <c:pt idx="22">
                  <c:v>3.75</c:v>
                </c:pt>
                <c:pt idx="23">
                  <c:v>3.875</c:v>
                </c:pt>
                <c:pt idx="24">
                  <c:v>4</c:v>
                </c:pt>
                <c:pt idx="25">
                  <c:v>4.125</c:v>
                </c:pt>
                <c:pt idx="26">
                  <c:v>4.25</c:v>
                </c:pt>
                <c:pt idx="27">
                  <c:v>4.375</c:v>
                </c:pt>
                <c:pt idx="28">
                  <c:v>4.5</c:v>
                </c:pt>
                <c:pt idx="29">
                  <c:v>4.625</c:v>
                </c:pt>
                <c:pt idx="30">
                  <c:v>4.75</c:v>
                </c:pt>
                <c:pt idx="31">
                  <c:v>4.875</c:v>
                </c:pt>
                <c:pt idx="32">
                  <c:v>5</c:v>
                </c:pt>
                <c:pt idx="33">
                  <c:v>5.125</c:v>
                </c:pt>
                <c:pt idx="34">
                  <c:v>5.25</c:v>
                </c:pt>
                <c:pt idx="35">
                  <c:v>5.375</c:v>
                </c:pt>
                <c:pt idx="36">
                  <c:v>5.5</c:v>
                </c:pt>
                <c:pt idx="37">
                  <c:v>5.625</c:v>
                </c:pt>
                <c:pt idx="38">
                  <c:v>5.75</c:v>
                </c:pt>
                <c:pt idx="39">
                  <c:v>5.875</c:v>
                </c:pt>
                <c:pt idx="40">
                  <c:v>6</c:v>
                </c:pt>
                <c:pt idx="41">
                  <c:v>6.125</c:v>
                </c:pt>
                <c:pt idx="42">
                  <c:v>6.25</c:v>
                </c:pt>
                <c:pt idx="43">
                  <c:v>6.375</c:v>
                </c:pt>
                <c:pt idx="44">
                  <c:v>6.5</c:v>
                </c:pt>
                <c:pt idx="45">
                  <c:v>6.625</c:v>
                </c:pt>
                <c:pt idx="46">
                  <c:v>6.75</c:v>
                </c:pt>
                <c:pt idx="47">
                  <c:v>6.875</c:v>
                </c:pt>
                <c:pt idx="48">
                  <c:v>7</c:v>
                </c:pt>
                <c:pt idx="49">
                  <c:v>7.125</c:v>
                </c:pt>
                <c:pt idx="50">
                  <c:v>7.25</c:v>
                </c:pt>
                <c:pt idx="51">
                  <c:v>7.375</c:v>
                </c:pt>
                <c:pt idx="52">
                  <c:v>7.5</c:v>
                </c:pt>
                <c:pt idx="53">
                  <c:v>7.625</c:v>
                </c:pt>
                <c:pt idx="54">
                  <c:v>7.75</c:v>
                </c:pt>
                <c:pt idx="55">
                  <c:v>7.875</c:v>
                </c:pt>
                <c:pt idx="56">
                  <c:v>8</c:v>
                </c:pt>
              </c:numCache>
            </c:numRef>
          </c:xVal>
          <c:yVal>
            <c:numRef>
              <c:f>'Chart Data'!$B$2:$B$58</c:f>
              <c:numCache>
                <c:formatCode>0.00</c:formatCode>
                <c:ptCount val="57"/>
                <c:pt idx="0">
                  <c:v>1</c:v>
                </c:pt>
                <c:pt idx="1">
                  <c:v>0.853553391</c:v>
                </c:pt>
                <c:pt idx="2">
                  <c:v>0.809016994</c:v>
                </c:pt>
                <c:pt idx="3">
                  <c:v>0.780115752</c:v>
                </c:pt>
                <c:pt idx="4">
                  <c:v>0.758819045</c:v>
                </c:pt>
                <c:pt idx="5">
                  <c:v>0.742092732</c:v>
                </c:pt>
                <c:pt idx="6">
                  <c:v>0.728425126</c:v>
                </c:pt>
                <c:pt idx="7">
                  <c:v>0.716946024</c:v>
                </c:pt>
                <c:pt idx="8">
                  <c:v>0.707106781</c:v>
                </c:pt>
                <c:pt idx="9">
                  <c:v>0.698538901</c:v>
                </c:pt>
                <c:pt idx="10">
                  <c:v>0.690983006</c:v>
                </c:pt>
                <c:pt idx="11">
                  <c:v>0.68424978</c:v>
                </c:pt>
                <c:pt idx="12">
                  <c:v>0.678196979</c:v>
                </c:pt>
                <c:pt idx="13">
                  <c:v>0.672715148</c:v>
                </c:pt>
                <c:pt idx="14">
                  <c:v>0.66771837</c:v>
                </c:pt>
                <c:pt idx="15">
                  <c:v>0.663138051</c:v>
                </c:pt>
                <c:pt idx="16">
                  <c:v>0.658918623</c:v>
                </c:pt>
                <c:pt idx="17">
                  <c:v>0.65501449</c:v>
                </c:pt>
                <c:pt idx="18">
                  <c:v>0.651387819</c:v>
                </c:pt>
                <c:pt idx="19">
                  <c:v>0.648006903</c:v>
                </c:pt>
                <c:pt idx="20">
                  <c:v>0.644844932</c:v>
                </c:pt>
                <c:pt idx="21">
                  <c:v>0.641879051</c:v>
                </c:pt>
                <c:pt idx="22">
                  <c:v>0.639089639</c:v>
                </c:pt>
                <c:pt idx="23">
                  <c:v>0.636459736</c:v>
                </c:pt>
                <c:pt idx="24">
                  <c:v>0.633974596</c:v>
                </c:pt>
                <c:pt idx="25">
                  <c:v>0.631621324</c:v>
                </c:pt>
                <c:pt idx="26">
                  <c:v>0.629388588</c:v>
                </c:pt>
                <c:pt idx="27">
                  <c:v>0.62726638</c:v>
                </c:pt>
                <c:pt idx="28">
                  <c:v>0.625245825</c:v>
                </c:pt>
                <c:pt idx="29">
                  <c:v>0.62331902</c:v>
                </c:pt>
                <c:pt idx="30">
                  <c:v>0.621478899</c:v>
                </c:pt>
                <c:pt idx="31">
                  <c:v>0.619719124</c:v>
                </c:pt>
                <c:pt idx="32">
                  <c:v>0.618033989</c:v>
                </c:pt>
                <c:pt idx="33">
                  <c:v>0.616418342</c:v>
                </c:pt>
                <c:pt idx="34">
                  <c:v>0.614867517</c:v>
                </c:pt>
                <c:pt idx="35">
                  <c:v>0.613377279</c:v>
                </c:pt>
                <c:pt idx="36">
                  <c:v>0.611943768</c:v>
                </c:pt>
                <c:pt idx="37">
                  <c:v>0.610563464</c:v>
                </c:pt>
                <c:pt idx="38">
                  <c:v>0.609233145</c:v>
                </c:pt>
                <c:pt idx="39">
                  <c:v>0.607949856</c:v>
                </c:pt>
                <c:pt idx="40">
                  <c:v>0.606710883</c:v>
                </c:pt>
                <c:pt idx="41">
                  <c:v>0.605513725</c:v>
                </c:pt>
                <c:pt idx="42">
                  <c:v>0.604356076</c:v>
                </c:pt>
                <c:pt idx="43">
                  <c:v>0.603235805</c:v>
                </c:pt>
                <c:pt idx="44">
                  <c:v>0.602150938</c:v>
                </c:pt>
                <c:pt idx="45">
                  <c:v>0.601099645</c:v>
                </c:pt>
                <c:pt idx="46">
                  <c:v>0.600080225</c:v>
                </c:pt>
                <c:pt idx="47">
                  <c:v>0.599091096</c:v>
                </c:pt>
                <c:pt idx="48">
                  <c:v>0.598130784</c:v>
                </c:pt>
                <c:pt idx="49">
                  <c:v>0.597197914</c:v>
                </c:pt>
                <c:pt idx="50">
                  <c:v>0.596291202</c:v>
                </c:pt>
                <c:pt idx="51">
                  <c:v>0.595409444</c:v>
                </c:pt>
                <c:pt idx="52">
                  <c:v>0.594551515</c:v>
                </c:pt>
                <c:pt idx="53">
                  <c:v>0.59371636</c:v>
                </c:pt>
                <c:pt idx="54">
                  <c:v>0.592902985</c:v>
                </c:pt>
                <c:pt idx="55">
                  <c:v>0.59211046</c:v>
                </c:pt>
                <c:pt idx="56">
                  <c:v>0.591337907</c:v>
                </c:pt>
              </c:numCache>
            </c:numRef>
          </c:yVal>
        </c:ser>
        <c:ser>
          <c:idx val="1"/>
          <c:order val="1"/>
          <c:tx>
            <c:v>Correct physics</c:v>
          </c:tx>
          <c:spPr>
            <a:ln w="25718">
              <a:solidFill>
                <a:srgbClr val="0F766E"/>
              </a:solidFill>
            </a:ln>
          </c:spPr>
          <c:marker>
            <c:symbol val="none"/>
          </c:marker>
          <c:xVal>
            <c:numRef>
              <c:f>'Chart Data'!$C$2:$C$58</c:f>
              <c:numCache>
                <c:formatCode>General</c:formatCode>
                <c:ptCount val="57"/>
                <c:pt idx="0">
                  <c:v>1</c:v>
                </c:pt>
                <c:pt idx="1">
                  <c:v>1.125</c:v>
                </c:pt>
                <c:pt idx="2">
                  <c:v>1.25</c:v>
                </c:pt>
                <c:pt idx="3">
                  <c:v>1.375</c:v>
                </c:pt>
                <c:pt idx="4">
                  <c:v>1.5</c:v>
                </c:pt>
                <c:pt idx="5">
                  <c:v>1.625</c:v>
                </c:pt>
                <c:pt idx="6">
                  <c:v>1.75</c:v>
                </c:pt>
                <c:pt idx="7">
                  <c:v>1.875</c:v>
                </c:pt>
                <c:pt idx="8">
                  <c:v>2</c:v>
                </c:pt>
                <c:pt idx="9">
                  <c:v>2.125</c:v>
                </c:pt>
                <c:pt idx="10">
                  <c:v>2.25</c:v>
                </c:pt>
                <c:pt idx="11">
                  <c:v>2.375</c:v>
                </c:pt>
                <c:pt idx="12">
                  <c:v>2.5</c:v>
                </c:pt>
                <c:pt idx="13">
                  <c:v>2.625</c:v>
                </c:pt>
                <c:pt idx="14">
                  <c:v>2.75</c:v>
                </c:pt>
                <c:pt idx="15">
                  <c:v>2.875</c:v>
                </c:pt>
                <c:pt idx="16">
                  <c:v>3</c:v>
                </c:pt>
                <c:pt idx="17">
                  <c:v>3.125</c:v>
                </c:pt>
                <c:pt idx="18">
                  <c:v>3.25</c:v>
                </c:pt>
                <c:pt idx="19">
                  <c:v>3.375</c:v>
                </c:pt>
                <c:pt idx="20">
                  <c:v>3.5</c:v>
                </c:pt>
                <c:pt idx="21">
                  <c:v>3.625</c:v>
                </c:pt>
                <c:pt idx="22">
                  <c:v>3.75</c:v>
                </c:pt>
                <c:pt idx="23">
                  <c:v>3.875</c:v>
                </c:pt>
                <c:pt idx="24">
                  <c:v>4</c:v>
                </c:pt>
                <c:pt idx="25">
                  <c:v>4.125</c:v>
                </c:pt>
                <c:pt idx="26">
                  <c:v>4.25</c:v>
                </c:pt>
                <c:pt idx="27">
                  <c:v>4.375</c:v>
                </c:pt>
                <c:pt idx="28">
                  <c:v>4.5</c:v>
                </c:pt>
                <c:pt idx="29">
                  <c:v>4.625</c:v>
                </c:pt>
                <c:pt idx="30">
                  <c:v>4.75</c:v>
                </c:pt>
                <c:pt idx="31">
                  <c:v>4.875</c:v>
                </c:pt>
                <c:pt idx="32">
                  <c:v>5</c:v>
                </c:pt>
                <c:pt idx="33">
                  <c:v>5.125</c:v>
                </c:pt>
                <c:pt idx="34">
                  <c:v>5.25</c:v>
                </c:pt>
                <c:pt idx="35">
                  <c:v>5.375</c:v>
                </c:pt>
                <c:pt idx="36">
                  <c:v>5.5</c:v>
                </c:pt>
                <c:pt idx="37">
                  <c:v>5.625</c:v>
                </c:pt>
                <c:pt idx="38">
                  <c:v>5.75</c:v>
                </c:pt>
                <c:pt idx="39">
                  <c:v>5.875</c:v>
                </c:pt>
                <c:pt idx="40">
                  <c:v>6</c:v>
                </c:pt>
                <c:pt idx="41">
                  <c:v>6.125</c:v>
                </c:pt>
                <c:pt idx="42">
                  <c:v>6.25</c:v>
                </c:pt>
                <c:pt idx="43">
                  <c:v>6.375</c:v>
                </c:pt>
                <c:pt idx="44">
                  <c:v>6.5</c:v>
                </c:pt>
                <c:pt idx="45">
                  <c:v>6.625</c:v>
                </c:pt>
                <c:pt idx="46">
                  <c:v>6.75</c:v>
                </c:pt>
                <c:pt idx="47">
                  <c:v>6.875</c:v>
                </c:pt>
                <c:pt idx="48">
                  <c:v>7</c:v>
                </c:pt>
                <c:pt idx="49">
                  <c:v>7.125</c:v>
                </c:pt>
                <c:pt idx="50">
                  <c:v>7.25</c:v>
                </c:pt>
                <c:pt idx="51">
                  <c:v>7.375</c:v>
                </c:pt>
                <c:pt idx="52">
                  <c:v>7.5</c:v>
                </c:pt>
                <c:pt idx="53">
                  <c:v>7.625</c:v>
                </c:pt>
                <c:pt idx="54">
                  <c:v>7.75</c:v>
                </c:pt>
                <c:pt idx="55">
                  <c:v>7.875</c:v>
                </c:pt>
                <c:pt idx="56">
                  <c:v>8</c:v>
                </c:pt>
              </c:numCache>
            </c:numRef>
          </c:xVal>
          <c:yVal>
            <c:numRef>
              <c:f>'Chart Data'!$D$2:$D$58</c:f>
              <c:numCache>
                <c:formatCode>0.00</c:formatCode>
                <c:ptCount val="57"/>
                <c:pt idx="0">
                  <c:v>1</c:v>
                </c:pt>
                <c:pt idx="1">
                  <c:v>0.780776406</c:v>
                </c:pt>
                <c:pt idx="2">
                  <c:v>0.707106781</c:v>
                </c:pt>
                <c:pt idx="3">
                  <c:v>0.656712034</c:v>
                </c:pt>
                <c:pt idx="4">
                  <c:v>0.618033989</c:v>
                </c:pt>
                <c:pt idx="5">
                  <c:v>0.586626929</c:v>
                </c:pt>
                <c:pt idx="6">
                  <c:v>0.560231504</c:v>
                </c:pt>
                <c:pt idx="7">
                  <c:v>0.537520053</c:v>
                </c:pt>
                <c:pt idx="8">
                  <c:v>0.51763809</c:v>
                </c:pt>
                <c:pt idx="9">
                  <c:v>0.5</c:v>
                </c:pt>
                <c:pt idx="10">
                  <c:v>0.484185463</c:v>
                </c:pt>
                <c:pt idx="11">
                  <c:v>0.469881908</c:v>
                </c:pt>
                <c:pt idx="12">
                  <c:v>0.456850252</c:v>
                </c:pt>
                <c:pt idx="13">
                  <c:v>0.444903383</c:v>
                </c:pt>
                <c:pt idx="14">
                  <c:v>0.433892047</c:v>
                </c:pt>
                <c:pt idx="15">
                  <c:v>0.423695254</c:v>
                </c:pt>
                <c:pt idx="16">
                  <c:v>0.414213562</c:v>
                </c:pt>
                <c:pt idx="17">
                  <c:v>0.405364255</c:v>
                </c:pt>
                <c:pt idx="18">
                  <c:v>0.397077802</c:v>
                </c:pt>
                <c:pt idx="19">
                  <c:v>0.38929521</c:v>
                </c:pt>
                <c:pt idx="20">
                  <c:v>0.381966011</c:v>
                </c:pt>
                <c:pt idx="21">
                  <c:v>0.375046709</c:v>
                </c:pt>
                <c:pt idx="22">
                  <c:v>0.368499561</c:v>
                </c:pt>
                <c:pt idx="23">
                  <c:v>0.362291619</c:v>
                </c:pt>
                <c:pt idx="24">
                  <c:v>0.356393959</c:v>
                </c:pt>
                <c:pt idx="25">
                  <c:v>0.350781059</c:v>
                </c:pt>
                <c:pt idx="26">
                  <c:v>0.345430296</c:v>
                </c:pt>
                <c:pt idx="27">
                  <c:v>0.340321525</c:v>
                </c:pt>
                <c:pt idx="28">
                  <c:v>0.33543674</c:v>
                </c:pt>
                <c:pt idx="29">
                  <c:v>0.330759781</c:v>
                </c:pt>
                <c:pt idx="30">
                  <c:v>0.326276102</c:v>
                </c:pt>
                <c:pt idx="31">
                  <c:v>0.321972559</c:v>
                </c:pt>
                <c:pt idx="32">
                  <c:v>0.317837245</c:v>
                </c:pt>
                <c:pt idx="33">
                  <c:v>0.313859338</c:v>
                </c:pt>
                <c:pt idx="34">
                  <c:v>0.310028979</c:v>
                </c:pt>
                <c:pt idx="35">
                  <c:v>0.306337161</c:v>
                </c:pt>
                <c:pt idx="36">
                  <c:v>0.302775638</c:v>
                </c:pt>
                <c:pt idx="37">
                  <c:v>0.29933684</c:v>
                </c:pt>
                <c:pt idx="38">
                  <c:v>0.296013806</c:v>
                </c:pt>
                <c:pt idx="39">
                  <c:v>0.292800122</c:v>
                </c:pt>
                <c:pt idx="40">
                  <c:v>0.289689863</c:v>
                </c:pt>
                <c:pt idx="41">
                  <c:v>0.286677549</c:v>
                </c:pt>
                <c:pt idx="42">
                  <c:v>0.283758102</c:v>
                </c:pt>
                <c:pt idx="43">
                  <c:v>0.280926806</c:v>
                </c:pt>
                <c:pt idx="44">
                  <c:v>0.278179278</c:v>
                </c:pt>
                <c:pt idx="45">
                  <c:v>0.275511436</c:v>
                </c:pt>
                <c:pt idx="46">
                  <c:v>0.272919473</c:v>
                </c:pt>
                <c:pt idx="47">
                  <c:v>0.270399833</c:v>
                </c:pt>
                <c:pt idx="48">
                  <c:v>0.267949192</c:v>
                </c:pt>
                <c:pt idx="49">
                  <c:v>0.265564437</c:v>
                </c:pt>
                <c:pt idx="50">
                  <c:v>0.263242648</c:v>
                </c:pt>
                <c:pt idx="51">
                  <c:v>0.260981086</c:v>
                </c:pt>
                <c:pt idx="52">
                  <c:v>0.258777175</c:v>
                </c:pt>
                <c:pt idx="53">
                  <c:v>0.256628493</c:v>
                </c:pt>
                <c:pt idx="54">
                  <c:v>0.254532759</c:v>
                </c:pt>
                <c:pt idx="55">
                  <c:v>0.252487822</c:v>
                </c:pt>
                <c:pt idx="56">
                  <c:v>0.25049165</c:v>
                </c:pt>
              </c:numCache>
            </c:numRef>
          </c:yVal>
        </c:ser>
        <c:dLbls>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w="7620">
              <a:solidFill>
                <a:srgbClr val="D1D5DB"/>
              </a:solidFill>
              <a:prstDash val="solid"/>
            </a:ln>
          </c:spPr>
        </c:majorGridlines>
        <c:title>
          <c:tx>
            <c:rich>
              <a:bodyPr/>
              <a:lstStyle/>
              <a:p>
                <a:r>
                  <a:rPr>
                    <a:latin typeface="Times New Roman"/>
                    <a:ea typeface="Times New Roman"/>
                    <a:cs typeface="Times New Roman"/>
                  </a:rPr>
                  <a:t>Shared motion (normalized)</a:t>
                </a:r>
              </a:p>
            </c:rich>
          </c:tx>
          <c:overlay val="0"/>
          <c:txPr>
            <a:bodyPr anchorCtr="1"/>
            <a:lstStyle/>
            <a:p>
              <a:pPr>
                <a:defRPr>
                  <a:latin typeface="Times New Roman"/>
                  <a:ea typeface="Times New Roman"/>
                  <a:cs typeface="Times New Roman"/>
                </a:defRPr>
              </a:pPr>
            </a:p>
          </c:txPr>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Times New Roman"/>
                <a:ea typeface="Times New Roman"/>
                <a:cs typeface="Times New Roman"/>
              </a:defRPr>
            </a:pPr>
          </a:p>
        </c:txPr>
        <c:crossAx val="48650112"/>
        <c:crosses val="autoZero"/>
        <c:crossBetween val="midCat"/>
        <c:majorUnit val="0.25"/>
      </c:valAx>
      <c:valAx>
        <c:axId val="48650112"/>
        <c:scaling>
          <c:orientation val="minMax"/>
          <c:max val="8"/>
          <c:min val="1"/>
        </c:scaling>
        <c:delete val="0"/>
        <c:axPos val="b"/>
        <c:title>
          <c:tx>
            <c:rich>
              <a:bodyPr/>
              <a:lstStyle/>
              <a:p>
                <a:r>
                  <a:rPr>
                    <a:latin typeface="Times New Roman"/>
                    <a:ea typeface="Times New Roman"/>
                    <a:cs typeface="Times New Roman"/>
                  </a:rPr>
                  <a:t>Later time / earlier time</a:t>
                </a:r>
              </a:p>
            </c:rich>
          </c:tx>
          <c:overlay val="0"/>
          <c:txPr>
            <a:bodyPr anchorCtr="1"/>
            <a:lstStyle/>
            <a:p>
              <a:pPr>
                <a:defRPr>
                  <a:latin typeface="Times New Roman"/>
                  <a:ea typeface="Times New Roman"/>
                  <a:cs typeface="Times New Roman"/>
                </a:defRPr>
              </a:pPr>
            </a:p>
          </c:txPr>
        </c:title>
        <c:numFmt formatCode="General"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Times New Roman"/>
                <a:ea typeface="Times New Roman"/>
                <a:cs typeface="Times New Roman"/>
              </a:defRPr>
            </a:pPr>
          </a:p>
        </c:txPr>
        <c:crossAx val="48672768"/>
        <c:crosses val="autoZero"/>
        <c:crossBetween val="midCat"/>
        <c:majorUnit val="1"/>
      </c:valAx>
      <c:spPr>
        <a:solidFill>
          <a:srgbClr val="FFFFFF"/>
        </a:solidFill>
      </c:spPr>
    </c:plotArea>
    <c:legend>
      <c:legendPos val="b"/>
      <c:overlay val="0"/>
      <c:txPr>
        <a:bodyPr anchorCtr="1"/>
        <a:lstStyle/>
        <a:p>
          <a:pPr>
            <a:defRPr sz="1575">
              <a:latin typeface="Times New Roman"/>
              <a:ea typeface="Times New Roman"/>
              <a:cs typeface="Times New Roman"/>
            </a:defRPr>
          </a:pPr>
        </a:p>
      </c:txPr>
    </c:legend>
    <c:plotVisOnly val="1"/>
    <c:dispBlanksAs val="zero"/>
    <c:showDLblsOverMax val="1"/>
  </c:chart>
  <c:spPr>
    <a:solidFill>
      <a:srgbClr val="FFFFFF"/>
    </a:solidFill>
    <a:ln w="0">
      <a:noFill/>
    </a:ln>
  </c:spPr>
  <c:externalData r:id="rId1">
    <c:autoUpdate val="0"/>
  </c:externalData>
</c:chartSpace>
</file>

<file path=ppt/slides/charts/chart6.xml><?xml version="1.0" encoding="utf-8"?>
<c:chartSpace xmlns:a="http://schemas.openxmlformats.org/drawingml/2006/main" xmlns:c="http://schemas.openxmlformats.org/drawingml/2006/chart" xmlns:r="http://schemas.openxmlformats.org/officeDocument/2006/relationships">
  <c:lang val="en-US"/>
  <c:roundedCorners val="1"/>
  <c:style val="2"/>
  <c:chart>
    <c:autoTitleDeleted val="1"/>
    <c:plotArea>
      <c:lineChart>
        <c:grouping val="standard"/>
        <c:varyColors val="0"/>
        <c:ser>
          <c:idx val="0"/>
          <c:order val="0"/>
          <c:tx>
            <c:v>GPT-6 Luna</c:v>
          </c:tx>
          <c:spPr>
            <a:ln w="28575">
              <a:solidFill>
                <a:srgbClr val="1D4E89"/>
              </a:solidFill>
            </a:ln>
          </c:spPr>
          <c:marker>
            <c:symbol val="circle"/>
            <c:size val="9"/>
            <c:spPr>
              <a:solidFill>
                <a:srgbClr val="1D4E89"/>
              </a:solidFill>
            </c:spPr>
          </c:marker>
          <c:dLbls>
            <c:spPr>
              <a:noFill/>
              <a:ln>
                <a:noFill/>
              </a:ln>
            </c:spPr>
            <c:txPr>
              <a:bodyPr anchorCtr="1"/>
              <a:lstStyle/>
              <a:p>
                <a:pPr>
                  <a:defRPr sz="1575">
                    <a:solidFill>
                      <a:srgbClr val="111111"/>
                    </a:solidFill>
                    <a:latin typeface="Times New Roman"/>
                    <a:ea typeface="Times New Roman"/>
                    <a:cs typeface="Times New Roman"/>
                  </a:defRPr>
                </a:pPr>
              </a:p>
            </c:txPr>
            <c:showLegendKey val="0"/>
            <c:showVal val="1"/>
            <c:showCatName val="0"/>
            <c:showSerName val="0"/>
            <c:showPercent val="0"/>
            <c:showBubbleSize val="0"/>
            <c:showLeaderLines val="0"/>
          </c:dLbls>
          <c:cat>
            <c:strRef>
              <c:f>'Chart Data'!$A$2:$A$4</c:f>
              <c:strCache>
                <c:ptCount val="3"/>
                <c:pt idx="0">
                  <c:v>Low</c:v>
                </c:pt>
                <c:pt idx="1">
                  <c:v>High</c:v>
                </c:pt>
                <c:pt idx="2">
                  <c:v>Extra High</c:v>
                </c:pt>
              </c:strCache>
            </c:strRef>
          </c:cat>
          <c:val>
            <c:numRef>
              <c:f>'Chart Data'!$B$2:$B$4</c:f>
              <c:numCache>
                <c:formatCode>General</c:formatCode>
                <c:ptCount val="3"/>
                <c:pt idx="0">
                  <c:v>4</c:v>
                </c:pt>
                <c:pt idx="1">
                  <c:v>1</c:v>
                </c:pt>
                <c:pt idx="2">
                  <c:v>12</c:v>
                </c:pt>
              </c:numCache>
            </c:numRef>
          </c:val>
          <c:smooth val="0"/>
        </c:ser>
        <c:ser>
          <c:idx val="1"/>
          <c:order val="1"/>
          <c:tx>
            <c:v>GPT-5.6 Terra</c:v>
          </c:tx>
          <c:spPr>
            <a:ln w="28575">
              <a:solidFill>
                <a:srgbClr val="B45309"/>
              </a:solidFill>
            </a:ln>
          </c:spPr>
          <c:marker>
            <c:symbol val="circle"/>
            <c:size val="9"/>
            <c:spPr>
              <a:solidFill>
                <a:srgbClr val="B45309"/>
              </a:solidFill>
            </c:spPr>
          </c:marker>
          <c:dLbls>
            <c:spPr>
              <a:noFill/>
              <a:ln>
                <a:noFill/>
              </a:ln>
            </c:spPr>
            <c:txPr>
              <a:bodyPr anchorCtr="1"/>
              <a:lstStyle/>
              <a:p>
                <a:pPr>
                  <a:defRPr sz="1575">
                    <a:solidFill>
                      <a:srgbClr val="111111"/>
                    </a:solidFill>
                    <a:latin typeface="Times New Roman"/>
                    <a:ea typeface="Times New Roman"/>
                    <a:cs typeface="Times New Roman"/>
                  </a:defRPr>
                </a:pPr>
              </a:p>
            </c:txPr>
            <c:showLegendKey val="0"/>
            <c:showVal val="1"/>
            <c:showCatName val="0"/>
            <c:showSerName val="0"/>
            <c:showPercent val="0"/>
            <c:showBubbleSize val="0"/>
            <c:showLeaderLines val="0"/>
          </c:dLbls>
          <c:cat>
            <c:strRef>
              <c:f>'Chart Data'!$C$2:$C$4</c:f>
              <c:strCache>
                <c:ptCount val="3"/>
                <c:pt idx="0">
                  <c:v>Low</c:v>
                </c:pt>
                <c:pt idx="1">
                  <c:v>High</c:v>
                </c:pt>
                <c:pt idx="2">
                  <c:v>Extra High</c:v>
                </c:pt>
              </c:strCache>
            </c:strRef>
          </c:cat>
          <c:val>
            <c:numRef>
              <c:f>'Chart Data'!$D$2:$D$4</c:f>
              <c:numCache>
                <c:formatCode>General</c:formatCode>
                <c:ptCount val="3"/>
                <c:pt idx="0">
                  <c:v>4</c:v>
                </c:pt>
                <c:pt idx="1">
                  <c:v>9</c:v>
                </c:pt>
                <c:pt idx="2">
                  <c:v>19</c:v>
                </c:pt>
              </c:numCache>
            </c:numRef>
          </c:val>
          <c:smooth val="0"/>
        </c:ser>
        <c:ser>
          <c:idx val="2"/>
          <c:order val="2"/>
          <c:tx>
            <c:v>GPT-6 Sol</c:v>
          </c:tx>
          <c:spPr>
            <a:ln w="28575">
              <a:solidFill>
                <a:srgbClr val="0F766E"/>
              </a:solidFill>
            </a:ln>
          </c:spPr>
          <c:marker>
            <c:symbol val="circle"/>
            <c:size val="9"/>
            <c:spPr>
              <a:solidFill>
                <a:srgbClr val="0F766E"/>
              </a:solidFill>
            </c:spPr>
          </c:marker>
          <c:cat>
            <c:strRef>
              <c:f>'Chart Data'!$E$2:$E$4</c:f>
              <c:strCache>
                <c:ptCount val="3"/>
                <c:pt idx="0">
                  <c:v>Low</c:v>
                </c:pt>
                <c:pt idx="1">
                  <c:v>High</c:v>
                </c:pt>
                <c:pt idx="2">
                  <c:v>Extra High</c:v>
                </c:pt>
              </c:strCache>
            </c:strRef>
          </c:cat>
          <c:val>
            <c:numRef>
              <c:f>'Chart Data'!$F$2:$F$4</c:f>
              <c:numCache>
                <c:formatCode>General</c:formatCode>
                <c:ptCount val="3"/>
                <c:pt idx="0">
                  <c:v>37</c:v>
                </c:pt>
                <c:pt idx="1">
                  <c:v>39</c:v>
                </c:pt>
                <c:pt idx="2">
                  <c:v>39</c:v>
                </c:pt>
              </c:numCache>
            </c:numRef>
          </c:val>
          <c:smooth val="0"/>
        </c:ser>
        <c:ser>
          <c:idx val="3"/>
          <c:order val="3"/>
          <c:tx>
            <c:v>GPT-6 Astra</c:v>
          </c:tx>
          <c:spPr>
            <a:ln w="28575">
              <a:solidFill>
                <a:srgbClr val="5B4B7C"/>
              </a:solidFill>
            </a:ln>
          </c:spPr>
          <c:marker>
            <c:symbol val="circle"/>
            <c:size val="9"/>
            <c:spPr>
              <a:solidFill>
                <a:srgbClr val="5B4B7C"/>
              </a:solidFill>
            </c:spPr>
          </c:marker>
          <c:cat>
            <c:strRef>
              <c:f>'Chart Data'!$G$2:$G$4</c:f>
              <c:strCache>
                <c:ptCount val="3"/>
                <c:pt idx="0">
                  <c:v>Low</c:v>
                </c:pt>
                <c:pt idx="1">
                  <c:v>High</c:v>
                </c:pt>
                <c:pt idx="2">
                  <c:v>Extra High</c:v>
                </c:pt>
              </c:strCache>
            </c:strRef>
          </c:cat>
          <c:val>
            <c:numRef>
              <c:f>'Chart Data'!$H$2:$H$4</c:f>
              <c:numCache>
                <c:formatCode>General</c:formatCode>
                <c:ptCount val="3"/>
                <c:pt idx="0">
                  <c:v>39</c:v>
                </c:pt>
                <c:pt idx="1">
                  <c:v>39</c:v>
                </c:pt>
                <c:pt idx="2">
                  <c:v>37</c:v>
                </c:pt>
              </c:numCache>
            </c:numRef>
          </c:val>
          <c:smooth val="0"/>
        </c:ser>
        <c:dLbls>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72768"/>
        <c:crosses val="autoZero"/>
        <c:lblAlgn val="ctr"/>
        <c:noMultiLvlLbl val="1"/>
        <c:lblOffset val="100"/>
      </c:catAx>
      <c:valAx>
        <c:axId val="48672768"/>
        <c:scaling>
          <c:orientation val="minMax"/>
          <c:max val="40"/>
          <c:min val="0"/>
        </c:scaling>
        <c:delete val="0"/>
        <c:axPos val="l"/>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Completed passes</a:t>
                </a:r>
              </a:p>
            </c:rich>
          </c:tx>
          <c:overlay val="0"/>
          <c:txPr>
            <a:bodyPr anchorCtr="1"/>
            <a:lstStyle/>
            <a:p>
              <a:pPr>
                <a:defRPr sz="1575">
                  <a:solidFill>
                    <a:srgbClr val="444444"/>
                  </a:solidFill>
                  <a:latin typeface="Times New Roman"/>
                  <a:ea typeface="Times New Roman"/>
                  <a:cs typeface="Times New Roman"/>
                </a:defRPr>
              </a:pPr>
            </a:p>
          </c:txPr>
        </c:title>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50112"/>
        <c:crosses val="autoZero"/>
        <c:crossBetween val="between"/>
        <c:majorUnit val="10"/>
      </c:valAx>
      <c:spPr>
        <a:solidFill>
          <a:srgbClr val="FFFFFF"/>
        </a:solidFill>
      </c:spPr>
    </c:plotArea>
    <c:legend>
      <c:legendPos val="b"/>
      <c:overlay val="0"/>
      <c:txPr>
        <a:bodyPr anchorCtr="1"/>
        <a:lstStyle/>
        <a:p>
          <a:pPr>
            <a:defRPr sz="1500">
              <a:solidFill>
                <a:srgbClr val="111111"/>
              </a:solidFill>
              <a:latin typeface="Times New Roman"/>
              <a:ea typeface="Times New Roman"/>
              <a:cs typeface="Times New Roman"/>
            </a:defRPr>
          </a:pPr>
        </a:p>
      </c:txPr>
    </c:legend>
    <c:plotVisOnly val="1"/>
    <c:dispBlanksAs val="zero"/>
    <c:showDLblsOverMax val="1"/>
  </c:chart>
  <c:spPr>
    <a:solidFill>
      <a:srgbClr val="FFFFFF"/>
    </a:solidFill>
    <a:ln w="0">
      <a:noFill/>
    </a:ln>
  </c:spPr>
  <c:externalData r:id="rId1">
    <c:autoUpdate val="0"/>
  </c:externalData>
</c:chartSpace>
</file>

<file path=ppt/slides/slide1.xml><?xml version="1.0" encoding="utf-8"?>
<p:sld xmlns:p="http://schemas.openxmlformats.org/presentationml/2006/main">
  <p:cSld>
    <p:bg>
      <p:bgPr>
        <a:solidFill xmlns:a="http://schemas.openxmlformats.org/drawingml/2006/main">
          <a:srgbClr val="0B0B0F"/>
        </a:solidFill>
      </p:bgPr>
    </p:bg>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09305941-EC9E-4DF1-85D9-9C688DEBF0BA}"/>
              </a:ext>
            </a:extLst>
          </p:cNvPr>
          <p:cNvSpPr>
            <a:spLocks xmlns:a="http://schemas.openxmlformats.org/drawingml/2006/main" noGrp="1"/>
          </p:cNvSpPr>
          <p:nvPr/>
        </p:nvSpPr>
        <p:spPr>
          <a:xfrm xmlns:a="http://schemas.openxmlformats.org/drawingml/2006/main">
            <a:off x="609600" y="22669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700" b="1">
                <a:solidFill>
                  <a:srgbClr val="FFFFFF"/>
                </a:solidFill>
                <a:latin typeface="Times New Roman"/>
                <a:ea typeface="Times New Roman"/>
                <a:cs typeface="Times New Roman"/>
              </a:defRPr>
            </a:defPPr>
          </a:lstStyle>
          <a:p xmlns:a="http://schemas.openxmlformats.org/drawingml/2006/main">
            <a:pPr algn="l">
              <a:buNone/>
              <a:defRPr sz="5700" b="1">
                <a:solidFill>
                  <a:srgbClr val="FFFFFF"/>
                </a:solidFill>
                <a:latin typeface="Times New Roman"/>
                <a:ea typeface="Times New Roman"/>
                <a:cs typeface="Times New Roman"/>
              </a:defRPr>
            </a:pPr>
            <a:r>
              <a:rPr sz="5700" b="1">
                <a:solidFill>
                  <a:srgbClr val="FFFFFF"/>
                </a:solidFill>
                <a:latin typeface="Times New Roman"/>
                <a:ea typeface="Times New Roman"/>
                <a:cs typeface="Times New Roman"/>
              </a:rPr>
              <a:t>PhysLiteBench</a:t>
            </a:r>
          </a:p>
        </p:txBody>
      </p:sp>
      <p:sp>
        <p:nvSpPr>
          <p:cNvPr id="2" name="Rectangle 1">
            <a:extLst xmlns:a="http://schemas.openxmlformats.org/drawingml/2006/main">
              <a:ext uri="{FF2B5EF4-FFF2-40B4-BE49-F238E27FC236}">
                <a16:creationId xmlns:a16="http://schemas.microsoft.com/office/drawing/2014/main" id="{A66653FB-D27E-4B22-AFF4-475D4255B342}"/>
              </a:ext>
            </a:extLst>
          </p:cNvPr>
          <p:cNvSpPr>
            <a:spLocks xmlns:a="http://schemas.openxmlformats.org/drawingml/2006/main" noGrp="1"/>
          </p:cNvSpPr>
          <p:nvPr/>
        </p:nvSpPr>
        <p:spPr>
          <a:xfrm xmlns:a="http://schemas.openxmlformats.org/drawingml/2006/main">
            <a:off x="647700" y="36957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00" b="0">
                <a:solidFill>
                  <a:srgbClr val="D1D5DB"/>
                </a:solidFill>
                <a:latin typeface="Times New Roman"/>
                <a:ea typeface="Times New Roman"/>
                <a:cs typeface="Times New Roman"/>
              </a:defRPr>
            </a:defPPr>
          </a:lstStyle>
          <a:p xmlns:a="http://schemas.openxmlformats.org/drawingml/2006/main">
            <a:pPr algn="l">
              <a:buNone/>
              <a:defRPr sz="2700" b="0">
                <a:solidFill>
                  <a:srgbClr val="D1D5DB"/>
                </a:solidFill>
                <a:latin typeface="Times New Roman"/>
                <a:ea typeface="Times New Roman"/>
                <a:cs typeface="Times New Roman"/>
              </a:defRPr>
            </a:pPr>
            <a:r>
              <a:rPr sz="2700" b="0">
                <a:solidFill>
                  <a:srgbClr val="D1D5DB"/>
                </a:solidFill>
                <a:latin typeface="Times New Roman"/>
                <a:ea typeface="Times New Roman"/>
                <a:cs typeface="Times New Roman"/>
              </a:rPr>
              <a:t>Yue Pan and Andrew Liu</a:t>
            </a:r>
          </a:p>
        </p:txBody>
      </p:sp>
    </p:spTree>
    <p:extLst>
      <p:ext uri="{BB962C8B-B14F-4D97-AF65-F5344CB8AC3E}">
        <p14:creationId xmlns:p14="http://schemas.microsoft.com/office/powerpoint/2010/main" val="7398851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EBC09820-22BB-4372-A10F-CB42F1E32FBB}"/>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Physics beyond a good fit</a:t>
            </a:r>
          </a:p>
        </p:txBody>
      </p:sp>
      <p:sp>
        <p:nvSpPr>
          <p:cNvPr id="2" name="Rectangle 1">
            <a:extLst xmlns:a="http://schemas.openxmlformats.org/drawingml/2006/main">
              <a:ext uri="{FF2B5EF4-FFF2-40B4-BE49-F238E27FC236}">
                <a16:creationId xmlns:a16="http://schemas.microsoft.com/office/drawing/2014/main" id="{C4A9DD3B-B3F9-48AA-BE20-495804BE1615}"/>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Can a coding agent infer the right physical model from a description and limited data?</a:t>
            </a:r>
          </a:p>
        </p:txBody>
      </p:sp>
      <p:graphicFrame>
        <p:nvGraphicFramePr>
          <p:cNvPr id="4" name="Table 3">
            <a:extLst xmlns:a="http://schemas.openxmlformats.org/drawingml/2006/main">
              <a:ext uri="{FF2B5EF4-FFF2-40B4-BE49-F238E27FC236}">
                <a16:creationId xmlns:a16="http://schemas.microsoft.com/office/drawing/2014/main" id="{FAEA8007-2D2A-4CA3-A5F2-7FA56BA75413}"/>
              </a:ext>
            </a:extLst>
          </p:cNvPr>
          <p:cNvGraphicFramePr/>
          <p:nvPr/>
        </p:nvGraphicFramePr>
        <p:xfrm>
          <a:off xmlns:a="http://schemas.openxmlformats.org/drawingml/2006/main" x="457200" y="1819275"/>
          <a:ext xmlns:a="http://schemas.openxmlformats.org/drawingml/2006/main" cx="11277600" cy="2714625"/>
        </p:xfrm>
        <a:graphic xmlns:a="http://schemas.openxmlformats.org/drawingml/2006/main">
          <a:graphicData uri="http://schemas.openxmlformats.org/drawingml/2006/table">
            <a:tbl>
              <a:tblPr/>
              <a:tblGrid>
                <a:gridCol w="5510869"/>
                <a:gridCol w="5766731"/>
              </a:tblGrid>
              <a:tr h="678656">
                <a:tc>
                  <a:txBody>
                    <a:bodyPr/>
                    <a:lstStyle/>
                    <a:p>
                      <a:r>
                        <a:rPr sz="2025" b="1">
                          <a:solidFill>
                            <a:srgbClr val="FFFFFF"/>
                          </a:solidFill>
                          <a:latin typeface="Times New Roman"/>
                          <a:ea typeface="Times New Roman"/>
                          <a:cs typeface="Times New Roman"/>
                        </a:rPr>
                        <a:t>Available to the agent</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2025" b="1">
                          <a:solidFill>
                            <a:srgbClr val="FFFFFF"/>
                          </a:solidFill>
                          <a:latin typeface="Times New Roman"/>
                          <a:ea typeface="Times New Roman"/>
                          <a:cs typeface="Times New Roman"/>
                        </a:rPr>
                        <a:t>What the evaluator checks</a:t>
                      </a:r>
                    </a:p>
                  </a:txBody>
                  <a:tcPr marL="114300" marR="114300" marT="66675" marB="66675"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678656">
                <a:tc>
                  <a:txBody>
                    <a:bodyPr/>
                    <a:lstStyle/>
                    <a:p>
                      <a:r>
                        <a:rPr sz="2025" b="0">
                          <a:solidFill>
                            <a:srgbClr val="111111"/>
                          </a:solidFill>
                          <a:latin typeface="Times New Roman"/>
                          <a:ea typeface="Times New Roman"/>
                          <a:cs typeface="Times New Roman"/>
                        </a:rPr>
                        <a:t>Physical setup and starter code</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2025" b="0">
                          <a:solidFill>
                            <a:srgbClr val="111111"/>
                          </a:solidFill>
                          <a:latin typeface="Times New Roman"/>
                          <a:ea typeface="Times New Roman"/>
                          <a:cs typeface="Times New Roman"/>
                        </a:rPr>
                        <a:t>Fit to observed data and model parameters</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678656">
                <a:tc>
                  <a:txBody>
                    <a:bodyPr/>
                    <a:lstStyle/>
                    <a:p>
                      <a:r>
                        <a:rPr sz="2025" b="0">
                          <a:solidFill>
                            <a:srgbClr val="111111"/>
                          </a:solidFill>
                          <a:latin typeface="Times New Roman"/>
                          <a:ea typeface="Times New Roman"/>
                          <a:cs typeface="Times New Roman"/>
                        </a:rPr>
                        <a:t>Calibration data and public tests</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2025" b="0">
                          <a:solidFill>
                            <a:srgbClr val="111111"/>
                          </a:solidFill>
                          <a:latin typeface="Times New Roman"/>
                          <a:ea typeface="Times New Roman"/>
                          <a:cs typeface="Times New Roman"/>
                        </a:rPr>
                        <a:t>Predictions beyond the calibration settings</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r h="678656">
                <a:tc>
                  <a:txBody>
                    <a:bodyPr/>
                    <a:lstStyle/>
                    <a:p>
                      <a:r>
                        <a:rPr sz="2025" b="0">
                          <a:solidFill>
                            <a:srgbClr val="111111"/>
                          </a:solidFill>
                          <a:latin typeface="Times New Roman"/>
                          <a:ea typeface="Times New Roman"/>
                          <a:cs typeface="Times New Roman"/>
                        </a:rPr>
                        <a:t>A fixed software interface</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2025" b="0">
                          <a:solidFill>
                            <a:srgbClr val="111111"/>
                          </a:solidFill>
                          <a:latin typeface="Times New Roman"/>
                          <a:ea typeface="Times New Roman"/>
                          <a:cs typeface="Times New Roman"/>
                        </a:rPr>
                        <a:t>Completion within the time budget</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bl>
          </a:graphicData>
        </a:graphic>
      </p:graphicFrame>
      <p:sp>
        <p:nvSpPr>
          <p:cNvPr id="5" name="Rectangle 4">
            <a:extLst xmlns:a="http://schemas.openxmlformats.org/drawingml/2006/main">
              <a:ext uri="{FF2B5EF4-FFF2-40B4-BE49-F238E27FC236}">
                <a16:creationId xmlns:a16="http://schemas.microsoft.com/office/drawing/2014/main" id="{CB8521B4-CF08-403D-8F9A-418747D0A182}"/>
              </a:ext>
            </a:extLst>
          </p:cNvPr>
          <p:cNvSpPr>
            <a:spLocks xmlns:a="http://schemas.openxmlformats.org/drawingml/2006/main" noGrp="1"/>
          </p:cNvSpPr>
          <p:nvPr/>
        </p:nvSpPr>
        <p:spPr>
          <a:xfrm xmlns:a="http://schemas.openxmlformats.org/drawingml/2006/main">
            <a:off x="457200" y="48577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350" b="1" i="0">
                <a:solidFill>
                  <a:srgbClr val="0F766E"/>
                </a:solidFill>
                <a:latin typeface="Times New Roman"/>
                <a:ea typeface="Times New Roman"/>
                <a:cs typeface="Times New Roman"/>
              </a:defRPr>
            </a:defPPr>
          </a:lstStyle>
          <a:p xmlns:a="http://schemas.openxmlformats.org/drawingml/2006/main">
            <a:pPr algn="l">
              <a:buNone/>
              <a:defRPr sz="4350" b="1" i="0">
                <a:solidFill>
                  <a:srgbClr val="0F766E"/>
                </a:solidFill>
                <a:latin typeface="Times New Roman"/>
                <a:ea typeface="Times New Roman"/>
                <a:cs typeface="Times New Roman"/>
              </a:defRPr>
            </a:pPr>
            <a:r>
              <a:rPr sz="4350" b="1" i="0">
                <a:solidFill>
                  <a:srgbClr val="0F766E"/>
                </a:solidFill>
                <a:latin typeface="Times New Roman"/>
                <a:ea typeface="Times New Roman"/>
                <a:cs typeface="Times New Roman"/>
              </a:rPr>
              <a:t>13</a:t>
            </a:r>
          </a:p>
        </p:txBody>
      </p:sp>
      <p:sp>
        <p:nvSpPr>
          <p:cNvPr id="6" name="Rectangle 5">
            <a:extLst xmlns:a="http://schemas.openxmlformats.org/drawingml/2006/main">
              <a:ext uri="{FF2B5EF4-FFF2-40B4-BE49-F238E27FC236}">
                <a16:creationId xmlns:a16="http://schemas.microsoft.com/office/drawing/2014/main" id="{FC56EB49-9538-451F-AFC3-9BECA96A74F8}"/>
              </a:ext>
            </a:extLst>
          </p:cNvPr>
          <p:cNvSpPr>
            <a:spLocks xmlns:a="http://schemas.openxmlformats.org/drawingml/2006/main" noGrp="1"/>
          </p:cNvSpPr>
          <p:nvPr/>
        </p:nvSpPr>
        <p:spPr>
          <a:xfrm xmlns:a="http://schemas.openxmlformats.org/drawingml/2006/main">
            <a:off x="2009775" y="4943475"/>
            <a:ext cx="8953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tasks: random motion, heat and particle flow,</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correlations, and quantum systems</a:t>
            </a:r>
          </a:p>
        </p:txBody>
      </p:sp>
      <p:sp>
        <p:nvSpPr>
          <p:cNvPr id="7" name="Rectangle 6">
            <a:extLst xmlns:a="http://schemas.openxmlformats.org/drawingml/2006/main">
              <a:ext uri="{FF2B5EF4-FFF2-40B4-BE49-F238E27FC236}">
                <a16:creationId xmlns:a16="http://schemas.microsoft.com/office/drawing/2014/main" id="{6F3BA975-F7F4-4E43-B8D0-56A627FC5D11}"/>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Tasks were selected using GPT-5.6 Luna, so this is a deliberately challenging suite.</a:t>
            </a:r>
          </a:p>
        </p:txBody>
      </p:sp>
      <p:sp>
        <p:nvSpPr>
          <p:cNvPr id="9" name="Rectangle 8">
            <a:extLst xmlns:a="http://schemas.openxmlformats.org/drawingml/2006/main">
              <a:ext uri="{FF2B5EF4-FFF2-40B4-BE49-F238E27FC236}">
                <a16:creationId xmlns:a16="http://schemas.microsoft.com/office/drawing/2014/main" id="{1355ACDC-5475-4330-937A-52DCD24B330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2</a:t>
            </a:r>
          </a:p>
        </p:txBody>
      </p:sp>
    </p:spTree>
    <p:extLst>
      <p:ext uri="{BB962C8B-B14F-4D97-AF65-F5344CB8AC3E}">
        <p14:creationId xmlns:p14="http://schemas.microsoft.com/office/powerpoint/2010/main" val="4607685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Rectangle 38">
            <a:extLst xmlns:a="http://schemas.openxmlformats.org/drawingml/2006/main">
              <a:ext uri="{FF2B5EF4-FFF2-40B4-BE49-F238E27FC236}">
                <a16:creationId xmlns:a16="http://schemas.microsoft.com/office/drawing/2014/main" id="{A1D93F41-C257-4C97-81AC-53D8D3F98DDE}"/>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Example: tracking one bead in a narrow tube</a:t>
            </a:r>
          </a:p>
        </p:txBody>
      </p:sp>
      <p:sp>
        <p:nvSpPr>
          <p:cNvPr id="2" name="Rectangle 1">
            <a:extLst xmlns:a="http://schemas.openxmlformats.org/drawingml/2006/main">
              <a:ext uri="{FF2B5EF4-FFF2-40B4-BE49-F238E27FC236}">
                <a16:creationId xmlns:a16="http://schemas.microsoft.com/office/drawing/2014/main" id="{B2662629-35F5-4EF9-AC84-78AB4DCFFF26}"/>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beads move randomly and bump into each other, but cannot pass one another.</a:t>
            </a:r>
          </a:p>
        </p:txBody>
      </p:sp>
      <p:sp>
        <p:nvSpPr>
          <p:cNvPr id="3" name="Rectangle 2">
            <a:extLst xmlns:a="http://schemas.openxmlformats.org/drawingml/2006/main">
              <a:ext uri="{FF2B5EF4-FFF2-40B4-BE49-F238E27FC236}">
                <a16:creationId xmlns:a16="http://schemas.microsoft.com/office/drawing/2014/main" id="{B72C789D-5DDF-4D29-8C76-5B173C9E8F4F}"/>
              </a:ext>
            </a:extLst>
          </p:cNvPr>
          <p:cNvSpPr>
            <a:spLocks xmlns:a="http://schemas.openxmlformats.org/drawingml/2006/main" noGrp="1"/>
          </p:cNvSpPr>
          <p:nvPr/>
        </p:nvSpPr>
        <p:spPr>
          <a:xfrm xmlns:a="http://schemas.openxmlformats.org/drawingml/2006/main">
            <a:off x="457200" y="1581150"/>
            <a:ext cx="502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Start every run with the same spacing</a:t>
            </a:r>
          </a:p>
        </p:txBody>
      </p:sp>
      <p:sp>
        <p:nvSpPr>
          <p:cNvPr id="4" name="Rectangle 3">
            <a:extLst xmlns:a="http://schemas.openxmlformats.org/drawingml/2006/main">
              <a:ext uri="{FF2B5EF4-FFF2-40B4-BE49-F238E27FC236}">
                <a16:creationId xmlns:a16="http://schemas.microsoft.com/office/drawing/2014/main" id="{FA3A07CF-D11F-4622-856C-3CBFF16C57ED}"/>
              </a:ext>
            </a:extLst>
          </p:cNvPr>
          <p:cNvSpPr>
            <a:spLocks xmlns:a="http://schemas.openxmlformats.org/drawingml/2006/main" noGrp="1"/>
          </p:cNvSpPr>
          <p:nvPr/>
        </p:nvSpPr>
        <p:spPr>
          <a:xfrm xmlns:a="http://schemas.openxmlformats.org/drawingml/2006/main">
            <a:off x="457200" y="202882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3FFFF243-D917-44D5-8B4E-AEF19A84DF20}"/>
              </a:ext>
            </a:extLst>
          </p:cNvPr>
          <p:cNvSpPr>
            <a:spLocks xmlns:a="http://schemas.openxmlformats.org/drawingml/2006/main" noGrp="1"/>
          </p:cNvSpPr>
          <p:nvPr/>
        </p:nvSpPr>
        <p:spPr>
          <a:xfrm xmlns:a="http://schemas.openxmlformats.org/drawingml/2006/main">
            <a:off x="457200" y="258127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59B9F311-4DE1-41F4-91EE-D1DF06E54FB0}"/>
              </a:ext>
            </a:extLst>
          </p:cNvPr>
          <p:cNvSpPr>
            <a:spLocks xmlns:a="http://schemas.openxmlformats.org/drawingml/2006/main" noGrp="1"/>
          </p:cNvSpPr>
          <p:nvPr/>
        </p:nvSpPr>
        <p:spPr>
          <a:xfrm xmlns:a="http://schemas.openxmlformats.org/drawingml/2006/main">
            <a:off x="7810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F9DA28F5-23D0-4E5A-9759-20015A1D1595}"/>
              </a:ext>
            </a:extLst>
          </p:cNvPr>
          <p:cNvSpPr>
            <a:spLocks xmlns:a="http://schemas.openxmlformats.org/drawingml/2006/main" noGrp="1"/>
          </p:cNvSpPr>
          <p:nvPr/>
        </p:nvSpPr>
        <p:spPr>
          <a:xfrm xmlns:a="http://schemas.openxmlformats.org/drawingml/2006/main">
            <a:off x="15049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8379ECC2-76F0-4C85-9EF5-7010AC3D1101}"/>
              </a:ext>
            </a:extLst>
          </p:cNvPr>
          <p:cNvSpPr>
            <a:spLocks xmlns:a="http://schemas.openxmlformats.org/drawingml/2006/main" noGrp="1"/>
          </p:cNvSpPr>
          <p:nvPr/>
        </p:nvSpPr>
        <p:spPr>
          <a:xfrm xmlns:a="http://schemas.openxmlformats.org/drawingml/2006/main">
            <a:off x="2228850" y="2143125"/>
            <a:ext cx="323850" cy="32385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391A5650-9AC4-4DF2-B05B-863C0529C40E}"/>
              </a:ext>
            </a:extLst>
          </p:cNvPr>
          <p:cNvSpPr>
            <a:spLocks xmlns:a="http://schemas.openxmlformats.org/drawingml/2006/main" noGrp="1"/>
          </p:cNvSpPr>
          <p:nvPr/>
        </p:nvSpPr>
        <p:spPr>
          <a:xfrm xmlns:a="http://schemas.openxmlformats.org/drawingml/2006/main">
            <a:off x="29527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6EFEFD0B-10C8-4188-9C17-3FE386921650}"/>
              </a:ext>
            </a:extLst>
          </p:cNvPr>
          <p:cNvSpPr>
            <a:spLocks xmlns:a="http://schemas.openxmlformats.org/drawingml/2006/main" noGrp="1"/>
          </p:cNvSpPr>
          <p:nvPr/>
        </p:nvSpPr>
        <p:spPr>
          <a:xfrm xmlns:a="http://schemas.openxmlformats.org/drawingml/2006/main">
            <a:off x="36766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46B65E69-0398-4FD5-AF8C-50BF819D9F03}"/>
              </a:ext>
            </a:extLst>
          </p:cNvPr>
          <p:cNvSpPr>
            <a:spLocks xmlns:a="http://schemas.openxmlformats.org/drawingml/2006/main" noGrp="1"/>
          </p:cNvSpPr>
          <p:nvPr/>
        </p:nvSpPr>
        <p:spPr>
          <a:xfrm xmlns:a="http://schemas.openxmlformats.org/drawingml/2006/main">
            <a:off x="44005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28E2446B-75BD-490E-9F28-ECBCD9ADBFC6}"/>
              </a:ext>
            </a:extLst>
          </p:cNvPr>
          <p:cNvSpPr>
            <a:spLocks xmlns:a="http://schemas.openxmlformats.org/drawingml/2006/main" noGrp="1"/>
          </p:cNvSpPr>
          <p:nvPr/>
        </p:nvSpPr>
        <p:spPr>
          <a:xfrm xmlns:a="http://schemas.openxmlformats.org/drawingml/2006/main">
            <a:off x="457200" y="2952750"/>
            <a:ext cx="502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the orange bead early in the run</a:t>
            </a:r>
          </a:p>
        </p:txBody>
      </p:sp>
      <p:sp>
        <p:nvSpPr>
          <p:cNvPr id="13" name="Rectangle 12">
            <a:extLst xmlns:a="http://schemas.openxmlformats.org/drawingml/2006/main">
              <a:ext uri="{FF2B5EF4-FFF2-40B4-BE49-F238E27FC236}">
                <a16:creationId xmlns:a16="http://schemas.microsoft.com/office/drawing/2014/main" id="{BAEFBBF5-E411-4F81-AF0F-D0CEC8B70CD1}"/>
              </a:ext>
            </a:extLst>
          </p:cNvPr>
          <p:cNvSpPr>
            <a:spLocks xmlns:a="http://schemas.openxmlformats.org/drawingml/2006/main" noGrp="1"/>
          </p:cNvSpPr>
          <p:nvPr/>
        </p:nvSpPr>
        <p:spPr>
          <a:xfrm xmlns:a="http://schemas.openxmlformats.org/drawingml/2006/main">
            <a:off x="457200" y="340042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615AB876-010E-4283-9E21-EC397A4697F6}"/>
              </a:ext>
            </a:extLst>
          </p:cNvPr>
          <p:cNvSpPr>
            <a:spLocks xmlns:a="http://schemas.openxmlformats.org/drawingml/2006/main" noGrp="1"/>
          </p:cNvSpPr>
          <p:nvPr/>
        </p:nvSpPr>
        <p:spPr>
          <a:xfrm xmlns:a="http://schemas.openxmlformats.org/drawingml/2006/main">
            <a:off x="457200" y="395287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Oval 14">
            <a:extLst xmlns:a="http://schemas.openxmlformats.org/drawingml/2006/main">
              <a:ext uri="{FF2B5EF4-FFF2-40B4-BE49-F238E27FC236}">
                <a16:creationId xmlns:a16="http://schemas.microsoft.com/office/drawing/2014/main" id="{E5A1B225-F3FF-4D9C-92D7-E40F1D5BCBCE}"/>
              </a:ext>
            </a:extLst>
          </p:cNvPr>
          <p:cNvSpPr>
            <a:spLocks xmlns:a="http://schemas.openxmlformats.org/drawingml/2006/main" noGrp="1"/>
          </p:cNvSpPr>
          <p:nvPr/>
        </p:nvSpPr>
        <p:spPr>
          <a:xfrm xmlns:a="http://schemas.openxmlformats.org/drawingml/2006/main">
            <a:off x="70485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6" name="Oval 15">
            <a:extLst xmlns:a="http://schemas.openxmlformats.org/drawingml/2006/main">
              <a:ext uri="{FF2B5EF4-FFF2-40B4-BE49-F238E27FC236}">
                <a16:creationId xmlns:a16="http://schemas.microsoft.com/office/drawing/2014/main" id="{9948075C-7CCB-41F8-BCA4-97DF2FD1515A}"/>
              </a:ext>
            </a:extLst>
          </p:cNvPr>
          <p:cNvSpPr>
            <a:spLocks xmlns:a="http://schemas.openxmlformats.org/drawingml/2006/main" noGrp="1"/>
          </p:cNvSpPr>
          <p:nvPr/>
        </p:nvSpPr>
        <p:spPr>
          <a:xfrm xmlns:a="http://schemas.openxmlformats.org/drawingml/2006/main">
            <a:off x="140970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B2F9B45D-0B24-4E86-BF50-D65EB69518C0}"/>
              </a:ext>
            </a:extLst>
          </p:cNvPr>
          <p:cNvSpPr>
            <a:spLocks xmlns:a="http://schemas.openxmlformats.org/drawingml/2006/main" noGrp="1"/>
          </p:cNvSpPr>
          <p:nvPr/>
        </p:nvSpPr>
        <p:spPr>
          <a:xfrm xmlns:a="http://schemas.openxmlformats.org/drawingml/2006/main">
            <a:off x="2609850" y="3514725"/>
            <a:ext cx="323850" cy="32385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AB1C0CEC-6762-440A-975C-D63168A89042}"/>
              </a:ext>
            </a:extLst>
          </p:cNvPr>
          <p:cNvSpPr>
            <a:spLocks xmlns:a="http://schemas.openxmlformats.org/drawingml/2006/main" noGrp="1"/>
          </p:cNvSpPr>
          <p:nvPr/>
        </p:nvSpPr>
        <p:spPr>
          <a:xfrm xmlns:a="http://schemas.openxmlformats.org/drawingml/2006/main">
            <a:off x="3152775"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9" name="Oval 18">
            <a:extLst xmlns:a="http://schemas.openxmlformats.org/drawingml/2006/main">
              <a:ext uri="{FF2B5EF4-FFF2-40B4-BE49-F238E27FC236}">
                <a16:creationId xmlns:a16="http://schemas.microsoft.com/office/drawing/2014/main" id="{B5AF0FC4-C53E-4C4D-9C04-31EC3AAB1406}"/>
              </a:ext>
            </a:extLst>
          </p:cNvPr>
          <p:cNvSpPr>
            <a:spLocks xmlns:a="http://schemas.openxmlformats.org/drawingml/2006/main" noGrp="1"/>
          </p:cNvSpPr>
          <p:nvPr/>
        </p:nvSpPr>
        <p:spPr>
          <a:xfrm xmlns:a="http://schemas.openxmlformats.org/drawingml/2006/main">
            <a:off x="388620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0" name="Oval 19">
            <a:extLst xmlns:a="http://schemas.openxmlformats.org/drawingml/2006/main">
              <a:ext uri="{FF2B5EF4-FFF2-40B4-BE49-F238E27FC236}">
                <a16:creationId xmlns:a16="http://schemas.microsoft.com/office/drawing/2014/main" id="{6B7E8D58-BDFF-479A-95C7-EE542F9EE661}"/>
              </a:ext>
            </a:extLst>
          </p:cNvPr>
          <p:cNvSpPr>
            <a:spLocks xmlns:a="http://schemas.openxmlformats.org/drawingml/2006/main" noGrp="1"/>
          </p:cNvSpPr>
          <p:nvPr/>
        </p:nvSpPr>
        <p:spPr>
          <a:xfrm xmlns:a="http://schemas.openxmlformats.org/drawingml/2006/main">
            <a:off x="461010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0CB0DDB6-D1AC-4C59-B68F-A6C8C1B7503D}"/>
              </a:ext>
            </a:extLst>
          </p:cNvPr>
          <p:cNvSpPr>
            <a:spLocks xmlns:a="http://schemas.openxmlformats.org/drawingml/2006/main" noGrp="1"/>
          </p:cNvSpPr>
          <p:nvPr/>
        </p:nvSpPr>
        <p:spPr>
          <a:xfrm xmlns:a="http://schemas.openxmlformats.org/drawingml/2006/main">
            <a:off x="457200" y="4324350"/>
            <a:ext cx="502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that same bead later in the run</a:t>
            </a:r>
          </a:p>
        </p:txBody>
      </p:sp>
      <p:sp>
        <p:nvSpPr>
          <p:cNvPr id="22" name="Rectangle 21">
            <a:extLst xmlns:a="http://schemas.openxmlformats.org/drawingml/2006/main">
              <a:ext uri="{FF2B5EF4-FFF2-40B4-BE49-F238E27FC236}">
                <a16:creationId xmlns:a16="http://schemas.microsoft.com/office/drawing/2014/main" id="{962474D2-BD75-4462-A708-B5E038509DA5}"/>
              </a:ext>
            </a:extLst>
          </p:cNvPr>
          <p:cNvSpPr>
            <a:spLocks xmlns:a="http://schemas.openxmlformats.org/drawingml/2006/main" noGrp="1"/>
          </p:cNvSpPr>
          <p:nvPr/>
        </p:nvSpPr>
        <p:spPr>
          <a:xfrm xmlns:a="http://schemas.openxmlformats.org/drawingml/2006/main">
            <a:off x="457200" y="477202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A804FFB7-A505-4837-8A32-F2BC99ABA718}"/>
              </a:ext>
            </a:extLst>
          </p:cNvPr>
          <p:cNvSpPr>
            <a:spLocks xmlns:a="http://schemas.openxmlformats.org/drawingml/2006/main" noGrp="1"/>
          </p:cNvSpPr>
          <p:nvPr/>
        </p:nvSpPr>
        <p:spPr>
          <a:xfrm xmlns:a="http://schemas.openxmlformats.org/drawingml/2006/main">
            <a:off x="457200" y="532447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Oval 23">
            <a:extLst xmlns:a="http://schemas.openxmlformats.org/drawingml/2006/main">
              <a:ext uri="{FF2B5EF4-FFF2-40B4-BE49-F238E27FC236}">
                <a16:creationId xmlns:a16="http://schemas.microsoft.com/office/drawing/2014/main" id="{037F2927-4412-4402-945B-33194FE24E4C}"/>
              </a:ext>
            </a:extLst>
          </p:cNvPr>
          <p:cNvSpPr>
            <a:spLocks xmlns:a="http://schemas.openxmlformats.org/drawingml/2006/main" noGrp="1"/>
          </p:cNvSpPr>
          <p:nvPr/>
        </p:nvSpPr>
        <p:spPr>
          <a:xfrm xmlns:a="http://schemas.openxmlformats.org/drawingml/2006/main">
            <a:off x="619125"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5" name="Oval 24">
            <a:extLst xmlns:a="http://schemas.openxmlformats.org/drawingml/2006/main">
              <a:ext uri="{FF2B5EF4-FFF2-40B4-BE49-F238E27FC236}">
                <a16:creationId xmlns:a16="http://schemas.microsoft.com/office/drawing/2014/main" id="{68FBC403-934E-41E5-8C80-DE9DF183B5C5}"/>
              </a:ext>
            </a:extLst>
          </p:cNvPr>
          <p:cNvSpPr>
            <a:spLocks xmlns:a="http://schemas.openxmlformats.org/drawingml/2006/main" noGrp="1"/>
          </p:cNvSpPr>
          <p:nvPr/>
        </p:nvSpPr>
        <p:spPr>
          <a:xfrm xmlns:a="http://schemas.openxmlformats.org/drawingml/2006/main">
            <a:off x="120015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6" name="Oval 25">
            <a:extLst xmlns:a="http://schemas.openxmlformats.org/drawingml/2006/main">
              <a:ext uri="{FF2B5EF4-FFF2-40B4-BE49-F238E27FC236}">
                <a16:creationId xmlns:a16="http://schemas.microsoft.com/office/drawing/2014/main" id="{27E83168-75AC-4659-94BB-0865496E2000}"/>
              </a:ext>
            </a:extLst>
          </p:cNvPr>
          <p:cNvSpPr>
            <a:spLocks xmlns:a="http://schemas.openxmlformats.org/drawingml/2006/main" noGrp="1"/>
          </p:cNvSpPr>
          <p:nvPr/>
        </p:nvSpPr>
        <p:spPr>
          <a:xfrm xmlns:a="http://schemas.openxmlformats.org/drawingml/2006/main">
            <a:off x="2914650" y="4886325"/>
            <a:ext cx="323850" cy="32385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endParaRPr/>
          </a:p>
        </p:txBody>
      </p:sp>
      <p:sp>
        <p:nvSpPr>
          <p:cNvPr id="27" name="Oval 26">
            <a:extLst xmlns:a="http://schemas.openxmlformats.org/drawingml/2006/main">
              <a:ext uri="{FF2B5EF4-FFF2-40B4-BE49-F238E27FC236}">
                <a16:creationId xmlns:a16="http://schemas.microsoft.com/office/drawing/2014/main" id="{CCCC262F-3302-46A0-A01C-D4B3F8159971}"/>
              </a:ext>
            </a:extLst>
          </p:cNvPr>
          <p:cNvSpPr>
            <a:spLocks xmlns:a="http://schemas.openxmlformats.org/drawingml/2006/main" noGrp="1"/>
          </p:cNvSpPr>
          <p:nvPr/>
        </p:nvSpPr>
        <p:spPr>
          <a:xfrm xmlns:a="http://schemas.openxmlformats.org/drawingml/2006/main">
            <a:off x="346710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8" name="Oval 27">
            <a:extLst xmlns:a="http://schemas.openxmlformats.org/drawingml/2006/main">
              <a:ext uri="{FF2B5EF4-FFF2-40B4-BE49-F238E27FC236}">
                <a16:creationId xmlns:a16="http://schemas.microsoft.com/office/drawing/2014/main" id="{265E5809-D44E-48C4-B81F-908AF9B8EC90}"/>
              </a:ext>
            </a:extLst>
          </p:cNvPr>
          <p:cNvSpPr>
            <a:spLocks xmlns:a="http://schemas.openxmlformats.org/drawingml/2006/main" noGrp="1"/>
          </p:cNvSpPr>
          <p:nvPr/>
        </p:nvSpPr>
        <p:spPr>
          <a:xfrm xmlns:a="http://schemas.openxmlformats.org/drawingml/2006/main">
            <a:off x="401955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9" name="Oval 28">
            <a:extLst xmlns:a="http://schemas.openxmlformats.org/drawingml/2006/main">
              <a:ext uri="{FF2B5EF4-FFF2-40B4-BE49-F238E27FC236}">
                <a16:creationId xmlns:a16="http://schemas.microsoft.com/office/drawing/2014/main" id="{03EC835C-09E3-4CCA-AA9E-5F5E94C3BE48}"/>
              </a:ext>
            </a:extLst>
          </p:cNvPr>
          <p:cNvSpPr>
            <a:spLocks xmlns:a="http://schemas.openxmlformats.org/drawingml/2006/main" noGrp="1"/>
          </p:cNvSpPr>
          <p:nvPr/>
        </p:nvSpPr>
        <p:spPr>
          <a:xfrm xmlns:a="http://schemas.openxmlformats.org/drawingml/2006/main">
            <a:off x="466725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30" name="Rectangle 29">
            <a:extLst xmlns:a="http://schemas.openxmlformats.org/drawingml/2006/main">
              <a:ext uri="{FF2B5EF4-FFF2-40B4-BE49-F238E27FC236}">
                <a16:creationId xmlns:a16="http://schemas.microsoft.com/office/drawing/2014/main" id="{8612F575-4277-4BBE-91AB-80A8143AAEB7}"/>
              </a:ext>
            </a:extLst>
          </p:cNvPr>
          <p:cNvSpPr>
            <a:spLocks xmlns:a="http://schemas.openxmlformats.org/drawingml/2006/main" noGrp="1"/>
          </p:cNvSpPr>
          <p:nvPr/>
        </p:nvSpPr>
        <p:spPr>
          <a:xfrm xmlns:a="http://schemas.openxmlformats.org/drawingml/2006/main">
            <a:off x="457200" y="5591175"/>
            <a:ext cx="5200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0">
                <a:solidFill>
                  <a:srgbClr val="777777"/>
                </a:solidFill>
                <a:latin typeface="Times New Roman"/>
                <a:ea typeface="Times New Roman"/>
                <a:cs typeface="Times New Roman"/>
              </a:defRPr>
            </a:defPPr>
          </a:lstStyle>
          <a:p xmlns:a="http://schemas.openxmlformats.org/drawingml/2006/main">
            <a:pPr algn="l">
              <a:buNone/>
              <a:defRPr sz="1575" b="0">
                <a:solidFill>
                  <a:srgbClr val="777777"/>
                </a:solidFill>
                <a:latin typeface="Times New Roman"/>
                <a:ea typeface="Times New Roman"/>
                <a:cs typeface="Times New Roman"/>
              </a:defRPr>
            </a:pPr>
            <a:r>
              <a:rPr sz="1575" b="0">
                <a:solidFill>
                  <a:srgbClr val="777777"/>
                </a:solidFill>
                <a:latin typeface="Times New Roman"/>
                <a:ea typeface="Times New Roman"/>
                <a:cs typeface="Times New Roman"/>
              </a:rPr>
              <a:t>One run shown. Each repeat resets the starting row.</a:t>
            </a:r>
          </a:p>
        </p:txBody>
      </p:sp>
      <p:sp>
        <p:nvSpPr>
          <p:cNvPr id="31" name="Rectangle 30">
            <a:extLst xmlns:a="http://schemas.openxmlformats.org/drawingml/2006/main">
              <a:ext uri="{FF2B5EF4-FFF2-40B4-BE49-F238E27FC236}">
                <a16:creationId xmlns:a16="http://schemas.microsoft.com/office/drawing/2014/main" id="{80CC5B1B-DE91-4841-A5BF-721EB21691BD}"/>
              </a:ext>
            </a:extLst>
          </p:cNvPr>
          <p:cNvSpPr>
            <a:spLocks xmlns:a="http://schemas.openxmlformats.org/drawingml/2006/main" noGrp="1"/>
          </p:cNvSpPr>
          <p:nvPr/>
        </p:nvSpPr>
        <p:spPr>
          <a:xfrm xmlns:a="http://schemas.openxmlformats.org/drawingml/2006/main">
            <a:off x="6286500" y="158115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11111"/>
                </a:solidFill>
                <a:latin typeface="Times New Roman"/>
                <a:ea typeface="Times New Roman"/>
                <a:cs typeface="Times New Roman"/>
              </a:defRPr>
            </a:defPPr>
          </a:lstStyle>
          <a:p xmlns:a="http://schemas.openxmlformats.org/drawingml/2006/main">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What the agent gets</a:t>
            </a:r>
          </a:p>
        </p:txBody>
      </p:sp>
      <p:sp>
        <p:nvSpPr>
          <p:cNvPr id="32" name="Rectangle 31">
            <a:extLst xmlns:a="http://schemas.openxmlformats.org/drawingml/2006/main">
              <a:ext uri="{FF2B5EF4-FFF2-40B4-BE49-F238E27FC236}">
                <a16:creationId xmlns:a16="http://schemas.microsoft.com/office/drawing/2014/main" id="{05DCB7A6-18B5-424E-94B8-11149F2A1D49}"/>
              </a:ext>
            </a:extLst>
          </p:cNvPr>
          <p:cNvSpPr>
            <a:spLocks xmlns:a="http://schemas.openxmlformats.org/drawingml/2006/main" noGrp="1"/>
          </p:cNvSpPr>
          <p:nvPr/>
        </p:nvSpPr>
        <p:spPr>
          <a:xfrm xmlns:a="http://schemas.openxmlformats.org/drawingml/2006/main">
            <a:off x="6286500" y="2057400"/>
            <a:ext cx="5448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 setup description, starter code, and data</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on how far the bead typically moves</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at several observation times.</a:t>
            </a:r>
          </a:p>
        </p:txBody>
      </p:sp>
      <p:sp>
        <p:nvSpPr>
          <p:cNvPr id="33" name="Rectangle 32">
            <a:extLst xmlns:a="http://schemas.openxmlformats.org/drawingml/2006/main">
              <a:ext uri="{FF2B5EF4-FFF2-40B4-BE49-F238E27FC236}">
                <a16:creationId xmlns:a16="http://schemas.microsoft.com/office/drawing/2014/main" id="{B0EA5148-8AD1-4370-B501-B24753F88571}"/>
              </a:ext>
            </a:extLst>
          </p:cNvPr>
          <p:cNvSpPr>
            <a:spLocks xmlns:a="http://schemas.openxmlformats.org/drawingml/2006/main" noGrp="1"/>
          </p:cNvSpPr>
          <p:nvPr/>
        </p:nvSpPr>
        <p:spPr>
          <a:xfrm xmlns:a="http://schemas.openxmlformats.org/drawingml/2006/main">
            <a:off x="6286500" y="329565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D4E89"/>
                </a:solidFill>
                <a:latin typeface="Times New Roman"/>
                <a:ea typeface="Times New Roman"/>
                <a:cs typeface="Times New Roman"/>
              </a:defRPr>
            </a:defPPr>
          </a:lstStyle>
          <a:p xmlns:a="http://schemas.openxmlformats.org/drawingml/2006/main">
            <a:pPr algn="l">
              <a:buNone/>
              <a:defRPr sz="2250" b="1">
                <a:solidFill>
                  <a:srgbClr val="1D4E89"/>
                </a:solidFill>
                <a:latin typeface="Times New Roman"/>
                <a:ea typeface="Times New Roman"/>
                <a:cs typeface="Times New Roman"/>
              </a:defRPr>
            </a:pPr>
            <a:r>
              <a:rPr sz="2250" b="1">
                <a:solidFill>
                  <a:srgbClr val="1D4E89"/>
                </a:solidFill>
                <a:latin typeface="Times New Roman"/>
                <a:ea typeface="Times New Roman"/>
                <a:cs typeface="Times New Roman"/>
              </a:rPr>
              <a:t>What the agent must predict</a:t>
            </a:r>
          </a:p>
        </p:txBody>
      </p:sp>
      <p:sp>
        <p:nvSpPr>
          <p:cNvPr id="34" name="Rectangle 33">
            <a:extLst xmlns:a="http://schemas.openxmlformats.org/drawingml/2006/main">
              <a:ext uri="{FF2B5EF4-FFF2-40B4-BE49-F238E27FC236}">
                <a16:creationId xmlns:a16="http://schemas.microsoft.com/office/drawing/2014/main" id="{C4209CE6-ACBA-4CB8-BAB6-2D1338E3E0D0}"/>
              </a:ext>
            </a:extLst>
          </p:cNvPr>
          <p:cNvSpPr>
            <a:spLocks xmlns:a="http://schemas.openxmlformats.org/drawingml/2006/main" noGrp="1"/>
          </p:cNvSpPr>
          <p:nvPr/>
        </p:nvSpPr>
        <p:spPr>
          <a:xfrm xmlns:a="http://schemas.openxmlformats.org/drawingml/2006/main">
            <a:off x="6286500" y="3771900"/>
            <a:ext cx="5448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Fit the strength of random motion.</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Then predict how the bead’s early and later</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positions </a:t>
            </a:r>
            <a:r>
              <a:rPr sz="2025" b="0">
                <a:solidFill>
                  <a:srgbClr val="111111"/>
                </a:solidFill>
                <a:latin typeface="Times New Roman"/>
                <a:ea typeface="Times New Roman"/>
                <a:cs typeface="Times New Roman"/>
              </a:rPr>
              <a:t>correlate</a:t>
            </a:r>
            <a:r>
              <a:rPr sz="2025" b="0">
                <a:solidFill>
                  <a:srgbClr val="111111"/>
                </a:solidFill>
                <a:latin typeface="Times New Roman"/>
                <a:ea typeface="Times New Roman"/>
                <a:cs typeface="Times New Roman"/>
              </a:rPr>
              <a:t> across many runs.</a:t>
            </a:r>
          </a:p>
        </p:txBody>
      </p:sp>
      <p:sp>
        <p:nvSpPr>
          <p:cNvPr id="35" name="Rectangle 34">
            <a:extLst xmlns:a="http://schemas.openxmlformats.org/drawingml/2006/main">
              <a:ext uri="{FF2B5EF4-FFF2-40B4-BE49-F238E27FC236}">
                <a16:creationId xmlns:a16="http://schemas.microsoft.com/office/drawing/2014/main" id="{87E47CA0-617F-4DEA-BF6A-8B00F933ADEB}"/>
              </a:ext>
            </a:extLst>
          </p:cNvPr>
          <p:cNvSpPr>
            <a:spLocks xmlns:a="http://schemas.openxmlformats.org/drawingml/2006/main" noGrp="1"/>
          </p:cNvSpPr>
          <p:nvPr/>
        </p:nvSpPr>
        <p:spPr>
          <a:xfrm xmlns:a="http://schemas.openxmlformats.org/drawingml/2006/main">
            <a:off x="6286500" y="489585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11111"/>
                </a:solidFill>
                <a:latin typeface="Times New Roman"/>
                <a:ea typeface="Times New Roman"/>
                <a:cs typeface="Times New Roman"/>
              </a:defRPr>
            </a:defPPr>
          </a:lstStyle>
          <a:p xmlns:a="http://schemas.openxmlformats.org/drawingml/2006/main">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Physics it must account for</a:t>
            </a:r>
          </a:p>
        </p:txBody>
      </p:sp>
      <p:sp>
        <p:nvSpPr>
          <p:cNvPr id="36" name="Rectangle 35">
            <a:extLst xmlns:a="http://schemas.openxmlformats.org/drawingml/2006/main">
              <a:ext uri="{FF2B5EF4-FFF2-40B4-BE49-F238E27FC236}">
                <a16:creationId xmlns:a16="http://schemas.microsoft.com/office/drawing/2014/main" id="{0E992A19-E518-4A04-BDBE-E9742D222B5F}"/>
              </a:ext>
            </a:extLst>
          </p:cNvPr>
          <p:cNvSpPr>
            <a:spLocks xmlns:a="http://schemas.openxmlformats.org/drawingml/2006/main" noGrp="1"/>
          </p:cNvSpPr>
          <p:nvPr/>
        </p:nvSpPr>
        <p:spPr>
          <a:xfrm xmlns:a="http://schemas.openxmlformats.org/drawingml/2006/main">
            <a:off x="6286500" y="5324475"/>
            <a:ext cx="5448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 initial</a:t>
            </a:r>
            <a:r>
              <a:rPr sz="2025" b="0">
                <a:solidFill>
                  <a:srgbClr val="111111"/>
                </a:solidFill>
                <a:latin typeface="Times New Roman"/>
                <a:ea typeface="Times New Roman"/>
                <a:cs typeface="Times New Roman"/>
              </a:rPr>
              <a:t> bead</a:t>
            </a:r>
            <a:r>
              <a:rPr sz="2025" b="0">
                <a:solidFill>
                  <a:srgbClr val="111111"/>
                </a:solidFill>
                <a:latin typeface="Times New Roman"/>
                <a:ea typeface="Times New Roman"/>
                <a:cs typeface="Times New Roman"/>
              </a:rPr>
              <a:t> spacing can affect the </a:t>
            </a:r>
            <a:r>
              <a:rPr sz="2025" b="0">
                <a:solidFill>
                  <a:srgbClr val="111111"/>
                </a:solidFill>
                <a:latin typeface="Times New Roman"/>
                <a:ea typeface="Times New Roman"/>
                <a:cs typeface="Times New Roman"/>
              </a:rPr>
              <a:t>correlation</a:t>
            </a:r>
            <a:endParaRPr sz="2025" b="0">
              <a:solidFill>
                <a:srgbClr val="111111"/>
              </a:solidFill>
              <a:latin typeface="Times New Roman"/>
              <a:ea typeface="Times New Roman"/>
              <a:cs typeface="Times New Roman"/>
            </a:endParaRP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between early and later motion.</a:t>
            </a:r>
          </a:p>
        </p:txBody>
      </p:sp>
      <p:sp>
        <p:nvSpPr>
          <p:cNvPr id="37" name="Rectangle 36">
            <a:extLst xmlns:a="http://schemas.openxmlformats.org/drawingml/2006/main">
              <a:ext uri="{FF2B5EF4-FFF2-40B4-BE49-F238E27FC236}">
                <a16:creationId xmlns:a16="http://schemas.microsoft.com/office/drawing/2014/main" id="{09EE6FC6-A10B-42CB-8A2D-C1E5B125AE17}"/>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Illustrative setup. The benchmark asks for the statistical trend after long observation times, rather than one bead’s exact path.</a:t>
            </a:r>
          </a:p>
        </p:txBody>
      </p:sp>
      <p:sp>
        <p:nvSpPr>
          <p:cNvPr id="38" name="Rectangle 37">
            <a:extLst xmlns:a="http://schemas.openxmlformats.org/drawingml/2006/main">
              <a:ext uri="{FF2B5EF4-FFF2-40B4-BE49-F238E27FC236}">
                <a16:creationId xmlns:a16="http://schemas.microsoft.com/office/drawing/2014/main" id="{B5B2BFD1-9BD4-4B2A-804C-23D72BA3EF86}"/>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3</a:t>
            </a:r>
          </a:p>
        </p:txBody>
      </p:sp>
    </p:spTree>
    <p:extLst>
      <p:ext uri="{BB962C8B-B14F-4D97-AF65-F5344CB8AC3E}">
        <p14:creationId xmlns:p14="http://schemas.microsoft.com/office/powerpoint/2010/main" val="13747693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A2E055D0-CB93-4BD7-8C34-D05A390641C9}"/>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Three prompt conditions</a:t>
            </a:r>
          </a:p>
        </p:txBody>
      </p:sp>
      <p:sp>
        <p:nvSpPr>
          <p:cNvPr id="2" name="Rectangle 1">
            <a:extLst xmlns:a="http://schemas.openxmlformats.org/drawingml/2006/main">
              <a:ext uri="{FF2B5EF4-FFF2-40B4-BE49-F238E27FC236}">
                <a16:creationId xmlns:a16="http://schemas.microsoft.com/office/drawing/2014/main" id="{E3A2D2EB-BD64-42F5-A6A8-12EA53CBC6EA}"/>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task stays the same. Only the extra guidance changes.</a:t>
            </a:r>
          </a:p>
        </p:txBody>
      </p:sp>
      <p:graphicFrame>
        <p:nvGraphicFramePr>
          <p:cNvPr id="3" name="Table 2">
            <a:extLst xmlns:a="http://schemas.openxmlformats.org/drawingml/2006/main">
              <a:ext uri="{FF2B5EF4-FFF2-40B4-BE49-F238E27FC236}">
                <a16:creationId xmlns:a16="http://schemas.microsoft.com/office/drawing/2014/main" id="{ED1F2D5D-6A18-430F-90D4-45A70E620DFB}"/>
              </a:ext>
            </a:extLst>
          </p:cNvPr>
          <p:cNvGraphicFramePr/>
          <p:nvPr/>
        </p:nvGraphicFramePr>
        <p:xfrm>
          <a:off xmlns:a="http://schemas.openxmlformats.org/drawingml/2006/main" x="457200" y="1571625"/>
          <a:ext xmlns:a="http://schemas.openxmlformats.org/drawingml/2006/main" cx="11277600" cy="2967990"/>
        </p:xfrm>
        <a:graphic xmlns:a="http://schemas.openxmlformats.org/drawingml/2006/main">
          <a:graphicData uri="http://schemas.openxmlformats.org/drawingml/2006/table">
            <a:tbl>
              <a:tblPr/>
              <a:tblGrid>
                <a:gridCol w="2247900"/>
                <a:gridCol w="9029700"/>
              </a:tblGrid>
              <a:tr h="714375">
                <a:tc>
                  <a:txBody>
                    <a:bodyPr/>
                    <a:lstStyle/>
                    <a:p>
                      <a:r>
                        <a:rPr sz="2025" b="1">
                          <a:solidFill>
                            <a:srgbClr val="FFFFFF"/>
                          </a:solidFill>
                          <a:latin typeface="Times New Roman"/>
                          <a:ea typeface="Times New Roman"/>
                          <a:cs typeface="Times New Roman"/>
                        </a:rPr>
                        <a:t>Condition</a:t>
                      </a:r>
                    </a:p>
                  </a:txBody>
                  <a:tcPr marL="114300" marR="114300" marT="76200" marB="76200" anchor="ctr">
                    <a:lnL w="7620">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c>
                  <a:txBody>
                    <a:bodyPr/>
                    <a:lstStyle/>
                    <a:p>
                      <a:r>
                        <a:rPr sz="2025" b="1">
                          <a:solidFill>
                            <a:srgbClr val="FFFFFF"/>
                          </a:solidFill>
                          <a:latin typeface="Times New Roman"/>
                          <a:ea typeface="Times New Roman"/>
                          <a:cs typeface="Times New Roman"/>
                        </a:rPr>
                        <a:t>Instruction or added guidance</a:t>
                      </a:r>
                    </a:p>
                  </a:txBody>
                  <a:tcPr marL="114300" marR="114300" marT="76200" marB="76200" anchor="ctr">
                    <a:lnL w="7620" cmpd="sng">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r>
              <a:tr h="714375">
                <a:tc>
                  <a:txBody>
                    <a:bodyPr/>
                    <a:lstStyle/>
                    <a:p>
                      <a:r>
                        <a:rPr sz="2025" b="0">
                          <a:solidFill>
                            <a:srgbClr val="111111"/>
                          </a:solidFill>
                          <a:latin typeface="Times New Roman"/>
                          <a:ea typeface="Times New Roman"/>
                          <a:cs typeface="Times New Roman"/>
                        </a:rPr>
                        <a:t>No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c>
                  <a:txBody>
                    <a:bodyPr/>
                    <a:lstStyle/>
                    <a:p>
                      <a:r>
                        <a:rPr sz="2025" b="0">
                          <a:solidFill>
                            <a:srgbClr val="111111"/>
                          </a:solidFill>
                          <a:latin typeface="Times New Roman"/>
                          <a:ea typeface="Times New Roman"/>
                          <a:cs typeface="Times New Roman"/>
                        </a:rPr>
                        <a:t>Use the setup and supplied data to implement the model.</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r>
              <a:tr h="714375">
                <a:tc>
                  <a:txBody>
                    <a:bodyPr/>
                    <a:lstStyle/>
                    <a:p>
                      <a:r>
                        <a:rPr sz="2025" b="0">
                          <a:solidFill>
                            <a:srgbClr val="111111"/>
                          </a:solidFill>
                          <a:latin typeface="Times New Roman"/>
                          <a:ea typeface="Times New Roman"/>
                          <a:cs typeface="Times New Roman"/>
                        </a:rPr>
                        <a:t>General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3F4F6"/>
                    </a:solidFill>
                  </a:tcPr>
                </a:tc>
                <a:tc>
                  <a:txBody>
                    <a:bodyPr/>
                    <a:lstStyle/>
                    <a:p>
                      <a:r>
                        <a:rPr sz="2025" b="0">
                          <a:solidFill>
                            <a:srgbClr val="111111"/>
                          </a:solidFill>
                          <a:latin typeface="Times New Roman"/>
                          <a:ea typeface="Times New Roman"/>
                          <a:cs typeface="Times New Roman"/>
                        </a:rPr>
                        <a:t>“Check your implementation carefully and test its correctness</a:t>
                      </a:r>
                    </a:p>
                    <a:p>
                      <a:r>
                        <a:rPr sz="2025" b="0">
                          <a:solidFill>
                            <a:srgbClr val="111111"/>
                          </a:solidFill>
                          <a:latin typeface="Times New Roman"/>
                          <a:ea typeface="Times New Roman"/>
                          <a:cs typeface="Times New Roman"/>
                        </a:rPr>
                        <a:t>before finishing.”</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3F4F6"/>
                    </a:solidFill>
                  </a:tcPr>
                </a:tc>
              </a:tr>
              <a:tr h="714375">
                <a:tc>
                  <a:txBody>
                    <a:bodyPr/>
                    <a:lstStyle/>
                    <a:p>
                      <a:r>
                        <a:rPr sz="2025" b="0">
                          <a:solidFill>
                            <a:srgbClr val="111111"/>
                          </a:solidFill>
                          <a:latin typeface="Times New Roman"/>
                          <a:ea typeface="Times New Roman"/>
                          <a:cs typeface="Times New Roman"/>
                        </a:rPr>
                        <a:t>Physics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c>
                  <a:txBody>
                    <a:bodyPr/>
                    <a:lstStyle/>
                    <a:p>
                      <a:r>
                        <a:rPr sz="2025" b="0">
                          <a:solidFill>
                            <a:srgbClr val="111111"/>
                          </a:solidFill>
                          <a:latin typeface="Times New Roman"/>
                          <a:ea typeface="Times New Roman"/>
                          <a:cs typeface="Times New Roman"/>
                        </a:rPr>
                        <a:t>The starting arrangement affects how early and later motion</a:t>
                      </a:r>
                    </a:p>
                    <a:p>
                      <a:r>
                        <a:rPr sz="2025" b="0">
                          <a:solidFill>
                            <a:srgbClr val="111111"/>
                          </a:solidFill>
                          <a:latin typeface="Times New Roman"/>
                          <a:ea typeface="Times New Roman"/>
                          <a:cs typeface="Times New Roman"/>
                        </a:rPr>
                        <a:t>are connected. Account for that shared history.</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r>
            </a:tbl>
          </a:graphicData>
        </a:graphic>
      </p:graphicFrame>
      <p:sp>
        <p:nvSpPr>
          <p:cNvPr id="4" name="Rectangle 3">
            <a:extLst xmlns:a="http://schemas.openxmlformats.org/drawingml/2006/main">
              <a:ext uri="{FF2B5EF4-FFF2-40B4-BE49-F238E27FC236}">
                <a16:creationId xmlns:a16="http://schemas.microsoft.com/office/drawing/2014/main" id="{76C76A53-DEEC-454A-9753-1C69F3526FBC}"/>
              </a:ext>
            </a:extLst>
          </p:cNvPr>
          <p:cNvSpPr>
            <a:spLocks xmlns:a="http://schemas.openxmlformats.org/drawingml/2006/main" noGrp="1"/>
          </p:cNvSpPr>
          <p:nvPr/>
        </p:nvSpPr>
        <p:spPr>
          <a:xfrm xmlns:a="http://schemas.openxmlformats.org/drawingml/2006/main">
            <a:off x="457200" y="481012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11111"/>
                </a:solidFill>
                <a:latin typeface="Times New Roman"/>
                <a:ea typeface="Times New Roman"/>
                <a:cs typeface="Times New Roman"/>
              </a:defRPr>
            </a:defPPr>
          </a:lstStyle>
          <a:p xmlns:a="http://schemas.openxmlformats.org/drawingml/2006/main">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For the bead example</a:t>
            </a:r>
          </a:p>
        </p:txBody>
      </p:sp>
      <p:sp>
        <p:nvSpPr>
          <p:cNvPr id="5" name="Rectangle 4">
            <a:extLst xmlns:a="http://schemas.openxmlformats.org/drawingml/2006/main">
              <a:ext uri="{FF2B5EF4-FFF2-40B4-BE49-F238E27FC236}">
                <a16:creationId xmlns:a16="http://schemas.microsoft.com/office/drawing/2014/main" id="{9BB0283D-1D38-4884-B8B4-61E3727BC95D}"/>
              </a:ext>
            </a:extLst>
          </p:cNvPr>
          <p:cNvSpPr>
            <a:spLocks xmlns:a="http://schemas.openxmlformats.org/drawingml/2006/main" noGrp="1"/>
          </p:cNvSpPr>
          <p:nvPr/>
        </p:nvSpPr>
        <p:spPr>
          <a:xfrm xmlns:a="http://schemas.openxmlformats.org/drawingml/2006/main">
            <a:off x="457200" y="531495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11111"/>
                </a:solidFill>
                <a:latin typeface="Times New Roman"/>
                <a:ea typeface="Times New Roman"/>
                <a:cs typeface="Times New Roman"/>
              </a:defRPr>
            </a:defPPr>
          </a:lstStyle>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general hint asks the agent to check its work.</a:t>
            </a:r>
          </a:p>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physics hint points to something its formula may be missing.</a:t>
            </a:r>
          </a:p>
        </p:txBody>
      </p:sp>
      <p:sp>
        <p:nvSpPr>
          <p:cNvPr id="6" name="Rectangle 5">
            <a:extLst xmlns:a="http://schemas.openxmlformats.org/drawingml/2006/main">
              <a:ext uri="{FF2B5EF4-FFF2-40B4-BE49-F238E27FC236}">
                <a16:creationId xmlns:a16="http://schemas.microsoft.com/office/drawing/2014/main" id="{0052D048-AD03-400E-B7B2-F16D3D3D559D}"/>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No-hint instruction shortened. General hint quoted exactly. Physics hint summarized in plain language from the actual task hint.</a:t>
            </a:r>
          </a:p>
        </p:txBody>
      </p:sp>
      <p:sp>
        <p:nvSpPr>
          <p:cNvPr id="7" name="Rectangle 6">
            <a:extLst xmlns:a="http://schemas.openxmlformats.org/drawingml/2006/main">
              <a:ext uri="{FF2B5EF4-FFF2-40B4-BE49-F238E27FC236}">
                <a16:creationId xmlns:a16="http://schemas.microsoft.com/office/drawing/2014/main" id="{6F7B7D6A-AEA7-4431-AB33-4CEEE44EF934}"/>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4</a:t>
            </a:r>
          </a:p>
        </p:txBody>
      </p:sp>
    </p:spTree>
    <p:extLst>
      <p:ext uri="{BB962C8B-B14F-4D97-AF65-F5344CB8AC3E}">
        <p14:creationId xmlns:p14="http://schemas.microsoft.com/office/powerpoint/2010/main" val="16970246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3E2753-6C3B-4865-8F73-D926BD05E874}"/>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Experiment and evaluation</a:t>
            </a:r>
          </a:p>
        </p:txBody>
      </p:sp>
      <p:sp>
        <p:nvSpPr>
          <p:cNvPr id="2" name="">
            <a:extLst xmlns:a="http://schemas.openxmlformats.org/drawingml/2006/main">
              <a:ext uri="{FF2B5EF4-FFF2-40B4-BE49-F238E27FC236}">
                <a16:creationId xmlns:a16="http://schemas.microsoft.com/office/drawing/2014/main" id="{B199295B-69DE-4238-8D9A-9AA79ED6645E}"/>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13 frozen tasks, 3 trials per setting. A pass requires timely completion and all grading gates.</a:t>
            </a:r>
          </a:p>
        </p:txBody>
      </p:sp>
      <p:sp>
        <p:nvSpPr>
          <p:cNvPr id="3" name="">
            <a:extLst xmlns:a="http://schemas.openxmlformats.org/drawingml/2006/main">
              <a:ext uri="{FF2B5EF4-FFF2-40B4-BE49-F238E27FC236}">
                <a16:creationId xmlns:a16="http://schemas.microsoft.com/office/drawing/2014/main" id="{B89F7FD6-3615-4835-8005-D582C0D1794D}"/>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5</a:t>
            </a:r>
          </a:p>
        </p:txBody>
      </p:sp>
      <p:graphicFrame>
        <p:nvGraphicFramePr>
          <p:cNvPr id="4" name="">
            <a:extLst xmlns:a="http://schemas.openxmlformats.org/drawingml/2006/main">
              <a:ext uri="{FF2B5EF4-FFF2-40B4-BE49-F238E27FC236}">
                <a16:creationId xmlns:a16="http://schemas.microsoft.com/office/drawing/2014/main" id="{4F18FBED-D776-4770-925E-D25E986BE5F2}"/>
              </a:ext>
            </a:extLst>
          </p:cNvPr>
          <p:cNvGraphicFramePr/>
          <p:nvPr/>
        </p:nvGraphicFramePr>
        <p:xfrm>
          <a:off xmlns:a="http://schemas.openxmlformats.org/drawingml/2006/main" x="457200" y="1590675"/>
          <a:ext xmlns:a="http://schemas.openxmlformats.org/drawingml/2006/main" cx="11277600" cy="3333750"/>
        </p:xfrm>
        <a:graphic xmlns:a="http://schemas.openxmlformats.org/drawingml/2006/main">
          <a:graphicData uri="http://schemas.openxmlformats.org/drawingml/2006/table">
            <a:tbl>
              <a:tblPr/>
              <a:tblGrid>
                <a:gridCol w="2238375"/>
                <a:gridCol w="6096000"/>
                <a:gridCol w="2943225"/>
              </a:tblGrid>
              <a:tr h="833438">
                <a:tc>
                  <a:txBody>
                    <a:bodyPr lIns="95250" tIns="95250" rIns="95250" bIns="95250"/>
                    <a:lstStyle/>
                    <a:p>
                      <a:r>
                        <a:rPr sz="1800" b="1">
                          <a:solidFill>
                            <a:srgbClr val="FFFFFF"/>
                          </a:solidFill>
                          <a:latin typeface="Times New Roman"/>
                          <a:ea typeface="Times New Roman"/>
                          <a:cs typeface="Times New Roman"/>
                        </a:rPr>
                        <a:t>Study</a:t>
                      </a:r>
                    </a:p>
                  </a:txBody>
                  <a:tcPr marL="91440" marR="91440" marT="45720" marB="45720">
                    <a:lnL w="6668">
                      <a:solidFill>
                        <a:srgbClr val="D1D5DB"/>
                      </a:solidFill>
                      <a:prstDash val="soli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lIns="95250" tIns="95250" rIns="95250" bIns="95250"/>
                    <a:lstStyle/>
                    <a:p>
                      <a:r>
                        <a:rPr sz="1800" b="1">
                          <a:solidFill>
                            <a:srgbClr val="FFFFFF"/>
                          </a:solidFill>
                          <a:latin typeface="Times New Roman"/>
                          <a:ea typeface="Times New Roman"/>
                          <a:cs typeface="Times New Roman"/>
                        </a:rPr>
                        <a:t>Models and reasoning settings</a:t>
                      </a:r>
                    </a:p>
                  </a:txBody>
                  <a:tcPr marL="91440" marR="91440" marT="45720" marB="45720">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lIns="95250" tIns="95250" rIns="95250" bIns="95250"/>
                    <a:lstStyle/>
                    <a:p>
                      <a:r>
                        <a:rPr sz="1800" b="1">
                          <a:solidFill>
                            <a:srgbClr val="FFFFFF"/>
                          </a:solidFill>
                          <a:latin typeface="Times New Roman"/>
                          <a:ea typeface="Times New Roman"/>
                          <a:cs typeface="Times New Roman"/>
                        </a:rPr>
                        <a:t>Observations</a:t>
                      </a:r>
                    </a:p>
                  </a:txBody>
                  <a:tcPr marL="91440" marR="91440" marT="45720" marB="45720">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r>
              <a:tr h="833438">
                <a:tc>
                  <a:txBody>
                    <a:bodyPr lIns="95250" tIns="95250" rIns="95250" bIns="95250"/>
                    <a:lstStyle/>
                    <a:p>
                      <a:r>
                        <a:rPr sz="1800" b="0">
                          <a:solidFill>
                            <a:srgbClr val="111111"/>
                          </a:solidFill>
                          <a:latin typeface="Times New Roman"/>
                          <a:ea typeface="Times New Roman"/>
                          <a:cs typeface="Times New Roman"/>
                        </a:rPr>
                        <a:t>Original no-hint sweep</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800" b="0">
                          <a:solidFill>
                            <a:srgbClr val="111111"/>
                          </a:solidFill>
                          <a:latin typeface="Times New Roman"/>
                          <a:ea typeface="Times New Roman"/>
                          <a:cs typeface="Times New Roman"/>
                        </a:rPr>
                        <a:t>GPT-6 Luna, Sol, Astra; GPT-5.6 Terra</a:t>
                      </a:r>
                    </a:p>
                    <a:p>
                      <a:r>
                        <a:rPr sz="1800" b="0">
                          <a:solidFill>
                            <a:srgbClr val="111111"/>
                          </a:solidFill>
                          <a:latin typeface="Times New Roman"/>
                          <a:ea typeface="Times New Roman"/>
                          <a:cs typeface="Times New Roman"/>
                        </a:rPr>
                        <a:t>DeepSeek V4.1 Flash, multiple efforts</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800" b="0">
                          <a:solidFill>
                            <a:srgbClr val="111111"/>
                          </a:solidFill>
                          <a:latin typeface="Times New Roman"/>
                          <a:ea typeface="Times New Roman"/>
                          <a:cs typeface="Times New Roman"/>
                        </a:rPr>
                        <a:t>585 completed</a:t>
                      </a:r>
                    </a:p>
                  </a:txBody>
                  <a:tcPr marL="91440" marR="91440" marT="45720" marB="45720">
                    <a:lnR w="6668">
                      <a:solidFill>
                        <a:srgbClr val="D1D5DB"/>
                      </a:solidFill>
                      <a:prstDash val="solid"/>
                    </a:lnR>
                    <a:lnB w="6668">
                      <a:solidFill>
                        <a:srgbClr val="D1D5DB"/>
                      </a:solidFill>
                      <a:prstDash val="solid"/>
                    </a:lnB>
                    <a:solidFill>
                      <a:srgbClr val="FFFFFF"/>
                    </a:solidFill>
                  </a:tcPr>
                </a:tc>
              </a:tr>
              <a:tr h="833438">
                <a:tc>
                  <a:txBody>
                    <a:bodyPr lIns="95250" tIns="95250" rIns="95250" bIns="95250"/>
                    <a:lstStyle/>
                    <a:p>
                      <a:r>
                        <a:rPr sz="1800" b="0">
                          <a:solidFill>
                            <a:srgbClr val="111111"/>
                          </a:solidFill>
                          <a:latin typeface="Times New Roman"/>
                          <a:ea typeface="Times New Roman"/>
                          <a:cs typeface="Times New Roman"/>
                        </a:rPr>
                        <a:t>Completed collaborator study</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800" b="0">
                          <a:solidFill>
                            <a:srgbClr val="111111"/>
                          </a:solidFill>
                          <a:latin typeface="Times New Roman"/>
                          <a:ea typeface="Times New Roman"/>
                          <a:cs typeface="Times New Roman"/>
                        </a:rPr>
                        <a:t>GPT-5.6 Luna: None through Max</a:t>
                      </a:r>
                    </a:p>
                    <a:p>
                      <a:r>
                        <a:rPr sz="1800" b="0">
                          <a:solidFill>
                            <a:srgbClr val="111111"/>
                          </a:solidFill>
                          <a:latin typeface="Times New Roman"/>
                          <a:ea typeface="Times New Roman"/>
                          <a:cs typeface="Times New Roman"/>
                        </a:rPr>
                        <a:t>GPT-5.6 Terra and Sol: Low, Medium</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800" b="0">
                          <a:solidFill>
                            <a:srgbClr val="111111"/>
                          </a:solidFill>
                          <a:latin typeface="Times New Roman"/>
                          <a:ea typeface="Times New Roman"/>
                          <a:cs typeface="Times New Roman"/>
                        </a:rPr>
                        <a:t>780 hinted trials</a:t>
                      </a:r>
                    </a:p>
                    <a:p>
                      <a:r>
                        <a:rPr sz="1800" b="0">
                          <a:solidFill>
                            <a:srgbClr val="111111"/>
                          </a:solidFill>
                          <a:latin typeface="Times New Roman"/>
                          <a:ea typeface="Times New Roman"/>
                          <a:cs typeface="Times New Roman"/>
                        </a:rPr>
                        <a:t>390 historical controls</a:t>
                      </a:r>
                    </a:p>
                  </a:txBody>
                  <a:tcPr marL="91440" marR="91440" marT="45720" marB="45720">
                    <a:lnR w="6668">
                      <a:solidFill>
                        <a:srgbClr val="D1D5DB"/>
                      </a:solidFill>
                      <a:prstDash val="solid"/>
                    </a:lnR>
                    <a:lnB w="6668">
                      <a:solidFill>
                        <a:srgbClr val="D1D5DB"/>
                      </a:solidFill>
                      <a:prstDash val="solid"/>
                    </a:lnB>
                    <a:solidFill>
                      <a:srgbClr val="F3F4F6"/>
                    </a:solidFill>
                  </a:tcPr>
                </a:tc>
              </a:tr>
              <a:tr h="833438">
                <a:tc>
                  <a:txBody>
                    <a:bodyPr lIns="95250" tIns="95250" rIns="95250" bIns="95250"/>
                    <a:lstStyle/>
                    <a:p>
                      <a:r>
                        <a:rPr sz="1800" b="0">
                          <a:solidFill>
                            <a:srgbClr val="111111"/>
                          </a:solidFill>
                          <a:latin typeface="Times New Roman"/>
                          <a:ea typeface="Times New Roman"/>
                          <a:cs typeface="Times New Roman"/>
                        </a:rPr>
                        <a:t>Local hint study</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800" b="0">
                          <a:solidFill>
                            <a:srgbClr val="111111"/>
                          </a:solidFill>
                          <a:latin typeface="Times New Roman"/>
                          <a:ea typeface="Times New Roman"/>
                          <a:cs typeface="Times New Roman"/>
                        </a:rPr>
                        <a:t>GPT-5.6 Luna, Terra; DeepSeek V4.1 Flash</a:t>
                      </a:r>
                    </a:p>
                    <a:p>
                      <a:r>
                        <a:rPr sz="1800" b="0">
                          <a:solidFill>
                            <a:srgbClr val="111111"/>
                          </a:solidFill>
                          <a:latin typeface="Times New Roman"/>
                          <a:ea typeface="Times New Roman"/>
                          <a:cs typeface="Times New Roman"/>
                        </a:rPr>
                        <a:t>High effort, all 3 prompt conditions</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800" b="0">
                          <a:solidFill>
                            <a:srgbClr val="111111"/>
                          </a:solidFill>
                          <a:latin typeface="Times New Roman"/>
                          <a:ea typeface="Times New Roman"/>
                          <a:cs typeface="Times New Roman"/>
                        </a:rPr>
                        <a:t>351 planned</a:t>
                      </a:r>
                    </a:p>
                    <a:p>
                      <a:r>
                        <a:rPr sz="1800" b="0">
                          <a:solidFill>
                            <a:srgbClr val="111111"/>
                          </a:solidFill>
                          <a:latin typeface="Times New Roman"/>
                          <a:ea typeface="Times New Roman"/>
                          <a:cs typeface="Times New Roman"/>
                        </a:rPr>
                        <a:t>Still running</a:t>
                      </a:r>
                    </a:p>
                  </a:txBody>
                  <a:tcPr marL="91440" marR="91440" marT="45720" marB="45720">
                    <a:lnR w="6668">
                      <a:solidFill>
                        <a:srgbClr val="D1D5DB"/>
                      </a:solidFill>
                      <a:prstDash val="solid"/>
                    </a:lnR>
                    <a:lnB w="6668">
                      <a:solidFill>
                        <a:srgbClr val="D1D5D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DA5127E-765B-491B-B18B-39A1C7CB39E3}"/>
              </a:ext>
            </a:extLst>
          </p:cNvPr>
          <p:cNvSpPr>
            <a:spLocks xmlns:a="http://schemas.openxmlformats.org/drawingml/2006/main" noGrp="1"/>
          </p:cNvSpPr>
          <p:nvPr/>
        </p:nvSpPr>
        <p:spPr>
          <a:xfrm xmlns:a="http://schemas.openxmlformats.org/drawingml/2006/main">
            <a:off x="457200" y="5238750"/>
            <a:ext cx="1127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11111"/>
                </a:solidFill>
                <a:latin typeface="Times New Roman"/>
                <a:ea typeface="Times New Roman"/>
                <a:cs typeface="Times New Roman"/>
              </a:defRPr>
            </a:defPPr>
          </a:lstStyle>
          <a:p xmlns:a="http://schemas.openxmlformats.org/drawingml/2006/main">
            <a:pPr>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Harbor 0.21.0 + Codex agent     600 s agent     60 s verifier</a:t>
            </a:r>
          </a:p>
        </p:txBody>
      </p:sp>
      <p:sp>
        <p:nvSpPr>
          <p:cNvPr id="6" name="">
            <a:extLst xmlns:a="http://schemas.openxmlformats.org/drawingml/2006/main">
              <a:ext uri="{FF2B5EF4-FFF2-40B4-BE49-F238E27FC236}">
                <a16:creationId xmlns:a16="http://schemas.microsoft.com/office/drawing/2014/main" id="{D8D3CF12-31AC-4FA8-B621-9035FEF2ED60}"/>
              </a:ext>
            </a:extLst>
          </p:cNvPr>
          <p:cNvSpPr>
            <a:spLocks xmlns:a="http://schemas.openxmlformats.org/drawingml/2006/main" noGrp="1"/>
          </p:cNvSpPr>
          <p:nvPr/>
        </p:nvSpPr>
        <p:spPr>
          <a:xfrm xmlns:a="http://schemas.openxmlformats.org/drawingml/2006/main">
            <a:off x="457200" y="571500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444444"/>
                </a:solidFill>
                <a:latin typeface="Times New Roman"/>
                <a:ea typeface="Times New Roman"/>
                <a:cs typeface="Times New Roman"/>
              </a:defRPr>
            </a:defPPr>
          </a:lstStyle>
          <a:p xmlns:a="http://schemas.openxmlformats.org/drawingml/2006/main">
            <a:pPr>
              <a:defRPr sz="1725" b="0">
                <a:solidFill>
                  <a:srgbClr val="444444"/>
                </a:solidFill>
                <a:latin typeface="Times New Roman"/>
                <a:ea typeface="Times New Roman"/>
                <a:cs typeface="Times New Roman"/>
              </a:defRPr>
            </a:pPr>
            <a:r>
              <a:rPr sz="1725" b="0">
                <a:solidFill>
                  <a:srgbClr val="444444"/>
                </a:solidFill>
                <a:latin typeface="Times New Roman"/>
                <a:ea typeface="Times New Roman"/>
                <a:cs typeface="Times New Roman"/>
              </a:rPr>
              <a:t>Costs are API-equivalent estimates. Setup errors and timeouts stay separate from physics failures.</a:t>
            </a:r>
          </a:p>
        </p:txBody>
      </p:sp>
      <p:sp>
        <p:nvSpPr>
          <p:cNvPr id="7" name="">
            <a:extLst xmlns:a="http://schemas.openxmlformats.org/drawingml/2006/main">
              <a:ext uri="{FF2B5EF4-FFF2-40B4-BE49-F238E27FC236}">
                <a16:creationId xmlns:a16="http://schemas.microsoft.com/office/drawing/2014/main" id="{C0552E0F-CB9D-4FAC-8CD4-C52B645D4022}"/>
              </a:ext>
            </a:extLst>
          </p:cNvPr>
          <p:cNvSpPr>
            <a:spLocks xmlns:a="http://schemas.openxmlformats.org/drawingml/2006/main" noGrp="1"/>
          </p:cNvSpPr>
          <p:nvPr/>
        </p:nvSpPr>
        <p:spPr>
          <a:xfrm xmlns:a="http://schemas.openxmlformats.org/drawingml/2006/main">
            <a:off x="457200" y="6191250"/>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777777"/>
                </a:solidFill>
                <a:latin typeface="Times New Roman"/>
                <a:ea typeface="Times New Roman"/>
                <a:cs typeface="Times New Roman"/>
              </a:defRPr>
            </a:defPPr>
          </a:lstStyle>
          <a:p xmlns:a="http://schemas.openxmlformats.org/drawingml/2006/main">
            <a:pPr>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Collaborator controls are historical. Worker concurrency and CPU limits differ between batches.</a:t>
            </a:r>
          </a:p>
        </p:txBody>
      </p:sp>
    </p:spTree>
    <p:extLst>
      <p:ext uri="{BB962C8B-B14F-4D97-AF65-F5344CB8AC3E}">
        <p14:creationId xmlns:p14="http://schemas.microsoft.com/office/powerpoint/2010/main" val="11041282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ctangle 12">
            <a:extLst xmlns:a="http://schemas.openxmlformats.org/drawingml/2006/main">
              <a:ext uri="{FF2B5EF4-FFF2-40B4-BE49-F238E27FC236}">
                <a16:creationId xmlns:a16="http://schemas.microsoft.com/office/drawing/2014/main" id="{289F7872-6721-4E61-909A-D72DFA54E882}"/>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No-hint Pareto frontier</a:t>
            </a:r>
          </a:p>
        </p:txBody>
      </p:sp>
      <p:sp>
        <p:nvSpPr>
          <p:cNvPr id="2" name="Rectangle 1">
            <a:extLst xmlns:a="http://schemas.openxmlformats.org/drawingml/2006/main">
              <a:ext uri="{FF2B5EF4-FFF2-40B4-BE49-F238E27FC236}">
                <a16:creationId xmlns:a16="http://schemas.microsoft.com/office/drawing/2014/main" id="{3FF4C2A8-9BF0-420F-9840-D4124FD4447B}"/>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Upper left is better: more passes at lower cost. Each point contains 39 attempts.</a:t>
            </a:r>
          </a:p>
        </p:txBody>
      </p:sp>
      <p:graphicFrame>
        <p:nvGraphicFramePr>
          <p:cNvPr id="4" name="Chart">
            <a:extLst xmlns:a="http://schemas.openxmlformats.org/drawingml/2006/main">
              <a:ext uri="{FF2B5EF4-FFF2-40B4-BE49-F238E27FC236}">
                <a16:creationId xmlns:a16="http://schemas.microsoft.com/office/drawing/2014/main" id="{F8CF3E10-39FE-48AA-B9AA-2729BD2B52CF}"/>
              </a:ext>
            </a:extLst>
          </p:cNvPr>
          <p:cNvGraphicFramePr/>
          <p:nvPr/>
        </p:nvGraphicFramePr>
        <p:xfrm>
          <a:off xmlns:a="http://schemas.openxmlformats.org/drawingml/2006/main" x="457200" y="1581150"/>
          <a:ext xmlns:a="http://schemas.openxmlformats.org/drawingml/2006/main" cx="7429500" cy="4171950"/>
        </p:xfrm>
        <a:graphic xmlns:a="http://schemas.openxmlformats.org/drawingml/2006/main">
          <a:graphicData uri="http://schemas.openxmlformats.org/drawingml/2006/chart">
            <c:chart xmlns:r="http://schemas.openxmlformats.org/officeDocument/2006/relationships" xmlns:c="http://schemas.openxmlformats.org/drawingml/2006/chart" r:id="R1cebc59cd6cd4603"/>
          </a:graphicData>
        </a:graphic>
      </p:graphicFrame>
      <p:sp>
        <p:nvSpPr>
          <p:cNvPr id="5" name="Rectangle 4">
            <a:extLst xmlns:a="http://schemas.openxmlformats.org/drawingml/2006/main">
              <a:ext uri="{FF2B5EF4-FFF2-40B4-BE49-F238E27FC236}">
                <a16:creationId xmlns:a16="http://schemas.microsoft.com/office/drawing/2014/main" id="{42202847-E1E1-4E1F-A845-3226CD26728D}"/>
              </a:ext>
            </a:extLst>
          </p:cNvPr>
          <p:cNvSpPr>
            <a:spLocks xmlns:a="http://schemas.openxmlformats.org/drawingml/2006/main" noGrp="1"/>
          </p:cNvSpPr>
          <p:nvPr/>
        </p:nvSpPr>
        <p:spPr>
          <a:xfrm xmlns:a="http://schemas.openxmlformats.org/drawingml/2006/main">
            <a:off x="8248650" y="1600200"/>
            <a:ext cx="3486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i="0">
                <a:solidFill>
                  <a:srgbClr val="111111"/>
                </a:solidFill>
                <a:latin typeface="Times New Roman"/>
                <a:ea typeface="Times New Roman"/>
                <a:cs typeface="Times New Roman"/>
              </a:defRPr>
            </a:defPPr>
          </a:lstStyle>
          <a:p xmlns:a="http://schemas.openxmlformats.org/drawingml/2006/main">
            <a:pPr algn="l">
              <a:buNone/>
              <a:defRPr sz="2100" b="1" i="0">
                <a:solidFill>
                  <a:srgbClr val="111111"/>
                </a:solidFill>
                <a:latin typeface="Times New Roman"/>
                <a:ea typeface="Times New Roman"/>
                <a:cs typeface="Times New Roman"/>
              </a:defRPr>
            </a:pPr>
            <a:r>
              <a:rPr sz="2100" b="1" i="0">
                <a:solidFill>
                  <a:srgbClr val="111111"/>
                </a:solidFill>
                <a:latin typeface="Times New Roman"/>
                <a:ea typeface="Times New Roman"/>
                <a:cs typeface="Times New Roman"/>
              </a:rPr>
              <a:t>Frontier settings</a:t>
            </a:r>
          </a:p>
        </p:txBody>
      </p:sp>
      <p:graphicFrame>
        <p:nvGraphicFramePr>
          <p:cNvPr id="6" name="Table 5">
            <a:extLst xmlns:a="http://schemas.openxmlformats.org/drawingml/2006/main">
              <a:ext uri="{FF2B5EF4-FFF2-40B4-BE49-F238E27FC236}">
                <a16:creationId xmlns:a16="http://schemas.microsoft.com/office/drawing/2014/main" id="{C6279C52-72DC-4016-9E79-F9D6D2BA4BDD}"/>
              </a:ext>
            </a:extLst>
          </p:cNvPr>
          <p:cNvGraphicFramePr/>
          <p:nvPr/>
        </p:nvGraphicFramePr>
        <p:xfrm>
          <a:off xmlns:a="http://schemas.openxmlformats.org/drawingml/2006/main" x="8191500" y="2085975"/>
          <a:ext xmlns:a="http://schemas.openxmlformats.org/drawingml/2006/main" cx="3543300" cy="2257425"/>
        </p:xfrm>
        <a:graphic xmlns:a="http://schemas.openxmlformats.org/drawingml/2006/main">
          <a:graphicData uri="http://schemas.openxmlformats.org/drawingml/2006/table">
            <a:tbl>
              <a:tblPr/>
              <a:tblGrid>
                <a:gridCol w="1859743"/>
                <a:gridCol w="812414"/>
                <a:gridCol w="871143"/>
              </a:tblGrid>
              <a:tr h="451485">
                <a:tc>
                  <a:txBody>
                    <a:bodyPr/>
                    <a:lstStyle/>
                    <a:p>
                      <a:r>
                        <a:rPr sz="1575" b="1">
                          <a:solidFill>
                            <a:srgbClr val="FFFFFF"/>
                          </a:solidFill>
                          <a:latin typeface="Times New Roman"/>
                          <a:ea typeface="Times New Roman"/>
                          <a:cs typeface="Times New Roman"/>
                        </a:rPr>
                        <a:t>Setting</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75" b="1">
                          <a:solidFill>
                            <a:srgbClr val="FFFFFF"/>
                          </a:solidFill>
                          <a:latin typeface="Times New Roman"/>
                          <a:ea typeface="Times New Roman"/>
                          <a:cs typeface="Times New Roman"/>
                        </a:rPr>
                        <a:t>Pass</a:t>
                      </a:r>
                    </a:p>
                  </a:txBody>
                  <a:tcPr marL="114300" marR="114300" marT="66675" marB="66675"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75" b="1">
                          <a:solidFill>
                            <a:srgbClr val="FFFFFF"/>
                          </a:solidFill>
                          <a:latin typeface="Times New Roman"/>
                          <a:ea typeface="Times New Roman"/>
                          <a:cs typeface="Times New Roman"/>
                        </a:rPr>
                        <a:t>USD</a:t>
                      </a:r>
                    </a:p>
                  </a:txBody>
                  <a:tcPr marL="114300" marR="114300" marT="66675" marB="66675"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451485">
                <a:tc>
                  <a:txBody>
                    <a:bodyPr/>
                    <a:lstStyle/>
                    <a:p>
                      <a:r>
                        <a:rPr sz="1575" b="0">
                          <a:solidFill>
                            <a:srgbClr val="111111"/>
                          </a:solidFill>
                          <a:latin typeface="Times New Roman"/>
                          <a:ea typeface="Times New Roman"/>
                          <a:cs typeface="Times New Roman"/>
                        </a:rPr>
                        <a:t>Luna 6 Low</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75" b="0">
                          <a:solidFill>
                            <a:srgbClr val="111111"/>
                          </a:solidFill>
                          <a:latin typeface="Times New Roman"/>
                          <a:ea typeface="Times New Roman"/>
                          <a:cs typeface="Times New Roman"/>
                        </a:rPr>
                        <a:t>4/39</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75" b="0">
                          <a:solidFill>
                            <a:srgbClr val="111111"/>
                          </a:solidFill>
                          <a:latin typeface="Times New Roman"/>
                          <a:ea typeface="Times New Roman"/>
                          <a:cs typeface="Times New Roman"/>
                        </a:rPr>
                        <a:t>.0040</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451485">
                <a:tc>
                  <a:txBody>
                    <a:bodyPr/>
                    <a:lstStyle/>
                    <a:p>
                      <a:r>
                        <a:rPr sz="1575" b="0">
                          <a:solidFill>
                            <a:srgbClr val="111111"/>
                          </a:solidFill>
                          <a:latin typeface="Times New Roman"/>
                          <a:ea typeface="Times New Roman"/>
                          <a:cs typeface="Times New Roman"/>
                        </a:rPr>
                        <a:t>Luna 6 Extra High</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75" b="0">
                          <a:solidFill>
                            <a:srgbClr val="111111"/>
                          </a:solidFill>
                          <a:latin typeface="Times New Roman"/>
                          <a:ea typeface="Times New Roman"/>
                          <a:cs typeface="Times New Roman"/>
                        </a:rPr>
                        <a:t>12/39</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75" b="0">
                          <a:solidFill>
                            <a:srgbClr val="111111"/>
                          </a:solidFill>
                          <a:latin typeface="Times New Roman"/>
                          <a:ea typeface="Times New Roman"/>
                          <a:cs typeface="Times New Roman"/>
                        </a:rPr>
                        <a:t>.0126</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r h="451485">
                <a:tc>
                  <a:txBody>
                    <a:bodyPr/>
                    <a:lstStyle/>
                    <a:p>
                      <a:r>
                        <a:rPr sz="1575" b="0">
                          <a:solidFill>
                            <a:srgbClr val="111111"/>
                          </a:solidFill>
                          <a:latin typeface="Times New Roman"/>
                          <a:ea typeface="Times New Roman"/>
                          <a:cs typeface="Times New Roman"/>
                        </a:rPr>
                        <a:t>Sol 6 Low</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75" b="0">
                          <a:solidFill>
                            <a:srgbClr val="111111"/>
                          </a:solidFill>
                          <a:latin typeface="Times New Roman"/>
                          <a:ea typeface="Times New Roman"/>
                          <a:cs typeface="Times New Roman"/>
                        </a:rPr>
                        <a:t>37/39</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75" b="0">
                          <a:solidFill>
                            <a:srgbClr val="111111"/>
                          </a:solidFill>
                          <a:latin typeface="Times New Roman"/>
                          <a:ea typeface="Times New Roman"/>
                          <a:cs typeface="Times New Roman"/>
                        </a:rPr>
                        <a:t>.0773</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451485">
                <a:tc>
                  <a:txBody>
                    <a:bodyPr/>
                    <a:lstStyle/>
                    <a:p>
                      <a:r>
                        <a:rPr sz="1575" b="0">
                          <a:solidFill>
                            <a:srgbClr val="111111"/>
                          </a:solidFill>
                          <a:latin typeface="Times New Roman"/>
                          <a:ea typeface="Times New Roman"/>
                          <a:cs typeface="Times New Roman"/>
                        </a:rPr>
                        <a:t>Sol 6 High</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75" b="0">
                          <a:solidFill>
                            <a:srgbClr val="111111"/>
                          </a:solidFill>
                          <a:latin typeface="Times New Roman"/>
                          <a:ea typeface="Times New Roman"/>
                          <a:cs typeface="Times New Roman"/>
                        </a:rPr>
                        <a:t>39/39</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75" b="0">
                          <a:solidFill>
                            <a:srgbClr val="111111"/>
                          </a:solidFill>
                          <a:latin typeface="Times New Roman"/>
                          <a:ea typeface="Times New Roman"/>
                          <a:cs typeface="Times New Roman"/>
                        </a:rPr>
                        <a:t>.1975</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bl>
          </a:graphicData>
        </a:graphic>
      </p:graphicFrame>
      <p:sp>
        <p:nvSpPr>
          <p:cNvPr id="7" name="Rectangle 6">
            <a:extLst xmlns:a="http://schemas.openxmlformats.org/drawingml/2006/main">
              <a:ext uri="{FF2B5EF4-FFF2-40B4-BE49-F238E27FC236}">
                <a16:creationId xmlns:a16="http://schemas.microsoft.com/office/drawing/2014/main" id="{AF81E9BA-8FF2-438C-A496-E9A150FB445B}"/>
              </a:ext>
            </a:extLst>
          </p:cNvPr>
          <p:cNvSpPr>
            <a:spLocks xmlns:a="http://schemas.openxmlformats.org/drawingml/2006/main" noGrp="1"/>
          </p:cNvSpPr>
          <p:nvPr/>
        </p:nvSpPr>
        <p:spPr>
          <a:xfrm xmlns:a="http://schemas.openxmlformats.org/drawingml/2006/main">
            <a:off x="8286750" y="46005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1D4E89"/>
                </a:solidFill>
                <a:latin typeface="Times New Roman"/>
                <a:ea typeface="Times New Roman"/>
                <a:cs typeface="Times New Roman"/>
              </a:defRPr>
            </a:defPPr>
          </a:lstStyle>
          <a:p xmlns:a="http://schemas.openxmlformats.org/drawingml/2006/main">
            <a:pPr algn="l">
              <a:buNone/>
              <a:defRPr sz="1575" b="1" i="0">
                <a:solidFill>
                  <a:srgbClr val="1D4E89"/>
                </a:solidFill>
                <a:latin typeface="Times New Roman"/>
                <a:ea typeface="Times New Roman"/>
                <a:cs typeface="Times New Roman"/>
              </a:defRPr>
            </a:pPr>
            <a:r>
              <a:rPr sz="1575" b="1" i="0">
                <a:solidFill>
                  <a:srgbClr val="1D4E89"/>
                </a:solidFill>
                <a:latin typeface="Times New Roman"/>
                <a:ea typeface="Times New Roman"/>
                <a:cs typeface="Times New Roman"/>
              </a:rPr>
              <a:t>GPT-6 Luna</a:t>
            </a:r>
          </a:p>
        </p:txBody>
      </p:sp>
      <p:sp>
        <p:nvSpPr>
          <p:cNvPr id="8" name="Rectangle 7">
            <a:extLst xmlns:a="http://schemas.openxmlformats.org/drawingml/2006/main">
              <a:ext uri="{FF2B5EF4-FFF2-40B4-BE49-F238E27FC236}">
                <a16:creationId xmlns:a16="http://schemas.microsoft.com/office/drawing/2014/main" id="{CEC49F00-D148-458B-81B1-9BA26FDF690C}"/>
              </a:ext>
            </a:extLst>
          </p:cNvPr>
          <p:cNvSpPr>
            <a:spLocks xmlns:a="http://schemas.openxmlformats.org/drawingml/2006/main" noGrp="1"/>
          </p:cNvSpPr>
          <p:nvPr/>
        </p:nvSpPr>
        <p:spPr>
          <a:xfrm xmlns:a="http://schemas.openxmlformats.org/drawingml/2006/main">
            <a:off x="8286750" y="48291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0F766E"/>
                </a:solidFill>
                <a:latin typeface="Times New Roman"/>
                <a:ea typeface="Times New Roman"/>
                <a:cs typeface="Times New Roman"/>
              </a:defRPr>
            </a:defPPr>
          </a:lstStyle>
          <a:p xmlns:a="http://schemas.openxmlformats.org/drawingml/2006/main">
            <a:pPr algn="l">
              <a:buNone/>
              <a:defRPr sz="1575" b="1" i="0">
                <a:solidFill>
                  <a:srgbClr val="0F766E"/>
                </a:solidFill>
                <a:latin typeface="Times New Roman"/>
                <a:ea typeface="Times New Roman"/>
                <a:cs typeface="Times New Roman"/>
              </a:defRPr>
            </a:pPr>
            <a:r>
              <a:rPr sz="1575" b="1" i="0">
                <a:solidFill>
                  <a:srgbClr val="0F766E"/>
                </a:solidFill>
                <a:latin typeface="Times New Roman"/>
                <a:ea typeface="Times New Roman"/>
                <a:cs typeface="Times New Roman"/>
              </a:rPr>
              <a:t>GPT-6 Sol</a:t>
            </a:r>
          </a:p>
        </p:txBody>
      </p:sp>
      <p:sp>
        <p:nvSpPr>
          <p:cNvPr id="9" name="Rectangle 8">
            <a:extLst xmlns:a="http://schemas.openxmlformats.org/drawingml/2006/main">
              <a:ext uri="{FF2B5EF4-FFF2-40B4-BE49-F238E27FC236}">
                <a16:creationId xmlns:a16="http://schemas.microsoft.com/office/drawing/2014/main" id="{D98A3FDB-39FB-412B-865A-7FFD8450E45B}"/>
              </a:ext>
            </a:extLst>
          </p:cNvPr>
          <p:cNvSpPr>
            <a:spLocks xmlns:a="http://schemas.openxmlformats.org/drawingml/2006/main" noGrp="1"/>
          </p:cNvSpPr>
          <p:nvPr/>
        </p:nvSpPr>
        <p:spPr>
          <a:xfrm xmlns:a="http://schemas.openxmlformats.org/drawingml/2006/main">
            <a:off x="8286750" y="50577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B45309"/>
                </a:solidFill>
                <a:latin typeface="Times New Roman"/>
                <a:ea typeface="Times New Roman"/>
                <a:cs typeface="Times New Roman"/>
              </a:defRPr>
            </a:defPPr>
          </a:lstStyle>
          <a:p xmlns:a="http://schemas.openxmlformats.org/drawingml/2006/main">
            <a:pPr algn="l">
              <a:buNone/>
              <a:defRPr sz="1575" b="1" i="0">
                <a:solidFill>
                  <a:srgbClr val="B45309"/>
                </a:solidFill>
                <a:latin typeface="Times New Roman"/>
                <a:ea typeface="Times New Roman"/>
                <a:cs typeface="Times New Roman"/>
              </a:defRPr>
            </a:pPr>
            <a:r>
              <a:rPr sz="1575" b="1" i="0">
                <a:solidFill>
                  <a:srgbClr val="B45309"/>
                </a:solidFill>
                <a:latin typeface="Times New Roman"/>
                <a:ea typeface="Times New Roman"/>
                <a:cs typeface="Times New Roman"/>
              </a:rPr>
              <a:t>GPT-5.6 Terra</a:t>
            </a:r>
          </a:p>
        </p:txBody>
      </p:sp>
      <p:sp>
        <p:nvSpPr>
          <p:cNvPr id="10" name="Rectangle 9">
            <a:extLst xmlns:a="http://schemas.openxmlformats.org/drawingml/2006/main">
              <a:ext uri="{FF2B5EF4-FFF2-40B4-BE49-F238E27FC236}">
                <a16:creationId xmlns:a16="http://schemas.microsoft.com/office/drawing/2014/main" id="{08722D94-DD0B-4B6E-8AA3-66219E01A722}"/>
              </a:ext>
            </a:extLst>
          </p:cNvPr>
          <p:cNvSpPr>
            <a:spLocks xmlns:a="http://schemas.openxmlformats.org/drawingml/2006/main" noGrp="1"/>
          </p:cNvSpPr>
          <p:nvPr/>
        </p:nvSpPr>
        <p:spPr>
          <a:xfrm xmlns:a="http://schemas.openxmlformats.org/drawingml/2006/main">
            <a:off x="8286750" y="52863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5B4B7C"/>
                </a:solidFill>
                <a:latin typeface="Times New Roman"/>
                <a:ea typeface="Times New Roman"/>
                <a:cs typeface="Times New Roman"/>
              </a:defRPr>
            </a:defPPr>
          </a:lstStyle>
          <a:p xmlns:a="http://schemas.openxmlformats.org/drawingml/2006/main">
            <a:pPr algn="l">
              <a:buNone/>
              <a:defRPr sz="1575" b="1" i="0">
                <a:solidFill>
                  <a:srgbClr val="5B4B7C"/>
                </a:solidFill>
                <a:latin typeface="Times New Roman"/>
                <a:ea typeface="Times New Roman"/>
                <a:cs typeface="Times New Roman"/>
              </a:defRPr>
            </a:pPr>
            <a:r>
              <a:rPr sz="1575" b="1" i="0">
                <a:solidFill>
                  <a:srgbClr val="5B4B7C"/>
                </a:solidFill>
                <a:latin typeface="Times New Roman"/>
                <a:ea typeface="Times New Roman"/>
                <a:cs typeface="Times New Roman"/>
              </a:rPr>
              <a:t>GPT-6 Astra</a:t>
            </a:r>
          </a:p>
        </p:txBody>
      </p:sp>
      <p:sp>
        <p:nvSpPr>
          <p:cNvPr id="11" name="Rectangle 10">
            <a:extLst xmlns:a="http://schemas.openxmlformats.org/drawingml/2006/main">
              <a:ext uri="{FF2B5EF4-FFF2-40B4-BE49-F238E27FC236}">
                <a16:creationId xmlns:a16="http://schemas.microsoft.com/office/drawing/2014/main" id="{127F6F18-1298-4922-9195-87FC90F3D4AA}"/>
              </a:ext>
            </a:extLst>
          </p:cNvPr>
          <p:cNvSpPr>
            <a:spLocks xmlns:a="http://schemas.openxmlformats.org/drawingml/2006/main" noGrp="1"/>
          </p:cNvSpPr>
          <p:nvPr/>
        </p:nvSpPr>
        <p:spPr>
          <a:xfrm xmlns:a="http://schemas.openxmlformats.org/drawingml/2006/main">
            <a:off x="8286750" y="55149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A50026"/>
                </a:solidFill>
                <a:latin typeface="Times New Roman"/>
                <a:ea typeface="Times New Roman"/>
                <a:cs typeface="Times New Roman"/>
              </a:defRPr>
            </a:defPPr>
          </a:lstStyle>
          <a:p xmlns:a="http://schemas.openxmlformats.org/drawingml/2006/main">
            <a:pPr algn="l">
              <a:buNone/>
              <a:defRPr sz="1575" b="1" i="0">
                <a:solidFill>
                  <a:srgbClr val="A50026"/>
                </a:solidFill>
                <a:latin typeface="Times New Roman"/>
                <a:ea typeface="Times New Roman"/>
                <a:cs typeface="Times New Roman"/>
              </a:defRPr>
            </a:pPr>
            <a:r>
              <a:rPr sz="1575" b="1" i="0">
                <a:solidFill>
                  <a:srgbClr val="A50026"/>
                </a:solidFill>
                <a:latin typeface="Times New Roman"/>
                <a:ea typeface="Times New Roman"/>
                <a:cs typeface="Times New Roman"/>
              </a:rPr>
              <a:t>DeepSeek V4.1 Flash</a:t>
            </a:r>
          </a:p>
        </p:txBody>
      </p:sp>
      <p:sp>
        <p:nvSpPr>
          <p:cNvPr id="12" name="Rectangle 11">
            <a:extLst xmlns:a="http://schemas.openxmlformats.org/drawingml/2006/main">
              <a:ext uri="{FF2B5EF4-FFF2-40B4-BE49-F238E27FC236}">
                <a16:creationId xmlns:a16="http://schemas.microsoft.com/office/drawing/2014/main" id="{DF91C501-0CBF-49C9-B1B5-425E80660737}"/>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Circle = Low, square = High, triangle = Extra High, diamond = Max. DeepSeek costs are lower bounds.</a:t>
            </a:r>
          </a:p>
        </p:txBody>
      </p:sp>
      <p:sp>
        <p:nvSpPr>
          <p:cNvPr id="14" name="Rectangle 13">
            <a:extLst xmlns:a="http://schemas.openxmlformats.org/drawingml/2006/main">
              <a:ext uri="{FF2B5EF4-FFF2-40B4-BE49-F238E27FC236}">
                <a16:creationId xmlns:a16="http://schemas.microsoft.com/office/drawing/2014/main" id="{AF35203A-9693-426E-B845-7C1682EB74D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6</a:t>
            </a:r>
          </a:p>
        </p:txBody>
      </p:sp>
    </p:spTree>
    <p:extLst>
      <p:ext uri="{BB962C8B-B14F-4D97-AF65-F5344CB8AC3E}">
        <p14:creationId xmlns:p14="http://schemas.microsoft.com/office/powerpoint/2010/main" val="5612252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C27BDF6-A6D4-4900-9542-CF37D100D154}"/>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Pareto frontiers with hints: GPT-5.6 Luna</a:t>
            </a:r>
          </a:p>
        </p:txBody>
      </p:sp>
      <p:sp>
        <p:nvSpPr>
          <p:cNvPr id="2" name="">
            <a:extLst xmlns:a="http://schemas.openxmlformats.org/drawingml/2006/main">
              <a:ext uri="{FF2B5EF4-FFF2-40B4-BE49-F238E27FC236}">
                <a16:creationId xmlns:a16="http://schemas.microsoft.com/office/drawing/2014/main" id="{2BA58712-A58E-490B-A337-6CF5E6FBCDEC}"/>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Completed collaborator study. Each setting contains 13 tasks and 3 trials per task.</a:t>
            </a:r>
          </a:p>
        </p:txBody>
      </p:sp>
      <p:sp>
        <p:nvSpPr>
          <p:cNvPr id="3" name="">
            <a:extLst xmlns:a="http://schemas.openxmlformats.org/drawingml/2006/main">
              <a:ext uri="{FF2B5EF4-FFF2-40B4-BE49-F238E27FC236}">
                <a16:creationId xmlns:a16="http://schemas.microsoft.com/office/drawing/2014/main" id="{3330E20A-6D21-40C2-A9EC-15347DDF277D}"/>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7</a:t>
            </a:r>
          </a:p>
        </p:txBody>
      </p:sp>
      <p:graphicFrame>
        <p:nvGraphicFramePr>
          <p:cNvPr id="4" name="Chart">
            <a:extLst xmlns:a="http://schemas.openxmlformats.org/drawingml/2006/main">
              <a:ext uri="{FF2B5EF4-FFF2-40B4-BE49-F238E27FC236}">
                <a16:creationId xmlns:a16="http://schemas.microsoft.com/office/drawing/2014/main" id="{A72744D3-1284-4F38-AF90-40E3B8E92427}"/>
              </a:ext>
            </a:extLst>
          </p:cNvPr>
          <p:cNvGraphicFramePr/>
          <p:nvPr/>
        </p:nvGraphicFramePr>
        <p:xfrm>
          <a:off xmlns:a="http://schemas.openxmlformats.org/drawingml/2006/main" x="457200" y="1562100"/>
          <a:ext xmlns:a="http://schemas.openxmlformats.org/drawingml/2006/main" cx="8096250" cy="4048125"/>
        </p:xfrm>
        <a:graphic xmlns:a="http://schemas.openxmlformats.org/drawingml/2006/main">
          <a:graphicData uri="http://schemas.openxmlformats.org/drawingml/2006/chart">
            <c:chart xmlns:r="http://schemas.openxmlformats.org/officeDocument/2006/relationships" xmlns:c="http://schemas.openxmlformats.org/drawingml/2006/chart" r:id="R61fb30597e384489"/>
          </a:graphicData>
        </a:graphic>
      </p:graphicFrame>
      <p:sp>
        <p:nvSpPr>
          <p:cNvPr id="5" name="">
            <a:extLst xmlns:a="http://schemas.openxmlformats.org/drawingml/2006/main">
              <a:ext uri="{FF2B5EF4-FFF2-40B4-BE49-F238E27FC236}">
                <a16:creationId xmlns:a16="http://schemas.microsoft.com/office/drawing/2014/main" id="{4A8B4766-1E84-402C-BE22-5E1ABA275057}"/>
              </a:ext>
            </a:extLst>
          </p:cNvPr>
          <p:cNvSpPr>
            <a:spLocks xmlns:a="http://schemas.openxmlformats.org/drawingml/2006/main" noGrp="1"/>
          </p:cNvSpPr>
          <p:nvPr/>
        </p:nvSpPr>
        <p:spPr>
          <a:xfrm xmlns:a="http://schemas.openxmlformats.org/drawingml/2006/main">
            <a:off x="8858250" y="1809750"/>
            <a:ext cx="2876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111111"/>
                </a:solidFill>
                <a:latin typeface="Times New Roman"/>
                <a:ea typeface="Times New Roman"/>
                <a:cs typeface="Times New Roman"/>
              </a:defRPr>
            </a:defPPr>
          </a:lstStyle>
          <a:p xmlns:a="http://schemas.openxmlformats.org/drawingml/2006/main">
            <a:pPr>
              <a:defRPr sz="2325" b="1">
                <a:solidFill>
                  <a:srgbClr val="111111"/>
                </a:solidFill>
                <a:latin typeface="Times New Roman"/>
                <a:ea typeface="Times New Roman"/>
                <a:cs typeface="Times New Roman"/>
              </a:defRPr>
            </a:pPr>
            <a:r>
              <a:rPr sz="2325" b="1">
                <a:solidFill>
                  <a:srgbClr val="111111"/>
                </a:solidFill>
                <a:latin typeface="Times New Roman"/>
                <a:ea typeface="Times New Roman"/>
                <a:cs typeface="Times New Roman"/>
              </a:rPr>
              <a:t>At High effort</a:t>
            </a:r>
          </a:p>
        </p:txBody>
      </p:sp>
      <p:sp>
        <p:nvSpPr>
          <p:cNvPr id="6" name="">
            <a:extLst xmlns:a="http://schemas.openxmlformats.org/drawingml/2006/main">
              <a:ext uri="{FF2B5EF4-FFF2-40B4-BE49-F238E27FC236}">
                <a16:creationId xmlns:a16="http://schemas.microsoft.com/office/drawing/2014/main" id="{0DC724A8-6020-402A-AE76-6883DD5B0677}"/>
              </a:ext>
            </a:extLst>
          </p:cNvPr>
          <p:cNvSpPr>
            <a:spLocks xmlns:a="http://schemas.openxmlformats.org/drawingml/2006/main" noGrp="1"/>
          </p:cNvSpPr>
          <p:nvPr/>
        </p:nvSpPr>
        <p:spPr>
          <a:xfrm xmlns:a="http://schemas.openxmlformats.org/drawingml/2006/main">
            <a:off x="8858250" y="2409825"/>
            <a:ext cx="2876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1D4E89"/>
                </a:solidFill>
                <a:latin typeface="Times New Roman"/>
                <a:ea typeface="Times New Roman"/>
                <a:cs typeface="Times New Roman"/>
              </a:defRPr>
            </a:defPPr>
          </a:lstStyle>
          <a:p xmlns:a="http://schemas.openxmlformats.org/drawingml/2006/main">
            <a:pPr>
              <a:defRPr sz="2175" b="0">
                <a:solidFill>
                  <a:srgbClr val="1D4E89"/>
                </a:solidFill>
                <a:latin typeface="Times New Roman"/>
                <a:ea typeface="Times New Roman"/>
                <a:cs typeface="Times New Roman"/>
              </a:defRPr>
            </a:pPr>
            <a:r>
              <a:rPr sz="2175" b="0">
                <a:solidFill>
                  <a:srgbClr val="1D4E89"/>
                </a:solidFill>
                <a:latin typeface="Times New Roman"/>
                <a:ea typeface="Times New Roman"/>
                <a:cs typeface="Times New Roman"/>
              </a:rPr>
              <a:t>4 / 39  No hint</a:t>
            </a:r>
          </a:p>
        </p:txBody>
      </p:sp>
      <p:sp>
        <p:nvSpPr>
          <p:cNvPr id="7" name="">
            <a:extLst xmlns:a="http://schemas.openxmlformats.org/drawingml/2006/main">
              <a:ext uri="{FF2B5EF4-FFF2-40B4-BE49-F238E27FC236}">
                <a16:creationId xmlns:a16="http://schemas.microsoft.com/office/drawing/2014/main" id="{15339F5C-162A-4ECC-BEC0-4368920ACDB1}"/>
              </a:ext>
            </a:extLst>
          </p:cNvPr>
          <p:cNvSpPr>
            <a:spLocks xmlns:a="http://schemas.openxmlformats.org/drawingml/2006/main" noGrp="1"/>
          </p:cNvSpPr>
          <p:nvPr/>
        </p:nvSpPr>
        <p:spPr>
          <a:xfrm xmlns:a="http://schemas.openxmlformats.org/drawingml/2006/main">
            <a:off x="8858250" y="2971800"/>
            <a:ext cx="2876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B45309"/>
                </a:solidFill>
                <a:latin typeface="Times New Roman"/>
                <a:ea typeface="Times New Roman"/>
                <a:cs typeface="Times New Roman"/>
              </a:defRPr>
            </a:defPPr>
          </a:lstStyle>
          <a:p xmlns:a="http://schemas.openxmlformats.org/drawingml/2006/main">
            <a:pPr>
              <a:defRPr sz="2175" b="0">
                <a:solidFill>
                  <a:srgbClr val="B45309"/>
                </a:solidFill>
                <a:latin typeface="Times New Roman"/>
                <a:ea typeface="Times New Roman"/>
                <a:cs typeface="Times New Roman"/>
              </a:defRPr>
            </a:pPr>
            <a:r>
              <a:rPr sz="2175" b="0">
                <a:solidFill>
                  <a:srgbClr val="B45309"/>
                </a:solidFill>
                <a:latin typeface="Times New Roman"/>
                <a:ea typeface="Times New Roman"/>
                <a:cs typeface="Times New Roman"/>
              </a:rPr>
              <a:t>18 / 39  General hint</a:t>
            </a:r>
          </a:p>
        </p:txBody>
      </p:sp>
      <p:sp>
        <p:nvSpPr>
          <p:cNvPr id="8" name="">
            <a:extLst xmlns:a="http://schemas.openxmlformats.org/drawingml/2006/main">
              <a:ext uri="{FF2B5EF4-FFF2-40B4-BE49-F238E27FC236}">
                <a16:creationId xmlns:a16="http://schemas.microsoft.com/office/drawing/2014/main" id="{08B2272E-F2DB-4CC9-8355-EF20E7998C63}"/>
              </a:ext>
            </a:extLst>
          </p:cNvPr>
          <p:cNvSpPr>
            <a:spLocks xmlns:a="http://schemas.openxmlformats.org/drawingml/2006/main" noGrp="1"/>
          </p:cNvSpPr>
          <p:nvPr/>
        </p:nvSpPr>
        <p:spPr>
          <a:xfrm xmlns:a="http://schemas.openxmlformats.org/drawingml/2006/main">
            <a:off x="8858250" y="3533775"/>
            <a:ext cx="2876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0F766E"/>
                </a:solidFill>
                <a:latin typeface="Times New Roman"/>
                <a:ea typeface="Times New Roman"/>
                <a:cs typeface="Times New Roman"/>
              </a:defRPr>
            </a:defPPr>
          </a:lstStyle>
          <a:p xmlns:a="http://schemas.openxmlformats.org/drawingml/2006/main">
            <a:pPr>
              <a:defRPr sz="2175" b="1">
                <a:solidFill>
                  <a:srgbClr val="0F766E"/>
                </a:solidFill>
                <a:latin typeface="Times New Roman"/>
                <a:ea typeface="Times New Roman"/>
                <a:cs typeface="Times New Roman"/>
              </a:defRPr>
            </a:pPr>
            <a:r>
              <a:rPr sz="2175" b="1">
                <a:solidFill>
                  <a:srgbClr val="0F766E"/>
                </a:solidFill>
                <a:latin typeface="Times New Roman"/>
                <a:ea typeface="Times New Roman"/>
                <a:cs typeface="Times New Roman"/>
              </a:rPr>
              <a:t>30 / 39  Physics hint</a:t>
            </a:r>
          </a:p>
        </p:txBody>
      </p:sp>
      <p:sp>
        <p:nvSpPr>
          <p:cNvPr id="9" name="">
            <a:extLst xmlns:a="http://schemas.openxmlformats.org/drawingml/2006/main">
              <a:ext uri="{FF2B5EF4-FFF2-40B4-BE49-F238E27FC236}">
                <a16:creationId xmlns:a16="http://schemas.microsoft.com/office/drawing/2014/main" id="{3BB2AEA5-CD3F-4FB4-A2B3-7A32505F404C}"/>
              </a:ext>
            </a:extLst>
          </p:cNvPr>
          <p:cNvSpPr>
            <a:spLocks xmlns:a="http://schemas.openxmlformats.org/drawingml/2006/main" noGrp="1"/>
          </p:cNvSpPr>
          <p:nvPr/>
        </p:nvSpPr>
        <p:spPr>
          <a:xfrm xmlns:a="http://schemas.openxmlformats.org/drawingml/2006/main">
            <a:off x="8858250" y="4295775"/>
            <a:ext cx="28765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444444"/>
                </a:solidFill>
                <a:latin typeface="Times New Roman"/>
                <a:ea typeface="Times New Roman"/>
                <a:cs typeface="Times New Roman"/>
              </a:defRPr>
            </a:defPPr>
          </a:lstStyle>
          <a:p xmlns:a="http://schemas.openxmlformats.org/drawingml/2006/main">
            <a:pPr>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The High no-hint and general-hint costs are incomplete.</a:t>
            </a:r>
          </a:p>
        </p:txBody>
      </p:sp>
      <p:sp>
        <p:nvSpPr>
          <p:cNvPr id="10" name="">
            <a:extLst xmlns:a="http://schemas.openxmlformats.org/drawingml/2006/main">
              <a:ext uri="{FF2B5EF4-FFF2-40B4-BE49-F238E27FC236}">
                <a16:creationId xmlns:a16="http://schemas.microsoft.com/office/drawing/2014/main" id="{37A0954E-45E6-4CC9-9677-E0C74053D669}"/>
              </a:ext>
            </a:extLst>
          </p:cNvPr>
          <p:cNvSpPr>
            <a:spLocks xmlns:a="http://schemas.openxmlformats.org/drawingml/2006/main" noGrp="1"/>
          </p:cNvSpPr>
          <p:nvPr/>
        </p:nvSpPr>
        <p:spPr>
          <a:xfrm xmlns:a="http://schemas.openxmlformats.org/drawingml/2006/main">
            <a:off x="457200" y="578167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444444"/>
                </a:solidFill>
                <a:latin typeface="Times New Roman"/>
                <a:ea typeface="Times New Roman"/>
                <a:cs typeface="Times New Roman"/>
              </a:defRPr>
            </a:defPPr>
          </a:lstStyle>
          <a:p xmlns:a="http://schemas.openxmlformats.org/drawingml/2006/main">
            <a:pPr>
              <a:defRPr sz="1725" b="0">
                <a:solidFill>
                  <a:srgbClr val="444444"/>
                </a:solidFill>
                <a:latin typeface="Times New Roman"/>
                <a:ea typeface="Times New Roman"/>
                <a:cs typeface="Times New Roman"/>
              </a:defRPr>
            </a:pPr>
            <a:r>
              <a:rPr sz="1725" b="0">
                <a:solidFill>
                  <a:srgbClr val="444444"/>
                </a:solidFill>
                <a:latin typeface="Times New Roman"/>
                <a:ea typeface="Times New Roman"/>
                <a:cs typeface="Times New Roman"/>
              </a:rPr>
              <a:t>Frontiers use 11 of 18 settings with complete cost records. All success rates appear next.</a:t>
            </a:r>
          </a:p>
        </p:txBody>
      </p:sp>
      <p:sp>
        <p:nvSpPr>
          <p:cNvPr id="11" name="">
            <a:extLst xmlns:a="http://schemas.openxmlformats.org/drawingml/2006/main">
              <a:ext uri="{FF2B5EF4-FFF2-40B4-BE49-F238E27FC236}">
                <a16:creationId xmlns:a16="http://schemas.microsoft.com/office/drawing/2014/main" id="{40BBD98D-6F0A-42AE-BD04-1D015BE66F82}"/>
              </a:ext>
            </a:extLst>
          </p:cNvPr>
          <p:cNvSpPr>
            <a:spLocks xmlns:a="http://schemas.openxmlformats.org/drawingml/2006/main" noGrp="1"/>
          </p:cNvSpPr>
          <p:nvPr/>
        </p:nvSpPr>
        <p:spPr>
          <a:xfrm xmlns:a="http://schemas.openxmlformats.org/drawingml/2006/main">
            <a:off x="457200" y="6191250"/>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777777"/>
                </a:solidFill>
                <a:latin typeface="Times New Roman"/>
                <a:ea typeface="Times New Roman"/>
                <a:cs typeface="Times New Roman"/>
              </a:defRPr>
            </a:defPPr>
          </a:lstStyle>
          <a:p xmlns:a="http://schemas.openxmlformats.org/drawingml/2006/main">
            <a:pPr>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Historical controls differ in concurrency and CPU limits. This is a descriptive comparison.</a:t>
            </a:r>
          </a:p>
        </p:txBody>
      </p:sp>
    </p:spTree>
    <p:extLst>
      <p:ext uri="{BB962C8B-B14F-4D97-AF65-F5344CB8AC3E}">
        <p14:creationId xmlns:p14="http://schemas.microsoft.com/office/powerpoint/2010/main" val="11293886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903DD8-AA9F-4E57-B9E5-B08FDA7A405E}"/>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Luna: reasoning effort and hints</a:t>
            </a:r>
          </a:p>
        </p:txBody>
      </p:sp>
      <p:sp>
        <p:nvSpPr>
          <p:cNvPr id="2" name="">
            <a:extLst xmlns:a="http://schemas.openxmlformats.org/drawingml/2006/main">
              <a:ext uri="{FF2B5EF4-FFF2-40B4-BE49-F238E27FC236}">
                <a16:creationId xmlns:a16="http://schemas.microsoft.com/office/drawing/2014/main" id="{0B5698D6-4C55-461B-AC0C-431730CBA894}"/>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Luna, completed passes out of 39. All six effort settings are complete.</a:t>
            </a:r>
          </a:p>
        </p:txBody>
      </p:sp>
      <p:sp>
        <p:nvSpPr>
          <p:cNvPr id="3" name="">
            <a:extLst xmlns:a="http://schemas.openxmlformats.org/drawingml/2006/main">
              <a:ext uri="{FF2B5EF4-FFF2-40B4-BE49-F238E27FC236}">
                <a16:creationId xmlns:a16="http://schemas.microsoft.com/office/drawing/2014/main" id="{52B07ACF-7AD2-43D3-A0F9-616A3FBDB424}"/>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8</a:t>
            </a:r>
          </a:p>
        </p:txBody>
      </p:sp>
      <p:graphicFrame>
        <p:nvGraphicFramePr>
          <p:cNvPr id="4" name="Chart">
            <a:extLst xmlns:a="http://schemas.openxmlformats.org/drawingml/2006/main">
              <a:ext uri="{FF2B5EF4-FFF2-40B4-BE49-F238E27FC236}">
                <a16:creationId xmlns:a16="http://schemas.microsoft.com/office/drawing/2014/main" id="{3300DE1F-DB7C-4562-8FDB-5C4904250C55}"/>
              </a:ext>
            </a:extLst>
          </p:cNvPr>
          <p:cNvGraphicFramePr/>
          <p:nvPr/>
        </p:nvGraphicFramePr>
        <p:xfrm>
          <a:off xmlns:a="http://schemas.openxmlformats.org/drawingml/2006/main" x="457200" y="1581150"/>
          <a:ext xmlns:a="http://schemas.openxmlformats.org/drawingml/2006/main" cx="11277600" cy="4067175"/>
        </p:xfrm>
        <a:graphic xmlns:a="http://schemas.openxmlformats.org/drawingml/2006/main">
          <a:graphicData uri="http://schemas.openxmlformats.org/drawingml/2006/chart">
            <c:chart xmlns:r="http://schemas.openxmlformats.org/officeDocument/2006/relationships" xmlns:c="http://schemas.openxmlformats.org/drawingml/2006/chart" r:id="Racddd053935744b2"/>
          </a:graphicData>
        </a:graphic>
      </p:graphicFrame>
      <p:sp>
        <p:nvSpPr>
          <p:cNvPr id="5" name="">
            <a:extLst xmlns:a="http://schemas.openxmlformats.org/drawingml/2006/main">
              <a:ext uri="{FF2B5EF4-FFF2-40B4-BE49-F238E27FC236}">
                <a16:creationId xmlns:a16="http://schemas.microsoft.com/office/drawing/2014/main" id="{0E4AD79D-AE8B-4BF2-902D-C238D5D8BFEF}"/>
              </a:ext>
            </a:extLst>
          </p:cNvPr>
          <p:cNvSpPr>
            <a:spLocks xmlns:a="http://schemas.openxmlformats.org/drawingml/2006/main" noGrp="1"/>
          </p:cNvSpPr>
          <p:nvPr/>
        </p:nvSpPr>
        <p:spPr>
          <a:xfrm xmlns:a="http://schemas.openxmlformats.org/drawingml/2006/main">
            <a:off x="457200" y="5800725"/>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11111"/>
                </a:solidFill>
                <a:latin typeface="Times New Roman"/>
                <a:ea typeface="Times New Roman"/>
                <a:cs typeface="Times New Roman"/>
              </a:defRPr>
            </a:defPPr>
          </a:lstStyle>
          <a:p xmlns:a="http://schemas.openxmlformats.org/drawingml/2006/main">
            <a:pPr>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Physics hints have the highest observed success at every effort setting.</a:t>
            </a:r>
          </a:p>
        </p:txBody>
      </p:sp>
      <p:sp>
        <p:nvSpPr>
          <p:cNvPr id="6" name="">
            <a:extLst xmlns:a="http://schemas.openxmlformats.org/drawingml/2006/main">
              <a:ext uri="{FF2B5EF4-FFF2-40B4-BE49-F238E27FC236}">
                <a16:creationId xmlns:a16="http://schemas.microsoft.com/office/drawing/2014/main" id="{6CCF3C54-16C1-4C7E-933E-0257916BBFE9}"/>
              </a:ext>
            </a:extLst>
          </p:cNvPr>
          <p:cNvSpPr>
            <a:spLocks xmlns:a="http://schemas.openxmlformats.org/drawingml/2006/main" noGrp="1"/>
          </p:cNvSpPr>
          <p:nvPr/>
        </p:nvSpPr>
        <p:spPr>
          <a:xfrm xmlns:a="http://schemas.openxmlformats.org/drawingml/2006/main">
            <a:off x="457200" y="6191250"/>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777777"/>
                </a:solidFill>
                <a:latin typeface="Times New Roman"/>
                <a:ea typeface="Times New Roman"/>
                <a:cs typeface="Times New Roman"/>
              </a:defRPr>
            </a:defPPr>
          </a:lstStyle>
          <a:p xmlns:a="http://schemas.openxmlformats.org/drawingml/2006/main">
            <a:pPr>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No-hint controls are historical. Errors remain in denominators. Three trials per task limit precision.</a:t>
            </a:r>
          </a:p>
        </p:txBody>
      </p:sp>
    </p:spTree>
    <p:extLst>
      <p:ext uri="{BB962C8B-B14F-4D97-AF65-F5344CB8AC3E}">
        <p14:creationId xmlns:p14="http://schemas.microsoft.com/office/powerpoint/2010/main" val="8481716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5C3A8EB5-DDCE-49F7-85D1-7223D386B087}"/>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Where the agents fail</a:t>
            </a:r>
          </a:p>
        </p:txBody>
      </p:sp>
      <p:sp>
        <p:nvSpPr>
          <p:cNvPr id="2" name="Rectangle 1">
            <a:extLst xmlns:a="http://schemas.openxmlformats.org/drawingml/2006/main">
              <a:ext uri="{FF2B5EF4-FFF2-40B4-BE49-F238E27FC236}">
                <a16:creationId xmlns:a16="http://schemas.microsoft.com/office/drawing/2014/main" id="{B49328EB-D8A5-451B-869F-8FD13B246D88}"/>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585 no-hint attempts. Saved actions, submitted code, and verifier results separate the failure types.</a:t>
            </a:r>
          </a:p>
        </p:txBody>
      </p:sp>
      <p:graphicFrame>
        <p:nvGraphicFramePr>
          <p:cNvPr id="4" name="Chart">
            <a:extLst xmlns:a="http://schemas.openxmlformats.org/drawingml/2006/main">
              <a:ext uri="{FF2B5EF4-FFF2-40B4-BE49-F238E27FC236}">
                <a16:creationId xmlns:a16="http://schemas.microsoft.com/office/drawing/2014/main" id="{3F616A1D-4205-4461-8B97-CC72BEBE022C}"/>
              </a:ext>
            </a:extLst>
          </p:cNvPr>
          <p:cNvGraphicFramePr/>
          <p:nvPr/>
        </p:nvGraphicFramePr>
        <p:xfrm>
          <a:off xmlns:a="http://schemas.openxmlformats.org/drawingml/2006/main" x="457200" y="1581150"/>
          <a:ext xmlns:a="http://schemas.openxmlformats.org/drawingml/2006/main" cx="7810500" cy="4171950"/>
        </p:xfrm>
        <a:graphic xmlns:a="http://schemas.openxmlformats.org/drawingml/2006/main">
          <a:graphicData uri="http://schemas.openxmlformats.org/drawingml/2006/chart">
            <c:chart xmlns:r="http://schemas.openxmlformats.org/officeDocument/2006/relationships" xmlns:c="http://schemas.openxmlformats.org/drawingml/2006/chart" r:id="R0473061129a74e75"/>
          </a:graphicData>
        </a:graphic>
      </p:graphicFrame>
      <p:sp>
        <p:nvSpPr>
          <p:cNvPr id="5" name="Rectangle 4">
            <a:extLst xmlns:a="http://schemas.openxmlformats.org/drawingml/2006/main">
              <a:ext uri="{FF2B5EF4-FFF2-40B4-BE49-F238E27FC236}">
                <a16:creationId xmlns:a16="http://schemas.microsoft.com/office/drawing/2014/main" id="{F2D96288-71B3-4E25-9F6C-1BB5F3E6CB1A}"/>
              </a:ext>
            </a:extLst>
          </p:cNvPr>
          <p:cNvSpPr>
            <a:spLocks xmlns:a="http://schemas.openxmlformats.org/drawingml/2006/main" noGrp="1"/>
          </p:cNvSpPr>
          <p:nvPr/>
        </p:nvSpPr>
        <p:spPr>
          <a:xfrm xmlns:a="http://schemas.openxmlformats.org/drawingml/2006/main">
            <a:off x="8648700" y="194310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750" b="1" i="0">
                <a:solidFill>
                  <a:srgbClr val="B45309"/>
                </a:solidFill>
                <a:latin typeface="Times New Roman"/>
                <a:ea typeface="Times New Roman"/>
                <a:cs typeface="Times New Roman"/>
              </a:defRPr>
            </a:defPPr>
          </a:lstStyle>
          <a:p xmlns:a="http://schemas.openxmlformats.org/drawingml/2006/main">
            <a:pPr algn="l">
              <a:buNone/>
              <a:defRPr sz="3750" b="1" i="0">
                <a:solidFill>
                  <a:srgbClr val="B45309"/>
                </a:solidFill>
                <a:latin typeface="Times New Roman"/>
                <a:ea typeface="Times New Roman"/>
                <a:cs typeface="Times New Roman"/>
              </a:defRPr>
            </a:pPr>
            <a:r>
              <a:rPr sz="3750" b="1" i="0">
                <a:solidFill>
                  <a:srgbClr val="B45309"/>
                </a:solidFill>
                <a:latin typeface="Times New Roman"/>
                <a:ea typeface="Times New Roman"/>
                <a:cs typeface="Times New Roman"/>
              </a:rPr>
              <a:t>186 / 191</a:t>
            </a:r>
          </a:p>
        </p:txBody>
      </p:sp>
      <p:sp>
        <p:nvSpPr>
          <p:cNvPr id="6" name="Rectangle 5">
            <a:extLst xmlns:a="http://schemas.openxmlformats.org/drawingml/2006/main">
              <a:ext uri="{FF2B5EF4-FFF2-40B4-BE49-F238E27FC236}">
                <a16:creationId xmlns:a16="http://schemas.microsoft.com/office/drawing/2014/main" id="{332E1CDF-1E53-48FC-875C-1D23408D90FF}"/>
              </a:ext>
            </a:extLst>
          </p:cNvPr>
          <p:cNvSpPr>
            <a:spLocks xmlns:a="http://schemas.openxmlformats.org/drawingml/2006/main" noGrp="1"/>
          </p:cNvSpPr>
          <p:nvPr/>
        </p:nvSpPr>
        <p:spPr>
          <a:xfrm xmlns:a="http://schemas.openxmlformats.org/drawingml/2006/main">
            <a:off x="8648700" y="2638425"/>
            <a:ext cx="3086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Normally completed failures</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failed only hidden predictions</a:t>
            </a:r>
          </a:p>
        </p:txBody>
      </p:sp>
      <p:sp>
        <p:nvSpPr>
          <p:cNvPr id="7" name="Rectangle 6">
            <a:extLst xmlns:a="http://schemas.openxmlformats.org/drawingml/2006/main">
              <a:ext uri="{FF2B5EF4-FFF2-40B4-BE49-F238E27FC236}">
                <a16:creationId xmlns:a16="http://schemas.microsoft.com/office/drawing/2014/main" id="{12C4D2AB-7951-41B3-8FE2-A2005C68A079}"/>
              </a:ext>
            </a:extLst>
          </p:cNvPr>
          <p:cNvSpPr>
            <a:spLocks xmlns:a="http://schemas.openxmlformats.org/drawingml/2006/main" noGrp="1"/>
          </p:cNvSpPr>
          <p:nvPr/>
        </p:nvSpPr>
        <p:spPr>
          <a:xfrm xmlns:a="http://schemas.openxmlformats.org/drawingml/2006/main">
            <a:off x="8648700" y="384810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750" b="1" i="0">
                <a:solidFill>
                  <a:srgbClr val="A50026"/>
                </a:solidFill>
                <a:latin typeface="Times New Roman"/>
                <a:ea typeface="Times New Roman"/>
                <a:cs typeface="Times New Roman"/>
              </a:defRPr>
            </a:defPPr>
          </a:lstStyle>
          <a:p xmlns:a="http://schemas.openxmlformats.org/drawingml/2006/main">
            <a:pPr algn="l">
              <a:buNone/>
              <a:defRPr sz="3750" b="1" i="0">
                <a:solidFill>
                  <a:srgbClr val="A50026"/>
                </a:solidFill>
                <a:latin typeface="Times New Roman"/>
                <a:ea typeface="Times New Roman"/>
                <a:cs typeface="Times New Roman"/>
              </a:defRPr>
            </a:pPr>
            <a:r>
              <a:rPr sz="3750" b="1" i="0">
                <a:solidFill>
                  <a:srgbClr val="A50026"/>
                </a:solidFill>
                <a:latin typeface="Times New Roman"/>
                <a:ea typeface="Times New Roman"/>
                <a:cs typeface="Times New Roman"/>
              </a:rPr>
              <a:t>105 / 117</a:t>
            </a:r>
          </a:p>
        </p:txBody>
      </p:sp>
      <p:sp>
        <p:nvSpPr>
          <p:cNvPr id="8" name="Rectangle 7">
            <a:extLst xmlns:a="http://schemas.openxmlformats.org/drawingml/2006/main">
              <a:ext uri="{FF2B5EF4-FFF2-40B4-BE49-F238E27FC236}">
                <a16:creationId xmlns:a16="http://schemas.microsoft.com/office/drawing/2014/main" id="{1BC68402-3368-46B8-ADCC-4D87B60E3C86}"/>
              </a:ext>
            </a:extLst>
          </p:cNvPr>
          <p:cNvSpPr>
            <a:spLocks xmlns:a="http://schemas.openxmlformats.org/drawingml/2006/main" noGrp="1"/>
          </p:cNvSpPr>
          <p:nvPr/>
        </p:nvSpPr>
        <p:spPr>
          <a:xfrm xmlns:a="http://schemas.openxmlformats.org/drawingml/2006/main">
            <a:off x="8648700" y="4543425"/>
            <a:ext cx="3086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DeepSeek attempts ended</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with execution errors</a:t>
            </a:r>
          </a:p>
        </p:txBody>
      </p:sp>
      <p:sp>
        <p:nvSpPr>
          <p:cNvPr id="9" name="Rectangle 8">
            <a:extLst xmlns:a="http://schemas.openxmlformats.org/drawingml/2006/main">
              <a:ext uri="{FF2B5EF4-FFF2-40B4-BE49-F238E27FC236}">
                <a16:creationId xmlns:a16="http://schemas.microsoft.com/office/drawing/2014/main" id="{F966C5D2-2C0D-49CA-82C3-5166CF87B915}"/>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At least 141 of the 186 prediction-only failures show public-test passes. Errors alone do not establish a physics mistake.</a:t>
            </a:r>
          </a:p>
        </p:txBody>
      </p:sp>
      <p:sp>
        <p:nvSpPr>
          <p:cNvPr id="11" name="Rectangle 10">
            <a:extLst xmlns:a="http://schemas.openxmlformats.org/drawingml/2006/main">
              <a:ext uri="{FF2B5EF4-FFF2-40B4-BE49-F238E27FC236}">
                <a16:creationId xmlns:a16="http://schemas.microsoft.com/office/drawing/2014/main" id="{3979B510-2B14-4E4E-9F9A-06C4CBB61403}"/>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9</a:t>
            </a:r>
          </a:p>
        </p:txBody>
      </p:sp>
    </p:spTree>
    <p:extLst>
      <p:ext uri="{BB962C8B-B14F-4D97-AF65-F5344CB8AC3E}">
        <p14:creationId xmlns:p14="http://schemas.microsoft.com/office/powerpoint/2010/main" val="591641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Rectangle 41">
            <a:extLst xmlns:a="http://schemas.openxmlformats.org/drawingml/2006/main">
              <a:ext uri="{FF2B5EF4-FFF2-40B4-BE49-F238E27FC236}">
                <a16:creationId xmlns:a16="http://schemas.microsoft.com/office/drawing/2014/main" id="{188BF787-8096-4C2A-88D4-72B59C3957F8}"/>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Why the agent failed on the bead task</a:t>
            </a:r>
          </a:p>
        </p:txBody>
      </p:sp>
      <p:sp>
        <p:nvSpPr>
          <p:cNvPr id="2" name="Rectangle 1">
            <a:extLst xmlns:a="http://schemas.openxmlformats.org/drawingml/2006/main">
              <a:ext uri="{FF2B5EF4-FFF2-40B4-BE49-F238E27FC236}">
                <a16:creationId xmlns:a16="http://schemas.microsoft.com/office/drawing/2014/main" id="{90E0191D-DC24-4A27-8C1D-B6CD527F23A6}"/>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Terra High, no hint</a:t>
            </a:r>
          </a:p>
        </p:txBody>
      </p:sp>
      <p:sp>
        <p:nvSpPr>
          <p:cNvPr id="3" name="Rectangle 2">
            <a:extLst xmlns:a="http://schemas.openxmlformats.org/drawingml/2006/main">
              <a:ext uri="{FF2B5EF4-FFF2-40B4-BE49-F238E27FC236}">
                <a16:creationId xmlns:a16="http://schemas.microsoft.com/office/drawing/2014/main" id="{AD1C196F-EF25-4184-B114-2530E3410410}"/>
              </a:ext>
            </a:extLst>
          </p:cNvPr>
          <p:cNvSpPr>
            <a:spLocks xmlns:a="http://schemas.openxmlformats.org/drawingml/2006/main" noGrp="1"/>
          </p:cNvSpPr>
          <p:nvPr/>
        </p:nvSpPr>
        <p:spPr>
          <a:xfrm xmlns:a="http://schemas.openxmlformats.org/drawingml/2006/main">
            <a:off x="457200" y="1628775"/>
            <a:ext cx="5467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2100" b="1">
                <a:solidFill>
                  <a:srgbClr val="111111"/>
                </a:solidFill>
                <a:latin typeface="Times New Roman"/>
                <a:ea typeface="Times New Roman"/>
                <a:cs typeface="Times New Roman"/>
              </a:defRPr>
            </a:defPPr>
          </a:lstStyle>
          <a:p xmlns:a="http://schemas.openxmlformats.org/drawingml/2006/main">
            <a:pPr algn="ctr">
              <a:buNone/>
              <a:defRPr sz="2100" b="1">
                <a:solidFill>
                  <a:srgbClr val="111111"/>
                </a:solidFill>
                <a:latin typeface="Times New Roman"/>
                <a:ea typeface="Times New Roman"/>
                <a:cs typeface="Times New Roman"/>
              </a:defRPr>
            </a:pPr>
            <a:r>
              <a:rPr sz="2100" b="1">
                <a:solidFill>
                  <a:srgbClr val="111111"/>
                </a:solidFill>
                <a:latin typeface="Times New Roman"/>
                <a:ea typeface="Times New Roman"/>
                <a:cs typeface="Times New Roman"/>
              </a:rPr>
              <a:t>Same evenly spaced start</a:t>
            </a:r>
          </a:p>
        </p:txBody>
      </p:sp>
      <p:sp>
        <p:nvSpPr>
          <p:cNvPr id="4" name="Rectangle 3">
            <a:extLst xmlns:a="http://schemas.openxmlformats.org/drawingml/2006/main">
              <a:ext uri="{FF2B5EF4-FFF2-40B4-BE49-F238E27FC236}">
                <a16:creationId xmlns:a16="http://schemas.microsoft.com/office/drawing/2014/main" id="{6CB97F0B-14D1-45A5-8F9B-88A5CA265AC7}"/>
              </a:ext>
            </a:extLst>
          </p:cNvPr>
          <p:cNvSpPr>
            <a:spLocks xmlns:a="http://schemas.openxmlformats.org/drawingml/2006/main" noGrp="1"/>
          </p:cNvSpPr>
          <p:nvPr/>
        </p:nvSpPr>
        <p:spPr>
          <a:xfrm xmlns:a="http://schemas.openxmlformats.org/drawingml/2006/main">
            <a:off x="2038350" y="209550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A2592DAE-900F-479B-A890-400A518A5C35}"/>
              </a:ext>
            </a:extLst>
          </p:cNvPr>
          <p:cNvSpPr>
            <a:spLocks xmlns:a="http://schemas.openxmlformats.org/drawingml/2006/main" noGrp="1"/>
          </p:cNvSpPr>
          <p:nvPr/>
        </p:nvSpPr>
        <p:spPr>
          <a:xfrm xmlns:a="http://schemas.openxmlformats.org/drawingml/2006/main">
            <a:off x="2038350" y="260985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4AEFC1F5-B00A-442B-A9CB-59FA4BA6930E}"/>
              </a:ext>
            </a:extLst>
          </p:cNvPr>
          <p:cNvSpPr>
            <a:spLocks xmlns:a="http://schemas.openxmlformats.org/drawingml/2006/main" noGrp="1"/>
          </p:cNvSpPr>
          <p:nvPr/>
        </p:nvSpPr>
        <p:spPr>
          <a:xfrm xmlns:a="http://schemas.openxmlformats.org/drawingml/2006/main">
            <a:off x="2133600"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C59E5C55-848C-42F8-8543-5E83EBE4790C}"/>
              </a:ext>
            </a:extLst>
          </p:cNvPr>
          <p:cNvSpPr>
            <a:spLocks xmlns:a="http://schemas.openxmlformats.org/drawingml/2006/main" noGrp="1"/>
          </p:cNvSpPr>
          <p:nvPr/>
        </p:nvSpPr>
        <p:spPr>
          <a:xfrm xmlns:a="http://schemas.openxmlformats.org/drawingml/2006/main">
            <a:off x="2505075"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E14639FD-8428-44D2-9C15-7D66D756CAAA}"/>
              </a:ext>
            </a:extLst>
          </p:cNvPr>
          <p:cNvSpPr>
            <a:spLocks xmlns:a="http://schemas.openxmlformats.org/drawingml/2006/main" noGrp="1"/>
          </p:cNvSpPr>
          <p:nvPr/>
        </p:nvSpPr>
        <p:spPr>
          <a:xfrm xmlns:a="http://schemas.openxmlformats.org/drawingml/2006/main">
            <a:off x="2876550" y="2238375"/>
            <a:ext cx="228600" cy="2286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D1467A71-ED3C-44C5-844C-EF34BB051944}"/>
              </a:ext>
            </a:extLst>
          </p:cNvPr>
          <p:cNvSpPr>
            <a:spLocks xmlns:a="http://schemas.openxmlformats.org/drawingml/2006/main" noGrp="1"/>
          </p:cNvSpPr>
          <p:nvPr/>
        </p:nvSpPr>
        <p:spPr>
          <a:xfrm xmlns:a="http://schemas.openxmlformats.org/drawingml/2006/main">
            <a:off x="3248025"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22F03590-CD66-4324-9B45-D90E7670F2BC}"/>
              </a:ext>
            </a:extLst>
          </p:cNvPr>
          <p:cNvSpPr>
            <a:spLocks xmlns:a="http://schemas.openxmlformats.org/drawingml/2006/main" noGrp="1"/>
          </p:cNvSpPr>
          <p:nvPr/>
        </p:nvSpPr>
        <p:spPr>
          <a:xfrm xmlns:a="http://schemas.openxmlformats.org/drawingml/2006/main">
            <a:off x="3619500"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514F4D2C-52B8-4904-9800-3B56EDDCABE1}"/>
              </a:ext>
            </a:extLst>
          </p:cNvPr>
          <p:cNvSpPr>
            <a:spLocks xmlns:a="http://schemas.openxmlformats.org/drawingml/2006/main" noGrp="1"/>
          </p:cNvSpPr>
          <p:nvPr/>
        </p:nvSpPr>
        <p:spPr>
          <a:xfrm xmlns:a="http://schemas.openxmlformats.org/drawingml/2006/main">
            <a:off x="3990975"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Down Arrow 11">
            <a:extLst xmlns:a="http://schemas.openxmlformats.org/drawingml/2006/main">
              <a:ext uri="{FF2B5EF4-FFF2-40B4-BE49-F238E27FC236}">
                <a16:creationId xmlns:a16="http://schemas.microsoft.com/office/drawing/2014/main" id="{2B9547D1-0D56-40EB-A613-AD781B488373}"/>
              </a:ext>
            </a:extLst>
          </p:cNvPr>
          <p:cNvSpPr>
            <a:spLocks xmlns:a="http://schemas.openxmlformats.org/drawingml/2006/main" noGrp="1"/>
          </p:cNvSpPr>
          <p:nvPr/>
        </p:nvSpPr>
        <p:spPr>
          <a:xfrm xmlns:a="http://schemas.openxmlformats.org/drawingml/2006/main">
            <a:off x="3048000" y="2762250"/>
            <a:ext cx="228600" cy="323850"/>
          </a:xfrm>
          <a:prstGeom xmlns:a="http://schemas.openxmlformats.org/drawingml/2006/main" prst="downArrow">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B29D8764-60D2-480D-B980-A00088FC00FD}"/>
              </a:ext>
            </a:extLst>
          </p:cNvPr>
          <p:cNvSpPr>
            <a:spLocks xmlns:a="http://schemas.openxmlformats.org/drawingml/2006/main" noGrp="1"/>
          </p:cNvSpPr>
          <p:nvPr/>
        </p:nvSpPr>
        <p:spPr>
          <a:xfrm xmlns:a="http://schemas.openxmlformats.org/drawingml/2006/main">
            <a:off x="457200" y="3324225"/>
            <a:ext cx="2305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2025" b="0">
                <a:solidFill>
                  <a:srgbClr val="111111"/>
                </a:solidFill>
                <a:latin typeface="Times New Roman"/>
                <a:ea typeface="Times New Roman"/>
                <a:cs typeface="Times New Roman"/>
              </a:defRPr>
            </a:defPPr>
          </a:lstStyle>
          <a:p xmlns:a="http://schemas.openxmlformats.org/drawingml/2006/main">
            <a:pPr algn="ct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Early position</a:t>
            </a:r>
          </a:p>
        </p:txBody>
      </p:sp>
      <p:sp>
        <p:nvSpPr>
          <p:cNvPr id="14" name="Rectangle 13">
            <a:extLst xmlns:a="http://schemas.openxmlformats.org/drawingml/2006/main">
              <a:ext uri="{FF2B5EF4-FFF2-40B4-BE49-F238E27FC236}">
                <a16:creationId xmlns:a16="http://schemas.microsoft.com/office/drawing/2014/main" id="{8C762CA3-6389-42EF-9006-A1AD10A8C613}"/>
              </a:ext>
            </a:extLst>
          </p:cNvPr>
          <p:cNvSpPr>
            <a:spLocks xmlns:a="http://schemas.openxmlformats.org/drawingml/2006/main" noGrp="1"/>
          </p:cNvSpPr>
          <p:nvPr/>
        </p:nvSpPr>
        <p:spPr>
          <a:xfrm xmlns:a="http://schemas.openxmlformats.org/drawingml/2006/main">
            <a:off x="3619500" y="3324225"/>
            <a:ext cx="2305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2025" b="0">
                <a:solidFill>
                  <a:srgbClr val="111111"/>
                </a:solidFill>
                <a:latin typeface="Times New Roman"/>
                <a:ea typeface="Times New Roman"/>
                <a:cs typeface="Times New Roman"/>
              </a:defRPr>
            </a:defPPr>
          </a:lstStyle>
          <a:p xmlns:a="http://schemas.openxmlformats.org/drawingml/2006/main">
            <a:pPr algn="ct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Later position</a:t>
            </a:r>
          </a:p>
        </p:txBody>
      </p:sp>
      <p:sp>
        <p:nvSpPr>
          <p:cNvPr id="15" name="Rectangle 14">
            <a:extLst xmlns:a="http://schemas.openxmlformats.org/drawingml/2006/main">
              <a:ext uri="{FF2B5EF4-FFF2-40B4-BE49-F238E27FC236}">
                <a16:creationId xmlns:a16="http://schemas.microsoft.com/office/drawing/2014/main" id="{44E89158-6FEE-4279-A678-86EC80971E97}"/>
              </a:ext>
            </a:extLst>
          </p:cNvPr>
          <p:cNvSpPr>
            <a:spLocks xmlns:a="http://schemas.openxmlformats.org/drawingml/2006/main" noGrp="1"/>
          </p:cNvSpPr>
          <p:nvPr/>
        </p:nvSpPr>
        <p:spPr>
          <a:xfrm xmlns:a="http://schemas.openxmlformats.org/drawingml/2006/main">
            <a:off x="457200" y="375285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F5D70699-BAD5-4E1D-B932-83872919EF0A}"/>
              </a:ext>
            </a:extLst>
          </p:cNvPr>
          <p:cNvSpPr>
            <a:spLocks xmlns:a="http://schemas.openxmlformats.org/drawingml/2006/main" noGrp="1"/>
          </p:cNvSpPr>
          <p:nvPr/>
        </p:nvSpPr>
        <p:spPr>
          <a:xfrm xmlns:a="http://schemas.openxmlformats.org/drawingml/2006/main">
            <a:off x="457200" y="426720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E4800A52-7A43-4EE3-BFDE-4345E3917BBC}"/>
              </a:ext>
            </a:extLst>
          </p:cNvPr>
          <p:cNvSpPr>
            <a:spLocks xmlns:a="http://schemas.openxmlformats.org/drawingml/2006/main" noGrp="1"/>
          </p:cNvSpPr>
          <p:nvPr/>
        </p:nvSpPr>
        <p:spPr>
          <a:xfrm xmlns:a="http://schemas.openxmlformats.org/drawingml/2006/main">
            <a:off x="55245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62A308A1-DACE-4383-9C9F-56EC1ABE876B}"/>
              </a:ext>
            </a:extLst>
          </p:cNvPr>
          <p:cNvSpPr>
            <a:spLocks xmlns:a="http://schemas.openxmlformats.org/drawingml/2006/main" noGrp="1"/>
          </p:cNvSpPr>
          <p:nvPr/>
        </p:nvSpPr>
        <p:spPr>
          <a:xfrm xmlns:a="http://schemas.openxmlformats.org/drawingml/2006/main">
            <a:off x="89535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Oval 18">
            <a:extLst xmlns:a="http://schemas.openxmlformats.org/drawingml/2006/main">
              <a:ext uri="{FF2B5EF4-FFF2-40B4-BE49-F238E27FC236}">
                <a16:creationId xmlns:a16="http://schemas.microsoft.com/office/drawing/2014/main" id="{F532BC2B-393A-4988-9DB6-D5C1679E5992}"/>
              </a:ext>
            </a:extLst>
          </p:cNvPr>
          <p:cNvSpPr>
            <a:spLocks xmlns:a="http://schemas.openxmlformats.org/drawingml/2006/main" noGrp="1"/>
          </p:cNvSpPr>
          <p:nvPr/>
        </p:nvSpPr>
        <p:spPr>
          <a:xfrm xmlns:a="http://schemas.openxmlformats.org/drawingml/2006/main">
            <a:off x="1333500" y="3895725"/>
            <a:ext cx="228600" cy="2286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Oval 19">
            <a:extLst xmlns:a="http://schemas.openxmlformats.org/drawingml/2006/main">
              <a:ext uri="{FF2B5EF4-FFF2-40B4-BE49-F238E27FC236}">
                <a16:creationId xmlns:a16="http://schemas.microsoft.com/office/drawing/2014/main" id="{3969F120-CB61-4C0C-BD8B-DA3147A0F5B3}"/>
              </a:ext>
            </a:extLst>
          </p:cNvPr>
          <p:cNvSpPr>
            <a:spLocks xmlns:a="http://schemas.openxmlformats.org/drawingml/2006/main" noGrp="1"/>
          </p:cNvSpPr>
          <p:nvPr/>
        </p:nvSpPr>
        <p:spPr>
          <a:xfrm xmlns:a="http://schemas.openxmlformats.org/drawingml/2006/main">
            <a:off x="1628775"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Oval 20">
            <a:extLst xmlns:a="http://schemas.openxmlformats.org/drawingml/2006/main">
              <a:ext uri="{FF2B5EF4-FFF2-40B4-BE49-F238E27FC236}">
                <a16:creationId xmlns:a16="http://schemas.microsoft.com/office/drawing/2014/main" id="{A4C9A583-94F0-4BA9-A1F1-75C831BF51D7}"/>
              </a:ext>
            </a:extLst>
          </p:cNvPr>
          <p:cNvSpPr>
            <a:spLocks xmlns:a="http://schemas.openxmlformats.org/drawingml/2006/main" noGrp="1"/>
          </p:cNvSpPr>
          <p:nvPr/>
        </p:nvSpPr>
        <p:spPr>
          <a:xfrm xmlns:a="http://schemas.openxmlformats.org/drawingml/2006/main">
            <a:off x="2066925"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Oval 21">
            <a:extLst xmlns:a="http://schemas.openxmlformats.org/drawingml/2006/main">
              <a:ext uri="{FF2B5EF4-FFF2-40B4-BE49-F238E27FC236}">
                <a16:creationId xmlns:a16="http://schemas.microsoft.com/office/drawing/2014/main" id="{58B0A4D4-3ED5-482F-8869-E22CB5184AB7}"/>
              </a:ext>
            </a:extLst>
          </p:cNvPr>
          <p:cNvSpPr>
            <a:spLocks xmlns:a="http://schemas.openxmlformats.org/drawingml/2006/main" noGrp="1"/>
          </p:cNvSpPr>
          <p:nvPr/>
        </p:nvSpPr>
        <p:spPr>
          <a:xfrm xmlns:a="http://schemas.openxmlformats.org/drawingml/2006/main">
            <a:off x="240030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6BBAA5C2-F6E8-401D-A2D4-FF1AE8E4C308}"/>
              </a:ext>
            </a:extLst>
          </p:cNvPr>
          <p:cNvSpPr>
            <a:spLocks xmlns:a="http://schemas.openxmlformats.org/drawingml/2006/main" noGrp="1"/>
          </p:cNvSpPr>
          <p:nvPr/>
        </p:nvSpPr>
        <p:spPr>
          <a:xfrm xmlns:a="http://schemas.openxmlformats.org/drawingml/2006/main">
            <a:off x="3619500" y="375285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4" name="Rectangle 23">
            <a:extLst xmlns:a="http://schemas.openxmlformats.org/drawingml/2006/main">
              <a:ext uri="{FF2B5EF4-FFF2-40B4-BE49-F238E27FC236}">
                <a16:creationId xmlns:a16="http://schemas.microsoft.com/office/drawing/2014/main" id="{D413A0C3-BBFC-414E-B042-F4DB66E7B045}"/>
              </a:ext>
            </a:extLst>
          </p:cNvPr>
          <p:cNvSpPr>
            <a:spLocks xmlns:a="http://schemas.openxmlformats.org/drawingml/2006/main" noGrp="1"/>
          </p:cNvSpPr>
          <p:nvPr/>
        </p:nvSpPr>
        <p:spPr>
          <a:xfrm xmlns:a="http://schemas.openxmlformats.org/drawingml/2006/main">
            <a:off x="3619500" y="426720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5" name="Oval 24">
            <a:extLst xmlns:a="http://schemas.openxmlformats.org/drawingml/2006/main">
              <a:ext uri="{FF2B5EF4-FFF2-40B4-BE49-F238E27FC236}">
                <a16:creationId xmlns:a16="http://schemas.microsoft.com/office/drawing/2014/main" id="{5DDBCCB3-6174-452E-8287-941151DEF8D4}"/>
              </a:ext>
            </a:extLst>
          </p:cNvPr>
          <p:cNvSpPr>
            <a:spLocks xmlns:a="http://schemas.openxmlformats.org/drawingml/2006/main" noGrp="1"/>
          </p:cNvSpPr>
          <p:nvPr/>
        </p:nvSpPr>
        <p:spPr>
          <a:xfrm xmlns:a="http://schemas.openxmlformats.org/drawingml/2006/main">
            <a:off x="367665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Oval 25">
            <a:extLst xmlns:a="http://schemas.openxmlformats.org/drawingml/2006/main">
              <a:ext uri="{FF2B5EF4-FFF2-40B4-BE49-F238E27FC236}">
                <a16:creationId xmlns:a16="http://schemas.microsoft.com/office/drawing/2014/main" id="{D83C408D-2753-4A93-B04E-B4BCB093519E}"/>
              </a:ext>
            </a:extLst>
          </p:cNvPr>
          <p:cNvSpPr>
            <a:spLocks xmlns:a="http://schemas.openxmlformats.org/drawingml/2006/main" noGrp="1"/>
          </p:cNvSpPr>
          <p:nvPr/>
        </p:nvSpPr>
        <p:spPr>
          <a:xfrm xmlns:a="http://schemas.openxmlformats.org/drawingml/2006/main">
            <a:off x="3952875"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Oval 26">
            <a:extLst xmlns:a="http://schemas.openxmlformats.org/drawingml/2006/main">
              <a:ext uri="{FF2B5EF4-FFF2-40B4-BE49-F238E27FC236}">
                <a16:creationId xmlns:a16="http://schemas.microsoft.com/office/drawing/2014/main" id="{7E6E7AB3-854B-47DB-9A00-122279DD0A40}"/>
              </a:ext>
            </a:extLst>
          </p:cNvPr>
          <p:cNvSpPr>
            <a:spLocks xmlns:a="http://schemas.openxmlformats.org/drawingml/2006/main" noGrp="1"/>
          </p:cNvSpPr>
          <p:nvPr/>
        </p:nvSpPr>
        <p:spPr>
          <a:xfrm xmlns:a="http://schemas.openxmlformats.org/drawingml/2006/main">
            <a:off x="4676775" y="3895725"/>
            <a:ext cx="228600" cy="2286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Oval 27">
            <a:extLst xmlns:a="http://schemas.openxmlformats.org/drawingml/2006/main">
              <a:ext uri="{FF2B5EF4-FFF2-40B4-BE49-F238E27FC236}">
                <a16:creationId xmlns:a16="http://schemas.microsoft.com/office/drawing/2014/main" id="{7C7A7103-E5BA-4F0E-AE18-5C2D9622CBA5}"/>
              </a:ext>
            </a:extLst>
          </p:cNvPr>
          <p:cNvSpPr>
            <a:spLocks xmlns:a="http://schemas.openxmlformats.org/drawingml/2006/main" noGrp="1"/>
          </p:cNvSpPr>
          <p:nvPr/>
        </p:nvSpPr>
        <p:spPr>
          <a:xfrm xmlns:a="http://schemas.openxmlformats.org/drawingml/2006/main">
            <a:off x="495300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Oval 28">
            <a:extLst xmlns:a="http://schemas.openxmlformats.org/drawingml/2006/main">
              <a:ext uri="{FF2B5EF4-FFF2-40B4-BE49-F238E27FC236}">
                <a16:creationId xmlns:a16="http://schemas.microsoft.com/office/drawing/2014/main" id="{33DE8FFE-2024-4BA3-8ED3-293C46275BDE}"/>
              </a:ext>
            </a:extLst>
          </p:cNvPr>
          <p:cNvSpPr>
            <a:spLocks xmlns:a="http://schemas.openxmlformats.org/drawingml/2006/main" noGrp="1"/>
          </p:cNvSpPr>
          <p:nvPr/>
        </p:nvSpPr>
        <p:spPr>
          <a:xfrm xmlns:a="http://schemas.openxmlformats.org/drawingml/2006/main">
            <a:off x="5267325"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Oval 29">
            <a:extLst xmlns:a="http://schemas.openxmlformats.org/drawingml/2006/main">
              <a:ext uri="{FF2B5EF4-FFF2-40B4-BE49-F238E27FC236}">
                <a16:creationId xmlns:a16="http://schemas.microsoft.com/office/drawing/2014/main" id="{92D95110-4FA3-45BD-A738-3F39256E8B6A}"/>
              </a:ext>
            </a:extLst>
          </p:cNvPr>
          <p:cNvSpPr>
            <a:spLocks xmlns:a="http://schemas.openxmlformats.org/drawingml/2006/main" noGrp="1"/>
          </p:cNvSpPr>
          <p:nvPr/>
        </p:nvSpPr>
        <p:spPr>
          <a:xfrm xmlns:a="http://schemas.openxmlformats.org/drawingml/2006/main">
            <a:off x="560070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Left-Right Arrow 30">
            <a:extLst xmlns:a="http://schemas.openxmlformats.org/drawingml/2006/main">
              <a:ext uri="{FF2B5EF4-FFF2-40B4-BE49-F238E27FC236}">
                <a16:creationId xmlns:a16="http://schemas.microsoft.com/office/drawing/2014/main" id="{084A0D89-582D-44C4-98B7-B310C73D2595}"/>
              </a:ext>
            </a:extLst>
          </p:cNvPr>
          <p:cNvSpPr>
            <a:spLocks xmlns:a="http://schemas.openxmlformats.org/drawingml/2006/main" noGrp="1"/>
          </p:cNvSpPr>
          <p:nvPr/>
        </p:nvSpPr>
        <p:spPr>
          <a:xfrm xmlns:a="http://schemas.openxmlformats.org/drawingml/2006/main">
            <a:off x="2905125" y="3914775"/>
            <a:ext cx="571500" cy="190500"/>
          </a:xfrm>
          <a:prstGeom xmlns:a="http://schemas.openxmlformats.org/drawingml/2006/main" prst="leftRightArrow">
            <a:avLst/>
          </a:prstGeom>
          <a:solidFill xmlns:a="http://schemas.openxmlformats.org/drawingml/2006/main">
            <a:srgbClr val="A5002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2" name="Rectangle 31">
            <a:extLst xmlns:a="http://schemas.openxmlformats.org/drawingml/2006/main">
              <a:ext uri="{FF2B5EF4-FFF2-40B4-BE49-F238E27FC236}">
                <a16:creationId xmlns:a16="http://schemas.microsoft.com/office/drawing/2014/main" id="{80CFA7B7-556A-4AFA-A558-012B8CF83F09}"/>
              </a:ext>
            </a:extLst>
          </p:cNvPr>
          <p:cNvSpPr>
            <a:spLocks xmlns:a="http://schemas.openxmlformats.org/drawingml/2006/main" noGrp="1"/>
          </p:cNvSpPr>
          <p:nvPr/>
        </p:nvSpPr>
        <p:spPr>
          <a:xfrm xmlns:a="http://schemas.openxmlformats.org/drawingml/2006/main">
            <a:off x="457200" y="4476750"/>
            <a:ext cx="5467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800" b="0">
                <a:solidFill>
                  <a:srgbClr val="444444"/>
                </a:solidFill>
                <a:latin typeface="Times New Roman"/>
                <a:ea typeface="Times New Roman"/>
                <a:cs typeface="Times New Roman"/>
              </a:defRPr>
            </a:defPPr>
          </a:lstStyle>
          <a:p xmlns:a="http://schemas.openxmlformats.org/drawingml/2006/main">
            <a:pPr algn="ct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Same bead in one run</a:t>
            </a:r>
          </a:p>
        </p:txBody>
      </p:sp>
      <p:sp>
        <p:nvSpPr>
          <p:cNvPr id="33" name="Rectangle 32">
            <a:extLst xmlns:a="http://schemas.openxmlformats.org/drawingml/2006/main">
              <a:ext uri="{FF2B5EF4-FFF2-40B4-BE49-F238E27FC236}">
                <a16:creationId xmlns:a16="http://schemas.microsoft.com/office/drawing/2014/main" id="{737B63CA-D7D2-4215-912C-850F09E9709B}"/>
              </a:ext>
            </a:extLst>
          </p:cNvPr>
          <p:cNvSpPr>
            <a:spLocks xmlns:a="http://schemas.openxmlformats.org/drawingml/2006/main" noGrp="1"/>
          </p:cNvSpPr>
          <p:nvPr/>
        </p:nvSpPr>
        <p:spPr>
          <a:xfrm xmlns:a="http://schemas.openxmlformats.org/drawingml/2006/main">
            <a:off x="457200" y="4886325"/>
            <a:ext cx="5467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2175" b="1">
                <a:solidFill>
                  <a:srgbClr val="A50026"/>
                </a:solidFill>
                <a:latin typeface="Times New Roman"/>
                <a:ea typeface="Times New Roman"/>
                <a:cs typeface="Times New Roman"/>
              </a:defRPr>
            </a:defPPr>
          </a:lstStyle>
          <a:p xmlns:a="http://schemas.openxmlformats.org/drawingml/2006/main">
            <a:pPr algn="ctr">
              <a:buNone/>
              <a:defRPr sz="2175" b="1">
                <a:solidFill>
                  <a:srgbClr val="A50026"/>
                </a:solidFill>
                <a:latin typeface="Times New Roman"/>
                <a:ea typeface="Times New Roman"/>
                <a:cs typeface="Times New Roman"/>
              </a:defRPr>
            </a:pPr>
            <a:r>
              <a:rPr sz="2175" b="1">
                <a:solidFill>
                  <a:srgbClr val="A50026"/>
                </a:solidFill>
                <a:latin typeface="Times New Roman"/>
                <a:ea typeface="Times New Roman"/>
                <a:cs typeface="Times New Roman"/>
              </a:rPr>
              <a:t>The agent overestimates the </a:t>
            </a:r>
            <a:r>
              <a:rPr sz="2175" b="1">
                <a:solidFill>
                  <a:srgbClr val="A50026"/>
                </a:solidFill>
                <a:latin typeface="Times New Roman"/>
                <a:ea typeface="Times New Roman"/>
                <a:cs typeface="Times New Roman"/>
              </a:rPr>
              <a:t>covariance</a:t>
            </a:r>
            <a:endParaRPr sz="2175" b="1">
              <a:solidFill>
                <a:srgbClr val="A50026"/>
              </a:solidFill>
              <a:latin typeface="Times New Roman"/>
              <a:ea typeface="Times New Roman"/>
              <a:cs typeface="Times New Roman"/>
            </a:endParaRPr>
          </a:p>
        </p:txBody>
      </p:sp>
      <p:sp>
        <p:nvSpPr>
          <p:cNvPr id="34" name="Rectangle 33">
            <a:extLst xmlns:a="http://schemas.openxmlformats.org/drawingml/2006/main">
              <a:ext uri="{FF2B5EF4-FFF2-40B4-BE49-F238E27FC236}">
                <a16:creationId xmlns:a16="http://schemas.microsoft.com/office/drawing/2014/main" id="{9506109F-601E-49E5-BD20-77D45C23A0A6}"/>
              </a:ext>
            </a:extLst>
          </p:cNvPr>
          <p:cNvSpPr>
            <a:spLocks xmlns:a="http://schemas.openxmlformats.org/drawingml/2006/main" noGrp="1"/>
          </p:cNvSpPr>
          <p:nvPr/>
        </p:nvSpPr>
        <p:spPr>
          <a:xfrm xmlns:a="http://schemas.openxmlformats.org/drawingml/2006/main">
            <a:off x="6610350" y="1628775"/>
            <a:ext cx="5124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1">
                <a:solidFill>
                  <a:srgbClr val="0F766E"/>
                </a:solidFill>
                <a:latin typeface="Times New Roman"/>
                <a:ea typeface="Times New Roman"/>
                <a:cs typeface="Times New Roman"/>
              </a:defRPr>
            </a:defPPr>
          </a:lstStyle>
          <a:p xmlns:a="http://schemas.openxmlformats.org/drawingml/2006/main">
            <a:pPr algn="l">
              <a:buNone/>
              <a:defRPr sz="2325" b="1">
                <a:solidFill>
                  <a:srgbClr val="0F766E"/>
                </a:solidFill>
                <a:latin typeface="Times New Roman"/>
                <a:ea typeface="Times New Roman"/>
                <a:cs typeface="Times New Roman"/>
              </a:defRPr>
            </a:pPr>
            <a:r>
              <a:rPr sz="2325" b="1">
                <a:solidFill>
                  <a:srgbClr val="0F766E"/>
                </a:solidFill>
                <a:latin typeface="Times New Roman"/>
                <a:ea typeface="Times New Roman"/>
                <a:cs typeface="Times New Roman"/>
              </a:rPr>
              <a:t>Fits the measured motion</a:t>
            </a:r>
          </a:p>
        </p:txBody>
      </p:sp>
      <p:sp>
        <p:nvSpPr>
          <p:cNvPr id="35" name="Rectangle 34">
            <a:extLst xmlns:a="http://schemas.openxmlformats.org/drawingml/2006/main">
              <a:ext uri="{FF2B5EF4-FFF2-40B4-BE49-F238E27FC236}">
                <a16:creationId xmlns:a16="http://schemas.microsoft.com/office/drawing/2014/main" id="{941F02D7-5787-45E1-8F90-17FA1B625712}"/>
              </a:ext>
            </a:extLst>
          </p:cNvPr>
          <p:cNvSpPr>
            <a:spLocks xmlns:a="http://schemas.openxmlformats.org/drawingml/2006/main" noGrp="1"/>
          </p:cNvSpPr>
          <p:nvPr/>
        </p:nvSpPr>
        <p:spPr>
          <a:xfrm xmlns:a="http://schemas.openxmlformats.org/drawingml/2006/main">
            <a:off x="6610350" y="2143125"/>
            <a:ext cx="5124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11111"/>
                </a:solidFill>
                <a:latin typeface="Times New Roman"/>
                <a:ea typeface="Times New Roman"/>
                <a:cs typeface="Times New Roman"/>
              </a:defRPr>
            </a:defPPr>
          </a:lstStyle>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Adjusts how far the bead wanders</a:t>
            </a:r>
          </a:p>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at each observation time.</a:t>
            </a:r>
          </a:p>
        </p:txBody>
      </p:sp>
      <p:sp>
        <p:nvSpPr>
          <p:cNvPr id="36" name="Rectangle 35">
            <a:extLst xmlns:a="http://schemas.openxmlformats.org/drawingml/2006/main">
              <a:ext uri="{FF2B5EF4-FFF2-40B4-BE49-F238E27FC236}">
                <a16:creationId xmlns:a16="http://schemas.microsoft.com/office/drawing/2014/main" id="{BB95EC0A-29BC-48DF-8D71-281CA0886E16}"/>
              </a:ext>
            </a:extLst>
          </p:cNvPr>
          <p:cNvSpPr>
            <a:spLocks xmlns:a="http://schemas.openxmlformats.org/drawingml/2006/main" noGrp="1"/>
          </p:cNvSpPr>
          <p:nvPr/>
        </p:nvSpPr>
        <p:spPr>
          <a:xfrm xmlns:a="http://schemas.openxmlformats.org/drawingml/2006/main">
            <a:off x="6610350" y="3286125"/>
            <a:ext cx="5124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A50026"/>
                </a:solidFill>
                <a:latin typeface="Times New Roman"/>
                <a:ea typeface="Times New Roman"/>
                <a:cs typeface="Times New Roman"/>
              </a:defRPr>
            </a:defPPr>
          </a:lstStyle>
          <a:p xmlns:a="http://schemas.openxmlformats.org/drawingml/2006/main">
            <a:pPr algn="l">
              <a:buNone/>
              <a:defRPr sz="2250" b="1">
                <a:solidFill>
                  <a:srgbClr val="A50026"/>
                </a:solidFill>
                <a:latin typeface="Times New Roman"/>
                <a:ea typeface="Times New Roman"/>
                <a:cs typeface="Times New Roman"/>
              </a:defRPr>
            </a:pPr>
            <a:r>
              <a:rPr sz="2250" b="1">
                <a:solidFill>
                  <a:srgbClr val="A50026"/>
                </a:solidFill>
                <a:latin typeface="Times New Roman"/>
                <a:ea typeface="Times New Roman"/>
                <a:cs typeface="Times New Roman"/>
              </a:rPr>
              <a:t>Misses the effect of the starting row</a:t>
            </a:r>
          </a:p>
        </p:txBody>
      </p:sp>
      <p:sp>
        <p:nvSpPr>
          <p:cNvPr id="37" name="Rectangle 36">
            <a:extLst xmlns:a="http://schemas.openxmlformats.org/drawingml/2006/main">
              <a:ext uri="{FF2B5EF4-FFF2-40B4-BE49-F238E27FC236}">
                <a16:creationId xmlns:a16="http://schemas.microsoft.com/office/drawing/2014/main" id="{EC6D5905-D6B4-4632-95EA-E52D9EB81E11}"/>
              </a:ext>
            </a:extLst>
          </p:cNvPr>
          <p:cNvSpPr>
            <a:spLocks xmlns:a="http://schemas.openxmlformats.org/drawingml/2006/main" noGrp="1"/>
          </p:cNvSpPr>
          <p:nvPr/>
        </p:nvSpPr>
        <p:spPr>
          <a:xfrm xmlns:a="http://schemas.openxmlformats.org/drawingml/2006/main">
            <a:off x="6610350" y="3819525"/>
            <a:ext cx="51244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11111"/>
                </a:solidFill>
                <a:latin typeface="Times New Roman"/>
                <a:ea typeface="Times New Roman"/>
                <a:cs typeface="Times New Roman"/>
              </a:defRPr>
            </a:defPPr>
          </a:lstStyle>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Keeps the starter’s rule for </a:t>
            </a:r>
            <a:r>
              <a:rPr sz="2175">
                <a:solidFill>
                  <a:srgbClr val="111111"/>
                </a:solidFill>
                <a:latin typeface="Times New Roman"/>
                <a:ea typeface="Times New Roman"/>
                <a:cs typeface="Times New Roman"/>
              </a:rPr>
              <a:t>correlate</a:t>
            </a:r>
            <a:endParaRPr sz="2175" b="0">
              <a:solidFill>
                <a:srgbClr val="111111"/>
              </a:solidFill>
              <a:latin typeface="Times New Roman"/>
              <a:ea typeface="Times New Roman"/>
              <a:cs typeface="Times New Roman"/>
            </a:endParaRPr>
          </a:p>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its early and later positions.</a:t>
            </a:r>
          </a:p>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That rule makes the </a:t>
            </a:r>
            <a:r>
              <a:rPr sz="2175">
                <a:solidFill>
                  <a:srgbClr val="111111"/>
                </a:solidFill>
                <a:latin typeface="Times New Roman"/>
                <a:ea typeface="Times New Roman"/>
                <a:cs typeface="Times New Roman"/>
              </a:rPr>
              <a:t>correlation</a:t>
            </a:r>
            <a:r>
              <a:rPr sz="2175" b="0">
                <a:solidFill>
                  <a:srgbClr val="111111"/>
                </a:solidFill>
                <a:latin typeface="Times New Roman"/>
                <a:ea typeface="Times New Roman"/>
                <a:cs typeface="Times New Roman"/>
              </a:rPr>
              <a:t> too strong.</a:t>
            </a:r>
          </a:p>
        </p:txBody>
      </p:sp>
      <p:sp>
        <p:nvSpPr>
          <p:cNvPr id="38" name="Rectangle 37">
            <a:extLst xmlns:a="http://schemas.openxmlformats.org/drawingml/2006/main">
              <a:ext uri="{FF2B5EF4-FFF2-40B4-BE49-F238E27FC236}">
                <a16:creationId xmlns:a16="http://schemas.microsoft.com/office/drawing/2014/main" id="{B430F3E2-3BE0-4DA7-AFF9-D384305F98EB}"/>
              </a:ext>
            </a:extLst>
          </p:cNvPr>
          <p:cNvSpPr>
            <a:spLocks xmlns:a="http://schemas.openxmlformats.org/drawingml/2006/main" noGrp="1"/>
          </p:cNvSpPr>
          <p:nvPr/>
        </p:nvSpPr>
        <p:spPr>
          <a:xfrm xmlns:a="http://schemas.openxmlformats.org/drawingml/2006/main">
            <a:off x="457200" y="5476875"/>
            <a:ext cx="11277600" cy="12383"/>
          </a:xfrm>
          <a:prstGeom xmlns:a="http://schemas.openxmlformats.org/drawingml/2006/main" prst="rect">
            <a:avLst/>
          </a:prstGeom>
          <a:solidFill xmlns:a="http://schemas.openxmlformats.org/drawingml/2006/main">
            <a:srgbClr val="D1D5D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9" name="Rectangle 38">
            <a:extLst xmlns:a="http://schemas.openxmlformats.org/drawingml/2006/main">
              <a:ext uri="{FF2B5EF4-FFF2-40B4-BE49-F238E27FC236}">
                <a16:creationId xmlns:a16="http://schemas.microsoft.com/office/drawing/2014/main" id="{66A75466-E52D-47F7-AC02-3EC78F3F82E0}"/>
              </a:ext>
            </a:extLst>
          </p:cNvPr>
          <p:cNvSpPr>
            <a:spLocks xmlns:a="http://schemas.openxmlformats.org/drawingml/2006/main" noGrp="1"/>
          </p:cNvSpPr>
          <p:nvPr/>
        </p:nvSpPr>
        <p:spPr>
          <a:xfrm xmlns:a="http://schemas.openxmlformats.org/drawingml/2006/main">
            <a:off x="457200" y="5686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1">
                <a:solidFill>
                  <a:srgbClr val="111111"/>
                </a:solidFill>
                <a:latin typeface="Times New Roman"/>
                <a:ea typeface="Times New Roman"/>
                <a:cs typeface="Times New Roman"/>
              </a:defRPr>
            </a:defPPr>
          </a:lstStyle>
          <a:p xmlns:a="http://schemas.openxmlformats.org/drawingml/2006/main">
            <a:pPr algn="l">
              <a:buNone/>
              <a:defRPr sz="2325" b="1">
                <a:solidFill>
                  <a:srgbClr val="111111"/>
                </a:solidFill>
                <a:latin typeface="Times New Roman"/>
                <a:ea typeface="Times New Roman"/>
                <a:cs typeface="Times New Roman"/>
              </a:defRPr>
            </a:pPr>
            <a:r>
              <a:rPr sz="2325" b="1">
                <a:solidFill>
                  <a:srgbClr val="111111"/>
                </a:solidFill>
                <a:latin typeface="Times New Roman"/>
                <a:ea typeface="Times New Roman"/>
                <a:cs typeface="Times New Roman"/>
              </a:rPr>
              <a:t>Fits the supplied data. New predictions are wrong by up to 136%.</a:t>
            </a:r>
          </a:p>
        </p:txBody>
      </p:sp>
      <p:sp>
        <p:nvSpPr>
          <p:cNvPr id="40" name="Rectangle 39">
            <a:extLst xmlns:a="http://schemas.openxmlformats.org/drawingml/2006/main">
              <a:ext uri="{FF2B5EF4-FFF2-40B4-BE49-F238E27FC236}">
                <a16:creationId xmlns:a16="http://schemas.microsoft.com/office/drawing/2014/main" id="{3AEAE191-3FA4-4FC7-AA83-11EAD6F2EF2A}"/>
              </a:ext>
            </a:extLst>
          </p:cNvPr>
          <p:cNvSpPr>
            <a:spLocks xmlns:a="http://schemas.openxmlformats.org/drawingml/2006/main" noGrp="1"/>
          </p:cNvSpPr>
          <p:nvPr/>
        </p:nvSpPr>
        <p:spPr>
          <a:xfrm xmlns:a="http://schemas.openxmlformats.org/drawingml/2006/main">
            <a:off x="457200" y="6191250"/>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425" b="0">
                <a:solidFill>
                  <a:srgbClr val="777777"/>
                </a:solidFill>
                <a:latin typeface="Times New Roman"/>
                <a:ea typeface="Times New Roman"/>
                <a:cs typeface="Times New Roman"/>
              </a:defRPr>
            </a:defPPr>
          </a:lstStyle>
          <a:p xmlns:a="http://schemas.openxmlformats.org/drawingml/2006/main">
            <a:pPr algn="l">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Allowed error: 4%. Schematic positions. The link describes averages across repeated runs.</a:t>
            </a:r>
          </a:p>
        </p:txBody>
      </p:sp>
      <p:sp>
        <p:nvSpPr>
          <p:cNvPr id="41" name="Rectangle 40">
            <a:extLst xmlns:a="http://schemas.openxmlformats.org/drawingml/2006/main">
              <a:ext uri="{FF2B5EF4-FFF2-40B4-BE49-F238E27FC236}">
                <a16:creationId xmlns:a16="http://schemas.microsoft.com/office/drawing/2014/main" id="{72B33178-FBED-4B95-AC40-7C6C81162659}"/>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200" b="0">
                <a:solidFill>
                  <a:srgbClr val="777777"/>
                </a:solidFill>
                <a:latin typeface="Times New Roman"/>
                <a:ea typeface="Times New Roman"/>
                <a:cs typeface="Times New Roman"/>
              </a:defRPr>
            </a:defPPr>
          </a:lstStyle>
          <a:p xmlns:a="http://schemas.openxmlformats.org/drawingml/2006/main">
            <a:pPr algn="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10</a:t>
            </a:r>
          </a:p>
        </p:txBody>
      </p:sp>
    </p:spTree>
    <p:extLst>
      <p:ext uri="{BB962C8B-B14F-4D97-AF65-F5344CB8AC3E}">
        <p14:creationId xmlns:p14="http://schemas.microsoft.com/office/powerpoint/2010/main" val="78789864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10E50B44-48E6-416C-9860-3C03878314C7}"/>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Conclusions</a:t>
            </a:r>
          </a:p>
        </p:txBody>
      </p:sp>
      <p:sp>
        <p:nvSpPr>
          <p:cNvPr id="2" name="Rectangle 1">
            <a:extLst xmlns:a="http://schemas.openxmlformats.org/drawingml/2006/main">
              <a:ext uri="{FF2B5EF4-FFF2-40B4-BE49-F238E27FC236}">
                <a16:creationId xmlns:a16="http://schemas.microsoft.com/office/drawing/2014/main" id="{9AFB84F0-75DD-4F99-9444-0BF9DFCD2BEB}"/>
              </a:ext>
            </a:extLst>
          </p:cNvPr>
          <p:cNvSpPr>
            <a:spLocks xmlns:a="http://schemas.openxmlformats.org/drawingml/2006/main" noGrp="1"/>
          </p:cNvSpPr>
          <p:nvPr/>
        </p:nvSpPr>
        <p:spPr>
          <a:xfrm xmlns:a="http://schemas.openxmlformats.org/drawingml/2006/main">
            <a:off x="609600" y="16097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A good fit can hide the wrong physical model</a:t>
            </a:r>
          </a:p>
        </p:txBody>
      </p:sp>
      <p:sp>
        <p:nvSpPr>
          <p:cNvPr id="3" name="Rectangle 2">
            <a:extLst xmlns:a="http://schemas.openxmlformats.org/drawingml/2006/main">
              <a:ext uri="{FF2B5EF4-FFF2-40B4-BE49-F238E27FC236}">
                <a16:creationId xmlns:a16="http://schemas.microsoft.com/office/drawing/2014/main" id="{0B2C7386-EAD4-4C99-88E7-41B295B555FC}"/>
              </a:ext>
            </a:extLst>
          </p:cNvPr>
          <p:cNvSpPr>
            <a:spLocks xmlns:a="http://schemas.openxmlformats.org/drawingml/2006/main" noGrp="1"/>
          </p:cNvSpPr>
          <p:nvPr/>
        </p:nvSpPr>
        <p:spPr>
          <a:xfrm xmlns:a="http://schemas.openxmlformats.org/drawingml/2006/main">
            <a:off x="609600" y="2219325"/>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The bead example fits the data but gets the link between two times wrong.</a:t>
            </a:r>
          </a:p>
        </p:txBody>
      </p:sp>
      <p:sp>
        <p:nvSpPr>
          <p:cNvPr id="4" name="Rectangle 3">
            <a:extLst xmlns:a="http://schemas.openxmlformats.org/drawingml/2006/main">
              <a:ext uri="{FF2B5EF4-FFF2-40B4-BE49-F238E27FC236}">
                <a16:creationId xmlns:a16="http://schemas.microsoft.com/office/drawing/2014/main" id="{6ACA5743-0522-4422-A526-56BBA71F09D6}"/>
              </a:ext>
            </a:extLst>
          </p:cNvPr>
          <p:cNvSpPr>
            <a:spLocks xmlns:a="http://schemas.openxmlformats.org/drawingml/2006/main" noGrp="1"/>
          </p:cNvSpPr>
          <p:nvPr/>
        </p:nvSpPr>
        <p:spPr>
          <a:xfrm xmlns:a="http://schemas.openxmlformats.org/drawingml/2006/main">
            <a:off x="609600" y="3257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Cost, reasoning effort, and completion all matter</a:t>
            </a:r>
          </a:p>
        </p:txBody>
      </p:sp>
      <p:sp>
        <p:nvSpPr>
          <p:cNvPr id="5" name="Rectangle 4">
            <a:extLst xmlns:a="http://schemas.openxmlformats.org/drawingml/2006/main">
              <a:ext uri="{FF2B5EF4-FFF2-40B4-BE49-F238E27FC236}">
                <a16:creationId xmlns:a16="http://schemas.microsoft.com/office/drawing/2014/main" id="{2B6D1906-A7F2-4178-AA65-A670BAAA2EE4}"/>
              </a:ext>
            </a:extLst>
          </p:cNvPr>
          <p:cNvSpPr>
            <a:spLocks xmlns:a="http://schemas.openxmlformats.org/drawingml/2006/main" noGrp="1"/>
          </p:cNvSpPr>
          <p:nvPr/>
        </p:nvSpPr>
        <p:spPr>
          <a:xfrm xmlns:a="http://schemas.openxmlformats.org/drawingml/2006/main">
            <a:off x="609600" y="3867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Sol 6 Low and High reach the high-success end of the observed no-hint frontier.</a:t>
            </a:r>
          </a:p>
        </p:txBody>
      </p:sp>
      <p:sp>
        <p:nvSpPr>
          <p:cNvPr id="6" name="Rectangle 5">
            <a:extLst xmlns:a="http://schemas.openxmlformats.org/drawingml/2006/main">
              <a:ext uri="{FF2B5EF4-FFF2-40B4-BE49-F238E27FC236}">
                <a16:creationId xmlns:a16="http://schemas.microsoft.com/office/drawing/2014/main" id="{5D605833-9C79-493D-84E5-16F6E9A05EBF}"/>
              </a:ext>
            </a:extLst>
          </p:cNvPr>
          <p:cNvSpPr>
            <a:spLocks xmlns:a="http://schemas.openxmlformats.org/drawingml/2006/main" noGrp="1"/>
          </p:cNvSpPr>
          <p:nvPr/>
        </p:nvSpPr>
        <p:spPr>
          <a:xfrm xmlns:a="http://schemas.openxmlformats.org/drawingml/2006/main">
            <a:off x="609600" y="490537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Physics hints improve observed Luna success</a:t>
            </a:r>
          </a:p>
        </p:txBody>
      </p:sp>
      <p:sp>
        <p:nvSpPr>
          <p:cNvPr id="7" name="Rectangle 6">
            <a:extLst xmlns:a="http://schemas.openxmlformats.org/drawingml/2006/main">
              <a:ext uri="{FF2B5EF4-FFF2-40B4-BE49-F238E27FC236}">
                <a16:creationId xmlns:a16="http://schemas.microsoft.com/office/drawing/2014/main" id="{4FB740C6-2A78-43B4-94E0-F1DA4CC2609E}"/>
              </a:ext>
            </a:extLst>
          </p:cNvPr>
          <p:cNvSpPr>
            <a:spLocks xmlns:a="http://schemas.openxmlformats.org/drawingml/2006/main" noGrp="1"/>
          </p:cNvSpPr>
          <p:nvPr/>
        </p:nvSpPr>
        <p:spPr>
          <a:xfrm xmlns:a="http://schemas.openxmlformats.org/drawingml/2006/main">
            <a:off x="609600" y="5514975"/>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At High: 4/39 without hints, 18/39 with general hints, 30/39 with physics hints.</a:t>
            </a:r>
          </a:p>
        </p:txBody>
      </p:sp>
      <p:sp>
        <p:nvSpPr>
          <p:cNvPr id="10" name="Rectangle 9">
            <a:extLst xmlns:a="http://schemas.openxmlformats.org/drawingml/2006/main">
              <a:ext uri="{FF2B5EF4-FFF2-40B4-BE49-F238E27FC236}">
                <a16:creationId xmlns:a16="http://schemas.microsoft.com/office/drawing/2014/main" id="{CE164575-2928-4D3E-956F-8803F36A47D9}"/>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11</a:t>
            </a:r>
          </a:p>
        </p:txBody>
      </p:sp>
      <p:sp>
        <p:nvSpPr>
          <p:cNvPr id="11" name="">
            <a:extLst xmlns:a="http://schemas.openxmlformats.org/drawingml/2006/main">
              <a:ext uri="{FF2B5EF4-FFF2-40B4-BE49-F238E27FC236}">
                <a16:creationId xmlns:a16="http://schemas.microsoft.com/office/drawing/2014/main" id="{E2E9581D-4F91-4E69-95AB-5DE8D8167A5A}"/>
              </a:ext>
            </a:extLst>
          </p:cNvPr>
          <p:cNvSpPr>
            <a:spLocks xmlns:a="http://schemas.openxmlformats.org/drawingml/2006/main" noGrp="1"/>
          </p:cNvSpPr>
          <p:nvPr/>
        </p:nvSpPr>
        <p:spPr>
          <a:xfrm xmlns:a="http://schemas.openxmlformats.org/drawingml/2006/main">
            <a:off x="609600" y="611505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777777"/>
                </a:solidFill>
                <a:latin typeface="Times New Roman"/>
                <a:ea typeface="Times New Roman"/>
                <a:cs typeface="Times New Roman"/>
              </a:defRPr>
            </a:defPPr>
          </a:lstStyle>
          <a:p xmlns:a="http://schemas.openxmlformats.org/drawingml/2006/main">
            <a:pPr>
              <a:defRPr sz="1575" b="0">
                <a:solidFill>
                  <a:srgbClr val="777777"/>
                </a:solidFill>
                <a:latin typeface="Times New Roman"/>
                <a:ea typeface="Times New Roman"/>
                <a:cs typeface="Times New Roman"/>
              </a:defRPr>
            </a:pPr>
            <a:r>
              <a:rPr sz="1575" b="0">
                <a:solidFill>
                  <a:srgbClr val="777777"/>
                </a:solidFill>
                <a:latin typeface="Times New Roman"/>
                <a:ea typeface="Times New Roman"/>
                <a:cs typeface="Times New Roman"/>
              </a:rPr>
              <a:t>Completed collaborator study. The separate local High-effort comparison is still running.</a:t>
            </a:r>
          </a:p>
        </p:txBody>
      </p:sp>
    </p:spTree>
    <p:extLst>
      <p:ext uri="{BB962C8B-B14F-4D97-AF65-F5344CB8AC3E}">
        <p14:creationId xmlns:p14="http://schemas.microsoft.com/office/powerpoint/2010/main" val="549842823"/>
      </p:ext>
    </p:extLst>
  </p:cSld>
</p:sld>
</file>

<file path=ppt/slides/slide12.xml><?xml version="1.0" encoding="utf-8"?>
<p:sld xmlns:p="http://schemas.openxmlformats.org/presentationml/2006/main">
  <p:cSld>
    <p:bg>
      <p:bgPr>
        <a:solidFill xmlns:a="http://schemas.openxmlformats.org/drawingml/2006/main">
          <a:srgbClr val="0B0B0F"/>
        </a:solidFill>
      </p:bgPr>
    </p:bg>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29447901-9249-469C-A67F-257239997CC0}"/>
              </a:ext>
            </a:extLst>
          </p:cNvPr>
          <p:cNvSpPr>
            <a:spLocks xmlns:a="http://schemas.openxmlformats.org/drawingml/2006/main" noGrp="1"/>
          </p:cNvSpPr>
          <p:nvPr/>
        </p:nvSpPr>
        <p:spPr>
          <a:xfrm xmlns:a="http://schemas.openxmlformats.org/drawingml/2006/main">
            <a:off x="609600" y="23336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700" b="1" i="0">
                <a:solidFill>
                  <a:srgbClr val="FFFFFF"/>
                </a:solidFill>
                <a:latin typeface="Times New Roman"/>
                <a:ea typeface="Times New Roman"/>
                <a:cs typeface="Times New Roman"/>
              </a:defRPr>
            </a:defPPr>
          </a:lstStyle>
          <a:p xmlns:a="http://schemas.openxmlformats.org/drawingml/2006/main">
            <a:pPr algn="l">
              <a:buNone/>
              <a:defRPr sz="5700" b="1" i="0">
                <a:solidFill>
                  <a:srgbClr val="FFFFFF"/>
                </a:solidFill>
                <a:latin typeface="Times New Roman"/>
                <a:ea typeface="Times New Roman"/>
                <a:cs typeface="Times New Roman"/>
              </a:defRPr>
            </a:pPr>
            <a:r>
              <a:rPr sz="5700" b="1" i="0">
                <a:solidFill>
                  <a:srgbClr val="FFFFFF"/>
                </a:solidFill>
                <a:latin typeface="Times New Roman"/>
                <a:ea typeface="Times New Roman"/>
                <a:cs typeface="Times New Roman"/>
              </a:rPr>
              <a:t>Questions</a:t>
            </a:r>
          </a:p>
        </p:txBody>
      </p:sp>
      <p:sp>
        <p:nvSpPr>
          <p:cNvPr id="2" name="Rectangle 1">
            <a:extLst xmlns:a="http://schemas.openxmlformats.org/drawingml/2006/main">
              <a:ext uri="{FF2B5EF4-FFF2-40B4-BE49-F238E27FC236}">
                <a16:creationId xmlns:a16="http://schemas.microsoft.com/office/drawing/2014/main" id="{2AE705A4-0FC6-405B-B3A2-4281C7C3DE5F}"/>
              </a:ext>
            </a:extLst>
          </p:cNvPr>
          <p:cNvSpPr>
            <a:spLocks xmlns:a="http://schemas.openxmlformats.org/drawingml/2006/main" noGrp="1"/>
          </p:cNvSpPr>
          <p:nvPr/>
        </p:nvSpPr>
        <p:spPr>
          <a:xfrm xmlns:a="http://schemas.openxmlformats.org/drawingml/2006/main">
            <a:off x="609600" y="3667125"/>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00" b="0" i="0">
                <a:solidFill>
                  <a:srgbClr val="D1D5DB"/>
                </a:solidFill>
                <a:latin typeface="Times New Roman"/>
                <a:ea typeface="Times New Roman"/>
                <a:cs typeface="Times New Roman"/>
              </a:defRPr>
            </a:defPPr>
          </a:lstStyle>
          <a:p xmlns:a="http://schemas.openxmlformats.org/drawingml/2006/main">
            <a:pPr algn="l">
              <a:buNone/>
              <a:defRPr sz="2400" b="0" i="0">
                <a:solidFill>
                  <a:srgbClr val="D1D5DB"/>
                </a:solidFill>
                <a:latin typeface="Times New Roman"/>
                <a:ea typeface="Times New Roman"/>
                <a:cs typeface="Times New Roman"/>
              </a:defRPr>
            </a:pPr>
            <a:r>
              <a:rPr sz="2400" b="0" i="0">
                <a:solidFill>
                  <a:srgbClr val="D1D5DB"/>
                </a:solidFill>
                <a:latin typeface="Times New Roman"/>
                <a:ea typeface="Times New Roman"/>
                <a:cs typeface="Times New Roman"/>
              </a:rPr>
              <a:t>3 minutes</a:t>
            </a:r>
          </a:p>
        </p:txBody>
      </p:sp>
    </p:spTree>
    <p:extLst>
      <p:ext uri="{BB962C8B-B14F-4D97-AF65-F5344CB8AC3E}">
        <p14:creationId xmlns:p14="http://schemas.microsoft.com/office/powerpoint/2010/main" val="4715999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8547441D-9E7C-446E-9907-F2E07DAC68B8}"/>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all complete no-hint settings</a:t>
            </a:r>
          </a:p>
        </p:txBody>
      </p:sp>
      <p:sp>
        <p:nvSpPr>
          <p:cNvPr id="2" name="Rectangle 1">
            <a:extLst xmlns:a="http://schemas.openxmlformats.org/drawingml/2006/main">
              <a:ext uri="{FF2B5EF4-FFF2-40B4-BE49-F238E27FC236}">
                <a16:creationId xmlns:a16="http://schemas.microsoft.com/office/drawing/2014/main" id="{615984E6-F9CE-4148-9384-268D33D7F223}"/>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Original sweep only. Costs are estimated USD per attempt.</a:t>
            </a:r>
          </a:p>
        </p:txBody>
      </p:sp>
      <p:graphicFrame>
        <p:nvGraphicFramePr>
          <p:cNvPr id="4" name="Table 3">
            <a:extLst xmlns:a="http://schemas.openxmlformats.org/drawingml/2006/main">
              <a:ext uri="{FF2B5EF4-FFF2-40B4-BE49-F238E27FC236}">
                <a16:creationId xmlns:a16="http://schemas.microsoft.com/office/drawing/2014/main" id="{F7BBF7C2-27BC-490D-ABDF-5EDB3B967B4B}"/>
              </a:ext>
            </a:extLst>
          </p:cNvPr>
          <p:cNvGraphicFramePr/>
          <p:nvPr/>
        </p:nvGraphicFramePr>
        <p:xfrm>
          <a:off xmlns:a="http://schemas.openxmlformats.org/drawingml/2006/main" x="457200" y="1533525"/>
          <a:ext xmlns:a="http://schemas.openxmlformats.org/drawingml/2006/main" cx="11277600" cy="4267200"/>
        </p:xfrm>
        <a:graphic xmlns:a="http://schemas.openxmlformats.org/drawingml/2006/main">
          <a:graphicData uri="http://schemas.openxmlformats.org/drawingml/2006/table">
            <a:tbl>
              <a:tblPr/>
              <a:tblGrid>
                <a:gridCol w="3483657"/>
                <a:gridCol w="2066576"/>
                <a:gridCol w="1377717"/>
                <a:gridCol w="2332279"/>
                <a:gridCol w="2017372"/>
              </a:tblGrid>
              <a:tr h="266700">
                <a:tc>
                  <a:txBody>
                    <a:bodyPr/>
                    <a:lstStyle/>
                    <a:p>
                      <a:r>
                        <a:rPr sz="1500" b="1">
                          <a:solidFill>
                            <a:srgbClr val="FFFFFF"/>
                          </a:solidFill>
                          <a:latin typeface="Times New Roman"/>
                          <a:ea typeface="Times New Roman"/>
                          <a:cs typeface="Times New Roman"/>
                        </a:rPr>
                        <a:t>Model</a:t>
                      </a:r>
                    </a:p>
                  </a:txBody>
                  <a:tcPr marL="114300" marR="114300" marT="19050" marB="19050"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00" b="1">
                          <a:solidFill>
                            <a:srgbClr val="FFFFFF"/>
                          </a:solidFill>
                          <a:latin typeface="Times New Roman"/>
                          <a:ea typeface="Times New Roman"/>
                          <a:cs typeface="Times New Roman"/>
                        </a:rPr>
                        <a:t>Effort</a:t>
                      </a:r>
                    </a:p>
                  </a:txBody>
                  <a:tcPr marL="114300" marR="114300" marT="19050" marB="19050"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00" b="1">
                          <a:solidFill>
                            <a:srgbClr val="FFFFFF"/>
                          </a:solidFill>
                          <a:latin typeface="Times New Roman"/>
                          <a:ea typeface="Times New Roman"/>
                          <a:cs typeface="Times New Roman"/>
                        </a:rPr>
                        <a:t>Passes</a:t>
                      </a:r>
                    </a:p>
                  </a:txBody>
                  <a:tcPr marL="114300" marR="114300" marT="19050" marB="19050"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00" b="1">
                          <a:solidFill>
                            <a:srgbClr val="FFFFFF"/>
                          </a:solidFill>
                          <a:latin typeface="Times New Roman"/>
                          <a:ea typeface="Times New Roman"/>
                          <a:cs typeface="Times New Roman"/>
                        </a:rPr>
                        <a:t>Execution errors</a:t>
                      </a:r>
                    </a:p>
                  </a:txBody>
                  <a:tcPr marL="114300" marR="114300" marT="19050" marB="19050"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00" b="1">
                          <a:solidFill>
                            <a:srgbClr val="FFFFFF"/>
                          </a:solidFill>
                          <a:latin typeface="Times New Roman"/>
                          <a:ea typeface="Times New Roman"/>
                          <a:cs typeface="Times New Roman"/>
                        </a:rPr>
                        <a:t>Mean cost</a:t>
                      </a:r>
                    </a:p>
                  </a:txBody>
                  <a:tcPr marL="114300" marR="114300" marT="19050" marB="19050"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266700">
                <a:tc>
                  <a:txBody>
                    <a:bodyPr/>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4/39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$0.0040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266700">
                <a:tc>
                  <a:txBody>
                    <a:bodyPr/>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1/39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$0.0052</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r h="266700">
                <a:tc>
                  <a:txBody>
                    <a:bodyPr/>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Extra 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12/39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4</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$0.0126</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266700">
                <a:tc>
                  <a:txBody>
                    <a:bodyPr/>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37/39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$0.0773</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r h="266700">
                <a:tc>
                  <a:txBody>
                    <a:bodyPr/>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39/39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$0.1975</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266700">
                <a:tc>
                  <a:txBody>
                    <a:bodyPr/>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Extra 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$0.2306</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r h="266700">
                <a:tc>
                  <a:txBody>
                    <a:bodyPr/>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4/39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$0.1107</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266700">
                <a:tc>
                  <a:txBody>
                    <a:bodyPr/>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$0.1942</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r h="266700">
                <a:tc>
                  <a:txBody>
                    <a:bodyPr/>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Extra 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19/39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4</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$0.3196</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266700">
                <a:tc>
                  <a:txBody>
                    <a:bodyPr/>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$0.4450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r h="266700">
                <a:tc>
                  <a:txBody>
                    <a:bodyPr/>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39/39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$0.7132</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266700">
                <a:tc>
                  <a:txBody>
                    <a:bodyPr/>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Extra 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37/39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2</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$1.0801</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r h="266700">
                <a:tc>
                  <a:txBody>
                    <a:bodyPr/>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34</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 $0.1500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266700">
                <a:tc>
                  <a:txBody>
                    <a:bodyPr/>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33</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 $0.0995</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r h="266700">
                <a:tc>
                  <a:txBody>
                    <a:bodyPr/>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Max</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38</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 $0.2450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bl>
          </a:graphicData>
        </a:graphic>
      </p:graphicFrame>
      <p:sp>
        <p:nvSpPr>
          <p:cNvPr id="5" name="Rectangle 4">
            <a:extLst xmlns:a="http://schemas.openxmlformats.org/drawingml/2006/main">
              <a:ext uri="{FF2B5EF4-FFF2-40B4-BE49-F238E27FC236}">
                <a16:creationId xmlns:a16="http://schemas.microsoft.com/office/drawing/2014/main" id="{C770164C-450E-4724-BF61-A374BD500079}"/>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DeepSeek None is partial at 3/39 and excluded. API-equivalent estimates differ from subscription usage.</a:t>
            </a:r>
          </a:p>
        </p:txBody>
      </p:sp>
      <p:sp>
        <p:nvSpPr>
          <p:cNvPr id="7" name="Rectangle 6">
            <a:extLst xmlns:a="http://schemas.openxmlformats.org/drawingml/2006/main">
              <a:ext uri="{FF2B5EF4-FFF2-40B4-BE49-F238E27FC236}">
                <a16:creationId xmlns:a16="http://schemas.microsoft.com/office/drawing/2014/main" id="{535A85E1-E730-4726-A620-C0DA6E491EF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13</a:t>
            </a:r>
          </a:p>
        </p:txBody>
      </p:sp>
    </p:spTree>
    <p:extLst>
      <p:ext uri="{BB962C8B-B14F-4D97-AF65-F5344CB8AC3E}">
        <p14:creationId xmlns:p14="http://schemas.microsoft.com/office/powerpoint/2010/main" val="18609724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D56EB8-9B73-4EF4-B875-606990671540}"/>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completed collaborator hint study</a:t>
            </a:r>
          </a:p>
        </p:txBody>
      </p:sp>
      <p:sp>
        <p:nvSpPr>
          <p:cNvPr id="2" name="">
            <a:extLst xmlns:a="http://schemas.openxmlformats.org/drawingml/2006/main">
              <a:ext uri="{FF2B5EF4-FFF2-40B4-BE49-F238E27FC236}">
                <a16:creationId xmlns:a16="http://schemas.microsoft.com/office/drawing/2014/main" id="{172BC6A5-71C1-4DD1-A80B-DE3C1FE6A9D6}"/>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Each cell shows passes / 39, with execution errors in parentheses. All models are GPT-5.6.</a:t>
            </a:r>
          </a:p>
        </p:txBody>
      </p:sp>
      <p:sp>
        <p:nvSpPr>
          <p:cNvPr id="3" name="">
            <a:extLst xmlns:a="http://schemas.openxmlformats.org/drawingml/2006/main">
              <a:ext uri="{FF2B5EF4-FFF2-40B4-BE49-F238E27FC236}">
                <a16:creationId xmlns:a16="http://schemas.microsoft.com/office/drawing/2014/main" id="{CCC7BB63-39B6-4F0A-973E-ECCFD0363378}"/>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14</a:t>
            </a:r>
          </a:p>
        </p:txBody>
      </p:sp>
      <p:graphicFrame>
        <p:nvGraphicFramePr>
          <p:cNvPr id="4" name="">
            <a:extLst xmlns:a="http://schemas.openxmlformats.org/drawingml/2006/main">
              <a:ext uri="{FF2B5EF4-FFF2-40B4-BE49-F238E27FC236}">
                <a16:creationId xmlns:a16="http://schemas.microsoft.com/office/drawing/2014/main" id="{5D500F74-64A4-45EB-AE91-9FE33E6CD685}"/>
              </a:ext>
            </a:extLst>
          </p:cNvPr>
          <p:cNvGraphicFramePr/>
          <p:nvPr/>
        </p:nvGraphicFramePr>
        <p:xfrm>
          <a:off xmlns:a="http://schemas.openxmlformats.org/drawingml/2006/main" x="457200" y="1609725"/>
          <a:ext xmlns:a="http://schemas.openxmlformats.org/drawingml/2006/main" cx="11277600" cy="4143375"/>
        </p:xfrm>
        <a:graphic xmlns:a="http://schemas.openxmlformats.org/drawingml/2006/main">
          <a:graphicData uri="http://schemas.openxmlformats.org/drawingml/2006/table">
            <a:tbl>
              <a:tblPr/>
              <a:tblGrid>
                <a:gridCol w="2000250"/>
                <a:gridCol w="2238375"/>
                <a:gridCol w="2333625"/>
                <a:gridCol w="2352675"/>
                <a:gridCol w="2352675"/>
              </a:tblGrid>
              <a:tr h="376670">
                <a:tc>
                  <a:txBody>
                    <a:bodyPr lIns="95250" tIns="95250" rIns="95250" bIns="95250"/>
                    <a:lstStyle/>
                    <a:p>
                      <a:r>
                        <a:rPr sz="1725" b="1">
                          <a:solidFill>
                            <a:srgbClr val="FFFFFF"/>
                          </a:solidFill>
                          <a:latin typeface="Times New Roman"/>
                          <a:ea typeface="Times New Roman"/>
                          <a:cs typeface="Times New Roman"/>
                        </a:rPr>
                        <a:t>Model</a:t>
                      </a:r>
                    </a:p>
                  </a:txBody>
                  <a:tcPr marL="91440" marR="91440" marT="45720" marB="45720">
                    <a:lnL w="6668">
                      <a:solidFill>
                        <a:srgbClr val="D1D5DB"/>
                      </a:solidFill>
                      <a:prstDash val="soli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lIns="95250" tIns="95250" rIns="95250" bIns="95250"/>
                    <a:lstStyle/>
                    <a:p>
                      <a:r>
                        <a:rPr sz="1725" b="1">
                          <a:solidFill>
                            <a:srgbClr val="FFFFFF"/>
                          </a:solidFill>
                          <a:latin typeface="Times New Roman"/>
                          <a:ea typeface="Times New Roman"/>
                          <a:cs typeface="Times New Roman"/>
                        </a:rPr>
                        <a:t>Effort</a:t>
                      </a:r>
                    </a:p>
                  </a:txBody>
                  <a:tcPr marL="91440" marR="91440" marT="45720" marB="45720">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lIns="95250" tIns="95250" rIns="95250" bIns="95250"/>
                    <a:lstStyle/>
                    <a:p>
                      <a:r>
                        <a:rPr sz="1725" b="1">
                          <a:solidFill>
                            <a:srgbClr val="FFFFFF"/>
                          </a:solidFill>
                          <a:latin typeface="Times New Roman"/>
                          <a:ea typeface="Times New Roman"/>
                          <a:cs typeface="Times New Roman"/>
                        </a:rPr>
                        <a:t>No hint</a:t>
                      </a:r>
                    </a:p>
                  </a:txBody>
                  <a:tcPr marL="91440" marR="91440" marT="45720" marB="45720">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lIns="95250" tIns="95250" rIns="95250" bIns="95250"/>
                    <a:lstStyle/>
                    <a:p>
                      <a:r>
                        <a:rPr sz="1725" b="1">
                          <a:solidFill>
                            <a:srgbClr val="FFFFFF"/>
                          </a:solidFill>
                          <a:latin typeface="Times New Roman"/>
                          <a:ea typeface="Times New Roman"/>
                          <a:cs typeface="Times New Roman"/>
                        </a:rPr>
                        <a:t>General hint</a:t>
                      </a:r>
                    </a:p>
                  </a:txBody>
                  <a:tcPr marL="91440" marR="91440" marT="45720" marB="45720">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lIns="95250" tIns="95250" rIns="95250" bIns="95250"/>
                    <a:lstStyle/>
                    <a:p>
                      <a:r>
                        <a:rPr sz="1725" b="1">
                          <a:solidFill>
                            <a:srgbClr val="FFFFFF"/>
                          </a:solidFill>
                          <a:latin typeface="Times New Roman"/>
                          <a:ea typeface="Times New Roman"/>
                          <a:cs typeface="Times New Roman"/>
                        </a:rPr>
                        <a:t>Physics hint</a:t>
                      </a:r>
                    </a:p>
                  </a:txBody>
                  <a:tcPr marL="91440" marR="91440" marT="45720" marB="45720">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r>
              <a:tr h="376670">
                <a:tc>
                  <a:txBody>
                    <a:bodyPr lIns="95250" tIns="95250" rIns="95250" bIns="95250"/>
                    <a:lstStyle/>
                    <a:p>
                      <a:r>
                        <a:rPr sz="1725" b="0">
                          <a:solidFill>
                            <a:srgbClr val="111111"/>
                          </a:solidFill>
                          <a:latin typeface="Times New Roman"/>
                          <a:ea typeface="Times New Roman"/>
                          <a:cs typeface="Times New Roman"/>
                        </a:rPr>
                        <a:t>Luna</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None</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1/39 (0)</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1/39 (0)</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3/39 (2)</a:t>
                      </a:r>
                    </a:p>
                  </a:txBody>
                  <a:tcPr marL="91440" marR="91440" marT="45720" marB="45720">
                    <a:lnR w="6668">
                      <a:solidFill>
                        <a:srgbClr val="D1D5DB"/>
                      </a:solidFill>
                      <a:prstDash val="solid"/>
                    </a:lnR>
                    <a:lnB w="6668">
                      <a:solidFill>
                        <a:srgbClr val="D1D5DB"/>
                      </a:solidFill>
                      <a:prstDash val="solid"/>
                    </a:lnB>
                    <a:solidFill>
                      <a:srgbClr val="FFFFFF"/>
                    </a:solidFill>
                  </a:tcPr>
                </a:tc>
              </a:tr>
              <a:tr h="376670">
                <a:tc>
                  <a:txBody>
                    <a:bodyPr lIns="95250" tIns="95250" rIns="95250" bIns="95250"/>
                    <a:lstStyle/>
                    <a:p>
                      <a:r>
                        <a:rPr sz="1725" b="0">
                          <a:solidFill>
                            <a:srgbClr val="111111"/>
                          </a:solidFill>
                          <a:latin typeface="Times New Roman"/>
                          <a:ea typeface="Times New Roman"/>
                          <a:cs typeface="Times New Roman"/>
                        </a:rPr>
                        <a:t>Luna</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Low</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0/39 (0)</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0/39 (0)</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8/39 (0)</a:t>
                      </a:r>
                    </a:p>
                  </a:txBody>
                  <a:tcPr marL="91440" marR="91440" marT="45720" marB="45720">
                    <a:lnR w="6668">
                      <a:solidFill>
                        <a:srgbClr val="D1D5DB"/>
                      </a:solidFill>
                      <a:prstDash val="solid"/>
                    </a:lnR>
                    <a:lnB w="6668">
                      <a:solidFill>
                        <a:srgbClr val="D1D5DB"/>
                      </a:solidFill>
                      <a:prstDash val="solid"/>
                    </a:lnB>
                    <a:solidFill>
                      <a:srgbClr val="F3F4F6"/>
                    </a:solidFill>
                  </a:tcPr>
                </a:tc>
              </a:tr>
              <a:tr h="376670">
                <a:tc>
                  <a:txBody>
                    <a:bodyPr lIns="95250" tIns="95250" rIns="95250" bIns="95250"/>
                    <a:lstStyle/>
                    <a:p>
                      <a:r>
                        <a:rPr sz="1725" b="0">
                          <a:solidFill>
                            <a:srgbClr val="111111"/>
                          </a:solidFill>
                          <a:latin typeface="Times New Roman"/>
                          <a:ea typeface="Times New Roman"/>
                          <a:cs typeface="Times New Roman"/>
                        </a:rPr>
                        <a:t>Luna</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Medium</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0/39 (0)</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9/39 (0)</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16/39 (1)</a:t>
                      </a:r>
                    </a:p>
                  </a:txBody>
                  <a:tcPr marL="91440" marR="91440" marT="45720" marB="45720">
                    <a:lnR w="6668">
                      <a:solidFill>
                        <a:srgbClr val="D1D5DB"/>
                      </a:solidFill>
                      <a:prstDash val="solid"/>
                    </a:lnR>
                    <a:lnB w="6668">
                      <a:solidFill>
                        <a:srgbClr val="D1D5DB"/>
                      </a:solidFill>
                      <a:prstDash val="solid"/>
                    </a:lnB>
                    <a:solidFill>
                      <a:srgbClr val="FFFFFF"/>
                    </a:solidFill>
                  </a:tcPr>
                </a:tc>
              </a:tr>
              <a:tr h="376670">
                <a:tc>
                  <a:txBody>
                    <a:bodyPr lIns="95250" tIns="95250" rIns="95250" bIns="95250"/>
                    <a:lstStyle/>
                    <a:p>
                      <a:r>
                        <a:rPr sz="1725" b="0">
                          <a:solidFill>
                            <a:srgbClr val="111111"/>
                          </a:solidFill>
                          <a:latin typeface="Times New Roman"/>
                          <a:ea typeface="Times New Roman"/>
                          <a:cs typeface="Times New Roman"/>
                        </a:rPr>
                        <a:t>Luna</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High</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4/39 (1)</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18/39 (3)</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30/39 (0)</a:t>
                      </a:r>
                    </a:p>
                  </a:txBody>
                  <a:tcPr marL="91440" marR="91440" marT="45720" marB="45720">
                    <a:lnR w="6668">
                      <a:solidFill>
                        <a:srgbClr val="D1D5DB"/>
                      </a:solidFill>
                      <a:prstDash val="solid"/>
                    </a:lnR>
                    <a:lnB w="6668">
                      <a:solidFill>
                        <a:srgbClr val="D1D5DB"/>
                      </a:solidFill>
                      <a:prstDash val="solid"/>
                    </a:lnB>
                    <a:solidFill>
                      <a:srgbClr val="F3F4F6"/>
                    </a:solidFill>
                  </a:tcPr>
                </a:tc>
              </a:tr>
              <a:tr h="376670">
                <a:tc>
                  <a:txBody>
                    <a:bodyPr lIns="95250" tIns="95250" rIns="95250" bIns="95250"/>
                    <a:lstStyle/>
                    <a:p>
                      <a:r>
                        <a:rPr sz="1725" b="0">
                          <a:solidFill>
                            <a:srgbClr val="111111"/>
                          </a:solidFill>
                          <a:latin typeface="Times New Roman"/>
                          <a:ea typeface="Times New Roman"/>
                          <a:cs typeface="Times New Roman"/>
                        </a:rPr>
                        <a:t>Luna</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Extra High</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6/39 (1)</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22/39 (3)</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33/39 (1)</a:t>
                      </a:r>
                    </a:p>
                  </a:txBody>
                  <a:tcPr marL="91440" marR="91440" marT="45720" marB="45720">
                    <a:lnR w="6668">
                      <a:solidFill>
                        <a:srgbClr val="D1D5DB"/>
                      </a:solidFill>
                      <a:prstDash val="solid"/>
                    </a:lnR>
                    <a:lnB w="6668">
                      <a:solidFill>
                        <a:srgbClr val="D1D5DB"/>
                      </a:solidFill>
                      <a:prstDash val="solid"/>
                    </a:lnB>
                    <a:solidFill>
                      <a:srgbClr val="FFFFFF"/>
                    </a:solidFill>
                  </a:tcPr>
                </a:tc>
              </a:tr>
              <a:tr h="376670">
                <a:tc>
                  <a:txBody>
                    <a:bodyPr lIns="95250" tIns="95250" rIns="95250" bIns="95250"/>
                    <a:lstStyle/>
                    <a:p>
                      <a:r>
                        <a:rPr sz="1725" b="0">
                          <a:solidFill>
                            <a:srgbClr val="111111"/>
                          </a:solidFill>
                          <a:latin typeface="Times New Roman"/>
                          <a:ea typeface="Times New Roman"/>
                          <a:cs typeface="Times New Roman"/>
                        </a:rPr>
                        <a:t>Luna</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Max</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8/39 (0)</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27/39 (5)</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35/39 (3)</a:t>
                      </a:r>
                    </a:p>
                  </a:txBody>
                  <a:tcPr marL="91440" marR="91440" marT="45720" marB="45720">
                    <a:lnR w="6668">
                      <a:solidFill>
                        <a:srgbClr val="D1D5DB"/>
                      </a:solidFill>
                      <a:prstDash val="solid"/>
                    </a:lnR>
                    <a:lnB w="6668">
                      <a:solidFill>
                        <a:srgbClr val="D1D5DB"/>
                      </a:solidFill>
                      <a:prstDash val="solid"/>
                    </a:lnB>
                    <a:solidFill>
                      <a:srgbClr val="F3F4F6"/>
                    </a:solidFill>
                  </a:tcPr>
                </a:tc>
              </a:tr>
              <a:tr h="376670">
                <a:tc>
                  <a:txBody>
                    <a:bodyPr lIns="95250" tIns="95250" rIns="95250" bIns="95250"/>
                    <a:lstStyle/>
                    <a:p>
                      <a:r>
                        <a:rPr sz="1725" b="0">
                          <a:solidFill>
                            <a:srgbClr val="111111"/>
                          </a:solidFill>
                          <a:latin typeface="Times New Roman"/>
                          <a:ea typeface="Times New Roman"/>
                          <a:cs typeface="Times New Roman"/>
                        </a:rPr>
                        <a:t>Terra</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Low</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5/39 (0)</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12/39 (1)</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25/39 (2)</a:t>
                      </a:r>
                    </a:p>
                  </a:txBody>
                  <a:tcPr marL="91440" marR="91440" marT="45720" marB="45720">
                    <a:lnR w="6668">
                      <a:solidFill>
                        <a:srgbClr val="D1D5DB"/>
                      </a:solidFill>
                      <a:prstDash val="solid"/>
                    </a:lnR>
                    <a:lnB w="6668">
                      <a:solidFill>
                        <a:srgbClr val="D1D5DB"/>
                      </a:solidFill>
                      <a:prstDash val="solid"/>
                    </a:lnB>
                    <a:solidFill>
                      <a:srgbClr val="FFFFFF"/>
                    </a:solidFill>
                  </a:tcPr>
                </a:tc>
              </a:tr>
              <a:tr h="376670">
                <a:tc>
                  <a:txBody>
                    <a:bodyPr lIns="95250" tIns="95250" rIns="95250" bIns="95250"/>
                    <a:lstStyle/>
                    <a:p>
                      <a:r>
                        <a:rPr sz="1725" b="0">
                          <a:solidFill>
                            <a:srgbClr val="111111"/>
                          </a:solidFill>
                          <a:latin typeface="Times New Roman"/>
                          <a:ea typeface="Times New Roman"/>
                          <a:cs typeface="Times New Roman"/>
                        </a:rPr>
                        <a:t>Terra</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Medium</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5/39 (0)</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24/39 (3)</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32/39 (1)</a:t>
                      </a:r>
                    </a:p>
                  </a:txBody>
                  <a:tcPr marL="91440" marR="91440" marT="45720" marB="45720">
                    <a:lnR w="6668">
                      <a:solidFill>
                        <a:srgbClr val="D1D5DB"/>
                      </a:solidFill>
                      <a:prstDash val="solid"/>
                    </a:lnR>
                    <a:lnB w="6668">
                      <a:solidFill>
                        <a:srgbClr val="D1D5DB"/>
                      </a:solidFill>
                      <a:prstDash val="solid"/>
                    </a:lnB>
                    <a:solidFill>
                      <a:srgbClr val="F3F4F6"/>
                    </a:solidFill>
                  </a:tcPr>
                </a:tc>
              </a:tr>
              <a:tr h="376670">
                <a:tc>
                  <a:txBody>
                    <a:bodyPr lIns="95250" tIns="95250" rIns="95250" bIns="95250"/>
                    <a:lstStyle/>
                    <a:p>
                      <a:r>
                        <a:rPr sz="1725" b="0">
                          <a:solidFill>
                            <a:srgbClr val="111111"/>
                          </a:solidFill>
                          <a:latin typeface="Times New Roman"/>
                          <a:ea typeface="Times New Roman"/>
                          <a:cs typeface="Times New Roman"/>
                        </a:rPr>
                        <a:t>Sol</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Low</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24/39 (0)</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32/39 (0)</a:t>
                      </a:r>
                    </a:p>
                  </a:txBody>
                  <a:tcPr marL="91440" marR="91440" marT="45720" marB="45720">
                    <a:lnR w="6668">
                      <a:solidFill>
                        <a:srgbClr val="D1D5DB"/>
                      </a:solidFill>
                      <a:prstDash val="solid"/>
                    </a:lnR>
                    <a:lnB w="6668">
                      <a:solidFill>
                        <a:srgbClr val="D1D5DB"/>
                      </a:solidFill>
                      <a:prstDash val="solid"/>
                    </a:lnB>
                    <a:solidFill>
                      <a:srgbClr val="FFFFFF"/>
                    </a:solidFill>
                  </a:tcPr>
                </a:tc>
                <a:tc>
                  <a:txBody>
                    <a:bodyPr lIns="95250" tIns="95250" rIns="95250" bIns="95250"/>
                    <a:lstStyle/>
                    <a:p>
                      <a:r>
                        <a:rPr sz="1725" b="0">
                          <a:solidFill>
                            <a:srgbClr val="111111"/>
                          </a:solidFill>
                          <a:latin typeface="Times New Roman"/>
                          <a:ea typeface="Times New Roman"/>
                          <a:cs typeface="Times New Roman"/>
                        </a:rPr>
                        <a:t>37/39 (0)</a:t>
                      </a:r>
                    </a:p>
                  </a:txBody>
                  <a:tcPr marL="91440" marR="91440" marT="45720" marB="45720">
                    <a:lnR w="6668">
                      <a:solidFill>
                        <a:srgbClr val="D1D5DB"/>
                      </a:solidFill>
                      <a:prstDash val="solid"/>
                    </a:lnR>
                    <a:lnB w="6668">
                      <a:solidFill>
                        <a:srgbClr val="D1D5DB"/>
                      </a:solidFill>
                      <a:prstDash val="solid"/>
                    </a:lnB>
                    <a:solidFill>
                      <a:srgbClr val="FFFFFF"/>
                    </a:solidFill>
                  </a:tcPr>
                </a:tc>
              </a:tr>
              <a:tr h="376670">
                <a:tc>
                  <a:txBody>
                    <a:bodyPr lIns="95250" tIns="95250" rIns="95250" bIns="95250"/>
                    <a:lstStyle/>
                    <a:p>
                      <a:r>
                        <a:rPr sz="1725" b="0">
                          <a:solidFill>
                            <a:srgbClr val="111111"/>
                          </a:solidFill>
                          <a:latin typeface="Times New Roman"/>
                          <a:ea typeface="Times New Roman"/>
                          <a:cs typeface="Times New Roman"/>
                        </a:rPr>
                        <a:t>Sol</a:t>
                      </a:r>
                    </a:p>
                  </a:txBody>
                  <a:tcPr marL="91440" marR="91440" marT="45720" marB="45720">
                    <a:lnL w="6668">
                      <a:solidFill>
                        <a:srgbClr val="D1D5DB"/>
                      </a:solidFill>
                      <a:prstDash val="solid"/>
                    </a:lnL>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Medium</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31/39 (0)</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38/39 (0)</a:t>
                      </a:r>
                    </a:p>
                  </a:txBody>
                  <a:tcPr marL="91440" marR="91440" marT="45720" marB="45720">
                    <a:lnR w="6668">
                      <a:solidFill>
                        <a:srgbClr val="D1D5DB"/>
                      </a:solidFill>
                      <a:prstDash val="solid"/>
                    </a:lnR>
                    <a:lnB w="6668">
                      <a:solidFill>
                        <a:srgbClr val="D1D5DB"/>
                      </a:solidFill>
                      <a:prstDash val="solid"/>
                    </a:lnB>
                    <a:solidFill>
                      <a:srgbClr val="F3F4F6"/>
                    </a:solidFill>
                  </a:tcPr>
                </a:tc>
                <a:tc>
                  <a:txBody>
                    <a:bodyPr lIns="95250" tIns="95250" rIns="95250" bIns="95250"/>
                    <a:lstStyle/>
                    <a:p>
                      <a:r>
                        <a:rPr sz="1725" b="0">
                          <a:solidFill>
                            <a:srgbClr val="111111"/>
                          </a:solidFill>
                          <a:latin typeface="Times New Roman"/>
                          <a:ea typeface="Times New Roman"/>
                          <a:cs typeface="Times New Roman"/>
                        </a:rPr>
                        <a:t>38/39 (0)</a:t>
                      </a:r>
                    </a:p>
                  </a:txBody>
                  <a:tcPr marL="91440" marR="91440" marT="45720" marB="45720">
                    <a:lnR w="6668">
                      <a:solidFill>
                        <a:srgbClr val="D1D5DB"/>
                      </a:solidFill>
                      <a:prstDash val="solid"/>
                    </a:lnR>
                    <a:lnB w="6668">
                      <a:solidFill>
                        <a:srgbClr val="D1D5DB"/>
                      </a:solidFill>
                      <a:prstDash val="solid"/>
                    </a:lnB>
                    <a:solidFill>
                      <a:srgbClr val="F3F4F6"/>
                    </a:solidFill>
                  </a:tcPr>
                </a:tc>
              </a:tr>
            </a:tbl>
          </a:graphicData>
        </a:graphic>
      </p:graphicFrame>
      <p:sp>
        <p:nvSpPr>
          <p:cNvPr id="5" name="">
            <a:extLst xmlns:a="http://schemas.openxmlformats.org/drawingml/2006/main">
              <a:ext uri="{FF2B5EF4-FFF2-40B4-BE49-F238E27FC236}">
                <a16:creationId xmlns:a16="http://schemas.microsoft.com/office/drawing/2014/main" id="{AA6EB48E-00FE-419D-8214-AC722E004165}"/>
              </a:ext>
            </a:extLst>
          </p:cNvPr>
          <p:cNvSpPr>
            <a:spLocks xmlns:a="http://schemas.openxmlformats.org/drawingml/2006/main" noGrp="1"/>
          </p:cNvSpPr>
          <p:nvPr/>
        </p:nvSpPr>
        <p:spPr>
          <a:xfrm xmlns:a="http://schemas.openxmlformats.org/drawingml/2006/main">
            <a:off x="457200" y="5915025"/>
            <a:ext cx="11277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444444"/>
                </a:solidFill>
                <a:latin typeface="Times New Roman"/>
                <a:ea typeface="Times New Roman"/>
                <a:cs typeface="Times New Roman"/>
              </a:defRPr>
            </a:defPPr>
          </a:lstStyle>
          <a:p xmlns:a="http://schemas.openxmlformats.org/drawingml/2006/main">
            <a:pPr>
              <a:defRPr sz="1575" b="0">
                <a:solidFill>
                  <a:srgbClr val="444444"/>
                </a:solidFill>
                <a:latin typeface="Times New Roman"/>
                <a:ea typeface="Times New Roman"/>
                <a:cs typeface="Times New Roman"/>
              </a:defRPr>
            </a:pPr>
            <a:r>
              <a:rPr sz="1575" b="0">
                <a:solidFill>
                  <a:srgbClr val="444444"/>
                </a:solidFill>
                <a:latin typeface="Times New Roman"/>
                <a:ea typeface="Times New Roman"/>
                <a:cs typeface="Times New Roman"/>
              </a:rPr>
              <a:t>780 hinted trials + 390 historical controls. Five pre-agent setup failures were retained separately.</a:t>
            </a:r>
          </a:p>
        </p:txBody>
      </p:sp>
      <p:sp>
        <p:nvSpPr>
          <p:cNvPr id="6" name="">
            <a:extLst xmlns:a="http://schemas.openxmlformats.org/drawingml/2006/main">
              <a:ext uri="{FF2B5EF4-FFF2-40B4-BE49-F238E27FC236}">
                <a16:creationId xmlns:a16="http://schemas.microsoft.com/office/drawing/2014/main" id="{21460B0E-381E-4B7F-A3E9-23D7C82AC3A9}"/>
              </a:ext>
            </a:extLst>
          </p:cNvPr>
          <p:cNvSpPr>
            <a:spLocks xmlns:a="http://schemas.openxmlformats.org/drawingml/2006/main" noGrp="1"/>
          </p:cNvSpPr>
          <p:nvPr/>
        </p:nvSpPr>
        <p:spPr>
          <a:xfrm xmlns:a="http://schemas.openxmlformats.org/drawingml/2006/main">
            <a:off x="457200" y="625792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777777"/>
                </a:solidFill>
                <a:latin typeface="Times New Roman"/>
                <a:ea typeface="Times New Roman"/>
                <a:cs typeface="Times New Roman"/>
              </a:defRPr>
            </a:defPPr>
          </a:lstStyle>
          <a:p xmlns:a="http://schemas.openxmlformats.org/drawingml/2006/main">
            <a:pPr>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Published aggregates checked locally. Raw collaborator trajectories were not independently reviewed here.</a:t>
            </a:r>
          </a:p>
        </p:txBody>
      </p:sp>
    </p:spTree>
    <p:extLst>
      <p:ext uri="{BB962C8B-B14F-4D97-AF65-F5344CB8AC3E}">
        <p14:creationId xmlns:p14="http://schemas.microsoft.com/office/powerpoint/2010/main" val="20268277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B6BA0FF3-04EA-4212-BFD6-BA0891C308E1}"/>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the frozen 13-task roster</a:t>
            </a:r>
          </a:p>
        </p:txBody>
      </p:sp>
      <p:sp>
        <p:nvSpPr>
          <p:cNvPr id="3" name="Rectangle 2">
            <a:extLst xmlns:a="http://schemas.openxmlformats.org/drawingml/2006/main">
              <a:ext uri="{FF2B5EF4-FFF2-40B4-BE49-F238E27FC236}">
                <a16:creationId xmlns:a16="http://schemas.microsoft.com/office/drawing/2014/main" id="{1B617954-181A-4A23-BF2D-053035054F7D}"/>
              </a:ext>
            </a:extLst>
          </p:cNvPr>
          <p:cNvSpPr>
            <a:spLocks xmlns:a="http://schemas.openxmlformats.org/drawingml/2006/main" noGrp="1"/>
          </p:cNvSpPr>
          <p:nvPr/>
        </p:nvSpPr>
        <p:spPr>
          <a:xfrm xmlns:a="http://schemas.openxmlformats.org/drawingml/2006/main">
            <a:off x="457200" y="1419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entropy-anomaly</a:t>
            </a:r>
          </a:p>
        </p:txBody>
      </p:sp>
      <p:sp>
        <p:nvSpPr>
          <p:cNvPr id="4" name="Rectangle 3">
            <a:extLst xmlns:a="http://schemas.openxmlformats.org/drawingml/2006/main">
              <a:ext uri="{FF2B5EF4-FFF2-40B4-BE49-F238E27FC236}">
                <a16:creationId xmlns:a16="http://schemas.microsoft.com/office/drawing/2014/main" id="{E184659C-ED43-48C5-9DD3-A617939BA21B}"/>
              </a:ext>
            </a:extLst>
          </p:cNvPr>
          <p:cNvSpPr>
            <a:spLocks xmlns:a="http://schemas.openxmlformats.org/drawingml/2006/main" noGrp="1"/>
          </p:cNvSpPr>
          <p:nvPr/>
        </p:nvSpPr>
        <p:spPr>
          <a:xfrm xmlns:a="http://schemas.openxmlformats.org/drawingml/2006/main">
            <a:off x="457200" y="1952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finite-layer-phoresis</a:t>
            </a:r>
          </a:p>
        </p:txBody>
      </p:sp>
      <p:sp>
        <p:nvSpPr>
          <p:cNvPr id="5" name="Rectangle 4">
            <a:extLst xmlns:a="http://schemas.openxmlformats.org/drawingml/2006/main">
              <a:ext uri="{FF2B5EF4-FFF2-40B4-BE49-F238E27FC236}">
                <a16:creationId xmlns:a16="http://schemas.microsoft.com/office/drawing/2014/main" id="{ACEAC897-E548-4A51-9467-D4512B3E482F}"/>
              </a:ext>
            </a:extLst>
          </p:cNvPr>
          <p:cNvSpPr>
            <a:spLocks xmlns:a="http://schemas.openxmlformats.org/drawingml/2006/main" noGrp="1"/>
          </p:cNvSpPr>
          <p:nvPr/>
        </p:nvSpPr>
        <p:spPr>
          <a:xfrm xmlns:a="http://schemas.openxmlformats.org/drawingml/2006/main">
            <a:off x="457200" y="24860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hierarchical-glass-overlaps</a:t>
            </a:r>
          </a:p>
        </p:txBody>
      </p:sp>
      <p:sp>
        <p:nvSpPr>
          <p:cNvPr id="6" name="Rectangle 5">
            <a:extLst xmlns:a="http://schemas.openxmlformats.org/drawingml/2006/main">
              <a:ext uri="{FF2B5EF4-FFF2-40B4-BE49-F238E27FC236}">
                <a16:creationId xmlns:a16="http://schemas.microsoft.com/office/drawing/2014/main" id="{8109EB7F-43D7-488D-8A62-D803A593F497}"/>
              </a:ext>
            </a:extLst>
          </p:cNvPr>
          <p:cNvSpPr>
            <a:spLocks xmlns:a="http://schemas.openxmlformats.org/drawingml/2006/main" noGrp="1"/>
          </p:cNvSpPr>
          <p:nvPr/>
        </p:nvSpPr>
        <p:spPr>
          <a:xfrm xmlns:a="http://schemas.openxmlformats.org/drawingml/2006/main">
            <a:off x="457200" y="30194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insulating-mhd-duct</a:t>
            </a:r>
          </a:p>
        </p:txBody>
      </p:sp>
      <p:sp>
        <p:nvSpPr>
          <p:cNvPr id="7" name="Rectangle 6">
            <a:extLst xmlns:a="http://schemas.openxmlformats.org/drawingml/2006/main">
              <a:ext uri="{FF2B5EF4-FFF2-40B4-BE49-F238E27FC236}">
                <a16:creationId xmlns:a16="http://schemas.microsoft.com/office/drawing/2014/main" id="{FFB1FA39-94CE-431E-9645-61A0CC786757}"/>
              </a:ext>
            </a:extLst>
          </p:cNvPr>
          <p:cNvSpPr>
            <a:spLocks xmlns:a="http://schemas.openxmlformats.org/drawingml/2006/main" noGrp="1"/>
          </p:cNvSpPr>
          <p:nvPr/>
        </p:nvSpPr>
        <p:spPr>
          <a:xfrm xmlns:a="http://schemas.openxmlformats.org/drawingml/2006/main">
            <a:off x="457200" y="35528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magnetic-tracer</a:t>
            </a:r>
          </a:p>
        </p:txBody>
      </p:sp>
      <p:sp>
        <p:nvSpPr>
          <p:cNvPr id="8" name="Rectangle 7">
            <a:extLst xmlns:a="http://schemas.openxmlformats.org/drawingml/2006/main">
              <a:ext uri="{FF2B5EF4-FFF2-40B4-BE49-F238E27FC236}">
                <a16:creationId xmlns:a16="http://schemas.microsoft.com/office/drawing/2014/main" id="{C417F617-88C4-4E5F-8408-0643D2B6A682}"/>
              </a:ext>
            </a:extLst>
          </p:cNvPr>
          <p:cNvSpPr>
            <a:spLocks xmlns:a="http://schemas.openxmlformats.org/drawingml/2006/main" noGrp="1"/>
          </p:cNvSpPr>
          <p:nvPr/>
        </p:nvSpPr>
        <p:spPr>
          <a:xfrm xmlns:a="http://schemas.openxmlformats.org/drawingml/2006/main">
            <a:off x="457200" y="4086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reaction-diffusion</a:t>
            </a:r>
          </a:p>
        </p:txBody>
      </p:sp>
      <p:sp>
        <p:nvSpPr>
          <p:cNvPr id="9" name="Rectangle 8">
            <a:extLst xmlns:a="http://schemas.openxmlformats.org/drawingml/2006/main">
              <a:ext uri="{FF2B5EF4-FFF2-40B4-BE49-F238E27FC236}">
                <a16:creationId xmlns:a16="http://schemas.microsoft.com/office/drawing/2014/main" id="{911F5FFF-8663-471A-98CE-29B1F1D9B568}"/>
              </a:ext>
            </a:extLst>
          </p:cNvPr>
          <p:cNvSpPr>
            <a:spLocks xmlns:a="http://schemas.openxmlformats.org/drawingml/2006/main" noGrp="1"/>
          </p:cNvSpPr>
          <p:nvPr/>
        </p:nvSpPr>
        <p:spPr>
          <a:xfrm xmlns:a="http://schemas.openxmlformats.org/drawingml/2006/main">
            <a:off x="457200" y="4619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ring-current-fluctuations</a:t>
            </a:r>
          </a:p>
        </p:txBody>
      </p:sp>
      <p:sp>
        <p:nvSpPr>
          <p:cNvPr id="10" name="Rectangle 9">
            <a:extLst xmlns:a="http://schemas.openxmlformats.org/drawingml/2006/main">
              <a:ext uri="{FF2B5EF4-FFF2-40B4-BE49-F238E27FC236}">
                <a16:creationId xmlns:a16="http://schemas.microsoft.com/office/drawing/2014/main" id="{B86DA223-D697-451A-A51A-91BE7366B2E3}"/>
              </a:ext>
            </a:extLst>
          </p:cNvPr>
          <p:cNvSpPr>
            <a:spLocks xmlns:a="http://schemas.openxmlformats.org/drawingml/2006/main" noGrp="1"/>
          </p:cNvSpPr>
          <p:nvPr/>
        </p:nvSpPr>
        <p:spPr>
          <a:xfrm xmlns:a="http://schemas.openxmlformats.org/drawingml/2006/main">
            <a:off x="6362700" y="1419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rotating-reservoir</a:t>
            </a:r>
          </a:p>
        </p:txBody>
      </p:sp>
      <p:sp>
        <p:nvSpPr>
          <p:cNvPr id="11" name="Rectangle 10">
            <a:extLst xmlns:a="http://schemas.openxmlformats.org/drawingml/2006/main">
              <a:ext uri="{FF2B5EF4-FFF2-40B4-BE49-F238E27FC236}">
                <a16:creationId xmlns:a16="http://schemas.microsoft.com/office/drawing/2014/main" id="{7808C839-AEFA-4D36-B29C-420F636341B5}"/>
              </a:ext>
            </a:extLst>
          </p:cNvPr>
          <p:cNvSpPr>
            <a:spLocks xmlns:a="http://schemas.openxmlformats.org/drawingml/2006/main" noGrp="1"/>
          </p:cNvSpPr>
          <p:nvPr/>
        </p:nvSpPr>
        <p:spPr>
          <a:xfrm xmlns:a="http://schemas.openxmlformats.org/drawingml/2006/main">
            <a:off x="6362700" y="1952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single-file-memory</a:t>
            </a:r>
          </a:p>
        </p:txBody>
      </p:sp>
      <p:sp>
        <p:nvSpPr>
          <p:cNvPr id="12" name="Rectangle 11">
            <a:extLst xmlns:a="http://schemas.openxmlformats.org/drawingml/2006/main">
              <a:ext uri="{FF2B5EF4-FFF2-40B4-BE49-F238E27FC236}">
                <a16:creationId xmlns:a16="http://schemas.microsoft.com/office/drawing/2014/main" id="{7A716844-98DE-4D97-BD8E-850B5CC8A603}"/>
              </a:ext>
            </a:extLst>
          </p:cNvPr>
          <p:cNvSpPr>
            <a:spLocks xmlns:a="http://schemas.openxmlformats.org/drawingml/2006/main" noGrp="1"/>
          </p:cNvSpPr>
          <p:nvPr/>
        </p:nvSpPr>
        <p:spPr>
          <a:xfrm xmlns:a="http://schemas.openxmlformats.org/drawingml/2006/main">
            <a:off x="6362700" y="24860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superconducting-heat</a:t>
            </a:r>
          </a:p>
        </p:txBody>
      </p:sp>
      <p:sp>
        <p:nvSpPr>
          <p:cNvPr id="13" name="Rectangle 12">
            <a:extLst xmlns:a="http://schemas.openxmlformats.org/drawingml/2006/main">
              <a:ext uri="{FF2B5EF4-FFF2-40B4-BE49-F238E27FC236}">
                <a16:creationId xmlns:a16="http://schemas.microsoft.com/office/drawing/2014/main" id="{8E313484-B01D-4662-9B77-A526F38FCA36}"/>
              </a:ext>
            </a:extLst>
          </p:cNvPr>
          <p:cNvSpPr>
            <a:spLocks xmlns:a="http://schemas.openxmlformats.org/drawingml/2006/main" noGrp="1"/>
          </p:cNvSpPr>
          <p:nvPr/>
        </p:nvSpPr>
        <p:spPr>
          <a:xfrm xmlns:a="http://schemas.openxmlformats.org/drawingml/2006/main">
            <a:off x="6362700" y="30194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swirling-heat-tails</a:t>
            </a:r>
          </a:p>
        </p:txBody>
      </p:sp>
      <p:sp>
        <p:nvSpPr>
          <p:cNvPr id="14" name="Rectangle 13">
            <a:extLst xmlns:a="http://schemas.openxmlformats.org/drawingml/2006/main">
              <a:ext uri="{FF2B5EF4-FFF2-40B4-BE49-F238E27FC236}">
                <a16:creationId xmlns:a16="http://schemas.microsoft.com/office/drawing/2014/main" id="{CB4180C1-0E47-4AC5-8EB7-942852E1E2D0}"/>
              </a:ext>
            </a:extLst>
          </p:cNvPr>
          <p:cNvSpPr>
            <a:spLocks xmlns:a="http://schemas.openxmlformats.org/drawingml/2006/main" noGrp="1"/>
          </p:cNvSpPr>
          <p:nvPr/>
        </p:nvSpPr>
        <p:spPr>
          <a:xfrm xmlns:a="http://schemas.openxmlformats.org/drawingml/2006/main">
            <a:off x="6362700" y="35528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hard-rod-current</a:t>
            </a:r>
          </a:p>
        </p:txBody>
      </p:sp>
      <p:sp>
        <p:nvSpPr>
          <p:cNvPr id="15" name="Rectangle 14">
            <a:extLst xmlns:a="http://schemas.openxmlformats.org/drawingml/2006/main">
              <a:ext uri="{FF2B5EF4-FFF2-40B4-BE49-F238E27FC236}">
                <a16:creationId xmlns:a16="http://schemas.microsoft.com/office/drawing/2014/main" id="{A97A6698-C261-42DF-A038-2BFF43D3125B}"/>
              </a:ext>
            </a:extLst>
          </p:cNvPr>
          <p:cNvSpPr>
            <a:spLocks xmlns:a="http://schemas.openxmlformats.org/drawingml/2006/main" noGrp="1"/>
          </p:cNvSpPr>
          <p:nvPr/>
        </p:nvSpPr>
        <p:spPr>
          <a:xfrm xmlns:a="http://schemas.openxmlformats.org/drawingml/2006/main">
            <a:off x="6362700" y="4086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finite-ion-cloud</a:t>
            </a:r>
          </a:p>
        </p:txBody>
      </p:sp>
      <p:sp>
        <p:nvSpPr>
          <p:cNvPr id="16" name="Rectangle 15">
            <a:extLst xmlns:a="http://schemas.openxmlformats.org/drawingml/2006/main">
              <a:ext uri="{FF2B5EF4-FFF2-40B4-BE49-F238E27FC236}">
                <a16:creationId xmlns:a16="http://schemas.microsoft.com/office/drawing/2014/main" id="{ABF92BC6-A106-4C0F-883D-9CF630DDC338}"/>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Frozen snapshot: 34dedfbbd8ff. Task selection against GPT-5.6 Luna limits generalization to a broader physics population.</a:t>
            </a:r>
          </a:p>
        </p:txBody>
      </p:sp>
      <p:sp>
        <p:nvSpPr>
          <p:cNvPr id="18" name="Rectangle 17">
            <a:extLst xmlns:a="http://schemas.openxmlformats.org/drawingml/2006/main">
              <a:ext uri="{FF2B5EF4-FFF2-40B4-BE49-F238E27FC236}">
                <a16:creationId xmlns:a16="http://schemas.microsoft.com/office/drawing/2014/main" id="{7B5E6208-A8BB-4725-9921-6CA79EB21DD2}"/>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15</a:t>
            </a:r>
          </a:p>
        </p:txBody>
      </p:sp>
    </p:spTree>
    <p:extLst>
      <p:ext uri="{BB962C8B-B14F-4D97-AF65-F5344CB8AC3E}">
        <p14:creationId xmlns:p14="http://schemas.microsoft.com/office/powerpoint/2010/main" val="182812619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Rectangle 28">
            <a:extLst xmlns:a="http://schemas.openxmlformats.org/drawingml/2006/main">
              <a:ext uri="{FF2B5EF4-FFF2-40B4-BE49-F238E27FC236}">
                <a16:creationId xmlns:a16="http://schemas.microsoft.com/office/drawing/2014/main" id="{817B6CD4-DA5B-4A7F-A081-E2A2B31B441E}"/>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comparing the two prediction formulas</a:t>
            </a:r>
          </a:p>
        </p:txBody>
      </p:sp>
      <p:sp>
        <p:nvSpPr>
          <p:cNvPr id="2" name="Rectangle 1">
            <a:extLst xmlns:a="http://schemas.openxmlformats.org/drawingml/2006/main">
              <a:ext uri="{FF2B5EF4-FFF2-40B4-BE49-F238E27FC236}">
                <a16:creationId xmlns:a16="http://schemas.microsoft.com/office/drawing/2014/main" id="{D5E4B9E4-4CB2-45E9-BE61-2A76387824CA}"/>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 narrow channel preserves particle order. Every experiment starts from the same positions.</a:t>
            </a:r>
          </a:p>
        </p:txBody>
      </p:sp>
      <p:sp>
        <p:nvSpPr>
          <p:cNvPr id="3" name="Rectangle 2">
            <a:extLst xmlns:a="http://schemas.openxmlformats.org/drawingml/2006/main">
              <a:ext uri="{FF2B5EF4-FFF2-40B4-BE49-F238E27FC236}">
                <a16:creationId xmlns:a16="http://schemas.microsoft.com/office/drawing/2014/main" id="{D7084F74-4A77-424A-8676-E2C561AADB53}"/>
              </a:ext>
            </a:extLst>
          </p:cNvPr>
          <p:cNvSpPr>
            <a:spLocks xmlns:a="http://schemas.openxmlformats.org/drawingml/2006/main" noGrp="1"/>
          </p:cNvSpPr>
          <p:nvPr/>
        </p:nvSpPr>
        <p:spPr>
          <a:xfrm xmlns:a="http://schemas.openxmlformats.org/drawingml/2006/main">
            <a:off x="457200" y="1533525"/>
            <a:ext cx="490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Physical setup</a:t>
            </a:r>
          </a:p>
        </p:txBody>
      </p:sp>
      <p:sp>
        <p:nvSpPr>
          <p:cNvPr id="4" name="Rectangle 3">
            <a:extLst xmlns:a="http://schemas.openxmlformats.org/drawingml/2006/main">
              <a:ext uri="{FF2B5EF4-FFF2-40B4-BE49-F238E27FC236}">
                <a16:creationId xmlns:a16="http://schemas.microsoft.com/office/drawing/2014/main" id="{6FA7336F-7C6A-4BCE-8251-D4E67C80EBA4}"/>
              </a:ext>
            </a:extLst>
          </p:cNvPr>
          <p:cNvSpPr>
            <a:spLocks xmlns:a="http://schemas.openxmlformats.org/drawingml/2006/main" noGrp="1"/>
          </p:cNvSpPr>
          <p:nvPr/>
        </p:nvSpPr>
        <p:spPr>
          <a:xfrm xmlns:a="http://schemas.openxmlformats.org/drawingml/2006/main">
            <a:off x="457200" y="1971675"/>
            <a:ext cx="490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Reset to evenly spaced positions</a:t>
            </a:r>
          </a:p>
        </p:txBody>
      </p:sp>
      <p:sp>
        <p:nvSpPr>
          <p:cNvPr id="5" name="Rectangle 4">
            <a:extLst xmlns:a="http://schemas.openxmlformats.org/drawingml/2006/main">
              <a:ext uri="{FF2B5EF4-FFF2-40B4-BE49-F238E27FC236}">
                <a16:creationId xmlns:a16="http://schemas.microsoft.com/office/drawing/2014/main" id="{87B85EBA-3D0E-4570-AB1C-A6DAAC2C6C19}"/>
              </a:ext>
            </a:extLst>
          </p:cNvPr>
          <p:cNvSpPr>
            <a:spLocks xmlns:a="http://schemas.openxmlformats.org/drawingml/2006/main" noGrp="1"/>
          </p:cNvSpPr>
          <p:nvPr/>
        </p:nvSpPr>
        <p:spPr>
          <a:xfrm xmlns:a="http://schemas.openxmlformats.org/drawingml/2006/main">
            <a:off x="457200" y="238125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24CC1E4B-DA4A-4952-9357-94695F024E82}"/>
              </a:ext>
            </a:extLst>
          </p:cNvPr>
          <p:cNvSpPr>
            <a:spLocks xmlns:a="http://schemas.openxmlformats.org/drawingml/2006/main" noGrp="1"/>
          </p:cNvSpPr>
          <p:nvPr/>
        </p:nvSpPr>
        <p:spPr>
          <a:xfrm xmlns:a="http://schemas.openxmlformats.org/drawingml/2006/main">
            <a:off x="457200" y="295275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C585912F-9C1E-4568-943F-CBE08EBBEEF3}"/>
              </a:ext>
            </a:extLst>
          </p:cNvPr>
          <p:cNvSpPr>
            <a:spLocks xmlns:a="http://schemas.openxmlformats.org/drawingml/2006/main" noGrp="1"/>
          </p:cNvSpPr>
          <p:nvPr/>
        </p:nvSpPr>
        <p:spPr>
          <a:xfrm xmlns:a="http://schemas.openxmlformats.org/drawingml/2006/main">
            <a:off x="8191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573E44D9-9C6E-4C68-B21F-0E97F4A722A1}"/>
              </a:ext>
            </a:extLst>
          </p:cNvPr>
          <p:cNvSpPr>
            <a:spLocks xmlns:a="http://schemas.openxmlformats.org/drawingml/2006/main" noGrp="1"/>
          </p:cNvSpPr>
          <p:nvPr/>
        </p:nvSpPr>
        <p:spPr>
          <a:xfrm xmlns:a="http://schemas.openxmlformats.org/drawingml/2006/main">
            <a:off x="15430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35222835-3645-4478-B478-7C25458AA3AD}"/>
              </a:ext>
            </a:extLst>
          </p:cNvPr>
          <p:cNvSpPr>
            <a:spLocks xmlns:a="http://schemas.openxmlformats.org/drawingml/2006/main" noGrp="1"/>
          </p:cNvSpPr>
          <p:nvPr/>
        </p:nvSpPr>
        <p:spPr>
          <a:xfrm xmlns:a="http://schemas.openxmlformats.org/drawingml/2006/main">
            <a:off x="2266950" y="2505075"/>
            <a:ext cx="342900" cy="3429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0" name="Oval 9">
            <a:extLst xmlns:a="http://schemas.openxmlformats.org/drawingml/2006/main">
              <a:ext uri="{FF2B5EF4-FFF2-40B4-BE49-F238E27FC236}">
                <a16:creationId xmlns:a16="http://schemas.microsoft.com/office/drawing/2014/main" id="{481EC8C4-2B3A-44A2-A2DF-D3B5BDC43513}"/>
              </a:ext>
            </a:extLst>
          </p:cNvPr>
          <p:cNvSpPr>
            <a:spLocks xmlns:a="http://schemas.openxmlformats.org/drawingml/2006/main" noGrp="1"/>
          </p:cNvSpPr>
          <p:nvPr/>
        </p:nvSpPr>
        <p:spPr>
          <a:xfrm xmlns:a="http://schemas.openxmlformats.org/drawingml/2006/main">
            <a:off x="29908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DA0C0A62-E4A3-467B-A311-2D83BDF1B9AF}"/>
              </a:ext>
            </a:extLst>
          </p:cNvPr>
          <p:cNvSpPr>
            <a:spLocks xmlns:a="http://schemas.openxmlformats.org/drawingml/2006/main" noGrp="1"/>
          </p:cNvSpPr>
          <p:nvPr/>
        </p:nvSpPr>
        <p:spPr>
          <a:xfrm xmlns:a="http://schemas.openxmlformats.org/drawingml/2006/main">
            <a:off x="37147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EACBA4F9-08AB-451A-A852-FD50A060CAF2}"/>
              </a:ext>
            </a:extLst>
          </p:cNvPr>
          <p:cNvSpPr>
            <a:spLocks xmlns:a="http://schemas.openxmlformats.org/drawingml/2006/main" noGrp="1"/>
          </p:cNvSpPr>
          <p:nvPr/>
        </p:nvSpPr>
        <p:spPr>
          <a:xfrm xmlns:a="http://schemas.openxmlformats.org/drawingml/2006/main">
            <a:off x="44386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93CE4E81-AFEA-4EAF-B896-3C060B8A4437}"/>
              </a:ext>
            </a:extLst>
          </p:cNvPr>
          <p:cNvSpPr>
            <a:spLocks xmlns:a="http://schemas.openxmlformats.org/drawingml/2006/main" noGrp="1"/>
          </p:cNvSpPr>
          <p:nvPr/>
        </p:nvSpPr>
        <p:spPr>
          <a:xfrm xmlns:a="http://schemas.openxmlformats.org/drawingml/2006/main">
            <a:off x="457200" y="3333750"/>
            <a:ext cx="490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Let the particles move randomly</a:t>
            </a:r>
          </a:p>
        </p:txBody>
      </p:sp>
      <p:sp>
        <p:nvSpPr>
          <p:cNvPr id="14" name="Rectangle 13">
            <a:extLst xmlns:a="http://schemas.openxmlformats.org/drawingml/2006/main">
              <a:ext uri="{FF2B5EF4-FFF2-40B4-BE49-F238E27FC236}">
                <a16:creationId xmlns:a16="http://schemas.microsoft.com/office/drawing/2014/main" id="{B847700A-C0A6-4E12-9D00-0EE5AE9846DC}"/>
              </a:ext>
            </a:extLst>
          </p:cNvPr>
          <p:cNvSpPr>
            <a:spLocks xmlns:a="http://schemas.openxmlformats.org/drawingml/2006/main" noGrp="1"/>
          </p:cNvSpPr>
          <p:nvPr/>
        </p:nvSpPr>
        <p:spPr>
          <a:xfrm xmlns:a="http://schemas.openxmlformats.org/drawingml/2006/main">
            <a:off x="457200" y="373380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AEEECDFF-1488-4898-89D7-95611235AE31}"/>
              </a:ext>
            </a:extLst>
          </p:cNvPr>
          <p:cNvSpPr>
            <a:spLocks xmlns:a="http://schemas.openxmlformats.org/drawingml/2006/main" noGrp="1"/>
          </p:cNvSpPr>
          <p:nvPr/>
        </p:nvSpPr>
        <p:spPr>
          <a:xfrm xmlns:a="http://schemas.openxmlformats.org/drawingml/2006/main">
            <a:off x="457200" y="430530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Oval 15">
            <a:extLst xmlns:a="http://schemas.openxmlformats.org/drawingml/2006/main">
              <a:ext uri="{FF2B5EF4-FFF2-40B4-BE49-F238E27FC236}">
                <a16:creationId xmlns:a16="http://schemas.microsoft.com/office/drawing/2014/main" id="{C3DD7281-A990-4437-A3F6-D1905D0C92FA}"/>
              </a:ext>
            </a:extLst>
          </p:cNvPr>
          <p:cNvSpPr>
            <a:spLocks xmlns:a="http://schemas.openxmlformats.org/drawingml/2006/main" noGrp="1"/>
          </p:cNvSpPr>
          <p:nvPr/>
        </p:nvSpPr>
        <p:spPr>
          <a:xfrm xmlns:a="http://schemas.openxmlformats.org/drawingml/2006/main">
            <a:off x="70485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E4B66C14-9B22-4218-BF4E-66A109931AE8}"/>
              </a:ext>
            </a:extLst>
          </p:cNvPr>
          <p:cNvSpPr>
            <a:spLocks xmlns:a="http://schemas.openxmlformats.org/drawingml/2006/main" noGrp="1"/>
          </p:cNvSpPr>
          <p:nvPr/>
        </p:nvSpPr>
        <p:spPr>
          <a:xfrm xmlns:a="http://schemas.openxmlformats.org/drawingml/2006/main">
            <a:off x="1381125"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8F84BEF1-1367-4E78-AA01-BC3889CEF4BC}"/>
              </a:ext>
            </a:extLst>
          </p:cNvPr>
          <p:cNvSpPr>
            <a:spLocks xmlns:a="http://schemas.openxmlformats.org/drawingml/2006/main" noGrp="1"/>
          </p:cNvSpPr>
          <p:nvPr/>
        </p:nvSpPr>
        <p:spPr>
          <a:xfrm xmlns:a="http://schemas.openxmlformats.org/drawingml/2006/main">
            <a:off x="2657475" y="3857625"/>
            <a:ext cx="342900" cy="3429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9" name="Oval 18">
            <a:extLst xmlns:a="http://schemas.openxmlformats.org/drawingml/2006/main">
              <a:ext uri="{FF2B5EF4-FFF2-40B4-BE49-F238E27FC236}">
                <a16:creationId xmlns:a16="http://schemas.microsoft.com/office/drawing/2014/main" id="{EA9A95CF-FC14-4BD4-BAC7-E113A1CEFD24}"/>
              </a:ext>
            </a:extLst>
          </p:cNvPr>
          <p:cNvSpPr>
            <a:spLocks xmlns:a="http://schemas.openxmlformats.org/drawingml/2006/main" noGrp="1"/>
          </p:cNvSpPr>
          <p:nvPr/>
        </p:nvSpPr>
        <p:spPr>
          <a:xfrm xmlns:a="http://schemas.openxmlformats.org/drawingml/2006/main">
            <a:off x="318135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0" name="Oval 19">
            <a:extLst xmlns:a="http://schemas.openxmlformats.org/drawingml/2006/main">
              <a:ext uri="{FF2B5EF4-FFF2-40B4-BE49-F238E27FC236}">
                <a16:creationId xmlns:a16="http://schemas.microsoft.com/office/drawing/2014/main" id="{1B62E78F-7E2D-4AF0-BA2D-8DF4AE712DA5}"/>
              </a:ext>
            </a:extLst>
          </p:cNvPr>
          <p:cNvSpPr>
            <a:spLocks xmlns:a="http://schemas.openxmlformats.org/drawingml/2006/main" noGrp="1"/>
          </p:cNvSpPr>
          <p:nvPr/>
        </p:nvSpPr>
        <p:spPr>
          <a:xfrm xmlns:a="http://schemas.openxmlformats.org/drawingml/2006/main">
            <a:off x="388620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1" name="Oval 20">
            <a:extLst xmlns:a="http://schemas.openxmlformats.org/drawingml/2006/main">
              <a:ext uri="{FF2B5EF4-FFF2-40B4-BE49-F238E27FC236}">
                <a16:creationId xmlns:a16="http://schemas.microsoft.com/office/drawing/2014/main" id="{49E266AB-BC36-4FB6-AC5A-38A91A3CB61C}"/>
              </a:ext>
            </a:extLst>
          </p:cNvPr>
          <p:cNvSpPr>
            <a:spLocks xmlns:a="http://schemas.openxmlformats.org/drawingml/2006/main" noGrp="1"/>
          </p:cNvSpPr>
          <p:nvPr/>
        </p:nvSpPr>
        <p:spPr>
          <a:xfrm xmlns:a="http://schemas.openxmlformats.org/drawingml/2006/main">
            <a:off x="461010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59D743A1-E3D9-4428-B67C-E58F47681335}"/>
              </a:ext>
            </a:extLst>
          </p:cNvPr>
          <p:cNvSpPr>
            <a:spLocks xmlns:a="http://schemas.openxmlformats.org/drawingml/2006/main" noGrp="1"/>
          </p:cNvSpPr>
          <p:nvPr/>
        </p:nvSpPr>
        <p:spPr>
          <a:xfrm xmlns:a="http://schemas.openxmlformats.org/drawingml/2006/main">
            <a:off x="457200" y="45720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111111"/>
                </a:solidFill>
                <a:latin typeface="Times New Roman"/>
                <a:ea typeface="Times New Roman"/>
                <a:cs typeface="Times New Roman"/>
              </a:defRPr>
            </a:defPPr>
          </a:lstStyle>
          <a:p xmlns:a="http://schemas.openxmlformats.org/drawingml/2006/main">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Track the orange particle in each repeat.</a:t>
            </a:r>
          </a:p>
          <a:p xmlns:a="http://schemas.openxmlformats.org/drawingml/2006/main">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Particles collide but never overtake.</a:t>
            </a:r>
          </a:p>
        </p:txBody>
      </p:sp>
      <p:sp>
        <p:nvSpPr>
          <p:cNvPr id="23" name="Rectangle 22">
            <a:extLst xmlns:a="http://schemas.openxmlformats.org/drawingml/2006/main">
              <a:ext uri="{FF2B5EF4-FFF2-40B4-BE49-F238E27FC236}">
                <a16:creationId xmlns:a16="http://schemas.microsoft.com/office/drawing/2014/main" id="{DBD48C7F-F0B6-4566-AD72-218593300322}"/>
              </a:ext>
            </a:extLst>
          </p:cNvPr>
          <p:cNvSpPr>
            <a:spLocks xmlns:a="http://schemas.openxmlformats.org/drawingml/2006/main" noGrp="1"/>
          </p:cNvSpPr>
          <p:nvPr/>
        </p:nvSpPr>
        <p:spPr>
          <a:xfrm xmlns:a="http://schemas.openxmlformats.org/drawingml/2006/main">
            <a:off x="6191250" y="1533525"/>
            <a:ext cx="5543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Why fitting alone is insufficient</a:t>
            </a:r>
          </a:p>
        </p:txBody>
      </p:sp>
      <p:graphicFrame>
        <p:nvGraphicFramePr>
          <p:cNvPr id="24" name="Chart">
            <a:extLst xmlns:a="http://schemas.openxmlformats.org/drawingml/2006/main">
              <a:ext uri="{FF2B5EF4-FFF2-40B4-BE49-F238E27FC236}">
                <a16:creationId xmlns:a16="http://schemas.microsoft.com/office/drawing/2014/main" id="{E7E012F8-6C43-464D-A75A-FEA28396532B}"/>
              </a:ext>
            </a:extLst>
          </p:cNvPr>
          <p:cNvGraphicFramePr/>
          <p:nvPr/>
        </p:nvGraphicFramePr>
        <p:xfrm>
          <a:off xmlns:a="http://schemas.openxmlformats.org/drawingml/2006/main" x="6105525" y="1971675"/>
          <a:ext xmlns:a="http://schemas.openxmlformats.org/drawingml/2006/main" cx="5629275" cy="3143250"/>
        </p:xfrm>
        <a:graphic xmlns:a="http://schemas.openxmlformats.org/drawingml/2006/main">
          <a:graphicData uri="http://schemas.openxmlformats.org/drawingml/2006/chart">
            <c:chart xmlns:r="http://schemas.openxmlformats.org/officeDocument/2006/relationships" xmlns:c="http://schemas.openxmlformats.org/drawingml/2006/chart" r:id="R86dd4277d3b04eb2"/>
          </a:graphicData>
        </a:graphic>
      </p:graphicFrame>
      <p:sp>
        <p:nvSpPr>
          <p:cNvPr id="25" name="Rectangle 24">
            <a:extLst xmlns:a="http://schemas.openxmlformats.org/drawingml/2006/main">
              <a:ext uri="{FF2B5EF4-FFF2-40B4-BE49-F238E27FC236}">
                <a16:creationId xmlns:a16="http://schemas.microsoft.com/office/drawing/2014/main" id="{4B241E38-7C47-46F8-8966-8D5D630DCA39}"/>
              </a:ext>
            </a:extLst>
          </p:cNvPr>
          <p:cNvSpPr>
            <a:spLocks xmlns:a="http://schemas.openxmlformats.org/drawingml/2006/main" noGrp="1"/>
          </p:cNvSpPr>
          <p:nvPr/>
        </p:nvSpPr>
        <p:spPr>
          <a:xfrm xmlns:a="http://schemas.openxmlformats.org/drawingml/2006/main">
            <a:off x="6191250" y="5248275"/>
            <a:ext cx="55435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1">
                <a:solidFill>
                  <a:srgbClr val="111111"/>
                </a:solidFill>
                <a:latin typeface="Times New Roman"/>
                <a:ea typeface="Times New Roman"/>
                <a:cs typeface="Times New Roman"/>
              </a:defRPr>
            </a:defPPr>
          </a:lstStyle>
          <a:p xmlns:a="http://schemas.openxmlformats.org/drawingml/2006/main">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Same time: both fit.</a:t>
            </a:r>
          </a:p>
          <a:p xmlns:a="http://schemas.openxmlformats.org/drawingml/2006/main">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Different times: memory changes the prediction.</a:t>
            </a:r>
          </a:p>
        </p:txBody>
      </p:sp>
      <p:sp>
        <p:nvSpPr>
          <p:cNvPr id="26" name="Rectangle 25">
            <a:extLst xmlns:a="http://schemas.openxmlformats.org/drawingml/2006/main">
              <a:ext uri="{FF2B5EF4-FFF2-40B4-BE49-F238E27FC236}">
                <a16:creationId xmlns:a16="http://schemas.microsoft.com/office/drawing/2014/main" id="{6D89FA9C-1AA0-4165-931E-D886C36E63EB}"/>
              </a:ext>
            </a:extLst>
          </p:cNvPr>
          <p:cNvSpPr>
            <a:spLocks xmlns:a="http://schemas.openxmlformats.org/drawingml/2006/main" noGrp="1"/>
          </p:cNvSpPr>
          <p:nvPr/>
        </p:nvSpPr>
        <p:spPr>
          <a:xfrm xmlns:a="http://schemas.openxmlformats.org/drawingml/2006/main">
            <a:off x="457200" y="5362575"/>
            <a:ext cx="5162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1">
                <a:solidFill>
                  <a:srgbClr val="1D4E89"/>
                </a:solidFill>
                <a:latin typeface="Times New Roman"/>
                <a:ea typeface="Times New Roman"/>
                <a:cs typeface="Times New Roman"/>
              </a:defRPr>
            </a:defPPr>
          </a:lstStyle>
          <a:p xmlns:a="http://schemas.openxmlformats.org/drawingml/2006/main">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Agent task: fit the movement scale, then</a:t>
            </a:r>
          </a:p>
          <a:p xmlns:a="http://schemas.openxmlformats.org/drawingml/2006/main">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predict how two measurement times are related.</a:t>
            </a:r>
          </a:p>
        </p:txBody>
      </p:sp>
      <p:sp>
        <p:nvSpPr>
          <p:cNvPr id="27" name="Rectangle 26">
            <a:extLst xmlns:a="http://schemas.openxmlformats.org/drawingml/2006/main">
              <a:ext uri="{FF2B5EF4-FFF2-40B4-BE49-F238E27FC236}">
                <a16:creationId xmlns:a16="http://schemas.microsoft.com/office/drawing/2014/main" id="{451EDAC5-84AF-4886-ABB5-00F5489CD4A3}"/>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Schematic and analytic curves, not measured trajectories. “Shared motion” means covariance. The task asks for its long-time scaling coefficient.</a:t>
            </a:r>
          </a:p>
        </p:txBody>
      </p:sp>
      <p:sp>
        <p:nvSpPr>
          <p:cNvPr id="30" name="Rectangle 29">
            <a:extLst xmlns:a="http://schemas.openxmlformats.org/drawingml/2006/main">
              <a:ext uri="{FF2B5EF4-FFF2-40B4-BE49-F238E27FC236}">
                <a16:creationId xmlns:a16="http://schemas.microsoft.com/office/drawing/2014/main" id="{F6A031A1-5617-41AC-B818-7E20F8A6707A}"/>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16</a:t>
            </a:r>
          </a:p>
        </p:txBody>
      </p:sp>
    </p:spTree>
    <p:extLst>
      <p:ext uri="{BB962C8B-B14F-4D97-AF65-F5344CB8AC3E}">
        <p14:creationId xmlns:p14="http://schemas.microsoft.com/office/powerpoint/2010/main" val="52420409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E5CB2C6E-7277-4057-92F4-D20AB1351AFD}"/>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effort in the original no-hint sweep</a:t>
            </a:r>
          </a:p>
        </p:txBody>
      </p:sp>
      <p:sp>
        <p:nvSpPr>
          <p:cNvPr id="2" name="Rectangle 1">
            <a:extLst xmlns:a="http://schemas.openxmlformats.org/drawingml/2006/main">
              <a:ext uri="{FF2B5EF4-FFF2-40B4-BE49-F238E27FC236}">
                <a16:creationId xmlns:a16="http://schemas.microsoft.com/office/drawing/2014/main" id="{6CDF1242-97DD-416C-80CD-7C84872B5567}"/>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Completed passes out of 39, with model and task suite held fixed.</a:t>
            </a:r>
          </a:p>
        </p:txBody>
      </p:sp>
      <p:graphicFrame>
        <p:nvGraphicFramePr>
          <p:cNvPr id="4" name="Chart">
            <a:extLst xmlns:a="http://schemas.openxmlformats.org/drawingml/2006/main">
              <a:ext uri="{FF2B5EF4-FFF2-40B4-BE49-F238E27FC236}">
                <a16:creationId xmlns:a16="http://schemas.microsoft.com/office/drawing/2014/main" id="{6A422AD3-BC94-48E3-9620-FD866F64E52F}"/>
              </a:ext>
            </a:extLst>
          </p:cNvPr>
          <p:cNvGraphicFramePr/>
          <p:nvPr/>
        </p:nvGraphicFramePr>
        <p:xfrm>
          <a:off xmlns:a="http://schemas.openxmlformats.org/drawingml/2006/main" x="457200" y="1581150"/>
          <a:ext xmlns:a="http://schemas.openxmlformats.org/drawingml/2006/main" cx="7810500" cy="4171950"/>
        </p:xfrm>
        <a:graphic xmlns:a="http://schemas.openxmlformats.org/drawingml/2006/main">
          <a:graphicData uri="http://schemas.openxmlformats.org/drawingml/2006/chart">
            <c:chart xmlns:r="http://schemas.openxmlformats.org/officeDocument/2006/relationships" xmlns:c="http://schemas.openxmlformats.org/drawingml/2006/chart" r:id="R259f42c74cb44bf5"/>
          </a:graphicData>
        </a:graphic>
      </p:graphicFrame>
      <p:sp>
        <p:nvSpPr>
          <p:cNvPr id="5" name="Rectangle 4">
            <a:extLst xmlns:a="http://schemas.openxmlformats.org/drawingml/2006/main">
              <a:ext uri="{FF2B5EF4-FFF2-40B4-BE49-F238E27FC236}">
                <a16:creationId xmlns:a16="http://schemas.microsoft.com/office/drawing/2014/main" id="{780A35DB-01C4-4099-A34A-DEB48391A03B}"/>
              </a:ext>
            </a:extLst>
          </p:cNvPr>
          <p:cNvSpPr>
            <a:spLocks xmlns:a="http://schemas.openxmlformats.org/drawingml/2006/main" noGrp="1"/>
          </p:cNvSpPr>
          <p:nvPr/>
        </p:nvSpPr>
        <p:spPr>
          <a:xfrm xmlns:a="http://schemas.openxmlformats.org/drawingml/2006/main">
            <a:off x="8763000" y="20383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i="0">
                <a:solidFill>
                  <a:srgbClr val="B45309"/>
                </a:solidFill>
                <a:latin typeface="Times New Roman"/>
                <a:ea typeface="Times New Roman"/>
                <a:cs typeface="Times New Roman"/>
              </a:defRPr>
            </a:defPPr>
          </a:lstStyle>
          <a:p xmlns:a="http://schemas.openxmlformats.org/drawingml/2006/main">
            <a:pPr algn="l">
              <a:buNone/>
              <a:defRPr sz="2025" b="1" i="0">
                <a:solidFill>
                  <a:srgbClr val="B45309"/>
                </a:solidFill>
                <a:latin typeface="Times New Roman"/>
                <a:ea typeface="Times New Roman"/>
                <a:cs typeface="Times New Roman"/>
              </a:defRPr>
            </a:pPr>
            <a:r>
              <a:rPr sz="2025" b="1" i="0">
                <a:solidFill>
                  <a:srgbClr val="B45309"/>
                </a:solidFill>
                <a:latin typeface="Times New Roman"/>
                <a:ea typeface="Times New Roman"/>
                <a:cs typeface="Times New Roman"/>
              </a:rPr>
              <a:t>Terra 5.6</a:t>
            </a:r>
          </a:p>
        </p:txBody>
      </p:sp>
      <p:sp>
        <p:nvSpPr>
          <p:cNvPr id="6" name="Rectangle 5">
            <a:extLst xmlns:a="http://schemas.openxmlformats.org/drawingml/2006/main">
              <a:ext uri="{FF2B5EF4-FFF2-40B4-BE49-F238E27FC236}">
                <a16:creationId xmlns:a16="http://schemas.microsoft.com/office/drawing/2014/main" id="{FAB21FD1-8149-49A1-B62D-20549B8C274F}"/>
              </a:ext>
            </a:extLst>
          </p:cNvPr>
          <p:cNvSpPr>
            <a:spLocks xmlns:a="http://schemas.openxmlformats.org/drawingml/2006/main" noGrp="1"/>
          </p:cNvSpPr>
          <p:nvPr/>
        </p:nvSpPr>
        <p:spPr>
          <a:xfrm xmlns:a="http://schemas.openxmlformats.org/drawingml/2006/main">
            <a:off x="8763000" y="2476500"/>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4, 9, 19 passes</a:t>
            </a:r>
          </a:p>
        </p:txBody>
      </p:sp>
      <p:sp>
        <p:nvSpPr>
          <p:cNvPr id="7" name="Rectangle 6">
            <a:extLst xmlns:a="http://schemas.openxmlformats.org/drawingml/2006/main">
              <a:ext uri="{FF2B5EF4-FFF2-40B4-BE49-F238E27FC236}">
                <a16:creationId xmlns:a16="http://schemas.microsoft.com/office/drawing/2014/main" id="{EF64A771-CEEB-4F4B-8604-6CBD810FF994}"/>
              </a:ext>
            </a:extLst>
          </p:cNvPr>
          <p:cNvSpPr>
            <a:spLocks xmlns:a="http://schemas.openxmlformats.org/drawingml/2006/main" noGrp="1"/>
          </p:cNvSpPr>
          <p:nvPr/>
        </p:nvSpPr>
        <p:spPr>
          <a:xfrm xmlns:a="http://schemas.openxmlformats.org/drawingml/2006/main">
            <a:off x="8763000" y="34575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i="0">
                <a:solidFill>
                  <a:srgbClr val="5B4B7C"/>
                </a:solidFill>
                <a:latin typeface="Times New Roman"/>
                <a:ea typeface="Times New Roman"/>
                <a:cs typeface="Times New Roman"/>
              </a:defRPr>
            </a:defPPr>
          </a:lstStyle>
          <a:p xmlns:a="http://schemas.openxmlformats.org/drawingml/2006/main">
            <a:pPr algn="l">
              <a:buNone/>
              <a:defRPr sz="2025" b="1" i="0">
                <a:solidFill>
                  <a:srgbClr val="5B4B7C"/>
                </a:solidFill>
                <a:latin typeface="Times New Roman"/>
                <a:ea typeface="Times New Roman"/>
                <a:cs typeface="Times New Roman"/>
              </a:defRPr>
            </a:pPr>
            <a:r>
              <a:rPr sz="2025" b="1" i="0">
                <a:solidFill>
                  <a:srgbClr val="5B4B7C"/>
                </a:solidFill>
                <a:latin typeface="Times New Roman"/>
                <a:ea typeface="Times New Roman"/>
                <a:cs typeface="Times New Roman"/>
              </a:rPr>
              <a:t>Astra Extra High</a:t>
            </a:r>
          </a:p>
        </p:txBody>
      </p:sp>
      <p:sp>
        <p:nvSpPr>
          <p:cNvPr id="8" name="Rectangle 7">
            <a:extLst xmlns:a="http://schemas.openxmlformats.org/drawingml/2006/main">
              <a:ext uri="{FF2B5EF4-FFF2-40B4-BE49-F238E27FC236}">
                <a16:creationId xmlns:a16="http://schemas.microsoft.com/office/drawing/2014/main" id="{AB07E48E-D3EB-4329-B686-D24EFD20298E}"/>
              </a:ext>
            </a:extLst>
          </p:cNvPr>
          <p:cNvSpPr>
            <a:spLocks xmlns:a="http://schemas.openxmlformats.org/drawingml/2006/main" noGrp="1"/>
          </p:cNvSpPr>
          <p:nvPr/>
        </p:nvSpPr>
        <p:spPr>
          <a:xfrm xmlns:a="http://schemas.openxmlformats.org/drawingml/2006/main">
            <a:off x="8763000" y="4229100"/>
            <a:ext cx="295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111111"/>
                </a:solidFill>
                <a:latin typeface="Times New Roman"/>
                <a:ea typeface="Times New Roman"/>
                <a:cs typeface="Times New Roman"/>
              </a:defRPr>
            </a:defPPr>
          </a:lstStyle>
          <a:p xmlns:a="http://schemas.openxmlformats.org/drawingml/2006/main">
            <a:pPr algn="l">
              <a:buNone/>
              <a:defRPr sz="1875" b="0" i="0">
                <a:solidFill>
                  <a:srgbClr val="111111"/>
                </a:solidFill>
                <a:latin typeface="Times New Roman"/>
                <a:ea typeface="Times New Roman"/>
                <a:cs typeface="Times New Roman"/>
              </a:defRPr>
            </a:pPr>
            <a:r>
              <a:rPr sz="1875" b="0" i="0">
                <a:solidFill>
                  <a:srgbClr val="111111"/>
                </a:solidFill>
                <a:latin typeface="Times New Roman"/>
                <a:ea typeface="Times New Roman"/>
                <a:cs typeface="Times New Roman"/>
              </a:rPr>
              <a:t>2 timeouts</a:t>
            </a:r>
          </a:p>
          <a:p xmlns:a="http://schemas.openxmlformats.org/drawingml/2006/main">
            <a:pPr algn="l">
              <a:buNone/>
              <a:defRPr sz="1875" b="0" i="0">
                <a:solidFill>
                  <a:srgbClr val="111111"/>
                </a:solidFill>
                <a:latin typeface="Times New Roman"/>
                <a:ea typeface="Times New Roman"/>
                <a:cs typeface="Times New Roman"/>
              </a:defRPr>
            </a:pPr>
            <a:r>
              <a:rPr sz="1875" b="0" i="0">
                <a:solidFill>
                  <a:srgbClr val="111111"/>
                </a:solidFill>
                <a:latin typeface="Times New Roman"/>
                <a:ea typeface="Times New Roman"/>
                <a:cs typeface="Times New Roman"/>
              </a:rPr>
              <a:t>Both checkpoints passed</a:t>
            </a:r>
          </a:p>
        </p:txBody>
      </p:sp>
      <p:sp>
        <p:nvSpPr>
          <p:cNvPr id="9" name="Rectangle 8">
            <a:extLst xmlns:a="http://schemas.openxmlformats.org/drawingml/2006/main">
              <a:ext uri="{FF2B5EF4-FFF2-40B4-BE49-F238E27FC236}">
                <a16:creationId xmlns:a16="http://schemas.microsoft.com/office/drawing/2014/main" id="{E3C707DE-9EBF-46C9-AF4D-C458D0B24515}"/>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Descriptive comparison on selected tasks. High reuses earlier observations. Timeout checkpoints do not count as completed passes.</a:t>
            </a:r>
          </a:p>
        </p:txBody>
      </p:sp>
      <p:sp>
        <p:nvSpPr>
          <p:cNvPr id="11" name="Rectangle 10">
            <a:extLst xmlns:a="http://schemas.openxmlformats.org/drawingml/2006/main">
              <a:ext uri="{FF2B5EF4-FFF2-40B4-BE49-F238E27FC236}">
                <a16:creationId xmlns:a16="http://schemas.microsoft.com/office/drawing/2014/main" id="{AC0F4F45-8F61-4F0B-B49A-D041E976FA43}"/>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17</a:t>
            </a:r>
          </a:p>
        </p:txBody>
      </p:sp>
    </p:spTree>
    <p:extLst>
      <p:ext uri="{BB962C8B-B14F-4D97-AF65-F5344CB8AC3E}">
        <p14:creationId xmlns:p14="http://schemas.microsoft.com/office/powerpoint/2010/main" val="8481716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2026-10-15T14:44:56.0300000Z</dcterms:created>
  <dcterms:modified xsi:type="dcterms:W3CDTF">2026-10-15T14:44:56.0300000Z</dcterms:modified>
</coreProperties>
</file>