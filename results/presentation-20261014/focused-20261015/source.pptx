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3"/>
  </p:normalViewPr>
  <p:slideViewPr>
    <p:cSldViewPr snapToGrid="0">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 seconds.</a:t>
            </a:r>
          </a:p>
          <a:p>
            <a:endParaRPr/>
          </a:p>
          <a:p>
            <a:r>
              <a:t>We study how well coding agents can turn a physical setup and limited measurements into predictions.</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Our benchmark asks a coding agent to infer a physical model from a description and limited observations, then predict new conditions. It receives starter code, calibration data and public tests. The hidden evaluator tests predictions that a good calibration fit does not guarantee. The thirteen tasks cover several physics families. The original ten had zero of three GPT-5.6 Luna High passes during selection. The roster does not support claiming the same current qualification result for all thirteen. Selection outcomes and independent evaluation results answer different questions.</a:t>
            </a:r>
          </a:p>
          <a:p>
            <a:endParaRPr/>
          </a:p>
          <a:p>
            <a:r>
              <a:t>Sources:</a:t>
            </a:r>
          </a:p>
          <a:p>
            <a:r>
              <a:t>/Users/yp9846/Desktop/PhysLiteBench/results/task-roster.json</a:t>
            </a:r>
          </a:p>
          <a:p>
            <a:r>
              <a:t>/Users/yp9846/Desktop/PhysLiteBench/results/qualified-tasks.json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85 seconds.</a:t>
            </a:r>
          </a:p>
          <a:p>
            <a:endParaRPr/>
          </a:p>
          <a:p>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a:endParaRPr/>
          </a:p>
          <a:p>
            <a:r>
              <a:t>Sources:</a:t>
            </a:r>
          </a:p>
          <a:p>
            <a:r>
              <a:t>/Users/yp9846/Desktop/PhysLiteBench/results/hint-comparison-20261014/plan.json</a:t>
            </a:r>
          </a:p>
          <a:p>
            <a:r>
              <a:t>/Users/yp9846/Desktop/PhysLiteBench/tasks/single-file-memory/hint.md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This is one study across seven model versions. Each listed setting covers all thirteen tasks. A batch usually samples three independent attempts per task, without stopping after a pass. We combine independent repetitions of the same model, effort and condition, and count each reused baseline only once. The table shows total attempts over the listed conditions, including exceptions. The exact breakdown is in the backup tables and CSV. No-hint totals are 1,054; general and physics hints each have 507. An incomplete three-attempt DeepSeek None pilot remains outside these totals.</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The horizontal axis uses a logarithmic scale because costs span more than two orders of magnitude. Moving left means lower cost and moving up means more completed passes. Colors identify exact model versions; marker shapes identify reasoning effort. The dashed line joins observed nondominated settings with straight segments, without smoothing or interpolation of new observations. GPT-6 Luna Low and Extra High anchor the inexpensive end. GPT-6 Sol Low and High reach about 95% and 100% completion. The remaining complete-cost settings are shown even when dominated. Five settings have incomplete costs: Luna 5.6 High and Extra High plus DeepSeek Low, High and Max. Their outcomes stay in the backup and data, but their uncertain cost does not enter an exact frontier.</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50 seconds.</a:t>
            </a:r>
          </a:p>
          <a:p>
            <a:endParaRPr/>
          </a:p>
          <a:p>
            <a:r>
              <a:t>This view holds the set of model and effort combinations fixed across the three prompt conditions. It includes GPT-5.6 Luna at six efforts, Terra at Low, Medium and High, Sol at Low and Medium, and DeepSeek at High. Color shows the hint condition. Shape shows the model and nearby letters show selected effort labels. We combine the available independent attempts within each model, effort and condition. The log-scaled cost axis exposes the low-cost Luna settings and the more expensive Terra and Sol settings. Physics hints generally reach higher observed success, but fourteen settings have incomplete costs, including all three Luna High cost estimates after pooling, so they are omitted from exact cost frontiers. All outcomes remain in the next slide and backup table. The curves join observed points with straight segments. They do not imply interpolated model configurations or a causal effect.</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Here we keep the model fixed and compare effort and guidance. The height of each bar is a rate, so the additional High-effort attempts do not create an artificial height advantage. At High, the combined results are four of forty without a hint, twenty-five of seventy-eight with a general hint, and sixty-two of seventy-eight with a physics hint. Other cells have thirty-nine attempts. Physics hints have the highest observed rate at each effort setting. Extra High and Max still differ, and the small number of repeats limits precision.</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The outcome chart combines all recorded attempts by model. Its different sample sizes are printed beside the names. The study has 899 completed passes, 904 graded failures and 265 execution errors. These model totals combine different effort and hint settings, so this chart describes outcome composition rather than a controlled ranking.</a:t>
            </a:r>
          </a:p>
          <a:p>
            <a:endParaRPr/>
          </a:p>
          <a:p>
            <a:r>
              <a:t>The failure diagnoses on the right refer to explicitly reviewed subsets. Among 191 normally completed failures in a 585-attempt no-hint subset, 186 passed calibration and parameter checks but failed new predictions. At least 141 of these 186 also show public-test passes. The published hinted failure review classified 229 of 315 graded failures as physics/modeling, 54 as mathematical/numerical and 32 as implementation. These are different review taxonomies and should not be subtracted as a hint-effect estimate. The no-hint analysis used saved tool actions, submitted code and verifier evidence. The hinted diagnoses are published review results; their raw trajectories were not independently reviewed here. None of these counts infer physics failure from a timeout.</a:t>
            </a:r>
          </a:p>
          <a:p>
            <a:endParaRPr/>
          </a:p>
          <a:p>
            <a:r>
              <a:t>Sources:</a:t>
            </a:r>
          </a:p>
          <a:p>
            <a:r>
              <a:t>/Users/yp9846/Desktop/PhysLiteBench/output/presentation-20261014/PhysLiteBench-study-figures-20261015/sources/trajectory-analysis.json</a:t>
            </a:r>
          </a:p>
          <a:p>
            <a:r>
              <a:t>/Users/yp9846/Desktop/PhysLiteBench/output/presentation-20261014/PhysLiteBench-study-figures-20261015/sources/hint-matrix-summary.md</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80 seconds.</a:t>
            </a:r>
          </a:p>
          <a:p>
            <a:endParaRPr/>
          </a:p>
          <a:p>
            <a:r>
              <a:t>Here is the same bead example, now using a saved Terra run. Every repeat starts with the neighbors evenly spaced. We record the orange bead early and again later. The red arrow means a statistical link across repeats, not a force between two beads.</a:t>
            </a:r>
          </a:p>
          <a:p>
            <a:endParaRPr/>
          </a:p>
          <a:p>
            <a:r>
              <a:t>The agent adjusted one number controlling the amount of random motion. Its code matched the supplied measurements of how far the bead wanders at each time, and the public test passed.</a:t>
            </a:r>
          </a:p>
          <a:p>
            <a:endParaRPr/>
          </a:p>
          <a:p>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a:endParaRPr/>
          </a:p>
          <a:p>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a:endParaRPr/>
          </a:p>
          <a:p>
            <a:r>
              <a:t>Sources:</a:t>
            </a:r>
          </a:p>
          <a:p>
            <a:r>
              <a:t>/Users/yp9846/Desktop/PhysLiteBench/tasks/single-file-memory/environment/README.md</a:t>
            </a:r>
          </a:p>
          <a:p>
            <a:r>
              <a:t>/Users/yp9846/Desktop/PhysLiteBench/tasks/single-file-memory/environment/model.py</a:t>
            </a:r>
          </a:p>
          <a:p>
            <a:r>
              <a:t>/Users/yp9846/Desktop/PhysLiteBench/tasks/single-file-memory/solution/model.py</a:t>
            </a:r>
          </a:p>
          <a:p>
            <a:r>
              <a:t>/Users/yp9846/Desktop/PhysLiteBench/results/trajectory-analysis-20261014/cases/single-file-memory__PC6LumP/review.json</a:t>
            </a:r>
          </a:p>
          <a:p>
            <a:r>
              <a:t>/Users/yp9846/Desktop/PhysLiteBench/results/trajectory-analysis-20261014/cases/single-file-memory__PC6LumP/model.diff</a:t>
            </a:r>
          </a:p>
          <a:p>
            <a:r>
              <a:t>/Users/yp9846/Desktop/PhysLiteBench/results/trajectory-analysis-20261014/cases/single-file-memory__PC6LumP/metrics.json</a:t>
            </a:r>
          </a:p>
          <a:p>
            <a:r>
              <a:t>/Users/yp9846/Desktop/PhysLiteBench/results/trajectory-analysis-20261014/diagnostic-repairs.json</a:t>
            </a:r>
          </a:p>
          <a:p>
            <a:endParaRPr/>
          </a:p>
          <a:p>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A good calibration fit can hide the wrong physical model, as the bead covariance example shows. Model choice and reasoning effort trade off cost against success. Across the combined evidence, physics hints have the highest observed success at every tested Luna effort. At High, Luna passes sixty-two of seventy-eight attempts and Terra thirty-six of thirty-nine with physics hints. Historical controls and runtime differences qualify causal claims, and execution errors remain separate from physics failure.</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180 seconds.</a:t>
            </a:r>
          </a:p>
          <a:p>
            <a:endParaRPr/>
          </a:p>
          <a:p>
            <a:r>
              <a:t>Questions. Useful scope distinctions are task selection versus evaluation, completed passes versus timeout checkpoints, and descriptive hint comparisons versus causal estimates. Backup slides provide the full model/effort tables, task roster and bead covariance formulas. The plotting bundle contains the archived sources, hash manifest, aggregation script and Python plotting script.</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All complete no-hint settings, aggregated by exact model version and effort. This table retains results with missing cost, even though those settings are absent from the exact frontier. Terra Low and High, and DeepSeek High, each have 78 distinct attempts. Luna High has 40 because one fresh baseline was already started before historical baseline reuse. Other settings have 39. Cost bounds and original records are in the plotting bundle.</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These twelve model-effort combinations have all three prompt conditions. The full experiment also includes models and effort settings tested without hints only. Every result in this table belongs to the same frozen thirteen-task benchmark. Parenthesized values are execution errors, not additional passes or independently diagnosed physics failures. The setup replacement policy differs across the archived schedules and remains documented, rather than being changed after the fact.</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 same thirteen task families are used throughout the study. Content and grading match the frozen source snapshot. The original ten have a preserved zero-of-three Luna High qualification record; the three later tasks have separate selection and confirmation evidence. Subsequent independent evaluations can pass.</a:t>
            </a:r>
          </a:p>
          <a:p>
            <a:endParaRPr/>
          </a:p>
          <a:p>
            <a:r>
              <a:t>Sources:</a:t>
            </a:r>
          </a:p>
          <a:p>
            <a:r>
              <a:t>/Users/yp9846/Desktop/PhysLiteBench/results/task-roster.json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r>
              <a:t>/Users/yp9846/Desktop/PhysLiteBench/results/trajectory-analysis-20261014/cases/single-file-memory__PC6LumP/metrics.json</a:t>
            </a:r>
          </a:p>
          <a:p>
            <a:r>
              <a:t>/Users/yp9846/Desktop/PhysLiteBench/results/trajectory-analysis-20261014/diagnostic-repairs.json</a:t>
            </a:r>
          </a:p>
          <a:p>
            <a:endParaRPr/>
          </a:p>
          <a:p>
            <a:r>
              <a:t>The Python plot uses the exact 57 coordinate pairs per series from the user-edited source chart. No spline or smoothing is applied. The source series and plotting script are archived in /Users/yp9846/Desktop/PhysLiteBench/output/presentation-20261014/PhysLiteBench-study-figures-20261015.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All available model versions and no-hint effort settings appear in one chart. Rates use the pooled distinct-attempt denominators in the preceding table. Points are connected by straight segments only for visual guidance. Untested effort settings are not inferred. More reasoning does not monotonically increase the observed completion rate under the fixed time limit.</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DAF00F-B395-4BB8-A439-9AA89BEDDAA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816860D-B2BB-4679-95BC-EC17130D2CD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704A9-9853-44A6-8B4A-4DC4DB9A471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0E75D2A-E789-411F-A213-993328928F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EEEACEAE-9A1D-4507-A60D-2AE6FC7CF3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7CEFAC2-A0C9-4F70-B012-77B95FAB7D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E9C7553-1AB5-446B-B4C5-ABBCB0AC29F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B0184D06-C74C-4068-BE3F-45139A68C7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7D4CBD-570B-4FE0-8AC2-C6CC842A2C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ACBB10A-755C-4118-A48F-8124498F7F4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305941-EC9E-4DF1-85D9-9C688DEBF0BA}"/>
              </a:ext>
            </a:extLst>
          </p:cNvPr>
          <p:cNvSpPr>
            <a:spLocks noGrp="1"/>
          </p:cNvSpPr>
          <p:nvPr/>
        </p:nvSpPr>
        <p:spPr>
          <a:xfrm>
            <a:off x="609600" y="2266950"/>
            <a:ext cx="10972800" cy="990600"/>
          </a:xfrm>
          <a:prstGeom prst="rect">
            <a:avLst/>
          </a:prstGeom>
          <a:noFill/>
          <a:ln w="0">
            <a:noFill/>
          </a:ln>
        </p:spPr>
        <p:txBody>
          <a:bodyPr wrap="square" lIns="0" tIns="0" rIns="0" bIns="0" anchor="t"/>
          <a:lstStyle>
            <a:defPPr algn="l">
              <a:defRPr sz="5700" b="1">
                <a:solidFill>
                  <a:srgbClr val="FFFFFF"/>
                </a:solidFill>
                <a:latin typeface="Times New Roman"/>
                <a:ea typeface="Times New Roman"/>
                <a:cs typeface="Times New Roman"/>
              </a:defRPr>
            </a:defPPr>
          </a:lstStyle>
          <a:p>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a:ext uri="{FF2B5EF4-FFF2-40B4-BE49-F238E27FC236}">
                <a16:creationId xmlns:a16="http://schemas.microsoft.com/office/drawing/2014/main" id="{A66653FB-D27E-4B22-AFF4-475D4255B342}"/>
              </a:ext>
            </a:extLst>
          </p:cNvPr>
          <p:cNvSpPr>
            <a:spLocks noGrp="1"/>
          </p:cNvSpPr>
          <p:nvPr/>
        </p:nvSpPr>
        <p:spPr>
          <a:xfrm>
            <a:off x="647700" y="3695700"/>
            <a:ext cx="10668000" cy="552450"/>
          </a:xfrm>
          <a:prstGeom prst="rect">
            <a:avLst/>
          </a:prstGeom>
          <a:noFill/>
          <a:ln w="0">
            <a:noFill/>
          </a:ln>
        </p:spPr>
        <p:txBody>
          <a:bodyPr wrap="square" lIns="0" tIns="0" rIns="0" bIns="0" anchor="t"/>
          <a:lstStyle>
            <a:defPPr algn="l">
              <a:defRPr sz="2700" b="0">
                <a:solidFill>
                  <a:srgbClr val="D1D5DB"/>
                </a:solidFill>
                <a:latin typeface="Times New Roman"/>
                <a:ea typeface="Times New Roman"/>
                <a:cs typeface="Times New Roman"/>
              </a:defRPr>
            </a:defPPr>
          </a:lstStyle>
          <a:p>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C09820-22BB-4372-A10F-CB42F1E32FBB}"/>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a:ext uri="{FF2B5EF4-FFF2-40B4-BE49-F238E27FC236}">
                <a16:creationId xmlns:a16="http://schemas.microsoft.com/office/drawing/2014/main" id="{C4A9DD3B-B3F9-48AA-BE20-495804BE1615}"/>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 coding agent infer the right physical model from a description and limited </a:t>
            </a:r>
            <a:r>
              <a:rPr sz="1875">
                <a:solidFill>
                  <a:srgbClr val="444444"/>
                </a:solidFill>
                <a:latin typeface="Times New Roman"/>
                <a:ea typeface="Times New Roman"/>
                <a:cs typeface="Times New Roman"/>
              </a:rPr>
              <a:t>observations</a:t>
            </a:r>
            <a:r>
              <a:rPr sz="1875" b="0" i="0">
                <a:solidFill>
                  <a:srgbClr val="444444"/>
                </a:solidFill>
                <a:latin typeface="Times New Roman"/>
                <a:ea typeface="Times New Roman"/>
                <a:cs typeface="Times New Roman"/>
              </a:rPr>
              <a:t>?</a:t>
            </a:r>
          </a:p>
        </p:txBody>
      </p:sp>
      <p:graphicFrame>
        <p:nvGraphicFramePr>
          <p:cNvPr id="4" name="Table 3">
            <a:extLst>
              <a:ext uri="{FF2B5EF4-FFF2-40B4-BE49-F238E27FC236}">
                <a16:creationId xmlns:a16="http://schemas.microsoft.com/office/drawing/2014/main" id="{045D8466-DBD4-4914-87FD-8993E9CE404D}"/>
              </a:ext>
            </a:extLst>
          </p:cNvPr>
          <p:cNvGraphicFramePr/>
          <p:nvPr/>
        </p:nvGraphicFramePr>
        <p:xfrm>
          <a:off x="457200" y="1819275"/>
          <a:ext cx="11277600" cy="2714624"/>
        </p:xfrm>
        <a:graphic>
          <a:graphicData uri="http://schemas.openxmlformats.org/drawingml/2006/table">
            <a:tbl>
              <a:tblPr/>
              <a:tblGrid>
                <a:gridCol w="5510869">
                  <a:extLst>
                    <a:ext uri="{9D8B030D-6E8A-4147-A177-3AD203B41FA5}">
                      <a16:colId xmlns:a16="http://schemas.microsoft.com/office/drawing/2014/main" val="20000"/>
                    </a:ext>
                  </a:extLst>
                </a:gridCol>
                <a:gridCol w="5766731">
                  <a:extLst>
                    <a:ext uri="{9D8B030D-6E8A-4147-A177-3AD203B41FA5}">
                      <a16:colId xmlns:a16="http://schemas.microsoft.com/office/drawing/2014/main" val="20001"/>
                    </a:ext>
                  </a:extLst>
                </a:gridCol>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678656">
                <a:tc>
                  <a:txBody>
                    <a:bodyPr/>
                    <a:lstStyle/>
                    <a:p>
                      <a:r>
                        <a:rPr sz="2025" b="0">
                          <a:solidFill>
                            <a:srgbClr val="111111"/>
                          </a:solidFill>
                          <a:latin typeface="Times New Roman"/>
                          <a:ea typeface="Times New Roman"/>
                          <a:cs typeface="Times New Roman"/>
                        </a:rPr>
                        <a:t>Physical description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1"/>
                  </a:ext>
                </a:extLst>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observed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2"/>
                  </a:ext>
                </a:extLst>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B8521B4-CF08-403D-8F9A-418747D0A182}"/>
              </a:ext>
            </a:extLst>
          </p:cNvPr>
          <p:cNvSpPr>
            <a:spLocks noGrp="1"/>
          </p:cNvSpPr>
          <p:nvPr/>
        </p:nvSpPr>
        <p:spPr>
          <a:xfrm>
            <a:off x="457200" y="4857750"/>
            <a:ext cx="1143000" cy="714375"/>
          </a:xfrm>
          <a:prstGeom prst="rect">
            <a:avLst/>
          </a:prstGeom>
          <a:noFill/>
          <a:ln w="0">
            <a:noFill/>
          </a:ln>
        </p:spPr>
        <p:txBody>
          <a:bodyPr wrap="square" lIns="0" tIns="0" rIns="0" bIns="0" anchor="t"/>
          <a:lstStyle>
            <a:defPPr algn="l">
              <a:defRPr sz="4350" b="1" i="0">
                <a:solidFill>
                  <a:srgbClr val="0F766E"/>
                </a:solidFill>
                <a:latin typeface="Times New Roman"/>
                <a:ea typeface="Times New Roman"/>
                <a:cs typeface="Times New Roman"/>
              </a:defRPr>
            </a:defPPr>
          </a:lstStyle>
          <a:p>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a:ext uri="{FF2B5EF4-FFF2-40B4-BE49-F238E27FC236}">
                <a16:creationId xmlns:a16="http://schemas.microsoft.com/office/drawing/2014/main" id="{FC56EB49-9538-451F-AFC3-9BECA96A74F8}"/>
              </a:ext>
            </a:extLst>
          </p:cNvPr>
          <p:cNvSpPr>
            <a:spLocks noGrp="1"/>
          </p:cNvSpPr>
          <p:nvPr/>
        </p:nvSpPr>
        <p:spPr>
          <a:xfrm>
            <a:off x="2009775" y="4943475"/>
            <a:ext cx="8953500" cy="102870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dirty="0">
                <a:solidFill>
                  <a:srgbClr val="111111"/>
                </a:solidFill>
                <a:latin typeface="Times New Roman"/>
                <a:ea typeface="Times New Roman"/>
                <a:cs typeface="Times New Roman"/>
              </a:rPr>
              <a:t>physics tasks that test </a:t>
            </a:r>
            <a:r>
              <a:rPr lang="en-US" sz="2025" b="0" i="0" dirty="0">
                <a:solidFill>
                  <a:srgbClr val="111111"/>
                </a:solidFill>
                <a:latin typeface="Times New Roman"/>
                <a:ea typeface="Times New Roman"/>
                <a:cs typeface="Times New Roman"/>
              </a:rPr>
              <a:t>agent need to </a:t>
            </a:r>
            <a:r>
              <a:rPr sz="2025" b="0" i="0" dirty="0">
                <a:solidFill>
                  <a:srgbClr val="111111"/>
                </a:solidFill>
                <a:latin typeface="Times New Roman"/>
                <a:ea typeface="Times New Roman"/>
                <a:cs typeface="Times New Roman"/>
              </a:rPr>
              <a:t>predict beyond calibration</a:t>
            </a:r>
            <a:r>
              <a:rPr lang="en-US" sz="2025" b="0" i="0" dirty="0">
                <a:solidFill>
                  <a:srgbClr val="111111"/>
                </a:solidFill>
                <a:latin typeface="Times New Roman"/>
                <a:ea typeface="Times New Roman"/>
                <a:cs typeface="Times New Roman"/>
              </a:rPr>
              <a:t> observation</a:t>
            </a:r>
            <a:r>
              <a:rPr sz="2025" b="0" i="0" dirty="0">
                <a:solidFill>
                  <a:srgbClr val="111111"/>
                </a:solidFill>
                <a:latin typeface="Times New Roman"/>
                <a:ea typeface="Times New Roman"/>
                <a:cs typeface="Times New Roman"/>
              </a:rPr>
              <a:t>.</a:t>
            </a:r>
          </a:p>
          <a:p>
            <a:pPr algn="l">
              <a:buNone/>
              <a:defRPr sz="2025" b="0" i="0">
                <a:solidFill>
                  <a:srgbClr val="111111"/>
                </a:solidFill>
                <a:latin typeface="Times New Roman"/>
                <a:ea typeface="Times New Roman"/>
                <a:cs typeface="Times New Roman"/>
              </a:defRPr>
            </a:pPr>
            <a:r>
              <a:rPr sz="2025" b="0" i="0" dirty="0">
                <a:solidFill>
                  <a:srgbClr val="111111"/>
                </a:solidFill>
                <a:latin typeface="Times New Roman"/>
                <a:ea typeface="Times New Roman"/>
                <a:cs typeface="Times New Roman"/>
              </a:rPr>
              <a:t>Ten had 0/3 Luna High passes during initial selection.</a:t>
            </a:r>
          </a:p>
          <a:p>
            <a:pPr algn="l">
              <a:buNone/>
              <a:defRPr sz="2025" b="0" i="0">
                <a:solidFill>
                  <a:srgbClr val="111111"/>
                </a:solidFill>
                <a:latin typeface="Times New Roman"/>
                <a:ea typeface="Times New Roman"/>
                <a:cs typeface="Times New Roman"/>
              </a:defRPr>
            </a:pPr>
            <a:r>
              <a:rPr sz="2025" b="0" i="0" dirty="0">
                <a:solidFill>
                  <a:srgbClr val="111111"/>
                </a:solidFill>
                <a:latin typeface="Times New Roman"/>
                <a:ea typeface="Times New Roman"/>
                <a:cs typeface="Times New Roman"/>
              </a:rPr>
              <a:t>Implemented with the Harbor framework.</a:t>
            </a:r>
          </a:p>
        </p:txBody>
      </p:sp>
      <p:sp>
        <p:nvSpPr>
          <p:cNvPr id="7" name="Rectangle 6">
            <a:extLst>
              <a:ext uri="{FF2B5EF4-FFF2-40B4-BE49-F238E27FC236}">
                <a16:creationId xmlns:a16="http://schemas.microsoft.com/office/drawing/2014/main" id="{6F3BA975-F7F4-4E43-B8D0-56A627FC5D11}"/>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Tasks were selected using GPT-5.6 Luna, so this is a deliberately challenging suite.</a:t>
            </a:r>
          </a:p>
        </p:txBody>
      </p:sp>
      <p:sp>
        <p:nvSpPr>
          <p:cNvPr id="9" name="Rectangle 8">
            <a:extLst>
              <a:ext uri="{FF2B5EF4-FFF2-40B4-BE49-F238E27FC236}">
                <a16:creationId xmlns:a16="http://schemas.microsoft.com/office/drawing/2014/main" id="{1355ACDC-5475-4330-937A-52DCD24B330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1D93F41-C257-4C97-81AC-53D8D3F98DD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Task: tracking one bead in a narrow tube</a:t>
            </a:r>
          </a:p>
        </p:txBody>
      </p:sp>
      <p:sp>
        <p:nvSpPr>
          <p:cNvPr id="2" name="Rectangle 1">
            <a:extLst>
              <a:ext uri="{FF2B5EF4-FFF2-40B4-BE49-F238E27FC236}">
                <a16:creationId xmlns:a16="http://schemas.microsoft.com/office/drawing/2014/main" id="{B2662629-35F5-4EF9-AC84-78AB4DCFFF2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a:ext uri="{FF2B5EF4-FFF2-40B4-BE49-F238E27FC236}">
                <a16:creationId xmlns:a16="http://schemas.microsoft.com/office/drawing/2014/main" id="{B72C789D-5DDF-4D29-8C76-5B173C9E8F4F}"/>
              </a:ext>
            </a:extLst>
          </p:cNvPr>
          <p:cNvSpPr>
            <a:spLocks noGrp="1"/>
          </p:cNvSpPr>
          <p:nvPr/>
        </p:nvSpPr>
        <p:spPr>
          <a:xfrm>
            <a:off x="457200" y="15811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a:ext uri="{FF2B5EF4-FFF2-40B4-BE49-F238E27FC236}">
                <a16:creationId xmlns:a16="http://schemas.microsoft.com/office/drawing/2014/main" id="{FA3A07CF-D11F-4622-856C-3CBFF16C57ED}"/>
              </a:ext>
            </a:extLst>
          </p:cNvPr>
          <p:cNvSpPr>
            <a:spLocks noGrp="1"/>
          </p:cNvSpPr>
          <p:nvPr/>
        </p:nvSpPr>
        <p:spPr>
          <a:xfrm>
            <a:off x="457200" y="2028825"/>
            <a:ext cx="5029200" cy="19050"/>
          </a:xfrm>
          <a:prstGeom prst="rect">
            <a:avLst/>
          </a:prstGeom>
          <a:solidFill>
            <a:srgbClr val="777777"/>
          </a:solidFill>
          <a:ln w="13335">
            <a:solidFill>
              <a:srgbClr val="777777"/>
            </a:solidFill>
            <a:prstDash val="solid"/>
          </a:ln>
        </p:spPr>
        <p:txBody>
          <a:bodyPr/>
          <a:lstStyle/>
          <a:p>
            <a:endParaRPr/>
          </a:p>
        </p:txBody>
      </p:sp>
      <p:sp>
        <p:nvSpPr>
          <p:cNvPr id="5" name="Rectangle 4">
            <a:extLst>
              <a:ext uri="{FF2B5EF4-FFF2-40B4-BE49-F238E27FC236}">
                <a16:creationId xmlns:a16="http://schemas.microsoft.com/office/drawing/2014/main" id="{3FFFF243-D917-44D5-8B4E-AEF19A84DF20}"/>
              </a:ext>
            </a:extLst>
          </p:cNvPr>
          <p:cNvSpPr>
            <a:spLocks noGrp="1"/>
          </p:cNvSpPr>
          <p:nvPr/>
        </p:nvSpPr>
        <p:spPr>
          <a:xfrm>
            <a:off x="457200" y="2581275"/>
            <a:ext cx="5029200" cy="19050"/>
          </a:xfrm>
          <a:prstGeom prst="rect">
            <a:avLst/>
          </a:prstGeom>
          <a:solidFill>
            <a:srgbClr val="777777"/>
          </a:solidFill>
          <a:ln w="13335">
            <a:solidFill>
              <a:srgbClr val="777777"/>
            </a:solidFill>
            <a:prstDash val="solid"/>
          </a:ln>
        </p:spPr>
        <p:txBody>
          <a:bodyPr/>
          <a:lstStyle/>
          <a:p>
            <a:endParaRPr/>
          </a:p>
        </p:txBody>
      </p:sp>
      <p:sp>
        <p:nvSpPr>
          <p:cNvPr id="6" name="Oval 5">
            <a:extLst>
              <a:ext uri="{FF2B5EF4-FFF2-40B4-BE49-F238E27FC236}">
                <a16:creationId xmlns:a16="http://schemas.microsoft.com/office/drawing/2014/main" id="{59B9F311-4DE1-41F4-91EE-D1DF06E54FB0}"/>
              </a:ext>
            </a:extLst>
          </p:cNvPr>
          <p:cNvSpPr>
            <a:spLocks noGrp="1"/>
          </p:cNvSpPr>
          <p:nvPr/>
        </p:nvSpPr>
        <p:spPr>
          <a:xfrm>
            <a:off x="7810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7" name="Oval 6">
            <a:extLst>
              <a:ext uri="{FF2B5EF4-FFF2-40B4-BE49-F238E27FC236}">
                <a16:creationId xmlns:a16="http://schemas.microsoft.com/office/drawing/2014/main" id="{F9DA28F5-23D0-4E5A-9759-20015A1D1595}"/>
              </a:ext>
            </a:extLst>
          </p:cNvPr>
          <p:cNvSpPr>
            <a:spLocks noGrp="1"/>
          </p:cNvSpPr>
          <p:nvPr/>
        </p:nvSpPr>
        <p:spPr>
          <a:xfrm>
            <a:off x="15049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8379ECC2-76F0-4C85-9EF5-7010AC3D1101}"/>
              </a:ext>
            </a:extLst>
          </p:cNvPr>
          <p:cNvSpPr>
            <a:spLocks noGrp="1"/>
          </p:cNvSpPr>
          <p:nvPr/>
        </p:nvSpPr>
        <p:spPr>
          <a:xfrm>
            <a:off x="2228850" y="21431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91A5650-9AC4-4DF2-B05B-863C0529C40E}"/>
              </a:ext>
            </a:extLst>
          </p:cNvPr>
          <p:cNvSpPr>
            <a:spLocks noGrp="1"/>
          </p:cNvSpPr>
          <p:nvPr/>
        </p:nvSpPr>
        <p:spPr>
          <a:xfrm>
            <a:off x="29527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0" name="Oval 9">
            <a:extLst>
              <a:ext uri="{FF2B5EF4-FFF2-40B4-BE49-F238E27FC236}">
                <a16:creationId xmlns:a16="http://schemas.microsoft.com/office/drawing/2014/main" id="{6EFEFD0B-10C8-4188-9C17-3FE386921650}"/>
              </a:ext>
            </a:extLst>
          </p:cNvPr>
          <p:cNvSpPr>
            <a:spLocks noGrp="1"/>
          </p:cNvSpPr>
          <p:nvPr/>
        </p:nvSpPr>
        <p:spPr>
          <a:xfrm>
            <a:off x="36766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46B65E69-0398-4FD5-AF8C-50BF819D9F03}"/>
              </a:ext>
            </a:extLst>
          </p:cNvPr>
          <p:cNvSpPr>
            <a:spLocks noGrp="1"/>
          </p:cNvSpPr>
          <p:nvPr/>
        </p:nvSpPr>
        <p:spPr>
          <a:xfrm>
            <a:off x="44005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Rectangle 11">
            <a:extLst>
              <a:ext uri="{FF2B5EF4-FFF2-40B4-BE49-F238E27FC236}">
                <a16:creationId xmlns:a16="http://schemas.microsoft.com/office/drawing/2014/main" id="{28E2446B-75BD-490E-9F28-ECBCD9ADBFC6}"/>
              </a:ext>
            </a:extLst>
          </p:cNvPr>
          <p:cNvSpPr>
            <a:spLocks noGrp="1"/>
          </p:cNvSpPr>
          <p:nvPr/>
        </p:nvSpPr>
        <p:spPr>
          <a:xfrm>
            <a:off x="457200" y="29527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a:ext uri="{FF2B5EF4-FFF2-40B4-BE49-F238E27FC236}">
                <a16:creationId xmlns:a16="http://schemas.microsoft.com/office/drawing/2014/main" id="{BAEFBBF5-E411-4F81-AF0F-D0CEC8B70CD1}"/>
              </a:ext>
            </a:extLst>
          </p:cNvPr>
          <p:cNvSpPr>
            <a:spLocks noGrp="1"/>
          </p:cNvSpPr>
          <p:nvPr/>
        </p:nvSpPr>
        <p:spPr>
          <a:xfrm>
            <a:off x="457200" y="3400425"/>
            <a:ext cx="5029200" cy="19050"/>
          </a:xfrm>
          <a:prstGeom prst="rect">
            <a:avLst/>
          </a:prstGeom>
          <a:solidFill>
            <a:srgbClr val="777777"/>
          </a:solidFill>
          <a:ln w="13335">
            <a:solidFill>
              <a:srgbClr val="777777"/>
            </a:solidFill>
            <a:prstDash val="solid"/>
          </a:ln>
        </p:spPr>
        <p:txBody>
          <a:bodyPr/>
          <a:lstStyle/>
          <a:p>
            <a:endParaRPr/>
          </a:p>
        </p:txBody>
      </p:sp>
      <p:sp>
        <p:nvSpPr>
          <p:cNvPr id="14" name="Rectangle 13">
            <a:extLst>
              <a:ext uri="{FF2B5EF4-FFF2-40B4-BE49-F238E27FC236}">
                <a16:creationId xmlns:a16="http://schemas.microsoft.com/office/drawing/2014/main" id="{615AB876-010E-4283-9E21-EC397A4697F6}"/>
              </a:ext>
            </a:extLst>
          </p:cNvPr>
          <p:cNvSpPr>
            <a:spLocks noGrp="1"/>
          </p:cNvSpPr>
          <p:nvPr/>
        </p:nvSpPr>
        <p:spPr>
          <a:xfrm>
            <a:off x="457200" y="3952875"/>
            <a:ext cx="5029200" cy="19050"/>
          </a:xfrm>
          <a:prstGeom prst="rect">
            <a:avLst/>
          </a:prstGeom>
          <a:solidFill>
            <a:srgbClr val="777777"/>
          </a:solidFill>
          <a:ln w="13335">
            <a:solidFill>
              <a:srgbClr val="777777"/>
            </a:solidFill>
            <a:prstDash val="solid"/>
          </a:ln>
        </p:spPr>
        <p:txBody>
          <a:bodyPr/>
          <a:lstStyle/>
          <a:p>
            <a:endParaRPr/>
          </a:p>
        </p:txBody>
      </p:sp>
      <p:sp>
        <p:nvSpPr>
          <p:cNvPr id="15" name="Oval 14">
            <a:extLst>
              <a:ext uri="{FF2B5EF4-FFF2-40B4-BE49-F238E27FC236}">
                <a16:creationId xmlns:a16="http://schemas.microsoft.com/office/drawing/2014/main" id="{E5A1B225-F3FF-4D9C-92D7-E40F1D5BCBCE}"/>
              </a:ext>
            </a:extLst>
          </p:cNvPr>
          <p:cNvSpPr>
            <a:spLocks noGrp="1"/>
          </p:cNvSpPr>
          <p:nvPr/>
        </p:nvSpPr>
        <p:spPr>
          <a:xfrm>
            <a:off x="70485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6" name="Oval 15">
            <a:extLst>
              <a:ext uri="{FF2B5EF4-FFF2-40B4-BE49-F238E27FC236}">
                <a16:creationId xmlns:a16="http://schemas.microsoft.com/office/drawing/2014/main" id="{9948075C-7CCB-41F8-BCA4-97DF2FD1515A}"/>
              </a:ext>
            </a:extLst>
          </p:cNvPr>
          <p:cNvSpPr>
            <a:spLocks noGrp="1"/>
          </p:cNvSpPr>
          <p:nvPr/>
        </p:nvSpPr>
        <p:spPr>
          <a:xfrm>
            <a:off x="14097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B2F9B45D-0B24-4E86-BF50-D65EB69518C0}"/>
              </a:ext>
            </a:extLst>
          </p:cNvPr>
          <p:cNvSpPr>
            <a:spLocks noGrp="1"/>
          </p:cNvSpPr>
          <p:nvPr/>
        </p:nvSpPr>
        <p:spPr>
          <a:xfrm>
            <a:off x="2609850" y="35147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AB1C0CEC-6762-440A-975C-D63168A89042}"/>
              </a:ext>
            </a:extLst>
          </p:cNvPr>
          <p:cNvSpPr>
            <a:spLocks noGrp="1"/>
          </p:cNvSpPr>
          <p:nvPr/>
        </p:nvSpPr>
        <p:spPr>
          <a:xfrm>
            <a:off x="3152775"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9" name="Oval 18">
            <a:extLst>
              <a:ext uri="{FF2B5EF4-FFF2-40B4-BE49-F238E27FC236}">
                <a16:creationId xmlns:a16="http://schemas.microsoft.com/office/drawing/2014/main" id="{B5AF0FC4-C53E-4C4D-9C04-31EC3AAB1406}"/>
              </a:ext>
            </a:extLst>
          </p:cNvPr>
          <p:cNvSpPr>
            <a:spLocks noGrp="1"/>
          </p:cNvSpPr>
          <p:nvPr/>
        </p:nvSpPr>
        <p:spPr>
          <a:xfrm>
            <a:off x="38862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6B7E8D58-BDFF-479A-95C7-EE542F9EE661}"/>
              </a:ext>
            </a:extLst>
          </p:cNvPr>
          <p:cNvSpPr>
            <a:spLocks noGrp="1"/>
          </p:cNvSpPr>
          <p:nvPr/>
        </p:nvSpPr>
        <p:spPr>
          <a:xfrm>
            <a:off x="46101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Rectangle 20">
            <a:extLst>
              <a:ext uri="{FF2B5EF4-FFF2-40B4-BE49-F238E27FC236}">
                <a16:creationId xmlns:a16="http://schemas.microsoft.com/office/drawing/2014/main" id="{0CB0DDB6-D1AC-4C59-B68F-A6C8C1B7503D}"/>
              </a:ext>
            </a:extLst>
          </p:cNvPr>
          <p:cNvSpPr>
            <a:spLocks noGrp="1"/>
          </p:cNvSpPr>
          <p:nvPr/>
        </p:nvSpPr>
        <p:spPr>
          <a:xfrm>
            <a:off x="457200" y="43243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a:ext uri="{FF2B5EF4-FFF2-40B4-BE49-F238E27FC236}">
                <a16:creationId xmlns:a16="http://schemas.microsoft.com/office/drawing/2014/main" id="{962474D2-BD75-4462-A708-B5E038509DA5}"/>
              </a:ext>
            </a:extLst>
          </p:cNvPr>
          <p:cNvSpPr>
            <a:spLocks noGrp="1"/>
          </p:cNvSpPr>
          <p:nvPr/>
        </p:nvSpPr>
        <p:spPr>
          <a:xfrm>
            <a:off x="457200" y="4772025"/>
            <a:ext cx="5029200" cy="19050"/>
          </a:xfrm>
          <a:prstGeom prst="rect">
            <a:avLst/>
          </a:prstGeom>
          <a:solidFill>
            <a:srgbClr val="777777"/>
          </a:solidFill>
          <a:ln w="13335">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A804FFB7-A505-4837-8A32-F2BC99ABA718}"/>
              </a:ext>
            </a:extLst>
          </p:cNvPr>
          <p:cNvSpPr>
            <a:spLocks noGrp="1"/>
          </p:cNvSpPr>
          <p:nvPr/>
        </p:nvSpPr>
        <p:spPr>
          <a:xfrm>
            <a:off x="457200" y="5324475"/>
            <a:ext cx="5029200" cy="19050"/>
          </a:xfrm>
          <a:prstGeom prst="rect">
            <a:avLst/>
          </a:prstGeom>
          <a:solidFill>
            <a:srgbClr val="777777"/>
          </a:solidFill>
          <a:ln w="13335">
            <a:solidFill>
              <a:srgbClr val="777777"/>
            </a:solidFill>
            <a:prstDash val="solid"/>
          </a:ln>
        </p:spPr>
        <p:txBody>
          <a:bodyPr/>
          <a:lstStyle/>
          <a:p>
            <a:endParaRPr/>
          </a:p>
        </p:txBody>
      </p:sp>
      <p:sp>
        <p:nvSpPr>
          <p:cNvPr id="24" name="Oval 23">
            <a:extLst>
              <a:ext uri="{FF2B5EF4-FFF2-40B4-BE49-F238E27FC236}">
                <a16:creationId xmlns:a16="http://schemas.microsoft.com/office/drawing/2014/main" id="{037F2927-4412-4402-945B-33194FE24E4C}"/>
              </a:ext>
            </a:extLst>
          </p:cNvPr>
          <p:cNvSpPr>
            <a:spLocks noGrp="1"/>
          </p:cNvSpPr>
          <p:nvPr/>
        </p:nvSpPr>
        <p:spPr>
          <a:xfrm>
            <a:off x="619125"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5" name="Oval 24">
            <a:extLst>
              <a:ext uri="{FF2B5EF4-FFF2-40B4-BE49-F238E27FC236}">
                <a16:creationId xmlns:a16="http://schemas.microsoft.com/office/drawing/2014/main" id="{68FBC403-934E-41E5-8C80-DE9DF183B5C5}"/>
              </a:ext>
            </a:extLst>
          </p:cNvPr>
          <p:cNvSpPr>
            <a:spLocks noGrp="1"/>
          </p:cNvSpPr>
          <p:nvPr/>
        </p:nvSpPr>
        <p:spPr>
          <a:xfrm>
            <a:off x="12001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6" name="Oval 25">
            <a:extLst>
              <a:ext uri="{FF2B5EF4-FFF2-40B4-BE49-F238E27FC236}">
                <a16:creationId xmlns:a16="http://schemas.microsoft.com/office/drawing/2014/main" id="{27E83168-75AC-4659-94BB-0865496E2000}"/>
              </a:ext>
            </a:extLst>
          </p:cNvPr>
          <p:cNvSpPr>
            <a:spLocks noGrp="1"/>
          </p:cNvSpPr>
          <p:nvPr/>
        </p:nvSpPr>
        <p:spPr>
          <a:xfrm>
            <a:off x="2914650" y="48863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27" name="Oval 26">
            <a:extLst>
              <a:ext uri="{FF2B5EF4-FFF2-40B4-BE49-F238E27FC236}">
                <a16:creationId xmlns:a16="http://schemas.microsoft.com/office/drawing/2014/main" id="{CCCC262F-3302-46A0-A01C-D4B3F8159971}"/>
              </a:ext>
            </a:extLst>
          </p:cNvPr>
          <p:cNvSpPr>
            <a:spLocks noGrp="1"/>
          </p:cNvSpPr>
          <p:nvPr/>
        </p:nvSpPr>
        <p:spPr>
          <a:xfrm>
            <a:off x="346710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8" name="Oval 27">
            <a:extLst>
              <a:ext uri="{FF2B5EF4-FFF2-40B4-BE49-F238E27FC236}">
                <a16:creationId xmlns:a16="http://schemas.microsoft.com/office/drawing/2014/main" id="{265E5809-D44E-48C4-B81F-908AF9B8EC90}"/>
              </a:ext>
            </a:extLst>
          </p:cNvPr>
          <p:cNvSpPr>
            <a:spLocks noGrp="1"/>
          </p:cNvSpPr>
          <p:nvPr/>
        </p:nvSpPr>
        <p:spPr>
          <a:xfrm>
            <a:off x="40195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9" name="Oval 28">
            <a:extLst>
              <a:ext uri="{FF2B5EF4-FFF2-40B4-BE49-F238E27FC236}">
                <a16:creationId xmlns:a16="http://schemas.microsoft.com/office/drawing/2014/main" id="{03EC835C-09E3-4CCA-AA9E-5F5E94C3BE48}"/>
              </a:ext>
            </a:extLst>
          </p:cNvPr>
          <p:cNvSpPr>
            <a:spLocks noGrp="1"/>
          </p:cNvSpPr>
          <p:nvPr/>
        </p:nvSpPr>
        <p:spPr>
          <a:xfrm>
            <a:off x="46672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30" name="Rectangle 29">
            <a:extLst>
              <a:ext uri="{FF2B5EF4-FFF2-40B4-BE49-F238E27FC236}">
                <a16:creationId xmlns:a16="http://schemas.microsoft.com/office/drawing/2014/main" id="{8612F575-4277-4BBE-91AB-80A8143AAEB7}"/>
              </a:ext>
            </a:extLst>
          </p:cNvPr>
          <p:cNvSpPr>
            <a:spLocks noGrp="1"/>
          </p:cNvSpPr>
          <p:nvPr/>
        </p:nvSpPr>
        <p:spPr>
          <a:xfrm>
            <a:off x="457200" y="5591175"/>
            <a:ext cx="5200650" cy="333375"/>
          </a:xfrm>
          <a:prstGeom prst="rect">
            <a:avLst/>
          </a:prstGeom>
          <a:noFill/>
          <a:ln w="0">
            <a:noFill/>
          </a:ln>
        </p:spPr>
        <p:txBody>
          <a:bodyPr wrap="square" lIns="0" tIns="0" rIns="0" bIns="0" anchor="t"/>
          <a:lstStyle>
            <a:defPPr algn="l">
              <a:defRPr sz="1575" b="0">
                <a:solidFill>
                  <a:srgbClr val="777777"/>
                </a:solidFill>
                <a:latin typeface="Times New Roman"/>
                <a:ea typeface="Times New Roman"/>
                <a:cs typeface="Times New Roman"/>
              </a:defRPr>
            </a:defPPr>
          </a:lstStyle>
          <a:p>
            <a:pPr algn="l">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One run shown. Each repeat resets the starting row.</a:t>
            </a:r>
          </a:p>
        </p:txBody>
      </p:sp>
      <p:sp>
        <p:nvSpPr>
          <p:cNvPr id="31" name="Rectangle 30">
            <a:extLst>
              <a:ext uri="{FF2B5EF4-FFF2-40B4-BE49-F238E27FC236}">
                <a16:creationId xmlns:a16="http://schemas.microsoft.com/office/drawing/2014/main" id="{80CC5B1B-DE91-4841-A5BF-721EB21691BD}"/>
              </a:ext>
            </a:extLst>
          </p:cNvPr>
          <p:cNvSpPr>
            <a:spLocks noGrp="1"/>
          </p:cNvSpPr>
          <p:nvPr/>
        </p:nvSpPr>
        <p:spPr>
          <a:xfrm>
            <a:off x="6286500" y="15811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a:ext uri="{FF2B5EF4-FFF2-40B4-BE49-F238E27FC236}">
                <a16:creationId xmlns:a16="http://schemas.microsoft.com/office/drawing/2014/main" id="{05DCB7A6-18B5-424E-94B8-11149F2A1D49}"/>
              </a:ext>
            </a:extLst>
          </p:cNvPr>
          <p:cNvSpPr>
            <a:spLocks noGrp="1"/>
          </p:cNvSpPr>
          <p:nvPr/>
        </p:nvSpPr>
        <p:spPr>
          <a:xfrm>
            <a:off x="6286500" y="20574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a:ext uri="{FF2B5EF4-FFF2-40B4-BE49-F238E27FC236}">
                <a16:creationId xmlns:a16="http://schemas.microsoft.com/office/drawing/2014/main" id="{B0EA5148-8AD1-4370-B501-B24753F88571}"/>
              </a:ext>
            </a:extLst>
          </p:cNvPr>
          <p:cNvSpPr>
            <a:spLocks noGrp="1"/>
          </p:cNvSpPr>
          <p:nvPr/>
        </p:nvSpPr>
        <p:spPr>
          <a:xfrm>
            <a:off x="6286500" y="3295650"/>
            <a:ext cx="5448300" cy="352425"/>
          </a:xfrm>
          <a:prstGeom prst="rect">
            <a:avLst/>
          </a:prstGeom>
          <a:noFill/>
          <a:ln w="0">
            <a:noFill/>
          </a:ln>
        </p:spPr>
        <p:txBody>
          <a:bodyPr wrap="square" lIns="0" tIns="0" rIns="0" bIns="0" anchor="t"/>
          <a:lstStyle>
            <a:defPPr algn="l">
              <a:defRPr sz="2250" b="1">
                <a:solidFill>
                  <a:srgbClr val="1D4E89"/>
                </a:solidFill>
                <a:latin typeface="Times New Roman"/>
                <a:ea typeface="Times New Roman"/>
                <a:cs typeface="Times New Roman"/>
              </a:defRPr>
            </a:defPPr>
          </a:lstStyle>
          <a:p>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a:ext uri="{FF2B5EF4-FFF2-40B4-BE49-F238E27FC236}">
                <a16:creationId xmlns:a16="http://schemas.microsoft.com/office/drawing/2014/main" id="{C4209CE6-ACBA-4CB8-BAB6-2D1338E3E0D0}"/>
              </a:ext>
            </a:extLst>
          </p:cNvPr>
          <p:cNvSpPr>
            <a:spLocks noGrp="1"/>
          </p:cNvSpPr>
          <p:nvPr/>
        </p:nvSpPr>
        <p:spPr>
          <a:xfrm>
            <a:off x="6286500" y="37719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correlate across many runs.</a:t>
            </a:r>
          </a:p>
        </p:txBody>
      </p:sp>
      <p:sp>
        <p:nvSpPr>
          <p:cNvPr id="35" name="Rectangle 34">
            <a:extLst>
              <a:ext uri="{FF2B5EF4-FFF2-40B4-BE49-F238E27FC236}">
                <a16:creationId xmlns:a16="http://schemas.microsoft.com/office/drawing/2014/main" id="{87E47CA0-617F-4DEA-BF6A-8B00F933ADEB}"/>
              </a:ext>
            </a:extLst>
          </p:cNvPr>
          <p:cNvSpPr>
            <a:spLocks noGrp="1"/>
          </p:cNvSpPr>
          <p:nvPr/>
        </p:nvSpPr>
        <p:spPr>
          <a:xfrm>
            <a:off x="6286500" y="48958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a:ext uri="{FF2B5EF4-FFF2-40B4-BE49-F238E27FC236}">
                <a16:creationId xmlns:a16="http://schemas.microsoft.com/office/drawing/2014/main" id="{0E992A19-E518-4A04-BDBE-E9742D222B5F}"/>
              </a:ext>
            </a:extLst>
          </p:cNvPr>
          <p:cNvSpPr>
            <a:spLocks noGrp="1"/>
          </p:cNvSpPr>
          <p:nvPr/>
        </p:nvSpPr>
        <p:spPr>
          <a:xfrm>
            <a:off x="6286500" y="5324475"/>
            <a:ext cx="5448300" cy="609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bead spacing can affect the correlation</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7" name="Rectangle 36">
            <a:extLst>
              <a:ext uri="{FF2B5EF4-FFF2-40B4-BE49-F238E27FC236}">
                <a16:creationId xmlns:a16="http://schemas.microsoft.com/office/drawing/2014/main" id="{09EE6FC6-A10B-42CB-8A2D-C1E5B125AE17}"/>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setup. The benchmark asks for the statistical trend after long observation times, rather than one bead’s exact path.</a:t>
            </a:r>
          </a:p>
        </p:txBody>
      </p:sp>
      <p:sp>
        <p:nvSpPr>
          <p:cNvPr id="38" name="Rectangle 37">
            <a:extLst>
              <a:ext uri="{FF2B5EF4-FFF2-40B4-BE49-F238E27FC236}">
                <a16:creationId xmlns:a16="http://schemas.microsoft.com/office/drawing/2014/main" id="{B5B2BFD1-9BD4-4B2A-804C-23D72BA3EF86}"/>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E055D0-CB93-4BD7-8C34-D05A390641C9}"/>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a:ext uri="{FF2B5EF4-FFF2-40B4-BE49-F238E27FC236}">
                <a16:creationId xmlns:a16="http://schemas.microsoft.com/office/drawing/2014/main" id="{E3A2D2EB-BD64-42F5-A6A8-12EA53CBC6E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Hints probe why the agent fails.</a:t>
            </a:r>
          </a:p>
        </p:txBody>
      </p:sp>
      <p:graphicFrame>
        <p:nvGraphicFramePr>
          <p:cNvPr id="3" name="Table 2">
            <a:extLst>
              <a:ext uri="{FF2B5EF4-FFF2-40B4-BE49-F238E27FC236}">
                <a16:creationId xmlns:a16="http://schemas.microsoft.com/office/drawing/2014/main" id="{915FC89F-216A-47AC-A089-6DA3FE410B31}"/>
              </a:ext>
            </a:extLst>
          </p:cNvPr>
          <p:cNvGraphicFramePr/>
          <p:nvPr>
            <p:extLst>
              <p:ext uri="{D42A27DB-BD31-4B8C-83A1-F6EECF244321}">
                <p14:modId xmlns:p14="http://schemas.microsoft.com/office/powerpoint/2010/main" val="375923302"/>
              </p:ext>
            </p:extLst>
          </p:nvPr>
        </p:nvGraphicFramePr>
        <p:xfrm>
          <a:off x="457200" y="1571625"/>
          <a:ext cx="11277600" cy="2967990"/>
        </p:xfrm>
        <a:graphic>
          <a:graphicData uri="http://schemas.openxmlformats.org/drawingml/2006/table">
            <a:tbl>
              <a:tblPr/>
              <a:tblGrid>
                <a:gridCol w="2247900">
                  <a:extLst>
                    <a:ext uri="{9D8B030D-6E8A-4147-A177-3AD203B41FA5}">
                      <a16:colId xmlns:a16="http://schemas.microsoft.com/office/drawing/2014/main" val="20000"/>
                    </a:ext>
                  </a:extLst>
                </a:gridCol>
                <a:gridCol w="9029700">
                  <a:extLst>
                    <a:ext uri="{9D8B030D-6E8A-4147-A177-3AD203B41FA5}">
                      <a16:colId xmlns:a16="http://schemas.microsoft.com/office/drawing/2014/main" val="20001"/>
                    </a:ext>
                  </a:extLst>
                </a:gridCol>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extLst>
                  <a:ext uri="{0D108BD9-81ED-4DB2-BD59-A6C34878D82A}">
                    <a16:rowId xmlns:a16="http://schemas.microsoft.com/office/drawing/2014/main" val="10000"/>
                  </a:ext>
                </a:extLst>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extLst>
                  <a:ext uri="{0D108BD9-81ED-4DB2-BD59-A6C34878D82A}">
                    <a16:rowId xmlns:a16="http://schemas.microsoft.com/office/drawing/2014/main" val="10002"/>
                  </a:ext>
                </a:extLst>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dirty="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a:t>
                      </a:r>
                      <a:r>
                        <a:rPr lang="en-US" sz="2025" b="0">
                          <a:solidFill>
                            <a:srgbClr val="111111"/>
                          </a:solidFill>
                          <a:latin typeface="Times New Roman"/>
                          <a:ea typeface="Times New Roman"/>
                          <a:cs typeface="Times New Roman"/>
                        </a:rPr>
                        <a:t>correlated</a:t>
                      </a:r>
                      <a:r>
                        <a:rPr sz="2025" b="0">
                          <a:solidFill>
                            <a:srgbClr val="111111"/>
                          </a:solidFill>
                          <a:latin typeface="Times New Roman"/>
                          <a:ea typeface="Times New Roman"/>
                          <a:cs typeface="Times New Roman"/>
                        </a:rPr>
                        <a:t>. </a:t>
                      </a:r>
                      <a:r>
                        <a:rPr sz="2025" b="0" dirty="0">
                          <a:solidFill>
                            <a:srgbClr val="111111"/>
                          </a:solidFill>
                          <a:latin typeface="Times New Roman"/>
                          <a:ea typeface="Times New Roman"/>
                          <a:cs typeface="Times New Roman"/>
                        </a:rPr>
                        <a:t>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76C76A53-DEEC-454A-9753-1C69F3526FBC}"/>
              </a:ext>
            </a:extLst>
          </p:cNvPr>
          <p:cNvSpPr>
            <a:spLocks noGrp="1"/>
          </p:cNvSpPr>
          <p:nvPr/>
        </p:nvSpPr>
        <p:spPr>
          <a:xfrm>
            <a:off x="457200" y="4810125"/>
            <a:ext cx="112776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a:ext uri="{FF2B5EF4-FFF2-40B4-BE49-F238E27FC236}">
                <a16:creationId xmlns:a16="http://schemas.microsoft.com/office/drawing/2014/main" id="{9BB0283D-1D38-4884-B8B4-61E3727BC95D}"/>
              </a:ext>
            </a:extLst>
          </p:cNvPr>
          <p:cNvSpPr>
            <a:spLocks noGrp="1"/>
          </p:cNvSpPr>
          <p:nvPr/>
        </p:nvSpPr>
        <p:spPr>
          <a:xfrm>
            <a:off x="457200" y="5314950"/>
            <a:ext cx="11277600" cy="68580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6" name="Rectangle 5">
            <a:extLst>
              <a:ext uri="{FF2B5EF4-FFF2-40B4-BE49-F238E27FC236}">
                <a16:creationId xmlns:a16="http://schemas.microsoft.com/office/drawing/2014/main" id="{0052D048-AD03-400E-B7B2-F16D3D3D559D}"/>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summarized in plain language from the actual task hint.</a:t>
            </a:r>
          </a:p>
        </p:txBody>
      </p:sp>
      <p:sp>
        <p:nvSpPr>
          <p:cNvPr id="7" name="Rectangle 6">
            <a:extLst>
              <a:ext uri="{FF2B5EF4-FFF2-40B4-BE49-F238E27FC236}">
                <a16:creationId xmlns:a16="http://schemas.microsoft.com/office/drawing/2014/main" id="{6F7B7D6A-AEA7-4431-AB33-4CEEE44EF93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7324F2-5B2D-40B0-A9C9-E6CD9418AB7A}"/>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a:ext uri="{FF2B5EF4-FFF2-40B4-BE49-F238E27FC236}">
                <a16:creationId xmlns:a16="http://schemas.microsoft.com/office/drawing/2014/main" id="{B54B4D67-E035-47EF-9E0D-E9E7105557A7}"/>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A pass requires completion within the time limit and all grading checks.</a:t>
            </a:r>
          </a:p>
        </p:txBody>
      </p:sp>
      <p:sp>
        <p:nvSpPr>
          <p:cNvPr id="3" name="Rectangle 2">
            <a:extLst>
              <a:ext uri="{FF2B5EF4-FFF2-40B4-BE49-F238E27FC236}">
                <a16:creationId xmlns:a16="http://schemas.microsoft.com/office/drawing/2014/main" id="{4625F7E8-2DA2-4C40-B871-DB3AA8D209F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a:ext uri="{FF2B5EF4-FFF2-40B4-BE49-F238E27FC236}">
                <a16:creationId xmlns:a16="http://schemas.microsoft.com/office/drawing/2014/main" id="{1E9D6AD7-1667-48EA-ADA7-E4E90B5A613D}"/>
              </a:ext>
            </a:extLst>
          </p:cNvPr>
          <p:cNvGraphicFramePr/>
          <p:nvPr/>
        </p:nvGraphicFramePr>
        <p:xfrm>
          <a:off x="457200" y="1504950"/>
          <a:ext cx="11277600" cy="3962400"/>
        </p:xfrm>
        <a:graphic>
          <a:graphicData uri="http://schemas.openxmlformats.org/drawingml/2006/table">
            <a:tbl>
              <a:tblPr/>
              <a:tblGrid>
                <a:gridCol w="242887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847850">
                  <a:extLst>
                    <a:ext uri="{9D8B030D-6E8A-4147-A177-3AD203B41FA5}">
                      <a16:colId xmlns:a16="http://schemas.microsoft.com/office/drawing/2014/main" val="20004"/>
                    </a:ext>
                  </a:extLst>
                </a:gridCol>
              </a:tblGrid>
              <a:tr h="495300">
                <a:tc>
                  <a:txBody>
                    <a:bodyPr/>
                    <a:lstStyle/>
                    <a:p>
                      <a:r>
                        <a:rPr sz="1725" b="1">
                          <a:solidFill>
                            <a:srgbClr val="FFFFFF"/>
                          </a:solidFill>
                          <a:latin typeface="Times New Roman"/>
                          <a:ea typeface="Times New Roman"/>
                          <a:cs typeface="Times New Roman"/>
                        </a:rPr>
                        <a:t>Model</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No-hint efforts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Hinted efforts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Tasks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Attempts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495300">
                <a:tc>
                  <a:txBody>
                    <a:bodyPr/>
                    <a:lstStyle/>
                    <a:p>
                      <a:r>
                        <a:rPr sz="1725" b="0">
                          <a:solidFill>
                            <a:srgbClr val="111111"/>
                          </a:solidFill>
                          <a:latin typeface="Times New Roman"/>
                          <a:ea typeface="Times New Roman"/>
                          <a:cs typeface="Times New Roman"/>
                        </a:rPr>
                        <a:t>GPT-5.6 Luna</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781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1"/>
                  </a:ext>
                </a:extLst>
              </a:tr>
              <a:tr h="495300">
                <a:tc>
                  <a:txBody>
                    <a:bodyPr/>
                    <a:lstStyle/>
                    <a:p>
                      <a:r>
                        <a:rPr sz="1725" b="0">
                          <a:solidFill>
                            <a:srgbClr val="111111"/>
                          </a:solidFill>
                          <a:latin typeface="Times New Roman"/>
                          <a:ea typeface="Times New Roman"/>
                          <a:cs typeface="Times New Roman"/>
                        </a:rPr>
                        <a:t>GPT-5.6 Terra</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 Extra High</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468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2"/>
                  </a:ext>
                </a:extLst>
              </a:tr>
              <a:tr h="495300">
                <a:tc>
                  <a:txBody>
                    <a:bodyPr/>
                    <a:lstStyle/>
                    <a:p>
                      <a:r>
                        <a:rPr sz="1725" b="0">
                          <a:solidFill>
                            <a:srgbClr val="111111"/>
                          </a:solidFill>
                          <a:latin typeface="Times New Roman"/>
                          <a:ea typeface="Times New Roman"/>
                          <a:cs typeface="Times New Roman"/>
                        </a:rPr>
                        <a:t>GPT-5.6 Sol</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3"/>
                  </a:ext>
                </a:extLst>
              </a:tr>
              <a:tr h="495300">
                <a:tc>
                  <a:txBody>
                    <a:bodyPr/>
                    <a:lstStyle/>
                    <a:p>
                      <a:r>
                        <a:rPr sz="1725" b="0">
                          <a:solidFill>
                            <a:srgbClr val="111111"/>
                          </a:solidFill>
                          <a:latin typeface="Times New Roman"/>
                          <a:ea typeface="Times New Roman"/>
                          <a:cs typeface="Times New Roman"/>
                        </a:rPr>
                        <a:t>GPT-6 Luna</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4"/>
                  </a:ext>
                </a:extLst>
              </a:tr>
              <a:tr h="495300">
                <a:tc>
                  <a:txBody>
                    <a:bodyPr/>
                    <a:lstStyle/>
                    <a:p>
                      <a:r>
                        <a:rPr sz="1725" b="0">
                          <a:solidFill>
                            <a:srgbClr val="111111"/>
                          </a:solidFill>
                          <a:latin typeface="Times New Roman"/>
                          <a:ea typeface="Times New Roman"/>
                          <a:cs typeface="Times New Roman"/>
                        </a:rPr>
                        <a:t>GPT-6 Sol</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Extra High</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117</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5"/>
                  </a:ext>
                </a:extLst>
              </a:tr>
              <a:tr h="495300">
                <a:tc>
                  <a:txBody>
                    <a:bodyPr/>
                    <a:lstStyle/>
                    <a:p>
                      <a:r>
                        <a:rPr sz="1725" b="0">
                          <a:solidFill>
                            <a:srgbClr val="111111"/>
                          </a:solidFill>
                          <a:latin typeface="Times New Roman"/>
                          <a:ea typeface="Times New Roman"/>
                          <a:cs typeface="Times New Roman"/>
                        </a:rPr>
                        <a:t>GPT-6 Astra</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6"/>
                  </a:ext>
                </a:extLst>
              </a:tr>
              <a:tr h="495300">
                <a:tc>
                  <a:txBody>
                    <a:bodyPr/>
                    <a:lstStyle/>
                    <a:p>
                      <a:r>
                        <a:rPr sz="1725" b="0">
                          <a:solidFill>
                            <a:srgbClr val="111111"/>
                          </a:solidFill>
                          <a:latin typeface="Times New Roman"/>
                          <a:ea typeface="Times New Roman"/>
                          <a:cs typeface="Times New Roman"/>
                        </a:rPr>
                        <a:t>DeepSeek V4.1 Flash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Max</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High</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81B102D8-C580-4666-BE72-0F06D59D92F7}"/>
              </a:ext>
            </a:extLst>
          </p:cNvPr>
          <p:cNvSpPr>
            <a:spLocks noGrp="1"/>
          </p:cNvSpPr>
          <p:nvPr/>
        </p:nvSpPr>
        <p:spPr>
          <a:xfrm>
            <a:off x="457200" y="5619750"/>
            <a:ext cx="11277600" cy="381000"/>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2,068 attempts across 48 settings. Reused baseline trials count once.</a:t>
            </a:r>
          </a:p>
        </p:txBody>
      </p:sp>
      <p:sp>
        <p:nvSpPr>
          <p:cNvPr id="6" name="Rectangle 5">
            <a:extLst>
              <a:ext uri="{FF2B5EF4-FFF2-40B4-BE49-F238E27FC236}">
                <a16:creationId xmlns:a16="http://schemas.microsoft.com/office/drawing/2014/main" id="{B6BD40B8-157E-475B-A1A6-73A9D3808EE9}"/>
              </a:ext>
            </a:extLst>
          </p:cNvPr>
          <p:cNvSpPr>
            <a:spLocks noGrp="1"/>
          </p:cNvSpPr>
          <p:nvPr/>
        </p:nvSpPr>
        <p:spPr>
          <a:xfrm>
            <a:off x="457200" y="6048375"/>
            <a:ext cx="11277600" cy="333375"/>
          </a:xfrm>
          <a:prstGeom prst="rect">
            <a:avLst/>
          </a:prstGeom>
          <a:noFill/>
          <a:ln w="0">
            <a:noFill/>
          </a:ln>
        </p:spPr>
        <p:txBody>
          <a:bodyPr wrap="square" lIns="0" tIns="0" rIns="0" bIns="0" anchor="t"/>
          <a:lstStyle>
            <a:defPPr>
              <a:defRPr sz="1650" b="0">
                <a:solidFill>
                  <a:srgbClr val="444444"/>
                </a:solidFill>
                <a:latin typeface="Times New Roman"/>
                <a:ea typeface="Times New Roman"/>
                <a:cs typeface="Times New Roman"/>
              </a:defRPr>
            </a:defPPr>
          </a:lstStyle>
          <a:p>
            <a:pPr>
              <a:defRPr sz="1650" b="0">
                <a:solidFill>
                  <a:srgbClr val="444444"/>
                </a:solidFill>
                <a:latin typeface="Times New Roman"/>
                <a:ea typeface="Times New Roman"/>
                <a:cs typeface="Times New Roman"/>
              </a:defRPr>
            </a:pPr>
            <a:r>
              <a:rPr sz="1650" b="0">
                <a:solidFill>
                  <a:srgbClr val="444444"/>
                </a:solidFill>
                <a:latin typeface="Times New Roman"/>
                <a:ea typeface="Times New Roman"/>
                <a:cs typeface="Times New Roman"/>
              </a:rPr>
              <a:t>Harbor 0.21.0 and Codex agent. Limits: 600 s for the agent, 60 s for grading.</a:t>
            </a:r>
          </a:p>
        </p:txBody>
      </p:sp>
    </p:spTree>
    <p:extLst>
      <p:ext uri="{BB962C8B-B14F-4D97-AF65-F5344CB8AC3E}">
        <p14:creationId xmlns:p14="http://schemas.microsoft.com/office/powerpoint/2010/main" val="110412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5362C3-E16C-40AA-A029-16633B943820}"/>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without hints</a:t>
            </a:r>
          </a:p>
        </p:txBody>
      </p:sp>
      <p:sp>
        <p:nvSpPr>
          <p:cNvPr id="2" name="Rectangle 1">
            <a:extLst>
              <a:ext uri="{FF2B5EF4-FFF2-40B4-BE49-F238E27FC236}">
                <a16:creationId xmlns:a16="http://schemas.microsoft.com/office/drawing/2014/main" id="{2C5B2D1A-7360-4324-ACFF-A9BC0F3B6241}"/>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All model versions on one cost axis. Each point is one model and reasoning effort.</a:t>
            </a:r>
          </a:p>
        </p:txBody>
      </p:sp>
      <p:sp>
        <p:nvSpPr>
          <p:cNvPr id="3" name="Rectangle 2">
            <a:extLst>
              <a:ext uri="{FF2B5EF4-FFF2-40B4-BE49-F238E27FC236}">
                <a16:creationId xmlns:a16="http://schemas.microsoft.com/office/drawing/2014/main" id="{2F1DD0E5-D745-4C1A-B0A4-70599B6D8BAC}"/>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pic>
        <p:nvPicPr>
          <p:cNvPr id="4" name="Picture 3">
            <a:extLst>
              <a:ext uri="{FF2B5EF4-FFF2-40B4-BE49-F238E27FC236}">
                <a16:creationId xmlns:a16="http://schemas.microsoft.com/office/drawing/2014/main" id="{853F58D9-7285-4E91-BE1B-D84AC330349B}"/>
              </a:ext>
            </a:extLst>
          </p:cNvPr>
          <p:cNvPicPr>
            <a:picLocks noChangeAspect="1"/>
          </p:cNvPicPr>
          <p:nvPr/>
        </p:nvPicPr>
        <p:blipFill>
          <a:blip r:embed="rId3"/>
          <a:stretch/>
        </p:blipFill>
        <p:spPr>
          <a:xfrm>
            <a:off x="457200" y="1438708"/>
            <a:ext cx="11277600" cy="4485409"/>
          </a:xfrm>
          <a:prstGeom prst="rect">
            <a:avLst/>
          </a:prstGeom>
        </p:spPr>
      </p:pic>
      <p:sp>
        <p:nvSpPr>
          <p:cNvPr id="5" name="Rectangle 4">
            <a:extLst>
              <a:ext uri="{FF2B5EF4-FFF2-40B4-BE49-F238E27FC236}">
                <a16:creationId xmlns:a16="http://schemas.microsoft.com/office/drawing/2014/main" id="{0B4E287D-5152-45B9-BC84-977D6BC7B12E}"/>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19 of 24 settings have complete costs. Dashed line: observed frontier. Five incomplete-cost settings are omitted.</a:t>
            </a:r>
          </a:p>
        </p:txBody>
      </p:sp>
    </p:spTree>
    <p:extLst>
      <p:ext uri="{BB962C8B-B14F-4D97-AF65-F5344CB8AC3E}">
        <p14:creationId xmlns:p14="http://schemas.microsoft.com/office/powerpoint/2010/main" val="56122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DFC98-4EEA-4DBF-B935-A165B973D315}"/>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 hints</a:t>
            </a:r>
          </a:p>
        </p:txBody>
      </p:sp>
      <p:sp>
        <p:nvSpPr>
          <p:cNvPr id="2" name="Rectangle 1">
            <a:extLst>
              <a:ext uri="{FF2B5EF4-FFF2-40B4-BE49-F238E27FC236}">
                <a16:creationId xmlns:a16="http://schemas.microsoft.com/office/drawing/2014/main" id="{623779AE-31B5-450E-B7C2-137A836D3766}"/>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Three prompt conditions for the 12 model–effort combinations tested under every condition.</a:t>
            </a:r>
          </a:p>
        </p:txBody>
      </p:sp>
      <p:sp>
        <p:nvSpPr>
          <p:cNvPr id="3" name="Rectangle 2">
            <a:extLst>
              <a:ext uri="{FF2B5EF4-FFF2-40B4-BE49-F238E27FC236}">
                <a16:creationId xmlns:a16="http://schemas.microsoft.com/office/drawing/2014/main" id="{5F85D8CF-06FA-4496-858C-F58EF7172157}"/>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pic>
        <p:nvPicPr>
          <p:cNvPr id="4" name="Picture 3">
            <a:extLst>
              <a:ext uri="{FF2B5EF4-FFF2-40B4-BE49-F238E27FC236}">
                <a16:creationId xmlns:a16="http://schemas.microsoft.com/office/drawing/2014/main" id="{1758863A-F784-4AAC-9599-9DB05C4B4DC7}"/>
              </a:ext>
            </a:extLst>
          </p:cNvPr>
          <p:cNvPicPr>
            <a:picLocks noChangeAspect="1"/>
          </p:cNvPicPr>
          <p:nvPr/>
        </p:nvPicPr>
        <p:blipFill>
          <a:blip r:embed="rId3"/>
          <a:stretch/>
        </p:blipFill>
        <p:spPr>
          <a:xfrm>
            <a:off x="457200" y="1438708"/>
            <a:ext cx="11277600" cy="4485409"/>
          </a:xfrm>
          <a:prstGeom prst="rect">
            <a:avLst/>
          </a:prstGeom>
        </p:spPr>
      </p:pic>
      <p:sp>
        <p:nvSpPr>
          <p:cNvPr id="5" name="Rectangle 4">
            <a:extLst>
              <a:ext uri="{FF2B5EF4-FFF2-40B4-BE49-F238E27FC236}">
                <a16:creationId xmlns:a16="http://schemas.microsoft.com/office/drawing/2014/main" id="{04BC5AC1-B7FA-40FF-B8D3-929F22FC54DF}"/>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22 of 36 settings have complete costs. Lines join observed frontiers. Historical controls and runtime differences remain.</a:t>
            </a:r>
          </a:p>
        </p:txBody>
      </p:sp>
    </p:spTree>
    <p:extLst>
      <p:ext uri="{BB962C8B-B14F-4D97-AF65-F5344CB8AC3E}">
        <p14:creationId xmlns:p14="http://schemas.microsoft.com/office/powerpoint/2010/main" val="112938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CF5279-D8E9-4CE9-8986-47802DA68BE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a:ext uri="{FF2B5EF4-FFF2-40B4-BE49-F238E27FC236}">
                <a16:creationId xmlns:a16="http://schemas.microsoft.com/office/drawing/2014/main" id="{5753F515-E0DC-4630-8EF3-4CFECCB7156E}"/>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Bar height is the pass rate; labels show completed passes / attempts.</a:t>
            </a:r>
          </a:p>
        </p:txBody>
      </p:sp>
      <p:sp>
        <p:nvSpPr>
          <p:cNvPr id="3" name="Rectangle 2">
            <a:extLst>
              <a:ext uri="{FF2B5EF4-FFF2-40B4-BE49-F238E27FC236}">
                <a16:creationId xmlns:a16="http://schemas.microsoft.com/office/drawing/2014/main" id="{44CBCC7A-2B3E-4BB8-A17C-89503162166B}"/>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pic>
        <p:nvPicPr>
          <p:cNvPr id="4" name="Picture 3">
            <a:extLst>
              <a:ext uri="{FF2B5EF4-FFF2-40B4-BE49-F238E27FC236}">
                <a16:creationId xmlns:a16="http://schemas.microsoft.com/office/drawing/2014/main" id="{7A8639D4-8D2D-4104-A688-B4BDADCD481D}"/>
              </a:ext>
            </a:extLst>
          </p:cNvPr>
          <p:cNvPicPr>
            <a:picLocks noChangeAspect="1"/>
          </p:cNvPicPr>
          <p:nvPr/>
        </p:nvPicPr>
        <p:blipFill>
          <a:blip r:embed="rId3"/>
          <a:stretch/>
        </p:blipFill>
        <p:spPr>
          <a:xfrm>
            <a:off x="457200" y="1400608"/>
            <a:ext cx="11277600" cy="4485409"/>
          </a:xfrm>
          <a:prstGeom prst="rect">
            <a:avLst/>
          </a:prstGeom>
        </p:spPr>
      </p:pic>
      <p:sp>
        <p:nvSpPr>
          <p:cNvPr id="5" name="Rectangle 4">
            <a:extLst>
              <a:ext uri="{FF2B5EF4-FFF2-40B4-BE49-F238E27FC236}">
                <a16:creationId xmlns:a16="http://schemas.microsoft.com/office/drawing/2014/main" id="{C503E373-5342-45CE-B7DA-D5478D3FADA8}"/>
              </a:ext>
            </a:extLst>
          </p:cNvPr>
          <p:cNvSpPr>
            <a:spLocks noGrp="1"/>
          </p:cNvSpPr>
          <p:nvPr/>
        </p:nvSpPr>
        <p:spPr>
          <a:xfrm>
            <a:off x="457200" y="5895975"/>
            <a:ext cx="11277600" cy="371475"/>
          </a:xfrm>
          <a:prstGeom prst="rect">
            <a:avLst/>
          </a:prstGeom>
          <a:noFill/>
          <a:ln w="0">
            <a:noFill/>
          </a:ln>
        </p:spPr>
        <p:txBody>
          <a:bodyPr wrap="square" lIns="0" tIns="0" rIns="0" bIns="0" anchor="t"/>
          <a:lstStyle>
            <a:defPPr>
              <a:defRPr sz="2175" b="1">
                <a:solidFill>
                  <a:srgbClr val="111111"/>
                </a:solidFill>
                <a:latin typeface="Times New Roman"/>
                <a:ea typeface="Times New Roman"/>
                <a:cs typeface="Times New Roman"/>
              </a:defRPr>
            </a:defPPr>
          </a:lstStyle>
          <a:p>
            <a:pPr>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Physics hints have the highest observed pass rate at every effort setting.</a:t>
            </a:r>
          </a:p>
        </p:txBody>
      </p:sp>
    </p:spTree>
    <p:extLst>
      <p:ext uri="{BB962C8B-B14F-4D97-AF65-F5344CB8AC3E}">
        <p14:creationId xmlns:p14="http://schemas.microsoft.com/office/powerpoint/2010/main" val="84817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F9950FC-52E5-401D-BB3F-ADA8D732378C}"/>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Where the agents fail</a:t>
            </a:r>
          </a:p>
        </p:txBody>
      </p:sp>
      <p:sp>
        <p:nvSpPr>
          <p:cNvPr id="2" name="Rectangle 1">
            <a:extLst>
              <a:ext uri="{FF2B5EF4-FFF2-40B4-BE49-F238E27FC236}">
                <a16:creationId xmlns:a16="http://schemas.microsoft.com/office/drawing/2014/main" id="{381E6914-BC82-4617-873D-C301993F70D4}"/>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Outcome totals combine all tested efforts and hints. Failure diagnoses use reviewed subsets.</a:t>
            </a:r>
          </a:p>
        </p:txBody>
      </p:sp>
      <p:sp>
        <p:nvSpPr>
          <p:cNvPr id="3" name="Rectangle 2">
            <a:extLst>
              <a:ext uri="{FF2B5EF4-FFF2-40B4-BE49-F238E27FC236}">
                <a16:creationId xmlns:a16="http://schemas.microsoft.com/office/drawing/2014/main" id="{CD1C8120-6B60-4FD3-9977-BD6B1FB3EFD7}"/>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pic>
        <p:nvPicPr>
          <p:cNvPr id="4" name="Picture 3">
            <a:extLst>
              <a:ext uri="{FF2B5EF4-FFF2-40B4-BE49-F238E27FC236}">
                <a16:creationId xmlns:a16="http://schemas.microsoft.com/office/drawing/2014/main" id="{F7B7FA8C-B54C-434B-8BE3-B98840905F46}"/>
              </a:ext>
            </a:extLst>
          </p:cNvPr>
          <p:cNvPicPr>
            <a:picLocks noChangeAspect="1"/>
          </p:cNvPicPr>
          <p:nvPr/>
        </p:nvPicPr>
        <p:blipFill>
          <a:blip r:embed="rId3"/>
          <a:stretch/>
        </p:blipFill>
        <p:spPr>
          <a:xfrm>
            <a:off x="306777" y="1419225"/>
            <a:ext cx="8130396" cy="4953000"/>
          </a:xfrm>
          <a:prstGeom prst="rect">
            <a:avLst/>
          </a:prstGeom>
        </p:spPr>
      </p:pic>
      <p:sp>
        <p:nvSpPr>
          <p:cNvPr id="5" name="Rectangle 4">
            <a:extLst>
              <a:ext uri="{FF2B5EF4-FFF2-40B4-BE49-F238E27FC236}">
                <a16:creationId xmlns:a16="http://schemas.microsoft.com/office/drawing/2014/main" id="{5F31B343-1558-4750-98E9-18D17A4EAD6E}"/>
              </a:ext>
            </a:extLst>
          </p:cNvPr>
          <p:cNvSpPr>
            <a:spLocks noGrp="1"/>
          </p:cNvSpPr>
          <p:nvPr/>
        </p:nvSpPr>
        <p:spPr>
          <a:xfrm>
            <a:off x="8734425" y="1819275"/>
            <a:ext cx="3000375" cy="609600"/>
          </a:xfrm>
          <a:prstGeom prst="rect">
            <a:avLst/>
          </a:prstGeom>
          <a:noFill/>
          <a:ln w="0">
            <a:noFill/>
          </a:ln>
        </p:spPr>
        <p:txBody>
          <a:bodyPr wrap="square" lIns="0" tIns="0" rIns="0" bIns="0" anchor="t"/>
          <a:lstStyle>
            <a:defPPr>
              <a:defRPr sz="3675" b="1">
                <a:solidFill>
                  <a:srgbClr val="B45309"/>
                </a:solidFill>
                <a:latin typeface="Times New Roman"/>
                <a:ea typeface="Times New Roman"/>
                <a:cs typeface="Times New Roman"/>
              </a:defRPr>
            </a:defPPr>
          </a:lstStyle>
          <a:p>
            <a:pPr>
              <a:defRPr sz="3675" b="1">
                <a:solidFill>
                  <a:srgbClr val="B45309"/>
                </a:solidFill>
                <a:latin typeface="Times New Roman"/>
                <a:ea typeface="Times New Roman"/>
                <a:cs typeface="Times New Roman"/>
              </a:defRPr>
            </a:pPr>
            <a:r>
              <a:rPr sz="3675" b="1">
                <a:solidFill>
                  <a:srgbClr val="B45309"/>
                </a:solidFill>
                <a:latin typeface="Times New Roman"/>
                <a:ea typeface="Times New Roman"/>
                <a:cs typeface="Times New Roman"/>
              </a:rPr>
              <a:t>186 / 191</a:t>
            </a:r>
          </a:p>
        </p:txBody>
      </p:sp>
      <p:sp>
        <p:nvSpPr>
          <p:cNvPr id="6" name="Rectangle 5">
            <a:extLst>
              <a:ext uri="{FF2B5EF4-FFF2-40B4-BE49-F238E27FC236}">
                <a16:creationId xmlns:a16="http://schemas.microsoft.com/office/drawing/2014/main" id="{348AC248-6EA1-40E5-A02A-27D474FF3AF9}"/>
              </a:ext>
            </a:extLst>
          </p:cNvPr>
          <p:cNvSpPr>
            <a:spLocks noGrp="1"/>
          </p:cNvSpPr>
          <p:nvPr/>
        </p:nvSpPr>
        <p:spPr>
          <a:xfrm>
            <a:off x="8734425" y="2505075"/>
            <a:ext cx="3000375" cy="933450"/>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Reviewed no-hint failures</a:t>
            </a:r>
          </a:p>
          <a:p>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calibration but failed</a:t>
            </a:r>
          </a:p>
          <a:p>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new predictions.</a:t>
            </a:r>
          </a:p>
        </p:txBody>
      </p:sp>
      <p:sp>
        <p:nvSpPr>
          <p:cNvPr id="7" name="Rectangle 6">
            <a:extLst>
              <a:ext uri="{FF2B5EF4-FFF2-40B4-BE49-F238E27FC236}">
                <a16:creationId xmlns:a16="http://schemas.microsoft.com/office/drawing/2014/main" id="{3B667413-E581-451A-8225-4A9FB9EBBD3E}"/>
              </a:ext>
            </a:extLst>
          </p:cNvPr>
          <p:cNvSpPr>
            <a:spLocks noGrp="1"/>
          </p:cNvSpPr>
          <p:nvPr/>
        </p:nvSpPr>
        <p:spPr>
          <a:xfrm>
            <a:off x="8734425" y="3829050"/>
            <a:ext cx="3000375" cy="609600"/>
          </a:xfrm>
          <a:prstGeom prst="rect">
            <a:avLst/>
          </a:prstGeom>
          <a:noFill/>
          <a:ln w="0">
            <a:noFill/>
          </a:ln>
        </p:spPr>
        <p:txBody>
          <a:bodyPr wrap="square" lIns="0" tIns="0" rIns="0" bIns="0" anchor="t"/>
          <a:lstStyle>
            <a:defPPr>
              <a:defRPr sz="3675" b="1">
                <a:solidFill>
                  <a:srgbClr val="B00032"/>
                </a:solidFill>
                <a:latin typeface="Times New Roman"/>
                <a:ea typeface="Times New Roman"/>
                <a:cs typeface="Times New Roman"/>
              </a:defRPr>
            </a:defPPr>
          </a:lstStyle>
          <a:p>
            <a:pPr>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229 / 315</a:t>
            </a:r>
          </a:p>
        </p:txBody>
      </p:sp>
      <p:sp>
        <p:nvSpPr>
          <p:cNvPr id="8" name="Rectangle 7">
            <a:extLst>
              <a:ext uri="{FF2B5EF4-FFF2-40B4-BE49-F238E27FC236}">
                <a16:creationId xmlns:a16="http://schemas.microsoft.com/office/drawing/2014/main" id="{89F9A2A3-3A6F-41DB-A9C7-9CD4BB4EA097}"/>
              </a:ext>
            </a:extLst>
          </p:cNvPr>
          <p:cNvSpPr>
            <a:spLocks noGrp="1"/>
          </p:cNvSpPr>
          <p:nvPr/>
        </p:nvSpPr>
        <p:spPr>
          <a:xfrm>
            <a:off x="8734425" y="4514850"/>
            <a:ext cx="3000375" cy="933450"/>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Reviewed hinted failures</a:t>
            </a:r>
          </a:p>
          <a:p>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involved physics or modeling.</a:t>
            </a:r>
          </a:p>
        </p:txBody>
      </p:sp>
      <p:sp>
        <p:nvSpPr>
          <p:cNvPr id="9" name="Rectangle 8">
            <a:extLst>
              <a:ext uri="{FF2B5EF4-FFF2-40B4-BE49-F238E27FC236}">
                <a16:creationId xmlns:a16="http://schemas.microsoft.com/office/drawing/2014/main" id="{327EC3BD-1C1C-4748-9A5D-76BA3EEF8993}"/>
              </a:ext>
            </a:extLst>
          </p:cNvPr>
          <p:cNvSpPr>
            <a:spLocks noGrp="1"/>
          </p:cNvSpPr>
          <p:nvPr/>
        </p:nvSpPr>
        <p:spPr>
          <a:xfrm>
            <a:off x="457200" y="6334125"/>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Review subsets use different diagnostic categories. Execution errors alone do not establish a physics mistake.</a:t>
            </a:r>
          </a:p>
        </p:txBody>
      </p:sp>
    </p:spTree>
    <p:extLst>
      <p:ext uri="{BB962C8B-B14F-4D97-AF65-F5344CB8AC3E}">
        <p14:creationId xmlns:p14="http://schemas.microsoft.com/office/powerpoint/2010/main" val="5916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88BF787-8096-4C2A-88D4-72B59C3957F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a:ext uri="{FF2B5EF4-FFF2-40B4-BE49-F238E27FC236}">
                <a16:creationId xmlns:a16="http://schemas.microsoft.com/office/drawing/2014/main" id="{90E0191D-DC24-4A27-8C1D-B6CD527F23A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a:ext uri="{FF2B5EF4-FFF2-40B4-BE49-F238E27FC236}">
                <a16:creationId xmlns:a16="http://schemas.microsoft.com/office/drawing/2014/main" id="{AD1C196F-EF25-4184-B114-2530E3410410}"/>
              </a:ext>
            </a:extLst>
          </p:cNvPr>
          <p:cNvSpPr>
            <a:spLocks noGrp="1"/>
          </p:cNvSpPr>
          <p:nvPr/>
        </p:nvSpPr>
        <p:spPr>
          <a:xfrm>
            <a:off x="457200" y="1628775"/>
            <a:ext cx="5467350" cy="342900"/>
          </a:xfrm>
          <a:prstGeom prst="rect">
            <a:avLst/>
          </a:prstGeom>
          <a:noFill/>
          <a:ln w="0">
            <a:noFill/>
          </a:ln>
        </p:spPr>
        <p:txBody>
          <a:bodyPr wrap="square" lIns="0" tIns="0" rIns="0" bIns="0" anchor="t"/>
          <a:lstStyle>
            <a:defPPr algn="ctr">
              <a:defRPr sz="2100" b="1">
                <a:solidFill>
                  <a:srgbClr val="111111"/>
                </a:solidFill>
                <a:latin typeface="Times New Roman"/>
                <a:ea typeface="Times New Roman"/>
                <a:cs typeface="Times New Roman"/>
              </a:defRPr>
            </a:defPPr>
          </a:lstStyle>
          <a:p>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a:ext uri="{FF2B5EF4-FFF2-40B4-BE49-F238E27FC236}">
                <a16:creationId xmlns:a16="http://schemas.microsoft.com/office/drawing/2014/main" id="{6CB97F0B-14D1-45A5-8F9B-88A5CA265AC7}"/>
              </a:ext>
            </a:extLst>
          </p:cNvPr>
          <p:cNvSpPr>
            <a:spLocks noGrp="1"/>
          </p:cNvSpPr>
          <p:nvPr/>
        </p:nvSpPr>
        <p:spPr>
          <a:xfrm>
            <a:off x="2038350" y="2095500"/>
            <a:ext cx="2305050" cy="19050"/>
          </a:xfrm>
          <a:prstGeom prst="rect">
            <a:avLst/>
          </a:prstGeom>
          <a:solidFill>
            <a:srgbClr val="777777"/>
          </a:solidFill>
          <a:ln w="0">
            <a:noFill/>
          </a:ln>
        </p:spPr>
        <p:txBody>
          <a:bodyPr/>
          <a:lstStyle/>
          <a:p>
            <a:endParaRPr/>
          </a:p>
        </p:txBody>
      </p:sp>
      <p:sp>
        <p:nvSpPr>
          <p:cNvPr id="5" name="Rectangle 4">
            <a:extLst>
              <a:ext uri="{FF2B5EF4-FFF2-40B4-BE49-F238E27FC236}">
                <a16:creationId xmlns:a16="http://schemas.microsoft.com/office/drawing/2014/main" id="{A2592DAE-900F-479B-A890-400A518A5C35}"/>
              </a:ext>
            </a:extLst>
          </p:cNvPr>
          <p:cNvSpPr>
            <a:spLocks noGrp="1"/>
          </p:cNvSpPr>
          <p:nvPr/>
        </p:nvSpPr>
        <p:spPr>
          <a:xfrm>
            <a:off x="2038350" y="2609850"/>
            <a:ext cx="2305050" cy="19050"/>
          </a:xfrm>
          <a:prstGeom prst="rect">
            <a:avLst/>
          </a:prstGeom>
          <a:solidFill>
            <a:srgbClr val="777777"/>
          </a:solidFill>
          <a:ln w="0">
            <a:noFill/>
          </a:ln>
        </p:spPr>
        <p:txBody>
          <a:bodyPr/>
          <a:lstStyle/>
          <a:p>
            <a:endParaRPr/>
          </a:p>
        </p:txBody>
      </p:sp>
      <p:sp>
        <p:nvSpPr>
          <p:cNvPr id="6" name="Oval 5">
            <a:extLst>
              <a:ext uri="{FF2B5EF4-FFF2-40B4-BE49-F238E27FC236}">
                <a16:creationId xmlns:a16="http://schemas.microsoft.com/office/drawing/2014/main" id="{4AEFC1F5-B00A-442B-A9CB-59FA4BA6930E}"/>
              </a:ext>
            </a:extLst>
          </p:cNvPr>
          <p:cNvSpPr>
            <a:spLocks noGrp="1"/>
          </p:cNvSpPr>
          <p:nvPr/>
        </p:nvSpPr>
        <p:spPr>
          <a:xfrm>
            <a:off x="2133600" y="2238375"/>
            <a:ext cx="228600" cy="228600"/>
          </a:xfrm>
          <a:prstGeom prst="ellipse">
            <a:avLst/>
          </a:prstGeom>
          <a:solidFill>
            <a:srgbClr val="E8ECEF"/>
          </a:solidFill>
          <a:ln w="15240">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9E5C55-848C-42F8-8543-5E83EBE4790C}"/>
              </a:ext>
            </a:extLst>
          </p:cNvPr>
          <p:cNvSpPr>
            <a:spLocks noGrp="1"/>
          </p:cNvSpPr>
          <p:nvPr/>
        </p:nvSpPr>
        <p:spPr>
          <a:xfrm>
            <a:off x="2505075" y="2238375"/>
            <a:ext cx="228600" cy="228600"/>
          </a:xfrm>
          <a:prstGeom prst="ellipse">
            <a:avLst/>
          </a:prstGeom>
          <a:solidFill>
            <a:srgbClr val="E8ECEF"/>
          </a:solidFill>
          <a:ln w="15240">
            <a:solidFill>
              <a:srgbClr val="777777"/>
            </a:solidFill>
            <a:prstDash val="solid"/>
          </a:ln>
        </p:spPr>
        <p:txBody>
          <a:bodyPr/>
          <a:lstStyle/>
          <a:p>
            <a:endParaRPr/>
          </a:p>
        </p:txBody>
      </p:sp>
      <p:sp>
        <p:nvSpPr>
          <p:cNvPr id="8" name="Oval 7">
            <a:extLst>
              <a:ext uri="{FF2B5EF4-FFF2-40B4-BE49-F238E27FC236}">
                <a16:creationId xmlns:a16="http://schemas.microsoft.com/office/drawing/2014/main" id="{E14639FD-8428-44D2-9C15-7D66D756CAAA}"/>
              </a:ext>
            </a:extLst>
          </p:cNvPr>
          <p:cNvSpPr>
            <a:spLocks noGrp="1"/>
          </p:cNvSpPr>
          <p:nvPr/>
        </p:nvSpPr>
        <p:spPr>
          <a:xfrm>
            <a:off x="2876550" y="2238375"/>
            <a:ext cx="228600" cy="228600"/>
          </a:xfrm>
          <a:prstGeom prst="ellipse">
            <a:avLst/>
          </a:prstGeom>
          <a:solidFill>
            <a:srgbClr val="B45309"/>
          </a:solidFill>
          <a:ln w="15240">
            <a:solidFill>
              <a:srgbClr val="B45309"/>
            </a:solidFill>
            <a:prstDash val="solid"/>
          </a:ln>
        </p:spPr>
        <p:txBody>
          <a:bodyPr/>
          <a:lstStyle/>
          <a:p>
            <a:endParaRPr/>
          </a:p>
        </p:txBody>
      </p:sp>
      <p:sp>
        <p:nvSpPr>
          <p:cNvPr id="9" name="Oval 8">
            <a:extLst>
              <a:ext uri="{FF2B5EF4-FFF2-40B4-BE49-F238E27FC236}">
                <a16:creationId xmlns:a16="http://schemas.microsoft.com/office/drawing/2014/main" id="{D1467A71-ED3C-44C5-844C-EF34BB051944}"/>
              </a:ext>
            </a:extLst>
          </p:cNvPr>
          <p:cNvSpPr>
            <a:spLocks noGrp="1"/>
          </p:cNvSpPr>
          <p:nvPr/>
        </p:nvSpPr>
        <p:spPr>
          <a:xfrm>
            <a:off x="3248025" y="2238375"/>
            <a:ext cx="228600" cy="228600"/>
          </a:xfrm>
          <a:prstGeom prst="ellipse">
            <a:avLst/>
          </a:prstGeom>
          <a:solidFill>
            <a:srgbClr val="E8ECEF"/>
          </a:solidFill>
          <a:ln w="15240">
            <a:solidFill>
              <a:srgbClr val="777777"/>
            </a:solidFill>
            <a:prstDash val="solid"/>
          </a:ln>
        </p:spPr>
        <p:txBody>
          <a:bodyPr/>
          <a:lstStyle/>
          <a:p>
            <a:endParaRPr/>
          </a:p>
        </p:txBody>
      </p:sp>
      <p:sp>
        <p:nvSpPr>
          <p:cNvPr id="10" name="Oval 9">
            <a:extLst>
              <a:ext uri="{FF2B5EF4-FFF2-40B4-BE49-F238E27FC236}">
                <a16:creationId xmlns:a16="http://schemas.microsoft.com/office/drawing/2014/main" id="{22F03590-CD66-4324-9B45-D90E7670F2BC}"/>
              </a:ext>
            </a:extLst>
          </p:cNvPr>
          <p:cNvSpPr>
            <a:spLocks noGrp="1"/>
          </p:cNvSpPr>
          <p:nvPr/>
        </p:nvSpPr>
        <p:spPr>
          <a:xfrm>
            <a:off x="3619500" y="2238375"/>
            <a:ext cx="228600" cy="228600"/>
          </a:xfrm>
          <a:prstGeom prst="ellipse">
            <a:avLst/>
          </a:prstGeom>
          <a:solidFill>
            <a:srgbClr val="E8ECEF"/>
          </a:solidFill>
          <a:ln w="15240">
            <a:solidFill>
              <a:srgbClr val="777777"/>
            </a:solidFill>
            <a:prstDash val="solid"/>
          </a:ln>
        </p:spPr>
        <p:txBody>
          <a:bodyPr/>
          <a:lstStyle/>
          <a:p>
            <a:endParaRPr/>
          </a:p>
        </p:txBody>
      </p:sp>
      <p:sp>
        <p:nvSpPr>
          <p:cNvPr id="11" name="Oval 10">
            <a:extLst>
              <a:ext uri="{FF2B5EF4-FFF2-40B4-BE49-F238E27FC236}">
                <a16:creationId xmlns:a16="http://schemas.microsoft.com/office/drawing/2014/main" id="{514F4D2C-52B8-4904-9800-3B56EDDCABE1}"/>
              </a:ext>
            </a:extLst>
          </p:cNvPr>
          <p:cNvSpPr>
            <a:spLocks noGrp="1"/>
          </p:cNvSpPr>
          <p:nvPr/>
        </p:nvSpPr>
        <p:spPr>
          <a:xfrm>
            <a:off x="3990975" y="2238375"/>
            <a:ext cx="228600" cy="228600"/>
          </a:xfrm>
          <a:prstGeom prst="ellipse">
            <a:avLst/>
          </a:prstGeom>
          <a:solidFill>
            <a:srgbClr val="E8ECEF"/>
          </a:solidFill>
          <a:ln w="15240">
            <a:solidFill>
              <a:srgbClr val="777777"/>
            </a:solidFill>
            <a:prstDash val="solid"/>
          </a:ln>
        </p:spPr>
        <p:txBody>
          <a:bodyPr/>
          <a:lstStyle/>
          <a:p>
            <a:endParaRPr/>
          </a:p>
        </p:txBody>
      </p:sp>
      <p:sp>
        <p:nvSpPr>
          <p:cNvPr id="12" name="Down Arrow 11">
            <a:extLst>
              <a:ext uri="{FF2B5EF4-FFF2-40B4-BE49-F238E27FC236}">
                <a16:creationId xmlns:a16="http://schemas.microsoft.com/office/drawing/2014/main" id="{2B9547D1-0D56-40EB-A613-AD781B488373}"/>
              </a:ext>
            </a:extLst>
          </p:cNvPr>
          <p:cNvSpPr>
            <a:spLocks noGrp="1"/>
          </p:cNvSpPr>
          <p:nvPr/>
        </p:nvSpPr>
        <p:spPr>
          <a:xfrm>
            <a:off x="3048000" y="2762250"/>
            <a:ext cx="228600" cy="323850"/>
          </a:xfrm>
          <a:prstGeom prst="downArrow">
            <a:avLst/>
          </a:prstGeom>
          <a:solidFill>
            <a:srgbClr val="777777"/>
          </a:solidFill>
          <a:ln w="0">
            <a:noFill/>
          </a:ln>
        </p:spPr>
        <p:txBody>
          <a:bodyPr/>
          <a:lstStyle/>
          <a:p>
            <a:endParaRPr/>
          </a:p>
        </p:txBody>
      </p:sp>
      <p:sp>
        <p:nvSpPr>
          <p:cNvPr id="13" name="Rectangle 12">
            <a:extLst>
              <a:ext uri="{FF2B5EF4-FFF2-40B4-BE49-F238E27FC236}">
                <a16:creationId xmlns:a16="http://schemas.microsoft.com/office/drawing/2014/main" id="{B29D8764-60D2-480D-B980-A00088FC00FD}"/>
              </a:ext>
            </a:extLst>
          </p:cNvPr>
          <p:cNvSpPr>
            <a:spLocks noGrp="1"/>
          </p:cNvSpPr>
          <p:nvPr/>
        </p:nvSpPr>
        <p:spPr>
          <a:xfrm>
            <a:off x="4572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a:ext uri="{FF2B5EF4-FFF2-40B4-BE49-F238E27FC236}">
                <a16:creationId xmlns:a16="http://schemas.microsoft.com/office/drawing/2014/main" id="{8C762CA3-6389-42EF-9006-A1AD10A8C613}"/>
              </a:ext>
            </a:extLst>
          </p:cNvPr>
          <p:cNvSpPr>
            <a:spLocks noGrp="1"/>
          </p:cNvSpPr>
          <p:nvPr/>
        </p:nvSpPr>
        <p:spPr>
          <a:xfrm>
            <a:off x="36195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a:ext uri="{FF2B5EF4-FFF2-40B4-BE49-F238E27FC236}">
                <a16:creationId xmlns:a16="http://schemas.microsoft.com/office/drawing/2014/main" id="{44E89158-6FEE-4279-A678-86EC80971E97}"/>
              </a:ext>
            </a:extLst>
          </p:cNvPr>
          <p:cNvSpPr>
            <a:spLocks noGrp="1"/>
          </p:cNvSpPr>
          <p:nvPr/>
        </p:nvSpPr>
        <p:spPr>
          <a:xfrm>
            <a:off x="457200" y="3752850"/>
            <a:ext cx="2305050" cy="19050"/>
          </a:xfrm>
          <a:prstGeom prst="rect">
            <a:avLst/>
          </a:prstGeom>
          <a:solidFill>
            <a:srgbClr val="777777"/>
          </a:solidFill>
          <a:ln w="0">
            <a:noFill/>
          </a:ln>
        </p:spPr>
        <p:txBody>
          <a:bodyPr/>
          <a:lstStyle/>
          <a:p>
            <a:endParaRPr/>
          </a:p>
        </p:txBody>
      </p:sp>
      <p:sp>
        <p:nvSpPr>
          <p:cNvPr id="16" name="Rectangle 15">
            <a:extLst>
              <a:ext uri="{FF2B5EF4-FFF2-40B4-BE49-F238E27FC236}">
                <a16:creationId xmlns:a16="http://schemas.microsoft.com/office/drawing/2014/main" id="{F5D70699-BAD5-4E1D-B932-83872919EF0A}"/>
              </a:ext>
            </a:extLst>
          </p:cNvPr>
          <p:cNvSpPr>
            <a:spLocks noGrp="1"/>
          </p:cNvSpPr>
          <p:nvPr/>
        </p:nvSpPr>
        <p:spPr>
          <a:xfrm>
            <a:off x="457200" y="4267200"/>
            <a:ext cx="2305050" cy="19050"/>
          </a:xfrm>
          <a:prstGeom prst="rect">
            <a:avLst/>
          </a:prstGeom>
          <a:solidFill>
            <a:srgbClr val="777777"/>
          </a:solidFill>
          <a:ln w="0">
            <a:noFill/>
          </a:ln>
        </p:spPr>
        <p:txBody>
          <a:bodyPr/>
          <a:lstStyle/>
          <a:p>
            <a:endParaRPr/>
          </a:p>
        </p:txBody>
      </p:sp>
      <p:sp>
        <p:nvSpPr>
          <p:cNvPr id="17" name="Oval 16">
            <a:extLst>
              <a:ext uri="{FF2B5EF4-FFF2-40B4-BE49-F238E27FC236}">
                <a16:creationId xmlns:a16="http://schemas.microsoft.com/office/drawing/2014/main" id="{E4800A52-7A43-4EE3-BFDE-4345E3917BBC}"/>
              </a:ext>
            </a:extLst>
          </p:cNvPr>
          <p:cNvSpPr>
            <a:spLocks noGrp="1"/>
          </p:cNvSpPr>
          <p:nvPr/>
        </p:nvSpPr>
        <p:spPr>
          <a:xfrm>
            <a:off x="5524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8" name="Oval 17">
            <a:extLst>
              <a:ext uri="{FF2B5EF4-FFF2-40B4-BE49-F238E27FC236}">
                <a16:creationId xmlns:a16="http://schemas.microsoft.com/office/drawing/2014/main" id="{62A308A1-DACE-4383-9C9F-56EC1ABE876B}"/>
              </a:ext>
            </a:extLst>
          </p:cNvPr>
          <p:cNvSpPr>
            <a:spLocks noGrp="1"/>
          </p:cNvSpPr>
          <p:nvPr/>
        </p:nvSpPr>
        <p:spPr>
          <a:xfrm>
            <a:off x="8953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9" name="Oval 18">
            <a:extLst>
              <a:ext uri="{FF2B5EF4-FFF2-40B4-BE49-F238E27FC236}">
                <a16:creationId xmlns:a16="http://schemas.microsoft.com/office/drawing/2014/main" id="{F532BC2B-393A-4988-9DB6-D5C1679E5992}"/>
              </a:ext>
            </a:extLst>
          </p:cNvPr>
          <p:cNvSpPr>
            <a:spLocks noGrp="1"/>
          </p:cNvSpPr>
          <p:nvPr/>
        </p:nvSpPr>
        <p:spPr>
          <a:xfrm>
            <a:off x="1333500" y="3895725"/>
            <a:ext cx="228600" cy="228600"/>
          </a:xfrm>
          <a:prstGeom prst="ellipse">
            <a:avLst/>
          </a:prstGeom>
          <a:solidFill>
            <a:srgbClr val="B45309"/>
          </a:solidFill>
          <a:ln w="15240">
            <a:solidFill>
              <a:srgbClr val="B45309"/>
            </a:solidFill>
            <a:prstDash val="solid"/>
          </a:ln>
        </p:spPr>
        <p:txBody>
          <a:bodyPr/>
          <a:lstStyle/>
          <a:p>
            <a:endParaRPr/>
          </a:p>
        </p:txBody>
      </p:sp>
      <p:sp>
        <p:nvSpPr>
          <p:cNvPr id="20" name="Oval 19">
            <a:extLst>
              <a:ext uri="{FF2B5EF4-FFF2-40B4-BE49-F238E27FC236}">
                <a16:creationId xmlns:a16="http://schemas.microsoft.com/office/drawing/2014/main" id="{3969F120-CB61-4C0C-BD8B-DA3147A0F5B3}"/>
              </a:ext>
            </a:extLst>
          </p:cNvPr>
          <p:cNvSpPr>
            <a:spLocks noGrp="1"/>
          </p:cNvSpPr>
          <p:nvPr/>
        </p:nvSpPr>
        <p:spPr>
          <a:xfrm>
            <a:off x="16287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1" name="Oval 20">
            <a:extLst>
              <a:ext uri="{FF2B5EF4-FFF2-40B4-BE49-F238E27FC236}">
                <a16:creationId xmlns:a16="http://schemas.microsoft.com/office/drawing/2014/main" id="{A4C9A583-94F0-4BA9-A1F1-75C831BF51D7}"/>
              </a:ext>
            </a:extLst>
          </p:cNvPr>
          <p:cNvSpPr>
            <a:spLocks noGrp="1"/>
          </p:cNvSpPr>
          <p:nvPr/>
        </p:nvSpPr>
        <p:spPr>
          <a:xfrm>
            <a:off x="2066925" y="3895725"/>
            <a:ext cx="228600" cy="228600"/>
          </a:xfrm>
          <a:prstGeom prst="ellipse">
            <a:avLst/>
          </a:prstGeom>
          <a:solidFill>
            <a:srgbClr val="E8ECEF"/>
          </a:solidFill>
          <a:ln w="15240">
            <a:solidFill>
              <a:srgbClr val="777777"/>
            </a:solidFill>
            <a:prstDash val="solid"/>
          </a:ln>
        </p:spPr>
        <p:txBody>
          <a:bodyPr/>
          <a:lstStyle/>
          <a:p>
            <a:endParaRPr/>
          </a:p>
        </p:txBody>
      </p:sp>
      <p:sp>
        <p:nvSpPr>
          <p:cNvPr id="22" name="Oval 21">
            <a:extLst>
              <a:ext uri="{FF2B5EF4-FFF2-40B4-BE49-F238E27FC236}">
                <a16:creationId xmlns:a16="http://schemas.microsoft.com/office/drawing/2014/main" id="{58B0A4D4-3ED5-482F-8869-E22CB5184AB7}"/>
              </a:ext>
            </a:extLst>
          </p:cNvPr>
          <p:cNvSpPr>
            <a:spLocks noGrp="1"/>
          </p:cNvSpPr>
          <p:nvPr/>
        </p:nvSpPr>
        <p:spPr>
          <a:xfrm>
            <a:off x="24003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6BBAA5C2-F6E8-401D-A2D4-FF1AE8E4C308}"/>
              </a:ext>
            </a:extLst>
          </p:cNvPr>
          <p:cNvSpPr>
            <a:spLocks noGrp="1"/>
          </p:cNvSpPr>
          <p:nvPr/>
        </p:nvSpPr>
        <p:spPr>
          <a:xfrm>
            <a:off x="3619500" y="3752850"/>
            <a:ext cx="2305050" cy="19050"/>
          </a:xfrm>
          <a:prstGeom prst="rect">
            <a:avLst/>
          </a:prstGeom>
          <a:solidFill>
            <a:srgbClr val="777777"/>
          </a:solidFill>
          <a:ln w="0">
            <a:noFill/>
          </a:ln>
        </p:spPr>
        <p:txBody>
          <a:bodyPr/>
          <a:lstStyle/>
          <a:p>
            <a:endParaRPr/>
          </a:p>
        </p:txBody>
      </p:sp>
      <p:sp>
        <p:nvSpPr>
          <p:cNvPr id="24" name="Rectangle 23">
            <a:extLst>
              <a:ext uri="{FF2B5EF4-FFF2-40B4-BE49-F238E27FC236}">
                <a16:creationId xmlns:a16="http://schemas.microsoft.com/office/drawing/2014/main" id="{D413A0C3-BBFC-414E-B042-F4DB66E7B045}"/>
              </a:ext>
            </a:extLst>
          </p:cNvPr>
          <p:cNvSpPr>
            <a:spLocks noGrp="1"/>
          </p:cNvSpPr>
          <p:nvPr/>
        </p:nvSpPr>
        <p:spPr>
          <a:xfrm>
            <a:off x="3619500" y="4267200"/>
            <a:ext cx="2305050" cy="19050"/>
          </a:xfrm>
          <a:prstGeom prst="rect">
            <a:avLst/>
          </a:prstGeom>
          <a:solidFill>
            <a:srgbClr val="777777"/>
          </a:solidFill>
          <a:ln w="0">
            <a:noFill/>
          </a:ln>
        </p:spPr>
        <p:txBody>
          <a:bodyPr/>
          <a:lstStyle/>
          <a:p>
            <a:endParaRPr/>
          </a:p>
        </p:txBody>
      </p:sp>
      <p:sp>
        <p:nvSpPr>
          <p:cNvPr id="25" name="Oval 24">
            <a:extLst>
              <a:ext uri="{FF2B5EF4-FFF2-40B4-BE49-F238E27FC236}">
                <a16:creationId xmlns:a16="http://schemas.microsoft.com/office/drawing/2014/main" id="{5DDBCCB3-6174-452E-8287-941151DEF8D4}"/>
              </a:ext>
            </a:extLst>
          </p:cNvPr>
          <p:cNvSpPr>
            <a:spLocks noGrp="1"/>
          </p:cNvSpPr>
          <p:nvPr/>
        </p:nvSpPr>
        <p:spPr>
          <a:xfrm>
            <a:off x="3676650" y="3895725"/>
            <a:ext cx="228600" cy="228600"/>
          </a:xfrm>
          <a:prstGeom prst="ellipse">
            <a:avLst/>
          </a:prstGeom>
          <a:solidFill>
            <a:srgbClr val="E8ECEF"/>
          </a:solidFill>
          <a:ln w="15240">
            <a:solidFill>
              <a:srgbClr val="777777"/>
            </a:solidFill>
            <a:prstDash val="solid"/>
          </a:ln>
        </p:spPr>
        <p:txBody>
          <a:bodyPr/>
          <a:lstStyle/>
          <a:p>
            <a:endParaRPr/>
          </a:p>
        </p:txBody>
      </p:sp>
      <p:sp>
        <p:nvSpPr>
          <p:cNvPr id="26" name="Oval 25">
            <a:extLst>
              <a:ext uri="{FF2B5EF4-FFF2-40B4-BE49-F238E27FC236}">
                <a16:creationId xmlns:a16="http://schemas.microsoft.com/office/drawing/2014/main" id="{D83C408D-2753-4A93-B04E-B4BCB093519E}"/>
              </a:ext>
            </a:extLst>
          </p:cNvPr>
          <p:cNvSpPr>
            <a:spLocks noGrp="1"/>
          </p:cNvSpPr>
          <p:nvPr/>
        </p:nvSpPr>
        <p:spPr>
          <a:xfrm>
            <a:off x="39528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7" name="Oval 26">
            <a:extLst>
              <a:ext uri="{FF2B5EF4-FFF2-40B4-BE49-F238E27FC236}">
                <a16:creationId xmlns:a16="http://schemas.microsoft.com/office/drawing/2014/main" id="{7E6E7AB3-854B-47DB-9A00-122279DD0A40}"/>
              </a:ext>
            </a:extLst>
          </p:cNvPr>
          <p:cNvSpPr>
            <a:spLocks noGrp="1"/>
          </p:cNvSpPr>
          <p:nvPr/>
        </p:nvSpPr>
        <p:spPr>
          <a:xfrm>
            <a:off x="4676775" y="3895725"/>
            <a:ext cx="228600" cy="228600"/>
          </a:xfrm>
          <a:prstGeom prst="ellipse">
            <a:avLst/>
          </a:prstGeom>
          <a:solidFill>
            <a:srgbClr val="B45309"/>
          </a:solidFill>
          <a:ln w="15240">
            <a:solidFill>
              <a:srgbClr val="B45309"/>
            </a:solidFill>
            <a:prstDash val="solid"/>
          </a:ln>
        </p:spPr>
        <p:txBody>
          <a:bodyPr/>
          <a:lstStyle/>
          <a:p>
            <a:endParaRPr/>
          </a:p>
        </p:txBody>
      </p:sp>
      <p:sp>
        <p:nvSpPr>
          <p:cNvPr id="28" name="Oval 27">
            <a:extLst>
              <a:ext uri="{FF2B5EF4-FFF2-40B4-BE49-F238E27FC236}">
                <a16:creationId xmlns:a16="http://schemas.microsoft.com/office/drawing/2014/main" id="{7C7A7103-E5BA-4F0E-AE18-5C2D9622CBA5}"/>
              </a:ext>
            </a:extLst>
          </p:cNvPr>
          <p:cNvSpPr>
            <a:spLocks noGrp="1"/>
          </p:cNvSpPr>
          <p:nvPr/>
        </p:nvSpPr>
        <p:spPr>
          <a:xfrm>
            <a:off x="49530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9" name="Oval 28">
            <a:extLst>
              <a:ext uri="{FF2B5EF4-FFF2-40B4-BE49-F238E27FC236}">
                <a16:creationId xmlns:a16="http://schemas.microsoft.com/office/drawing/2014/main" id="{33DE8FFE-2024-4BA3-8ED3-293C46275BDE}"/>
              </a:ext>
            </a:extLst>
          </p:cNvPr>
          <p:cNvSpPr>
            <a:spLocks noGrp="1"/>
          </p:cNvSpPr>
          <p:nvPr/>
        </p:nvSpPr>
        <p:spPr>
          <a:xfrm>
            <a:off x="5267325" y="3895725"/>
            <a:ext cx="228600" cy="228600"/>
          </a:xfrm>
          <a:prstGeom prst="ellipse">
            <a:avLst/>
          </a:prstGeom>
          <a:solidFill>
            <a:srgbClr val="E8ECEF"/>
          </a:solidFill>
          <a:ln w="15240">
            <a:solidFill>
              <a:srgbClr val="777777"/>
            </a:solidFill>
            <a:prstDash val="solid"/>
          </a:ln>
        </p:spPr>
        <p:txBody>
          <a:bodyPr/>
          <a:lstStyle/>
          <a:p>
            <a:endParaRPr/>
          </a:p>
        </p:txBody>
      </p:sp>
      <p:sp>
        <p:nvSpPr>
          <p:cNvPr id="30" name="Oval 29">
            <a:extLst>
              <a:ext uri="{FF2B5EF4-FFF2-40B4-BE49-F238E27FC236}">
                <a16:creationId xmlns:a16="http://schemas.microsoft.com/office/drawing/2014/main" id="{92D95110-4FA3-45BD-A738-3F39256E8B6A}"/>
              </a:ext>
            </a:extLst>
          </p:cNvPr>
          <p:cNvSpPr>
            <a:spLocks noGrp="1"/>
          </p:cNvSpPr>
          <p:nvPr/>
        </p:nvSpPr>
        <p:spPr>
          <a:xfrm>
            <a:off x="5600700" y="3895725"/>
            <a:ext cx="228600" cy="228600"/>
          </a:xfrm>
          <a:prstGeom prst="ellipse">
            <a:avLst/>
          </a:prstGeom>
          <a:solidFill>
            <a:srgbClr val="E8ECEF"/>
          </a:solidFill>
          <a:ln w="15240">
            <a:solidFill>
              <a:srgbClr val="777777"/>
            </a:solidFill>
            <a:prstDash val="solid"/>
          </a:ln>
        </p:spPr>
        <p:txBody>
          <a:bodyPr/>
          <a:lstStyle/>
          <a:p>
            <a:endParaRPr/>
          </a:p>
        </p:txBody>
      </p:sp>
      <p:sp>
        <p:nvSpPr>
          <p:cNvPr id="31" name="Left-Right Arrow 30">
            <a:extLst>
              <a:ext uri="{FF2B5EF4-FFF2-40B4-BE49-F238E27FC236}">
                <a16:creationId xmlns:a16="http://schemas.microsoft.com/office/drawing/2014/main" id="{084A0D89-582D-44C4-98B7-B310C73D2595}"/>
              </a:ext>
            </a:extLst>
          </p:cNvPr>
          <p:cNvSpPr>
            <a:spLocks noGrp="1"/>
          </p:cNvSpPr>
          <p:nvPr/>
        </p:nvSpPr>
        <p:spPr>
          <a:xfrm>
            <a:off x="2905125" y="3914775"/>
            <a:ext cx="571500" cy="190500"/>
          </a:xfrm>
          <a:prstGeom prst="leftRightArrow">
            <a:avLst/>
          </a:prstGeom>
          <a:solidFill>
            <a:srgbClr val="A50026"/>
          </a:solidFill>
          <a:ln w="0">
            <a:noFill/>
          </a:ln>
        </p:spPr>
        <p:txBody>
          <a:bodyPr/>
          <a:lstStyle/>
          <a:p>
            <a:endParaRPr/>
          </a:p>
        </p:txBody>
      </p:sp>
      <p:sp>
        <p:nvSpPr>
          <p:cNvPr id="32" name="Rectangle 31">
            <a:extLst>
              <a:ext uri="{FF2B5EF4-FFF2-40B4-BE49-F238E27FC236}">
                <a16:creationId xmlns:a16="http://schemas.microsoft.com/office/drawing/2014/main" id="{80CFA7B7-556A-4AFA-A558-012B8CF83F09}"/>
              </a:ext>
            </a:extLst>
          </p:cNvPr>
          <p:cNvSpPr>
            <a:spLocks noGrp="1"/>
          </p:cNvSpPr>
          <p:nvPr/>
        </p:nvSpPr>
        <p:spPr>
          <a:xfrm>
            <a:off x="457200" y="4476750"/>
            <a:ext cx="5467350" cy="304800"/>
          </a:xfrm>
          <a:prstGeom prst="rect">
            <a:avLst/>
          </a:prstGeom>
          <a:noFill/>
          <a:ln w="0">
            <a:noFill/>
          </a:ln>
        </p:spPr>
        <p:txBody>
          <a:bodyPr wrap="square" lIns="0" tIns="0" rIns="0" bIns="0" anchor="t"/>
          <a:lstStyle>
            <a:defPPr algn="ctr">
              <a:defRPr sz="1800" b="0">
                <a:solidFill>
                  <a:srgbClr val="444444"/>
                </a:solidFill>
                <a:latin typeface="Times New Roman"/>
                <a:ea typeface="Times New Roman"/>
                <a:cs typeface="Times New Roman"/>
              </a:defRPr>
            </a:defPPr>
          </a:lstStyle>
          <a:p>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a:ext uri="{FF2B5EF4-FFF2-40B4-BE49-F238E27FC236}">
                <a16:creationId xmlns:a16="http://schemas.microsoft.com/office/drawing/2014/main" id="{737B63CA-D7D2-4215-912C-850F09E9709B}"/>
              </a:ext>
            </a:extLst>
          </p:cNvPr>
          <p:cNvSpPr>
            <a:spLocks noGrp="1"/>
          </p:cNvSpPr>
          <p:nvPr/>
        </p:nvSpPr>
        <p:spPr>
          <a:xfrm>
            <a:off x="457200" y="4886325"/>
            <a:ext cx="5467350" cy="352425"/>
          </a:xfrm>
          <a:prstGeom prst="rect">
            <a:avLst/>
          </a:prstGeom>
          <a:noFill/>
          <a:ln w="0">
            <a:noFill/>
          </a:ln>
        </p:spPr>
        <p:txBody>
          <a:bodyPr wrap="square" lIns="0" tIns="0" rIns="0" bIns="0" anchor="t"/>
          <a:lstStyle>
            <a:defPPr algn="ctr">
              <a:defRPr sz="2175" b="1">
                <a:solidFill>
                  <a:srgbClr val="A50026"/>
                </a:solidFill>
                <a:latin typeface="Times New Roman"/>
                <a:ea typeface="Times New Roman"/>
                <a:cs typeface="Times New Roman"/>
              </a:defRPr>
            </a:defPPr>
          </a:lstStyle>
          <a:p>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covariance</a:t>
            </a:r>
          </a:p>
        </p:txBody>
      </p:sp>
      <p:sp>
        <p:nvSpPr>
          <p:cNvPr id="34" name="Rectangle 33">
            <a:extLst>
              <a:ext uri="{FF2B5EF4-FFF2-40B4-BE49-F238E27FC236}">
                <a16:creationId xmlns:a16="http://schemas.microsoft.com/office/drawing/2014/main" id="{9506109F-601E-49E5-BD20-77D45C23A0A6}"/>
              </a:ext>
            </a:extLst>
          </p:cNvPr>
          <p:cNvSpPr>
            <a:spLocks noGrp="1"/>
          </p:cNvSpPr>
          <p:nvPr/>
        </p:nvSpPr>
        <p:spPr>
          <a:xfrm>
            <a:off x="6610350" y="1628775"/>
            <a:ext cx="5124450" cy="371475"/>
          </a:xfrm>
          <a:prstGeom prst="rect">
            <a:avLst/>
          </a:prstGeom>
          <a:noFill/>
          <a:ln w="0">
            <a:noFill/>
          </a:ln>
        </p:spPr>
        <p:txBody>
          <a:bodyPr wrap="square" lIns="0" tIns="0" rIns="0" bIns="0" anchor="t"/>
          <a:lstStyle>
            <a:defPPr algn="l">
              <a:defRPr sz="2325" b="1">
                <a:solidFill>
                  <a:srgbClr val="0F766E"/>
                </a:solidFill>
                <a:latin typeface="Times New Roman"/>
                <a:ea typeface="Times New Roman"/>
                <a:cs typeface="Times New Roman"/>
              </a:defRPr>
            </a:defPPr>
          </a:lstStyle>
          <a:p>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a:ext uri="{FF2B5EF4-FFF2-40B4-BE49-F238E27FC236}">
                <a16:creationId xmlns:a16="http://schemas.microsoft.com/office/drawing/2014/main" id="{941F02D7-5787-45E1-8F90-17FA1B625712}"/>
              </a:ext>
            </a:extLst>
          </p:cNvPr>
          <p:cNvSpPr>
            <a:spLocks noGrp="1"/>
          </p:cNvSpPr>
          <p:nvPr/>
        </p:nvSpPr>
        <p:spPr>
          <a:xfrm>
            <a:off x="6610350" y="2143125"/>
            <a:ext cx="5124450" cy="74295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a:ext uri="{FF2B5EF4-FFF2-40B4-BE49-F238E27FC236}">
                <a16:creationId xmlns:a16="http://schemas.microsoft.com/office/drawing/2014/main" id="{BB95EC0A-29BC-48DF-8D71-281CA0886E16}"/>
              </a:ext>
            </a:extLst>
          </p:cNvPr>
          <p:cNvSpPr>
            <a:spLocks noGrp="1"/>
          </p:cNvSpPr>
          <p:nvPr/>
        </p:nvSpPr>
        <p:spPr>
          <a:xfrm>
            <a:off x="6610350" y="3286125"/>
            <a:ext cx="5124450" cy="400050"/>
          </a:xfrm>
          <a:prstGeom prst="rect">
            <a:avLst/>
          </a:prstGeom>
          <a:noFill/>
          <a:ln w="0">
            <a:noFill/>
          </a:ln>
        </p:spPr>
        <p:txBody>
          <a:bodyPr wrap="square" lIns="0" tIns="0" rIns="0" bIns="0" anchor="t"/>
          <a:lstStyle>
            <a:defPPr algn="l">
              <a:defRPr sz="2250" b="1">
                <a:solidFill>
                  <a:srgbClr val="A50026"/>
                </a:solidFill>
                <a:latin typeface="Times New Roman"/>
                <a:ea typeface="Times New Roman"/>
                <a:cs typeface="Times New Roman"/>
              </a:defRPr>
            </a:defPPr>
          </a:lstStyle>
          <a:p>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a:ext uri="{FF2B5EF4-FFF2-40B4-BE49-F238E27FC236}">
                <a16:creationId xmlns:a16="http://schemas.microsoft.com/office/drawing/2014/main" id="{EC6D5905-D6B4-4632-95EA-E52D9EB81E11}"/>
              </a:ext>
            </a:extLst>
          </p:cNvPr>
          <p:cNvSpPr>
            <a:spLocks noGrp="1"/>
          </p:cNvSpPr>
          <p:nvPr/>
        </p:nvSpPr>
        <p:spPr>
          <a:xfrm>
            <a:off x="6610350" y="3819525"/>
            <a:ext cx="5124450" cy="1057275"/>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correlation formula.</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 misses the effect of the initial spacing,</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so the covariance is too large.</a:t>
            </a:r>
          </a:p>
        </p:txBody>
      </p:sp>
      <p:sp>
        <p:nvSpPr>
          <p:cNvPr id="38" name="Rectangle 37">
            <a:extLst>
              <a:ext uri="{FF2B5EF4-FFF2-40B4-BE49-F238E27FC236}">
                <a16:creationId xmlns:a16="http://schemas.microsoft.com/office/drawing/2014/main" id="{B430F3E2-3BE0-4DA7-AFF9-D384305F98EB}"/>
              </a:ext>
            </a:extLst>
          </p:cNvPr>
          <p:cNvSpPr>
            <a:spLocks noGrp="1"/>
          </p:cNvSpPr>
          <p:nvPr/>
        </p:nvSpPr>
        <p:spPr>
          <a:xfrm>
            <a:off x="457200" y="5476875"/>
            <a:ext cx="11277600" cy="12383"/>
          </a:xfrm>
          <a:prstGeom prst="rect">
            <a:avLst/>
          </a:prstGeom>
          <a:solidFill>
            <a:srgbClr val="D1D5DB"/>
          </a:solidFill>
          <a:ln w="0">
            <a:noFill/>
          </a:ln>
        </p:spPr>
        <p:txBody>
          <a:bodyPr/>
          <a:lstStyle/>
          <a:p>
            <a:endParaRPr/>
          </a:p>
        </p:txBody>
      </p:sp>
      <p:sp>
        <p:nvSpPr>
          <p:cNvPr id="39" name="Rectangle 38">
            <a:extLst>
              <a:ext uri="{FF2B5EF4-FFF2-40B4-BE49-F238E27FC236}">
                <a16:creationId xmlns:a16="http://schemas.microsoft.com/office/drawing/2014/main" id="{66A75466-E52D-47F7-AC02-3EC78F3F82E0}"/>
              </a:ext>
            </a:extLst>
          </p:cNvPr>
          <p:cNvSpPr>
            <a:spLocks noGrp="1"/>
          </p:cNvSpPr>
          <p:nvPr/>
        </p:nvSpPr>
        <p:spPr>
          <a:xfrm>
            <a:off x="457200" y="5675792"/>
            <a:ext cx="11277600" cy="381000"/>
          </a:xfrm>
          <a:prstGeom prst="rect">
            <a:avLst/>
          </a:prstGeom>
          <a:noFill/>
          <a:ln w="0">
            <a:noFill/>
          </a:ln>
        </p:spPr>
        <p:txBody>
          <a:bodyPr wrap="square" lIns="0" tIns="0" rIns="0" bIns="0" anchor="t"/>
          <a:lstStyle>
            <a:defPPr algn="l">
              <a:defRPr sz="2325" b="1">
                <a:solidFill>
                  <a:srgbClr val="111111"/>
                </a:solidFill>
                <a:latin typeface="Times New Roman"/>
                <a:ea typeface="Times New Roman"/>
                <a:cs typeface="Times New Roman"/>
              </a:defRPr>
            </a:defPPr>
          </a:lstStyle>
          <a:p>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New predictions are wrong by up to 136%.</a:t>
            </a:r>
          </a:p>
        </p:txBody>
      </p:sp>
      <p:sp>
        <p:nvSpPr>
          <p:cNvPr id="40" name="Rectangle 39">
            <a:extLst>
              <a:ext uri="{FF2B5EF4-FFF2-40B4-BE49-F238E27FC236}">
                <a16:creationId xmlns:a16="http://schemas.microsoft.com/office/drawing/2014/main" id="{3AEAE191-3FA4-4FC7-AA83-11EAD6F2EF2A}"/>
              </a:ext>
            </a:extLst>
          </p:cNvPr>
          <p:cNvSpPr>
            <a:spLocks noGrp="1"/>
          </p:cNvSpPr>
          <p:nvPr/>
        </p:nvSpPr>
        <p:spPr>
          <a:xfrm>
            <a:off x="457200" y="6191250"/>
            <a:ext cx="11277600" cy="285750"/>
          </a:xfrm>
          <a:prstGeom prst="rect">
            <a:avLst/>
          </a:prstGeom>
          <a:noFill/>
          <a:ln w="0">
            <a:noFill/>
          </a:ln>
        </p:spPr>
        <p:txBody>
          <a:bodyPr wrap="square" lIns="0" tIns="0" rIns="0" bIns="0" anchor="t"/>
          <a:lstStyle>
            <a:defPPr algn="l">
              <a:defRPr sz="1425" b="0">
                <a:solidFill>
                  <a:srgbClr val="777777"/>
                </a:solidFill>
                <a:latin typeface="Times New Roman"/>
                <a:ea typeface="Times New Roman"/>
                <a:cs typeface="Times New Roman"/>
              </a:defRPr>
            </a:defPPr>
          </a:lstStyle>
          <a:p>
            <a:pPr algn="l">
              <a:buNone/>
              <a:defRPr sz="1425" b="0">
                <a:solidFill>
                  <a:srgbClr val="777777"/>
                </a:solidFill>
                <a:latin typeface="Times New Roman"/>
                <a:ea typeface="Times New Roman"/>
                <a:cs typeface="Times New Roman"/>
              </a:defRPr>
            </a:pPr>
            <a:r>
              <a:rPr sz="1425" b="0" dirty="0">
                <a:solidFill>
                  <a:srgbClr val="777777"/>
                </a:solidFill>
                <a:latin typeface="Times New Roman"/>
                <a:ea typeface="Times New Roman"/>
                <a:cs typeface="Times New Roman"/>
              </a:rPr>
              <a:t>Allowed </a:t>
            </a:r>
            <a:r>
              <a:rPr lang="en-US" sz="1425" dirty="0">
                <a:solidFill>
                  <a:srgbClr val="777777"/>
                </a:solidFill>
                <a:latin typeface="Times New Roman"/>
                <a:ea typeface="Times New Roman"/>
                <a:cs typeface="Times New Roman"/>
              </a:rPr>
              <a:t>tolerance</a:t>
            </a:r>
            <a:r>
              <a:rPr sz="1425" b="0" dirty="0">
                <a:solidFill>
                  <a:srgbClr val="777777"/>
                </a:solidFill>
                <a:latin typeface="Times New Roman"/>
                <a:ea typeface="Times New Roman"/>
                <a:cs typeface="Times New Roman"/>
              </a:rPr>
              <a:t>: 4%. The covariance describes averages across repeated runs. Bead positions are schematic.</a:t>
            </a:r>
          </a:p>
        </p:txBody>
      </p:sp>
      <p:sp>
        <p:nvSpPr>
          <p:cNvPr id="41" name="Rectangle 40">
            <a:extLst>
              <a:ext uri="{FF2B5EF4-FFF2-40B4-BE49-F238E27FC236}">
                <a16:creationId xmlns:a16="http://schemas.microsoft.com/office/drawing/2014/main" id="{72B33178-FBED-4B95-AC40-7C6C8116265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r">
              <a:defRPr sz="1200" b="0">
                <a:solidFill>
                  <a:srgbClr val="777777"/>
                </a:solidFill>
                <a:latin typeface="Times New Roman"/>
                <a:ea typeface="Times New Roman"/>
                <a:cs typeface="Times New Roman"/>
              </a:defRPr>
            </a:defPPr>
          </a:lstStyle>
          <a:p>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E50B44-48E6-416C-9860-3C03878314C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a:ext uri="{FF2B5EF4-FFF2-40B4-BE49-F238E27FC236}">
                <a16:creationId xmlns:a16="http://schemas.microsoft.com/office/drawing/2014/main" id="{9AFB84F0-75DD-4F99-9444-0BF9DFCD2BEB}"/>
              </a:ext>
            </a:extLst>
          </p:cNvPr>
          <p:cNvSpPr>
            <a:spLocks noGrp="1"/>
          </p:cNvSpPr>
          <p:nvPr/>
        </p:nvSpPr>
        <p:spPr>
          <a:xfrm>
            <a:off x="609600" y="160972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 good fit can hide the wrong physical model</a:t>
            </a:r>
          </a:p>
        </p:txBody>
      </p:sp>
      <p:sp>
        <p:nvSpPr>
          <p:cNvPr id="3" name="Rectangle 2">
            <a:extLst>
              <a:ext uri="{FF2B5EF4-FFF2-40B4-BE49-F238E27FC236}">
                <a16:creationId xmlns:a16="http://schemas.microsoft.com/office/drawing/2014/main" id="{0B2C7386-EAD4-4C99-88E7-41B295B555FC}"/>
              </a:ext>
            </a:extLst>
          </p:cNvPr>
          <p:cNvSpPr>
            <a:spLocks noGrp="1"/>
          </p:cNvSpPr>
          <p:nvPr/>
        </p:nvSpPr>
        <p:spPr>
          <a:xfrm>
            <a:off x="609600" y="2219325"/>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predicts the covariance incorrectly.</a:t>
            </a:r>
          </a:p>
        </p:txBody>
      </p:sp>
      <p:sp>
        <p:nvSpPr>
          <p:cNvPr id="4" name="Rectangle 3">
            <a:extLst>
              <a:ext uri="{FF2B5EF4-FFF2-40B4-BE49-F238E27FC236}">
                <a16:creationId xmlns:a16="http://schemas.microsoft.com/office/drawing/2014/main" id="{6ACA5743-0522-4422-A526-56BBA71F09D6}"/>
              </a:ext>
            </a:extLst>
          </p:cNvPr>
          <p:cNvSpPr>
            <a:spLocks noGrp="1"/>
          </p:cNvSpPr>
          <p:nvPr/>
        </p:nvSpPr>
        <p:spPr>
          <a:xfrm>
            <a:off x="609600" y="3257550"/>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Rectangle 4">
            <a:extLst>
              <a:ext uri="{FF2B5EF4-FFF2-40B4-BE49-F238E27FC236}">
                <a16:creationId xmlns:a16="http://schemas.microsoft.com/office/drawing/2014/main" id="{2B6D1906-A7F2-4178-AA65-A670BAAA2EE4}"/>
              </a:ext>
            </a:extLst>
          </p:cNvPr>
          <p:cNvSpPr>
            <a:spLocks noGrp="1"/>
          </p:cNvSpPr>
          <p:nvPr/>
        </p:nvSpPr>
        <p:spPr>
          <a:xfrm>
            <a:off x="609600" y="3867150"/>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GPT-6 Sol Low and High reach the high-success end of the no-hint frontier.</a:t>
            </a:r>
          </a:p>
        </p:txBody>
      </p:sp>
      <p:sp>
        <p:nvSpPr>
          <p:cNvPr id="6" name="Rectangle 5">
            <a:extLst>
              <a:ext uri="{FF2B5EF4-FFF2-40B4-BE49-F238E27FC236}">
                <a16:creationId xmlns:a16="http://schemas.microsoft.com/office/drawing/2014/main" id="{5D605833-9C79-493D-84E5-16F6E9A05EBF}"/>
              </a:ext>
            </a:extLst>
          </p:cNvPr>
          <p:cNvSpPr>
            <a:spLocks noGrp="1"/>
          </p:cNvSpPr>
          <p:nvPr/>
        </p:nvSpPr>
        <p:spPr>
          <a:xfrm>
            <a:off x="609600" y="490537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Physics hints show the highest observed success</a:t>
            </a:r>
          </a:p>
        </p:txBody>
      </p:sp>
      <p:sp>
        <p:nvSpPr>
          <p:cNvPr id="7" name="Rectangle 6">
            <a:extLst>
              <a:ext uri="{FF2B5EF4-FFF2-40B4-BE49-F238E27FC236}">
                <a16:creationId xmlns:a16="http://schemas.microsoft.com/office/drawing/2014/main" id="{4FB740C6-2A78-43B4-94E0-F1DA4CC2609E}"/>
              </a:ext>
            </a:extLst>
          </p:cNvPr>
          <p:cNvSpPr>
            <a:spLocks noGrp="1"/>
          </p:cNvSpPr>
          <p:nvPr/>
        </p:nvSpPr>
        <p:spPr>
          <a:xfrm>
            <a:off x="609600" y="5514975"/>
            <a:ext cx="11125200" cy="45720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At High effort: Luna 62/78 and Terra 36/39 passes with physics hints.</a:t>
            </a:r>
          </a:p>
        </p:txBody>
      </p:sp>
      <p:sp>
        <p:nvSpPr>
          <p:cNvPr id="10" name="Rectangle 9">
            <a:extLst>
              <a:ext uri="{FF2B5EF4-FFF2-40B4-BE49-F238E27FC236}">
                <a16:creationId xmlns:a16="http://schemas.microsoft.com/office/drawing/2014/main" id="{CE164575-2928-4D3E-956F-8803F36A47D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
        <p:nvSpPr>
          <p:cNvPr id="11" name="Rectangle 10">
            <a:extLst>
              <a:ext uri="{FF2B5EF4-FFF2-40B4-BE49-F238E27FC236}">
                <a16:creationId xmlns:a16="http://schemas.microsoft.com/office/drawing/2014/main" id="{E2E9581D-4F91-4E69-95AB-5DE8D8167A5A}"/>
              </a:ext>
            </a:extLst>
          </p:cNvPr>
          <p:cNvSpPr>
            <a:spLocks noGrp="1"/>
          </p:cNvSpPr>
          <p:nvPr/>
        </p:nvSpPr>
        <p:spPr>
          <a:xfrm>
            <a:off x="609600" y="6115050"/>
            <a:ext cx="10858500" cy="276225"/>
          </a:xfrm>
          <a:prstGeom prst="rect">
            <a:avLst/>
          </a:prstGeom>
          <a:noFill/>
          <a:ln w="0">
            <a:noFill/>
          </a:ln>
        </p:spPr>
        <p:txBody>
          <a:bodyPr wrap="square" lIns="0" tIns="0" rIns="0" bIns="0" anchor="t"/>
          <a:lstStyle>
            <a:defPPr>
              <a:defRPr sz="1575" b="0">
                <a:solidFill>
                  <a:srgbClr val="777777"/>
                </a:solidFill>
                <a:latin typeface="Times New Roman"/>
                <a:ea typeface="Times New Roman"/>
                <a:cs typeface="Times New Roman"/>
              </a:defRPr>
            </a:defPPr>
          </a:lstStyle>
          <a:p>
            <a:pPr>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Historical controls and runtime differences limit causal claims. DeepSeek has many execution errors.</a:t>
            </a:r>
          </a:p>
        </p:txBody>
      </p:sp>
    </p:spTree>
    <p:extLst>
      <p:ext uri="{BB962C8B-B14F-4D97-AF65-F5344CB8AC3E}">
        <p14:creationId xmlns:p14="http://schemas.microsoft.com/office/powerpoint/2010/main" val="549842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47901-9249-469C-A67F-257239997CC0}"/>
              </a:ext>
            </a:extLst>
          </p:cNvPr>
          <p:cNvSpPr>
            <a:spLocks noGrp="1"/>
          </p:cNvSpPr>
          <p:nvPr/>
        </p:nvSpPr>
        <p:spPr>
          <a:xfrm>
            <a:off x="609600" y="2333625"/>
            <a:ext cx="10477500" cy="952500"/>
          </a:xfrm>
          <a:prstGeom prst="rect">
            <a:avLst/>
          </a:prstGeom>
          <a:noFill/>
          <a:ln w="0">
            <a:noFill/>
          </a:ln>
        </p:spPr>
        <p:txBody>
          <a:bodyPr wrap="square" lIns="0" tIns="0" rIns="0" bIns="0" anchor="t"/>
          <a:lstStyle>
            <a:defPPr algn="l">
              <a:defRPr sz="5700" b="1" i="0">
                <a:solidFill>
                  <a:srgbClr val="FFFFFF"/>
                </a:solidFill>
                <a:latin typeface="Times New Roman"/>
                <a:ea typeface="Times New Roman"/>
                <a:cs typeface="Times New Roman"/>
              </a:defRPr>
            </a:defPPr>
          </a:lstStyle>
          <a:p>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a:ext uri="{FF2B5EF4-FFF2-40B4-BE49-F238E27FC236}">
                <a16:creationId xmlns:a16="http://schemas.microsoft.com/office/drawing/2014/main" id="{2AE705A4-0FC6-405B-B3A2-4281C7C3DE5F}"/>
              </a:ext>
            </a:extLst>
          </p:cNvPr>
          <p:cNvSpPr>
            <a:spLocks noGrp="1"/>
          </p:cNvSpPr>
          <p:nvPr/>
        </p:nvSpPr>
        <p:spPr>
          <a:xfrm>
            <a:off x="609600" y="3667125"/>
            <a:ext cx="7620000" cy="476250"/>
          </a:xfrm>
          <a:prstGeom prst="rect">
            <a:avLst/>
          </a:prstGeom>
          <a:noFill/>
          <a:ln w="0">
            <a:noFill/>
          </a:ln>
        </p:spPr>
        <p:txBody>
          <a:bodyPr wrap="square" lIns="0" tIns="0" rIns="0" bIns="0" anchor="t"/>
          <a:lstStyle>
            <a:defPPr algn="l">
              <a:defRPr sz="2400" b="0" i="0">
                <a:solidFill>
                  <a:srgbClr val="D1D5DB"/>
                </a:solidFill>
                <a:latin typeface="Times New Roman"/>
                <a:ea typeface="Times New Roman"/>
                <a:cs typeface="Times New Roman"/>
              </a:defRPr>
            </a:defPPr>
          </a:lstStyle>
          <a:p>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4B44AF-C39B-480E-8294-BE118959A9F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no-hint results by model and effort</a:t>
            </a:r>
          </a:p>
        </p:txBody>
      </p:sp>
      <p:sp>
        <p:nvSpPr>
          <p:cNvPr id="2" name="Rectangle 1">
            <a:extLst>
              <a:ext uri="{FF2B5EF4-FFF2-40B4-BE49-F238E27FC236}">
                <a16:creationId xmlns:a16="http://schemas.microsoft.com/office/drawing/2014/main" id="{3A8418D7-28B2-48E6-8C97-350F2EC2D7A5}"/>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Completed passes / attempts. Errors are retained. Mean cost is shown only when complete.</a:t>
            </a:r>
          </a:p>
        </p:txBody>
      </p:sp>
      <p:sp>
        <p:nvSpPr>
          <p:cNvPr id="3" name="Rectangle 2">
            <a:extLst>
              <a:ext uri="{FF2B5EF4-FFF2-40B4-BE49-F238E27FC236}">
                <a16:creationId xmlns:a16="http://schemas.microsoft.com/office/drawing/2014/main" id="{1B56C1CF-C64F-4769-A5BE-C66C3A2DADCD}"/>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graphicFrame>
        <p:nvGraphicFramePr>
          <p:cNvPr id="4" name="Table 3">
            <a:extLst>
              <a:ext uri="{FF2B5EF4-FFF2-40B4-BE49-F238E27FC236}">
                <a16:creationId xmlns:a16="http://schemas.microsoft.com/office/drawing/2014/main" id="{D7661454-C64C-43D6-98E1-AECC4BDE5C86}"/>
              </a:ext>
            </a:extLst>
          </p:cNvPr>
          <p:cNvGraphicFramePr/>
          <p:nvPr/>
        </p:nvGraphicFramePr>
        <p:xfrm>
          <a:off x="457200" y="1533525"/>
          <a:ext cx="5524500" cy="4210050"/>
        </p:xfrm>
        <a:graphic>
          <a:graphicData uri="http://schemas.openxmlformats.org/drawingml/2006/table">
            <a:tbl>
              <a:tblPr/>
              <a:tblGrid>
                <a:gridCol w="2362200">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23850">
                <a:tc>
                  <a:txBody>
                    <a:bodyPr/>
                    <a:lstStyle/>
                    <a:p>
                      <a:r>
                        <a:rPr sz="1575"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23850">
                <a:tc>
                  <a:txBody>
                    <a:bodyPr/>
                    <a:lstStyle/>
                    <a:p>
                      <a:r>
                        <a:rPr sz="1575" b="0">
                          <a:solidFill>
                            <a:srgbClr val="111111"/>
                          </a:solidFill>
                          <a:latin typeface="Times New Roman"/>
                          <a:ea typeface="Times New Roman"/>
                          <a:cs typeface="Times New Roman"/>
                        </a:rPr>
                        <a:t>5.6 Luna None</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$0.0084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575" b="0">
                          <a:solidFill>
                            <a:srgbClr val="111111"/>
                          </a:solidFill>
                          <a:latin typeface="Times New Roman"/>
                          <a:ea typeface="Times New Roman"/>
                          <a:cs typeface="Times New Roman"/>
                        </a:rPr>
                        <a:t>5.6 Luna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$0.0074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2"/>
                  </a:ext>
                </a:extLst>
              </a:tr>
              <a:tr h="323850">
                <a:tc>
                  <a:txBody>
                    <a:bodyPr/>
                    <a:lstStyle/>
                    <a:p>
                      <a:r>
                        <a:rPr sz="1575" b="0">
                          <a:solidFill>
                            <a:srgbClr val="111111"/>
                          </a:solidFill>
                          <a:latin typeface="Times New Roman"/>
                          <a:ea typeface="Times New Roman"/>
                          <a:cs typeface="Times New Roman"/>
                        </a:rPr>
                        <a:t>5.6 Luna Medium</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$0.0135</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575" b="0">
                          <a:solidFill>
                            <a:srgbClr val="111111"/>
                          </a:solidFill>
                          <a:latin typeface="Times New Roman"/>
                          <a:ea typeface="Times New Roman"/>
                          <a:cs typeface="Times New Roman"/>
                        </a:rPr>
                        <a:t>5.6 Luna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4/40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4"/>
                  </a:ext>
                </a:extLst>
              </a:tr>
              <a:tr h="323850">
                <a:tc>
                  <a:txBody>
                    <a:bodyPr/>
                    <a:lstStyle/>
                    <a:p>
                      <a:r>
                        <a:rPr sz="1575" b="0">
                          <a:solidFill>
                            <a:srgbClr val="111111"/>
                          </a:solidFill>
                          <a:latin typeface="Times New Roman"/>
                          <a:ea typeface="Times New Roman"/>
                          <a:cs typeface="Times New Roman"/>
                        </a:rPr>
                        <a:t>5.6 Luna Extra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6/39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575" b="0">
                          <a:solidFill>
                            <a:srgbClr val="111111"/>
                          </a:solidFill>
                          <a:latin typeface="Times New Roman"/>
                          <a:ea typeface="Times New Roman"/>
                          <a:cs typeface="Times New Roman"/>
                        </a:rPr>
                        <a:t>5.6 Luna Max</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8/39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$0.0513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6"/>
                  </a:ext>
                </a:extLst>
              </a:tr>
              <a:tr h="323850">
                <a:tc>
                  <a:txBody>
                    <a:bodyPr/>
                    <a:lstStyle/>
                    <a:p>
                      <a:r>
                        <a:rPr sz="1575" b="0">
                          <a:solidFill>
                            <a:srgbClr val="111111"/>
                          </a:solidFill>
                          <a:latin typeface="Times New Roman"/>
                          <a:ea typeface="Times New Roman"/>
                          <a:cs typeface="Times New Roman"/>
                        </a:rPr>
                        <a:t>5.6 Terra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9/78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$0.1145</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575" b="0">
                          <a:solidFill>
                            <a:srgbClr val="111111"/>
                          </a:solidFill>
                          <a:latin typeface="Times New Roman"/>
                          <a:ea typeface="Times New Roman"/>
                          <a:cs typeface="Times New Roman"/>
                        </a:rPr>
                        <a:t>5.6 Terra Medium</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5/39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$0.1254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8"/>
                  </a:ext>
                </a:extLst>
              </a:tr>
              <a:tr h="323850">
                <a:tc>
                  <a:txBody>
                    <a:bodyPr/>
                    <a:lstStyle/>
                    <a:p>
                      <a:r>
                        <a:rPr sz="1575" b="0">
                          <a:solidFill>
                            <a:srgbClr val="111111"/>
                          </a:solidFill>
                          <a:latin typeface="Times New Roman"/>
                          <a:ea typeface="Times New Roman"/>
                          <a:cs typeface="Times New Roman"/>
                        </a:rPr>
                        <a:t>5.6 Terra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16/78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$0.1905</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9"/>
                  </a:ext>
                </a:extLst>
              </a:tr>
              <a:tr h="323850">
                <a:tc>
                  <a:txBody>
                    <a:bodyPr/>
                    <a:lstStyle/>
                    <a:p>
                      <a:r>
                        <a:rPr sz="1575" b="0">
                          <a:solidFill>
                            <a:srgbClr val="111111"/>
                          </a:solidFill>
                          <a:latin typeface="Times New Roman"/>
                          <a:ea typeface="Times New Roman"/>
                          <a:cs typeface="Times New Roman"/>
                        </a:rPr>
                        <a:t>5.6 Terra Extra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19/39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$0.3196</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10"/>
                  </a:ext>
                </a:extLst>
              </a:tr>
              <a:tr h="323850">
                <a:tc>
                  <a:txBody>
                    <a:bodyPr/>
                    <a:lstStyle/>
                    <a:p>
                      <a:r>
                        <a:rPr sz="1575" b="0">
                          <a:solidFill>
                            <a:srgbClr val="111111"/>
                          </a:solidFill>
                          <a:latin typeface="Times New Roman"/>
                          <a:ea typeface="Times New Roman"/>
                          <a:cs typeface="Times New Roman"/>
                        </a:rPr>
                        <a:t>5.6 Sol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24/39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$0.1832</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11"/>
                  </a:ext>
                </a:extLst>
              </a:tr>
              <a:tr h="323850">
                <a:tc>
                  <a:txBody>
                    <a:bodyPr/>
                    <a:lstStyle/>
                    <a:p>
                      <a:r>
                        <a:rPr sz="1575" b="0">
                          <a:solidFill>
                            <a:srgbClr val="111111"/>
                          </a:solidFill>
                          <a:latin typeface="Times New Roman"/>
                          <a:ea typeface="Times New Roman"/>
                          <a:cs typeface="Times New Roman"/>
                        </a:rPr>
                        <a:t>5.6 Sol Medium</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31/39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$0.3178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graphicFrame>
        <p:nvGraphicFramePr>
          <p:cNvPr id="5" name="Table 4">
            <a:extLst>
              <a:ext uri="{FF2B5EF4-FFF2-40B4-BE49-F238E27FC236}">
                <a16:creationId xmlns:a16="http://schemas.microsoft.com/office/drawing/2014/main" id="{4C67CFB9-9388-4150-9DF6-3619BB3C0EB2}"/>
              </a:ext>
            </a:extLst>
          </p:cNvPr>
          <p:cNvGraphicFramePr/>
          <p:nvPr/>
        </p:nvGraphicFramePr>
        <p:xfrm>
          <a:off x="6210300" y="1533525"/>
          <a:ext cx="5524500" cy="4210050"/>
        </p:xfrm>
        <a:graphic>
          <a:graphicData uri="http://schemas.openxmlformats.org/drawingml/2006/table">
            <a:tbl>
              <a:tblPr/>
              <a:tblGrid>
                <a:gridCol w="2362200">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23850">
                <a:tc>
                  <a:txBody>
                    <a:bodyPr/>
                    <a:lstStyle/>
                    <a:p>
                      <a:r>
                        <a:rPr sz="1575"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23850">
                <a:tc>
                  <a:txBody>
                    <a:bodyPr/>
                    <a:lstStyle/>
                    <a:p>
                      <a:r>
                        <a:rPr sz="1575" b="0">
                          <a:solidFill>
                            <a:srgbClr val="111111"/>
                          </a:solidFill>
                          <a:latin typeface="Times New Roman"/>
                          <a:ea typeface="Times New Roman"/>
                          <a:cs typeface="Times New Roman"/>
                        </a:rPr>
                        <a:t>6 Luna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$0.0040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575" b="0">
                          <a:solidFill>
                            <a:srgbClr val="111111"/>
                          </a:solidFill>
                          <a:latin typeface="Times New Roman"/>
                          <a:ea typeface="Times New Roman"/>
                          <a:cs typeface="Times New Roman"/>
                        </a:rPr>
                        <a:t>6 Luna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$0.0052</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2"/>
                  </a:ext>
                </a:extLst>
              </a:tr>
              <a:tr h="323850">
                <a:tc>
                  <a:txBody>
                    <a:bodyPr/>
                    <a:lstStyle/>
                    <a:p>
                      <a:r>
                        <a:rPr sz="1575" b="0">
                          <a:solidFill>
                            <a:srgbClr val="111111"/>
                          </a:solidFill>
                          <a:latin typeface="Times New Roman"/>
                          <a:ea typeface="Times New Roman"/>
                          <a:cs typeface="Times New Roman"/>
                        </a:rPr>
                        <a:t>6 Luna Extra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12/39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$0.0126</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575" b="0">
                          <a:solidFill>
                            <a:srgbClr val="111111"/>
                          </a:solidFill>
                          <a:latin typeface="Times New Roman"/>
                          <a:ea typeface="Times New Roman"/>
                          <a:cs typeface="Times New Roman"/>
                        </a:rPr>
                        <a:t>6 Sol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37/39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$0.0773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4"/>
                  </a:ext>
                </a:extLst>
              </a:tr>
              <a:tr h="323850">
                <a:tc>
                  <a:txBody>
                    <a:bodyPr/>
                    <a:lstStyle/>
                    <a:p>
                      <a:r>
                        <a:rPr sz="1575" b="0">
                          <a:solidFill>
                            <a:srgbClr val="111111"/>
                          </a:solidFill>
                          <a:latin typeface="Times New Roman"/>
                          <a:ea typeface="Times New Roman"/>
                          <a:cs typeface="Times New Roman"/>
                        </a:rPr>
                        <a:t>6 Sol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$0.1975</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575" b="0">
                          <a:solidFill>
                            <a:srgbClr val="111111"/>
                          </a:solidFill>
                          <a:latin typeface="Times New Roman"/>
                          <a:ea typeface="Times New Roman"/>
                          <a:cs typeface="Times New Roman"/>
                        </a:rPr>
                        <a:t>6 Sol Extra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$0.2306</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6"/>
                  </a:ext>
                </a:extLst>
              </a:tr>
              <a:tr h="323850">
                <a:tc>
                  <a:txBody>
                    <a:bodyPr/>
                    <a:lstStyle/>
                    <a:p>
                      <a:r>
                        <a:rPr sz="1575" b="0">
                          <a:solidFill>
                            <a:srgbClr val="111111"/>
                          </a:solidFill>
                          <a:latin typeface="Times New Roman"/>
                          <a:ea typeface="Times New Roman"/>
                          <a:cs typeface="Times New Roman"/>
                        </a:rPr>
                        <a:t>6 Astra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$0.4450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575" b="0">
                          <a:solidFill>
                            <a:srgbClr val="111111"/>
                          </a:solidFill>
                          <a:latin typeface="Times New Roman"/>
                          <a:ea typeface="Times New Roman"/>
                          <a:cs typeface="Times New Roman"/>
                        </a:rPr>
                        <a:t>6 Astra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$0.7132</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8"/>
                  </a:ext>
                </a:extLst>
              </a:tr>
              <a:tr h="323850">
                <a:tc>
                  <a:txBody>
                    <a:bodyPr/>
                    <a:lstStyle/>
                    <a:p>
                      <a:r>
                        <a:rPr sz="1575" b="0">
                          <a:solidFill>
                            <a:srgbClr val="111111"/>
                          </a:solidFill>
                          <a:latin typeface="Times New Roman"/>
                          <a:ea typeface="Times New Roman"/>
                          <a:cs typeface="Times New Roman"/>
                        </a:rPr>
                        <a:t>6 Astra Extra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$1.0801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9"/>
                  </a:ext>
                </a:extLst>
              </a:tr>
              <a:tr h="323850">
                <a:tc>
                  <a:txBody>
                    <a:bodyPr/>
                    <a:lstStyle/>
                    <a:p>
                      <a:r>
                        <a:rPr sz="1575" b="0">
                          <a:solidFill>
                            <a:srgbClr val="111111"/>
                          </a:solidFill>
                          <a:latin typeface="Times New Roman"/>
                          <a:ea typeface="Times New Roman"/>
                          <a:cs typeface="Times New Roman"/>
                        </a:rPr>
                        <a:t>DeepSeek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10"/>
                  </a:ext>
                </a:extLst>
              </a:tr>
              <a:tr h="323850">
                <a:tc>
                  <a:txBody>
                    <a:bodyPr/>
                    <a:lstStyle/>
                    <a:p>
                      <a:r>
                        <a:rPr sz="1575" b="0">
                          <a:solidFill>
                            <a:srgbClr val="111111"/>
                          </a:solidFill>
                          <a:latin typeface="Times New Roman"/>
                          <a:ea typeface="Times New Roman"/>
                          <a:cs typeface="Times New Roman"/>
                        </a:rPr>
                        <a:t>DeepSeek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0/78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71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11"/>
                  </a:ext>
                </a:extLst>
              </a:tr>
              <a:tr h="323850">
                <a:tc>
                  <a:txBody>
                    <a:bodyPr/>
                    <a:lstStyle/>
                    <a:p>
                      <a:r>
                        <a:rPr sz="1575" b="0">
                          <a:solidFill>
                            <a:srgbClr val="111111"/>
                          </a:solidFill>
                          <a:latin typeface="Times New Roman"/>
                          <a:ea typeface="Times New Roman"/>
                          <a:cs typeface="Times New Roman"/>
                        </a:rPr>
                        <a:t>DeepSeek Max</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sp>
        <p:nvSpPr>
          <p:cNvPr id="6" name="Rectangle 5">
            <a:extLst>
              <a:ext uri="{FF2B5EF4-FFF2-40B4-BE49-F238E27FC236}">
                <a16:creationId xmlns:a16="http://schemas.microsoft.com/office/drawing/2014/main" id="{0C10FABB-0C4C-4688-86EF-D33F291F34DF}"/>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 24 settings cover 13 tasks. DeepSeek None has only 3 attempts and is excluded. Costs are API-equivalent estimates.</a:t>
            </a:r>
          </a:p>
        </p:txBody>
      </p:sp>
    </p:spTree>
    <p:extLst>
      <p:ext uri="{BB962C8B-B14F-4D97-AF65-F5344CB8AC3E}">
        <p14:creationId xmlns:p14="http://schemas.microsoft.com/office/powerpoint/2010/main" val="1860972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46EAFF2-DF32-4821-A2AE-13D4AC0E04AC}"/>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results under all three prompt conditions</a:t>
            </a:r>
          </a:p>
        </p:txBody>
      </p:sp>
      <p:sp>
        <p:nvSpPr>
          <p:cNvPr id="2" name="Rectangle 1">
            <a:extLst>
              <a:ext uri="{FF2B5EF4-FFF2-40B4-BE49-F238E27FC236}">
                <a16:creationId xmlns:a16="http://schemas.microsoft.com/office/drawing/2014/main" id="{EA4DE82B-2412-479E-A5E7-5266E1032F2A}"/>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completed passes / attempts, followed by execution errors in parentheses.</a:t>
            </a:r>
          </a:p>
        </p:txBody>
      </p:sp>
      <p:sp>
        <p:nvSpPr>
          <p:cNvPr id="3" name="Rectangle 2">
            <a:extLst>
              <a:ext uri="{FF2B5EF4-FFF2-40B4-BE49-F238E27FC236}">
                <a16:creationId xmlns:a16="http://schemas.microsoft.com/office/drawing/2014/main" id="{B38A0E69-2856-4E3F-89B8-CA92EF53A95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a:ext uri="{FF2B5EF4-FFF2-40B4-BE49-F238E27FC236}">
                <a16:creationId xmlns:a16="http://schemas.microsoft.com/office/drawing/2014/main" id="{EBC34E11-BDC1-4CBA-BA7E-4D9515015ED3}"/>
              </a:ext>
            </a:extLst>
          </p:cNvPr>
          <p:cNvGraphicFramePr/>
          <p:nvPr/>
        </p:nvGraphicFramePr>
        <p:xfrm>
          <a:off x="457200" y="1533525"/>
          <a:ext cx="11277600" cy="4333875"/>
        </p:xfrm>
        <a:graphic>
          <a:graphicData uri="http://schemas.openxmlformats.org/drawingml/2006/table">
            <a:tbl>
              <a:tblPr/>
              <a:tblGrid>
                <a:gridCol w="4419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33375">
                <a:tc>
                  <a:txBody>
                    <a:bodyPr/>
                    <a:lstStyle/>
                    <a:p>
                      <a:r>
                        <a:rPr sz="1650"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No hint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General hint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Physics hint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33375">
                <a:tc>
                  <a:txBody>
                    <a:bodyPr/>
                    <a:lstStyle/>
                    <a:p>
                      <a:r>
                        <a:rPr sz="1650" b="0">
                          <a:solidFill>
                            <a:srgbClr val="111111"/>
                          </a:solidFill>
                          <a:latin typeface="Times New Roman"/>
                          <a:ea typeface="Times New Roman"/>
                          <a:cs typeface="Times New Roman"/>
                        </a:rPr>
                        <a:t>GPT-5.6 Luna None</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3/39 (2)</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1"/>
                  </a:ext>
                </a:extLst>
              </a:tr>
              <a:tr h="333375">
                <a:tc>
                  <a:txBody>
                    <a:bodyPr/>
                    <a:lstStyle/>
                    <a:p>
                      <a:r>
                        <a:rPr sz="1650" b="0">
                          <a:solidFill>
                            <a:srgbClr val="111111"/>
                          </a:solidFill>
                          <a:latin typeface="Times New Roman"/>
                          <a:ea typeface="Times New Roman"/>
                          <a:cs typeface="Times New Roman"/>
                        </a:rPr>
                        <a:t>GPT-5.6 Luna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2"/>
                  </a:ext>
                </a:extLst>
              </a:tr>
              <a:tr h="333375">
                <a:tc>
                  <a:txBody>
                    <a:bodyPr/>
                    <a:lstStyle/>
                    <a:p>
                      <a:r>
                        <a:rPr sz="1650" b="0">
                          <a:solidFill>
                            <a:srgbClr val="111111"/>
                          </a:solidFill>
                          <a:latin typeface="Times New Roman"/>
                          <a:ea typeface="Times New Roman"/>
                          <a:cs typeface="Times New Roman"/>
                        </a:rPr>
                        <a:t>GPT-5.6 Luna Medium</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0/39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16/39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3"/>
                  </a:ext>
                </a:extLst>
              </a:tr>
              <a:tr h="333375">
                <a:tc>
                  <a:txBody>
                    <a:bodyPr/>
                    <a:lstStyle/>
                    <a:p>
                      <a:r>
                        <a:rPr sz="1650" b="0">
                          <a:solidFill>
                            <a:srgbClr val="111111"/>
                          </a:solidFill>
                          <a:latin typeface="Times New Roman"/>
                          <a:ea typeface="Times New Roman"/>
                          <a:cs typeface="Times New Roman"/>
                        </a:rPr>
                        <a:t>GPT-5.6 Luna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4/40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25/78 (3)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62/78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4"/>
                  </a:ext>
                </a:extLst>
              </a:tr>
              <a:tr h="333375">
                <a:tc>
                  <a:txBody>
                    <a:bodyPr/>
                    <a:lstStyle/>
                    <a:p>
                      <a:r>
                        <a:rPr sz="1650" b="0">
                          <a:solidFill>
                            <a:srgbClr val="111111"/>
                          </a:solidFill>
                          <a:latin typeface="Times New Roman"/>
                          <a:ea typeface="Times New Roman"/>
                          <a:cs typeface="Times New Roman"/>
                        </a:rPr>
                        <a:t>GPT-5.6 Luna Extra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6/39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22/39 (3)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33/39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5"/>
                  </a:ext>
                </a:extLst>
              </a:tr>
              <a:tr h="333375">
                <a:tc>
                  <a:txBody>
                    <a:bodyPr/>
                    <a:lstStyle/>
                    <a:p>
                      <a:r>
                        <a:rPr sz="1650" b="0">
                          <a:solidFill>
                            <a:srgbClr val="111111"/>
                          </a:solidFill>
                          <a:latin typeface="Times New Roman"/>
                          <a:ea typeface="Times New Roman"/>
                          <a:cs typeface="Times New Roman"/>
                        </a:rPr>
                        <a:t>GPT-5.6 Luna Max</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27/39 (5)</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35/39 (3)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6"/>
                  </a:ext>
                </a:extLst>
              </a:tr>
              <a:tr h="333375">
                <a:tc>
                  <a:txBody>
                    <a:bodyPr/>
                    <a:lstStyle/>
                    <a:p>
                      <a:r>
                        <a:rPr sz="1650" b="0">
                          <a:solidFill>
                            <a:srgbClr val="111111"/>
                          </a:solidFill>
                          <a:latin typeface="Times New Roman"/>
                          <a:ea typeface="Times New Roman"/>
                          <a:cs typeface="Times New Roman"/>
                        </a:rPr>
                        <a:t>GPT-5.6 Terra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9/78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12/39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25/39 (2)</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7"/>
                  </a:ext>
                </a:extLst>
              </a:tr>
              <a:tr h="333375">
                <a:tc>
                  <a:txBody>
                    <a:bodyPr/>
                    <a:lstStyle/>
                    <a:p>
                      <a:r>
                        <a:rPr sz="1650" b="0">
                          <a:solidFill>
                            <a:srgbClr val="111111"/>
                          </a:solidFill>
                          <a:latin typeface="Times New Roman"/>
                          <a:ea typeface="Times New Roman"/>
                          <a:cs typeface="Times New Roman"/>
                        </a:rPr>
                        <a:t>GPT-5.6 Terra Medium</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5/39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8"/>
                  </a:ext>
                </a:extLst>
              </a:tr>
              <a:tr h="333375">
                <a:tc>
                  <a:txBody>
                    <a:bodyPr/>
                    <a:lstStyle/>
                    <a:p>
                      <a:r>
                        <a:rPr sz="1650" b="0">
                          <a:solidFill>
                            <a:srgbClr val="111111"/>
                          </a:solidFill>
                          <a:latin typeface="Times New Roman"/>
                          <a:ea typeface="Times New Roman"/>
                          <a:cs typeface="Times New Roman"/>
                        </a:rPr>
                        <a:t>GPT-5.6 Terra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16/78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13/39 (6)</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36/39 (1)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9"/>
                  </a:ext>
                </a:extLst>
              </a:tr>
              <a:tr h="333375">
                <a:tc>
                  <a:txBody>
                    <a:bodyPr/>
                    <a:lstStyle/>
                    <a:p>
                      <a:r>
                        <a:rPr sz="1650" b="0">
                          <a:solidFill>
                            <a:srgbClr val="111111"/>
                          </a:solidFill>
                          <a:latin typeface="Times New Roman"/>
                          <a:ea typeface="Times New Roman"/>
                          <a:cs typeface="Times New Roman"/>
                        </a:rPr>
                        <a:t>GPT-5.6 Sol Low</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37/39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10"/>
                  </a:ext>
                </a:extLst>
              </a:tr>
              <a:tr h="333375">
                <a:tc>
                  <a:txBody>
                    <a:bodyPr/>
                    <a:lstStyle/>
                    <a:p>
                      <a:r>
                        <a:rPr sz="1650" b="0">
                          <a:solidFill>
                            <a:srgbClr val="111111"/>
                          </a:solidFill>
                          <a:latin typeface="Times New Roman"/>
                          <a:ea typeface="Times New Roman"/>
                          <a:cs typeface="Times New Roman"/>
                        </a:rPr>
                        <a:t>GPT-5.6 Sol Medium</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31/39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11"/>
                  </a:ext>
                </a:extLst>
              </a:tr>
              <a:tr h="333375">
                <a:tc>
                  <a:txBody>
                    <a:bodyPr/>
                    <a:lstStyle/>
                    <a:p>
                      <a:r>
                        <a:rPr sz="1650" b="0">
                          <a:solidFill>
                            <a:srgbClr val="111111"/>
                          </a:solidFill>
                          <a:latin typeface="Times New Roman"/>
                          <a:ea typeface="Times New Roman"/>
                          <a:cs typeface="Times New Roman"/>
                        </a:rPr>
                        <a:t>DeepSeek V4.1 Flash High</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0/78 (71)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(39)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1/39 (38)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sp>
        <p:nvSpPr>
          <p:cNvPr id="5" name="Rectangle 4">
            <a:extLst>
              <a:ext uri="{FF2B5EF4-FFF2-40B4-BE49-F238E27FC236}">
                <a16:creationId xmlns:a16="http://schemas.microsoft.com/office/drawing/2014/main" id="{3007565F-8EDB-461A-AD1E-EA5E177192C0}"/>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13 tasks per setting. Counts combine distinct attempts; repeated baseline records count once.</a:t>
            </a:r>
          </a:p>
        </p:txBody>
      </p:sp>
    </p:spTree>
    <p:extLst>
      <p:ext uri="{BB962C8B-B14F-4D97-AF65-F5344CB8AC3E}">
        <p14:creationId xmlns:p14="http://schemas.microsoft.com/office/powerpoint/2010/main" val="202682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6BA0FF3-04EA-4212-BFD6-BA0891C308E1}"/>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a:ext uri="{FF2B5EF4-FFF2-40B4-BE49-F238E27FC236}">
                <a16:creationId xmlns:a16="http://schemas.microsoft.com/office/drawing/2014/main" id="{1B617954-181A-4A23-BF2D-053035054F7D}"/>
              </a:ext>
            </a:extLst>
          </p:cNvPr>
          <p:cNvSpPr>
            <a:spLocks noGrp="1"/>
          </p:cNvSpPr>
          <p:nvPr/>
        </p:nvSpPr>
        <p:spPr>
          <a:xfrm>
            <a:off x="4572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a:ext uri="{FF2B5EF4-FFF2-40B4-BE49-F238E27FC236}">
                <a16:creationId xmlns:a16="http://schemas.microsoft.com/office/drawing/2014/main" id="{E184659C-ED43-48C5-9DD3-A617939BA21B}"/>
              </a:ext>
            </a:extLst>
          </p:cNvPr>
          <p:cNvSpPr>
            <a:spLocks noGrp="1"/>
          </p:cNvSpPr>
          <p:nvPr/>
        </p:nvSpPr>
        <p:spPr>
          <a:xfrm>
            <a:off x="4572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a:ext uri="{FF2B5EF4-FFF2-40B4-BE49-F238E27FC236}">
                <a16:creationId xmlns:a16="http://schemas.microsoft.com/office/drawing/2014/main" id="{ACEAC897-E548-4A51-9467-D4512B3E482F}"/>
              </a:ext>
            </a:extLst>
          </p:cNvPr>
          <p:cNvSpPr>
            <a:spLocks noGrp="1"/>
          </p:cNvSpPr>
          <p:nvPr/>
        </p:nvSpPr>
        <p:spPr>
          <a:xfrm>
            <a:off x="4572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a:ext uri="{FF2B5EF4-FFF2-40B4-BE49-F238E27FC236}">
                <a16:creationId xmlns:a16="http://schemas.microsoft.com/office/drawing/2014/main" id="{8109EB7F-43D7-488D-8A62-D803A593F497}"/>
              </a:ext>
            </a:extLst>
          </p:cNvPr>
          <p:cNvSpPr>
            <a:spLocks noGrp="1"/>
          </p:cNvSpPr>
          <p:nvPr/>
        </p:nvSpPr>
        <p:spPr>
          <a:xfrm>
            <a:off x="4572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a:ext uri="{FF2B5EF4-FFF2-40B4-BE49-F238E27FC236}">
                <a16:creationId xmlns:a16="http://schemas.microsoft.com/office/drawing/2014/main" id="{FFB1FA39-94CE-431E-9645-61A0CC786757}"/>
              </a:ext>
            </a:extLst>
          </p:cNvPr>
          <p:cNvSpPr>
            <a:spLocks noGrp="1"/>
          </p:cNvSpPr>
          <p:nvPr/>
        </p:nvSpPr>
        <p:spPr>
          <a:xfrm>
            <a:off x="4572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a:ext uri="{FF2B5EF4-FFF2-40B4-BE49-F238E27FC236}">
                <a16:creationId xmlns:a16="http://schemas.microsoft.com/office/drawing/2014/main" id="{C417F617-88C4-4E5F-8408-0643D2B6A682}"/>
              </a:ext>
            </a:extLst>
          </p:cNvPr>
          <p:cNvSpPr>
            <a:spLocks noGrp="1"/>
          </p:cNvSpPr>
          <p:nvPr/>
        </p:nvSpPr>
        <p:spPr>
          <a:xfrm>
            <a:off x="4572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a:ext uri="{FF2B5EF4-FFF2-40B4-BE49-F238E27FC236}">
                <a16:creationId xmlns:a16="http://schemas.microsoft.com/office/drawing/2014/main" id="{911F5FFF-8663-471A-98CE-29B1F1D9B568}"/>
              </a:ext>
            </a:extLst>
          </p:cNvPr>
          <p:cNvSpPr>
            <a:spLocks noGrp="1"/>
          </p:cNvSpPr>
          <p:nvPr/>
        </p:nvSpPr>
        <p:spPr>
          <a:xfrm>
            <a:off x="457200" y="4619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a:ext uri="{FF2B5EF4-FFF2-40B4-BE49-F238E27FC236}">
                <a16:creationId xmlns:a16="http://schemas.microsoft.com/office/drawing/2014/main" id="{B86DA223-D697-451A-A51A-91BE7366B2E3}"/>
              </a:ext>
            </a:extLst>
          </p:cNvPr>
          <p:cNvSpPr>
            <a:spLocks noGrp="1"/>
          </p:cNvSpPr>
          <p:nvPr/>
        </p:nvSpPr>
        <p:spPr>
          <a:xfrm>
            <a:off x="63627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a:ext uri="{FF2B5EF4-FFF2-40B4-BE49-F238E27FC236}">
                <a16:creationId xmlns:a16="http://schemas.microsoft.com/office/drawing/2014/main" id="{7808C839-AEFA-4D36-B29C-420F636341B5}"/>
              </a:ext>
            </a:extLst>
          </p:cNvPr>
          <p:cNvSpPr>
            <a:spLocks noGrp="1"/>
          </p:cNvSpPr>
          <p:nvPr/>
        </p:nvSpPr>
        <p:spPr>
          <a:xfrm>
            <a:off x="63627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a:ext uri="{FF2B5EF4-FFF2-40B4-BE49-F238E27FC236}">
                <a16:creationId xmlns:a16="http://schemas.microsoft.com/office/drawing/2014/main" id="{7A716844-98DE-4D97-BD8E-850B5CC8A603}"/>
              </a:ext>
            </a:extLst>
          </p:cNvPr>
          <p:cNvSpPr>
            <a:spLocks noGrp="1"/>
          </p:cNvSpPr>
          <p:nvPr/>
        </p:nvSpPr>
        <p:spPr>
          <a:xfrm>
            <a:off x="63627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a:ext uri="{FF2B5EF4-FFF2-40B4-BE49-F238E27FC236}">
                <a16:creationId xmlns:a16="http://schemas.microsoft.com/office/drawing/2014/main" id="{8E313484-B01D-4662-9B77-A526F38FCA36}"/>
              </a:ext>
            </a:extLst>
          </p:cNvPr>
          <p:cNvSpPr>
            <a:spLocks noGrp="1"/>
          </p:cNvSpPr>
          <p:nvPr/>
        </p:nvSpPr>
        <p:spPr>
          <a:xfrm>
            <a:off x="63627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a:ext uri="{FF2B5EF4-FFF2-40B4-BE49-F238E27FC236}">
                <a16:creationId xmlns:a16="http://schemas.microsoft.com/office/drawing/2014/main" id="{CB4180C1-0E47-4AC5-8EB7-942852E1E2D0}"/>
              </a:ext>
            </a:extLst>
          </p:cNvPr>
          <p:cNvSpPr>
            <a:spLocks noGrp="1"/>
          </p:cNvSpPr>
          <p:nvPr/>
        </p:nvSpPr>
        <p:spPr>
          <a:xfrm>
            <a:off x="63627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a:ext uri="{FF2B5EF4-FFF2-40B4-BE49-F238E27FC236}">
                <a16:creationId xmlns:a16="http://schemas.microsoft.com/office/drawing/2014/main" id="{A97A6698-C261-42DF-A038-2BFF43D3125B}"/>
              </a:ext>
            </a:extLst>
          </p:cNvPr>
          <p:cNvSpPr>
            <a:spLocks noGrp="1"/>
          </p:cNvSpPr>
          <p:nvPr/>
        </p:nvSpPr>
        <p:spPr>
          <a:xfrm>
            <a:off x="63627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a:ext uri="{FF2B5EF4-FFF2-40B4-BE49-F238E27FC236}">
                <a16:creationId xmlns:a16="http://schemas.microsoft.com/office/drawing/2014/main" id="{ABF92BC6-A106-4C0F-883D-9CF630DDC338}"/>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a:ext uri="{FF2B5EF4-FFF2-40B4-BE49-F238E27FC236}">
                <a16:creationId xmlns:a16="http://schemas.microsoft.com/office/drawing/2014/main" id="{7B5E6208-A8BB-4725-9921-6CA79EB21DD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17B6CD4-DA5B-4A7F-A081-E2A2B31B4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a:ext uri="{FF2B5EF4-FFF2-40B4-BE49-F238E27FC236}">
                <a16:creationId xmlns:a16="http://schemas.microsoft.com/office/drawing/2014/main" id="{D5E4B9E4-4CB2-45E9-BE61-2A76387824C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a:ext uri="{FF2B5EF4-FFF2-40B4-BE49-F238E27FC236}">
                <a16:creationId xmlns:a16="http://schemas.microsoft.com/office/drawing/2014/main" id="{D7084F74-4A77-424A-8676-E2C561AADB53}"/>
              </a:ext>
            </a:extLst>
          </p:cNvPr>
          <p:cNvSpPr>
            <a:spLocks noGrp="1"/>
          </p:cNvSpPr>
          <p:nvPr/>
        </p:nvSpPr>
        <p:spPr>
          <a:xfrm>
            <a:off x="457200" y="1533525"/>
            <a:ext cx="4905375"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a:ext uri="{FF2B5EF4-FFF2-40B4-BE49-F238E27FC236}">
                <a16:creationId xmlns:a16="http://schemas.microsoft.com/office/drawing/2014/main" id="{6FA7336F-7C6A-4BCE-8251-D4E67C80EBA4}"/>
              </a:ext>
            </a:extLst>
          </p:cNvPr>
          <p:cNvSpPr>
            <a:spLocks noGrp="1"/>
          </p:cNvSpPr>
          <p:nvPr/>
        </p:nvSpPr>
        <p:spPr>
          <a:xfrm>
            <a:off x="457200" y="1971675"/>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a:ext uri="{FF2B5EF4-FFF2-40B4-BE49-F238E27FC236}">
                <a16:creationId xmlns:a16="http://schemas.microsoft.com/office/drawing/2014/main" id="{87B85EBA-3D0E-4570-AB1C-A6DAAC2C6C19}"/>
              </a:ext>
            </a:extLst>
          </p:cNvPr>
          <p:cNvSpPr>
            <a:spLocks noGrp="1"/>
          </p:cNvSpPr>
          <p:nvPr/>
        </p:nvSpPr>
        <p:spPr>
          <a:xfrm>
            <a:off x="457200" y="2381250"/>
            <a:ext cx="4905375" cy="19050"/>
          </a:xfrm>
          <a:prstGeom prst="rect">
            <a:avLst/>
          </a:prstGeom>
          <a:solidFill>
            <a:srgbClr val="777777"/>
          </a:solidFill>
          <a:ln w="13335">
            <a:solidFill>
              <a:srgbClr val="777777"/>
            </a:solidFill>
            <a:prstDash val="solid"/>
          </a:ln>
        </p:spPr>
        <p:txBody>
          <a:bodyPr/>
          <a:lstStyle/>
          <a:p>
            <a:endParaRPr/>
          </a:p>
        </p:txBody>
      </p:sp>
      <p:sp>
        <p:nvSpPr>
          <p:cNvPr id="6" name="Rectangle 5">
            <a:extLst>
              <a:ext uri="{FF2B5EF4-FFF2-40B4-BE49-F238E27FC236}">
                <a16:creationId xmlns:a16="http://schemas.microsoft.com/office/drawing/2014/main" id="{24CC1E4B-DA4A-4952-9357-94695F024E82}"/>
              </a:ext>
            </a:extLst>
          </p:cNvPr>
          <p:cNvSpPr>
            <a:spLocks noGrp="1"/>
          </p:cNvSpPr>
          <p:nvPr/>
        </p:nvSpPr>
        <p:spPr>
          <a:xfrm>
            <a:off x="457200" y="2952750"/>
            <a:ext cx="4905375" cy="19050"/>
          </a:xfrm>
          <a:prstGeom prst="rect">
            <a:avLst/>
          </a:prstGeom>
          <a:solidFill>
            <a:srgbClr val="777777"/>
          </a:solidFill>
          <a:ln w="13335">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85912F-9C1E-4568-943F-CBE08EBBEEF3}"/>
              </a:ext>
            </a:extLst>
          </p:cNvPr>
          <p:cNvSpPr>
            <a:spLocks noGrp="1"/>
          </p:cNvSpPr>
          <p:nvPr/>
        </p:nvSpPr>
        <p:spPr>
          <a:xfrm>
            <a:off x="8191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573E44D9-9C6E-4C68-B21F-0E97F4A722A1}"/>
              </a:ext>
            </a:extLst>
          </p:cNvPr>
          <p:cNvSpPr>
            <a:spLocks noGrp="1"/>
          </p:cNvSpPr>
          <p:nvPr/>
        </p:nvSpPr>
        <p:spPr>
          <a:xfrm>
            <a:off x="15430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5222835-3645-4478-B478-7C25458AA3AD}"/>
              </a:ext>
            </a:extLst>
          </p:cNvPr>
          <p:cNvSpPr>
            <a:spLocks noGrp="1"/>
          </p:cNvSpPr>
          <p:nvPr/>
        </p:nvSpPr>
        <p:spPr>
          <a:xfrm>
            <a:off x="2266950" y="250507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a:ext uri="{FF2B5EF4-FFF2-40B4-BE49-F238E27FC236}">
                <a16:creationId xmlns:a16="http://schemas.microsoft.com/office/drawing/2014/main" id="{481EC8C4-2B3A-44A2-A2DF-D3B5BDC43513}"/>
              </a:ext>
            </a:extLst>
          </p:cNvPr>
          <p:cNvSpPr>
            <a:spLocks noGrp="1"/>
          </p:cNvSpPr>
          <p:nvPr/>
        </p:nvSpPr>
        <p:spPr>
          <a:xfrm>
            <a:off x="29908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DA0C0A62-E4A3-467B-A311-2D83BDF1B9AF}"/>
              </a:ext>
            </a:extLst>
          </p:cNvPr>
          <p:cNvSpPr>
            <a:spLocks noGrp="1"/>
          </p:cNvSpPr>
          <p:nvPr/>
        </p:nvSpPr>
        <p:spPr>
          <a:xfrm>
            <a:off x="37147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Oval 11">
            <a:extLst>
              <a:ext uri="{FF2B5EF4-FFF2-40B4-BE49-F238E27FC236}">
                <a16:creationId xmlns:a16="http://schemas.microsoft.com/office/drawing/2014/main" id="{EACBA4F9-08AB-451A-A852-FD50A060CAF2}"/>
              </a:ext>
            </a:extLst>
          </p:cNvPr>
          <p:cNvSpPr>
            <a:spLocks noGrp="1"/>
          </p:cNvSpPr>
          <p:nvPr/>
        </p:nvSpPr>
        <p:spPr>
          <a:xfrm>
            <a:off x="44386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3" name="Rectangle 12">
            <a:extLst>
              <a:ext uri="{FF2B5EF4-FFF2-40B4-BE49-F238E27FC236}">
                <a16:creationId xmlns:a16="http://schemas.microsoft.com/office/drawing/2014/main" id="{93CE4E81-AFEA-4EAF-B896-3C060B8A4437}"/>
              </a:ext>
            </a:extLst>
          </p:cNvPr>
          <p:cNvSpPr>
            <a:spLocks noGrp="1"/>
          </p:cNvSpPr>
          <p:nvPr/>
        </p:nvSpPr>
        <p:spPr>
          <a:xfrm>
            <a:off x="457200" y="3333750"/>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a:ext uri="{FF2B5EF4-FFF2-40B4-BE49-F238E27FC236}">
                <a16:creationId xmlns:a16="http://schemas.microsoft.com/office/drawing/2014/main" id="{B847700A-C0A6-4E12-9D00-0EE5AE9846DC}"/>
              </a:ext>
            </a:extLst>
          </p:cNvPr>
          <p:cNvSpPr>
            <a:spLocks noGrp="1"/>
          </p:cNvSpPr>
          <p:nvPr/>
        </p:nvSpPr>
        <p:spPr>
          <a:xfrm>
            <a:off x="457200" y="3733800"/>
            <a:ext cx="4905375" cy="19050"/>
          </a:xfrm>
          <a:prstGeom prst="rect">
            <a:avLst/>
          </a:prstGeom>
          <a:solidFill>
            <a:srgbClr val="777777"/>
          </a:solidFill>
          <a:ln w="13335">
            <a:solidFill>
              <a:srgbClr val="777777"/>
            </a:solidFill>
            <a:prstDash val="solid"/>
          </a:ln>
        </p:spPr>
        <p:txBody>
          <a:bodyPr/>
          <a:lstStyle/>
          <a:p>
            <a:endParaRPr/>
          </a:p>
        </p:txBody>
      </p:sp>
      <p:sp>
        <p:nvSpPr>
          <p:cNvPr id="15" name="Rectangle 14">
            <a:extLst>
              <a:ext uri="{FF2B5EF4-FFF2-40B4-BE49-F238E27FC236}">
                <a16:creationId xmlns:a16="http://schemas.microsoft.com/office/drawing/2014/main" id="{AEEECDFF-1488-4898-89D7-95611235AE31}"/>
              </a:ext>
            </a:extLst>
          </p:cNvPr>
          <p:cNvSpPr>
            <a:spLocks noGrp="1"/>
          </p:cNvSpPr>
          <p:nvPr/>
        </p:nvSpPr>
        <p:spPr>
          <a:xfrm>
            <a:off x="457200" y="4305300"/>
            <a:ext cx="4905375" cy="19050"/>
          </a:xfrm>
          <a:prstGeom prst="rect">
            <a:avLst/>
          </a:prstGeom>
          <a:solidFill>
            <a:srgbClr val="777777"/>
          </a:solidFill>
          <a:ln w="13335">
            <a:solidFill>
              <a:srgbClr val="777777"/>
            </a:solidFill>
            <a:prstDash val="solid"/>
          </a:ln>
        </p:spPr>
        <p:txBody>
          <a:bodyPr/>
          <a:lstStyle/>
          <a:p>
            <a:endParaRPr/>
          </a:p>
        </p:txBody>
      </p:sp>
      <p:sp>
        <p:nvSpPr>
          <p:cNvPr id="16" name="Oval 15">
            <a:extLst>
              <a:ext uri="{FF2B5EF4-FFF2-40B4-BE49-F238E27FC236}">
                <a16:creationId xmlns:a16="http://schemas.microsoft.com/office/drawing/2014/main" id="{C3DD7281-A990-4437-A3F6-D1905D0C92FA}"/>
              </a:ext>
            </a:extLst>
          </p:cNvPr>
          <p:cNvSpPr>
            <a:spLocks noGrp="1"/>
          </p:cNvSpPr>
          <p:nvPr/>
        </p:nvSpPr>
        <p:spPr>
          <a:xfrm>
            <a:off x="7048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E4B66C14-9B22-4218-BF4E-66A109931AE8}"/>
              </a:ext>
            </a:extLst>
          </p:cNvPr>
          <p:cNvSpPr>
            <a:spLocks noGrp="1"/>
          </p:cNvSpPr>
          <p:nvPr/>
        </p:nvSpPr>
        <p:spPr>
          <a:xfrm>
            <a:off x="1381125"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8F84BEF1-1367-4E78-AA01-BC3889CEF4BC}"/>
              </a:ext>
            </a:extLst>
          </p:cNvPr>
          <p:cNvSpPr>
            <a:spLocks noGrp="1"/>
          </p:cNvSpPr>
          <p:nvPr/>
        </p:nvSpPr>
        <p:spPr>
          <a:xfrm>
            <a:off x="2657475" y="385762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a:ext uri="{FF2B5EF4-FFF2-40B4-BE49-F238E27FC236}">
                <a16:creationId xmlns:a16="http://schemas.microsoft.com/office/drawing/2014/main" id="{EA9A95CF-FC14-4BD4-BAC7-E113A1CEFD24}"/>
              </a:ext>
            </a:extLst>
          </p:cNvPr>
          <p:cNvSpPr>
            <a:spLocks noGrp="1"/>
          </p:cNvSpPr>
          <p:nvPr/>
        </p:nvSpPr>
        <p:spPr>
          <a:xfrm>
            <a:off x="31813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1B62E78F-7E2D-4AF0-BA2D-8DF4AE712DA5}"/>
              </a:ext>
            </a:extLst>
          </p:cNvPr>
          <p:cNvSpPr>
            <a:spLocks noGrp="1"/>
          </p:cNvSpPr>
          <p:nvPr/>
        </p:nvSpPr>
        <p:spPr>
          <a:xfrm>
            <a:off x="38862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Oval 20">
            <a:extLst>
              <a:ext uri="{FF2B5EF4-FFF2-40B4-BE49-F238E27FC236}">
                <a16:creationId xmlns:a16="http://schemas.microsoft.com/office/drawing/2014/main" id="{49E266AB-BC36-4FB6-AC5A-38A91A3CB61C}"/>
              </a:ext>
            </a:extLst>
          </p:cNvPr>
          <p:cNvSpPr>
            <a:spLocks noGrp="1"/>
          </p:cNvSpPr>
          <p:nvPr/>
        </p:nvSpPr>
        <p:spPr>
          <a:xfrm>
            <a:off x="46101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2" name="Rectangle 21">
            <a:extLst>
              <a:ext uri="{FF2B5EF4-FFF2-40B4-BE49-F238E27FC236}">
                <a16:creationId xmlns:a16="http://schemas.microsoft.com/office/drawing/2014/main" id="{59D743A1-E3D9-4428-B67C-E58F47681335}"/>
              </a:ext>
            </a:extLst>
          </p:cNvPr>
          <p:cNvSpPr>
            <a:spLocks noGrp="1"/>
          </p:cNvSpPr>
          <p:nvPr/>
        </p:nvSpPr>
        <p:spPr>
          <a:xfrm>
            <a:off x="457200" y="4572000"/>
            <a:ext cx="4953000" cy="666750"/>
          </a:xfrm>
          <a:prstGeom prst="rect">
            <a:avLst/>
          </a:prstGeom>
          <a:noFill/>
          <a:ln w="0">
            <a:noFill/>
          </a:ln>
        </p:spPr>
        <p:txBody>
          <a:bodyPr wrap="square" lIns="0" tIns="0" rIns="0" bIns="0" anchor="t"/>
          <a:lstStyle>
            <a:defPPr algn="l">
              <a:defRPr sz="1950" b="0">
                <a:solidFill>
                  <a:srgbClr val="111111"/>
                </a:solidFill>
                <a:latin typeface="Times New Roman"/>
                <a:ea typeface="Times New Roman"/>
                <a:cs typeface="Times New Roman"/>
              </a:defRPr>
            </a:defPPr>
          </a:lstStyle>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a:ext uri="{FF2B5EF4-FFF2-40B4-BE49-F238E27FC236}">
                <a16:creationId xmlns:a16="http://schemas.microsoft.com/office/drawing/2014/main" id="{DBD48C7F-F0B6-4566-AD72-218593300322}"/>
              </a:ext>
            </a:extLst>
          </p:cNvPr>
          <p:cNvSpPr>
            <a:spLocks noGrp="1"/>
          </p:cNvSpPr>
          <p:nvPr/>
        </p:nvSpPr>
        <p:spPr>
          <a:xfrm>
            <a:off x="6191250" y="1533525"/>
            <a:ext cx="5543550"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sp>
        <p:nvSpPr>
          <p:cNvPr id="25" name="Rectangle 24">
            <a:extLst>
              <a:ext uri="{FF2B5EF4-FFF2-40B4-BE49-F238E27FC236}">
                <a16:creationId xmlns:a16="http://schemas.microsoft.com/office/drawing/2014/main" id="{4B241E38-7C47-46F8-8966-8D5D630DCA39}"/>
              </a:ext>
            </a:extLst>
          </p:cNvPr>
          <p:cNvSpPr>
            <a:spLocks noGrp="1"/>
          </p:cNvSpPr>
          <p:nvPr/>
        </p:nvSpPr>
        <p:spPr>
          <a:xfrm>
            <a:off x="6191250" y="5248275"/>
            <a:ext cx="5543550" cy="647700"/>
          </a:xfrm>
          <a:prstGeom prst="rect">
            <a:avLst/>
          </a:prstGeom>
          <a:noFill/>
          <a:ln w="0">
            <a:noFill/>
          </a:ln>
        </p:spPr>
        <p:txBody>
          <a:bodyPr wrap="square" lIns="0" tIns="0" rIns="0" bIns="0" anchor="t"/>
          <a:lstStyle>
            <a:defPPr algn="l">
              <a:defRPr sz="1950" b="1">
                <a:solidFill>
                  <a:srgbClr val="111111"/>
                </a:solidFill>
                <a:latin typeface="Times New Roman"/>
                <a:ea typeface="Times New Roman"/>
                <a:cs typeface="Times New Roman"/>
              </a:defRPr>
            </a:defPPr>
          </a:lstStyle>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a:ext uri="{FF2B5EF4-FFF2-40B4-BE49-F238E27FC236}">
                <a16:creationId xmlns:a16="http://schemas.microsoft.com/office/drawing/2014/main" id="{6D89FA9C-1AA0-4165-931E-D886C36E63EB}"/>
              </a:ext>
            </a:extLst>
          </p:cNvPr>
          <p:cNvSpPr>
            <a:spLocks noGrp="1"/>
          </p:cNvSpPr>
          <p:nvPr/>
        </p:nvSpPr>
        <p:spPr>
          <a:xfrm>
            <a:off x="457200" y="5362575"/>
            <a:ext cx="5162550" cy="581025"/>
          </a:xfrm>
          <a:prstGeom prst="rect">
            <a:avLst/>
          </a:prstGeom>
          <a:noFill/>
          <a:ln w="0">
            <a:noFill/>
          </a:ln>
        </p:spPr>
        <p:txBody>
          <a:bodyPr wrap="square" lIns="0" tIns="0" rIns="0" bIns="0" anchor="t"/>
          <a:lstStyle>
            <a:defPPr algn="l">
              <a:defRPr sz="1800" b="1">
                <a:solidFill>
                  <a:srgbClr val="1D4E89"/>
                </a:solidFill>
                <a:latin typeface="Times New Roman"/>
                <a:ea typeface="Times New Roman"/>
                <a:cs typeface="Times New Roman"/>
              </a:defRPr>
            </a:defPPr>
          </a:lstStyle>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a:ext uri="{FF2B5EF4-FFF2-40B4-BE49-F238E27FC236}">
                <a16:creationId xmlns:a16="http://schemas.microsoft.com/office/drawing/2014/main" id="{451EDAC5-84AF-4886-ABB5-00F5489CD4A3}"/>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Analytic covariance curves and schematic positions, not measured trajectories. The task asks for the long-time scaling coefficient.</a:t>
            </a:r>
          </a:p>
        </p:txBody>
      </p:sp>
      <p:sp>
        <p:nvSpPr>
          <p:cNvPr id="30" name="Rectangle 29">
            <a:extLst>
              <a:ext uri="{FF2B5EF4-FFF2-40B4-BE49-F238E27FC236}">
                <a16:creationId xmlns:a16="http://schemas.microsoft.com/office/drawing/2014/main" id="{F6A031A1-5617-41AC-B818-7E20F8A6707A}"/>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pic>
        <p:nvPicPr>
          <p:cNvPr id="31" name="Picture 30">
            <a:extLst>
              <a:ext uri="{FF2B5EF4-FFF2-40B4-BE49-F238E27FC236}">
                <a16:creationId xmlns:a16="http://schemas.microsoft.com/office/drawing/2014/main" id="{FC27F642-04F2-4AD4-B221-5BB2B73EE7F2}"/>
              </a:ext>
            </a:extLst>
          </p:cNvPr>
          <p:cNvPicPr>
            <a:picLocks noChangeAspect="1"/>
          </p:cNvPicPr>
          <p:nvPr/>
        </p:nvPicPr>
        <p:blipFill>
          <a:blip r:embed="rId3"/>
          <a:stretch/>
        </p:blipFill>
        <p:spPr>
          <a:xfrm>
            <a:off x="6335316" y="1885950"/>
            <a:ext cx="5083969" cy="3333750"/>
          </a:xfrm>
          <a:prstGeom prst="rect">
            <a:avLst/>
          </a:prstGeom>
        </p:spPr>
      </p:pic>
    </p:spTree>
    <p:extLst>
      <p:ext uri="{BB962C8B-B14F-4D97-AF65-F5344CB8AC3E}">
        <p14:creationId xmlns:p14="http://schemas.microsoft.com/office/powerpoint/2010/main" val="524204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D7C7636-DBD0-4BC1-9687-EB40565DE5E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reasoning effort without hints</a:t>
            </a:r>
          </a:p>
        </p:txBody>
      </p:sp>
      <p:sp>
        <p:nvSpPr>
          <p:cNvPr id="2" name="Rectangle 1">
            <a:extLst>
              <a:ext uri="{FF2B5EF4-FFF2-40B4-BE49-F238E27FC236}">
                <a16:creationId xmlns:a16="http://schemas.microsoft.com/office/drawing/2014/main" id="{77266C2A-F01F-4525-AB62-D3833EEC1AAF}"/>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line holds the model fixed. Only the observed effort settings are connected.</a:t>
            </a:r>
          </a:p>
        </p:txBody>
      </p:sp>
      <p:sp>
        <p:nvSpPr>
          <p:cNvPr id="3" name="Rectangle 2">
            <a:extLst>
              <a:ext uri="{FF2B5EF4-FFF2-40B4-BE49-F238E27FC236}">
                <a16:creationId xmlns:a16="http://schemas.microsoft.com/office/drawing/2014/main" id="{AAC1A2CB-697A-4082-B829-98096488BA2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pic>
        <p:nvPicPr>
          <p:cNvPr id="4" name="Picture 3">
            <a:extLst>
              <a:ext uri="{FF2B5EF4-FFF2-40B4-BE49-F238E27FC236}">
                <a16:creationId xmlns:a16="http://schemas.microsoft.com/office/drawing/2014/main" id="{79DF96AC-9B5D-4BCF-9F44-360B986D9F13}"/>
              </a:ext>
            </a:extLst>
          </p:cNvPr>
          <p:cNvPicPr>
            <a:picLocks noChangeAspect="1"/>
          </p:cNvPicPr>
          <p:nvPr/>
        </p:nvPicPr>
        <p:blipFill>
          <a:blip r:embed="rId3"/>
          <a:stretch/>
        </p:blipFill>
        <p:spPr>
          <a:xfrm>
            <a:off x="457200" y="1438708"/>
            <a:ext cx="11277600" cy="4485409"/>
          </a:xfrm>
          <a:prstGeom prst="rect">
            <a:avLst/>
          </a:prstGeom>
        </p:spPr>
      </p:pic>
      <p:sp>
        <p:nvSpPr>
          <p:cNvPr id="5" name="Rectangle 4">
            <a:extLst>
              <a:ext uri="{FF2B5EF4-FFF2-40B4-BE49-F238E27FC236}">
                <a16:creationId xmlns:a16="http://schemas.microsoft.com/office/drawing/2014/main" id="{898C7526-E0AE-495E-80B4-0C202386A0AE}"/>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Rates use each setting’s actual denominator. Model generations remain distinct. Historical and runtime differences apply.</a:t>
            </a:r>
          </a:p>
        </p:txBody>
      </p:sp>
    </p:spTree>
    <p:extLst>
      <p:ext uri="{BB962C8B-B14F-4D97-AF65-F5344CB8AC3E}">
        <p14:creationId xmlns:p14="http://schemas.microsoft.com/office/powerpoint/2010/main" val="8481716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7022</Words>
  <Application>Microsoft Macintosh PowerPoint</Application>
  <DocSecurity>0</DocSecurity>
  <PresentationFormat>Widescreen</PresentationFormat>
  <Paragraphs>557</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 Pan</cp:lastModifiedBy>
  <cp:revision>2</cp:revision>
  <dcterms:created xsi:type="dcterms:W3CDTF">2026-10-16T00:00:27Z</dcterms:created>
  <dcterms:modified xsi:type="dcterms:W3CDTF">2026-10-16T00:25:39Z</dcterms:modified>
</cp:coreProperties>
</file>