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05c79057c746c2" /><Relationship Type="http://schemas.openxmlformats.org/officeDocument/2006/relationships/extended-properties" Target="/docProps/app.xml" Id="Rb10e352d390748eb" /><Relationship Type="http://schemas.openxmlformats.org/officeDocument/2006/relationships/officeDocument" Target="/ppt/presentation.xml" Id="Ree303421bd0843fe" /></Relationships>
</file>

<file path=ppt/presentation.xml><?xml version="1.0" encoding="utf-8"?>
<p:presentation xmlns:p="http://schemas.openxmlformats.org/presentationml/2006/main">
  <p:sldMasterIdLst>
    <p:sldMasterId xmlns:r="http://schemas.openxmlformats.org/officeDocument/2006/relationships" id="2147483648" r:id="R4a4d12241f1640ef"/>
  </p:sldMasterIdLst>
  <p:notesMasterIdLst>
    <p:notesMasterId xmlns:r="http://schemas.openxmlformats.org/officeDocument/2006/relationships" r:id="Rf632d3358f37404e"/>
  </p:notesMasterIdLst>
  <p:sldIdLst>
    <p:sldId xmlns:r="http://schemas.openxmlformats.org/officeDocument/2006/relationships" id="256" r:id="R9c3a91a80a75441d"/>
    <p:sldId xmlns:r="http://schemas.openxmlformats.org/officeDocument/2006/relationships" id="257" r:id="R940ac3fd9e474f73"/>
    <p:sldId xmlns:r="http://schemas.openxmlformats.org/officeDocument/2006/relationships" id="258" r:id="R00814c2e94b74de0"/>
    <p:sldId xmlns:r="http://schemas.openxmlformats.org/officeDocument/2006/relationships" id="259" r:id="Re3af101f7a70420a"/>
    <p:sldId xmlns:r="http://schemas.openxmlformats.org/officeDocument/2006/relationships" id="260" r:id="R71cc396fbf974044"/>
    <p:sldId xmlns:r="http://schemas.openxmlformats.org/officeDocument/2006/relationships" id="261" r:id="Rc0e0dc447d8743b7"/>
    <p:sldId xmlns:r="http://schemas.openxmlformats.org/officeDocument/2006/relationships" id="262" r:id="R602973500d5e47f5"/>
    <p:sldId xmlns:r="http://schemas.openxmlformats.org/officeDocument/2006/relationships" id="263" r:id="R3555277b2ae1441e"/>
    <p:sldId xmlns:r="http://schemas.openxmlformats.org/officeDocument/2006/relationships" id="264" r:id="R59d2baa3cc8a4b68"/>
    <p:sldId xmlns:r="http://schemas.openxmlformats.org/officeDocument/2006/relationships" id="265" r:id="Rab624565c594468b"/>
    <p:sldId xmlns:r="http://schemas.openxmlformats.org/officeDocument/2006/relationships" id="266" r:id="Rbc6406edde244359"/>
    <p:sldId xmlns:r="http://schemas.openxmlformats.org/officeDocument/2006/relationships" id="267" r:id="R35656508d61148bc"/>
    <p:sldId xmlns:r="http://schemas.openxmlformats.org/officeDocument/2006/relationships" id="268" r:id="Rd1f6f80bae644016"/>
    <p:sldId xmlns:r="http://schemas.openxmlformats.org/officeDocument/2006/relationships" id="269" r:id="Ra9b3636a255f4222"/>
    <p:sldId xmlns:r="http://schemas.openxmlformats.org/officeDocument/2006/relationships" id="270" r:id="R3262353c8e6d4f00"/>
    <p:sldId xmlns:r="http://schemas.openxmlformats.org/officeDocument/2006/relationships" id="271" r:id="R99d521664b0c4842"/>
    <p:sldId xmlns:r="http://schemas.openxmlformats.org/officeDocument/2006/relationships" id="272" r:id="Rdaf2db56fd614553"/>
    <p:sldId xmlns:r="http://schemas.openxmlformats.org/officeDocument/2006/relationships" id="273" r:id="R03e6a51d3b704ab2"/>
    <p:sldId xmlns:r="http://schemas.openxmlformats.org/officeDocument/2006/relationships" id="274" r:id="R69eb39026ae54c8c"/>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58933d9a2184064" /><Relationship Type="http://schemas.openxmlformats.org/officeDocument/2006/relationships/slideMaster" Target="/ppt/slideMasters/slideMaster1.xml" Id="R4a4d12241f1640ef" /><Relationship Type="http://schemas.openxmlformats.org/officeDocument/2006/relationships/notesMaster" Target="/ppt/notesMasters/notesMaster1.xml" Id="Rf632d3358f37404e" /><Relationship Type="http://schemas.openxmlformats.org/officeDocument/2006/relationships/presProps" Target="/ppt/presProps.xml" Id="Rbc51d2af862d472f" /><Relationship Type="http://schemas.openxmlformats.org/officeDocument/2006/relationships/viewProps" Target="/ppt/viewProps.xml" Id="R9b4061dfca614c21" /><Relationship Type="http://schemas.openxmlformats.org/officeDocument/2006/relationships/tableStyles" Target="/ppt/tableStyles.xml" Id="R107e95957cac4c16" /><Relationship Type="http://schemas.openxmlformats.org/officeDocument/2006/relationships/slide" Target="/ppt/slides/slide1.xml" Id="R9c3a91a80a75441d" /><Relationship Type="http://schemas.openxmlformats.org/officeDocument/2006/relationships/slide" Target="/ppt/slides/slide2.xml" Id="R940ac3fd9e474f73" /><Relationship Type="http://schemas.openxmlformats.org/officeDocument/2006/relationships/slide" Target="/ppt/slides/slide3.xml" Id="R00814c2e94b74de0" /><Relationship Type="http://schemas.openxmlformats.org/officeDocument/2006/relationships/slide" Target="/ppt/slides/slide4.xml" Id="Re3af101f7a70420a" /><Relationship Type="http://schemas.openxmlformats.org/officeDocument/2006/relationships/slide" Target="/ppt/slides/slide5.xml" Id="R71cc396fbf974044" /><Relationship Type="http://schemas.openxmlformats.org/officeDocument/2006/relationships/slide" Target="/ppt/slides/slide6.xml" Id="Rc0e0dc447d8743b7" /><Relationship Type="http://schemas.openxmlformats.org/officeDocument/2006/relationships/slide" Target="/ppt/slides/slide7.xml" Id="R602973500d5e47f5" /><Relationship Type="http://schemas.openxmlformats.org/officeDocument/2006/relationships/slide" Target="/ppt/slides/slide8.xml" Id="R3555277b2ae1441e" /><Relationship Type="http://schemas.openxmlformats.org/officeDocument/2006/relationships/slide" Target="/ppt/slides/slide9.xml" Id="R59d2baa3cc8a4b68" /><Relationship Type="http://schemas.openxmlformats.org/officeDocument/2006/relationships/slide" Target="/ppt/slides/slide10.xml" Id="Rab624565c594468b" /><Relationship Type="http://schemas.openxmlformats.org/officeDocument/2006/relationships/slide" Target="/ppt/slides/slide11.xml" Id="Rbc6406edde244359" /><Relationship Type="http://schemas.openxmlformats.org/officeDocument/2006/relationships/slide" Target="/ppt/slides/slide12.xml" Id="R35656508d61148bc" /><Relationship Type="http://schemas.openxmlformats.org/officeDocument/2006/relationships/slide" Target="/ppt/slides/slide13.xml" Id="Rd1f6f80bae644016" /><Relationship Type="http://schemas.openxmlformats.org/officeDocument/2006/relationships/slide" Target="/ppt/slides/slide14.xml" Id="Ra9b3636a255f4222" /><Relationship Type="http://schemas.openxmlformats.org/officeDocument/2006/relationships/slide" Target="/ppt/slides/slide15.xml" Id="R3262353c8e6d4f00" /><Relationship Type="http://schemas.openxmlformats.org/officeDocument/2006/relationships/slide" Target="/ppt/slides/slide16.xml" Id="R99d521664b0c4842" /><Relationship Type="http://schemas.openxmlformats.org/officeDocument/2006/relationships/slide" Target="/ppt/slides/slide17.xml" Id="Rdaf2db56fd614553" /><Relationship Type="http://schemas.openxmlformats.org/officeDocument/2006/relationships/slide" Target="/ppt/slides/slide18.xml" Id="R03e6a51d3b704ab2" /><Relationship Type="http://schemas.openxmlformats.org/officeDocument/2006/relationships/slide" Target="/ppt/slides/slide19.xml" Id="R69eb39026ae54c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f17777d76f46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75177f0aaa4807" /><Relationship Type="http://schemas.openxmlformats.org/officeDocument/2006/relationships/notesMaster" Target="/ppt/notesMasters/notesMaster1.xml" Id="Rb4a8cf2227b8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3aee538e15249c2" /><Relationship Type="http://schemas.openxmlformats.org/officeDocument/2006/relationships/notesMaster" Target="/ppt/notesMasters/notesMaster1.xml" Id="R541bd9a9eae447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285c81f7745e3" /><Relationship Type="http://schemas.openxmlformats.org/officeDocument/2006/relationships/notesMaster" Target="/ppt/notesMasters/notesMaster1.xml" Id="R7b59cd10914f4f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e793f3f2b54ff5" /><Relationship Type="http://schemas.openxmlformats.org/officeDocument/2006/relationships/notesMaster" Target="/ppt/notesMasters/notesMaster1.xml" Id="Reebfff71d11542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c070cd368349df" /><Relationship Type="http://schemas.openxmlformats.org/officeDocument/2006/relationships/notesMaster" Target="/ppt/notesMasters/notesMaster1.xml" Id="Rc2eccf48b8f74f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61ac0182b74c9b" /><Relationship Type="http://schemas.openxmlformats.org/officeDocument/2006/relationships/notesMaster" Target="/ppt/notesMasters/notesMaster1.xml" Id="R13dccc5d89b948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eb99dabdd445f8" /><Relationship Type="http://schemas.openxmlformats.org/officeDocument/2006/relationships/notesMaster" Target="/ppt/notesMasters/notesMaster1.xml" Id="R25f08ebc962f47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f642a246ba4661" /><Relationship Type="http://schemas.openxmlformats.org/officeDocument/2006/relationships/notesMaster" Target="/ppt/notesMasters/notesMaster1.xml" Id="R58fee4ea79594b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06dc4007e146f7" /><Relationship Type="http://schemas.openxmlformats.org/officeDocument/2006/relationships/notesMaster" Target="/ppt/notesMasters/notesMaster1.xml" Id="R1ebd35d5a72543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a3d8eaa003488b" /><Relationship Type="http://schemas.openxmlformats.org/officeDocument/2006/relationships/notesMaster" Target="/ppt/notesMasters/notesMaster1.xml" Id="Re8a4a4a12ec44d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cbf16590c849db" /><Relationship Type="http://schemas.openxmlformats.org/officeDocument/2006/relationships/notesMaster" Target="/ppt/notesMasters/notesMaster1.xml" Id="R078a102c835b44f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a642667a314f3a" /><Relationship Type="http://schemas.openxmlformats.org/officeDocument/2006/relationships/notesMaster" Target="/ppt/notesMasters/notesMaster1.xml" Id="Rea0ac94aa37f43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3a59c04b8d4f3c" /><Relationship Type="http://schemas.openxmlformats.org/officeDocument/2006/relationships/notesMaster" Target="/ppt/notesMasters/notesMaster1.xml" Id="R7aeddb1e5a8b48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14cc285f3a4c4d" /><Relationship Type="http://schemas.openxmlformats.org/officeDocument/2006/relationships/notesMaster" Target="/ppt/notesMasters/notesMaster1.xml" Id="R6b30416faf2040d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0eda873c2144ba" /><Relationship Type="http://schemas.openxmlformats.org/officeDocument/2006/relationships/notesMaster" Target="/ppt/notesMasters/notesMaster1.xml" Id="R021ffa7e949e469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68a1ecdc444646" /><Relationship Type="http://schemas.openxmlformats.org/officeDocument/2006/relationships/notesMaster" Target="/ppt/notesMasters/notesMaster1.xml" Id="R9a18793e897b45a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e5076b4d5e45a7" /><Relationship Type="http://schemas.openxmlformats.org/officeDocument/2006/relationships/notesMaster" Target="/ppt/notesMasters/notesMaster1.xml" Id="R8db72b3f7fae41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907aa27e254406" /><Relationship Type="http://schemas.openxmlformats.org/officeDocument/2006/relationships/notesMaster" Target="/ppt/notesMasters/notesMaster1.xml" Id="Reebc829475bc4b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d29930245e47ef" /><Relationship Type="http://schemas.openxmlformats.org/officeDocument/2006/relationships/notesMaster" Target="/ppt/notesMasters/notesMaster1.xml" Id="R82eb7cad3d1e45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 seconds.</a:t>
            </a:r>
          </a:p>
          <a:p xmlns:a="http://schemas.openxmlformats.org/drawingml/2006/main">
            <a:endParaRPr/>
          </a:p>
          <a:p xmlns:a="http://schemas.openxmlformats.org/drawingml/2006/main">
            <a:r>
              <a:t>We study how well coding agents can turn a physical setup and limited measurements into predictions.</a:t>
            </a:r>
          </a:p>
          <a:p xmlns:a="http://schemas.openxmlformats.org/drawingml/2006/main">
            <a:endParaRPr/>
          </a:p>
          <a:p xmlns:a="http://schemas.openxmlformats.org/drawingml/2006/main">
            <a:r>
              <a:t>Sources:</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45 seconds.</a:t>
            </a:r>
          </a:p>
          <a:p xmlns:a="http://schemas.openxmlformats.org/drawingml/2006/main">
            <a:r>
              <a:t/>
            </a:r>
            <a:endParaRPr/>
          </a:p>
          <a:p xmlns:a="http://schemas.openxmlformats.org/drawingml/2006/main">
            <a:r>
              <a:t>Our key question is whether an agent can identify the physics behind a scenario and predict beyond what it observes. A good fit to the supplied data is not enough. We use thirteen tasks with hidden predictions, then test whether general checking instructions and task-specific physics guidance improve performance. The hints probe what the agent misses without guidance.</a:t>
            </a:r>
          </a:p>
          <a:p xmlns:a="http://schemas.openxmlformats.org/drawingml/2006/main">
            <a:r>
              <a:t/>
            </a:r>
            <a:endParaRPr/>
          </a:p>
          <a:p xmlns:a="http://schemas.openxmlformats.org/drawingml/2006/main">
            <a:r>
              <a:t>The suite was selected using GPT-5.6 Luna. The original ten tasks had zero of three Luna High passes during initial selection. All thirteen are implemented with Harbor. Selection outcomes differ from independent evaluation. Historical controls, runtime differences and unmatched hint length limit causal interpretation. General-hint gains alone cannot identify a specifically physical reasoning defect. The task-specific hints and reviewed failures provide further evidence.</a:t>
            </a:r>
          </a:p>
          <a:p xmlns:a="http://schemas.openxmlformats.org/drawingml/2006/main">
            <a:r>
              <a:t/>
            </a:r>
          </a:p>
          <a:p xmlns:a="http://schemas.openxmlformats.org/drawingml/2006/main">
            <a:r>
              <a:t>Sources:</a:t>
            </a:r>
          </a:p>
          <a:p xmlns:a="http://schemas.openxmlformats.org/drawingml/2006/main">
            <a:r>
              <a:t>/Users/yp9846/Desktop/PhysLiteBench/results/task-roster.json</a:t>
            </a:r>
          </a:p>
          <a:p xmlns:a="http://schemas.openxmlformats.org/drawingml/2006/main">
            <a:r>
              <a:t>/Users/yp9846/Desktop/PhysLiteBench/output/presentation-20261014/PhysLiteBench-focused-study-figures-20261015/sources/hint-matrix-summary.md</a:t>
            </a:r>
          </a:p>
          <a:p xmlns:a="http://schemas.openxmlformats.org/drawingml/2006/main">
            <a:r>
              <a:t>/Users/yp9846/Desktop/PhysLiteBench/output/presentation-20261014/PhysLiteBench-focused-study-figures-20261015/summary.json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85 seconds.</a:t>
            </a:r>
          </a:p>
          <a:p xmlns:a="http://schemas.openxmlformats.org/drawingml/2006/main">
            <a:r>
              <a:t/>
            </a:r>
            <a:endParaRPr/>
          </a:p>
          <a:p xmlns:a="http://schemas.openxmlformats.org/drawingml/2006/main">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
            </a:r>
          </a:p>
          <a:p xmlns:a="http://schemas.openxmlformats.org/drawingml/2006/main">
            <a:r>
              <a:t>One run shown. Each repeat resets the starting row.</a:t>
            </a:r>
          </a:p>
          <a:p xmlns:a="http://schemas.openxmlformats.org/drawingml/2006/main">
            <a:r>
              <a:t/>
            </a:r>
          </a:p>
          <a:p xmlns:a="http://schemas.openxmlformats.org/drawingml/2006/main">
            <a:r>
              <a:t>Illustrative setup. The benchmark asks for the statistical trend after long observation times, rather than one bead’s exact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60 seconds.</a:t>
            </a:r>
          </a:p>
          <a:p xmlns:a="http://schemas.openxmlformats.org/drawingml/2006/main">
            <a:r>
              <a:t/>
            </a:r>
            <a:endParaRPr/>
          </a:p>
          <a:p xmlns:a="http://schemas.openxmlformats.org/drawingml/2006/main">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xmlns:a="http://schemas.openxmlformats.org/drawingml/2006/main">
            <a:r>
              <a:t/>
            </a:r>
            <a:endParaRPr/>
          </a:p>
          <a:p xmlns:a="http://schemas.openxmlformats.org/drawingml/2006/main">
            <a:r>
              <a:t>Sources:</a:t>
            </a:r>
          </a:p>
          <a:p xmlns:a="http://schemas.openxmlformats.org/drawingml/2006/main">
            <a:r>
              <a:t>/Users/yp9846/Desktop/PhysLiteBench/results/hint-comparison-20261014/plan.json</a:t>
            </a:r>
          </a:p>
          <a:p xmlns:a="http://schemas.openxmlformats.org/drawingml/2006/main">
            <a:r>
              <a:t>/Users/yp9846/Desktop/PhysLiteBench/tasks/single-file-memory/hint.md</a:t>
            </a:r>
          </a:p>
          <a:p xmlns:a="http://schemas.openxmlformats.org/drawingml/2006/main">
            <a:r>
              <a:t/>
            </a:r>
          </a:p>
          <a:p xmlns:a="http://schemas.openxmlformats.org/drawingml/2006/main">
            <a:r>
              <a:t>No-hint instruction shortened. General hint quoted exactly. Physics hint summarized in plain language from the actual task hint.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endParaRPr/>
          </a:p>
          <a:p xmlns:a="http://schemas.openxmlformats.org/drawingml/2006/main">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75 seconds.</a:t>
            </a:r>
          </a:p>
          <a:p xmlns:a="http://schemas.openxmlformats.org/drawingml/2006/main">
            <a:r>
              <a:t/>
            </a:r>
            <a:endParaRPr/>
          </a:p>
          <a:p xmlns:a="http://schemas.openxmlformats.org/drawingml/2006/main">
            <a:r>
              <a:t>The horizontal axis uses a logarithmic scale because costs span more than two orders of magnitude. Moving left means lower cost and moving up means more completed passes. Colors identify exact model versions; marker shapes identify reasoning effort. The dashed line joins observed nondominated settings with straight segments, without smoothing or interpolation of new observations. GPT-6 Luna Low and Extra High anchor the inexpensive end. GPT-6 Sol Low and High reach about 95% and 100% completion. The remaining complete-cost settings are shown even when dominated. Five settings have incomplete costs: Luna 5.6 High and Extra High plus DeepSeek Low, High and Max. Their outcomes stay in the backup and data, but their uncertain cost does not enter an exact frontier.</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19 of 24 settings have complete costs. Dashed line: observed frontier. Five incomplete-cost settings are omitted.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50 seconds.</a:t>
            </a:r>
          </a:p>
          <a:p xmlns:a="http://schemas.openxmlformats.org/drawingml/2006/main">
            <a:r>
              <a:t/>
            </a:r>
            <a:endParaRPr/>
          </a:p>
          <a:p xmlns:a="http://schemas.openxmlformats.org/drawingml/2006/main">
            <a:r>
              <a:t>This view holds the set of model and effort combinations fixed across the three prompt conditions. It includes GPT-5.6 Luna at six efforts, Terra at Low, Medium and High, Sol at Low and Medium, and DeepSeek at High. Color shows the hint condition. Shape shows the model and nearby letters show selected effort labels. We combine the available independent attempts within each model, effort and condition. The log-scaled cost axis exposes the low-cost Luna settings and the more expensive Terra and Sol settings. Physics hints generally reach higher observed success, but fourteen settings have incomplete costs, including all three Luna High cost estimates after pooling, so they are omitted from exact cost frontiers. All outcomes remain in the next slide and backup table. The curves join observed points with straight segments. They do not imply interpolated model configurations or a causal effect.</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22 of 36 settings have complete costs. Lines join observed frontiers. Historical controls and runtime differences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The model is GPT-5.6 Luna throughout. Every bar uses thirteen tasks with three attempts each, giving thirty-nine attempts. At High effort, the completed passes are four without a hint, eighteen with a general hint, and thirty with a physics hint. General hints increase the observed pass rate from Medium effort upward. Physics hints have the highest observed rate at all six efforts. These results suggest that relevant physics is often available to the agent but is not identified or applied without guidance.</a:t>
            </a:r>
          </a:p>
          <a:p xmlns:a="http://schemas.openxmlformats.org/drawingml/2006/main">
            <a:r>
              <a:t/>
            </a:r>
            <a:endParaRPr/>
          </a:p>
          <a:p xmlns:a="http://schemas.openxmlformats.org/drawingml/2006/main">
            <a:r>
              <a:t>This figure selects the complete six-effort matrix and its historical no-hint controls. It does not add the later independent High-effort replication or the one fresh baseline. The prior 78-attempt bars pooled independent trials, rather than duplicate trial identities, but this view deliberately keeps one three-repeat panel per cell. Full-study plots and backup tables still preserve the independent replication. Execution errors remain in each denominator. No trial outcomes were changed.</a:t>
            </a:r>
          </a:p>
          <a:p xmlns:a="http://schemas.openxmlformats.org/drawingml/2006/main">
            <a:r>
              <a:t/>
            </a:r>
            <a:endParaRPr/>
          </a:p>
          <a:p xmlns:a="http://schemas.openxmlformats.org/drawingml/2006/main">
            <a:r>
              <a:t>The hint comparison remains descriptive. Earlier controls differ in runtime, concurrency and CPU quotas. Hint lengths are not matched. A general hint may improve checking, implementation or attention, and alone does not isolate a physics deficit. Task-specific hint gains together with submitted-code failure evidence support the proposed interpretation. Published hinted evidence is aggregate only; raw transcripts were not independently inspected here.</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/Users/yp9846/Desktop/PhysLiteBench/output/presentation-20261014/PhysLiteBench-focused-study-figures-20261015/luna-effort-panel.json</a:t>
            </a:r>
            <a:endParaRPr/>
          </a:p>
          <a:p xmlns:a="http://schemas.openxmlformats.org/drawingml/2006/main">
            <a:r>
              <a:t>/Users/yp9846/Desktop/PhysLiteBench/output/presentation-20261014/PhysLiteBench-focused-study-figures-20261015/sources/baseline-luna-trials.csv</a:t>
            </a:r>
          </a:p>
          <a:p xmlns:a="http://schemas.openxmlformats.org/drawingml/2006/main">
            <a:r>
              <a:t>/Users/yp9846/Desktop/PhysLiteBench/output/presentation-20261014/PhysLiteBench-focused-study-figures-20261015/sources/hint-matrix-summary.csv</a:t>
            </a:r>
          </a:p>
          <a:p xmlns:a="http://schemas.openxmlformats.org/drawingml/2006/main">
            <a:r>
              <a:t>/Users/yp9846/Desktop/PhysLiteBench/output/presentation-20261014/PhysLiteBench-focused-study-figures-20261015/plot_results.py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55 seconds.</a:t>
            </a:r>
          </a:p>
          <a:p xmlns:a="http://schemas.openxmlformats.org/drawingml/2006/main">
            <a:r>
              <a:t/>
            </a:r>
            <a:endParaRPr/>
          </a:p>
          <a:p xmlns:a="http://schemas.openxmlformats.org/drawingml/2006/main">
            <a:r>
              <a:t>Here a physics failure means the agent fits the supplied data, but the reviewed code uses the wrong physical model for a new prediction. Across the same ten model and effort settings, we see 296 such failures without hints, 158 with a general hint and 66 with a physics hint, out of 390 attempts per condition. At Luna High, the counts are 33, 12 and 2 out of 39. Hints help, but lower reasoning effort still leaves a problem: 56 of the 66 physics failures with physics hints are Luna at None, Low or Medium effort. The other colors keep mathematical or coding failures and execution errors separate. Now the bead example shows what this kind of physics error looks like in code.</a:t>
            </a:r>
          </a:p>
          <a:p xmlns:a="http://schemas.openxmlformats.org/drawingml/2006/main">
            <a:r>
              <a:t/>
            </a:r>
            <a:endParaRP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r>
              <a:t/>
            </a:r>
            <a:endParaRP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r>
              <a:t/>
            </a: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r>
              <a:t/>
            </a:r>
            <a:endParaRP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r>
              <a:t/>
            </a: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80 seconds.</a:t>
            </a:r>
          </a:p>
          <a:p xmlns:a="http://schemas.openxmlformats.org/drawingml/2006/main">
            <a:r>
              <a:t/>
            </a:r>
            <a:endParaRPr/>
          </a:p>
          <a:p xmlns:a="http://schemas.openxmlformats.org/drawingml/2006/main">
            <a:r>
              <a:t>Here is the same bead example, now using a saved Terra run. Every repeat starts with the neighbors evenly spaced. We record the orange bead early and again later. The red arrow means a statistical link across repeats, not a force between two beads.</a:t>
            </a:r>
          </a:p>
          <a:p xmlns:a="http://schemas.openxmlformats.org/drawingml/2006/main">
            <a:r>
              <a:t/>
            </a:r>
            <a:endParaRPr/>
          </a:p>
          <a:p xmlns:a="http://schemas.openxmlformats.org/drawingml/2006/main">
            <a:r>
              <a:t>The agent adjusted one number controlling the amount of random motion. Its code matched the supplied measurements of how far the bead wanders at each time, and the public test passed.</a:t>
            </a:r>
          </a:p>
          <a:p xmlns:a="http://schemas.openxmlformats.org/drawingml/2006/main">
            <a:r>
              <a:t/>
            </a:r>
            <a:endParaRPr/>
          </a:p>
          <a:p xmlns:a="http://schemas.openxmlformats.org/drawingml/2006/main">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xmlns:a="http://schemas.openxmlformats.org/drawingml/2006/main">
            <a:r>
              <a:t/>
            </a:r>
            <a:endParaRPr/>
          </a:p>
          <a:p xmlns:a="http://schemas.openxmlformats.org/drawingml/2006/main">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xmlns:a="http://schemas.openxmlformats.org/drawingml/2006/main">
            <a:r>
              <a:t/>
            </a:r>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/Users/yp9846/Desktop/PhysLiteBench/results/trajectory-analysis-20261014/cases/single-file-memory__PC6LumP/review.json</a:t>
            </a:r>
          </a:p>
          <a:p xmlns:a="http://schemas.openxmlformats.org/drawingml/2006/main">
            <a:r>
              <a:t>/Users/yp9846/Desktop/PhysLiteBench/results/trajectory-analysis-20261014/cases/single-file-memory__PC6LumP/model.diff</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r>
              <a:t/>
            </a:r>
            <a:endParaRPr/>
          </a:p>
          <a:p xmlns:a="http://schemas.openxmlformats.org/drawingml/2006/main">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a:p xmlns:a="http://schemas.openxmlformats.org/drawingml/2006/main">
            <a:r>
              <a:t/>
            </a:r>
          </a:p>
          <a:p xmlns:a="http://schemas.openxmlformats.org/drawingml/2006/main">
            <a:r>
              <a:t>Allowed tolerance: 4%. The covariance describes averages across repeated runs. Bead positions are schematic.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30 seconds.</a:t>
            </a:r>
          </a:p>
          <a:p xmlns:a="http://schemas.openxmlformats.org/drawingml/2006/main">
            <a:r>
              <a:t/>
            </a:r>
            <a:endParaRPr/>
          </a:p>
          <a:p xmlns:a="http://schemas.openxmlformats.org/drawingml/2006/main">
            <a:r>
              <a:t>Agents can fit observations and still miss the physics. The bead example shows how the wrong covariance formula fails beyond the supplied data. Both general and physics hints improve prediction performance. The new reviewed breakdown also shows fewer primary physics failures, with Luna High falling from 33 to 12 to 2 out of 39. Together, these results suggest that agents often need guidance to identify and use relevant physics.</a:t>
            </a:r>
          </a:p>
          <a:p xmlns:a="http://schemas.openxmlformats.org/drawingml/2006/main">
            <a:r>
              <a:t/>
            </a:r>
            <a:endParaRPr/>
          </a:p>
          <a:p xmlns:a="http://schemas.openxmlformats.org/drawingml/2006/main">
            <a:r>
              <a:t>The hint result is descriptive. General hints can improve checking or implementation as well as physical reasoning. Historical controls and runtime differences remain, and this selected suite does not establish a universal capability limit. The 33, 12 and 2 refer to failures, whereas slide 8 uses completed passes of 4, 18 and 30 in those same cells. They are not complements because other graded failures and execution errors remain separate.</a:t>
            </a:r>
          </a:p>
          <a:p xmlns:a="http://schemas.openxmlformats.org/drawingml/2006/main">
            <a:r>
              <a:t/>
            </a: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r>
              <a:t/>
            </a: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r>
              <a:t/>
            </a: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r>
              <a:t/>
            </a: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r>
              <a:t/>
            </a: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180 seconds.</a:t>
            </a:r>
          </a:p>
          <a:p xmlns:a="http://schemas.openxmlformats.org/drawingml/2006/main">
            <a:r>
              <a:t/>
            </a:r>
            <a:endParaRPr/>
          </a:p>
          <a:p xmlns:a="http://schemas.openxmlformats.org/drawingml/2006/main">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Additional backup slides 18 and 19 give the reviewed physics failures by model/effort/hint and the mutually exclusive outcome definitions. They classify existing observations, with no added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endParaRPr/>
          </a:p>
          <a:p xmlns:a="http://schemas.openxmlformats.org/drawingml/2006/main">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xmlns:a="http://schemas.openxmlformats.org/drawingml/2006/main">
            <a:r>
              <a:t/>
            </a:r>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r>
              <a:t/>
            </a:r>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r>
              <a:t/>
            </a:r>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r>
              <a:t/>
            </a:r>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a:p xmlns:a="http://schemas.openxmlformats.org/drawingml/2006/main">
            <a:r>
              <a:t/>
            </a:r>
          </a:p>
          <a:p xmlns:a="http://schemas.openxmlformats.org/drawingml/2006/main">
            <a:r>
              <a:t>Slide 8 now shows one six-effort Luna matrix with 39 attempts per cell. This backup table continues to show all unique attempts, including the independent later High repetition. These are different declared summaries, not duplicated trial identities.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xmlns:a="http://schemas.openxmlformats.org/drawingml/2006/main">
            <a:endParaRPr/>
          </a:p>
          <a:p xmlns:a="http://schemas.openxmlformats.org/drawingml/2006/main">
            <a:r>
              <a:t>Sources:</a:t>
            </a:r>
          </a:p>
          <a:p xmlns:a="http://schemas.openxmlformats.org/drawingml/2006/main">
            <a:r>
              <a:t>/Users/yp9846/Desktop/PhysLiteBench/results/task-roster.json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skip in current talk.</a:t>
            </a:r>
          </a:p>
          <a:p xmlns:a="http://schemas.openxmlformats.org/drawingml/2006/main">
            <a:endParaRPr/>
          </a:p>
          <a:p xmlns:a="http://schemas.openxmlformats.org/drawingml/2006/main">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xmlns:a="http://schemas.openxmlformats.org/drawingml/2006/main">
            <a:endParaRPr/>
          </a:p>
          <a:p xmlns:a="http://schemas.openxmlformats.org/drawingml/2006/main">
            <a:r>
              <a:t>Sources:</a:t>
            </a:r>
          </a:p>
          <a:p xmlns:a="http://schemas.openxmlformats.org/drawingml/2006/main">
            <a:r>
              <a:t>/Users/yp9846/Desktop/PhysLiteBench/tasks/single-file-memory/environment/README.md</a:t>
            </a:r>
          </a:p>
          <a:p xmlns:a="http://schemas.openxmlformats.org/drawingml/2006/main">
            <a:r>
              <a:t>/Users/yp9846/Desktop/PhysLiteBench/tasks/single-file-memory/instruction.md</a:t>
            </a:r>
          </a:p>
          <a:p xmlns:a="http://schemas.openxmlformats.org/drawingml/2006/main">
            <a:r>
              <a:t>/Users/yp9846/Desktop/PhysLiteBench/tasks/single-file-memory/environment/model.py</a:t>
            </a:r>
          </a:p>
          <a:p xmlns:a="http://schemas.openxmlformats.org/drawingml/2006/main">
            <a:r>
              <a:t>/Users/yp9846/Desktop/PhysLiteBench/tasks/single-file-memory/solution/model.py</a:t>
            </a:r>
          </a:p>
          <a:p xmlns:a="http://schemas.openxmlformats.org/drawingml/2006/main">
            <a:r>
              <a:t>/Users/yp9846/Desktop/PhysLiteBench/tasks/single-file-memory/AUTHOR.md</a:t>
            </a:r>
          </a:p>
          <a:p xmlns:a="http://schemas.openxmlformats.org/drawingml/2006/main">
            <a:r>
              <a:t>/Users/yp9846/Desktop/PhysLiteBench/results/trajectory-analysis-20261014/cases/single-file-memory__PC6LumP/metrics.json</a:t>
            </a:r>
          </a:p>
          <a:p xmlns:a="http://schemas.openxmlformats.org/drawingml/2006/main">
            <a:r>
              <a:t>/Users/yp9846/Desktop/PhysLiteBench/results/trajectory-analysis-20261014/diagnostic-repairs.json</a:t>
            </a:r>
          </a:p>
          <a:p xmlns:a="http://schemas.openxmlformats.org/drawingml/2006/main">
            <a:endParaRPr/>
          </a:p>
          <a:p xmlns:a="http://schemas.openxmlformats.org/drawingml/2006/main">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endParaRPr/>
          </a:p>
          <a:p xmlns:a="http://schemas.openxmlformats.org/drawingml/2006/main">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xmlns:a="http://schemas.openxmlformats.org/drawingml/2006/main">
            <a:endParaRPr/>
          </a:p>
          <a:p xmlns:a="http://schemas.openxmlformats.org/drawingml/2006/main">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xmlns:a="http://schemas.openxmlformats.org/drawingml/2006/main">
            <a:endParaRPr/>
          </a:p>
          <a:p xmlns:a="http://schemas.openxmlformats.org/drawingml/2006/main">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xmlns:a="http://schemas.openxmlformats.org/drawingml/2006/main">
            <a:endParaRPr/>
          </a:p>
          <a:p xmlns:a="http://schemas.openxmlformats.org/drawingml/2006/main">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xmlns:a="http://schemas.openxmlformats.org/drawingml/2006/main">
            <a:endParaRPr/>
          </a:p>
          <a:p xmlns:a="http://schemas.openxmlformats.org/drawingml/2006/main">
            <a:r>
              <a:t>Sources:</a:t>
            </a:r>
          </a:p>
          <a:p xmlns:a="http://schemas.openxmlformats.org/drawingml/2006/main">
            <a:r>
              <a:t>/Users/yp9846/Desktop/PhysLiteBench/output/presentation-20261014/PhysLiteBench-study-figures-20261015/summary.csv</a:t>
            </a:r>
          </a:p>
          <a:p xmlns:a="http://schemas.openxmlformats.org/drawingml/2006/main">
            <a:r>
              <a:t>/Users/yp9846/Desktop/PhysLiteBench/output/presentation-20261014/PhysLiteBench-study-figures-20261015/source-manifest.json</a:t>
            </a:r>
          </a:p>
          <a:p xmlns:a="http://schemas.openxmlformats.org/drawingml/2006/main">
            <a:r>
              <a:t>/Users/yp9846/Desktop/PhysLiteBench/output/presentation-20261014/PhysLiteBench-study-figures-20261015/aggregate_results.py</a:t>
            </a:r>
          </a:p>
          <a:p xmlns:a="http://schemas.openxmlformats.org/drawingml/2006/main">
            <a:r>
              <a:t>/Users/yp9846/Desktop/PhysLiteBench/output/presentation-20261014/PhysLiteBench-study-figures-20261015/plot_results.py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 full breakdown separates model, effort and prompt condition. Each cell contains three repeats on all thirteen tasks. At each Luna effort the physics hint has fewer physics failures than the other conditions. With a physics hint, Luna None, Low and Medium account for 26 + 20 + 10 = 56 of the 66 remaining physics failures. The higher Luna efforts contribute six, Terra contributes four and Sol contributes zero. Zero physics failures is not perfect task success: Sol Low and Medium still have two and one other graded failures, respectively. Counts concern primary causes, so a numerical or coding primary with a secondary physics issue remains Other.</a:t>
            </a:r>
          </a:p>
          <a:p xmlns:a="http://schemas.openxmlformats.org/drawingml/2006/main">
            <a:r>
              <a:t/>
            </a: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r>
              <a:t/>
            </a: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r>
              <a:t/>
            </a: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r>
              <a:t/>
            </a: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r>
              <a:t/>
            </a: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a:t>
            </a:r>
          </a:p>
          <a:p xmlns:a="http://schemas.openxmlformats.org/drawingml/2006/main">
            <a:r>
              <a:t/>
            </a:r>
          </a:p>
          <a:p xmlns:a="http://schemas.openxmlformats.org/drawingml/2006/main">
            <a:r>
              <a:t>The table has five mutually exclusive outcomes and sums to 1,170. Of the 619 normally completed graded failures, 520 meet the strict physics-failure definition and 99 count as Other graded failure. Calibration and parameter success plus a hidden-prediction failure alone would identify 604 attempts. Review places 84 of them in Other because a mathematical, numerical or coding error was the primary cause. Examples in the report include detector-coordinate conversion, an anion charge sign, incorrect operator derivatives and a phase-wrap implementation error. A fit plus a failed new prediction is therefore insufficient to diagnose a physics failure. Three saved verifier-passing checkpoints in the hinted batch still count as timeouts because the agent exceeded its time limit.</a:t>
            </a:r>
          </a:p>
          <a:p xmlns:a="http://schemas.openxmlformats.org/drawingml/2006/main">
            <a:r>
              <a:t/>
            </a:r>
          </a:p>
          <a:p xmlns:a="http://schemas.openxmlformats.org/drawingml/2006/main">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xmlns:a="http://schemas.openxmlformats.org/drawingml/2006/main">
            <a:r>
              <a:t/>
            </a:r>
          </a:p>
          <a:p xmlns:a="http://schemas.openxmlformats.org/drawingml/2006/main">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xmlns:a="http://schemas.openxmlformats.org/drawingml/2006/main">
            <a:r>
              <a:t/>
            </a:r>
          </a:p>
          <a:p xmlns:a="http://schemas.openxmlformats.org/drawingml/2006/main">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xmlns:a="http://schemas.openxmlformats.org/drawingml/2006/main">
            <a:r>
              <a:t/>
            </a:r>
          </a:p>
          <a:p xmlns:a="http://schemas.openxmlformats.org/drawingml/2006/main">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xmlns:a="http://schemas.openxmlformats.org/drawingml/2006/main">
            <a:r>
              <a:t/>
            </a:r>
          </a:p>
          <a:p xmlns:a="http://schemas.openxmlformats.org/drawingml/2006/main">
            <a:r>
              <a:t>Sources:</a:t>
            </a:r>
          </a:p>
          <a:p xmlns:a="http://schemas.openxmlformats.org/drawingml/2006/main">
            <a:r>
              <a:t>https://github.com/liuyiqiandrew/PhysLiteBench/blob/f1164fe2b2bc8d312733bedbfc633b48e3b3cb36/results/hint-comparison-20261015-005800/outcome-breakdown.md</a:t>
            </a:r>
          </a:p>
          <a:p xmlns:a="http://schemas.openxmlformats.org/drawingml/2006/main">
            <a:r>
              <a:t>/Users/yp9846/Desktop/PhysLiteBench/output/presentation-20261014/PhysLiteBench-physics-failure-figures-20261015/failure-breakdown.json</a:t>
            </a:r>
          </a:p>
          <a:p xmlns:a="http://schemas.openxmlformats.org/drawingml/2006/main">
            <a:r>
              <a:t>/Users/yp9846/Desktop/PhysLiteBench/output/presentation-20261014/PhysLiteBench-physics-failure-figures-20261015/analyze_failures.py</a:t>
            </a:r>
          </a:p>
          <a:p xmlns:a="http://schemas.openxmlformats.org/drawingml/2006/main">
            <a:r>
              <a:t>/Users/yp9846/Desktop/PhysLiteBench/output/presentation-20261014/PhysLiteBench-physics-failure-figures-20261015/plot_failures.py</a:t>
            </a:r>
          </a:p>
          <a:p xmlns:a="http://schemas.openxmlformats.org/drawingml/2006/main">
            <a:r>
              <a:t>/Users/yp9846/Desktop/PhysLiteBench/output/presentation-20261014/PhysLiteBench-physics-failure-figures-20261015/outcome-source-manifest.json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f8d5cf204740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2764a2adc542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e6cb4bdea341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88aff413a44b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8529ea0b7c42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418f14b4754f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AF00F-B395-4BB8-A439-9AA89BEDDA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816860D-B2BB-4679-95BC-EC17130D2CD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704A9-9853-44A6-8B4A-4DC4DB9A47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E75D2A-E789-411F-A213-993328928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EEEACEAE-9A1D-4507-A60D-2AE6FC7CF3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CEFAC2-A0C9-4F70-B012-77B95FAB7D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FE9C7553-1AB5-446B-B4C5-ABBCB0AC29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B0184D06-C74C-4068-BE3F-45139A68C7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7D4CBD-570B-4FE0-8AC2-C6CC842A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ACBB10A-755C-4118-A48F-8124498F7F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1aa62fb08a44fb" /><Relationship Type="http://schemas.openxmlformats.org/officeDocument/2006/relationships/slideLayout" Target="/ppt/slideLayouts/slideLayout1.xml" Id="Rff3de3569d9f4f00" /><Relationship Type="http://schemas.openxmlformats.org/officeDocument/2006/relationships/slideLayout" Target="/ppt/slideLayouts/slideLayout2.xml" Id="R9d002767827a4f82" /><Relationship Type="http://schemas.openxmlformats.org/officeDocument/2006/relationships/slideLayout" Target="/ppt/slideLayouts/slideLayout3.xml" Id="R57db57c79c3e411e" /><Relationship Type="http://schemas.openxmlformats.org/officeDocument/2006/relationships/slideLayout" Target="/ppt/slideLayouts/slideLayout4.xml" Id="Ra467018a31e7437a" /><Relationship Type="http://schemas.openxmlformats.org/officeDocument/2006/relationships/slideLayout" Target="/ppt/slideLayouts/slideLayout5.xml" Id="Rd75791b4ba1a404b" /><Relationship Type="http://schemas.openxmlformats.org/officeDocument/2006/relationships/slideLayout" Target="/ppt/slideLayouts/slideLayout6.xml" Id="R5ae186289f554d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de3569d9f4f00"/>
    <p:sldLayoutId xmlns:r="http://schemas.openxmlformats.org/officeDocument/2006/relationships" id="2147483650" r:id="R9d002767827a4f82"/>
    <p:sldLayoutId xmlns:r="http://schemas.openxmlformats.org/officeDocument/2006/relationships" id="2147483651" r:id="R57db57c79c3e411e"/>
    <p:sldLayoutId xmlns:r="http://schemas.openxmlformats.org/officeDocument/2006/relationships" id="2147483652" r:id="Ra467018a31e7437a"/>
    <p:sldLayoutId xmlns:r="http://schemas.openxmlformats.org/officeDocument/2006/relationships" id="2147483653" r:id="Rd75791b4ba1a404b"/>
    <p:sldLayoutId xmlns:r="http://schemas.openxmlformats.org/officeDocument/2006/relationships" id="2147483654" r:id="R5ae186289f554d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bab0b6d2994dda" /><Relationship Type="http://schemas.openxmlformats.org/officeDocument/2006/relationships/notesSlide" Target="/ppt/notesSlides/notesSlide1.xml" Id="R27759c81e6824e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d29d22fe8d4d2e" /><Relationship Type="http://schemas.openxmlformats.org/officeDocument/2006/relationships/notesSlide" Target="/ppt/notesSlides/notesSlide2.xml" Id="Rad7e74e7ffc847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1e22eef85d4431" /><Relationship Type="http://schemas.openxmlformats.org/officeDocument/2006/relationships/notesSlide" Target="/ppt/notesSlides/notesSlide3.xml" Id="R3feaa2faca9e4b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888caed1544a49" /><Relationship Type="http://schemas.openxmlformats.org/officeDocument/2006/relationships/notesSlide" Target="/ppt/notesSlides/notesSlide4.xml" Id="Rd3dbc17a27ce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0513669a7845b7" /><Relationship Type="http://schemas.openxmlformats.org/officeDocument/2006/relationships/notesSlide" Target="/ppt/notesSlides/notesSlide5.xml" Id="R2e1432c528b648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2e177c469f4def" /><Relationship Type="http://schemas.openxmlformats.org/officeDocument/2006/relationships/image" Target="/ppt/media/image.png" Id="R293bbe6a51ff419d" /><Relationship Type="http://schemas.openxmlformats.org/officeDocument/2006/relationships/notesSlide" Target="/ppt/notesSlides/notesSlide6.xml" Id="Racf0b155815e45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82fdb8c38f140f2" /><Relationship Type="http://schemas.openxmlformats.org/officeDocument/2006/relationships/image" Target="/ppt/media/image2.png" Id="Ra5de7cd2e8c441e9" /><Relationship Type="http://schemas.openxmlformats.org/officeDocument/2006/relationships/notesSlide" Target="/ppt/notesSlides/notesSlide7.xml" Id="Rcd037ddf06a247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a4ac47c209848dc" /><Relationship Type="http://schemas.openxmlformats.org/officeDocument/2006/relationships/image" Target="/ppt/media/image3.png" Id="R892131e934db4003" /><Relationship Type="http://schemas.openxmlformats.org/officeDocument/2006/relationships/notesSlide" Target="/ppt/notesSlides/notesSlide8.xml" Id="Rd7e4340145ea46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1d20de124d4bbf" /><Relationship Type="http://schemas.openxmlformats.org/officeDocument/2006/relationships/image" Target="/ppt/media/image4.png" Id="R8ad6e5075a0f44a7" /><Relationship Type="http://schemas.openxmlformats.org/officeDocument/2006/relationships/notesSlide" Target="/ppt/notesSlides/notesSlide9.xml" Id="R853887bb01a342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e2315a855645cf" /><Relationship Type="http://schemas.openxmlformats.org/officeDocument/2006/relationships/notesSlide" Target="/ppt/notesSlides/notesSlide10.xml" Id="R6f4c7be855a846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0f40c4f1704ab5" /><Relationship Type="http://schemas.openxmlformats.org/officeDocument/2006/relationships/notesSlide" Target="/ppt/notesSlides/notesSlide11.xml" Id="R491c80bfafee4b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5865830955e4d32" /><Relationship Type="http://schemas.openxmlformats.org/officeDocument/2006/relationships/notesSlide" Target="/ppt/notesSlides/notesSlide12.xml" Id="R97b310048ff64a4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99cc37c9d2d4f41" /><Relationship Type="http://schemas.openxmlformats.org/officeDocument/2006/relationships/notesSlide" Target="/ppt/notesSlides/notesSlide13.xml" Id="R4b44abd2171740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cf08fed84a94ec1" /><Relationship Type="http://schemas.openxmlformats.org/officeDocument/2006/relationships/notesSlide" Target="/ppt/notesSlides/notesSlide14.xml" Id="R04aaa0dec72c45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4edaf0c557e485f" /><Relationship Type="http://schemas.openxmlformats.org/officeDocument/2006/relationships/notesSlide" Target="/ppt/notesSlides/notesSlide15.xml" Id="Rd9863de8dfa845a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7b7c35791ae446b" /><Relationship Type="http://schemas.openxmlformats.org/officeDocument/2006/relationships/image" Target="/ppt/media/image5.png" Id="Rfe82d88d099f41fc" /><Relationship Type="http://schemas.openxmlformats.org/officeDocument/2006/relationships/notesSlide" Target="/ppt/notesSlides/notesSlide16.xml" Id="R97e861f3150248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6e753182c3546ed" /><Relationship Type="http://schemas.openxmlformats.org/officeDocument/2006/relationships/image" Target="/ppt/media/image6.png" Id="R9005650bd2414a8c" /><Relationship Type="http://schemas.openxmlformats.org/officeDocument/2006/relationships/notesSlide" Target="/ppt/notesSlides/notesSlide17.xml" Id="Rd9091be308a146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aad686defe74147" /><Relationship Type="http://schemas.openxmlformats.org/officeDocument/2006/relationships/image" Target="/ppt/media/image7.png" Id="R0726c02dce0a4cba" /><Relationship Type="http://schemas.openxmlformats.org/officeDocument/2006/relationships/notesSlide" Target="/ppt/notesSlides/notesSlide18.xml" Id="Rc39fccfc0cf24e4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665632787df4a68" /><Relationship Type="http://schemas.openxmlformats.org/officeDocument/2006/relationships/notesSlide" Target="/ppt/notesSlides/notesSlide19.xml" Id="R687a5d74722f4217" /></Relationships>
</file>

<file path=ppt/slides/slide1.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09305941-EC9E-4DF1-85D9-9C688DEBF0BA}"/>
              </a:ext>
            </a:extLst>
          </p:cNvPr>
          <p:cNvSpPr>
            <a:spLocks xmlns:a="http://schemas.openxmlformats.org/drawingml/2006/main" noGrp="1"/>
          </p:cNvSpPr>
          <p:nvPr/>
        </p:nvSpPr>
        <p:spPr>
          <a:xfrm xmlns:a="http://schemas.openxmlformats.org/drawingml/2006/main">
            <a:off x="609600" y="22669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a:solidFill>
                  <a:srgbClr val="FFFFFF"/>
                </a:solidFill>
                <a:latin typeface="Times New Roman"/>
                <a:ea typeface="Times New Roman"/>
                <a:cs typeface="Times New Roman"/>
              </a:defRPr>
            </a:defPPr>
          </a:lstStyle>
          <a:p xmlns:a="http://schemas.openxmlformats.org/drawingml/2006/main">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xmlns:a="http://schemas.openxmlformats.org/drawingml/2006/main">
              <a:ext uri="{FF2B5EF4-FFF2-40B4-BE49-F238E27FC236}">
                <a16:creationId xmlns:a16="http://schemas.microsoft.com/office/drawing/2014/main" id="{A66653FB-D27E-4B22-AFF4-475D4255B342}"/>
              </a:ext>
            </a:extLst>
          </p:cNvPr>
          <p:cNvSpPr>
            <a:spLocks xmlns:a="http://schemas.openxmlformats.org/drawingml/2006/main" noGrp="1"/>
          </p:cNvSpPr>
          <p:nvPr/>
        </p:nvSpPr>
        <p:spPr>
          <a:xfrm xmlns:a="http://schemas.openxmlformats.org/drawingml/2006/main">
            <a:off x="647700" y="36957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700" b="0">
                <a:solidFill>
                  <a:srgbClr val="D1D5DB"/>
                </a:solidFill>
                <a:latin typeface="Times New Roman"/>
                <a:ea typeface="Times New Roman"/>
                <a:cs typeface="Times New Roman"/>
              </a:defRPr>
            </a:defPPr>
          </a:lstStyle>
          <a:p xmlns:a="http://schemas.openxmlformats.org/drawingml/2006/main">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BC09820-22BB-4372-A10F-CB42F1E32FBB}"/>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xmlns:a="http://schemas.openxmlformats.org/drawingml/2006/main">
              <a:ext uri="{FF2B5EF4-FFF2-40B4-BE49-F238E27FC236}">
                <a16:creationId xmlns:a16="http://schemas.microsoft.com/office/drawing/2014/main" id="{C4A9DD3B-B3F9-48AA-BE20-495804BE1615}"/>
              </a:ext>
            </a:extLst>
          </p:cNvPr>
          <p:cNvSpPr>
            <a:spLocks xmlns:a="http://schemas.openxmlformats.org/drawingml/2006/main" noGrp="1"/>
          </p:cNvSpPr>
          <p:nvPr/>
        </p:nvSpPr>
        <p:spPr>
          <a:xfrm xmlns:a="http://schemas.openxmlformats.org/drawingml/2006/main">
            <a:off x="457200" y="9144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i="0">
                <a:solidFill>
                  <a:srgbClr val="444444"/>
                </a:solidFill>
                <a:latin typeface="Times New Roman"/>
                <a:ea typeface="Times New Roman"/>
                <a:cs typeface="Times New Roman"/>
              </a:defRPr>
            </a:defPPr>
          </a:lstStyle>
          <a:p xmlns:a="http://schemas.openxmlformats.org/drawingml/2006/main">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agents identify the physics behind a scenario and predict beyond the observed data?</a:t>
            </a:r>
          </a:p>
        </p:txBody>
      </p:sp>
      <p:graphicFrame>
        <p:nvGraphicFramePr>
          <p:cNvPr id="4" name="Table 3">
            <a:extLst xmlns:a="http://schemas.openxmlformats.org/drawingml/2006/main">
              <a:ext uri="{FF2B5EF4-FFF2-40B4-BE49-F238E27FC236}">
                <a16:creationId xmlns:a16="http://schemas.microsoft.com/office/drawing/2014/main" id="{E5D2007C-93DA-4FE1-838C-5B61D55BDBAD}"/>
              </a:ext>
            </a:extLst>
          </p:cNvPr>
          <p:cNvGraphicFramePr/>
          <p:nvPr/>
        </p:nvGraphicFramePr>
        <p:xfrm>
          <a:off xmlns:a="http://schemas.openxmlformats.org/drawingml/2006/main" x="457200" y="1819275"/>
          <a:ext xmlns:a="http://schemas.openxmlformats.org/drawingml/2006/main" cx="11277600" cy="2714624"/>
        </p:xfrm>
        <a:graphic xmlns:a="http://schemas.openxmlformats.org/drawingml/2006/main">
          <a:graphicData uri="http://schemas.openxmlformats.org/drawingml/2006/table">
            <a:tbl>
              <a:tblPr/>
              <a:tblGrid>
                <a:gridCol w="5510869"/>
                <a:gridCol w="5766731"/>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CB8521B4-CF08-403D-8F9A-418747D0A182}"/>
              </a:ext>
            </a:extLst>
          </p:cNvPr>
          <p:cNvSpPr>
            <a:spLocks xmlns:a="http://schemas.openxmlformats.org/drawingml/2006/main" noGrp="1"/>
          </p:cNvSpPr>
          <p:nvPr/>
        </p:nvSpPr>
        <p:spPr>
          <a:xfrm xmlns:a="http://schemas.openxmlformats.org/drawingml/2006/main">
            <a:off x="457200" y="4857750"/>
            <a:ext cx="114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4350" b="1" i="0">
                <a:solidFill>
                  <a:srgbClr val="0F766E"/>
                </a:solidFill>
                <a:latin typeface="Times New Roman"/>
                <a:ea typeface="Times New Roman"/>
                <a:cs typeface="Times New Roman"/>
              </a:defRPr>
            </a:defPPr>
          </a:lstStyle>
          <a:p xmlns:a="http://schemas.openxmlformats.org/drawingml/2006/main">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xmlns:a="http://schemas.openxmlformats.org/drawingml/2006/main">
              <a:ext uri="{FF2B5EF4-FFF2-40B4-BE49-F238E27FC236}">
                <a16:creationId xmlns:a16="http://schemas.microsoft.com/office/drawing/2014/main" id="{FC56EB49-9538-451F-AFC3-9BECA96A74F8}"/>
              </a:ext>
            </a:extLst>
          </p:cNvPr>
          <p:cNvSpPr>
            <a:spLocks xmlns:a="http://schemas.openxmlformats.org/drawingml/2006/main" noGrp="1"/>
          </p:cNvSpPr>
          <p:nvPr/>
        </p:nvSpPr>
        <p:spPr>
          <a:xfrm xmlns:a="http://schemas.openxmlformats.org/drawingml/2006/main">
            <a:off x="2009775" y="4943475"/>
            <a:ext cx="8953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i="0">
                <a:solidFill>
                  <a:srgbClr val="111111"/>
                </a:solidFill>
                <a:latin typeface="Times New Roman"/>
                <a:ea typeface="Times New Roman"/>
                <a:cs typeface="Times New Roman"/>
              </a:defRPr>
            </a:defPPr>
          </a:lstStyle>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physics tasks require predictions beyond the supplied observations.</a:t>
            </a:r>
          </a:p>
          <a:p xmlns:a="http://schemas.openxmlformats.org/drawingml/2006/main">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General and physics hints test what guidance helps agents succeed.</a:t>
            </a:r>
          </a:p>
        </p:txBody>
      </p:sp>
      <p:sp>
        <p:nvSpPr>
          <p:cNvPr id="9" name="Rectangle 8">
            <a:extLst xmlns:a="http://schemas.openxmlformats.org/drawingml/2006/main">
              <a:ext uri="{FF2B5EF4-FFF2-40B4-BE49-F238E27FC236}">
                <a16:creationId xmlns:a16="http://schemas.microsoft.com/office/drawing/2014/main" id="{1355ACDC-5475-4330-937A-52DCD24B330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A1D93F41-C257-4C97-81AC-53D8D3F98DD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xmlns:a="http://schemas.openxmlformats.org/drawingml/2006/main">
              <a:ext uri="{FF2B5EF4-FFF2-40B4-BE49-F238E27FC236}">
                <a16:creationId xmlns:a16="http://schemas.microsoft.com/office/drawing/2014/main" id="{B2662629-35F5-4EF9-AC84-78AB4DCFFF2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xmlns:a="http://schemas.openxmlformats.org/drawingml/2006/main">
              <a:ext uri="{FF2B5EF4-FFF2-40B4-BE49-F238E27FC236}">
                <a16:creationId xmlns:a16="http://schemas.microsoft.com/office/drawing/2014/main" id="{B72C789D-5DDF-4D29-8C76-5B173C9E8F4F}"/>
              </a:ext>
            </a:extLst>
          </p:cNvPr>
          <p:cNvSpPr>
            <a:spLocks xmlns:a="http://schemas.openxmlformats.org/drawingml/2006/main" noGrp="1"/>
          </p:cNvSpPr>
          <p:nvPr/>
        </p:nvSpPr>
        <p:spPr>
          <a:xfrm xmlns:a="http://schemas.openxmlformats.org/drawingml/2006/main">
            <a:off x="457200" y="15811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xmlns:a="http://schemas.openxmlformats.org/drawingml/2006/main">
              <a:ext uri="{FF2B5EF4-FFF2-40B4-BE49-F238E27FC236}">
                <a16:creationId xmlns:a16="http://schemas.microsoft.com/office/drawing/2014/main" id="{FA3A07CF-D11F-4622-856C-3CBFF16C57ED}"/>
              </a:ext>
            </a:extLst>
          </p:cNvPr>
          <p:cNvSpPr>
            <a:spLocks xmlns:a="http://schemas.openxmlformats.org/drawingml/2006/main" noGrp="1"/>
          </p:cNvSpPr>
          <p:nvPr/>
        </p:nvSpPr>
        <p:spPr>
          <a:xfrm xmlns:a="http://schemas.openxmlformats.org/drawingml/2006/main">
            <a:off x="457200" y="20288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3FFFF243-D917-44D5-8B4E-AEF19A84DF20}"/>
              </a:ext>
            </a:extLst>
          </p:cNvPr>
          <p:cNvSpPr>
            <a:spLocks xmlns:a="http://schemas.openxmlformats.org/drawingml/2006/main" noGrp="1"/>
          </p:cNvSpPr>
          <p:nvPr/>
        </p:nvSpPr>
        <p:spPr>
          <a:xfrm xmlns:a="http://schemas.openxmlformats.org/drawingml/2006/main">
            <a:off x="457200" y="25812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59B9F311-4DE1-41F4-91EE-D1DF06E54FB0}"/>
              </a:ext>
            </a:extLst>
          </p:cNvPr>
          <p:cNvSpPr>
            <a:spLocks xmlns:a="http://schemas.openxmlformats.org/drawingml/2006/main" noGrp="1"/>
          </p:cNvSpPr>
          <p:nvPr/>
        </p:nvSpPr>
        <p:spPr>
          <a:xfrm xmlns:a="http://schemas.openxmlformats.org/drawingml/2006/main">
            <a:off x="7810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F9DA28F5-23D0-4E5A-9759-20015A1D1595}"/>
              </a:ext>
            </a:extLst>
          </p:cNvPr>
          <p:cNvSpPr>
            <a:spLocks xmlns:a="http://schemas.openxmlformats.org/drawingml/2006/main" noGrp="1"/>
          </p:cNvSpPr>
          <p:nvPr/>
        </p:nvSpPr>
        <p:spPr>
          <a:xfrm xmlns:a="http://schemas.openxmlformats.org/drawingml/2006/main">
            <a:off x="15049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8379ECC2-76F0-4C85-9EF5-7010AC3D1101}"/>
              </a:ext>
            </a:extLst>
          </p:cNvPr>
          <p:cNvSpPr>
            <a:spLocks xmlns:a="http://schemas.openxmlformats.org/drawingml/2006/main" noGrp="1"/>
          </p:cNvSpPr>
          <p:nvPr/>
        </p:nvSpPr>
        <p:spPr>
          <a:xfrm xmlns:a="http://schemas.openxmlformats.org/drawingml/2006/main">
            <a:off x="2228850" y="21431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91A5650-9AC4-4DF2-B05B-863C0529C40E}"/>
              </a:ext>
            </a:extLst>
          </p:cNvPr>
          <p:cNvSpPr>
            <a:spLocks xmlns:a="http://schemas.openxmlformats.org/drawingml/2006/main" noGrp="1"/>
          </p:cNvSpPr>
          <p:nvPr/>
        </p:nvSpPr>
        <p:spPr>
          <a:xfrm xmlns:a="http://schemas.openxmlformats.org/drawingml/2006/main">
            <a:off x="29527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6EFEFD0B-10C8-4188-9C17-3FE386921650}"/>
              </a:ext>
            </a:extLst>
          </p:cNvPr>
          <p:cNvSpPr>
            <a:spLocks xmlns:a="http://schemas.openxmlformats.org/drawingml/2006/main" noGrp="1"/>
          </p:cNvSpPr>
          <p:nvPr/>
        </p:nvSpPr>
        <p:spPr>
          <a:xfrm xmlns:a="http://schemas.openxmlformats.org/drawingml/2006/main">
            <a:off x="36766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46B65E69-0398-4FD5-AF8C-50BF819D9F03}"/>
              </a:ext>
            </a:extLst>
          </p:cNvPr>
          <p:cNvSpPr>
            <a:spLocks xmlns:a="http://schemas.openxmlformats.org/drawingml/2006/main" noGrp="1"/>
          </p:cNvSpPr>
          <p:nvPr/>
        </p:nvSpPr>
        <p:spPr>
          <a:xfrm xmlns:a="http://schemas.openxmlformats.org/drawingml/2006/main">
            <a:off x="4400550" y="21431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2446B-75BD-490E-9F28-ECBCD9ADBFC6}"/>
              </a:ext>
            </a:extLst>
          </p:cNvPr>
          <p:cNvSpPr>
            <a:spLocks xmlns:a="http://schemas.openxmlformats.org/drawingml/2006/main" noGrp="1"/>
          </p:cNvSpPr>
          <p:nvPr/>
        </p:nvSpPr>
        <p:spPr>
          <a:xfrm xmlns:a="http://schemas.openxmlformats.org/drawingml/2006/main">
            <a:off x="457200" y="29527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xmlns:a="http://schemas.openxmlformats.org/drawingml/2006/main">
              <a:ext uri="{FF2B5EF4-FFF2-40B4-BE49-F238E27FC236}">
                <a16:creationId xmlns:a16="http://schemas.microsoft.com/office/drawing/2014/main" id="{BAEFBBF5-E411-4F81-AF0F-D0CEC8B70CD1}"/>
              </a:ext>
            </a:extLst>
          </p:cNvPr>
          <p:cNvSpPr>
            <a:spLocks xmlns:a="http://schemas.openxmlformats.org/drawingml/2006/main" noGrp="1"/>
          </p:cNvSpPr>
          <p:nvPr/>
        </p:nvSpPr>
        <p:spPr>
          <a:xfrm xmlns:a="http://schemas.openxmlformats.org/drawingml/2006/main">
            <a:off x="457200" y="34004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615AB876-010E-4283-9E21-EC397A4697F6}"/>
              </a:ext>
            </a:extLst>
          </p:cNvPr>
          <p:cNvSpPr>
            <a:spLocks xmlns:a="http://schemas.openxmlformats.org/drawingml/2006/main" noGrp="1"/>
          </p:cNvSpPr>
          <p:nvPr/>
        </p:nvSpPr>
        <p:spPr>
          <a:xfrm xmlns:a="http://schemas.openxmlformats.org/drawingml/2006/main">
            <a:off x="457200" y="39528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E5A1B225-F3FF-4D9C-92D7-E40F1D5BCBCE}"/>
              </a:ext>
            </a:extLst>
          </p:cNvPr>
          <p:cNvSpPr>
            <a:spLocks xmlns:a="http://schemas.openxmlformats.org/drawingml/2006/main" noGrp="1"/>
          </p:cNvSpPr>
          <p:nvPr/>
        </p:nvSpPr>
        <p:spPr>
          <a:xfrm xmlns:a="http://schemas.openxmlformats.org/drawingml/2006/main">
            <a:off x="70485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9948075C-7CCB-41F8-BCA4-97DF2FD1515A}"/>
              </a:ext>
            </a:extLst>
          </p:cNvPr>
          <p:cNvSpPr>
            <a:spLocks xmlns:a="http://schemas.openxmlformats.org/drawingml/2006/main" noGrp="1"/>
          </p:cNvSpPr>
          <p:nvPr/>
        </p:nvSpPr>
        <p:spPr>
          <a:xfrm xmlns:a="http://schemas.openxmlformats.org/drawingml/2006/main">
            <a:off x="14097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B2F9B45D-0B24-4E86-BF50-D65EB69518C0}"/>
              </a:ext>
            </a:extLst>
          </p:cNvPr>
          <p:cNvSpPr>
            <a:spLocks xmlns:a="http://schemas.openxmlformats.org/drawingml/2006/main" noGrp="1"/>
          </p:cNvSpPr>
          <p:nvPr/>
        </p:nvSpPr>
        <p:spPr>
          <a:xfrm xmlns:a="http://schemas.openxmlformats.org/drawingml/2006/main">
            <a:off x="2609850" y="35147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AB1C0CEC-6762-440A-975C-D63168A89042}"/>
              </a:ext>
            </a:extLst>
          </p:cNvPr>
          <p:cNvSpPr>
            <a:spLocks xmlns:a="http://schemas.openxmlformats.org/drawingml/2006/main" noGrp="1"/>
          </p:cNvSpPr>
          <p:nvPr/>
        </p:nvSpPr>
        <p:spPr>
          <a:xfrm xmlns:a="http://schemas.openxmlformats.org/drawingml/2006/main">
            <a:off x="3152775"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B5AF0FC4-C53E-4C4D-9C04-31EC3AAB1406}"/>
              </a:ext>
            </a:extLst>
          </p:cNvPr>
          <p:cNvSpPr>
            <a:spLocks xmlns:a="http://schemas.openxmlformats.org/drawingml/2006/main" noGrp="1"/>
          </p:cNvSpPr>
          <p:nvPr/>
        </p:nvSpPr>
        <p:spPr>
          <a:xfrm xmlns:a="http://schemas.openxmlformats.org/drawingml/2006/main">
            <a:off x="38862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B7E8D58-BDFF-479A-95C7-EE542F9EE661}"/>
              </a:ext>
            </a:extLst>
          </p:cNvPr>
          <p:cNvSpPr>
            <a:spLocks xmlns:a="http://schemas.openxmlformats.org/drawingml/2006/main" noGrp="1"/>
          </p:cNvSpPr>
          <p:nvPr/>
        </p:nvSpPr>
        <p:spPr>
          <a:xfrm xmlns:a="http://schemas.openxmlformats.org/drawingml/2006/main">
            <a:off x="4610100" y="35147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CB0DDB6-D1AC-4C59-B68F-A6C8C1B7503D}"/>
              </a:ext>
            </a:extLst>
          </p:cNvPr>
          <p:cNvSpPr>
            <a:spLocks xmlns:a="http://schemas.openxmlformats.org/drawingml/2006/main" noGrp="1"/>
          </p:cNvSpPr>
          <p:nvPr/>
        </p:nvSpPr>
        <p:spPr>
          <a:xfrm xmlns:a="http://schemas.openxmlformats.org/drawingml/2006/main">
            <a:off x="457200" y="4324350"/>
            <a:ext cx="5029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xmlns:a="http://schemas.openxmlformats.org/drawingml/2006/main">
              <a:ext uri="{FF2B5EF4-FFF2-40B4-BE49-F238E27FC236}">
                <a16:creationId xmlns:a16="http://schemas.microsoft.com/office/drawing/2014/main" id="{962474D2-BD75-4462-A708-B5E038509DA5}"/>
              </a:ext>
            </a:extLst>
          </p:cNvPr>
          <p:cNvSpPr>
            <a:spLocks xmlns:a="http://schemas.openxmlformats.org/drawingml/2006/main" noGrp="1"/>
          </p:cNvSpPr>
          <p:nvPr/>
        </p:nvSpPr>
        <p:spPr>
          <a:xfrm xmlns:a="http://schemas.openxmlformats.org/drawingml/2006/main">
            <a:off x="457200" y="477202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A804FFB7-A505-4837-8A32-F2BC99ABA718}"/>
              </a:ext>
            </a:extLst>
          </p:cNvPr>
          <p:cNvSpPr>
            <a:spLocks xmlns:a="http://schemas.openxmlformats.org/drawingml/2006/main" noGrp="1"/>
          </p:cNvSpPr>
          <p:nvPr/>
        </p:nvSpPr>
        <p:spPr>
          <a:xfrm xmlns:a="http://schemas.openxmlformats.org/drawingml/2006/main">
            <a:off x="457200" y="5324475"/>
            <a:ext cx="5029200"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037F2927-4412-4402-945B-33194FE24E4C}"/>
              </a:ext>
            </a:extLst>
          </p:cNvPr>
          <p:cNvSpPr>
            <a:spLocks xmlns:a="http://schemas.openxmlformats.org/drawingml/2006/main" noGrp="1"/>
          </p:cNvSpPr>
          <p:nvPr/>
        </p:nvSpPr>
        <p:spPr>
          <a:xfrm xmlns:a="http://schemas.openxmlformats.org/drawingml/2006/main">
            <a:off x="619125"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68FBC403-934E-41E5-8C80-DE9DF183B5C5}"/>
              </a:ext>
            </a:extLst>
          </p:cNvPr>
          <p:cNvSpPr>
            <a:spLocks xmlns:a="http://schemas.openxmlformats.org/drawingml/2006/main" noGrp="1"/>
          </p:cNvSpPr>
          <p:nvPr/>
        </p:nvSpPr>
        <p:spPr>
          <a:xfrm xmlns:a="http://schemas.openxmlformats.org/drawingml/2006/main">
            <a:off x="12001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27E83168-75AC-4659-94BB-0865496E2000}"/>
              </a:ext>
            </a:extLst>
          </p:cNvPr>
          <p:cNvSpPr>
            <a:spLocks xmlns:a="http://schemas.openxmlformats.org/drawingml/2006/main" noGrp="1"/>
          </p:cNvSpPr>
          <p:nvPr/>
        </p:nvSpPr>
        <p:spPr>
          <a:xfrm xmlns:a="http://schemas.openxmlformats.org/drawingml/2006/main">
            <a:off x="2914650" y="4886325"/>
            <a:ext cx="323850" cy="32385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CCCC262F-3302-46A0-A01C-D4B3F8159971}"/>
              </a:ext>
            </a:extLst>
          </p:cNvPr>
          <p:cNvSpPr>
            <a:spLocks xmlns:a="http://schemas.openxmlformats.org/drawingml/2006/main" noGrp="1"/>
          </p:cNvSpPr>
          <p:nvPr/>
        </p:nvSpPr>
        <p:spPr>
          <a:xfrm xmlns:a="http://schemas.openxmlformats.org/drawingml/2006/main">
            <a:off x="346710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265E5809-D44E-48C4-B81F-908AF9B8EC90}"/>
              </a:ext>
            </a:extLst>
          </p:cNvPr>
          <p:cNvSpPr>
            <a:spLocks xmlns:a="http://schemas.openxmlformats.org/drawingml/2006/main" noGrp="1"/>
          </p:cNvSpPr>
          <p:nvPr/>
        </p:nvSpPr>
        <p:spPr>
          <a:xfrm xmlns:a="http://schemas.openxmlformats.org/drawingml/2006/main">
            <a:off x="40195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03EC835C-09E3-4CCA-AA9E-5F5E94C3BE48}"/>
              </a:ext>
            </a:extLst>
          </p:cNvPr>
          <p:cNvSpPr>
            <a:spLocks xmlns:a="http://schemas.openxmlformats.org/drawingml/2006/main" noGrp="1"/>
          </p:cNvSpPr>
          <p:nvPr/>
        </p:nvSpPr>
        <p:spPr>
          <a:xfrm xmlns:a="http://schemas.openxmlformats.org/drawingml/2006/main">
            <a:off x="4667250" y="4886325"/>
            <a:ext cx="323850" cy="32385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80CC5B1B-DE91-4841-A5BF-721EB21691BD}"/>
              </a:ext>
            </a:extLst>
          </p:cNvPr>
          <p:cNvSpPr>
            <a:spLocks xmlns:a="http://schemas.openxmlformats.org/drawingml/2006/main" noGrp="1"/>
          </p:cNvSpPr>
          <p:nvPr/>
        </p:nvSpPr>
        <p:spPr>
          <a:xfrm xmlns:a="http://schemas.openxmlformats.org/drawingml/2006/main">
            <a:off x="6286500" y="15811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xmlns:a="http://schemas.openxmlformats.org/drawingml/2006/main">
              <a:ext uri="{FF2B5EF4-FFF2-40B4-BE49-F238E27FC236}">
                <a16:creationId xmlns:a16="http://schemas.microsoft.com/office/drawing/2014/main" id="{05DCB7A6-18B5-424E-94B8-11149F2A1D49}"/>
              </a:ext>
            </a:extLst>
          </p:cNvPr>
          <p:cNvSpPr>
            <a:spLocks xmlns:a="http://schemas.openxmlformats.org/drawingml/2006/main" noGrp="1"/>
          </p:cNvSpPr>
          <p:nvPr/>
        </p:nvSpPr>
        <p:spPr>
          <a:xfrm xmlns:a="http://schemas.openxmlformats.org/drawingml/2006/main">
            <a:off x="6286500" y="20574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xmlns:a="http://schemas.openxmlformats.org/drawingml/2006/main">
              <a:ext uri="{FF2B5EF4-FFF2-40B4-BE49-F238E27FC236}">
                <a16:creationId xmlns:a16="http://schemas.microsoft.com/office/drawing/2014/main" id="{B0EA5148-8AD1-4370-B501-B24753F88571}"/>
              </a:ext>
            </a:extLst>
          </p:cNvPr>
          <p:cNvSpPr>
            <a:spLocks xmlns:a="http://schemas.openxmlformats.org/drawingml/2006/main" noGrp="1"/>
          </p:cNvSpPr>
          <p:nvPr/>
        </p:nvSpPr>
        <p:spPr>
          <a:xfrm xmlns:a="http://schemas.openxmlformats.org/drawingml/2006/main">
            <a:off x="6286500" y="32956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D4E89"/>
                </a:solidFill>
                <a:latin typeface="Times New Roman"/>
                <a:ea typeface="Times New Roman"/>
                <a:cs typeface="Times New Roman"/>
              </a:defRPr>
            </a:defPPr>
          </a:lstStyle>
          <a:p xmlns:a="http://schemas.openxmlformats.org/drawingml/2006/main">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xmlns:a="http://schemas.openxmlformats.org/drawingml/2006/main">
              <a:ext uri="{FF2B5EF4-FFF2-40B4-BE49-F238E27FC236}">
                <a16:creationId xmlns:a16="http://schemas.microsoft.com/office/drawing/2014/main" id="{C4209CE6-ACBA-4CB8-BAB6-2D1338E3E0D0}"/>
              </a:ext>
            </a:extLst>
          </p:cNvPr>
          <p:cNvSpPr>
            <a:spLocks xmlns:a="http://schemas.openxmlformats.org/drawingml/2006/main" noGrp="1"/>
          </p:cNvSpPr>
          <p:nvPr/>
        </p:nvSpPr>
        <p:spPr>
          <a:xfrm xmlns:a="http://schemas.openxmlformats.org/drawingml/2006/main">
            <a:off x="6286500" y="3771900"/>
            <a:ext cx="5448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p>
        </p:txBody>
      </p:sp>
      <p:sp>
        <p:nvSpPr>
          <p:cNvPr id="35" name="Rectangle 34">
            <a:extLst xmlns:a="http://schemas.openxmlformats.org/drawingml/2006/main">
              <a:ext uri="{FF2B5EF4-FFF2-40B4-BE49-F238E27FC236}">
                <a16:creationId xmlns:a16="http://schemas.microsoft.com/office/drawing/2014/main" id="{87E47CA0-617F-4DEA-BF6A-8B00F933ADEB}"/>
              </a:ext>
            </a:extLst>
          </p:cNvPr>
          <p:cNvSpPr>
            <a:spLocks xmlns:a="http://schemas.openxmlformats.org/drawingml/2006/main" noGrp="1"/>
          </p:cNvSpPr>
          <p:nvPr/>
        </p:nvSpPr>
        <p:spPr>
          <a:xfrm xmlns:a="http://schemas.openxmlformats.org/drawingml/2006/main">
            <a:off x="6286500" y="4895850"/>
            <a:ext cx="5448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xmlns:a="http://schemas.openxmlformats.org/drawingml/2006/main">
              <a:ext uri="{FF2B5EF4-FFF2-40B4-BE49-F238E27FC236}">
                <a16:creationId xmlns:a16="http://schemas.microsoft.com/office/drawing/2014/main" id="{0E992A19-E518-4A04-BDBE-E9742D222B5F}"/>
              </a:ext>
            </a:extLst>
          </p:cNvPr>
          <p:cNvSpPr>
            <a:spLocks xmlns:a="http://schemas.openxmlformats.org/drawingml/2006/main" noGrp="1"/>
          </p:cNvSpPr>
          <p:nvPr/>
        </p:nvSpPr>
        <p:spPr>
          <a:xfrm xmlns:a="http://schemas.openxmlformats.org/drawingml/2006/main">
            <a:off x="6286500" y="5324475"/>
            <a:ext cx="5448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111111"/>
                </a:solidFill>
                <a:latin typeface="Times New Roman"/>
                <a:ea typeface="Times New Roman"/>
                <a:cs typeface="Times New Roman"/>
              </a:defRPr>
            </a:defPPr>
          </a:lstStyle>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xmlns:a="http://schemas.openxmlformats.org/drawingml/2006/main">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8" name="Rectangle 37">
            <a:extLst xmlns:a="http://schemas.openxmlformats.org/drawingml/2006/main">
              <a:ext uri="{FF2B5EF4-FFF2-40B4-BE49-F238E27FC236}">
                <a16:creationId xmlns:a16="http://schemas.microsoft.com/office/drawing/2014/main" id="{B5B2BFD1-9BD4-4B2A-804C-23D72BA3EF86}"/>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A2E055D0-CB93-4BD7-8C34-D05A390641C9}"/>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xmlns:a="http://schemas.openxmlformats.org/drawingml/2006/main">
              <a:ext uri="{FF2B5EF4-FFF2-40B4-BE49-F238E27FC236}">
                <a16:creationId xmlns:a16="http://schemas.microsoft.com/office/drawing/2014/main" id="{E3A2D2EB-BD64-42F5-A6A8-12EA53CBC6E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xmlns:a="http://schemas.openxmlformats.org/drawingml/2006/main">
              <a:ext uri="{FF2B5EF4-FFF2-40B4-BE49-F238E27FC236}">
                <a16:creationId xmlns:a16="http://schemas.microsoft.com/office/drawing/2014/main" id="{D0F909E9-4436-4CE3-A8FE-5A038EB305DD}"/>
              </a:ext>
            </a:extLst>
          </p:cNvPr>
          <p:cNvGraphicFramePr/>
          <p:nvPr/>
        </p:nvGraphicFramePr>
        <p:xfrm>
          <a:off xmlns:a="http://schemas.openxmlformats.org/drawingml/2006/main" x="457200" y="1571625"/>
          <a:ext xmlns:a="http://schemas.openxmlformats.org/drawingml/2006/main" cx="11277600" cy="2967990"/>
        </p:xfrm>
        <a:graphic xmlns:a="http://schemas.openxmlformats.org/drawingml/2006/main">
          <a:graphicData uri="http://schemas.openxmlformats.org/drawingml/2006/table">
            <a:tbl>
              <a:tblPr/>
              <a:tblGrid>
                <a:gridCol w="2247900"/>
                <a:gridCol w="9029700"/>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a:t>
                      </a:r>
                      <a:r>
                        <a:rPr sz="2025" b="0">
                          <a:solidFill>
                            <a:srgbClr val="111111"/>
                          </a:solidFill>
                          <a:latin typeface="Times New Roman"/>
                          <a:ea typeface="Times New Roman"/>
                          <a:cs typeface="Times New Roman"/>
                        </a:rPr>
                        <a:t>correlated</a:t>
                      </a:r>
                      <a:r>
                        <a:rPr sz="2025" b="0">
                          <a:solidFill>
                            <a:srgbClr val="111111"/>
                          </a:solidFill>
                          <a:latin typeface="Times New Roman"/>
                          <a:ea typeface="Times New Roman"/>
                          <a:cs typeface="Times New Roman"/>
                        </a:rPr>
                        <a:t>. </a:t>
                      </a:r>
                      <a:r>
                        <a:rPr sz="2025" b="0">
                          <a:solidFill>
                            <a:srgbClr val="111111"/>
                          </a:solidFill>
                          <a:latin typeface="Times New Roman"/>
                          <a:ea typeface="Times New Roman"/>
                          <a:cs typeface="Times New Roman"/>
                        </a:rPr>
                        <a:t>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r>
            </a:tbl>
          </a:graphicData>
        </a:graphic>
      </p:graphicFrame>
      <p:sp>
        <p:nvSpPr>
          <p:cNvPr id="4" name="Rectangle 3">
            <a:extLst xmlns:a="http://schemas.openxmlformats.org/drawingml/2006/main">
              <a:ext uri="{FF2B5EF4-FFF2-40B4-BE49-F238E27FC236}">
                <a16:creationId xmlns:a16="http://schemas.microsoft.com/office/drawing/2014/main" id="{76C76A53-DEEC-454A-9753-1C69F3526FBC}"/>
              </a:ext>
            </a:extLst>
          </p:cNvPr>
          <p:cNvSpPr>
            <a:spLocks xmlns:a="http://schemas.openxmlformats.org/drawingml/2006/main" noGrp="1"/>
          </p:cNvSpPr>
          <p:nvPr/>
        </p:nvSpPr>
        <p:spPr>
          <a:xfrm xmlns:a="http://schemas.openxmlformats.org/drawingml/2006/main">
            <a:off x="457200" y="4810125"/>
            <a:ext cx="11277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11111"/>
                </a:solidFill>
                <a:latin typeface="Times New Roman"/>
                <a:ea typeface="Times New Roman"/>
                <a:cs typeface="Times New Roman"/>
              </a:defRPr>
            </a:defPPr>
          </a:lstStyle>
          <a:p xmlns:a="http://schemas.openxmlformats.org/drawingml/2006/main">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xmlns:a="http://schemas.openxmlformats.org/drawingml/2006/main">
              <a:ext uri="{FF2B5EF4-FFF2-40B4-BE49-F238E27FC236}">
                <a16:creationId xmlns:a16="http://schemas.microsoft.com/office/drawing/2014/main" id="{9BB0283D-1D38-4884-B8B4-61E3727BC95D}"/>
              </a:ext>
            </a:extLst>
          </p:cNvPr>
          <p:cNvSpPr>
            <a:spLocks xmlns:a="http://schemas.openxmlformats.org/drawingml/2006/main" noGrp="1"/>
          </p:cNvSpPr>
          <p:nvPr/>
        </p:nvSpPr>
        <p:spPr>
          <a:xfrm xmlns:a="http://schemas.openxmlformats.org/drawingml/2006/main">
            <a:off x="457200" y="531495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7" name="Rectangle 6">
            <a:extLst xmlns:a="http://schemas.openxmlformats.org/drawingml/2006/main">
              <a:ext uri="{FF2B5EF4-FFF2-40B4-BE49-F238E27FC236}">
                <a16:creationId xmlns:a16="http://schemas.microsoft.com/office/drawing/2014/main" id="{6F7B7D6A-AEA7-4431-AB33-4CEEE44EF934}"/>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B27324F2-5B2D-40B0-A9C9-E6CD9418AB7A}"/>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xmlns:a="http://schemas.openxmlformats.org/drawingml/2006/main">
              <a:ext uri="{FF2B5EF4-FFF2-40B4-BE49-F238E27FC236}">
                <a16:creationId xmlns:a16="http://schemas.microsoft.com/office/drawing/2014/main" id="{B54B4D67-E035-47EF-9E0D-E9E7105557A7}"/>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A pass requires completion within the time limit and all grading checks.</a:t>
            </a:r>
          </a:p>
        </p:txBody>
      </p:sp>
      <p:sp>
        <p:nvSpPr>
          <p:cNvPr id="3" name="Rectangle 2">
            <a:extLst xmlns:a="http://schemas.openxmlformats.org/drawingml/2006/main">
              <a:ext uri="{FF2B5EF4-FFF2-40B4-BE49-F238E27FC236}">
                <a16:creationId xmlns:a16="http://schemas.microsoft.com/office/drawing/2014/main" id="{4625F7E8-2DA2-4C40-B871-DB3AA8D209F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xmlns:a="http://schemas.openxmlformats.org/drawingml/2006/main">
              <a:ext uri="{FF2B5EF4-FFF2-40B4-BE49-F238E27FC236}">
                <a16:creationId xmlns:a16="http://schemas.microsoft.com/office/drawing/2014/main" id="{09BBEA9D-48FA-4DF6-A531-B775C1C1F6D6}"/>
              </a:ext>
            </a:extLst>
          </p:cNvPr>
          <p:cNvGraphicFramePr/>
          <p:nvPr/>
        </p:nvGraphicFramePr>
        <p:xfrm>
          <a:off xmlns:a="http://schemas.openxmlformats.org/drawingml/2006/main" x="457200" y="1504950"/>
          <a:ext xmlns:a="http://schemas.openxmlformats.org/drawingml/2006/main" cx="11277600" cy="3962400"/>
        </p:xfrm>
        <a:graphic xmlns:a="http://schemas.openxmlformats.org/drawingml/2006/main">
          <a:graphicData uri="http://schemas.openxmlformats.org/drawingml/2006/table">
            <a:tbl>
              <a:tblPr/>
              <a:tblGrid>
                <a:gridCol w="2428875"/>
                <a:gridCol w="3238500"/>
                <a:gridCol w="2809875"/>
                <a:gridCol w="952500"/>
                <a:gridCol w="1847850"/>
              </a:tblGrid>
              <a:tr h="495300">
                <a:tc>
                  <a:txBody>
                    <a:bodyPr/>
                    <a:lstStyle/>
                    <a:p>
                      <a:r>
                        <a:rPr sz="1725" b="1">
                          <a:solidFill>
                            <a:srgbClr val="FFFFFF"/>
                          </a:solidFill>
                          <a:latin typeface="Times New Roman"/>
                          <a:ea typeface="Times New Roman"/>
                          <a:cs typeface="Times New Roman"/>
                        </a:rPr>
                        <a:t>Model</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495300">
                <a:tc>
                  <a:txBody>
                    <a:bodyPr/>
                    <a:lstStyle/>
                    <a:p>
                      <a:r>
                        <a:rPr sz="1725" b="0">
                          <a:solidFill>
                            <a:srgbClr val="111111"/>
                          </a:solidFill>
                          <a:latin typeface="Times New Roman"/>
                          <a:ea typeface="Times New Roman"/>
                          <a:cs typeface="Times New Roman"/>
                        </a:rPr>
                        <a:t>GPT-5.6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GPT-5.6 Terra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GPT-5.6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Luna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GPT-6 Sol</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495300">
                <a:tc>
                  <a:txBody>
                    <a:bodyPr/>
                    <a:lstStyle/>
                    <a:p>
                      <a:r>
                        <a:rPr sz="1725" b="0">
                          <a:solidFill>
                            <a:srgbClr val="111111"/>
                          </a:solidFill>
                          <a:latin typeface="Times New Roman"/>
                          <a:ea typeface="Times New Roman"/>
                          <a:cs typeface="Times New Roman"/>
                        </a:rPr>
                        <a:t>GPT-6 Astra</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495300">
                <a:tc>
                  <a:txBody>
                    <a:bodyPr/>
                    <a:lstStyle/>
                    <a:p>
                      <a:r>
                        <a:rPr sz="1725" b="0">
                          <a:solidFill>
                            <a:srgbClr val="111111"/>
                          </a:solidFill>
                          <a:latin typeface="Times New Roman"/>
                          <a:ea typeface="Times New Roman"/>
                          <a:cs typeface="Times New Roman"/>
                        </a:rPr>
                        <a:t>DeepSeek V4.1 Flash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bl>
          </a:graphicData>
        </a:graphic>
      </p:graphicFrame>
      <p:sp>
        <p:nvSpPr>
          <p:cNvPr id="5" name="Rectangle 4">
            <a:extLst xmlns:a="http://schemas.openxmlformats.org/drawingml/2006/main">
              <a:ext uri="{FF2B5EF4-FFF2-40B4-BE49-F238E27FC236}">
                <a16:creationId xmlns:a16="http://schemas.microsoft.com/office/drawing/2014/main" id="{81B102D8-C580-4666-BE72-0F06D59D92F7}"/>
              </a:ext>
            </a:extLst>
          </p:cNvPr>
          <p:cNvSpPr>
            <a:spLocks xmlns:a="http://schemas.openxmlformats.org/drawingml/2006/main" noGrp="1"/>
          </p:cNvSpPr>
          <p:nvPr/>
        </p:nvSpPr>
        <p:spPr>
          <a:xfrm xmlns:a="http://schemas.openxmlformats.org/drawingml/2006/main">
            <a:off x="457200" y="56197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model, effort and hint settings.</a:t>
            </a:r>
          </a:p>
        </p:txBody>
      </p:sp>
      <p:sp>
        <p:nvSpPr>
          <p:cNvPr id="6" name="Rectangle 5">
            <a:extLst xmlns:a="http://schemas.openxmlformats.org/drawingml/2006/main">
              <a:ext uri="{FF2B5EF4-FFF2-40B4-BE49-F238E27FC236}">
                <a16:creationId xmlns:a16="http://schemas.microsoft.com/office/drawing/2014/main" id="{B6BD40B8-157E-475B-A1A6-73A9D3808EE9}"/>
              </a:ext>
            </a:extLst>
          </p:cNvPr>
          <p:cNvSpPr>
            <a:spLocks xmlns:a="http://schemas.openxmlformats.org/drawingml/2006/main" noGrp="1"/>
          </p:cNvSpPr>
          <p:nvPr/>
        </p:nvSpPr>
        <p:spPr>
          <a:xfrm xmlns:a="http://schemas.openxmlformats.org/drawingml/2006/main">
            <a:off x="457200" y="6048375"/>
            <a:ext cx="1127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Harbor with Codex agents. Time limits: 600 s for solving and 60 s for grading.</a:t>
            </a:r>
          </a:p>
        </p:txBody>
      </p:sp>
    </p:spTree>
    <p:extLst>
      <p:ext uri="{BB962C8B-B14F-4D97-AF65-F5344CB8AC3E}">
        <p14:creationId xmlns:p14="http://schemas.microsoft.com/office/powerpoint/2010/main" val="11041282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275362C3-E16C-40AA-A029-16633B943820}"/>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xmlns:a="http://schemas.openxmlformats.org/drawingml/2006/main">
              <a:ext uri="{FF2B5EF4-FFF2-40B4-BE49-F238E27FC236}">
                <a16:creationId xmlns:a16="http://schemas.microsoft.com/office/drawing/2014/main" id="{2C5B2D1A-7360-4324-ACFF-A9BC0F3B6241}"/>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19 settings with complete costs. The dashed line marks the observed Pareto frontier.</a:t>
            </a:r>
          </a:p>
        </p:txBody>
      </p:sp>
      <p:sp>
        <p:nvSpPr>
          <p:cNvPr id="3" name="Rectangle 2">
            <a:extLst xmlns:a="http://schemas.openxmlformats.org/drawingml/2006/main">
              <a:ext uri="{FF2B5EF4-FFF2-40B4-BE49-F238E27FC236}">
                <a16:creationId xmlns:a16="http://schemas.microsoft.com/office/drawing/2014/main" id="{2F1DD0E5-D745-4C1A-B0A4-70599B6D8BAC}"/>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4" name="Picture 3">
            <a:extLst xmlns:a="http://schemas.openxmlformats.org/drawingml/2006/main">
              <a:ext uri="{FF2B5EF4-FFF2-40B4-BE49-F238E27FC236}">
                <a16:creationId xmlns:a16="http://schemas.microsoft.com/office/drawing/2014/main" id="{4A2FF536-F60E-43E9-A2E9-7A03BB907F83}"/>
              </a:ext>
            </a:extLst>
          </p:cNvPr>
          <p:cNvPicPr>
            <a:picLocks xmlns:a="http://schemas.openxmlformats.org/drawingml/2006/main" noChangeAspect="1"/>
          </p:cNvPicPr>
          <p:nvPr/>
        </p:nvPicPr>
        <p:blipFill>
          <a:blip xmlns:r="http://schemas.openxmlformats.org/officeDocument/2006/relationships" xmlns:a="http://schemas.openxmlformats.org/drawingml/2006/main" r:embed="R293bbe6a51ff419d"/>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Tree>
    <p:extLst>
      <p:ext uri="{BB962C8B-B14F-4D97-AF65-F5344CB8AC3E}">
        <p14:creationId xmlns:p14="http://schemas.microsoft.com/office/powerpoint/2010/main" val="5612252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C26DFC98-4EEA-4DBF-B935-A165B973D315}"/>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xmlns:a="http://schemas.openxmlformats.org/drawingml/2006/main">
              <a:ext uri="{FF2B5EF4-FFF2-40B4-BE49-F238E27FC236}">
                <a16:creationId xmlns:a16="http://schemas.microsoft.com/office/drawing/2014/main" id="{623779AE-31B5-450E-B7C2-137A836D3766}"/>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22 settings with complete costs, compared across the three prompt conditions.</a:t>
            </a:r>
          </a:p>
        </p:txBody>
      </p:sp>
      <p:sp>
        <p:nvSpPr>
          <p:cNvPr id="3" name="Rectangle 2">
            <a:extLst xmlns:a="http://schemas.openxmlformats.org/drawingml/2006/main">
              <a:ext uri="{FF2B5EF4-FFF2-40B4-BE49-F238E27FC236}">
                <a16:creationId xmlns:a16="http://schemas.microsoft.com/office/drawing/2014/main" id="{5F85D8CF-06FA-4496-858C-F58EF7172157}"/>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4" name="Picture 3">
            <a:extLst xmlns:a="http://schemas.openxmlformats.org/drawingml/2006/main">
              <a:ext uri="{FF2B5EF4-FFF2-40B4-BE49-F238E27FC236}">
                <a16:creationId xmlns:a16="http://schemas.microsoft.com/office/drawing/2014/main" id="{9BAE2CBC-E2B2-48F0-83B3-54383C157D38}"/>
              </a:ext>
            </a:extLst>
          </p:cNvPr>
          <p:cNvPicPr>
            <a:picLocks xmlns:a="http://schemas.openxmlformats.org/drawingml/2006/main" noChangeAspect="1"/>
          </p:cNvPicPr>
          <p:nvPr/>
        </p:nvPicPr>
        <p:blipFill>
          <a:blip xmlns:r="http://schemas.openxmlformats.org/officeDocument/2006/relationships" xmlns:a="http://schemas.openxmlformats.org/drawingml/2006/main" r:embed="Ra5de7cd2e8c441e9"/>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Tree>
    <p:extLst>
      <p:ext uri="{BB962C8B-B14F-4D97-AF65-F5344CB8AC3E}">
        <p14:creationId xmlns:p14="http://schemas.microsoft.com/office/powerpoint/2010/main" val="11293886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17CF5279-D8E9-4CE9-8986-47802DA68BE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xmlns:a="http://schemas.openxmlformats.org/drawingml/2006/main">
              <a:ext uri="{FF2B5EF4-FFF2-40B4-BE49-F238E27FC236}">
                <a16:creationId xmlns:a16="http://schemas.microsoft.com/office/drawing/2014/main" id="{5753F515-E0DC-4630-8EF3-4CFECCB7156E}"/>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13 tasks × 3 attempts for each effort and hint condition.</a:t>
            </a:r>
          </a:p>
        </p:txBody>
      </p:sp>
      <p:sp>
        <p:nvSpPr>
          <p:cNvPr id="3" name="Rectangle 2">
            <a:extLst xmlns:a="http://schemas.openxmlformats.org/drawingml/2006/main">
              <a:ext uri="{FF2B5EF4-FFF2-40B4-BE49-F238E27FC236}">
                <a16:creationId xmlns:a16="http://schemas.microsoft.com/office/drawing/2014/main" id="{44CBCC7A-2B3E-4BB8-A17C-89503162166B}"/>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
        <p:nvSpPr>
          <p:cNvPr id="5" name="Rectangle 4">
            <a:extLst xmlns:a="http://schemas.openxmlformats.org/drawingml/2006/main">
              <a:ext uri="{FF2B5EF4-FFF2-40B4-BE49-F238E27FC236}">
                <a16:creationId xmlns:a16="http://schemas.microsoft.com/office/drawing/2014/main" id="{C503E373-5342-45CE-B7DA-D5478D3FADA8}"/>
              </a:ext>
            </a:extLst>
          </p:cNvPr>
          <p:cNvSpPr>
            <a:spLocks xmlns:a="http://schemas.openxmlformats.org/drawingml/2006/main" noGrp="1"/>
          </p:cNvSpPr>
          <p:nvPr/>
        </p:nvSpPr>
        <p:spPr>
          <a:xfrm xmlns:a="http://schemas.openxmlformats.org/drawingml/2006/main">
            <a:off x="457200" y="5895975"/>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General hints help at higher efforts. Physics hints help at every effort.</a:t>
            </a:r>
          </a:p>
        </p:txBody>
      </p:sp>
      <p:pic>
        <p:nvPicPr>
          <p:cNvPr id="8" name="">
            <a:extLst xmlns:a="http://schemas.openxmlformats.org/drawingml/2006/main">
              <a:ext uri="{FF2B5EF4-FFF2-40B4-BE49-F238E27FC236}">
                <a16:creationId xmlns:a16="http://schemas.microsoft.com/office/drawing/2014/main" id="{8067C33A-DEA7-41C4-A8A6-7BE279107AE1}"/>
              </a:ext>
            </a:extLst>
          </p:cNvPr>
          <p:cNvPicPr>
            <a:picLocks xmlns:a="http://schemas.openxmlformats.org/drawingml/2006/main" noChangeAspect="1"/>
          </p:cNvPicPr>
          <p:nvPr/>
        </p:nvPicPr>
        <p:blipFill>
          <a:blip xmlns:r="http://schemas.openxmlformats.org/officeDocument/2006/relationships" xmlns:a="http://schemas.openxmlformats.org/drawingml/2006/main" r:embed="R892131e934db4003"/>
          <a:stretch xmlns:a="http://schemas.openxmlformats.org/drawingml/2006/main"/>
        </p:blipFill>
        <p:spPr>
          <a:xfrm xmlns:a="http://schemas.openxmlformats.org/drawingml/2006/main">
            <a:off x="457200" y="1400656"/>
            <a:ext cx="11277600" cy="4485409"/>
          </a:xfrm>
          <a:prstGeom xmlns:a="http://schemas.openxmlformats.org/drawingml/2006/main" prst="rect">
            <a:avLst/>
          </a:prstGeom>
        </p:spPr>
      </p:pic>
    </p:spTree>
    <p:extLst>
      <p:ext uri="{BB962C8B-B14F-4D97-AF65-F5344CB8AC3E}">
        <p14:creationId xmlns:p14="http://schemas.microsoft.com/office/powerpoint/2010/main" val="848171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0762CE-EC79-4E9D-A0B9-7F2922840F25}"/>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Fewer physics failures with hints</a:t>
            </a:r>
          </a:p>
        </p:txBody>
      </p:sp>
      <p:sp>
        <p:nvSpPr>
          <p:cNvPr id="2" name="">
            <a:extLst xmlns:a="http://schemas.openxmlformats.org/drawingml/2006/main">
              <a:ext uri="{FF2B5EF4-FFF2-40B4-BE49-F238E27FC236}">
                <a16:creationId xmlns:a16="http://schemas.microsoft.com/office/drawing/2014/main" id="{5A2EC988-0517-43A2-9E8F-13A71FA9F11F}"/>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Physics failure: fits the supplied data, but uses the wrong model for new predictions.</a:t>
            </a:r>
          </a:p>
          <a:p xmlns:a="http://schemas.openxmlformats.org/drawingml/2006/main">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Luna, Terra and Sol. 390 attempts per condition across 10 model–effort settings.</a:t>
            </a:r>
          </a:p>
        </p:txBody>
      </p:sp>
      <p:sp>
        <p:nvSpPr>
          <p:cNvPr id="3" name="">
            <a:extLst xmlns:a="http://schemas.openxmlformats.org/drawingml/2006/main">
              <a:ext uri="{FF2B5EF4-FFF2-40B4-BE49-F238E27FC236}">
                <a16:creationId xmlns:a16="http://schemas.microsoft.com/office/drawing/2014/main" id="{1A2DDAE5-3EA7-48EF-8F36-D539012E9051}"/>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
            <a:extLst xmlns:a="http://schemas.openxmlformats.org/drawingml/2006/main">
              <a:ext uri="{FF2B5EF4-FFF2-40B4-BE49-F238E27FC236}">
                <a16:creationId xmlns:a16="http://schemas.microsoft.com/office/drawing/2014/main" id="{05BAC71F-A496-4ABD-B193-BB35EF2EC024}"/>
              </a:ext>
            </a:extLst>
          </p:cNvPr>
          <p:cNvPicPr>
            <a:picLocks xmlns:a="http://schemas.openxmlformats.org/drawingml/2006/main" noChangeAspect="1"/>
          </p:cNvPicPr>
          <p:nvPr/>
        </p:nvPicPr>
        <p:blipFill>
          <a:blip xmlns:r="http://schemas.openxmlformats.org/officeDocument/2006/relationships" xmlns:a="http://schemas.openxmlformats.org/drawingml/2006/main" r:embed="R8ad6e5075a0f44a7"/>
          <a:stretch xmlns:a="http://schemas.openxmlformats.org/drawingml/2006/main"/>
        </p:blipFill>
        <p:spPr>
          <a:xfrm xmlns:a="http://schemas.openxmlformats.org/drawingml/2006/main">
            <a:off x="304800" y="1706707"/>
            <a:ext cx="8134350" cy="48066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18F09C-EFBE-4789-8732-D4311DC0995E}"/>
              </a:ext>
            </a:extLst>
          </p:cNvPr>
          <p:cNvSpPr>
            <a:spLocks xmlns:a="http://schemas.openxmlformats.org/drawingml/2006/main" noGrp="1"/>
          </p:cNvSpPr>
          <p:nvPr/>
        </p:nvSpPr>
        <p:spPr>
          <a:xfrm xmlns:a="http://schemas.openxmlformats.org/drawingml/2006/main">
            <a:off x="8734425" y="18764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00032"/>
                </a:solidFill>
                <a:latin typeface="Times New Roman"/>
                <a:ea typeface="Times New Roman"/>
                <a:cs typeface="Times New Roman"/>
              </a:defRPr>
            </a:defPPr>
          </a:lstStyle>
          <a:p xmlns:a="http://schemas.openxmlformats.org/drawingml/2006/main">
            <a:pPr>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33 to 2</a:t>
            </a:r>
          </a:p>
        </p:txBody>
      </p:sp>
      <p:sp>
        <p:nvSpPr>
          <p:cNvPr id="6" name="">
            <a:extLst xmlns:a="http://schemas.openxmlformats.org/drawingml/2006/main">
              <a:ext uri="{FF2B5EF4-FFF2-40B4-BE49-F238E27FC236}">
                <a16:creationId xmlns:a16="http://schemas.microsoft.com/office/drawing/2014/main" id="{95CFE617-D69C-4E72-9AAA-0ED05F5A324E}"/>
              </a:ext>
            </a:extLst>
          </p:cNvPr>
          <p:cNvSpPr>
            <a:spLocks xmlns:a="http://schemas.openxmlformats.org/drawingml/2006/main" noGrp="1"/>
          </p:cNvSpPr>
          <p:nvPr/>
        </p:nvSpPr>
        <p:spPr>
          <a:xfrm xmlns:a="http://schemas.openxmlformats.org/drawingml/2006/main">
            <a:off x="8734425" y="2581275"/>
            <a:ext cx="30003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11111"/>
                </a:solidFill>
                <a:latin typeface="Times New Roman"/>
                <a:ea typeface="Times New Roman"/>
                <a:cs typeface="Times New Roman"/>
              </a:defRPr>
            </a:defPPr>
          </a:lstStyle>
          <a:p xmlns:a="http://schemas.openxmlformats.org/drawingml/2006/main">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Luna High physics failures:</a:t>
            </a:r>
          </a:p>
          <a:p xmlns:a="http://schemas.openxmlformats.org/drawingml/2006/main">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no hint versus physics hint,</a:t>
            </a:r>
          </a:p>
          <a:p xmlns:a="http://schemas.openxmlformats.org/drawingml/2006/main">
            <a:pP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each out of 39 attempts.</a:t>
            </a:r>
          </a:p>
        </p:txBody>
      </p:sp>
      <p:sp>
        <p:nvSpPr>
          <p:cNvPr id="7" name="">
            <a:extLst xmlns:a="http://schemas.openxmlformats.org/drawingml/2006/main">
              <a:ext uri="{FF2B5EF4-FFF2-40B4-BE49-F238E27FC236}">
                <a16:creationId xmlns:a16="http://schemas.microsoft.com/office/drawing/2014/main" id="{F426D7DE-20DD-4E45-9087-0ADFE41A1BA5}"/>
              </a:ext>
            </a:extLst>
          </p:cNvPr>
          <p:cNvSpPr>
            <a:spLocks xmlns:a="http://schemas.openxmlformats.org/drawingml/2006/main" noGrp="1"/>
          </p:cNvSpPr>
          <p:nvPr/>
        </p:nvSpPr>
        <p:spPr>
          <a:xfrm xmlns:a="http://schemas.openxmlformats.org/drawingml/2006/main">
            <a:off x="8734425" y="406717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00032"/>
                </a:solidFill>
                <a:latin typeface="Times New Roman"/>
                <a:ea typeface="Times New Roman"/>
                <a:cs typeface="Times New Roman"/>
              </a:defRPr>
            </a:defPPr>
          </a:lstStyle>
          <a:p xmlns:a="http://schemas.openxmlformats.org/drawingml/2006/main">
            <a:pPr>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56 / 66</a:t>
            </a:r>
          </a:p>
        </p:txBody>
      </p:sp>
      <p:sp>
        <p:nvSpPr>
          <p:cNvPr id="8" name="">
            <a:extLst xmlns:a="http://schemas.openxmlformats.org/drawingml/2006/main">
              <a:ext uri="{FF2B5EF4-FFF2-40B4-BE49-F238E27FC236}">
                <a16:creationId xmlns:a16="http://schemas.microsoft.com/office/drawing/2014/main" id="{26E10509-D3B6-4AC9-B771-5A78042556A9}"/>
              </a:ext>
            </a:extLst>
          </p:cNvPr>
          <p:cNvSpPr>
            <a:spLocks xmlns:a="http://schemas.openxmlformats.org/drawingml/2006/main" noGrp="1"/>
          </p:cNvSpPr>
          <p:nvPr/>
        </p:nvSpPr>
        <p:spPr>
          <a:xfrm xmlns:a="http://schemas.openxmlformats.org/drawingml/2006/main">
            <a:off x="8734425" y="4772025"/>
            <a:ext cx="30003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111111"/>
                </a:solidFill>
                <a:latin typeface="Times New Roman"/>
                <a:ea typeface="Times New Roman"/>
                <a:cs typeface="Times New Roman"/>
              </a:defRPr>
            </a:defPPr>
          </a:lstStyle>
          <a:p xmlns:a="http://schemas.openxmlformats.org/drawingml/2006/main">
            <a:pP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Remaining physics failures</a:t>
            </a:r>
          </a:p>
          <a:p xmlns:a="http://schemas.openxmlformats.org/drawingml/2006/main">
            <a:pP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with physics hints are in Luna</a:t>
            </a:r>
          </a:p>
          <a:p xmlns:a="http://schemas.openxmlformats.org/drawingml/2006/main">
            <a:pPr>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at None, Low or Medium effort.</a:t>
            </a:r>
          </a:p>
        </p:txBody>
      </p:sp>
    </p:spTree>
    <p:extLst>
      <p:ext uri="{BB962C8B-B14F-4D97-AF65-F5344CB8AC3E}">
        <p14:creationId xmlns:p14="http://schemas.microsoft.com/office/powerpoint/2010/main" val="59164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188BF787-8096-4C2A-88D4-72B59C3957F8}"/>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xmlns:a="http://schemas.openxmlformats.org/drawingml/2006/main">
              <a:ext uri="{FF2B5EF4-FFF2-40B4-BE49-F238E27FC236}">
                <a16:creationId xmlns:a16="http://schemas.microsoft.com/office/drawing/2014/main" id="{90E0191D-DC24-4A27-8C1D-B6CD527F23A6}"/>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xmlns:a="http://schemas.openxmlformats.org/drawingml/2006/main">
              <a:ext uri="{FF2B5EF4-FFF2-40B4-BE49-F238E27FC236}">
                <a16:creationId xmlns:a16="http://schemas.microsoft.com/office/drawing/2014/main" id="{AD1C196F-EF25-4184-B114-2530E3410410}"/>
              </a:ext>
            </a:extLst>
          </p:cNvPr>
          <p:cNvSpPr>
            <a:spLocks xmlns:a="http://schemas.openxmlformats.org/drawingml/2006/main" noGrp="1"/>
          </p:cNvSpPr>
          <p:nvPr/>
        </p:nvSpPr>
        <p:spPr>
          <a:xfrm xmlns:a="http://schemas.openxmlformats.org/drawingml/2006/main">
            <a:off x="457200" y="1628775"/>
            <a:ext cx="5467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00" b="1">
                <a:solidFill>
                  <a:srgbClr val="111111"/>
                </a:solidFill>
                <a:latin typeface="Times New Roman"/>
                <a:ea typeface="Times New Roman"/>
                <a:cs typeface="Times New Roman"/>
              </a:defRPr>
            </a:defPPr>
          </a:lstStyle>
          <a:p xmlns:a="http://schemas.openxmlformats.org/drawingml/2006/main">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xmlns:a="http://schemas.openxmlformats.org/drawingml/2006/main">
              <a:ext uri="{FF2B5EF4-FFF2-40B4-BE49-F238E27FC236}">
                <a16:creationId xmlns:a16="http://schemas.microsoft.com/office/drawing/2014/main" id="{6CB97F0B-14D1-45A5-8F9B-88A5CA265AC7}"/>
              </a:ext>
            </a:extLst>
          </p:cNvPr>
          <p:cNvSpPr>
            <a:spLocks xmlns:a="http://schemas.openxmlformats.org/drawingml/2006/main" noGrp="1"/>
          </p:cNvSpPr>
          <p:nvPr/>
        </p:nvSpPr>
        <p:spPr>
          <a:xfrm xmlns:a="http://schemas.openxmlformats.org/drawingml/2006/main">
            <a:off x="2038350" y="20955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2592DAE-900F-479B-A890-400A518A5C35}"/>
              </a:ext>
            </a:extLst>
          </p:cNvPr>
          <p:cNvSpPr>
            <a:spLocks xmlns:a="http://schemas.openxmlformats.org/drawingml/2006/main" noGrp="1"/>
          </p:cNvSpPr>
          <p:nvPr/>
        </p:nvSpPr>
        <p:spPr>
          <a:xfrm xmlns:a="http://schemas.openxmlformats.org/drawingml/2006/main">
            <a:off x="2038350" y="2609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4AEFC1F5-B00A-442B-A9CB-59FA4BA6930E}"/>
              </a:ext>
            </a:extLst>
          </p:cNvPr>
          <p:cNvSpPr>
            <a:spLocks xmlns:a="http://schemas.openxmlformats.org/drawingml/2006/main" noGrp="1"/>
          </p:cNvSpPr>
          <p:nvPr/>
        </p:nvSpPr>
        <p:spPr>
          <a:xfrm xmlns:a="http://schemas.openxmlformats.org/drawingml/2006/main">
            <a:off x="21336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9E5C55-848C-42F8-8543-5E83EBE4790C}"/>
              </a:ext>
            </a:extLst>
          </p:cNvPr>
          <p:cNvSpPr>
            <a:spLocks xmlns:a="http://schemas.openxmlformats.org/drawingml/2006/main" noGrp="1"/>
          </p:cNvSpPr>
          <p:nvPr/>
        </p:nvSpPr>
        <p:spPr>
          <a:xfrm xmlns:a="http://schemas.openxmlformats.org/drawingml/2006/main">
            <a:off x="25050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E14639FD-8428-44D2-9C15-7D66D756CAAA}"/>
              </a:ext>
            </a:extLst>
          </p:cNvPr>
          <p:cNvSpPr>
            <a:spLocks xmlns:a="http://schemas.openxmlformats.org/drawingml/2006/main" noGrp="1"/>
          </p:cNvSpPr>
          <p:nvPr/>
        </p:nvSpPr>
        <p:spPr>
          <a:xfrm xmlns:a="http://schemas.openxmlformats.org/drawingml/2006/main">
            <a:off x="2876550" y="223837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1467A71-ED3C-44C5-844C-EF34BB051944}"/>
              </a:ext>
            </a:extLst>
          </p:cNvPr>
          <p:cNvSpPr>
            <a:spLocks xmlns:a="http://schemas.openxmlformats.org/drawingml/2006/main" noGrp="1"/>
          </p:cNvSpPr>
          <p:nvPr/>
        </p:nvSpPr>
        <p:spPr>
          <a:xfrm xmlns:a="http://schemas.openxmlformats.org/drawingml/2006/main">
            <a:off x="324802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22F03590-CD66-4324-9B45-D90E7670F2BC}"/>
              </a:ext>
            </a:extLst>
          </p:cNvPr>
          <p:cNvSpPr>
            <a:spLocks xmlns:a="http://schemas.openxmlformats.org/drawingml/2006/main" noGrp="1"/>
          </p:cNvSpPr>
          <p:nvPr/>
        </p:nvSpPr>
        <p:spPr>
          <a:xfrm xmlns:a="http://schemas.openxmlformats.org/drawingml/2006/main">
            <a:off x="3619500"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514F4D2C-52B8-4904-9800-3B56EDDCABE1}"/>
              </a:ext>
            </a:extLst>
          </p:cNvPr>
          <p:cNvSpPr>
            <a:spLocks xmlns:a="http://schemas.openxmlformats.org/drawingml/2006/main" noGrp="1"/>
          </p:cNvSpPr>
          <p:nvPr/>
        </p:nvSpPr>
        <p:spPr>
          <a:xfrm xmlns:a="http://schemas.openxmlformats.org/drawingml/2006/main">
            <a:off x="3990975" y="223837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Down Arrow 11">
            <a:extLst xmlns:a="http://schemas.openxmlformats.org/drawingml/2006/main">
              <a:ext uri="{FF2B5EF4-FFF2-40B4-BE49-F238E27FC236}">
                <a16:creationId xmlns:a16="http://schemas.microsoft.com/office/drawing/2014/main" id="{2B9547D1-0D56-40EB-A613-AD781B488373}"/>
              </a:ext>
            </a:extLst>
          </p:cNvPr>
          <p:cNvSpPr>
            <a:spLocks xmlns:a="http://schemas.openxmlformats.org/drawingml/2006/main" noGrp="1"/>
          </p:cNvSpPr>
          <p:nvPr/>
        </p:nvSpPr>
        <p:spPr>
          <a:xfrm xmlns:a="http://schemas.openxmlformats.org/drawingml/2006/main">
            <a:off x="3048000" y="2762250"/>
            <a:ext cx="228600" cy="323850"/>
          </a:xfrm>
          <a:prstGeom xmlns:a="http://schemas.openxmlformats.org/drawingml/2006/main" prst="downArrow">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B29D8764-60D2-480D-B980-A00088FC00FD}"/>
              </a:ext>
            </a:extLst>
          </p:cNvPr>
          <p:cNvSpPr>
            <a:spLocks xmlns:a="http://schemas.openxmlformats.org/drawingml/2006/main" noGrp="1"/>
          </p:cNvSpPr>
          <p:nvPr/>
        </p:nvSpPr>
        <p:spPr>
          <a:xfrm xmlns:a="http://schemas.openxmlformats.org/drawingml/2006/main">
            <a:off x="4572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xmlns:a="http://schemas.openxmlformats.org/drawingml/2006/main">
              <a:ext uri="{FF2B5EF4-FFF2-40B4-BE49-F238E27FC236}">
                <a16:creationId xmlns:a16="http://schemas.microsoft.com/office/drawing/2014/main" id="{8C762CA3-6389-42EF-9006-A1AD10A8C613}"/>
              </a:ext>
            </a:extLst>
          </p:cNvPr>
          <p:cNvSpPr>
            <a:spLocks xmlns:a="http://schemas.openxmlformats.org/drawingml/2006/main" noGrp="1"/>
          </p:cNvSpPr>
          <p:nvPr/>
        </p:nvSpPr>
        <p:spPr>
          <a:xfrm xmlns:a="http://schemas.openxmlformats.org/drawingml/2006/main">
            <a:off x="3619500" y="332422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025" b="0">
                <a:solidFill>
                  <a:srgbClr val="111111"/>
                </a:solidFill>
                <a:latin typeface="Times New Roman"/>
                <a:ea typeface="Times New Roman"/>
                <a:cs typeface="Times New Roman"/>
              </a:defRPr>
            </a:defPPr>
          </a:lstStyle>
          <a:p xmlns:a="http://schemas.openxmlformats.org/drawingml/2006/main">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xmlns:a="http://schemas.openxmlformats.org/drawingml/2006/main">
              <a:ext uri="{FF2B5EF4-FFF2-40B4-BE49-F238E27FC236}">
                <a16:creationId xmlns:a16="http://schemas.microsoft.com/office/drawing/2014/main" id="{44E89158-6FEE-4279-A678-86EC80971E97}"/>
              </a:ext>
            </a:extLst>
          </p:cNvPr>
          <p:cNvSpPr>
            <a:spLocks xmlns:a="http://schemas.openxmlformats.org/drawingml/2006/main" noGrp="1"/>
          </p:cNvSpPr>
          <p:nvPr/>
        </p:nvSpPr>
        <p:spPr>
          <a:xfrm xmlns:a="http://schemas.openxmlformats.org/drawingml/2006/main">
            <a:off x="4572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5D70699-BAD5-4E1D-B932-83872919EF0A}"/>
              </a:ext>
            </a:extLst>
          </p:cNvPr>
          <p:cNvSpPr>
            <a:spLocks xmlns:a="http://schemas.openxmlformats.org/drawingml/2006/main" noGrp="1"/>
          </p:cNvSpPr>
          <p:nvPr/>
        </p:nvSpPr>
        <p:spPr>
          <a:xfrm xmlns:a="http://schemas.openxmlformats.org/drawingml/2006/main">
            <a:off x="4572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800A52-7A43-4EE3-BFDE-4345E3917BBC}"/>
              </a:ext>
            </a:extLst>
          </p:cNvPr>
          <p:cNvSpPr>
            <a:spLocks xmlns:a="http://schemas.openxmlformats.org/drawingml/2006/main" noGrp="1"/>
          </p:cNvSpPr>
          <p:nvPr/>
        </p:nvSpPr>
        <p:spPr>
          <a:xfrm xmlns:a="http://schemas.openxmlformats.org/drawingml/2006/main">
            <a:off x="5524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62A308A1-DACE-4383-9C9F-56EC1ABE876B}"/>
              </a:ext>
            </a:extLst>
          </p:cNvPr>
          <p:cNvSpPr>
            <a:spLocks xmlns:a="http://schemas.openxmlformats.org/drawingml/2006/main" noGrp="1"/>
          </p:cNvSpPr>
          <p:nvPr/>
        </p:nvSpPr>
        <p:spPr>
          <a:xfrm xmlns:a="http://schemas.openxmlformats.org/drawingml/2006/main">
            <a:off x="8953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F532BC2B-393A-4988-9DB6-D5C1679E5992}"/>
              </a:ext>
            </a:extLst>
          </p:cNvPr>
          <p:cNvSpPr>
            <a:spLocks xmlns:a="http://schemas.openxmlformats.org/drawingml/2006/main" noGrp="1"/>
          </p:cNvSpPr>
          <p:nvPr/>
        </p:nvSpPr>
        <p:spPr>
          <a:xfrm xmlns:a="http://schemas.openxmlformats.org/drawingml/2006/main">
            <a:off x="1333500"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3969F120-CB61-4C0C-BD8B-DA3147A0F5B3}"/>
              </a:ext>
            </a:extLst>
          </p:cNvPr>
          <p:cNvSpPr>
            <a:spLocks xmlns:a="http://schemas.openxmlformats.org/drawingml/2006/main" noGrp="1"/>
          </p:cNvSpPr>
          <p:nvPr/>
        </p:nvSpPr>
        <p:spPr>
          <a:xfrm xmlns:a="http://schemas.openxmlformats.org/drawingml/2006/main">
            <a:off x="16287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A4C9A583-94F0-4BA9-A1F1-75C831BF51D7}"/>
              </a:ext>
            </a:extLst>
          </p:cNvPr>
          <p:cNvSpPr>
            <a:spLocks xmlns:a="http://schemas.openxmlformats.org/drawingml/2006/main" noGrp="1"/>
          </p:cNvSpPr>
          <p:nvPr/>
        </p:nvSpPr>
        <p:spPr>
          <a:xfrm xmlns:a="http://schemas.openxmlformats.org/drawingml/2006/main">
            <a:off x="20669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58B0A4D4-3ED5-482F-8869-E22CB5184AB7}"/>
              </a:ext>
            </a:extLst>
          </p:cNvPr>
          <p:cNvSpPr>
            <a:spLocks xmlns:a="http://schemas.openxmlformats.org/drawingml/2006/main" noGrp="1"/>
          </p:cNvSpPr>
          <p:nvPr/>
        </p:nvSpPr>
        <p:spPr>
          <a:xfrm xmlns:a="http://schemas.openxmlformats.org/drawingml/2006/main">
            <a:off x="24003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6BBAA5C2-F6E8-401D-A2D4-FF1AE8E4C308}"/>
              </a:ext>
            </a:extLst>
          </p:cNvPr>
          <p:cNvSpPr>
            <a:spLocks xmlns:a="http://schemas.openxmlformats.org/drawingml/2006/main" noGrp="1"/>
          </p:cNvSpPr>
          <p:nvPr/>
        </p:nvSpPr>
        <p:spPr>
          <a:xfrm xmlns:a="http://schemas.openxmlformats.org/drawingml/2006/main">
            <a:off x="3619500" y="375285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413A0C3-BBFC-414E-B042-F4DB66E7B045}"/>
              </a:ext>
            </a:extLst>
          </p:cNvPr>
          <p:cNvSpPr>
            <a:spLocks xmlns:a="http://schemas.openxmlformats.org/drawingml/2006/main" noGrp="1"/>
          </p:cNvSpPr>
          <p:nvPr/>
        </p:nvSpPr>
        <p:spPr>
          <a:xfrm xmlns:a="http://schemas.openxmlformats.org/drawingml/2006/main">
            <a:off x="3619500" y="4267200"/>
            <a:ext cx="2305050" cy="19050"/>
          </a:xfrm>
          <a:prstGeom xmlns:a="http://schemas.openxmlformats.org/drawingml/2006/main" prst="rect">
            <a:avLst/>
          </a:prstGeom>
          <a:solidFill xmlns:a="http://schemas.openxmlformats.org/drawingml/2006/main">
            <a:srgbClr val="777777"/>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5DDBCCB3-6174-452E-8287-941151DEF8D4}"/>
              </a:ext>
            </a:extLst>
          </p:cNvPr>
          <p:cNvSpPr>
            <a:spLocks xmlns:a="http://schemas.openxmlformats.org/drawingml/2006/main" noGrp="1"/>
          </p:cNvSpPr>
          <p:nvPr/>
        </p:nvSpPr>
        <p:spPr>
          <a:xfrm xmlns:a="http://schemas.openxmlformats.org/drawingml/2006/main">
            <a:off x="367665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D83C408D-2753-4A93-B04E-B4BCB093519E}"/>
              </a:ext>
            </a:extLst>
          </p:cNvPr>
          <p:cNvSpPr>
            <a:spLocks xmlns:a="http://schemas.openxmlformats.org/drawingml/2006/main" noGrp="1"/>
          </p:cNvSpPr>
          <p:nvPr/>
        </p:nvSpPr>
        <p:spPr>
          <a:xfrm xmlns:a="http://schemas.openxmlformats.org/drawingml/2006/main">
            <a:off x="395287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Oval 26">
            <a:extLst xmlns:a="http://schemas.openxmlformats.org/drawingml/2006/main">
              <a:ext uri="{FF2B5EF4-FFF2-40B4-BE49-F238E27FC236}">
                <a16:creationId xmlns:a16="http://schemas.microsoft.com/office/drawing/2014/main" id="{7E6E7AB3-854B-47DB-9A00-122279DD0A40}"/>
              </a:ext>
            </a:extLst>
          </p:cNvPr>
          <p:cNvSpPr>
            <a:spLocks xmlns:a="http://schemas.openxmlformats.org/drawingml/2006/main" noGrp="1"/>
          </p:cNvSpPr>
          <p:nvPr/>
        </p:nvSpPr>
        <p:spPr>
          <a:xfrm xmlns:a="http://schemas.openxmlformats.org/drawingml/2006/main">
            <a:off x="4676775" y="3895725"/>
            <a:ext cx="228600" cy="2286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Oval 27">
            <a:extLst xmlns:a="http://schemas.openxmlformats.org/drawingml/2006/main">
              <a:ext uri="{FF2B5EF4-FFF2-40B4-BE49-F238E27FC236}">
                <a16:creationId xmlns:a16="http://schemas.microsoft.com/office/drawing/2014/main" id="{7C7A7103-E5BA-4F0E-AE18-5C2D9622CBA5}"/>
              </a:ext>
            </a:extLst>
          </p:cNvPr>
          <p:cNvSpPr>
            <a:spLocks xmlns:a="http://schemas.openxmlformats.org/drawingml/2006/main" noGrp="1"/>
          </p:cNvSpPr>
          <p:nvPr/>
        </p:nvSpPr>
        <p:spPr>
          <a:xfrm xmlns:a="http://schemas.openxmlformats.org/drawingml/2006/main">
            <a:off x="49530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Oval 28">
            <a:extLst xmlns:a="http://schemas.openxmlformats.org/drawingml/2006/main">
              <a:ext uri="{FF2B5EF4-FFF2-40B4-BE49-F238E27FC236}">
                <a16:creationId xmlns:a16="http://schemas.microsoft.com/office/drawing/2014/main" id="{33DE8FFE-2024-4BA3-8ED3-293C46275BDE}"/>
              </a:ext>
            </a:extLst>
          </p:cNvPr>
          <p:cNvSpPr>
            <a:spLocks xmlns:a="http://schemas.openxmlformats.org/drawingml/2006/main" noGrp="1"/>
          </p:cNvSpPr>
          <p:nvPr/>
        </p:nvSpPr>
        <p:spPr>
          <a:xfrm xmlns:a="http://schemas.openxmlformats.org/drawingml/2006/main">
            <a:off x="5267325"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Oval 29">
            <a:extLst xmlns:a="http://schemas.openxmlformats.org/drawingml/2006/main">
              <a:ext uri="{FF2B5EF4-FFF2-40B4-BE49-F238E27FC236}">
                <a16:creationId xmlns:a16="http://schemas.microsoft.com/office/drawing/2014/main" id="{92D95110-4FA3-45BD-A738-3F39256E8B6A}"/>
              </a:ext>
            </a:extLst>
          </p:cNvPr>
          <p:cNvSpPr>
            <a:spLocks xmlns:a="http://schemas.openxmlformats.org/drawingml/2006/main" noGrp="1"/>
          </p:cNvSpPr>
          <p:nvPr/>
        </p:nvSpPr>
        <p:spPr>
          <a:xfrm xmlns:a="http://schemas.openxmlformats.org/drawingml/2006/main">
            <a:off x="5600700" y="3895725"/>
            <a:ext cx="228600" cy="2286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Left-Right Arrow 30">
            <a:extLst xmlns:a="http://schemas.openxmlformats.org/drawingml/2006/main">
              <a:ext uri="{FF2B5EF4-FFF2-40B4-BE49-F238E27FC236}">
                <a16:creationId xmlns:a16="http://schemas.microsoft.com/office/drawing/2014/main" id="{084A0D89-582D-44C4-98B7-B310C73D2595}"/>
              </a:ext>
            </a:extLst>
          </p:cNvPr>
          <p:cNvSpPr>
            <a:spLocks xmlns:a="http://schemas.openxmlformats.org/drawingml/2006/main" noGrp="1"/>
          </p:cNvSpPr>
          <p:nvPr/>
        </p:nvSpPr>
        <p:spPr>
          <a:xfrm xmlns:a="http://schemas.openxmlformats.org/drawingml/2006/main">
            <a:off x="2905125" y="3914775"/>
            <a:ext cx="571500" cy="190500"/>
          </a:xfrm>
          <a:prstGeom xmlns:a="http://schemas.openxmlformats.org/drawingml/2006/main" prst="leftRightArrow">
            <a:avLst/>
          </a:prstGeom>
          <a:solidFill xmlns:a="http://schemas.openxmlformats.org/drawingml/2006/main">
            <a:srgbClr val="A5002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80CFA7B7-556A-4AFA-A558-012B8CF83F09}"/>
              </a:ext>
            </a:extLst>
          </p:cNvPr>
          <p:cNvSpPr>
            <a:spLocks xmlns:a="http://schemas.openxmlformats.org/drawingml/2006/main" noGrp="1"/>
          </p:cNvSpPr>
          <p:nvPr/>
        </p:nvSpPr>
        <p:spPr>
          <a:xfrm xmlns:a="http://schemas.openxmlformats.org/drawingml/2006/main">
            <a:off x="457200" y="4476750"/>
            <a:ext cx="546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1800" b="0">
                <a:solidFill>
                  <a:srgbClr val="444444"/>
                </a:solidFill>
                <a:latin typeface="Times New Roman"/>
                <a:ea typeface="Times New Roman"/>
                <a:cs typeface="Times New Roman"/>
              </a:defRPr>
            </a:defPPr>
          </a:lstStyle>
          <a:p xmlns:a="http://schemas.openxmlformats.org/drawingml/2006/main">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xmlns:a="http://schemas.openxmlformats.org/drawingml/2006/main">
              <a:ext uri="{FF2B5EF4-FFF2-40B4-BE49-F238E27FC236}">
                <a16:creationId xmlns:a16="http://schemas.microsoft.com/office/drawing/2014/main" id="{737B63CA-D7D2-4215-912C-850F09E9709B}"/>
              </a:ext>
            </a:extLst>
          </p:cNvPr>
          <p:cNvSpPr>
            <a:spLocks xmlns:a="http://schemas.openxmlformats.org/drawingml/2006/main" noGrp="1"/>
          </p:cNvSpPr>
          <p:nvPr/>
        </p:nvSpPr>
        <p:spPr>
          <a:xfrm xmlns:a="http://schemas.openxmlformats.org/drawingml/2006/main">
            <a:off x="457200" y="4886325"/>
            <a:ext cx="5467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ctr">
              <a:defRPr sz="2175" b="1">
                <a:solidFill>
                  <a:srgbClr val="A50026"/>
                </a:solidFill>
                <a:latin typeface="Times New Roman"/>
                <a:ea typeface="Times New Roman"/>
                <a:cs typeface="Times New Roman"/>
              </a:defRPr>
            </a:defPPr>
          </a:lstStyle>
          <a:p xmlns:a="http://schemas.openxmlformats.org/drawingml/2006/main">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xmlns:a="http://schemas.openxmlformats.org/drawingml/2006/main">
              <a:ext uri="{FF2B5EF4-FFF2-40B4-BE49-F238E27FC236}">
                <a16:creationId xmlns:a16="http://schemas.microsoft.com/office/drawing/2014/main" id="{9506109F-601E-49E5-BD20-77D45C23A0A6}"/>
              </a:ext>
            </a:extLst>
          </p:cNvPr>
          <p:cNvSpPr>
            <a:spLocks xmlns:a="http://schemas.openxmlformats.org/drawingml/2006/main" noGrp="1"/>
          </p:cNvSpPr>
          <p:nvPr/>
        </p:nvSpPr>
        <p:spPr>
          <a:xfrm xmlns:a="http://schemas.openxmlformats.org/drawingml/2006/main">
            <a:off x="6610350" y="1628775"/>
            <a:ext cx="5124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0F766E"/>
                </a:solidFill>
                <a:latin typeface="Times New Roman"/>
                <a:ea typeface="Times New Roman"/>
                <a:cs typeface="Times New Roman"/>
              </a:defRPr>
            </a:defPPr>
          </a:lstStyle>
          <a:p xmlns:a="http://schemas.openxmlformats.org/drawingml/2006/main">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xmlns:a="http://schemas.openxmlformats.org/drawingml/2006/main">
              <a:ext uri="{FF2B5EF4-FFF2-40B4-BE49-F238E27FC236}">
                <a16:creationId xmlns:a16="http://schemas.microsoft.com/office/drawing/2014/main" id="{941F02D7-5787-45E1-8F90-17FA1B625712}"/>
              </a:ext>
            </a:extLst>
          </p:cNvPr>
          <p:cNvSpPr>
            <a:spLocks xmlns:a="http://schemas.openxmlformats.org/drawingml/2006/main" noGrp="1"/>
          </p:cNvSpPr>
          <p:nvPr/>
        </p:nvSpPr>
        <p:spPr>
          <a:xfrm xmlns:a="http://schemas.openxmlformats.org/drawingml/2006/main">
            <a:off x="6610350" y="2143125"/>
            <a:ext cx="5124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xmlns:a="http://schemas.openxmlformats.org/drawingml/2006/main">
              <a:ext uri="{FF2B5EF4-FFF2-40B4-BE49-F238E27FC236}">
                <a16:creationId xmlns:a16="http://schemas.microsoft.com/office/drawing/2014/main" id="{BB95EC0A-29BC-48DF-8D71-281CA0886E16}"/>
              </a:ext>
            </a:extLst>
          </p:cNvPr>
          <p:cNvSpPr>
            <a:spLocks xmlns:a="http://schemas.openxmlformats.org/drawingml/2006/main" noGrp="1"/>
          </p:cNvSpPr>
          <p:nvPr/>
        </p:nvSpPr>
        <p:spPr>
          <a:xfrm xmlns:a="http://schemas.openxmlformats.org/drawingml/2006/main">
            <a:off x="6610350" y="328612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A50026"/>
                </a:solidFill>
                <a:latin typeface="Times New Roman"/>
                <a:ea typeface="Times New Roman"/>
                <a:cs typeface="Times New Roman"/>
              </a:defRPr>
            </a:defPPr>
          </a:lstStyle>
          <a:p xmlns:a="http://schemas.openxmlformats.org/drawingml/2006/main">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xmlns:a="http://schemas.openxmlformats.org/drawingml/2006/main">
              <a:ext uri="{FF2B5EF4-FFF2-40B4-BE49-F238E27FC236}">
                <a16:creationId xmlns:a16="http://schemas.microsoft.com/office/drawing/2014/main" id="{EC6D5905-D6B4-4632-95EA-E52D9EB81E11}"/>
              </a:ext>
            </a:extLst>
          </p:cNvPr>
          <p:cNvSpPr>
            <a:spLocks xmlns:a="http://schemas.openxmlformats.org/drawingml/2006/main" noGrp="1"/>
          </p:cNvSpPr>
          <p:nvPr/>
        </p:nvSpPr>
        <p:spPr>
          <a:xfrm xmlns:a="http://schemas.openxmlformats.org/drawingml/2006/main">
            <a:off x="6610350" y="3819525"/>
            <a:ext cx="51244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111111"/>
                </a:solidFill>
                <a:latin typeface="Times New Roman"/>
                <a:ea typeface="Times New Roman"/>
                <a:cs typeface="Times New Roman"/>
              </a:defRPr>
            </a:defPPr>
          </a:lstStyle>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correlation formula.</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 misses the effect of the initial spacing,</a:t>
            </a:r>
          </a:p>
          <a:p xmlns:a="http://schemas.openxmlformats.org/drawingml/2006/main">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so the covariance is too large.</a:t>
            </a:r>
          </a:p>
        </p:txBody>
      </p:sp>
      <p:sp>
        <p:nvSpPr>
          <p:cNvPr id="38" name="Rectangle 37">
            <a:extLst xmlns:a="http://schemas.openxmlformats.org/drawingml/2006/main">
              <a:ext uri="{FF2B5EF4-FFF2-40B4-BE49-F238E27FC236}">
                <a16:creationId xmlns:a16="http://schemas.microsoft.com/office/drawing/2014/main" id="{B430F3E2-3BE0-4DA7-AFF9-D384305F98EB}"/>
              </a:ext>
            </a:extLst>
          </p:cNvPr>
          <p:cNvSpPr>
            <a:spLocks xmlns:a="http://schemas.openxmlformats.org/drawingml/2006/main" noGrp="1"/>
          </p:cNvSpPr>
          <p:nvPr/>
        </p:nvSpPr>
        <p:spPr>
          <a:xfrm xmlns:a="http://schemas.openxmlformats.org/drawingml/2006/main">
            <a:off x="457200" y="5476875"/>
            <a:ext cx="11277600" cy="12383"/>
          </a:xfrm>
          <a:prstGeom xmlns:a="http://schemas.openxmlformats.org/drawingml/2006/main" prst="rect">
            <a:avLst/>
          </a:prstGeom>
          <a:solidFill xmlns:a="http://schemas.openxmlformats.org/drawingml/2006/main">
            <a:srgbClr val="D1D5D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66A75466-E52D-47F7-AC02-3EC78F3F82E0}"/>
              </a:ext>
            </a:extLst>
          </p:cNvPr>
          <p:cNvSpPr>
            <a:spLocks xmlns:a="http://schemas.openxmlformats.org/drawingml/2006/main" noGrp="1"/>
          </p:cNvSpPr>
          <p:nvPr/>
        </p:nvSpPr>
        <p:spPr>
          <a:xfrm xmlns:a="http://schemas.openxmlformats.org/drawingml/2006/main">
            <a:off x="457200" y="5675792"/>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11111"/>
                </a:solidFill>
                <a:latin typeface="Times New Roman"/>
                <a:ea typeface="Times New Roman"/>
                <a:cs typeface="Times New Roman"/>
              </a:defRPr>
            </a:defPPr>
          </a:lstStyle>
          <a:p xmlns:a="http://schemas.openxmlformats.org/drawingml/2006/main">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Covariance errors reach 136% (allowed tolerance: 4%).</a:t>
            </a:r>
          </a:p>
        </p:txBody>
      </p:sp>
      <p:sp>
        <p:nvSpPr>
          <p:cNvPr id="41" name="Rectangle 40">
            <a:extLst xmlns:a="http://schemas.openxmlformats.org/drawingml/2006/main">
              <a:ext uri="{FF2B5EF4-FFF2-40B4-BE49-F238E27FC236}">
                <a16:creationId xmlns:a16="http://schemas.microsoft.com/office/drawing/2014/main" id="{72B33178-FBED-4B95-AC40-7C6C8116265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r">
              <a:defRPr sz="1200" b="0">
                <a:solidFill>
                  <a:srgbClr val="777777"/>
                </a:solidFill>
                <a:latin typeface="Times New Roman"/>
                <a:ea typeface="Times New Roman"/>
                <a:cs typeface="Times New Roman"/>
              </a:defRPr>
            </a:defPPr>
          </a:lstStyle>
          <a:p xmlns:a="http://schemas.openxmlformats.org/drawingml/2006/main">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10E50B44-48E6-416C-9860-3C03878314C7}"/>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xmlns:a="http://schemas.openxmlformats.org/drawingml/2006/main">
              <a:ext uri="{FF2B5EF4-FFF2-40B4-BE49-F238E27FC236}">
                <a16:creationId xmlns:a16="http://schemas.microsoft.com/office/drawing/2014/main" id="{9AFB84F0-75DD-4F99-9444-0BF9DFCD2BEB}"/>
              </a:ext>
            </a:extLst>
          </p:cNvPr>
          <p:cNvSpPr>
            <a:spLocks xmlns:a="http://schemas.openxmlformats.org/drawingml/2006/main" noGrp="1"/>
          </p:cNvSpPr>
          <p:nvPr/>
        </p:nvSpPr>
        <p:spPr>
          <a:xfrm xmlns:a="http://schemas.openxmlformats.org/drawingml/2006/main">
            <a:off x="609600" y="16097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Agents can fit observations and still miss the physics</a:t>
            </a:r>
          </a:p>
        </p:txBody>
      </p:sp>
      <p:sp>
        <p:nvSpPr>
          <p:cNvPr id="3" name="Rectangle 2">
            <a:extLst xmlns:a="http://schemas.openxmlformats.org/drawingml/2006/main">
              <a:ext uri="{FF2B5EF4-FFF2-40B4-BE49-F238E27FC236}">
                <a16:creationId xmlns:a16="http://schemas.microsoft.com/office/drawing/2014/main" id="{0B2C7386-EAD4-4C99-88E7-41B295B555FC}"/>
              </a:ext>
            </a:extLst>
          </p:cNvPr>
          <p:cNvSpPr>
            <a:spLocks xmlns:a="http://schemas.openxmlformats.org/drawingml/2006/main" noGrp="1"/>
          </p:cNvSpPr>
          <p:nvPr/>
        </p:nvSpPr>
        <p:spPr>
          <a:xfrm xmlns:a="http://schemas.openxmlformats.org/drawingml/2006/main">
            <a:off x="609600" y="2219325"/>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xmlns:a="http://schemas.openxmlformats.org/drawingml/2006/main">
              <a:ext uri="{FF2B5EF4-FFF2-40B4-BE49-F238E27FC236}">
                <a16:creationId xmlns:a16="http://schemas.microsoft.com/office/drawing/2014/main" id="{6ACA5743-0522-4422-A526-56BBA71F09D6}"/>
              </a:ext>
            </a:extLst>
          </p:cNvPr>
          <p:cNvSpPr>
            <a:spLocks xmlns:a="http://schemas.openxmlformats.org/drawingml/2006/main" noGrp="1"/>
          </p:cNvSpPr>
          <p:nvPr/>
        </p:nvSpPr>
        <p:spPr>
          <a:xfrm xmlns:a="http://schemas.openxmlformats.org/drawingml/2006/main">
            <a:off x="609600" y="3257550"/>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Hints reduce observed physics failures</a:t>
            </a:r>
          </a:p>
        </p:txBody>
      </p:sp>
      <p:sp>
        <p:nvSpPr>
          <p:cNvPr id="5" name="Rectangle 4">
            <a:extLst xmlns:a="http://schemas.openxmlformats.org/drawingml/2006/main">
              <a:ext uri="{FF2B5EF4-FFF2-40B4-BE49-F238E27FC236}">
                <a16:creationId xmlns:a16="http://schemas.microsoft.com/office/drawing/2014/main" id="{2B6D1906-A7F2-4178-AA65-A670BAAA2EE4}"/>
              </a:ext>
            </a:extLst>
          </p:cNvPr>
          <p:cNvSpPr>
            <a:spLocks xmlns:a="http://schemas.openxmlformats.org/drawingml/2006/main" noGrp="1"/>
          </p:cNvSpPr>
          <p:nvPr/>
        </p:nvSpPr>
        <p:spPr>
          <a:xfrm xmlns:a="http://schemas.openxmlformats.org/drawingml/2006/main">
            <a:off x="609600" y="3867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Luna High: 33/39 without hints, 12/39 with a general hint,</a:t>
            </a:r>
          </a:p>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and 2/39 with a physics hint.</a:t>
            </a:r>
          </a:p>
        </p:txBody>
      </p:sp>
      <p:sp>
        <p:nvSpPr>
          <p:cNvPr id="6" name="Rectangle 5">
            <a:extLst xmlns:a="http://schemas.openxmlformats.org/drawingml/2006/main">
              <a:ext uri="{FF2B5EF4-FFF2-40B4-BE49-F238E27FC236}">
                <a16:creationId xmlns:a16="http://schemas.microsoft.com/office/drawing/2014/main" id="{5D605833-9C79-493D-84E5-16F6E9A05EBF}"/>
              </a:ext>
            </a:extLst>
          </p:cNvPr>
          <p:cNvSpPr>
            <a:spLocks xmlns:a="http://schemas.openxmlformats.org/drawingml/2006/main" noGrp="1"/>
          </p:cNvSpPr>
          <p:nvPr/>
        </p:nvSpPr>
        <p:spPr>
          <a:xfrm xmlns:a="http://schemas.openxmlformats.org/drawingml/2006/main">
            <a:off x="609600" y="490537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11111"/>
                </a:solidFill>
                <a:latin typeface="Times New Roman"/>
                <a:ea typeface="Times New Roman"/>
                <a:cs typeface="Times New Roman"/>
              </a:defRPr>
            </a:defPPr>
          </a:lstStyle>
          <a:p xmlns:a="http://schemas.openxmlformats.org/drawingml/2006/main">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gains suggest a gap in physical reasoning</a:t>
            </a:r>
          </a:p>
        </p:txBody>
      </p:sp>
      <p:sp>
        <p:nvSpPr>
          <p:cNvPr id="7" name="Rectangle 6">
            <a:extLst xmlns:a="http://schemas.openxmlformats.org/drawingml/2006/main">
              <a:ext uri="{FF2B5EF4-FFF2-40B4-BE49-F238E27FC236}">
                <a16:creationId xmlns:a16="http://schemas.microsoft.com/office/drawing/2014/main" id="{4FB740C6-2A78-43B4-94E0-F1DA4CC2609E}"/>
              </a:ext>
            </a:extLst>
          </p:cNvPr>
          <p:cNvSpPr>
            <a:spLocks xmlns:a="http://schemas.openxmlformats.org/drawingml/2006/main" noGrp="1"/>
          </p:cNvSpPr>
          <p:nvPr/>
        </p:nvSpPr>
        <p:spPr>
          <a:xfrm xmlns:a="http://schemas.openxmlformats.org/drawingml/2006/main">
            <a:off x="609600" y="55149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444444"/>
                </a:solidFill>
                <a:latin typeface="Times New Roman"/>
                <a:ea typeface="Times New Roman"/>
                <a:cs typeface="Times New Roman"/>
              </a:defRPr>
            </a:defPPr>
          </a:lstStyle>
          <a:p xmlns:a="http://schemas.openxmlformats.org/drawingml/2006/main">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Agents often need guidance to identify and use relevant physics.</a:t>
            </a:r>
          </a:p>
        </p:txBody>
      </p:sp>
      <p:sp>
        <p:nvSpPr>
          <p:cNvPr id="10" name="Rectangle 9">
            <a:extLst xmlns:a="http://schemas.openxmlformats.org/drawingml/2006/main">
              <a:ext uri="{FF2B5EF4-FFF2-40B4-BE49-F238E27FC236}">
                <a16:creationId xmlns:a16="http://schemas.microsoft.com/office/drawing/2014/main" id="{CE164575-2928-4D3E-956F-8803F36A47D9}"/>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sld>
</file>

<file path=ppt/slides/slide12.xml><?xml version="1.0" encoding="utf-8"?>
<p:sld xmlns:p="http://schemas.openxmlformats.org/presentationml/2006/main">
  <p:cSld>
    <p:bg>
      <p:bgPr>
        <a:solidFill xmlns:a="http://schemas.openxmlformats.org/drawingml/2006/main">
          <a:srgbClr val="0B0B0F"/>
        </a:solidFill>
      </p:bgPr>
    </p:bg>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29447901-9249-469C-A67F-257239997CC0}"/>
              </a:ext>
            </a:extLst>
          </p:cNvPr>
          <p:cNvSpPr>
            <a:spLocks xmlns:a="http://schemas.openxmlformats.org/drawingml/2006/main" noGrp="1"/>
          </p:cNvSpPr>
          <p:nvPr/>
        </p:nvSpPr>
        <p:spPr>
          <a:xfrm xmlns:a="http://schemas.openxmlformats.org/drawingml/2006/main">
            <a:off x="609600" y="23336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700" b="1" i="0">
                <a:solidFill>
                  <a:srgbClr val="FFFFFF"/>
                </a:solidFill>
                <a:latin typeface="Times New Roman"/>
                <a:ea typeface="Times New Roman"/>
                <a:cs typeface="Times New Roman"/>
              </a:defRPr>
            </a:defPPr>
          </a:lstStyle>
          <a:p xmlns:a="http://schemas.openxmlformats.org/drawingml/2006/main">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xmlns:a="http://schemas.openxmlformats.org/drawingml/2006/main">
              <a:ext uri="{FF2B5EF4-FFF2-40B4-BE49-F238E27FC236}">
                <a16:creationId xmlns:a16="http://schemas.microsoft.com/office/drawing/2014/main" id="{2AE705A4-0FC6-405B-B3A2-4281C7C3DE5F}"/>
              </a:ext>
            </a:extLst>
          </p:cNvPr>
          <p:cNvSpPr>
            <a:spLocks xmlns:a="http://schemas.openxmlformats.org/drawingml/2006/main" noGrp="1"/>
          </p:cNvSpPr>
          <p:nvPr/>
        </p:nvSpPr>
        <p:spPr>
          <a:xfrm xmlns:a="http://schemas.openxmlformats.org/drawingml/2006/main">
            <a:off x="609600" y="36671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00" b="0" i="0">
                <a:solidFill>
                  <a:srgbClr val="D1D5DB"/>
                </a:solidFill>
                <a:latin typeface="Times New Roman"/>
                <a:ea typeface="Times New Roman"/>
                <a:cs typeface="Times New Roman"/>
              </a:defRPr>
            </a:defPPr>
          </a:lstStyle>
          <a:p xmlns:a="http://schemas.openxmlformats.org/drawingml/2006/main">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C4B44AF-C39B-480E-8294-BE118959A9F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xmlns:a="http://schemas.openxmlformats.org/drawingml/2006/main">
              <a:ext uri="{FF2B5EF4-FFF2-40B4-BE49-F238E27FC236}">
                <a16:creationId xmlns:a16="http://schemas.microsoft.com/office/drawing/2014/main" id="{3A8418D7-28B2-48E6-8C97-350F2EC2D7A5}"/>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xmlns:a="http://schemas.openxmlformats.org/drawingml/2006/main">
              <a:ext uri="{FF2B5EF4-FFF2-40B4-BE49-F238E27FC236}">
                <a16:creationId xmlns:a16="http://schemas.microsoft.com/office/drawing/2014/main" id="{1B56C1CF-C64F-4769-A5BE-C66C3A2DADCD}"/>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xmlns:a="http://schemas.openxmlformats.org/drawingml/2006/main">
              <a:ext uri="{FF2B5EF4-FFF2-40B4-BE49-F238E27FC236}">
                <a16:creationId xmlns:a16="http://schemas.microsoft.com/office/drawing/2014/main" id="{8F6393A4-F0E6-444A-87EC-59ECC98471F5}"/>
              </a:ext>
            </a:extLst>
          </p:cNvPr>
          <p:cNvGraphicFramePr/>
          <p:nvPr/>
        </p:nvGraphicFramePr>
        <p:xfrm>
          <a:off xmlns:a="http://schemas.openxmlformats.org/drawingml/2006/main" x="4572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Terra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graphicFrame>
        <p:nvGraphicFramePr>
          <p:cNvPr id="5" name="Table 4">
            <a:extLst xmlns:a="http://schemas.openxmlformats.org/drawingml/2006/main">
              <a:ext uri="{FF2B5EF4-FFF2-40B4-BE49-F238E27FC236}">
                <a16:creationId xmlns:a16="http://schemas.microsoft.com/office/drawing/2014/main" id="{FB50FDEF-2145-4871-ABA5-719710BF5DCD}"/>
              </a:ext>
            </a:extLst>
          </p:cNvPr>
          <p:cNvGraphicFramePr/>
          <p:nvPr/>
        </p:nvGraphicFramePr>
        <p:xfrm>
          <a:off xmlns:a="http://schemas.openxmlformats.org/drawingml/2006/main" x="6210300" y="1533525"/>
          <a:ext xmlns:a="http://schemas.openxmlformats.org/drawingml/2006/main" cx="5524500" cy="4210050"/>
        </p:xfrm>
        <a:graphic xmlns:a="http://schemas.openxmlformats.org/drawingml/2006/main">
          <a:graphicData uri="http://schemas.openxmlformats.org/drawingml/2006/table">
            <a:tbl>
              <a:tblPr/>
              <a:tblGrid>
                <a:gridCol w="2362200"/>
                <a:gridCol w="1057275"/>
                <a:gridCol w="809625"/>
                <a:gridCol w="1295400"/>
              </a:tblGrid>
              <a:tr h="323850">
                <a:tc>
                  <a:txBody>
                    <a:bodyPr/>
                    <a:lstStyle/>
                    <a:p>
                      <a:r>
                        <a:rPr sz="1575"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23850">
                <a:tc>
                  <a:txBody>
                    <a:bodyPr/>
                    <a:lstStyle/>
                    <a:p>
                      <a:r>
                        <a:rPr sz="1575" b="0">
                          <a:solidFill>
                            <a:srgbClr val="111111"/>
                          </a:solidFill>
                          <a:latin typeface="Times New Roman"/>
                          <a:ea typeface="Times New Roman"/>
                          <a:cs typeface="Times New Roman"/>
                        </a:rPr>
                        <a:t>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Sol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Sol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6 Astra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6 Astra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23850">
                <a:tc>
                  <a:txBody>
                    <a:bodyPr/>
                    <a:lstStyle/>
                    <a:p>
                      <a:r>
                        <a:rPr sz="1575" b="0">
                          <a:solidFill>
                            <a:srgbClr val="111111"/>
                          </a:solidFill>
                          <a:latin typeface="Times New Roman"/>
                          <a:ea typeface="Times New Roman"/>
                          <a:cs typeface="Times New Roman"/>
                        </a:rPr>
                        <a:t>DeepSeek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23850">
                <a:tc>
                  <a:txBody>
                    <a:bodyPr/>
                    <a:lstStyle/>
                    <a:p>
                      <a:r>
                        <a:rPr sz="1575" b="0">
                          <a:solidFill>
                            <a:srgbClr val="111111"/>
                          </a:solidFill>
                          <a:latin typeface="Times New Roman"/>
                          <a:ea typeface="Times New Roman"/>
                          <a:cs typeface="Times New Roman"/>
                        </a:rPr>
                        <a:t>DeepSeek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6" name="Rectangle 5">
            <a:extLst xmlns:a="http://schemas.openxmlformats.org/drawingml/2006/main">
              <a:ext uri="{FF2B5EF4-FFF2-40B4-BE49-F238E27FC236}">
                <a16:creationId xmlns:a16="http://schemas.microsoft.com/office/drawing/2014/main" id="{0C10FABB-0C4C-4688-86EF-D33F291F34DF}"/>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046EAFF2-DF32-4821-A2AE-13D4AC0E04AC}"/>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xmlns:a="http://schemas.openxmlformats.org/drawingml/2006/main">
              <a:ext uri="{FF2B5EF4-FFF2-40B4-BE49-F238E27FC236}">
                <a16:creationId xmlns:a16="http://schemas.microsoft.com/office/drawing/2014/main" id="{EA4DE82B-2412-479E-A5E7-5266E1032F2A}"/>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xmlns:a="http://schemas.openxmlformats.org/drawingml/2006/main">
              <a:ext uri="{FF2B5EF4-FFF2-40B4-BE49-F238E27FC236}">
                <a16:creationId xmlns:a16="http://schemas.microsoft.com/office/drawing/2014/main" id="{B38A0E69-2856-4E3F-89B8-CA92EF53A95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xmlns:a="http://schemas.openxmlformats.org/drawingml/2006/main">
              <a:ext uri="{FF2B5EF4-FFF2-40B4-BE49-F238E27FC236}">
                <a16:creationId xmlns:a16="http://schemas.microsoft.com/office/drawing/2014/main" id="{6036AB4A-8178-4E43-8EBA-503B406B6F75}"/>
              </a:ext>
            </a:extLst>
          </p:cNvPr>
          <p:cNvGraphicFramePr/>
          <p:nvPr/>
        </p:nvGraphicFramePr>
        <p:xfrm>
          <a:off xmlns:a="http://schemas.openxmlformats.org/drawingml/2006/main" x="457200" y="1533525"/>
          <a:ext xmlns:a="http://schemas.openxmlformats.org/drawingml/2006/main" cx="11277600" cy="4333875"/>
        </p:xfrm>
        <a:graphic xmlns:a="http://schemas.openxmlformats.org/drawingml/2006/main">
          <a:graphicData uri="http://schemas.openxmlformats.org/drawingml/2006/table">
            <a:tbl>
              <a:tblPr/>
              <a:tblGrid>
                <a:gridCol w="4419600"/>
                <a:gridCol w="2286000"/>
                <a:gridCol w="2286000"/>
                <a:gridCol w="2286000"/>
              </a:tblGrid>
              <a:tr h="333375">
                <a:tc>
                  <a:txBody>
                    <a:bodyPr/>
                    <a:lstStyle/>
                    <a:p>
                      <a:r>
                        <a:rPr sz="1650" b="1">
                          <a:solidFill>
                            <a:srgbClr val="FFFFFF"/>
                          </a:solidFill>
                          <a:latin typeface="Times New Roman"/>
                          <a:ea typeface="Times New Roman"/>
                          <a:cs typeface="Times New Roman"/>
                        </a:rPr>
                        <a:t>Model and effort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marL="91440" marR="91440" marT="45720" marB="45720"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333375">
                <a:tc>
                  <a:txBody>
                    <a:bodyPr/>
                    <a:lstStyle/>
                    <a:p>
                      <a:r>
                        <a:rPr sz="1650" b="0">
                          <a:solidFill>
                            <a:srgbClr val="111111"/>
                          </a:solidFill>
                          <a:latin typeface="Times New Roman"/>
                          <a:ea typeface="Times New Roman"/>
                          <a:cs typeface="Times New Roman"/>
                        </a:rPr>
                        <a:t>GPT-5.6 Luna None</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Luna Extra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Luna Max</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Terra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Terra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GPT-5.6 Sol Low</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r h="333375">
                <a:tc>
                  <a:txBody>
                    <a:bodyPr/>
                    <a:lstStyle/>
                    <a:p>
                      <a:r>
                        <a:rPr sz="1650" b="0">
                          <a:solidFill>
                            <a:srgbClr val="111111"/>
                          </a:solidFill>
                          <a:latin typeface="Times New Roman"/>
                          <a:ea typeface="Times New Roman"/>
                          <a:cs typeface="Times New Roman"/>
                        </a:rPr>
                        <a:t>GPT-5.6 Sol Medium</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r>
              <a:tr h="333375">
                <a:tc>
                  <a:txBody>
                    <a:bodyPr/>
                    <a:lstStyle/>
                    <a:p>
                      <a:r>
                        <a:rPr sz="1650" b="0">
                          <a:solidFill>
                            <a:srgbClr val="111111"/>
                          </a:solidFill>
                          <a:latin typeface="Times New Roman"/>
                          <a:ea typeface="Times New Roman"/>
                          <a:cs typeface="Times New Roman"/>
                        </a:rPr>
                        <a:t>DeepSeek V4.1 Flash High</a:t>
                      </a:r>
                    </a:p>
                  </a:txBody>
                  <a:tcPr marL="91440" marR="91440" marT="45720" marB="45720"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marL="91440" marR="91440" marT="45720" marB="45720"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r>
            </a:tbl>
          </a:graphicData>
        </a:graphic>
      </p:graphicFrame>
      <p:sp>
        <p:nvSpPr>
          <p:cNvPr id="5" name="Rectangle 4">
            <a:extLst xmlns:a="http://schemas.openxmlformats.org/drawingml/2006/main">
              <a:ext uri="{FF2B5EF4-FFF2-40B4-BE49-F238E27FC236}">
                <a16:creationId xmlns:a16="http://schemas.microsoft.com/office/drawing/2014/main" id="{3007565F-8EDB-461A-AD1E-EA5E177192C0}"/>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6BA0FF3-04EA-4212-BFD6-BA0891C308E1}"/>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i="0">
                <a:solidFill>
                  <a:srgbClr val="111111"/>
                </a:solidFill>
                <a:latin typeface="Times New Roman"/>
                <a:ea typeface="Times New Roman"/>
                <a:cs typeface="Times New Roman"/>
              </a:defRPr>
            </a:defPPr>
          </a:lstStyle>
          <a:p xmlns:a="http://schemas.openxmlformats.org/drawingml/2006/main">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xmlns:a="http://schemas.openxmlformats.org/drawingml/2006/main">
              <a:ext uri="{FF2B5EF4-FFF2-40B4-BE49-F238E27FC236}">
                <a16:creationId xmlns:a16="http://schemas.microsoft.com/office/drawing/2014/main" id="{1B617954-181A-4A23-BF2D-053035054F7D}"/>
              </a:ext>
            </a:extLst>
          </p:cNvPr>
          <p:cNvSpPr>
            <a:spLocks xmlns:a="http://schemas.openxmlformats.org/drawingml/2006/main" noGrp="1"/>
          </p:cNvSpPr>
          <p:nvPr/>
        </p:nvSpPr>
        <p:spPr>
          <a:xfrm xmlns:a="http://schemas.openxmlformats.org/drawingml/2006/main">
            <a:off x="4572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xmlns:a="http://schemas.openxmlformats.org/drawingml/2006/main">
              <a:ext uri="{FF2B5EF4-FFF2-40B4-BE49-F238E27FC236}">
                <a16:creationId xmlns:a16="http://schemas.microsoft.com/office/drawing/2014/main" id="{E184659C-ED43-48C5-9DD3-A617939BA21B}"/>
              </a:ext>
            </a:extLst>
          </p:cNvPr>
          <p:cNvSpPr>
            <a:spLocks xmlns:a="http://schemas.openxmlformats.org/drawingml/2006/main" noGrp="1"/>
          </p:cNvSpPr>
          <p:nvPr/>
        </p:nvSpPr>
        <p:spPr>
          <a:xfrm xmlns:a="http://schemas.openxmlformats.org/drawingml/2006/main">
            <a:off x="4572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xmlns:a="http://schemas.openxmlformats.org/drawingml/2006/main">
              <a:ext uri="{FF2B5EF4-FFF2-40B4-BE49-F238E27FC236}">
                <a16:creationId xmlns:a16="http://schemas.microsoft.com/office/drawing/2014/main" id="{ACEAC897-E548-4A51-9467-D4512B3E482F}"/>
              </a:ext>
            </a:extLst>
          </p:cNvPr>
          <p:cNvSpPr>
            <a:spLocks xmlns:a="http://schemas.openxmlformats.org/drawingml/2006/main" noGrp="1"/>
          </p:cNvSpPr>
          <p:nvPr/>
        </p:nvSpPr>
        <p:spPr>
          <a:xfrm xmlns:a="http://schemas.openxmlformats.org/drawingml/2006/main">
            <a:off x="4572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xmlns:a="http://schemas.openxmlformats.org/drawingml/2006/main">
              <a:ext uri="{FF2B5EF4-FFF2-40B4-BE49-F238E27FC236}">
                <a16:creationId xmlns:a16="http://schemas.microsoft.com/office/drawing/2014/main" id="{8109EB7F-43D7-488D-8A62-D803A593F497}"/>
              </a:ext>
            </a:extLst>
          </p:cNvPr>
          <p:cNvSpPr>
            <a:spLocks xmlns:a="http://schemas.openxmlformats.org/drawingml/2006/main" noGrp="1"/>
          </p:cNvSpPr>
          <p:nvPr/>
        </p:nvSpPr>
        <p:spPr>
          <a:xfrm xmlns:a="http://schemas.openxmlformats.org/drawingml/2006/main">
            <a:off x="4572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xmlns:a="http://schemas.openxmlformats.org/drawingml/2006/main">
              <a:ext uri="{FF2B5EF4-FFF2-40B4-BE49-F238E27FC236}">
                <a16:creationId xmlns:a16="http://schemas.microsoft.com/office/drawing/2014/main" id="{FFB1FA39-94CE-431E-9645-61A0CC786757}"/>
              </a:ext>
            </a:extLst>
          </p:cNvPr>
          <p:cNvSpPr>
            <a:spLocks xmlns:a="http://schemas.openxmlformats.org/drawingml/2006/main" noGrp="1"/>
          </p:cNvSpPr>
          <p:nvPr/>
        </p:nvSpPr>
        <p:spPr>
          <a:xfrm xmlns:a="http://schemas.openxmlformats.org/drawingml/2006/main">
            <a:off x="4572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xmlns:a="http://schemas.openxmlformats.org/drawingml/2006/main">
              <a:ext uri="{FF2B5EF4-FFF2-40B4-BE49-F238E27FC236}">
                <a16:creationId xmlns:a16="http://schemas.microsoft.com/office/drawing/2014/main" id="{C417F617-88C4-4E5F-8408-0643D2B6A682}"/>
              </a:ext>
            </a:extLst>
          </p:cNvPr>
          <p:cNvSpPr>
            <a:spLocks xmlns:a="http://schemas.openxmlformats.org/drawingml/2006/main" noGrp="1"/>
          </p:cNvSpPr>
          <p:nvPr/>
        </p:nvSpPr>
        <p:spPr>
          <a:xfrm xmlns:a="http://schemas.openxmlformats.org/drawingml/2006/main">
            <a:off x="4572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xmlns:a="http://schemas.openxmlformats.org/drawingml/2006/main">
              <a:ext uri="{FF2B5EF4-FFF2-40B4-BE49-F238E27FC236}">
                <a16:creationId xmlns:a16="http://schemas.microsoft.com/office/drawing/2014/main" id="{911F5FFF-8663-471A-98CE-29B1F1D9B568}"/>
              </a:ext>
            </a:extLst>
          </p:cNvPr>
          <p:cNvSpPr>
            <a:spLocks xmlns:a="http://schemas.openxmlformats.org/drawingml/2006/main" noGrp="1"/>
          </p:cNvSpPr>
          <p:nvPr/>
        </p:nvSpPr>
        <p:spPr>
          <a:xfrm xmlns:a="http://schemas.openxmlformats.org/drawingml/2006/main">
            <a:off x="457200"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xmlns:a="http://schemas.openxmlformats.org/drawingml/2006/main">
              <a:ext uri="{FF2B5EF4-FFF2-40B4-BE49-F238E27FC236}">
                <a16:creationId xmlns:a16="http://schemas.microsoft.com/office/drawing/2014/main" id="{B86DA223-D697-451A-A51A-91BE7366B2E3}"/>
              </a:ext>
            </a:extLst>
          </p:cNvPr>
          <p:cNvSpPr>
            <a:spLocks xmlns:a="http://schemas.openxmlformats.org/drawingml/2006/main" noGrp="1"/>
          </p:cNvSpPr>
          <p:nvPr/>
        </p:nvSpPr>
        <p:spPr>
          <a:xfrm xmlns:a="http://schemas.openxmlformats.org/drawingml/2006/main">
            <a:off x="6362700" y="1419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xmlns:a="http://schemas.openxmlformats.org/drawingml/2006/main">
              <a:ext uri="{FF2B5EF4-FFF2-40B4-BE49-F238E27FC236}">
                <a16:creationId xmlns:a16="http://schemas.microsoft.com/office/drawing/2014/main" id="{7808C839-AEFA-4D36-B29C-420F636341B5}"/>
              </a:ext>
            </a:extLst>
          </p:cNvPr>
          <p:cNvSpPr>
            <a:spLocks xmlns:a="http://schemas.openxmlformats.org/drawingml/2006/main" noGrp="1"/>
          </p:cNvSpPr>
          <p:nvPr/>
        </p:nvSpPr>
        <p:spPr>
          <a:xfrm xmlns:a="http://schemas.openxmlformats.org/drawingml/2006/main">
            <a:off x="6362700" y="1952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xmlns:a="http://schemas.openxmlformats.org/drawingml/2006/main">
              <a:ext uri="{FF2B5EF4-FFF2-40B4-BE49-F238E27FC236}">
                <a16:creationId xmlns:a16="http://schemas.microsoft.com/office/drawing/2014/main" id="{7A716844-98DE-4D97-BD8E-850B5CC8A603}"/>
              </a:ext>
            </a:extLst>
          </p:cNvPr>
          <p:cNvSpPr>
            <a:spLocks xmlns:a="http://schemas.openxmlformats.org/drawingml/2006/main" noGrp="1"/>
          </p:cNvSpPr>
          <p:nvPr/>
        </p:nvSpPr>
        <p:spPr>
          <a:xfrm xmlns:a="http://schemas.openxmlformats.org/drawingml/2006/main">
            <a:off x="6362700" y="24860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xmlns:a="http://schemas.openxmlformats.org/drawingml/2006/main">
              <a:ext uri="{FF2B5EF4-FFF2-40B4-BE49-F238E27FC236}">
                <a16:creationId xmlns:a16="http://schemas.microsoft.com/office/drawing/2014/main" id="{8E313484-B01D-4662-9B77-A526F38FCA36}"/>
              </a:ext>
            </a:extLst>
          </p:cNvPr>
          <p:cNvSpPr>
            <a:spLocks xmlns:a="http://schemas.openxmlformats.org/drawingml/2006/main" noGrp="1"/>
          </p:cNvSpPr>
          <p:nvPr/>
        </p:nvSpPr>
        <p:spPr>
          <a:xfrm xmlns:a="http://schemas.openxmlformats.org/drawingml/2006/main">
            <a:off x="6362700" y="30194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xmlns:a="http://schemas.openxmlformats.org/drawingml/2006/main">
              <a:ext uri="{FF2B5EF4-FFF2-40B4-BE49-F238E27FC236}">
                <a16:creationId xmlns:a16="http://schemas.microsoft.com/office/drawing/2014/main" id="{CB4180C1-0E47-4AC5-8EB7-942852E1E2D0}"/>
              </a:ext>
            </a:extLst>
          </p:cNvPr>
          <p:cNvSpPr>
            <a:spLocks xmlns:a="http://schemas.openxmlformats.org/drawingml/2006/main" noGrp="1"/>
          </p:cNvSpPr>
          <p:nvPr/>
        </p:nvSpPr>
        <p:spPr>
          <a:xfrm xmlns:a="http://schemas.openxmlformats.org/drawingml/2006/main">
            <a:off x="6362700" y="35528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xmlns:a="http://schemas.openxmlformats.org/drawingml/2006/main">
              <a:ext uri="{FF2B5EF4-FFF2-40B4-BE49-F238E27FC236}">
                <a16:creationId xmlns:a16="http://schemas.microsoft.com/office/drawing/2014/main" id="{A97A6698-C261-42DF-A038-2BFF43D3125B}"/>
              </a:ext>
            </a:extLst>
          </p:cNvPr>
          <p:cNvSpPr>
            <a:spLocks xmlns:a="http://schemas.openxmlformats.org/drawingml/2006/main" noGrp="1"/>
          </p:cNvSpPr>
          <p:nvPr/>
        </p:nvSpPr>
        <p:spPr>
          <a:xfrm xmlns:a="http://schemas.openxmlformats.org/drawingml/2006/main">
            <a:off x="6362700" y="40862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i="0">
                <a:solidFill>
                  <a:srgbClr val="111111"/>
                </a:solidFill>
                <a:latin typeface="Times New Roman"/>
                <a:ea typeface="Times New Roman"/>
                <a:cs typeface="Times New Roman"/>
              </a:defRPr>
            </a:defPPr>
          </a:lstStyle>
          <a:p xmlns:a="http://schemas.openxmlformats.org/drawingml/2006/main">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xmlns:a="http://schemas.openxmlformats.org/drawingml/2006/main">
              <a:ext uri="{FF2B5EF4-FFF2-40B4-BE49-F238E27FC236}">
                <a16:creationId xmlns:a16="http://schemas.microsoft.com/office/drawing/2014/main" id="{ABF92BC6-A106-4C0F-883D-9CF630DDC338}"/>
              </a:ext>
            </a:extLst>
          </p:cNvPr>
          <p:cNvSpPr>
            <a:spLocks xmlns:a="http://schemas.openxmlformats.org/drawingml/2006/main" noGrp="1"/>
          </p:cNvSpPr>
          <p:nvPr/>
        </p:nvSpPr>
        <p:spPr>
          <a:xfrm xmlns:a="http://schemas.openxmlformats.org/drawingml/2006/main">
            <a:off x="457200" y="606742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i="0">
                <a:solidFill>
                  <a:srgbClr val="777777"/>
                </a:solidFill>
                <a:latin typeface="Times New Roman"/>
                <a:ea typeface="Times New Roman"/>
                <a:cs typeface="Times New Roman"/>
              </a:defRPr>
            </a:defPPr>
          </a:lstStyle>
          <a:p xmlns:a="http://schemas.openxmlformats.org/drawingml/2006/main">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xmlns:a="http://schemas.openxmlformats.org/drawingml/2006/main">
              <a:ext uri="{FF2B5EF4-FFF2-40B4-BE49-F238E27FC236}">
                <a16:creationId xmlns:a16="http://schemas.microsoft.com/office/drawing/2014/main" id="{7B5E6208-A8BB-4725-9921-6CA79EB21DD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817B6CD4-DA5B-4A7F-A081-E2A2B31B4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600" b="1">
                <a:solidFill>
                  <a:srgbClr val="111111"/>
                </a:solidFill>
                <a:latin typeface="Times New Roman"/>
                <a:ea typeface="Times New Roman"/>
                <a:cs typeface="Times New Roman"/>
              </a:defRPr>
            </a:defPPr>
          </a:lstStyle>
          <a:p xmlns:a="http://schemas.openxmlformats.org/drawingml/2006/main">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xmlns:a="http://schemas.openxmlformats.org/drawingml/2006/main">
              <a:ext uri="{FF2B5EF4-FFF2-40B4-BE49-F238E27FC236}">
                <a16:creationId xmlns:a16="http://schemas.microsoft.com/office/drawing/2014/main" id="{D5E4B9E4-4CB2-45E9-BE61-2A76387824CA}"/>
              </a:ext>
            </a:extLst>
          </p:cNvPr>
          <p:cNvSpPr>
            <a:spLocks xmlns:a="http://schemas.openxmlformats.org/drawingml/2006/main" noGrp="1"/>
          </p:cNvSpPr>
          <p:nvPr/>
        </p:nvSpPr>
        <p:spPr>
          <a:xfrm xmlns:a="http://schemas.openxmlformats.org/drawingml/2006/main">
            <a:off x="457200" y="914400"/>
            <a:ext cx="11277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xmlns:a="http://schemas.openxmlformats.org/drawingml/2006/main">
              <a:ext uri="{FF2B5EF4-FFF2-40B4-BE49-F238E27FC236}">
                <a16:creationId xmlns:a16="http://schemas.microsoft.com/office/drawing/2014/main" id="{D7084F74-4A77-424A-8676-E2C561AADB53}"/>
              </a:ext>
            </a:extLst>
          </p:cNvPr>
          <p:cNvSpPr>
            <a:spLocks xmlns:a="http://schemas.openxmlformats.org/drawingml/2006/main" noGrp="1"/>
          </p:cNvSpPr>
          <p:nvPr/>
        </p:nvSpPr>
        <p:spPr>
          <a:xfrm xmlns:a="http://schemas.openxmlformats.org/drawingml/2006/main">
            <a:off x="457200" y="1533525"/>
            <a:ext cx="490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xmlns:a="http://schemas.openxmlformats.org/drawingml/2006/main">
              <a:ext uri="{FF2B5EF4-FFF2-40B4-BE49-F238E27FC236}">
                <a16:creationId xmlns:a16="http://schemas.microsoft.com/office/drawing/2014/main" id="{6FA7336F-7C6A-4BCE-8251-D4E67C80EBA4}"/>
              </a:ext>
            </a:extLst>
          </p:cNvPr>
          <p:cNvSpPr>
            <a:spLocks xmlns:a="http://schemas.openxmlformats.org/drawingml/2006/main" noGrp="1"/>
          </p:cNvSpPr>
          <p:nvPr/>
        </p:nvSpPr>
        <p:spPr>
          <a:xfrm xmlns:a="http://schemas.openxmlformats.org/drawingml/2006/main">
            <a:off x="457200" y="1971675"/>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xmlns:a="http://schemas.openxmlformats.org/drawingml/2006/main">
              <a:ext uri="{FF2B5EF4-FFF2-40B4-BE49-F238E27FC236}">
                <a16:creationId xmlns:a16="http://schemas.microsoft.com/office/drawing/2014/main" id="{87B85EBA-3D0E-4570-AB1C-A6DAAC2C6C19}"/>
              </a:ext>
            </a:extLst>
          </p:cNvPr>
          <p:cNvSpPr>
            <a:spLocks xmlns:a="http://schemas.openxmlformats.org/drawingml/2006/main" noGrp="1"/>
          </p:cNvSpPr>
          <p:nvPr/>
        </p:nvSpPr>
        <p:spPr>
          <a:xfrm xmlns:a="http://schemas.openxmlformats.org/drawingml/2006/main">
            <a:off x="457200" y="23812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24CC1E4B-DA4A-4952-9357-94695F024E82}"/>
              </a:ext>
            </a:extLst>
          </p:cNvPr>
          <p:cNvSpPr>
            <a:spLocks xmlns:a="http://schemas.openxmlformats.org/drawingml/2006/main" noGrp="1"/>
          </p:cNvSpPr>
          <p:nvPr/>
        </p:nvSpPr>
        <p:spPr>
          <a:xfrm xmlns:a="http://schemas.openxmlformats.org/drawingml/2006/main">
            <a:off x="457200" y="295275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C585912F-9C1E-4568-943F-CBE08EBBEEF3}"/>
              </a:ext>
            </a:extLst>
          </p:cNvPr>
          <p:cNvSpPr>
            <a:spLocks xmlns:a="http://schemas.openxmlformats.org/drawingml/2006/main" noGrp="1"/>
          </p:cNvSpPr>
          <p:nvPr/>
        </p:nvSpPr>
        <p:spPr>
          <a:xfrm xmlns:a="http://schemas.openxmlformats.org/drawingml/2006/main">
            <a:off x="8191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573E44D9-9C6E-4C68-B21F-0E97F4A722A1}"/>
              </a:ext>
            </a:extLst>
          </p:cNvPr>
          <p:cNvSpPr>
            <a:spLocks xmlns:a="http://schemas.openxmlformats.org/drawingml/2006/main" noGrp="1"/>
          </p:cNvSpPr>
          <p:nvPr/>
        </p:nvSpPr>
        <p:spPr>
          <a:xfrm xmlns:a="http://schemas.openxmlformats.org/drawingml/2006/main">
            <a:off x="15430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35222835-3645-4478-B478-7C25458AA3AD}"/>
              </a:ext>
            </a:extLst>
          </p:cNvPr>
          <p:cNvSpPr>
            <a:spLocks xmlns:a="http://schemas.openxmlformats.org/drawingml/2006/main" noGrp="1"/>
          </p:cNvSpPr>
          <p:nvPr/>
        </p:nvSpPr>
        <p:spPr>
          <a:xfrm xmlns:a="http://schemas.openxmlformats.org/drawingml/2006/main">
            <a:off x="2266950" y="250507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xmlns:a="http://schemas.openxmlformats.org/drawingml/2006/main">
              <a:ext uri="{FF2B5EF4-FFF2-40B4-BE49-F238E27FC236}">
                <a16:creationId xmlns:a16="http://schemas.microsoft.com/office/drawing/2014/main" id="{481EC8C4-2B3A-44A2-A2DF-D3B5BDC43513}"/>
              </a:ext>
            </a:extLst>
          </p:cNvPr>
          <p:cNvSpPr>
            <a:spLocks xmlns:a="http://schemas.openxmlformats.org/drawingml/2006/main" noGrp="1"/>
          </p:cNvSpPr>
          <p:nvPr/>
        </p:nvSpPr>
        <p:spPr>
          <a:xfrm xmlns:a="http://schemas.openxmlformats.org/drawingml/2006/main">
            <a:off x="29908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DA0C0A62-E4A3-467B-A311-2D83BDF1B9AF}"/>
              </a:ext>
            </a:extLst>
          </p:cNvPr>
          <p:cNvSpPr>
            <a:spLocks xmlns:a="http://schemas.openxmlformats.org/drawingml/2006/main" noGrp="1"/>
          </p:cNvSpPr>
          <p:nvPr/>
        </p:nvSpPr>
        <p:spPr>
          <a:xfrm xmlns:a="http://schemas.openxmlformats.org/drawingml/2006/main">
            <a:off x="37147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EACBA4F9-08AB-451A-A852-FD50A060CAF2}"/>
              </a:ext>
            </a:extLst>
          </p:cNvPr>
          <p:cNvSpPr>
            <a:spLocks xmlns:a="http://schemas.openxmlformats.org/drawingml/2006/main" noGrp="1"/>
          </p:cNvSpPr>
          <p:nvPr/>
        </p:nvSpPr>
        <p:spPr>
          <a:xfrm xmlns:a="http://schemas.openxmlformats.org/drawingml/2006/main">
            <a:off x="4438650" y="250507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93CE4E81-AFEA-4EAF-B896-3C060B8A4437}"/>
              </a:ext>
            </a:extLst>
          </p:cNvPr>
          <p:cNvSpPr>
            <a:spLocks xmlns:a="http://schemas.openxmlformats.org/drawingml/2006/main" noGrp="1"/>
          </p:cNvSpPr>
          <p:nvPr/>
        </p:nvSpPr>
        <p:spPr>
          <a:xfrm xmlns:a="http://schemas.openxmlformats.org/drawingml/2006/main">
            <a:off x="457200" y="3333750"/>
            <a:ext cx="4905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0">
                <a:solidFill>
                  <a:srgbClr val="444444"/>
                </a:solidFill>
                <a:latin typeface="Times New Roman"/>
                <a:ea typeface="Times New Roman"/>
                <a:cs typeface="Times New Roman"/>
              </a:defRPr>
            </a:defPPr>
          </a:lstStyle>
          <a:p xmlns:a="http://schemas.openxmlformats.org/drawingml/2006/main">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xmlns:a="http://schemas.openxmlformats.org/drawingml/2006/main">
              <a:ext uri="{FF2B5EF4-FFF2-40B4-BE49-F238E27FC236}">
                <a16:creationId xmlns:a16="http://schemas.microsoft.com/office/drawing/2014/main" id="{B847700A-C0A6-4E12-9D00-0EE5AE9846DC}"/>
              </a:ext>
            </a:extLst>
          </p:cNvPr>
          <p:cNvSpPr>
            <a:spLocks xmlns:a="http://schemas.openxmlformats.org/drawingml/2006/main" noGrp="1"/>
          </p:cNvSpPr>
          <p:nvPr/>
        </p:nvSpPr>
        <p:spPr>
          <a:xfrm xmlns:a="http://schemas.openxmlformats.org/drawingml/2006/main">
            <a:off x="457200" y="37338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EEECDFF-1488-4898-89D7-95611235AE31}"/>
              </a:ext>
            </a:extLst>
          </p:cNvPr>
          <p:cNvSpPr>
            <a:spLocks xmlns:a="http://schemas.openxmlformats.org/drawingml/2006/main" noGrp="1"/>
          </p:cNvSpPr>
          <p:nvPr/>
        </p:nvSpPr>
        <p:spPr>
          <a:xfrm xmlns:a="http://schemas.openxmlformats.org/drawingml/2006/main">
            <a:off x="457200" y="4305300"/>
            <a:ext cx="4905375" cy="19050"/>
          </a:xfrm>
          <a:prstGeom xmlns:a="http://schemas.openxmlformats.org/drawingml/2006/main" prst="rect">
            <a:avLst/>
          </a:prstGeom>
          <a:solidFill xmlns:a="http://schemas.openxmlformats.org/drawingml/2006/main">
            <a:srgbClr val="777777"/>
          </a:solidFill>
          <a:ln xmlns:a="http://schemas.openxmlformats.org/drawingml/2006/main" w="13335">
            <a:solidFill>
              <a:srgbClr val="77777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C3DD7281-A990-4437-A3F6-D1905D0C92FA}"/>
              </a:ext>
            </a:extLst>
          </p:cNvPr>
          <p:cNvSpPr>
            <a:spLocks xmlns:a="http://schemas.openxmlformats.org/drawingml/2006/main" noGrp="1"/>
          </p:cNvSpPr>
          <p:nvPr/>
        </p:nvSpPr>
        <p:spPr>
          <a:xfrm xmlns:a="http://schemas.openxmlformats.org/drawingml/2006/main">
            <a:off x="7048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7" name="Oval 16">
            <a:extLst xmlns:a="http://schemas.openxmlformats.org/drawingml/2006/main">
              <a:ext uri="{FF2B5EF4-FFF2-40B4-BE49-F238E27FC236}">
                <a16:creationId xmlns:a16="http://schemas.microsoft.com/office/drawing/2014/main" id="{E4B66C14-9B22-4218-BF4E-66A109931AE8}"/>
              </a:ext>
            </a:extLst>
          </p:cNvPr>
          <p:cNvSpPr>
            <a:spLocks xmlns:a="http://schemas.openxmlformats.org/drawingml/2006/main" noGrp="1"/>
          </p:cNvSpPr>
          <p:nvPr/>
        </p:nvSpPr>
        <p:spPr>
          <a:xfrm xmlns:a="http://schemas.openxmlformats.org/drawingml/2006/main">
            <a:off x="1381125"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18" name="Oval 17">
            <a:extLst xmlns:a="http://schemas.openxmlformats.org/drawingml/2006/main">
              <a:ext uri="{FF2B5EF4-FFF2-40B4-BE49-F238E27FC236}">
                <a16:creationId xmlns:a16="http://schemas.microsoft.com/office/drawing/2014/main" id="{8F84BEF1-1367-4E78-AA01-BC3889CEF4BC}"/>
              </a:ext>
            </a:extLst>
          </p:cNvPr>
          <p:cNvSpPr>
            <a:spLocks xmlns:a="http://schemas.openxmlformats.org/drawingml/2006/main" noGrp="1"/>
          </p:cNvSpPr>
          <p:nvPr/>
        </p:nvSpPr>
        <p:spPr>
          <a:xfrm xmlns:a="http://schemas.openxmlformats.org/drawingml/2006/main">
            <a:off x="2657475" y="3857625"/>
            <a:ext cx="342900" cy="342900"/>
          </a:xfrm>
          <a:prstGeom xmlns:a="http://schemas.openxmlformats.org/drawingml/2006/main" prst="ellipse">
            <a:avLst/>
          </a:prstGeom>
          <a:solidFill xmlns:a="http://schemas.openxmlformats.org/drawingml/2006/main">
            <a:srgbClr val="B45309"/>
          </a:solidFill>
          <a:ln xmlns:a="http://schemas.openxmlformats.org/drawingml/2006/main" w="15240">
            <a:solidFill>
              <a:srgbClr val="B45309"/>
            </a:solidFill>
            <a:prstDash val="solid"/>
          </a:ln>
        </p:spPr>
        <p:txBody>
          <a:bodyPr xmlns:a="http://schemas.openxmlformats.org/drawingml/2006/main" lIns="0" tIns="0" rIns="0" bIns="0" anchor="ctr"/>
          <a:lstStyle xmlns:a="http://schemas.openxmlformats.org/drawingml/2006/main">
            <a:defPPr algn="ctr">
              <a:defRPr sz="2025" b="1">
                <a:solidFill>
                  <a:srgbClr val="B45309"/>
                </a:solidFill>
                <a:latin typeface="Times New Roman"/>
                <a:ea typeface="Times New Roman"/>
                <a:cs typeface="Times New Roman"/>
              </a:defRPr>
            </a:defPPr>
          </a:lstStyle>
          <a:p xmlns:a="http://schemas.openxmlformats.org/drawingml/2006/main">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xmlns:a="http://schemas.openxmlformats.org/drawingml/2006/main">
              <a:ext uri="{FF2B5EF4-FFF2-40B4-BE49-F238E27FC236}">
                <a16:creationId xmlns:a16="http://schemas.microsoft.com/office/drawing/2014/main" id="{EA9A95CF-FC14-4BD4-BAC7-E113A1CEFD24}"/>
              </a:ext>
            </a:extLst>
          </p:cNvPr>
          <p:cNvSpPr>
            <a:spLocks xmlns:a="http://schemas.openxmlformats.org/drawingml/2006/main" noGrp="1"/>
          </p:cNvSpPr>
          <p:nvPr/>
        </p:nvSpPr>
        <p:spPr>
          <a:xfrm xmlns:a="http://schemas.openxmlformats.org/drawingml/2006/main">
            <a:off x="318135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1B62E78F-7E2D-4AF0-BA2D-8DF4AE712DA5}"/>
              </a:ext>
            </a:extLst>
          </p:cNvPr>
          <p:cNvSpPr>
            <a:spLocks xmlns:a="http://schemas.openxmlformats.org/drawingml/2006/main" noGrp="1"/>
          </p:cNvSpPr>
          <p:nvPr/>
        </p:nvSpPr>
        <p:spPr>
          <a:xfrm xmlns:a="http://schemas.openxmlformats.org/drawingml/2006/main">
            <a:off x="38862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49E266AB-BC36-4FB6-AC5A-38A91A3CB61C}"/>
              </a:ext>
            </a:extLst>
          </p:cNvPr>
          <p:cNvSpPr>
            <a:spLocks xmlns:a="http://schemas.openxmlformats.org/drawingml/2006/main" noGrp="1"/>
          </p:cNvSpPr>
          <p:nvPr/>
        </p:nvSpPr>
        <p:spPr>
          <a:xfrm xmlns:a="http://schemas.openxmlformats.org/drawingml/2006/main">
            <a:off x="4610100" y="3857625"/>
            <a:ext cx="342900" cy="342900"/>
          </a:xfrm>
          <a:prstGeom xmlns:a="http://schemas.openxmlformats.org/drawingml/2006/main" prst="ellipse">
            <a:avLst/>
          </a:prstGeom>
          <a:solidFill xmlns:a="http://schemas.openxmlformats.org/drawingml/2006/main">
            <a:srgbClr val="E8ECEF"/>
          </a:solidFill>
          <a:ln xmlns:a="http://schemas.openxmlformats.org/drawingml/2006/main" w="15240">
            <a:solidFill>
              <a:srgbClr val="777777"/>
            </a:solidFill>
            <a:prstDash val="solid"/>
          </a:ln>
        </p:spPr>
        <p:txBody>
          <a:bodyPr xmlns:a="http://schemas.openxmlformats.org/drawingml/2006/main" lIns="0" tIns="0" rIns="0" bIns="0" anchor="ctr"/>
          <a:lstStyle xmlns:a="http://schemas.openxmlformats.org/drawingml/2006/main">
            <a:defPPr algn="ctr">
              <a:defRPr sz="2025" b="1">
                <a:solidFill>
                  <a:srgbClr val="777777"/>
                </a:solidFill>
                <a:latin typeface="Times New Roman"/>
                <a:ea typeface="Times New Roman"/>
                <a:cs typeface="Times New Roman"/>
              </a:defRPr>
            </a:defPPr>
          </a:lstStyle>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59D743A1-E3D9-4428-B67C-E58F47681335}"/>
              </a:ext>
            </a:extLst>
          </p:cNvPr>
          <p:cNvSpPr>
            <a:spLocks xmlns:a="http://schemas.openxmlformats.org/drawingml/2006/main" noGrp="1"/>
          </p:cNvSpPr>
          <p:nvPr/>
        </p:nvSpPr>
        <p:spPr>
          <a:xfrm xmlns:a="http://schemas.openxmlformats.org/drawingml/2006/main">
            <a:off x="457200" y="457200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111111"/>
                </a:solidFill>
                <a:latin typeface="Times New Roman"/>
                <a:ea typeface="Times New Roman"/>
                <a:cs typeface="Times New Roman"/>
              </a:defRPr>
            </a:defPPr>
          </a:lstStyle>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xmlns:a="http://schemas.openxmlformats.org/drawingml/2006/main">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xmlns:a="http://schemas.openxmlformats.org/drawingml/2006/main">
              <a:ext uri="{FF2B5EF4-FFF2-40B4-BE49-F238E27FC236}">
                <a16:creationId xmlns:a16="http://schemas.microsoft.com/office/drawing/2014/main" id="{DBD48C7F-F0B6-4566-AD72-218593300322}"/>
              </a:ext>
            </a:extLst>
          </p:cNvPr>
          <p:cNvSpPr>
            <a:spLocks xmlns:a="http://schemas.openxmlformats.org/drawingml/2006/main" noGrp="1"/>
          </p:cNvSpPr>
          <p:nvPr/>
        </p:nvSpPr>
        <p:spPr>
          <a:xfrm xmlns:a="http://schemas.openxmlformats.org/drawingml/2006/main">
            <a:off x="6191250" y="15335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1">
                <a:solidFill>
                  <a:srgbClr val="111111"/>
                </a:solidFill>
                <a:latin typeface="Times New Roman"/>
                <a:ea typeface="Times New Roman"/>
                <a:cs typeface="Times New Roman"/>
              </a:defRPr>
            </a:defPPr>
          </a:lstStyle>
          <a:p xmlns:a="http://schemas.openxmlformats.org/drawingml/2006/main">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xmlns:a="http://schemas.openxmlformats.org/drawingml/2006/main">
              <a:ext uri="{FF2B5EF4-FFF2-40B4-BE49-F238E27FC236}">
                <a16:creationId xmlns:a16="http://schemas.microsoft.com/office/drawing/2014/main" id="{4B241E38-7C47-46F8-8966-8D5D630DCA39}"/>
              </a:ext>
            </a:extLst>
          </p:cNvPr>
          <p:cNvSpPr>
            <a:spLocks xmlns:a="http://schemas.openxmlformats.org/drawingml/2006/main" noGrp="1"/>
          </p:cNvSpPr>
          <p:nvPr/>
        </p:nvSpPr>
        <p:spPr>
          <a:xfrm xmlns:a="http://schemas.openxmlformats.org/drawingml/2006/main">
            <a:off x="6191250" y="5248275"/>
            <a:ext cx="55435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11111"/>
                </a:solidFill>
                <a:latin typeface="Times New Roman"/>
                <a:ea typeface="Times New Roman"/>
                <a:cs typeface="Times New Roman"/>
              </a:defRPr>
            </a:defPPr>
          </a:lstStyle>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xmlns:a="http://schemas.openxmlformats.org/drawingml/2006/main">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xmlns:a="http://schemas.openxmlformats.org/drawingml/2006/main">
              <a:ext uri="{FF2B5EF4-FFF2-40B4-BE49-F238E27FC236}">
                <a16:creationId xmlns:a16="http://schemas.microsoft.com/office/drawing/2014/main" id="{6D89FA9C-1AA0-4165-931E-D886C36E63EB}"/>
              </a:ext>
            </a:extLst>
          </p:cNvPr>
          <p:cNvSpPr>
            <a:spLocks xmlns:a="http://schemas.openxmlformats.org/drawingml/2006/main" noGrp="1"/>
          </p:cNvSpPr>
          <p:nvPr/>
        </p:nvSpPr>
        <p:spPr>
          <a:xfrm xmlns:a="http://schemas.openxmlformats.org/drawingml/2006/main">
            <a:off x="457200" y="5362575"/>
            <a:ext cx="51625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00" b="1">
                <a:solidFill>
                  <a:srgbClr val="1D4E89"/>
                </a:solidFill>
                <a:latin typeface="Times New Roman"/>
                <a:ea typeface="Times New Roman"/>
                <a:cs typeface="Times New Roman"/>
              </a:defRPr>
            </a:defPPr>
          </a:lstStyle>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xmlns:a="http://schemas.openxmlformats.org/drawingml/2006/main">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xmlns:a="http://schemas.openxmlformats.org/drawingml/2006/main">
              <a:ext uri="{FF2B5EF4-FFF2-40B4-BE49-F238E27FC236}">
                <a16:creationId xmlns:a16="http://schemas.microsoft.com/office/drawing/2014/main" id="{451EDAC5-84AF-4886-ABB5-00F5489CD4A3}"/>
              </a:ext>
            </a:extLst>
          </p:cNvPr>
          <p:cNvSpPr>
            <a:spLocks xmlns:a="http://schemas.openxmlformats.org/drawingml/2006/main" noGrp="1"/>
          </p:cNvSpPr>
          <p:nvPr/>
        </p:nvSpPr>
        <p:spPr>
          <a:xfrm xmlns:a="http://schemas.openxmlformats.org/drawingml/2006/main">
            <a:off x="457200" y="6076950"/>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777777"/>
                </a:solidFill>
                <a:latin typeface="Times New Roman"/>
                <a:ea typeface="Times New Roman"/>
                <a:cs typeface="Times New Roman"/>
              </a:defRPr>
            </a:defPPr>
          </a:lstStyle>
          <a:p xmlns:a="http://schemas.openxmlformats.org/drawingml/2006/main">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xmlns:a="http://schemas.openxmlformats.org/drawingml/2006/main">
              <a:ext uri="{FF2B5EF4-FFF2-40B4-BE49-F238E27FC236}">
                <a16:creationId xmlns:a16="http://schemas.microsoft.com/office/drawing/2014/main" id="{F6A031A1-5617-41AC-B818-7E20F8A6707A}"/>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200" b="0">
                <a:solidFill>
                  <a:srgbClr val="777777"/>
                </a:solidFill>
                <a:latin typeface="Times New Roman"/>
                <a:ea typeface="Times New Roman"/>
                <a:cs typeface="Times New Roman"/>
              </a:defRPr>
            </a:defPPr>
          </a:lstStyle>
          <a:p xmlns:a="http://schemas.openxmlformats.org/drawingml/2006/main">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xmlns:a="http://schemas.openxmlformats.org/drawingml/2006/main">
              <a:ext uri="{FF2B5EF4-FFF2-40B4-BE49-F238E27FC236}">
                <a16:creationId xmlns:a16="http://schemas.microsoft.com/office/drawing/2014/main" id="{DBECA0F8-9DEB-4C29-91EE-9A7F15E11039}"/>
              </a:ext>
            </a:extLst>
          </p:cNvPr>
          <p:cNvPicPr>
            <a:picLocks xmlns:a="http://schemas.openxmlformats.org/drawingml/2006/main" noChangeAspect="1"/>
          </p:cNvPicPr>
          <p:nvPr/>
        </p:nvPicPr>
        <p:blipFill>
          <a:blip xmlns:r="http://schemas.openxmlformats.org/officeDocument/2006/relationships" xmlns:a="http://schemas.openxmlformats.org/drawingml/2006/main" r:embed="Rfe82d88d099f41fc"/>
          <a:stretch xmlns:a="http://schemas.openxmlformats.org/drawingml/2006/main"/>
        </p:blipFill>
        <p:spPr>
          <a:xfrm xmlns:a="http://schemas.openxmlformats.org/drawingml/2006/main">
            <a:off x="6335316" y="1885950"/>
            <a:ext cx="5083969" cy="3333750"/>
          </a:xfrm>
          <a:prstGeom xmlns:a="http://schemas.openxmlformats.org/drawingml/2006/main" prst="rect">
            <a:avLst/>
          </a:prstGeom>
        </p:spPr>
      </p:pic>
    </p:spTree>
    <p:extLst>
      <p:ext uri="{BB962C8B-B14F-4D97-AF65-F5344CB8AC3E}">
        <p14:creationId xmlns:p14="http://schemas.microsoft.com/office/powerpoint/2010/main" val="5242040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DD7C7636-DBD0-4BC1-9687-EB40565DE5E4}"/>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xmlns:a="http://schemas.openxmlformats.org/drawingml/2006/main">
              <a:ext uri="{FF2B5EF4-FFF2-40B4-BE49-F238E27FC236}">
                <a16:creationId xmlns:a16="http://schemas.microsoft.com/office/drawing/2014/main" id="{77266C2A-F01F-4525-AB62-D3833EEC1AAF}"/>
              </a:ext>
            </a:extLst>
          </p:cNvPr>
          <p:cNvSpPr>
            <a:spLocks xmlns:a="http://schemas.openxmlformats.org/drawingml/2006/main" noGrp="1"/>
          </p:cNvSpPr>
          <p:nvPr/>
        </p:nvSpPr>
        <p:spPr>
          <a:xfrm xmlns:a="http://schemas.openxmlformats.org/drawingml/2006/main">
            <a:off x="457200" y="942975"/>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444444"/>
                </a:solidFill>
                <a:latin typeface="Times New Roman"/>
                <a:ea typeface="Times New Roman"/>
                <a:cs typeface="Times New Roman"/>
              </a:defRPr>
            </a:defPPr>
          </a:lstStyle>
          <a:p xmlns:a="http://schemas.openxmlformats.org/drawingml/2006/main">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xmlns:a="http://schemas.openxmlformats.org/drawingml/2006/main">
              <a:ext uri="{FF2B5EF4-FFF2-40B4-BE49-F238E27FC236}">
                <a16:creationId xmlns:a16="http://schemas.microsoft.com/office/drawing/2014/main" id="{AAC1A2CB-697A-4082-B829-98096488BA20}"/>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xmlns:a="http://schemas.openxmlformats.org/drawingml/2006/main">
              <a:ext uri="{FF2B5EF4-FFF2-40B4-BE49-F238E27FC236}">
                <a16:creationId xmlns:a16="http://schemas.microsoft.com/office/drawing/2014/main" id="{F3B5880E-2FB9-41AD-A2D9-844434A216A9}"/>
              </a:ext>
            </a:extLst>
          </p:cNvPr>
          <p:cNvPicPr>
            <a:picLocks xmlns:a="http://schemas.openxmlformats.org/drawingml/2006/main" noChangeAspect="1"/>
          </p:cNvPicPr>
          <p:nvPr/>
        </p:nvPicPr>
        <p:blipFill>
          <a:blip xmlns:r="http://schemas.openxmlformats.org/officeDocument/2006/relationships" xmlns:a="http://schemas.openxmlformats.org/drawingml/2006/main" r:embed="R9005650bd2414a8c"/>
          <a:stretch xmlns:a="http://schemas.openxmlformats.org/drawingml/2006/main"/>
        </p:blipFill>
        <p:spPr>
          <a:xfrm xmlns:a="http://schemas.openxmlformats.org/drawingml/2006/main">
            <a:off x="457200" y="1438708"/>
            <a:ext cx="11277600" cy="4485409"/>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898C7526-E0AE-495E-80B4-0C202386A0AE}"/>
              </a:ext>
            </a:extLst>
          </p:cNvPr>
          <p:cNvSpPr>
            <a:spLocks xmlns:a="http://schemas.openxmlformats.org/drawingml/2006/main" noGrp="1"/>
          </p:cNvSpPr>
          <p:nvPr/>
        </p:nvSpPr>
        <p:spPr>
          <a:xfrm xmlns:a="http://schemas.openxmlformats.org/drawingml/2006/main">
            <a:off x="457200" y="619125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777777"/>
                </a:solidFill>
                <a:latin typeface="Times New Roman"/>
                <a:ea typeface="Times New Roman"/>
                <a:cs typeface="Times New Roman"/>
              </a:defRPr>
            </a:defPPr>
          </a:lstStyle>
          <a:p xmlns:a="http://schemas.openxmlformats.org/drawingml/2006/main">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487FBF-A956-4C24-97E8-DCD31397041E}"/>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physics failures by model and effort</a:t>
            </a:r>
          </a:p>
        </p:txBody>
      </p:sp>
      <p:sp>
        <p:nvSpPr>
          <p:cNvPr id="2" name="">
            <a:extLst xmlns:a="http://schemas.openxmlformats.org/drawingml/2006/main">
              <a:ext uri="{FF2B5EF4-FFF2-40B4-BE49-F238E27FC236}">
                <a16:creationId xmlns:a16="http://schemas.microsoft.com/office/drawing/2014/main" id="{C7A958A2-5F62-4D48-85DF-4476F9A66FB6}"/>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models. Each cell counts physics failures among 39 attempts.</a:t>
            </a:r>
          </a:p>
        </p:txBody>
      </p:sp>
      <p:sp>
        <p:nvSpPr>
          <p:cNvPr id="3" name="">
            <a:extLst xmlns:a="http://schemas.openxmlformats.org/drawingml/2006/main">
              <a:ext uri="{FF2B5EF4-FFF2-40B4-BE49-F238E27FC236}">
                <a16:creationId xmlns:a16="http://schemas.microsoft.com/office/drawing/2014/main" id="{888FF70A-CEB3-4278-97DE-9D9F41FBFC52}"/>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18</a:t>
            </a:r>
          </a:p>
        </p:txBody>
      </p:sp>
      <p:pic>
        <p:nvPicPr>
          <p:cNvPr id="4" name="">
            <a:extLst xmlns:a="http://schemas.openxmlformats.org/drawingml/2006/main">
              <a:ext uri="{FF2B5EF4-FFF2-40B4-BE49-F238E27FC236}">
                <a16:creationId xmlns:a16="http://schemas.microsoft.com/office/drawing/2014/main" id="{4C6FB73D-EE02-4840-A768-4D4A32D68165}"/>
              </a:ext>
            </a:extLst>
          </p:cNvPr>
          <p:cNvPicPr>
            <a:picLocks xmlns:a="http://schemas.openxmlformats.org/drawingml/2006/main" noChangeAspect="1"/>
          </p:cNvPicPr>
          <p:nvPr/>
        </p:nvPicPr>
        <p:blipFill>
          <a:blip xmlns:r="http://schemas.openxmlformats.org/officeDocument/2006/relationships" xmlns:a="http://schemas.openxmlformats.org/drawingml/2006/main" r:embed="R0726c02dce0a4cba"/>
          <a:stretch xmlns:a="http://schemas.openxmlformats.org/drawingml/2006/main"/>
        </p:blipFill>
        <p:spPr>
          <a:xfrm xmlns:a="http://schemas.openxmlformats.org/drawingml/2006/main">
            <a:off x="457200" y="1629208"/>
            <a:ext cx="11277600" cy="4485409"/>
          </a:xfrm>
          <a:prstGeom xmlns:a="http://schemas.openxmlformats.org/drawingml/2006/main" prst="rect">
            <a:avLst/>
          </a:prstGeom>
        </p:spPr>
      </p:pic>
    </p:spTree>
    <p:extLst>
      <p:ext uri="{BB962C8B-B14F-4D97-AF65-F5344CB8AC3E}">
        <p14:creationId xmlns:p14="http://schemas.microsoft.com/office/powerpoint/2010/main" val="30932068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A64A80-B71F-4E70-ACB6-58E731A09FCF}"/>
              </a:ext>
            </a:extLst>
          </p:cNvPr>
          <p:cNvSpPr>
            <a:spLocks xmlns:a="http://schemas.openxmlformats.org/drawingml/2006/main" noGrp="1"/>
          </p:cNvSpPr>
          <p:nvPr/>
        </p:nvSpPr>
        <p:spPr>
          <a:xfrm xmlns:a="http://schemas.openxmlformats.org/drawingml/2006/main">
            <a:off x="457200" y="209550"/>
            <a:ext cx="1127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00" b="1">
                <a:solidFill>
                  <a:srgbClr val="111111"/>
                </a:solidFill>
                <a:latin typeface="Times New Roman"/>
                <a:ea typeface="Times New Roman"/>
                <a:cs typeface="Times New Roman"/>
              </a:defRPr>
            </a:defPPr>
          </a:lstStyle>
          <a:p xmlns:a="http://schemas.openxmlformats.org/drawingml/2006/main">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outcome definitions and counts</a:t>
            </a:r>
          </a:p>
        </p:txBody>
      </p:sp>
      <p:sp>
        <p:nvSpPr>
          <p:cNvPr id="2" name="">
            <a:extLst xmlns:a="http://schemas.openxmlformats.org/drawingml/2006/main">
              <a:ext uri="{FF2B5EF4-FFF2-40B4-BE49-F238E27FC236}">
                <a16:creationId xmlns:a16="http://schemas.microsoft.com/office/drawing/2014/main" id="{F8206C6C-F8EB-4E4E-A22B-8B99A9EB9A08}"/>
              </a:ext>
            </a:extLst>
          </p:cNvPr>
          <p:cNvSpPr>
            <a:spLocks xmlns:a="http://schemas.openxmlformats.org/drawingml/2006/main" noGrp="1"/>
          </p:cNvSpPr>
          <p:nvPr/>
        </p:nvSpPr>
        <p:spPr>
          <a:xfrm xmlns:a="http://schemas.openxmlformats.org/drawingml/2006/main">
            <a:off x="457200" y="942975"/>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444444"/>
                </a:solidFill>
                <a:latin typeface="Times New Roman"/>
                <a:ea typeface="Times New Roman"/>
                <a:cs typeface="Times New Roman"/>
              </a:defRPr>
            </a:defPPr>
          </a:lstStyle>
          <a:p xmlns:a="http://schemas.openxmlformats.org/drawingml/2006/main">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Each attempt gets one outcome. Execution exceptions take priority over grades.</a:t>
            </a:r>
          </a:p>
        </p:txBody>
      </p:sp>
      <p:sp>
        <p:nvSpPr>
          <p:cNvPr id="3" name="">
            <a:extLst xmlns:a="http://schemas.openxmlformats.org/drawingml/2006/main">
              <a:ext uri="{FF2B5EF4-FFF2-40B4-BE49-F238E27FC236}">
                <a16:creationId xmlns:a16="http://schemas.microsoft.com/office/drawing/2014/main" id="{0386B726-E850-4BDD-9065-0ED28D803F4E}"/>
              </a:ext>
            </a:extLst>
          </p:cNvPr>
          <p:cNvSpPr>
            <a:spLocks xmlns:a="http://schemas.openxmlformats.org/drawingml/2006/main" noGrp="1"/>
          </p:cNvSpPr>
          <p:nvPr/>
        </p:nvSpPr>
        <p:spPr>
          <a:xfrm xmlns:a="http://schemas.openxmlformats.org/drawingml/2006/main">
            <a:off x="112014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777777"/>
                </a:solidFill>
                <a:latin typeface="Times New Roman"/>
                <a:ea typeface="Times New Roman"/>
                <a:cs typeface="Times New Roman"/>
              </a:defRPr>
            </a:defPPr>
          </a:lstStyle>
          <a:p xmlns:a="http://schemas.openxmlformats.org/drawingml/2006/main">
            <a:pP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19</a:t>
            </a:r>
          </a:p>
        </p:txBody>
      </p:sp>
      <p:graphicFrame>
        <p:nvGraphicFramePr>
          <p:cNvPr id="4" name="">
            <a:extLst xmlns:a="http://schemas.openxmlformats.org/drawingml/2006/main">
              <a:ext uri="{FF2B5EF4-FFF2-40B4-BE49-F238E27FC236}">
                <a16:creationId xmlns:a16="http://schemas.microsoft.com/office/drawing/2014/main" id="{A14671BF-4546-4A6F-9782-D174CF640F9C}"/>
              </a:ext>
            </a:extLst>
          </p:cNvPr>
          <p:cNvGraphicFramePr/>
          <p:nvPr/>
        </p:nvGraphicFramePr>
        <p:xfrm>
          <a:off xmlns:a="http://schemas.openxmlformats.org/drawingml/2006/main" x="457200" y="1590675"/>
          <a:ext xmlns:a="http://schemas.openxmlformats.org/drawingml/2006/main" cx="11277600" cy="2857500"/>
        </p:xfrm>
        <a:graphic xmlns:a="http://schemas.openxmlformats.org/drawingml/2006/main">
          <a:graphicData uri="http://schemas.openxmlformats.org/drawingml/2006/table">
            <a:tbl>
              <a:tblPr/>
              <a:tblGrid>
                <a:gridCol w="1714500"/>
                <a:gridCol w="1238250"/>
                <a:gridCol w="1571625"/>
                <a:gridCol w="1857375"/>
                <a:gridCol w="1238250"/>
                <a:gridCol w="2095500"/>
                <a:gridCol w="1562100"/>
              </a:tblGrid>
              <a:tr h="571500">
                <a:tc>
                  <a:txBody>
                    <a:bodyPr lIns="85725" tIns="85725" rIns="85725" bIns="85725"/>
                    <a:lstStyle/>
                    <a:p>
                      <a:r>
                        <a:rPr sz="1800" b="1">
                          <a:solidFill>
                            <a:srgbClr val="FFFFFF"/>
                          </a:solidFill>
                          <a:latin typeface="Times New Roman"/>
                          <a:ea typeface="Times New Roman"/>
                          <a:cs typeface="Times New Roman"/>
                        </a:rPr>
                        <a:t>Hint</a:t>
                      </a:r>
                    </a:p>
                  </a:txBody>
                  <a:tcPr marL="91440" marR="91440" marT="45720" marB="45720"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Passed</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Physics</a:t>
                      </a:r>
                    </a:p>
                    <a:p>
                      <a:r>
                        <a:rPr sz="1800" b="1">
                          <a:solidFill>
                            <a:srgbClr val="FFFFFF"/>
                          </a:solidFill>
                          <a:latin typeface="Times New Roman"/>
                          <a:ea typeface="Times New Roman"/>
                          <a:cs typeface="Times New Roman"/>
                        </a:rPr>
                        <a:t>failure</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Other graded</a:t>
                      </a:r>
                    </a:p>
                    <a:p>
                      <a:r>
                        <a:rPr sz="1800" b="1">
                          <a:solidFill>
                            <a:srgbClr val="FFFFFF"/>
                          </a:solidFill>
                          <a:latin typeface="Times New Roman"/>
                          <a:ea typeface="Times New Roman"/>
                          <a:cs typeface="Times New Roman"/>
                        </a:rPr>
                        <a:t>failure</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Timeout</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Other execution</a:t>
                      </a:r>
                    </a:p>
                    <a:p>
                      <a:r>
                        <a:rPr sz="1800" b="1">
                          <a:solidFill>
                            <a:srgbClr val="FFFFFF"/>
                          </a:solidFill>
                          <a:latin typeface="Times New Roman"/>
                          <a:ea typeface="Times New Roman"/>
                          <a:cs typeface="Times New Roman"/>
                        </a:rPr>
                        <a:t>error</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lIns="85725" tIns="85725" rIns="85725" bIns="85725"/>
                    <a:lstStyle/>
                    <a:p>
                      <a:r>
                        <a:rPr sz="1800" b="1">
                          <a:solidFill>
                            <a:srgbClr val="FFFFFF"/>
                          </a:solidFill>
                          <a:latin typeface="Times New Roman"/>
                          <a:ea typeface="Times New Roman"/>
                          <a:cs typeface="Times New Roman"/>
                        </a:rPr>
                        <a:t>Total</a:t>
                      </a:r>
                    </a:p>
                  </a:txBody>
                  <a:tcPr marL="91440" marR="91440" marT="45720" marB="45720" anchor="ctr">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r>
              <a:tr h="571500">
                <a:tc>
                  <a:txBody>
                    <a:bodyPr lIns="85725" tIns="85725" rIns="85725" bIns="85725"/>
                    <a:lstStyle/>
                    <a:p>
                      <a:r>
                        <a:rPr sz="1800" b="0">
                          <a:solidFill>
                            <a:srgbClr val="111111"/>
                          </a:solidFill>
                          <a:latin typeface="Times New Roman"/>
                          <a:ea typeface="Times New Roman"/>
                          <a:cs typeface="Times New Roman"/>
                        </a:rPr>
                        <a:t>No hint</a:t>
                      </a:r>
                    </a:p>
                  </a:txBody>
                  <a:tcPr marL="91440" marR="91440" marT="45720" marB="45720" anchor="ctr">
                    <a:lnL w="5715">
                      <a:solidFill>
                        <a:srgbClr val="D1D5DB"/>
                      </a:solidFill>
                      <a:prstDash val="solid"/>
                    </a:lnL>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84</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296</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8</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1</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1</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390</a:t>
                      </a:r>
                    </a:p>
                  </a:txBody>
                  <a:tcPr marL="91440" marR="91440" marT="45720" marB="45720" anchor="ctr">
                    <a:lnR w="5715">
                      <a:solidFill>
                        <a:srgbClr val="D1D5DB"/>
                      </a:solidFill>
                      <a:prstDash val="solid"/>
                    </a:lnR>
                    <a:lnB w="5715">
                      <a:solidFill>
                        <a:srgbClr val="D1D5DB"/>
                      </a:solidFill>
                      <a:prstDash val="solid"/>
                    </a:lnB>
                    <a:solidFill>
                      <a:srgbClr val="FFFFFF"/>
                    </a:solidFill>
                  </a:tcPr>
                </a:tc>
              </a:tr>
              <a:tr h="571500">
                <a:tc>
                  <a:txBody>
                    <a:bodyPr lIns="85725" tIns="85725" rIns="85725" bIns="85725"/>
                    <a:lstStyle/>
                    <a:p>
                      <a:r>
                        <a:rPr sz="1800" b="0">
                          <a:solidFill>
                            <a:srgbClr val="111111"/>
                          </a:solidFill>
                          <a:latin typeface="Times New Roman"/>
                          <a:ea typeface="Times New Roman"/>
                          <a:cs typeface="Times New Roman"/>
                        </a:rPr>
                        <a:t>General</a:t>
                      </a:r>
                    </a:p>
                  </a:txBody>
                  <a:tcPr marL="91440" marR="91440" marT="45720" marB="45720" anchor="ctr">
                    <a:lnL w="5715">
                      <a:solidFill>
                        <a:srgbClr val="D1D5DB"/>
                      </a:solidFill>
                      <a:prstDash val="solid"/>
                    </a:lnL>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183</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158</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34</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14</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1</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390</a:t>
                      </a:r>
                    </a:p>
                  </a:txBody>
                  <a:tcPr marL="91440" marR="91440" marT="45720" marB="45720" anchor="ctr">
                    <a:lnR w="5715">
                      <a:solidFill>
                        <a:srgbClr val="D1D5DB"/>
                      </a:solidFill>
                      <a:prstDash val="solid"/>
                    </a:lnR>
                    <a:lnB w="5715">
                      <a:solidFill>
                        <a:srgbClr val="D1D5DB"/>
                      </a:solidFill>
                      <a:prstDash val="solid"/>
                    </a:lnB>
                    <a:solidFill>
                      <a:srgbClr val="F3F4F6"/>
                    </a:solidFill>
                  </a:tcPr>
                </a:tc>
              </a:tr>
              <a:tr h="571500">
                <a:tc>
                  <a:txBody>
                    <a:bodyPr lIns="85725" tIns="85725" rIns="85725" bIns="85725"/>
                    <a:lstStyle/>
                    <a:p>
                      <a:r>
                        <a:rPr sz="1800" b="0">
                          <a:solidFill>
                            <a:srgbClr val="111111"/>
                          </a:solidFill>
                          <a:latin typeface="Times New Roman"/>
                          <a:ea typeface="Times New Roman"/>
                          <a:cs typeface="Times New Roman"/>
                        </a:rPr>
                        <a:t>Physics</a:t>
                      </a:r>
                    </a:p>
                  </a:txBody>
                  <a:tcPr marL="91440" marR="91440" marT="45720" marB="45720" anchor="ctr">
                    <a:lnL w="5715">
                      <a:solidFill>
                        <a:srgbClr val="D1D5DB"/>
                      </a:solidFill>
                      <a:prstDash val="solid"/>
                    </a:lnL>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257</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66</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57</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10</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0</a:t>
                      </a:r>
                    </a:p>
                  </a:txBody>
                  <a:tcPr marL="91440" marR="91440" marT="45720" marB="45720" anchor="ctr">
                    <a:lnR w="5715">
                      <a:solidFill>
                        <a:srgbClr val="D1D5DB"/>
                      </a:solidFill>
                      <a:prstDash val="solid"/>
                    </a:lnR>
                    <a:lnB w="5715">
                      <a:solidFill>
                        <a:srgbClr val="D1D5DB"/>
                      </a:solidFill>
                      <a:prstDash val="solid"/>
                    </a:lnB>
                    <a:solidFill>
                      <a:srgbClr val="FFFFFF"/>
                    </a:solidFill>
                  </a:tcPr>
                </a:tc>
                <a:tc>
                  <a:txBody>
                    <a:bodyPr lIns="85725" tIns="85725" rIns="85725" bIns="85725"/>
                    <a:lstStyle/>
                    <a:p>
                      <a:r>
                        <a:rPr sz="1800" b="0">
                          <a:solidFill>
                            <a:srgbClr val="111111"/>
                          </a:solidFill>
                          <a:latin typeface="Times New Roman"/>
                          <a:ea typeface="Times New Roman"/>
                          <a:cs typeface="Times New Roman"/>
                        </a:rPr>
                        <a:t>390</a:t>
                      </a:r>
                    </a:p>
                  </a:txBody>
                  <a:tcPr marL="91440" marR="91440" marT="45720" marB="45720" anchor="ctr">
                    <a:lnR w="5715">
                      <a:solidFill>
                        <a:srgbClr val="D1D5DB"/>
                      </a:solidFill>
                      <a:prstDash val="solid"/>
                    </a:lnR>
                    <a:lnB w="5715">
                      <a:solidFill>
                        <a:srgbClr val="D1D5DB"/>
                      </a:solidFill>
                      <a:prstDash val="solid"/>
                    </a:lnB>
                    <a:solidFill>
                      <a:srgbClr val="FFFFFF"/>
                    </a:solidFill>
                  </a:tcPr>
                </a:tc>
              </a:tr>
              <a:tr h="571500">
                <a:tc>
                  <a:txBody>
                    <a:bodyPr lIns="85725" tIns="85725" rIns="85725" bIns="85725"/>
                    <a:lstStyle/>
                    <a:p>
                      <a:r>
                        <a:rPr sz="1800" b="0">
                          <a:solidFill>
                            <a:srgbClr val="111111"/>
                          </a:solidFill>
                          <a:latin typeface="Times New Roman"/>
                          <a:ea typeface="Times New Roman"/>
                          <a:cs typeface="Times New Roman"/>
                        </a:rPr>
                        <a:t>All</a:t>
                      </a:r>
                    </a:p>
                  </a:txBody>
                  <a:tcPr marL="91440" marR="91440" marT="45720" marB="45720" anchor="ctr">
                    <a:lnL w="5715">
                      <a:solidFill>
                        <a:srgbClr val="D1D5DB"/>
                      </a:solidFill>
                      <a:prstDash val="solid"/>
                    </a:lnL>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524</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520</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99</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25</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2</a:t>
                      </a:r>
                    </a:p>
                  </a:txBody>
                  <a:tcPr marL="91440" marR="91440" marT="45720" marB="45720" anchor="ctr">
                    <a:lnR w="5715">
                      <a:solidFill>
                        <a:srgbClr val="D1D5DB"/>
                      </a:solidFill>
                      <a:prstDash val="solid"/>
                    </a:lnR>
                    <a:lnB w="5715">
                      <a:solidFill>
                        <a:srgbClr val="D1D5DB"/>
                      </a:solidFill>
                      <a:prstDash val="solid"/>
                    </a:lnB>
                    <a:solidFill>
                      <a:srgbClr val="F3F4F6"/>
                    </a:solidFill>
                  </a:tcPr>
                </a:tc>
                <a:tc>
                  <a:txBody>
                    <a:bodyPr lIns="85725" tIns="85725" rIns="85725" bIns="85725"/>
                    <a:lstStyle/>
                    <a:p>
                      <a:r>
                        <a:rPr sz="1800" b="0">
                          <a:solidFill>
                            <a:srgbClr val="111111"/>
                          </a:solidFill>
                          <a:latin typeface="Times New Roman"/>
                          <a:ea typeface="Times New Roman"/>
                          <a:cs typeface="Times New Roman"/>
                        </a:rPr>
                        <a:t>1,170</a:t>
                      </a:r>
                    </a:p>
                  </a:txBody>
                  <a:tcPr marL="91440" marR="91440" marT="45720" marB="45720" anchor="ctr">
                    <a:lnR w="5715">
                      <a:solidFill>
                        <a:srgbClr val="D1D5DB"/>
                      </a:solidFill>
                      <a:prstDash val="solid"/>
                    </a:lnR>
                    <a:lnB w="5715">
                      <a:solidFill>
                        <a:srgbClr val="D1D5DB"/>
                      </a:solidFill>
                      <a:prstDash val="solid"/>
                    </a:lnB>
                    <a:solidFill>
                      <a:srgbClr val="F3F4F6"/>
                    </a:solidFill>
                  </a:tcPr>
                </a:tc>
              </a:tr>
            </a:tbl>
          </a:graphicData>
        </a:graphic>
      </p:graphicFrame>
      <p:sp>
        <p:nvSpPr>
          <p:cNvPr id="5" name="">
            <a:extLst xmlns:a="http://schemas.openxmlformats.org/drawingml/2006/main">
              <a:ext uri="{FF2B5EF4-FFF2-40B4-BE49-F238E27FC236}">
                <a16:creationId xmlns:a16="http://schemas.microsoft.com/office/drawing/2014/main" id="{C63E6A59-C6A1-4CB8-907F-589738C14ACF}"/>
              </a:ext>
            </a:extLst>
          </p:cNvPr>
          <p:cNvSpPr>
            <a:spLocks xmlns:a="http://schemas.openxmlformats.org/drawingml/2006/main" noGrp="1"/>
          </p:cNvSpPr>
          <p:nvPr/>
        </p:nvSpPr>
        <p:spPr>
          <a:xfrm xmlns:a="http://schemas.openxmlformats.org/drawingml/2006/main">
            <a:off x="457200" y="4724400"/>
            <a:ext cx="11277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11111"/>
                </a:solidFill>
                <a:latin typeface="Times New Roman"/>
                <a:ea typeface="Times New Roman"/>
                <a:cs typeface="Times New Roman"/>
              </a:defRPr>
            </a:defPPr>
          </a:lstStyle>
          <a:p xmlns:a="http://schemas.openxmlformats.org/drawingml/2006/main">
            <a:pPr>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A physics failure fits the supplied data and has a reviewed physical-model error</a:t>
            </a:r>
          </a:p>
          <a:p xmlns:a="http://schemas.openxmlformats.org/drawingml/2006/main">
            <a:pPr>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that causes a wrong prediction under new conditions.</a:t>
            </a:r>
          </a:p>
        </p:txBody>
      </p:sp>
      <p:sp>
        <p:nvSpPr>
          <p:cNvPr id="6" name="">
            <a:extLst xmlns:a="http://schemas.openxmlformats.org/drawingml/2006/main">
              <a:ext uri="{FF2B5EF4-FFF2-40B4-BE49-F238E27FC236}">
                <a16:creationId xmlns:a16="http://schemas.microsoft.com/office/drawing/2014/main" id="{BFDBEF03-2412-4842-A9F6-76D4A4410BE7}"/>
              </a:ext>
            </a:extLst>
          </p:cNvPr>
          <p:cNvSpPr>
            <a:spLocks xmlns:a="http://schemas.openxmlformats.org/drawingml/2006/main" noGrp="1"/>
          </p:cNvSpPr>
          <p:nvPr/>
        </p:nvSpPr>
        <p:spPr>
          <a:xfrm xmlns:a="http://schemas.openxmlformats.org/drawingml/2006/main">
            <a:off x="457200" y="5657850"/>
            <a:ext cx="11277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444444"/>
                </a:solidFill>
                <a:latin typeface="Times New Roman"/>
                <a:ea typeface="Times New Roman"/>
                <a:cs typeface="Times New Roman"/>
              </a:defRPr>
            </a:defPPr>
          </a:lstStyle>
          <a:p xmlns:a="http://schemas.openxmlformats.org/drawingml/2006/main">
            <a:pPr>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84 of 604 failures that fit the supplied data had a mathematical or coding primary cause.</a:t>
            </a:r>
          </a:p>
          <a:p xmlns:a="http://schemas.openxmlformats.org/drawingml/2006/main">
            <a:pPr>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Those attempts count as other graded failures.</a:t>
            </a:r>
          </a:p>
        </p:txBody>
      </p:sp>
    </p:spTree>
    <p:extLst>
      <p:ext uri="{BB962C8B-B14F-4D97-AF65-F5344CB8AC3E}">
        <p14:creationId xmlns:p14="http://schemas.microsoft.com/office/powerpoint/2010/main" val="1293770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2026-10-16T00:44:59.6930000Z</dcterms:created>
  <dcterms:modified xsi:type="dcterms:W3CDTF">2026-10-16T00:44:59.6930000Z</dcterms:modified>
</coreProperties>
</file>