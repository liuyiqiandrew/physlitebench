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0"/>
  </p:normalViewPr>
  <p:slideViewPr>
    <p:cSldViewPr snapToGrid="0">
      <p:cViewPr varScale="1">
        <p:scale>
          <a:sx n="120" d="100"/>
          <a:sy n="120" d="100"/>
        </p:scale>
        <p:origin x="4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Observed frontier</c:v>
          </c:tx>
          <c:spPr>
            <a:ln w="19050">
              <a:solidFill>
                <a:srgbClr val="0F766E"/>
              </a:solidFill>
              <a:prstDash val="dash"/>
            </a:ln>
          </c:spPr>
          <c:marker>
            <c:symbol val="none"/>
          </c:marker>
          <c:xVal>
            <c:numRef>
              <c:f>'Chart Data'!$A$2:$A$5</c:f>
              <c:numCache>
                <c:formatCode>General</c:formatCode>
                <c:ptCount val="4"/>
                <c:pt idx="0">
                  <c:v>4.0174010000000003E-3</c:v>
                </c:pt>
                <c:pt idx="1">
                  <c:v>1.2608159000000001E-2</c:v>
                </c:pt>
                <c:pt idx="2">
                  <c:v>7.7331221000000006E-2</c:v>
                </c:pt>
                <c:pt idx="3">
                  <c:v>0.19754441</c:v>
                </c:pt>
              </c:numCache>
            </c:numRef>
          </c:xVal>
          <c:yVal>
            <c:numRef>
              <c:f>'Chart Data'!$B$2:$B$5</c:f>
              <c:numCache>
                <c:formatCode>0%</c:formatCode>
                <c:ptCount val="4"/>
                <c:pt idx="0">
                  <c:v>0.102564103</c:v>
                </c:pt>
                <c:pt idx="1">
                  <c:v>0.30769230800000003</c:v>
                </c:pt>
                <c:pt idx="2">
                  <c:v>0.94871794899999995</c:v>
                </c:pt>
                <c:pt idx="3">
                  <c:v>1</c:v>
                </c:pt>
              </c:numCache>
            </c:numRef>
          </c:yVal>
          <c:smooth val="1"/>
          <c:extLst>
            <c:ext xmlns:c16="http://schemas.microsoft.com/office/drawing/2014/chart" uri="{C3380CC4-5D6E-409C-BE32-E72D297353CC}">
              <c16:uniqueId val="{00000000-EE21-224D-A89F-7C6802B10C5D}"/>
            </c:ext>
          </c:extLst>
        </c:ser>
        <c:ser>
          <c:idx val="1"/>
          <c:order val="1"/>
          <c:tx>
            <c:v>GPT-6 Luna Low</c:v>
          </c:tx>
          <c:spPr>
            <a:ln w="0">
              <a:noFill/>
            </a:ln>
          </c:spPr>
          <c:marker>
            <c:symbol val="circle"/>
            <c:size val="12"/>
            <c:spPr>
              <a:solidFill>
                <a:srgbClr val="1D4E89"/>
              </a:solidFill>
            </c:spPr>
          </c:marker>
          <c:xVal>
            <c:numRef>
              <c:f>'Chart Data'!$C$2:$C$2</c:f>
              <c:numCache>
                <c:formatCode>General</c:formatCode>
                <c:ptCount val="1"/>
                <c:pt idx="0">
                  <c:v>4.0174010000000003E-3</c:v>
                </c:pt>
              </c:numCache>
            </c:numRef>
          </c:xVal>
          <c:yVal>
            <c:numRef>
              <c:f>'Chart Data'!$D$2:$D$2</c:f>
              <c:numCache>
                <c:formatCode>0%</c:formatCode>
                <c:ptCount val="1"/>
                <c:pt idx="0">
                  <c:v>0.102564103</c:v>
                </c:pt>
              </c:numCache>
            </c:numRef>
          </c:yVal>
          <c:smooth val="1"/>
          <c:extLst>
            <c:ext xmlns:c16="http://schemas.microsoft.com/office/drawing/2014/chart" uri="{C3380CC4-5D6E-409C-BE32-E72D297353CC}">
              <c16:uniqueId val="{00000001-EE21-224D-A89F-7C6802B10C5D}"/>
            </c:ext>
          </c:extLst>
        </c:ser>
        <c:ser>
          <c:idx val="2"/>
          <c:order val="2"/>
          <c:tx>
            <c:v>GPT-6 Luna High</c:v>
          </c:tx>
          <c:spPr>
            <a:ln w="0">
              <a:noFill/>
            </a:ln>
          </c:spPr>
          <c:marker>
            <c:symbol val="square"/>
            <c:size val="12"/>
            <c:spPr>
              <a:solidFill>
                <a:srgbClr val="1D4E89"/>
              </a:solidFill>
            </c:spPr>
          </c:marker>
          <c:xVal>
            <c:numRef>
              <c:f>'Chart Data'!$E$2:$E$2</c:f>
              <c:numCache>
                <c:formatCode>General</c:formatCode>
                <c:ptCount val="1"/>
                <c:pt idx="0">
                  <c:v>5.1744989999999999E-3</c:v>
                </c:pt>
              </c:numCache>
            </c:numRef>
          </c:xVal>
          <c:yVal>
            <c:numRef>
              <c:f>'Chart Data'!$F$2:$F$2</c:f>
              <c:numCache>
                <c:formatCode>0%</c:formatCode>
                <c:ptCount val="1"/>
                <c:pt idx="0">
                  <c:v>2.5641026000000001E-2</c:v>
                </c:pt>
              </c:numCache>
            </c:numRef>
          </c:yVal>
          <c:smooth val="1"/>
          <c:extLst>
            <c:ext xmlns:c16="http://schemas.microsoft.com/office/drawing/2014/chart" uri="{C3380CC4-5D6E-409C-BE32-E72D297353CC}">
              <c16:uniqueId val="{00000002-EE21-224D-A89F-7C6802B10C5D}"/>
            </c:ext>
          </c:extLst>
        </c:ser>
        <c:ser>
          <c:idx val="3"/>
          <c:order val="3"/>
          <c:tx>
            <c:v>GPT-6 Luna Extra High</c:v>
          </c:tx>
          <c:spPr>
            <a:ln w="0">
              <a:noFill/>
            </a:ln>
          </c:spPr>
          <c:marker>
            <c:symbol val="triangle"/>
            <c:size val="12"/>
            <c:spPr>
              <a:solidFill>
                <a:srgbClr val="1D4E89"/>
              </a:solidFill>
            </c:spPr>
          </c:marker>
          <c:xVal>
            <c:numRef>
              <c:f>'Chart Data'!$G$2:$G$2</c:f>
              <c:numCache>
                <c:formatCode>General</c:formatCode>
                <c:ptCount val="1"/>
                <c:pt idx="0">
                  <c:v>1.2608159000000001E-2</c:v>
                </c:pt>
              </c:numCache>
            </c:numRef>
          </c:xVal>
          <c:yVal>
            <c:numRef>
              <c:f>'Chart Data'!$H$2:$H$2</c:f>
              <c:numCache>
                <c:formatCode>0%</c:formatCode>
                <c:ptCount val="1"/>
                <c:pt idx="0">
                  <c:v>0.30769230800000003</c:v>
                </c:pt>
              </c:numCache>
            </c:numRef>
          </c:yVal>
          <c:smooth val="1"/>
          <c:extLst>
            <c:ext xmlns:c16="http://schemas.microsoft.com/office/drawing/2014/chart" uri="{C3380CC4-5D6E-409C-BE32-E72D297353CC}">
              <c16:uniqueId val="{00000003-EE21-224D-A89F-7C6802B10C5D}"/>
            </c:ext>
          </c:extLst>
        </c:ser>
        <c:ser>
          <c:idx val="4"/>
          <c:order val="4"/>
          <c:tx>
            <c:v>GPT-6 Sol Low</c:v>
          </c:tx>
          <c:spPr>
            <a:ln w="0">
              <a:noFill/>
            </a:ln>
          </c:spPr>
          <c:marker>
            <c:symbol val="circle"/>
            <c:size val="12"/>
            <c:spPr>
              <a:solidFill>
                <a:srgbClr val="0F766E"/>
              </a:solidFill>
            </c:spPr>
          </c:marker>
          <c:xVal>
            <c:numRef>
              <c:f>'Chart Data'!$I$2:$I$2</c:f>
              <c:numCache>
                <c:formatCode>General</c:formatCode>
                <c:ptCount val="1"/>
                <c:pt idx="0">
                  <c:v>7.7331221000000006E-2</c:v>
                </c:pt>
              </c:numCache>
            </c:numRef>
          </c:xVal>
          <c:yVal>
            <c:numRef>
              <c:f>'Chart Data'!$J$2:$J$2</c:f>
              <c:numCache>
                <c:formatCode>0%</c:formatCode>
                <c:ptCount val="1"/>
                <c:pt idx="0">
                  <c:v>0.94871794899999995</c:v>
                </c:pt>
              </c:numCache>
            </c:numRef>
          </c:yVal>
          <c:smooth val="1"/>
          <c:extLst>
            <c:ext xmlns:c16="http://schemas.microsoft.com/office/drawing/2014/chart" uri="{C3380CC4-5D6E-409C-BE32-E72D297353CC}">
              <c16:uniqueId val="{00000004-EE21-224D-A89F-7C6802B10C5D}"/>
            </c:ext>
          </c:extLst>
        </c:ser>
        <c:ser>
          <c:idx val="5"/>
          <c:order val="5"/>
          <c:tx>
            <c:v>GPT-6 Sol High</c:v>
          </c:tx>
          <c:spPr>
            <a:ln w="0">
              <a:noFill/>
            </a:ln>
          </c:spPr>
          <c:marker>
            <c:symbol val="square"/>
            <c:size val="12"/>
            <c:spPr>
              <a:solidFill>
                <a:srgbClr val="0F766E"/>
              </a:solidFill>
            </c:spPr>
          </c:marker>
          <c:xVal>
            <c:numRef>
              <c:f>'Chart Data'!$K$2:$K$2</c:f>
              <c:numCache>
                <c:formatCode>General</c:formatCode>
                <c:ptCount val="1"/>
                <c:pt idx="0">
                  <c:v>0.19754441</c:v>
                </c:pt>
              </c:numCache>
            </c:numRef>
          </c:xVal>
          <c:yVal>
            <c:numRef>
              <c:f>'Chart Data'!$L$2:$L$2</c:f>
              <c:numCache>
                <c:formatCode>0%</c:formatCode>
                <c:ptCount val="1"/>
                <c:pt idx="0">
                  <c:v>1</c:v>
                </c:pt>
              </c:numCache>
            </c:numRef>
          </c:yVal>
          <c:smooth val="1"/>
          <c:extLst>
            <c:ext xmlns:c16="http://schemas.microsoft.com/office/drawing/2014/chart" uri="{C3380CC4-5D6E-409C-BE32-E72D297353CC}">
              <c16:uniqueId val="{00000005-EE21-224D-A89F-7C6802B10C5D}"/>
            </c:ext>
          </c:extLst>
        </c:ser>
        <c:ser>
          <c:idx val="6"/>
          <c:order val="6"/>
          <c:tx>
            <c:v>GPT-6 Sol Extra High</c:v>
          </c:tx>
          <c:spPr>
            <a:ln w="0">
              <a:noFill/>
            </a:ln>
          </c:spPr>
          <c:marker>
            <c:symbol val="triangle"/>
            <c:size val="12"/>
            <c:spPr>
              <a:solidFill>
                <a:srgbClr val="0F766E"/>
              </a:solidFill>
            </c:spPr>
          </c:marker>
          <c:xVal>
            <c:numRef>
              <c:f>'Chart Data'!$M$2:$M$2</c:f>
              <c:numCache>
                <c:formatCode>General</c:formatCode>
                <c:ptCount val="1"/>
                <c:pt idx="0">
                  <c:v>0.230608174</c:v>
                </c:pt>
              </c:numCache>
            </c:numRef>
          </c:xVal>
          <c:yVal>
            <c:numRef>
              <c:f>'Chart Data'!$N$2:$N$2</c:f>
              <c:numCache>
                <c:formatCode>0%</c:formatCode>
                <c:ptCount val="1"/>
                <c:pt idx="0">
                  <c:v>1</c:v>
                </c:pt>
              </c:numCache>
            </c:numRef>
          </c:yVal>
          <c:smooth val="1"/>
          <c:extLst>
            <c:ext xmlns:c16="http://schemas.microsoft.com/office/drawing/2014/chart" uri="{C3380CC4-5D6E-409C-BE32-E72D297353CC}">
              <c16:uniqueId val="{00000006-EE21-224D-A89F-7C6802B10C5D}"/>
            </c:ext>
          </c:extLst>
        </c:ser>
        <c:ser>
          <c:idx val="7"/>
          <c:order val="7"/>
          <c:tx>
            <c:v>GPT-5.6 Terra Low</c:v>
          </c:tx>
          <c:spPr>
            <a:ln w="0">
              <a:noFill/>
            </a:ln>
          </c:spPr>
          <c:marker>
            <c:symbol val="circle"/>
            <c:size val="12"/>
            <c:spPr>
              <a:solidFill>
                <a:srgbClr val="B45309"/>
              </a:solidFill>
            </c:spPr>
          </c:marker>
          <c:xVal>
            <c:numRef>
              <c:f>'Chart Data'!$O$2:$O$2</c:f>
              <c:numCache>
                <c:formatCode>General</c:formatCode>
                <c:ptCount val="1"/>
                <c:pt idx="0">
                  <c:v>0.11070587699999999</c:v>
                </c:pt>
              </c:numCache>
            </c:numRef>
          </c:xVal>
          <c:yVal>
            <c:numRef>
              <c:f>'Chart Data'!$P$2:$P$2</c:f>
              <c:numCache>
                <c:formatCode>0%</c:formatCode>
                <c:ptCount val="1"/>
                <c:pt idx="0">
                  <c:v>0.102564103</c:v>
                </c:pt>
              </c:numCache>
            </c:numRef>
          </c:yVal>
          <c:smooth val="1"/>
          <c:extLst>
            <c:ext xmlns:c16="http://schemas.microsoft.com/office/drawing/2014/chart" uri="{C3380CC4-5D6E-409C-BE32-E72D297353CC}">
              <c16:uniqueId val="{00000007-EE21-224D-A89F-7C6802B10C5D}"/>
            </c:ext>
          </c:extLst>
        </c:ser>
        <c:ser>
          <c:idx val="8"/>
          <c:order val="8"/>
          <c:tx>
            <c:v>GPT-5.6 Terra High</c:v>
          </c:tx>
          <c:spPr>
            <a:ln w="0">
              <a:noFill/>
            </a:ln>
          </c:spPr>
          <c:marker>
            <c:symbol val="square"/>
            <c:size val="12"/>
            <c:spPr>
              <a:solidFill>
                <a:srgbClr val="B45309"/>
              </a:solidFill>
            </c:spPr>
          </c:marker>
          <c:xVal>
            <c:numRef>
              <c:f>'Chart Data'!$Q$2:$Q$2</c:f>
              <c:numCache>
                <c:formatCode>General</c:formatCode>
                <c:ptCount val="1"/>
                <c:pt idx="0">
                  <c:v>0.194193528</c:v>
                </c:pt>
              </c:numCache>
            </c:numRef>
          </c:xVal>
          <c:yVal>
            <c:numRef>
              <c:f>'Chart Data'!$R$2:$R$2</c:f>
              <c:numCache>
                <c:formatCode>0%</c:formatCode>
                <c:ptCount val="1"/>
                <c:pt idx="0">
                  <c:v>0.23076923099999999</c:v>
                </c:pt>
              </c:numCache>
            </c:numRef>
          </c:yVal>
          <c:smooth val="1"/>
          <c:extLst>
            <c:ext xmlns:c16="http://schemas.microsoft.com/office/drawing/2014/chart" uri="{C3380CC4-5D6E-409C-BE32-E72D297353CC}">
              <c16:uniqueId val="{00000008-EE21-224D-A89F-7C6802B10C5D}"/>
            </c:ext>
          </c:extLst>
        </c:ser>
        <c:ser>
          <c:idx val="9"/>
          <c:order val="9"/>
          <c:tx>
            <c:v>GPT-5.6 Terra Extra High</c:v>
          </c:tx>
          <c:spPr>
            <a:ln w="0">
              <a:noFill/>
            </a:ln>
          </c:spPr>
          <c:marker>
            <c:symbol val="triangle"/>
            <c:size val="12"/>
            <c:spPr>
              <a:solidFill>
                <a:srgbClr val="B45309"/>
              </a:solidFill>
            </c:spPr>
          </c:marker>
          <c:xVal>
            <c:numRef>
              <c:f>'Chart Data'!$S$2:$S$2</c:f>
              <c:numCache>
                <c:formatCode>General</c:formatCode>
                <c:ptCount val="1"/>
                <c:pt idx="0">
                  <c:v>0.31962965100000001</c:v>
                </c:pt>
              </c:numCache>
            </c:numRef>
          </c:xVal>
          <c:yVal>
            <c:numRef>
              <c:f>'Chart Data'!$T$2:$T$2</c:f>
              <c:numCache>
                <c:formatCode>0%</c:formatCode>
                <c:ptCount val="1"/>
                <c:pt idx="0">
                  <c:v>0.48717948700000002</c:v>
                </c:pt>
              </c:numCache>
            </c:numRef>
          </c:yVal>
          <c:smooth val="1"/>
          <c:extLst>
            <c:ext xmlns:c16="http://schemas.microsoft.com/office/drawing/2014/chart" uri="{C3380CC4-5D6E-409C-BE32-E72D297353CC}">
              <c16:uniqueId val="{00000009-EE21-224D-A89F-7C6802B10C5D}"/>
            </c:ext>
          </c:extLst>
        </c:ser>
        <c:ser>
          <c:idx val="10"/>
          <c:order val="10"/>
          <c:tx>
            <c:v>GPT-6 Astra Low</c:v>
          </c:tx>
          <c:spPr>
            <a:ln w="0">
              <a:noFill/>
            </a:ln>
          </c:spPr>
          <c:marker>
            <c:symbol val="circle"/>
            <c:size val="12"/>
            <c:spPr>
              <a:solidFill>
                <a:srgbClr val="5B4B7C"/>
              </a:solidFill>
            </c:spPr>
          </c:marker>
          <c:xVal>
            <c:numRef>
              <c:f>'Chart Data'!$U$2:$U$2</c:f>
              <c:numCache>
                <c:formatCode>General</c:formatCode>
                <c:ptCount val="1"/>
                <c:pt idx="0">
                  <c:v>0.44501015399999999</c:v>
                </c:pt>
              </c:numCache>
            </c:numRef>
          </c:xVal>
          <c:yVal>
            <c:numRef>
              <c:f>'Chart Data'!$V$2:$V$2</c:f>
              <c:numCache>
                <c:formatCode>0%</c:formatCode>
                <c:ptCount val="1"/>
                <c:pt idx="0">
                  <c:v>1</c:v>
                </c:pt>
              </c:numCache>
            </c:numRef>
          </c:yVal>
          <c:smooth val="1"/>
          <c:extLst>
            <c:ext xmlns:c16="http://schemas.microsoft.com/office/drawing/2014/chart" uri="{C3380CC4-5D6E-409C-BE32-E72D297353CC}">
              <c16:uniqueId val="{0000000A-EE21-224D-A89F-7C6802B10C5D}"/>
            </c:ext>
          </c:extLst>
        </c:ser>
        <c:ser>
          <c:idx val="11"/>
          <c:order val="11"/>
          <c:tx>
            <c:v>GPT-6 Astra High</c:v>
          </c:tx>
          <c:spPr>
            <a:ln w="0">
              <a:noFill/>
            </a:ln>
          </c:spPr>
          <c:marker>
            <c:symbol val="square"/>
            <c:size val="12"/>
            <c:spPr>
              <a:solidFill>
                <a:srgbClr val="5B4B7C"/>
              </a:solidFill>
            </c:spPr>
          </c:marker>
          <c:xVal>
            <c:numRef>
              <c:f>'Chart Data'!$W$2:$W$2</c:f>
              <c:numCache>
                <c:formatCode>General</c:formatCode>
                <c:ptCount val="1"/>
                <c:pt idx="0">
                  <c:v>0.71322825599999995</c:v>
                </c:pt>
              </c:numCache>
            </c:numRef>
          </c:xVal>
          <c:yVal>
            <c:numRef>
              <c:f>'Chart Data'!$X$2:$X$2</c:f>
              <c:numCache>
                <c:formatCode>0%</c:formatCode>
                <c:ptCount val="1"/>
                <c:pt idx="0">
                  <c:v>1</c:v>
                </c:pt>
              </c:numCache>
            </c:numRef>
          </c:yVal>
          <c:smooth val="1"/>
          <c:extLst>
            <c:ext xmlns:c16="http://schemas.microsoft.com/office/drawing/2014/chart" uri="{C3380CC4-5D6E-409C-BE32-E72D297353CC}">
              <c16:uniqueId val="{0000000B-EE21-224D-A89F-7C6802B10C5D}"/>
            </c:ext>
          </c:extLst>
        </c:ser>
        <c:ser>
          <c:idx val="12"/>
          <c:order val="12"/>
          <c:tx>
            <c:v>GPT-6 Astra Extra High</c:v>
          </c:tx>
          <c:spPr>
            <a:ln w="0">
              <a:noFill/>
            </a:ln>
          </c:spPr>
          <c:marker>
            <c:symbol val="triangle"/>
            <c:size val="12"/>
            <c:spPr>
              <a:solidFill>
                <a:srgbClr val="5B4B7C"/>
              </a:solidFill>
            </c:spPr>
          </c:marker>
          <c:xVal>
            <c:numRef>
              <c:f>'Chart Data'!$Y$2:$Y$2</c:f>
              <c:numCache>
                <c:formatCode>General</c:formatCode>
                <c:ptCount val="1"/>
                <c:pt idx="0">
                  <c:v>1.0801353849999999</c:v>
                </c:pt>
              </c:numCache>
            </c:numRef>
          </c:xVal>
          <c:yVal>
            <c:numRef>
              <c:f>'Chart Data'!$Z$2:$Z$2</c:f>
              <c:numCache>
                <c:formatCode>0%</c:formatCode>
                <c:ptCount val="1"/>
                <c:pt idx="0">
                  <c:v>0.94871794899999995</c:v>
                </c:pt>
              </c:numCache>
            </c:numRef>
          </c:yVal>
          <c:smooth val="1"/>
          <c:extLst>
            <c:ext xmlns:c16="http://schemas.microsoft.com/office/drawing/2014/chart" uri="{C3380CC4-5D6E-409C-BE32-E72D297353CC}">
              <c16:uniqueId val="{0000000C-EE21-224D-A89F-7C6802B10C5D}"/>
            </c:ext>
          </c:extLst>
        </c:ser>
        <c:ser>
          <c:idx val="13"/>
          <c:order val="13"/>
          <c:tx>
            <c:v>DeepSeek V4.1 Flash High</c:v>
          </c:tx>
          <c:spPr>
            <a:ln w="0">
              <a:noFill/>
            </a:ln>
          </c:spPr>
          <c:marker>
            <c:symbol val="square"/>
            <c:size val="12"/>
            <c:spPr>
              <a:solidFill>
                <a:srgbClr val="A50026"/>
              </a:solidFill>
            </c:spPr>
          </c:marker>
          <c:xVal>
            <c:numRef>
              <c:f>'Chart Data'!$AA$2:$AA$2</c:f>
              <c:numCache>
                <c:formatCode>General</c:formatCode>
                <c:ptCount val="1"/>
                <c:pt idx="0">
                  <c:v>0.150040014</c:v>
                </c:pt>
              </c:numCache>
            </c:numRef>
          </c:xVal>
          <c:yVal>
            <c:numRef>
              <c:f>'Chart Data'!$AB$2:$AB$2</c:f>
              <c:numCache>
                <c:formatCode>0%</c:formatCode>
                <c:ptCount val="1"/>
                <c:pt idx="0">
                  <c:v>0</c:v>
                </c:pt>
              </c:numCache>
            </c:numRef>
          </c:yVal>
          <c:smooth val="1"/>
          <c:extLst>
            <c:ext xmlns:c16="http://schemas.microsoft.com/office/drawing/2014/chart" uri="{C3380CC4-5D6E-409C-BE32-E72D297353CC}">
              <c16:uniqueId val="{0000000D-EE21-224D-A89F-7C6802B10C5D}"/>
            </c:ext>
          </c:extLst>
        </c:ser>
        <c:ser>
          <c:idx val="14"/>
          <c:order val="14"/>
          <c:tx>
            <c:v>DeepSeek V4.1 Flash Low</c:v>
          </c:tx>
          <c:spPr>
            <a:ln w="0">
              <a:noFill/>
            </a:ln>
          </c:spPr>
          <c:marker>
            <c:symbol val="circle"/>
            <c:size val="12"/>
            <c:spPr>
              <a:solidFill>
                <a:srgbClr val="A50026"/>
              </a:solidFill>
            </c:spPr>
          </c:marker>
          <c:xVal>
            <c:numRef>
              <c:f>'Chart Data'!$AC$2:$AC$2</c:f>
              <c:numCache>
                <c:formatCode>General</c:formatCode>
                <c:ptCount val="1"/>
                <c:pt idx="0">
                  <c:v>9.9535268999999996E-2</c:v>
                </c:pt>
              </c:numCache>
            </c:numRef>
          </c:xVal>
          <c:yVal>
            <c:numRef>
              <c:f>'Chart Data'!$AD$2:$AD$2</c:f>
              <c:numCache>
                <c:formatCode>0%</c:formatCode>
                <c:ptCount val="1"/>
                <c:pt idx="0">
                  <c:v>0</c:v>
                </c:pt>
              </c:numCache>
            </c:numRef>
          </c:yVal>
          <c:smooth val="1"/>
          <c:extLst>
            <c:ext xmlns:c16="http://schemas.microsoft.com/office/drawing/2014/chart" uri="{C3380CC4-5D6E-409C-BE32-E72D297353CC}">
              <c16:uniqueId val="{0000000E-EE21-224D-A89F-7C6802B10C5D}"/>
            </c:ext>
          </c:extLst>
        </c:ser>
        <c:ser>
          <c:idx val="15"/>
          <c:order val="15"/>
          <c:tx>
            <c:v>DeepSeek V4.1 Flash Max</c:v>
          </c:tx>
          <c:spPr>
            <a:ln w="0">
              <a:noFill/>
            </a:ln>
          </c:spPr>
          <c:marker>
            <c:symbol val="diamond"/>
            <c:size val="12"/>
            <c:spPr>
              <a:solidFill>
                <a:srgbClr val="A50026"/>
              </a:solidFill>
            </c:spPr>
          </c:marker>
          <c:xVal>
            <c:numRef>
              <c:f>'Chart Data'!$AE$2:$AE$2</c:f>
              <c:numCache>
                <c:formatCode>General</c:formatCode>
                <c:ptCount val="1"/>
                <c:pt idx="0">
                  <c:v>0.24497286900000001</c:v>
                </c:pt>
              </c:numCache>
            </c:numRef>
          </c:xVal>
          <c:yVal>
            <c:numRef>
              <c:f>'Chart Data'!$AF$2:$AF$2</c:f>
              <c:numCache>
                <c:formatCode>0%</c:formatCode>
                <c:ptCount val="1"/>
                <c:pt idx="0">
                  <c:v>0</c:v>
                </c:pt>
              </c:numCache>
            </c:numRef>
          </c:yVal>
          <c:smooth val="1"/>
          <c:extLst>
            <c:ext xmlns:c16="http://schemas.microsoft.com/office/drawing/2014/chart" uri="{C3380CC4-5D6E-409C-BE32-E72D297353CC}">
              <c16:uniqueId val="{0000000F-EE21-224D-A89F-7C6802B10C5D}"/>
            </c:ext>
          </c:extLst>
        </c:ser>
        <c:dLbls>
          <c:showLegendKey val="0"/>
          <c:showVal val="0"/>
          <c:showCatName val="0"/>
          <c:showSerName val="0"/>
          <c:showPercent val="0"/>
          <c:showBubbleSize val="0"/>
        </c:dLbls>
        <c:axId val="48650112"/>
        <c:axId val="48672768"/>
      </c:scatterChart>
      <c:valAx>
        <c:axId val="48672768"/>
        <c:scaling>
          <c:orientation val="minMax"/>
          <c:max val="1.06"/>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 rate</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endParaRPr lang="en-US"/>
          </a:p>
        </c:txPr>
        <c:crossAx val="48650112"/>
        <c:crosses val="autoZero"/>
        <c:crossBetween val="midCat"/>
        <c:majorUnit val="0.25"/>
      </c:valAx>
      <c:valAx>
        <c:axId val="48650112"/>
        <c:scaling>
          <c:orientation val="minMax"/>
          <c:max val="1.1499999999999999"/>
          <c:min val="0"/>
        </c:scaling>
        <c:delete val="0"/>
        <c:axPos val="b"/>
        <c:title>
          <c:tx>
            <c:rich>
              <a:bodyPr/>
              <a:lstStyle/>
              <a:p>
                <a:r>
                  <a:rPr sz="1575">
                    <a:solidFill>
                      <a:srgbClr val="444444"/>
                    </a:solidFill>
                    <a:latin typeface="Times New Roman"/>
                    <a:ea typeface="Times New Roman"/>
                    <a:cs typeface="Times New Roman"/>
                  </a:rPr>
                  <a:t>Estimated API cost per attempt (USD)</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endParaRPr lang="en-US"/>
          </a:p>
        </c:txPr>
        <c:crossAx val="48672768"/>
        <c:crosses val="autoZero"/>
        <c:crossBetween val="midCat"/>
        <c:majorUnit val="0.2"/>
      </c:valAx>
      <c:spPr>
        <a:solidFill>
          <a:srgbClr val="FFFFFF"/>
        </a:solidFill>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GPT-6 Luna</c:v>
          </c:tx>
          <c:spPr>
            <a:ln w="28575">
              <a:solidFill>
                <a:srgbClr val="1D4E89"/>
              </a:solidFill>
            </a:ln>
          </c:spPr>
          <c:marker>
            <c:symbol val="circle"/>
            <c:size val="9"/>
            <c:spPr>
              <a:solidFill>
                <a:srgbClr val="1D4E89"/>
              </a:solidFill>
            </c:spPr>
          </c:marker>
          <c:dLbls>
            <c:spPr>
              <a:noFill/>
              <a:ln>
                <a:noFill/>
              </a:ln>
              <a:effectLst/>
            </c:spPr>
            <c:txPr>
              <a:bodyPr anchorCtr="1"/>
              <a:lstStyle/>
              <a:p>
                <a:pPr>
                  <a:defRPr sz="1575">
                    <a:solidFill>
                      <a:srgbClr val="111111"/>
                    </a:solidFill>
                    <a:latin typeface="Times New Roman"/>
                    <a:ea typeface="Times New Roman"/>
                    <a:cs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Low</c:v>
                </c:pt>
                <c:pt idx="1">
                  <c:v>High</c:v>
                </c:pt>
                <c:pt idx="2">
                  <c:v>Extra High</c:v>
                </c:pt>
              </c:strCache>
            </c:strRef>
          </c:cat>
          <c:val>
            <c:numRef>
              <c:f>'Chart Data'!$B$2:$B$4</c:f>
              <c:numCache>
                <c:formatCode>General</c:formatCode>
                <c:ptCount val="3"/>
                <c:pt idx="0">
                  <c:v>4</c:v>
                </c:pt>
                <c:pt idx="1">
                  <c:v>1</c:v>
                </c:pt>
                <c:pt idx="2">
                  <c:v>12</c:v>
                </c:pt>
              </c:numCache>
            </c:numRef>
          </c:val>
          <c:smooth val="0"/>
          <c:extLst>
            <c:ext xmlns:c16="http://schemas.microsoft.com/office/drawing/2014/chart" uri="{C3380CC4-5D6E-409C-BE32-E72D297353CC}">
              <c16:uniqueId val="{00000000-191A-1A48-A722-5456D0320B17}"/>
            </c:ext>
          </c:extLst>
        </c:ser>
        <c:ser>
          <c:idx val="1"/>
          <c:order val="1"/>
          <c:tx>
            <c:v>GPT-5.6 Terra</c:v>
          </c:tx>
          <c:spPr>
            <a:ln w="28575">
              <a:solidFill>
                <a:srgbClr val="B45309"/>
              </a:solidFill>
            </a:ln>
          </c:spPr>
          <c:marker>
            <c:symbol val="circle"/>
            <c:size val="9"/>
            <c:spPr>
              <a:solidFill>
                <a:srgbClr val="B45309"/>
              </a:solidFill>
            </c:spPr>
          </c:marker>
          <c:dLbls>
            <c:spPr>
              <a:noFill/>
              <a:ln>
                <a:noFill/>
              </a:ln>
              <a:effectLst/>
            </c:spPr>
            <c:txPr>
              <a:bodyPr anchorCtr="1"/>
              <a:lstStyle/>
              <a:p>
                <a:pPr>
                  <a:defRPr sz="1575">
                    <a:solidFill>
                      <a:srgbClr val="111111"/>
                    </a:solidFill>
                    <a:latin typeface="Times New Roman"/>
                    <a:ea typeface="Times New Roman"/>
                    <a:cs typeface="Times New Roman"/>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Low</c:v>
                </c:pt>
                <c:pt idx="1">
                  <c:v>High</c:v>
                </c:pt>
                <c:pt idx="2">
                  <c:v>Extra High</c:v>
                </c:pt>
              </c:strCache>
            </c:strRef>
          </c:cat>
          <c:val>
            <c:numRef>
              <c:f>'Chart Data'!$D$2:$D$4</c:f>
              <c:numCache>
                <c:formatCode>General</c:formatCode>
                <c:ptCount val="3"/>
                <c:pt idx="0">
                  <c:v>4</c:v>
                </c:pt>
                <c:pt idx="1">
                  <c:v>9</c:v>
                </c:pt>
                <c:pt idx="2">
                  <c:v>19</c:v>
                </c:pt>
              </c:numCache>
            </c:numRef>
          </c:val>
          <c:smooth val="0"/>
          <c:extLst>
            <c:ext xmlns:c16="http://schemas.microsoft.com/office/drawing/2014/chart" uri="{C3380CC4-5D6E-409C-BE32-E72D297353CC}">
              <c16:uniqueId val="{00000001-191A-1A48-A722-5456D0320B17}"/>
            </c:ext>
          </c:extLst>
        </c:ser>
        <c:ser>
          <c:idx val="2"/>
          <c:order val="2"/>
          <c:tx>
            <c:v>GPT-6 Sol</c:v>
          </c:tx>
          <c:spPr>
            <a:ln w="28575">
              <a:solidFill>
                <a:srgbClr val="0F766E"/>
              </a:solidFill>
            </a:ln>
          </c:spPr>
          <c:marker>
            <c:symbol val="circle"/>
            <c:size val="9"/>
            <c:spPr>
              <a:solidFill>
                <a:srgbClr val="0F766E"/>
              </a:solidFill>
            </c:spPr>
          </c:marker>
          <c:cat>
            <c:strRef>
              <c:f>'Chart Data'!$E$2:$E$4</c:f>
              <c:strCache>
                <c:ptCount val="3"/>
                <c:pt idx="0">
                  <c:v>Low</c:v>
                </c:pt>
                <c:pt idx="1">
                  <c:v>High</c:v>
                </c:pt>
                <c:pt idx="2">
                  <c:v>Extra High</c:v>
                </c:pt>
              </c:strCache>
            </c:strRef>
          </c:cat>
          <c:val>
            <c:numRef>
              <c:f>'Chart Data'!$F$2:$F$4</c:f>
              <c:numCache>
                <c:formatCode>General</c:formatCode>
                <c:ptCount val="3"/>
                <c:pt idx="0">
                  <c:v>37</c:v>
                </c:pt>
                <c:pt idx="1">
                  <c:v>39</c:v>
                </c:pt>
                <c:pt idx="2">
                  <c:v>39</c:v>
                </c:pt>
              </c:numCache>
            </c:numRef>
          </c:val>
          <c:smooth val="0"/>
          <c:extLst>
            <c:ext xmlns:c16="http://schemas.microsoft.com/office/drawing/2014/chart" uri="{C3380CC4-5D6E-409C-BE32-E72D297353CC}">
              <c16:uniqueId val="{00000002-191A-1A48-A722-5456D0320B17}"/>
            </c:ext>
          </c:extLst>
        </c:ser>
        <c:ser>
          <c:idx val="3"/>
          <c:order val="3"/>
          <c:tx>
            <c:v>GPT-6 Astra</c:v>
          </c:tx>
          <c:spPr>
            <a:ln w="28575">
              <a:solidFill>
                <a:srgbClr val="5B4B7C"/>
              </a:solidFill>
            </a:ln>
          </c:spPr>
          <c:marker>
            <c:symbol val="circle"/>
            <c:size val="9"/>
            <c:spPr>
              <a:solidFill>
                <a:srgbClr val="5B4B7C"/>
              </a:solidFill>
            </c:spPr>
          </c:marker>
          <c:cat>
            <c:strRef>
              <c:f>'Chart Data'!$G$2:$G$4</c:f>
              <c:strCache>
                <c:ptCount val="3"/>
                <c:pt idx="0">
                  <c:v>Low</c:v>
                </c:pt>
                <c:pt idx="1">
                  <c:v>High</c:v>
                </c:pt>
                <c:pt idx="2">
                  <c:v>Extra High</c:v>
                </c:pt>
              </c:strCache>
            </c:strRef>
          </c:cat>
          <c:val>
            <c:numRef>
              <c:f>'Chart Data'!$H$2:$H$4</c:f>
              <c:numCache>
                <c:formatCode>General</c:formatCode>
                <c:ptCount val="3"/>
                <c:pt idx="0">
                  <c:v>39</c:v>
                </c:pt>
                <c:pt idx="1">
                  <c:v>39</c:v>
                </c:pt>
                <c:pt idx="2">
                  <c:v>37</c:v>
                </c:pt>
              </c:numCache>
            </c:numRef>
          </c:val>
          <c:smooth val="0"/>
          <c:extLst>
            <c:ext xmlns:c16="http://schemas.microsoft.com/office/drawing/2014/chart" uri="{C3380CC4-5D6E-409C-BE32-E72D297353CC}">
              <c16:uniqueId val="{00000003-191A-1A48-A722-5456D0320B17}"/>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endParaRPr lang="en-US"/>
          </a:p>
        </c:txPr>
        <c:crossAx val="48672768"/>
        <c:crosses val="autoZero"/>
        <c:auto val="1"/>
        <c:lblAlgn val="ctr"/>
        <c:lblOffset val="100"/>
        <c:noMultiLvlLbl val="1"/>
      </c:catAx>
      <c:valAx>
        <c:axId val="48672768"/>
        <c:scaling>
          <c:orientation val="minMax"/>
          <c:max val="40"/>
          <c:min val="0"/>
        </c:scaling>
        <c:delete val="0"/>
        <c:axPos val="l"/>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Completed passes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endParaRPr lang="en-US"/>
          </a:p>
        </c:txPr>
        <c:crossAx val="48650112"/>
        <c:crosses val="autoZero"/>
        <c:crossBetween val="between"/>
        <c:majorUnit val="10"/>
      </c:valAx>
      <c:spPr>
        <a:solidFill>
          <a:srgbClr val="FFFFFF"/>
        </a:solidFill>
      </c:spPr>
    </c:plotArea>
    <c:legend>
      <c:legendPos val="b"/>
      <c:overlay val="0"/>
      <c:txPr>
        <a:bodyPr anchorCtr="1"/>
        <a:lstStyle/>
        <a:p>
          <a:pPr>
            <a:defRPr sz="1500">
              <a:solidFill>
                <a:srgbClr val="111111"/>
              </a:solidFill>
              <a:latin typeface="Times New Roman"/>
              <a:ea typeface="Times New Roman"/>
              <a:cs typeface="Times New Roman"/>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stacked"/>
        <c:varyColors val="0"/>
        <c:ser>
          <c:idx val="0"/>
          <c:order val="0"/>
          <c:tx>
            <c:v>Completed pass</c:v>
          </c:tx>
          <c:spPr>
            <a:solidFill>
              <a:srgbClr val="0F766E"/>
            </a:solidFill>
          </c:spPr>
          <c:invertIfNegative val="0"/>
          <c:cat>
            <c:strRef>
              <c:f>'Chart Data'!$A$2:$A$6</c:f>
              <c:strCache>
                <c:ptCount val="5"/>
                <c:pt idx="0">
                  <c:v>Luna 6</c:v>
                </c:pt>
                <c:pt idx="1">
                  <c:v>Terra 5.6</c:v>
                </c:pt>
                <c:pt idx="2">
                  <c:v>DeepSeek</c:v>
                </c:pt>
                <c:pt idx="3">
                  <c:v>Sol 6</c:v>
                </c:pt>
                <c:pt idx="4">
                  <c:v>Astra 6</c:v>
                </c:pt>
              </c:strCache>
            </c:strRef>
          </c:cat>
          <c:val>
            <c:numRef>
              <c:f>'Chart Data'!$B$2:$B$6</c:f>
              <c:numCache>
                <c:formatCode>General</c:formatCode>
                <c:ptCount val="5"/>
                <c:pt idx="0">
                  <c:v>17</c:v>
                </c:pt>
                <c:pt idx="1">
                  <c:v>32</c:v>
                </c:pt>
                <c:pt idx="2">
                  <c:v>0</c:v>
                </c:pt>
                <c:pt idx="3">
                  <c:v>115</c:v>
                </c:pt>
                <c:pt idx="4">
                  <c:v>115</c:v>
                </c:pt>
              </c:numCache>
            </c:numRef>
          </c:val>
          <c:extLst>
            <c:ext xmlns:c16="http://schemas.microsoft.com/office/drawing/2014/chart" uri="{C3380CC4-5D6E-409C-BE32-E72D297353CC}">
              <c16:uniqueId val="{00000000-EFC8-7744-A483-F58A7C34F289}"/>
            </c:ext>
          </c:extLst>
        </c:ser>
        <c:ser>
          <c:idx val="1"/>
          <c:order val="1"/>
          <c:tx>
            <c:v>Prediction only</c:v>
          </c:tx>
          <c:spPr>
            <a:solidFill>
              <a:srgbClr val="B45309"/>
            </a:solidFill>
          </c:spPr>
          <c:invertIfNegative val="0"/>
          <c:cat>
            <c:strRef>
              <c:f>'Chart Data'!$C$2:$C$6</c:f>
              <c:strCache>
                <c:ptCount val="5"/>
                <c:pt idx="0">
                  <c:v>Luna 6</c:v>
                </c:pt>
                <c:pt idx="1">
                  <c:v>Terra 5.6</c:v>
                </c:pt>
                <c:pt idx="2">
                  <c:v>DeepSeek</c:v>
                </c:pt>
                <c:pt idx="3">
                  <c:v>Sol 6</c:v>
                </c:pt>
                <c:pt idx="4">
                  <c:v>Astra 6</c:v>
                </c:pt>
              </c:strCache>
            </c:strRef>
          </c:cat>
          <c:val>
            <c:numRef>
              <c:f>'Chart Data'!$D$2:$D$6</c:f>
              <c:numCache>
                <c:formatCode>General</c:formatCode>
                <c:ptCount val="5"/>
                <c:pt idx="0">
                  <c:v>91</c:v>
                </c:pt>
                <c:pt idx="1">
                  <c:v>81</c:v>
                </c:pt>
                <c:pt idx="2">
                  <c:v>12</c:v>
                </c:pt>
                <c:pt idx="3">
                  <c:v>2</c:v>
                </c:pt>
                <c:pt idx="4">
                  <c:v>0</c:v>
                </c:pt>
              </c:numCache>
            </c:numRef>
          </c:val>
          <c:extLst>
            <c:ext xmlns:c16="http://schemas.microsoft.com/office/drawing/2014/chart" uri="{C3380CC4-5D6E-409C-BE32-E72D297353CC}">
              <c16:uniqueId val="{00000001-EFC8-7744-A483-F58A7C34F289}"/>
            </c:ext>
          </c:extLst>
        </c:ser>
        <c:ser>
          <c:idx val="2"/>
          <c:order val="2"/>
          <c:tx>
            <c:v>Other grading</c:v>
          </c:tx>
          <c:spPr>
            <a:solidFill>
              <a:srgbClr val="5B4B7C"/>
            </a:solidFill>
          </c:spPr>
          <c:invertIfNegative val="0"/>
          <c:cat>
            <c:strRef>
              <c:f>'Chart Data'!$E$2:$E$6</c:f>
              <c:strCache>
                <c:ptCount val="5"/>
                <c:pt idx="0">
                  <c:v>Luna 6</c:v>
                </c:pt>
                <c:pt idx="1">
                  <c:v>Terra 5.6</c:v>
                </c:pt>
                <c:pt idx="2">
                  <c:v>DeepSeek</c:v>
                </c:pt>
                <c:pt idx="3">
                  <c:v>Sol 6</c:v>
                </c:pt>
                <c:pt idx="4">
                  <c:v>Astra 6</c:v>
                </c:pt>
              </c:strCache>
            </c:strRef>
          </c:cat>
          <c:val>
            <c:numRef>
              <c:f>'Chart Data'!$F$2:$F$6</c:f>
              <c:numCache>
                <c:formatCode>General</c:formatCode>
                <c:ptCount val="5"/>
                <c:pt idx="0">
                  <c:v>5</c:v>
                </c:pt>
                <c:pt idx="1">
                  <c:v>0</c:v>
                </c:pt>
                <c:pt idx="2">
                  <c:v>0</c:v>
                </c:pt>
                <c:pt idx="3">
                  <c:v>0</c:v>
                </c:pt>
                <c:pt idx="4">
                  <c:v>0</c:v>
                </c:pt>
              </c:numCache>
            </c:numRef>
          </c:val>
          <c:extLst>
            <c:ext xmlns:c16="http://schemas.microsoft.com/office/drawing/2014/chart" uri="{C3380CC4-5D6E-409C-BE32-E72D297353CC}">
              <c16:uniqueId val="{00000002-EFC8-7744-A483-F58A7C34F289}"/>
            </c:ext>
          </c:extLst>
        </c:ser>
        <c:ser>
          <c:idx val="3"/>
          <c:order val="3"/>
          <c:tx>
            <c:v>Timeout</c:v>
          </c:tx>
          <c:spPr>
            <a:solidFill>
              <a:srgbClr val="A50026"/>
            </a:solidFill>
          </c:spPr>
          <c:invertIfNegative val="0"/>
          <c:cat>
            <c:strRef>
              <c:f>'Chart Data'!$G$2:$G$6</c:f>
              <c:strCache>
                <c:ptCount val="5"/>
                <c:pt idx="0">
                  <c:v>Luna 6</c:v>
                </c:pt>
                <c:pt idx="1">
                  <c:v>Terra 5.6</c:v>
                </c:pt>
                <c:pt idx="2">
                  <c:v>DeepSeek</c:v>
                </c:pt>
                <c:pt idx="3">
                  <c:v>Sol 6</c:v>
                </c:pt>
                <c:pt idx="4">
                  <c:v>Astra 6</c:v>
                </c:pt>
              </c:strCache>
            </c:strRef>
          </c:cat>
          <c:val>
            <c:numRef>
              <c:f>'Chart Data'!$H$2:$H$6</c:f>
              <c:numCache>
                <c:formatCode>General</c:formatCode>
                <c:ptCount val="5"/>
                <c:pt idx="0">
                  <c:v>2</c:v>
                </c:pt>
                <c:pt idx="1">
                  <c:v>4</c:v>
                </c:pt>
                <c:pt idx="2">
                  <c:v>83</c:v>
                </c:pt>
                <c:pt idx="3">
                  <c:v>0</c:v>
                </c:pt>
                <c:pt idx="4">
                  <c:v>2</c:v>
                </c:pt>
              </c:numCache>
            </c:numRef>
          </c:val>
          <c:extLst>
            <c:ext xmlns:c16="http://schemas.microsoft.com/office/drawing/2014/chart" uri="{C3380CC4-5D6E-409C-BE32-E72D297353CC}">
              <c16:uniqueId val="{00000003-EFC8-7744-A483-F58A7C34F289}"/>
            </c:ext>
          </c:extLst>
        </c:ser>
        <c:ser>
          <c:idx val="4"/>
          <c:order val="4"/>
          <c:tx>
            <c:v>Other execution</c:v>
          </c:tx>
          <c:spPr>
            <a:solidFill>
              <a:srgbClr val="AFB6BC"/>
            </a:solidFill>
          </c:spPr>
          <c:invertIfNegative val="0"/>
          <c:cat>
            <c:strRef>
              <c:f>'Chart Data'!$I$2:$I$6</c:f>
              <c:strCache>
                <c:ptCount val="5"/>
                <c:pt idx="0">
                  <c:v>Luna 6</c:v>
                </c:pt>
                <c:pt idx="1">
                  <c:v>Terra 5.6</c:v>
                </c:pt>
                <c:pt idx="2">
                  <c:v>DeepSeek</c:v>
                </c:pt>
                <c:pt idx="3">
                  <c:v>Sol 6</c:v>
                </c:pt>
                <c:pt idx="4">
                  <c:v>Astra 6</c:v>
                </c:pt>
              </c:strCache>
            </c:strRef>
          </c:cat>
          <c:val>
            <c:numRef>
              <c:f>'Chart Data'!$J$2:$J$6</c:f>
              <c:numCache>
                <c:formatCode>General</c:formatCode>
                <c:ptCount val="5"/>
                <c:pt idx="0">
                  <c:v>2</c:v>
                </c:pt>
                <c:pt idx="1">
                  <c:v>0</c:v>
                </c:pt>
                <c:pt idx="2">
                  <c:v>22</c:v>
                </c:pt>
                <c:pt idx="3">
                  <c:v>0</c:v>
                </c:pt>
                <c:pt idx="4">
                  <c:v>0</c:v>
                </c:pt>
              </c:numCache>
            </c:numRef>
          </c:val>
          <c:extLst>
            <c:ext xmlns:c16="http://schemas.microsoft.com/office/drawing/2014/chart" uri="{C3380CC4-5D6E-409C-BE32-E72D297353CC}">
              <c16:uniqueId val="{00000004-EFC8-7744-A483-F58A7C34F289}"/>
            </c:ext>
          </c:extLst>
        </c:ser>
        <c:dLbls>
          <c:showLegendKey val="0"/>
          <c:showVal val="0"/>
          <c:showCatName val="0"/>
          <c:showSerName val="0"/>
          <c:showPercent val="0"/>
          <c:showBubbleSize val="0"/>
        </c:dLbls>
        <c:gapWidth val="55"/>
        <c:overlap val="10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endParaRPr lang="en-US"/>
          </a:p>
        </c:txPr>
        <c:crossAx val="48672768"/>
        <c:crosses val="autoZero"/>
        <c:auto val="1"/>
        <c:lblAlgn val="ctr"/>
        <c:lblOffset val="100"/>
        <c:noMultiLvlLbl val="1"/>
      </c:catAx>
      <c:valAx>
        <c:axId val="48672768"/>
        <c:scaling>
          <c:orientation val="minMax"/>
          <c:max val="117"/>
          <c:min val="0"/>
        </c:scaling>
        <c:delete val="0"/>
        <c:axPos val="b"/>
        <c:majorGridlines>
          <c:spPr>
            <a:ln w="6668">
              <a:solidFill>
                <a:srgbClr val="D1D5DB"/>
              </a:solidFill>
              <a:prstDash val="solid"/>
            </a:ln>
          </c:spPr>
        </c:majorGridlines>
        <c:title>
          <c:tx>
            <c:rich>
              <a:bodyPr/>
              <a:lstStyle/>
              <a:p>
                <a:r>
                  <a:rPr sz="1575">
                    <a:solidFill>
                      <a:srgbClr val="444444"/>
                    </a:solidFill>
                    <a:latin typeface="Times New Roman"/>
                    <a:ea typeface="Times New Roman"/>
                    <a:cs typeface="Times New Roman"/>
                  </a:rPr>
                  <a:t>Attempts across three effort settings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75">
                <a:solidFill>
                  <a:srgbClr val="444444"/>
                </a:solidFill>
                <a:latin typeface="Times New Roman"/>
                <a:ea typeface="Times New Roman"/>
                <a:cs typeface="Times New Roman"/>
              </a:defRPr>
            </a:pPr>
            <a:endParaRPr lang="en-US"/>
          </a:p>
        </c:txPr>
        <c:crossAx val="48650112"/>
        <c:crosses val="autoZero"/>
        <c:crossBetween val="between"/>
        <c:majorUnit val="39"/>
      </c:valAx>
      <c:spPr>
        <a:solidFill>
          <a:srgbClr val="FFFFFF"/>
        </a:solidFill>
      </c:spPr>
    </c:plotArea>
    <c:legend>
      <c:legendPos val="b"/>
      <c:overlay val="0"/>
      <c:txPr>
        <a:bodyPr anchorCtr="1"/>
        <a:lstStyle/>
        <a:p>
          <a:pPr>
            <a:defRPr sz="1425">
              <a:solidFill>
                <a:srgbClr val="111111"/>
              </a:solidFill>
              <a:latin typeface="Times New Roman"/>
              <a:ea typeface="Times New Roman"/>
              <a:cs typeface="Times New Roman"/>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Starter formula</c:v>
          </c:tx>
          <c:spPr>
            <a:ln w="25718">
              <a:solidFill>
                <a:srgbClr val="A50026"/>
              </a:solidFill>
            </a:ln>
          </c:spPr>
          <c:marker>
            <c:symbol val="none"/>
          </c:marker>
          <c:xVal>
            <c:numRef>
              <c:f>'Chart Data'!$A$2:$A$58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Data'!$B$2:$B$58</c:f>
              <c:numCache>
                <c:formatCode>0.00</c:formatCode>
                <c:ptCount val="57"/>
                <c:pt idx="0">
                  <c:v>1</c:v>
                </c:pt>
                <c:pt idx="1">
                  <c:v>0.85355339100000005</c:v>
                </c:pt>
                <c:pt idx="2">
                  <c:v>0.80901699400000004</c:v>
                </c:pt>
                <c:pt idx="3">
                  <c:v>0.78011575200000005</c:v>
                </c:pt>
                <c:pt idx="4">
                  <c:v>0.75881904499999997</c:v>
                </c:pt>
                <c:pt idx="5">
                  <c:v>0.74209273200000003</c:v>
                </c:pt>
                <c:pt idx="6">
                  <c:v>0.72842512599999998</c:v>
                </c:pt>
                <c:pt idx="7">
                  <c:v>0.71694602399999996</c:v>
                </c:pt>
                <c:pt idx="8">
                  <c:v>0.70710678100000002</c:v>
                </c:pt>
                <c:pt idx="9">
                  <c:v>0.69853890100000005</c:v>
                </c:pt>
                <c:pt idx="10">
                  <c:v>0.69098300599999996</c:v>
                </c:pt>
                <c:pt idx="11">
                  <c:v>0.68424978000000003</c:v>
                </c:pt>
                <c:pt idx="12">
                  <c:v>0.67819697899999998</c:v>
                </c:pt>
                <c:pt idx="13">
                  <c:v>0.67271514799999999</c:v>
                </c:pt>
                <c:pt idx="14">
                  <c:v>0.66771837000000001</c:v>
                </c:pt>
                <c:pt idx="15">
                  <c:v>0.66313805100000001</c:v>
                </c:pt>
                <c:pt idx="16">
                  <c:v>0.65891862300000004</c:v>
                </c:pt>
                <c:pt idx="17">
                  <c:v>0.65501449</c:v>
                </c:pt>
                <c:pt idx="18">
                  <c:v>0.65138781899999998</c:v>
                </c:pt>
                <c:pt idx="19">
                  <c:v>0.64800690299999997</c:v>
                </c:pt>
                <c:pt idx="20">
                  <c:v>0.64484493200000004</c:v>
                </c:pt>
                <c:pt idx="21">
                  <c:v>0.64187905099999998</c:v>
                </c:pt>
                <c:pt idx="22">
                  <c:v>0.63908963900000004</c:v>
                </c:pt>
                <c:pt idx="23">
                  <c:v>0.63645973600000005</c:v>
                </c:pt>
                <c:pt idx="24">
                  <c:v>0.63397459599999995</c:v>
                </c:pt>
                <c:pt idx="25">
                  <c:v>0.63162132400000004</c:v>
                </c:pt>
                <c:pt idx="26">
                  <c:v>0.62938858799999997</c:v>
                </c:pt>
                <c:pt idx="27">
                  <c:v>0.62726638000000001</c:v>
                </c:pt>
                <c:pt idx="28">
                  <c:v>0.62524582500000003</c:v>
                </c:pt>
                <c:pt idx="29">
                  <c:v>0.62331901999999995</c:v>
                </c:pt>
                <c:pt idx="30">
                  <c:v>0.62147889899999997</c:v>
                </c:pt>
                <c:pt idx="31">
                  <c:v>0.61971912399999995</c:v>
                </c:pt>
                <c:pt idx="32">
                  <c:v>0.61803398899999995</c:v>
                </c:pt>
                <c:pt idx="33">
                  <c:v>0.61641834200000001</c:v>
                </c:pt>
                <c:pt idx="34">
                  <c:v>0.61486751699999997</c:v>
                </c:pt>
                <c:pt idx="35">
                  <c:v>0.61337727900000005</c:v>
                </c:pt>
                <c:pt idx="36">
                  <c:v>0.61194376800000005</c:v>
                </c:pt>
                <c:pt idx="37">
                  <c:v>0.61056346399999994</c:v>
                </c:pt>
                <c:pt idx="38">
                  <c:v>0.60923314500000003</c:v>
                </c:pt>
                <c:pt idx="39">
                  <c:v>0.60794985599999996</c:v>
                </c:pt>
                <c:pt idx="40">
                  <c:v>0.60671088299999998</c:v>
                </c:pt>
                <c:pt idx="41">
                  <c:v>0.605513725</c:v>
                </c:pt>
                <c:pt idx="42">
                  <c:v>0.60435607599999996</c:v>
                </c:pt>
                <c:pt idx="43">
                  <c:v>0.60323580499999996</c:v>
                </c:pt>
                <c:pt idx="44">
                  <c:v>0.60215093799999997</c:v>
                </c:pt>
                <c:pt idx="45">
                  <c:v>0.60109964500000002</c:v>
                </c:pt>
                <c:pt idx="46">
                  <c:v>0.60008022500000002</c:v>
                </c:pt>
                <c:pt idx="47">
                  <c:v>0.59909109599999999</c:v>
                </c:pt>
                <c:pt idx="48">
                  <c:v>0.59813078399999997</c:v>
                </c:pt>
                <c:pt idx="49">
                  <c:v>0.597197914</c:v>
                </c:pt>
                <c:pt idx="50">
                  <c:v>0.59629120199999996</c:v>
                </c:pt>
                <c:pt idx="51">
                  <c:v>0.59540944399999995</c:v>
                </c:pt>
                <c:pt idx="52">
                  <c:v>0.59455151500000003</c:v>
                </c:pt>
                <c:pt idx="53">
                  <c:v>0.59371636000000005</c:v>
                </c:pt>
                <c:pt idx="54">
                  <c:v>0.59290298500000005</c:v>
                </c:pt>
                <c:pt idx="55">
                  <c:v>0.59211046000000001</c:v>
                </c:pt>
                <c:pt idx="56">
                  <c:v>0.591337907</c:v>
                </c:pt>
              </c:numCache>
            </c:numRef>
          </c:yVal>
          <c:smooth val="1"/>
          <c:extLst>
            <c:ext xmlns:c16="http://schemas.microsoft.com/office/drawing/2014/chart" uri="{C3380CC4-5D6E-409C-BE32-E72D297353CC}">
              <c16:uniqueId val="{00000000-38E3-454F-821A-CB60BC416AD1}"/>
            </c:ext>
          </c:extLst>
        </c:ser>
        <c:ser>
          <c:idx val="1"/>
          <c:order val="1"/>
          <c:tx>
            <c:v>Correct physics</c:v>
          </c:tx>
          <c:spPr>
            <a:ln w="25718">
              <a:solidFill>
                <a:srgbClr val="0F766E"/>
              </a:solidFill>
            </a:ln>
          </c:spPr>
          <c:marker>
            <c:symbol val="none"/>
          </c:marker>
          <c:xVal>
            <c:numRef>
              <c:f>'Chart Data'!$C$2:$C$58</c:f>
              <c:numCache>
                <c:formatCode>General</c:formatCode>
                <c:ptCount val="57"/>
                <c:pt idx="0">
                  <c:v>1</c:v>
                </c:pt>
                <c:pt idx="1">
                  <c:v>1.125</c:v>
                </c:pt>
                <c:pt idx="2">
                  <c:v>1.25</c:v>
                </c:pt>
                <c:pt idx="3">
                  <c:v>1.375</c:v>
                </c:pt>
                <c:pt idx="4">
                  <c:v>1.5</c:v>
                </c:pt>
                <c:pt idx="5">
                  <c:v>1.625</c:v>
                </c:pt>
                <c:pt idx="6">
                  <c:v>1.75</c:v>
                </c:pt>
                <c:pt idx="7">
                  <c:v>1.875</c:v>
                </c:pt>
                <c:pt idx="8">
                  <c:v>2</c:v>
                </c:pt>
                <c:pt idx="9">
                  <c:v>2.125</c:v>
                </c:pt>
                <c:pt idx="10">
                  <c:v>2.25</c:v>
                </c:pt>
                <c:pt idx="11">
                  <c:v>2.375</c:v>
                </c:pt>
                <c:pt idx="12">
                  <c:v>2.5</c:v>
                </c:pt>
                <c:pt idx="13">
                  <c:v>2.625</c:v>
                </c:pt>
                <c:pt idx="14">
                  <c:v>2.75</c:v>
                </c:pt>
                <c:pt idx="15">
                  <c:v>2.875</c:v>
                </c:pt>
                <c:pt idx="16">
                  <c:v>3</c:v>
                </c:pt>
                <c:pt idx="17">
                  <c:v>3.125</c:v>
                </c:pt>
                <c:pt idx="18">
                  <c:v>3.25</c:v>
                </c:pt>
                <c:pt idx="19">
                  <c:v>3.375</c:v>
                </c:pt>
                <c:pt idx="20">
                  <c:v>3.5</c:v>
                </c:pt>
                <c:pt idx="21">
                  <c:v>3.625</c:v>
                </c:pt>
                <c:pt idx="22">
                  <c:v>3.75</c:v>
                </c:pt>
                <c:pt idx="23">
                  <c:v>3.875</c:v>
                </c:pt>
                <c:pt idx="24">
                  <c:v>4</c:v>
                </c:pt>
                <c:pt idx="25">
                  <c:v>4.125</c:v>
                </c:pt>
                <c:pt idx="26">
                  <c:v>4.25</c:v>
                </c:pt>
                <c:pt idx="27">
                  <c:v>4.375</c:v>
                </c:pt>
                <c:pt idx="28">
                  <c:v>4.5</c:v>
                </c:pt>
                <c:pt idx="29">
                  <c:v>4.625</c:v>
                </c:pt>
                <c:pt idx="30">
                  <c:v>4.75</c:v>
                </c:pt>
                <c:pt idx="31">
                  <c:v>4.875</c:v>
                </c:pt>
                <c:pt idx="32">
                  <c:v>5</c:v>
                </c:pt>
                <c:pt idx="33">
                  <c:v>5.125</c:v>
                </c:pt>
                <c:pt idx="34">
                  <c:v>5.25</c:v>
                </c:pt>
                <c:pt idx="35">
                  <c:v>5.375</c:v>
                </c:pt>
                <c:pt idx="36">
                  <c:v>5.5</c:v>
                </c:pt>
                <c:pt idx="37">
                  <c:v>5.625</c:v>
                </c:pt>
                <c:pt idx="38">
                  <c:v>5.75</c:v>
                </c:pt>
                <c:pt idx="39">
                  <c:v>5.875</c:v>
                </c:pt>
                <c:pt idx="40">
                  <c:v>6</c:v>
                </c:pt>
                <c:pt idx="41">
                  <c:v>6.125</c:v>
                </c:pt>
                <c:pt idx="42">
                  <c:v>6.25</c:v>
                </c:pt>
                <c:pt idx="43">
                  <c:v>6.375</c:v>
                </c:pt>
                <c:pt idx="44">
                  <c:v>6.5</c:v>
                </c:pt>
                <c:pt idx="45">
                  <c:v>6.625</c:v>
                </c:pt>
                <c:pt idx="46">
                  <c:v>6.75</c:v>
                </c:pt>
                <c:pt idx="47">
                  <c:v>6.875</c:v>
                </c:pt>
                <c:pt idx="48">
                  <c:v>7</c:v>
                </c:pt>
                <c:pt idx="49">
                  <c:v>7.125</c:v>
                </c:pt>
                <c:pt idx="50">
                  <c:v>7.25</c:v>
                </c:pt>
                <c:pt idx="51">
                  <c:v>7.375</c:v>
                </c:pt>
                <c:pt idx="52">
                  <c:v>7.5</c:v>
                </c:pt>
                <c:pt idx="53">
                  <c:v>7.625</c:v>
                </c:pt>
                <c:pt idx="54">
                  <c:v>7.75</c:v>
                </c:pt>
                <c:pt idx="55">
                  <c:v>7.875</c:v>
                </c:pt>
                <c:pt idx="56">
                  <c:v>8</c:v>
                </c:pt>
              </c:numCache>
            </c:numRef>
          </c:xVal>
          <c:yVal>
            <c:numRef>
              <c:f>'Chart Data'!$D$2:$D$58</c:f>
              <c:numCache>
                <c:formatCode>0.00</c:formatCode>
                <c:ptCount val="57"/>
                <c:pt idx="0">
                  <c:v>1</c:v>
                </c:pt>
                <c:pt idx="1">
                  <c:v>0.78077640599999998</c:v>
                </c:pt>
                <c:pt idx="2">
                  <c:v>0.70710678100000002</c:v>
                </c:pt>
                <c:pt idx="3">
                  <c:v>0.656712034</c:v>
                </c:pt>
                <c:pt idx="4">
                  <c:v>0.61803398899999995</c:v>
                </c:pt>
                <c:pt idx="5">
                  <c:v>0.58662692900000002</c:v>
                </c:pt>
                <c:pt idx="6">
                  <c:v>0.56023150399999999</c:v>
                </c:pt>
                <c:pt idx="7">
                  <c:v>0.53752005300000005</c:v>
                </c:pt>
                <c:pt idx="8">
                  <c:v>0.51763809000000005</c:v>
                </c:pt>
                <c:pt idx="9">
                  <c:v>0.5</c:v>
                </c:pt>
                <c:pt idx="10">
                  <c:v>0.48418546299999998</c:v>
                </c:pt>
                <c:pt idx="11">
                  <c:v>0.46988190800000001</c:v>
                </c:pt>
                <c:pt idx="12">
                  <c:v>0.45685025200000001</c:v>
                </c:pt>
                <c:pt idx="13">
                  <c:v>0.44490338299999999</c:v>
                </c:pt>
                <c:pt idx="14">
                  <c:v>0.433892047</c:v>
                </c:pt>
                <c:pt idx="15">
                  <c:v>0.42369525400000002</c:v>
                </c:pt>
                <c:pt idx="16">
                  <c:v>0.41421356199999998</c:v>
                </c:pt>
                <c:pt idx="17">
                  <c:v>0.40536425500000001</c:v>
                </c:pt>
                <c:pt idx="18">
                  <c:v>0.39707780199999998</c:v>
                </c:pt>
                <c:pt idx="19">
                  <c:v>0.38929521</c:v>
                </c:pt>
                <c:pt idx="20">
                  <c:v>0.38196601099999999</c:v>
                </c:pt>
                <c:pt idx="21">
                  <c:v>0.37504670899999998</c:v>
                </c:pt>
                <c:pt idx="22">
                  <c:v>0.36849956099999998</c:v>
                </c:pt>
                <c:pt idx="23">
                  <c:v>0.36229161900000001</c:v>
                </c:pt>
                <c:pt idx="24">
                  <c:v>0.35639395899999998</c:v>
                </c:pt>
                <c:pt idx="25">
                  <c:v>0.35078105900000001</c:v>
                </c:pt>
                <c:pt idx="26">
                  <c:v>0.34543029600000003</c:v>
                </c:pt>
                <c:pt idx="27">
                  <c:v>0.34032152500000001</c:v>
                </c:pt>
                <c:pt idx="28">
                  <c:v>0.33543674000000001</c:v>
                </c:pt>
                <c:pt idx="29">
                  <c:v>0.33075978099999997</c:v>
                </c:pt>
                <c:pt idx="30">
                  <c:v>0.32627610200000001</c:v>
                </c:pt>
                <c:pt idx="31">
                  <c:v>0.32197255899999999</c:v>
                </c:pt>
                <c:pt idx="32">
                  <c:v>0.31783724499999999</c:v>
                </c:pt>
                <c:pt idx="33">
                  <c:v>0.31385933799999999</c:v>
                </c:pt>
                <c:pt idx="34">
                  <c:v>0.31002897899999998</c:v>
                </c:pt>
                <c:pt idx="35">
                  <c:v>0.30633716100000002</c:v>
                </c:pt>
                <c:pt idx="36">
                  <c:v>0.30277563800000001</c:v>
                </c:pt>
                <c:pt idx="37">
                  <c:v>0.29933683999999999</c:v>
                </c:pt>
                <c:pt idx="38">
                  <c:v>0.29601380599999999</c:v>
                </c:pt>
                <c:pt idx="39">
                  <c:v>0.292800122</c:v>
                </c:pt>
                <c:pt idx="40">
                  <c:v>0.28968986299999999</c:v>
                </c:pt>
                <c:pt idx="41">
                  <c:v>0.28667754899999998</c:v>
                </c:pt>
                <c:pt idx="42">
                  <c:v>0.28375810200000001</c:v>
                </c:pt>
                <c:pt idx="43">
                  <c:v>0.28092680599999997</c:v>
                </c:pt>
                <c:pt idx="44">
                  <c:v>0.27817927799999997</c:v>
                </c:pt>
                <c:pt idx="45">
                  <c:v>0.275511436</c:v>
                </c:pt>
                <c:pt idx="46">
                  <c:v>0.27291947300000002</c:v>
                </c:pt>
                <c:pt idx="47">
                  <c:v>0.27039983299999998</c:v>
                </c:pt>
                <c:pt idx="48">
                  <c:v>0.267949192</c:v>
                </c:pt>
                <c:pt idx="49">
                  <c:v>0.26556443699999999</c:v>
                </c:pt>
                <c:pt idx="50">
                  <c:v>0.26324264800000002</c:v>
                </c:pt>
                <c:pt idx="51">
                  <c:v>0.26098108599999997</c:v>
                </c:pt>
                <c:pt idx="52">
                  <c:v>0.25877717500000003</c:v>
                </c:pt>
                <c:pt idx="53">
                  <c:v>0.25662849300000001</c:v>
                </c:pt>
                <c:pt idx="54">
                  <c:v>0.254532759</c:v>
                </c:pt>
                <c:pt idx="55">
                  <c:v>0.25248782199999997</c:v>
                </c:pt>
                <c:pt idx="56">
                  <c:v>0.25049165000000001</c:v>
                </c:pt>
              </c:numCache>
            </c:numRef>
          </c:yVal>
          <c:smooth val="1"/>
          <c:extLst>
            <c:ext xmlns:c16="http://schemas.microsoft.com/office/drawing/2014/chart" uri="{C3380CC4-5D6E-409C-BE32-E72D297353CC}">
              <c16:uniqueId val="{00000001-38E3-454F-821A-CB60BC416AD1}"/>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majorGridlines>
          <c:spPr>
            <a:ln w="7620">
              <a:solidFill>
                <a:srgbClr val="D1D5DB"/>
              </a:solidFill>
              <a:prstDash val="solid"/>
            </a:ln>
          </c:spPr>
        </c:majorGridlines>
        <c:title>
          <c:tx>
            <c:rich>
              <a:bodyPr/>
              <a:lstStyle/>
              <a:p>
                <a:r>
                  <a:rPr>
                    <a:latin typeface="Times New Roman"/>
                    <a:ea typeface="Times New Roman"/>
                    <a:cs typeface="Times New Roman"/>
                  </a:rPr>
                  <a:t>Shared motion (normalized)</a:t>
                </a:r>
              </a:p>
            </c:rich>
          </c:tx>
          <c:overlay val="0"/>
        </c:title>
        <c:numFmt formatCode="0.0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endParaRPr lang="en-US"/>
          </a:p>
        </c:txPr>
        <c:crossAx val="48650112"/>
        <c:crosses val="autoZero"/>
        <c:crossBetween val="midCat"/>
        <c:majorUnit val="0.25"/>
      </c:valAx>
      <c:valAx>
        <c:axId val="48650112"/>
        <c:scaling>
          <c:orientation val="minMax"/>
          <c:max val="8"/>
          <c:min val="1"/>
        </c:scaling>
        <c:delete val="0"/>
        <c:axPos val="b"/>
        <c:title>
          <c:tx>
            <c:rich>
              <a:bodyPr/>
              <a:lstStyle/>
              <a:p>
                <a:r>
                  <a:rPr>
                    <a:latin typeface="Times New Roman"/>
                    <a:ea typeface="Times New Roman"/>
                    <a:cs typeface="Times New Roman"/>
                  </a:rPr>
                  <a:t>Later time / earlier time</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Times New Roman"/>
                <a:ea typeface="Times New Roman"/>
                <a:cs typeface="Times New Roman"/>
              </a:defRPr>
            </a:pPr>
            <a:endParaRPr lang="en-US"/>
          </a:p>
        </c:txPr>
        <c:crossAx val="48672768"/>
        <c:crosses val="autoZero"/>
        <c:crossBetween val="midCat"/>
        <c:majorUnit val="1"/>
      </c:valAx>
      <c:spPr>
        <a:solidFill>
          <a:srgbClr val="FFFFFF"/>
        </a:solidFill>
      </c:spPr>
    </c:plotArea>
    <c:legend>
      <c:legendPos val="b"/>
      <c:overlay val="0"/>
      <c:txPr>
        <a:bodyPr anchorCtr="1"/>
        <a:lstStyle/>
        <a:p>
          <a:pPr>
            <a:defRPr sz="1575">
              <a:latin typeface="Times New Roman"/>
              <a:ea typeface="Times New Roman"/>
              <a:cs typeface="Times New Roman"/>
            </a:defRPr>
          </a:pPr>
          <a:endParaRPr lang="en-US"/>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10 seconds.</a:t>
            </a:r>
          </a:p>
          <a:p>
            <a:endParaRPr/>
          </a:p>
          <a:p>
            <a:r>
              <a:t>We study how well coding agents can turn a physical setup and limited measurements into predictions.</a:t>
            </a:r>
          </a:p>
          <a:p>
            <a:endParaRPr/>
          </a:p>
          <a:p>
            <a:r>
              <a:t>Sources: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45 seconds.</a:t>
            </a:r>
          </a:p>
          <a:p>
            <a:endParaRPr/>
          </a:p>
          <a:p>
            <a:r>
              <a:t>PhysLiteBench asks whether a coding agent can turn a physical description and limited measurements into reliable predictions. Think of the supplied measurements as training data. They cover only some settings of the experiment. The agent receives the setup, starter code and public tests. It can change the entire model. The evaluator then checks whether the program fits the measurements and makes correct predictions at other settings, within a fixed time budget. Our suite has thirteen tasks. They were selected using GPT-5.6 Luna, so this is a deliberately challenging sample. I will explain one example using beads moving inside a narrow tube.</a:t>
            </a:r>
          </a:p>
          <a:p>
            <a:endParaRPr/>
          </a:p>
          <a:p>
            <a:r>
              <a:t>Sources:</a:t>
            </a:r>
          </a:p>
          <a:p>
            <a:r>
              <a:t>/Users/yp9846/Desktop/PhysLiteBench/README.md</a:t>
            </a:r>
          </a:p>
          <a:p>
            <a:r>
              <a:t>/Users/yp9846/Desktop/PhysLiteBench/docs/BENCHMARK.md</a:t>
            </a:r>
          </a:p>
          <a:p>
            <a:r>
              <a:t>/Users/yp9846/Desktop/PhysLiteBench/results/task-roster.json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100 seconds.</a:t>
            </a:r>
          </a:p>
          <a:p>
            <a:endParaRPr/>
          </a:p>
          <a:p>
            <a:r>
              <a:t>Imagine a long tube containing a row of beads. Random motion makes them bump around, but the tube is too narrow for one bead to pass another. We mark one bead orange and observe it. Every repeat starts with all the beads in exactly the same evenly spaced positions. We release them, then record the orange bead's position early and later in the same run. The next run starts from the original row but has different random motion. The pictures illustrate one possible run, not measured data. What does the agent know? It has this description, starter code, and measurements of how far the orange bead typically moves at several chosen times. These data let it estimate how strong the random motion is. What must it predict? Across many repeats, how strongly are the orange bead's early and later positions connected? For example, in runs where it is farther right early, does it also tend to be farther right later, and how strong is that relationship? The agent must write a numerical prediction for this relationship. The important physical detail is how we start the experiment. The beads begin in a regular row and cannot pass one another. That arrangement can still influence how motion at one time relates to motion later. Fitting the movement strength alone does not settle that question.</a:t>
            </a:r>
          </a:p>
          <a:p>
            <a:endParaRPr/>
          </a:p>
          <a:p>
            <a:r>
              <a:t>Sources:</a:t>
            </a:r>
          </a:p>
          <a:p>
            <a:r>
              <a:t>/Users/yp9846/Desktop/PhysLiteBench/tasks/single-file-memory/environment/README.md</a:t>
            </a:r>
          </a:p>
          <a:p>
            <a:r>
              <a:t>/Users/yp9846/Desktop/PhysLiteBench/tasks/single-file-memory/instruction.md</a:t>
            </a:r>
          </a:p>
          <a:p>
            <a:r>
              <a:t>/Users/yp9846/Desktop/PhysLiteBench/tasks/single-file-memory/environment/model.py</a:t>
            </a:r>
          </a:p>
          <a:p>
            <a:r>
              <a:t>/Users/yp9846/Desktop/PhysLiteBench/tasks/single-file-memory/solution/model.py</a:t>
            </a:r>
          </a:p>
          <a:p>
            <a:r>
              <a:t>/Users/yp9846/Desktop/PhysLiteBench/tasks/single-file-memory/AUTHOR.md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60 seconds.</a:t>
            </a:r>
          </a:p>
          <a:p>
            <a:endParaRPr/>
          </a:p>
          <a:p>
            <a:r>
              <a:t>There are three prompt conditions. The baseline gives the original task and public files. The general hint asks the agent to check its implementation and test correctness. It does not identify which assumption might need attention. The physics hint points to a specific feature of the experiment. For the beads, it emphasizes that the same starting arrangement can affect the relationship between positions measured at two times. The full hint also suggests how to calculate this relationship. The slide summarizes its physical idea in everyday language. The hint supplies a direction for thinking, not the final formula. We keep the task files and grading the same across these conditions.</a:t>
            </a:r>
          </a:p>
          <a:p>
            <a:endParaRPr/>
          </a:p>
          <a:p>
            <a:r>
              <a:t>Sources:</a:t>
            </a:r>
          </a:p>
          <a:p>
            <a:r>
              <a:t>/Users/yp9846/Desktop/PhysLiteBench/results/hint-comparison-20261014/plan.json</a:t>
            </a:r>
          </a:p>
          <a:p>
            <a:r>
              <a:t>/Users/yp9846/Desktop/PhysLiteBench/tasks/single-file-memory/hint.md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There are two distinct experiment cohorts. The completed no-hint sweep has fifteen model-effort settings, each covering thirteen tasks and three repeats, or five hundred eighty-five attempts. The hint study fixes effort at High for GPT-5.6 Luna, GPT-5.6 Terra, and DeepSeek V4.1 Flash. Nine model-condition settings make three hundred fifty-one logical observations. Those are different Luna generations, so their results should not be silently pooled. Both studies use the Harbor harness and a Codex agent, with ten minutes for the agent and one minute for verification. The files and grading stay frozen across the hint conditions. Thirty-eight Luna baselines were imported from historical matching-task runs with an older client and different concurrency. Thus the Luna hint comparison is descriptive and does not isolate a causal hint effect. Costs are API-equivalent estimates, not subscription usage.</a:t>
            </a:r>
          </a:p>
          <a:p>
            <a:endParaRPr/>
          </a:p>
          <a:p>
            <a:r>
              <a:t>Sources:</a:t>
            </a:r>
          </a:p>
          <a:p>
            <a:r>
              <a:t>/Users/yp9846/Desktop/PhysLiteBench/results/reasoning-sweep-20261011/README.md</a:t>
            </a:r>
          </a:p>
          <a:p>
            <a:r>
              <a:t>/Users/yp9846/Desktop/PhysLiteBench/results/hint-comparison-20261014/plan.json</a:t>
            </a:r>
          </a:p>
          <a:p>
            <a:r>
              <a:t>/Users/yp9846/Desktop/PhysLiteBench/results/hint-comparison-20261014/friend-reuse-amendment-20261015.json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70 seconds.</a:t>
            </a:r>
          </a:p>
          <a:p>
            <a:endParaRPr/>
          </a:p>
          <a:p>
            <a:r>
              <a:t>This is the observed no-hint cost-success frontier. Every point contains thirty-nine attempts. Higher is better success, and left is lower estimated cost. A Pareto point is one that no other eligible setting beats on both quantities. The dashed line connects those non-dominated settings. GPT-6 Luna Low passes four of thirty-nine at about four tenths of a cent per attempt. Luna Extra High passes twelve at about one point three cents. GPT-6 Sol Low passes thirty-seven at about seven point seven cents. Sol High passes all thirty-nine at about nineteen point eight cents. The exact coordinates in the table help distinguish the low-cost points clustered near the origin. More expensive settings do not exceed that maximum observed score. DeepSeek costs are lower bounds because interrupted requests can have incomplete accounting, so those points do not determine the exact-cost frontier. This comparison describes the selected tasks and fixed runtime budget. Three repeats per task are too few to infer a universal model ranking.</a:t>
            </a:r>
          </a:p>
          <a:p>
            <a:endParaRPr/>
          </a:p>
          <a:p>
            <a:r>
              <a:t>Sources:</a:t>
            </a:r>
          </a:p>
          <a:p>
            <a:r>
              <a:t>/Users/yp9846/Desktop/PhysLiteBench/results/reasoning-sweep-20261011/summary.csv</a:t>
            </a:r>
          </a:p>
          <a:p>
            <a:r>
              <a:t>/Users/yp9846/Desktop/PhysLiteBench/output/reasoning-sweep-20261011/pareto-frontier.json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15 seconds.</a:t>
            </a:r>
          </a:p>
          <a:p>
            <a:endParaRPr/>
          </a:p>
          <a:p>
            <a:r>
              <a:t>This slot will compare the three prompt conditions in the High-effort cohort. The full hint study and cost audit are still pending, so I am leaving the results blank.</a:t>
            </a:r>
          </a:p>
          <a:p>
            <a:endParaRPr/>
          </a:p>
          <a:p>
            <a:r>
              <a:t>Sources:</a:t>
            </a:r>
          </a:p>
          <a:p>
            <a:r>
              <a:t>/Users/yp9846/Desktop/PhysLiteBench/results/hint-comparison-20261014/status.json</a:t>
            </a:r>
          </a:p>
          <a:p>
            <a:r>
              <a:t>/Users/yp9846/Desktop/PhysLiteBench/results/hint-comparison-20261014/plan.json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Here we hold each model fixed and compare its effort settings on the same task suite. Terra increases from four to nine to nineteen completed passes. Luna rises substantially at Extra High, although its Low-to-High change goes the other way. Sol already succeeds on almost every attempt at Low. The Astra Extra High setting loses two completed passes because of timeouts. Both saved checkpoints pass the verifier afterward, but completion within the allowed budget is part of the score. These are descriptive comparisons: each point has only three repeats per task, and the High settings include earlier matching observations. Configuring more reasoning can improve a model's predictions, but it can also consume its execution budget, so completed success need not increase monotonically.</a:t>
            </a:r>
          </a:p>
          <a:p>
            <a:endParaRPr/>
          </a:p>
          <a:p>
            <a:r>
              <a:t>Sources:</a:t>
            </a:r>
          </a:p>
          <a:p>
            <a:r>
              <a:t>/Users/yp9846/Desktop/PhysLiteBench/results/reasoning-sweep-20261011/summary.csv</a:t>
            </a:r>
          </a:p>
          <a:p>
            <a:r>
              <a:t>/Users/yp9846/Desktop/PhysLiteBench/results/trajectory-analysis-20261014/analysis.json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55 seconds.</a:t>
            </a:r>
          </a:p>
          <a:p>
            <a:endParaRPr/>
          </a:p>
          <a:p>
            <a:r>
              <a:t>The trajectory analysis combines recorded tool actions, final programs, and verifier outcomes. It does not expose private reasoning. Each bar contains one hundred seventeen attempts across three efforts for that model. Of one hundred ninety-one normally completed failures, one hundred eighty-six fail only hidden prediction checks. At least one hundred forty-one of those also show public-test passes in the recorded actions. This is the calibration-to-prediction gap illustrated by the particle task. DeepSeek has a different dominant bottleneck: one hundred five of its one hundred seventeen attempts end with execution errors, including eighty-three timeouts. A zero overall pass rate therefore cannot be interpreted as one hundred seventeen physics mistakes. The aggregate categories tell us where failures appear. A saved program and a targeted intervention are needed to diagnose a particular physical mistake.</a:t>
            </a:r>
          </a:p>
          <a:p>
            <a:endParaRPr/>
          </a:p>
          <a:p>
            <a:r>
              <a:t>Sources:</a:t>
            </a:r>
          </a:p>
          <a:p>
            <a:r>
              <a:t>/Users/yp9846/Desktop/PhysLiteBench/results/trajectory-analysis-20261014/analysis.json</a:t>
            </a:r>
          </a:p>
          <a:p>
            <a:r>
              <a:t>/Users/yp9846/Desktop/PhysLiteBench/output/trajectory-analysis-20261014/report.html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100 seconds.</a:t>
            </a:r>
          </a:p>
          <a:p>
            <a:endParaRPr/>
          </a:p>
          <a:p>
            <a:r>
              <a:t>Here is the same bead example, now using a saved Terra run. Every repeat starts with the neighbors evenly spaced. We record the orange bead early and again later. The red arrow means a statistical link across repeats, not a force between two beads.</a:t>
            </a:r>
          </a:p>
          <a:p>
            <a:endParaRPr/>
          </a:p>
          <a:p>
            <a:r>
              <a:t>The agent adjusted one number controlling the amount of random motion. Its code matched the supplied measurements of how far the bead wanders at each time, and the public test passed.</a:t>
            </a:r>
          </a:p>
          <a:p>
            <a:endParaRPr/>
          </a:p>
          <a:p>
            <a:r>
              <a:t>But it kept the starter's rule for connecting the two observations. In plain terms, that rule made an early displacement count too much when predicting the later motion. The evenly spaced starting row affects this connection, and its formula did not account for that effect correctly. Matching the spread at each time could not reveal this mistake.</a:t>
            </a:r>
          </a:p>
          <a:p>
            <a:endParaRPr/>
          </a:p>
          <a:p>
            <a:r>
              <a:t>The hidden predictions were wrong by as much as 136%, against a 4% allowance. We checked the diagnosis by keeping its fitted motion strength and replacing only the rule connecting two times. The largest error fell to about 0.003%. That is our diagnostic correction, not a new agent pass or a hint result. The conclusion comes from the saved code, tool actions and tests.</a:t>
            </a:r>
          </a:p>
          <a:p>
            <a:endParaRPr/>
          </a:p>
          <a:p>
            <a:r>
              <a:t>Sources:</a:t>
            </a:r>
          </a:p>
          <a:p>
            <a:r>
              <a:t>/Users/yp9846/Desktop/PhysLiteBench/tasks/single-file-memory/environment/README.md</a:t>
            </a:r>
          </a:p>
          <a:p>
            <a:r>
              <a:t>/Users/yp9846/Desktop/PhysLiteBench/tasks/single-file-memory/environment/model.py</a:t>
            </a:r>
          </a:p>
          <a:p>
            <a:r>
              <a:t>/Users/yp9846/Desktop/PhysLiteBench/tasks/single-file-memory/solution/model.py</a:t>
            </a:r>
          </a:p>
          <a:p>
            <a:r>
              <a:t>/Users/yp9846/Desktop/PhysLiteBench/results/trajectory-analysis-20261014/cases/single-file-memory__PC6LumP/review.json</a:t>
            </a:r>
          </a:p>
          <a:p>
            <a:r>
              <a:t>/Users/yp9846/Desktop/PhysLiteBench/results/trajectory-analysis-20261014/cases/single-file-memory__PC6LumP/model.diff</a:t>
            </a:r>
          </a:p>
          <a:p>
            <a:r>
              <a:t>/Users/yp9846/Desktop/PhysLiteBench/results/trajectory-analysis-20261014/cases/single-file-memory__PC6LumP/metrics.json</a:t>
            </a:r>
          </a:p>
          <a:p>
            <a:r>
              <a:t>/Users/yp9846/Desktop/PhysLiteBench/results/trajectory-analysis-20261014/diagnostic-repairs.json</a:t>
            </a:r>
          </a:p>
          <a:p>
            <a:endParaRPr/>
          </a:p>
          <a:p>
            <a:r>
              <a:t>Technical clarification for questions: both formulas have correlated motion and agree at equal times. The saved formula overestimates the two-time covariance. It incorrectly treats increments as depending only on the time gap. The benchmark uses a joint long-time coefficient, not the finite-time positions drawn in this schematic. Equations and exact metrics remain in backup slide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35 seconds.</a:t>
            </a:r>
          </a:p>
          <a:p>
            <a:endParaRPr/>
          </a:p>
          <a:p>
            <a:r>
              <a:t>A good fit to the supplied measurements does not guarantee a correct new prediction. The bead example makes that concrete: the agent learns the strength of random motion but keeps the wrong rule for linking early and later positions. Across the suite, model cost, reasoning effort and timely completion all affect success. The remaining hint experiment will show whether pointing to a missing physical idea helps more than simply asking the agent to check its work. Its results remain pending.</a:t>
            </a:r>
          </a:p>
          <a:p>
            <a:endParaRPr/>
          </a:p>
          <a:p>
            <a:r>
              <a:t>Sources:</a:t>
            </a:r>
          </a:p>
          <a:p>
            <a:r>
              <a:t>/Users/yp9846/Desktop/PhysLiteBench/results/reasoning-sweep-20261011/summary.csv</a:t>
            </a:r>
          </a:p>
          <a:p>
            <a:r>
              <a:t>/Users/yp9846/Desktop/PhysLiteBench/results/trajectory-analysis-20261014/analysis.json</a:t>
            </a:r>
          </a:p>
          <a:p>
            <a:r>
              <a:t>/Users/yp9846/Desktop/PhysLiteBench/results/hint-comparison-20261014/plan.json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180 seconds.</a:t>
            </a:r>
          </a:p>
          <a:p>
            <a:endParaRPr/>
          </a:p>
          <a:p>
            <a:r>
              <a:t>Suggested discussion prompts: How much does selecting tasks against Luna affect the ranking? How should timeout checkpoints enter a benchmark score? What evidence would isolate a causal hint effect? The backup slides give the full no-hint counts, the collaborator cohort and the task roster. Answer with the specific scope limits: selected tasks, three repeats per task, preserved failures, historical baselines and the time budget.</a:t>
            </a:r>
          </a:p>
          <a:p>
            <a:endParaRPr/>
          </a:p>
          <a:p>
            <a:r>
              <a:t>Sources:</a:t>
            </a:r>
          </a:p>
          <a:p>
            <a:r>
              <a:t>/Users/yp9846/Desktop/PhysLiteBench/results/reasoning-sweep-20261011/README.md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Use this slide for exact-count questions. Astra Extra High has thirty-seven completed passes but thirty-nine passing checkpoints. Terra Extra High has nineteen completed passes and twenty passing checkpoints. Luna Extra High has twelve completed passes and thirteen passing checkpoints. DeepSeek Low, High and Max costs remain lower bounds because of interrupted-response accounting. Four historical Terra High attempts were affected by host sleep, and three started DeepSeek High connection failures overlapped host sleep. Those outcomes are preserved in the primary data.</a:t>
            </a:r>
          </a:p>
          <a:p>
            <a:endParaRPr/>
          </a:p>
          <a:p>
            <a:r>
              <a:t>Sources:</a:t>
            </a:r>
          </a:p>
          <a:p>
            <a:r>
              <a:t>/Users/yp9846/Desktop/PhysLiteBench/results/reasoning-sweep-20261011/summary.csv</a:t>
            </a:r>
          </a:p>
          <a:p>
            <a:r>
              <a:t>/Users/yp9846/Desktop/PhysLiteBench/results/reasoning-sweep-20261011/README.md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The collaborator reports add a full GPT-5.6 Luna sweep with None, Low, Medium, High, Extra High and Max, plus GPT-5.6 Sol and Terra at Low and Medium. These are three hundred ninety unique published attempts. Their task and grading hashes match, but their client version and concurrency differ from the local experiment. They remain a separate cohort and are not silently pooled into the original GPT-6 frontier or trajectory totals. The current hint experiment reuses thirty-eight of the thirty-nine Luna High baseline observations. The one already completed local Luna slot remains local. Raw collaborator native logs were not available for independent trajectory review.</a:t>
            </a:r>
          </a:p>
          <a:p>
            <a:endParaRPr/>
          </a:p>
          <a:p>
            <a:r>
              <a:t>Sources:</a:t>
            </a:r>
          </a:p>
          <a:p>
            <a:r>
              <a:t>/Users/yp9846/Desktop/PhysLiteBench/results/hint-comparison-20261014/imported-friend-results-20261015/import-manifest.json</a:t>
            </a:r>
          </a:p>
          <a:p>
            <a:r>
              <a:t>/Users/yp9846/Desktop/PhysLiteBench/results/hint-comparison-20261014/friend-reuse-amendment-20261015.json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This is the complete thirteen-task roster used in the current comparison. The inherited hydrodynamic-heating and thermoelastic-rod folders are outside the roster. The main experiment keeps task files, public instructions, grading and time limits fixed. The results describe this selected suite, and they do not establish population-wide success rates. A zero out of three observation also leaves substantial uncertainty about a task’s underlying pass probability.</a:t>
            </a:r>
          </a:p>
          <a:p>
            <a:endParaRPr/>
          </a:p>
          <a:p>
            <a:r>
              <a:t>Sources:</a:t>
            </a:r>
          </a:p>
          <a:p>
            <a:r>
              <a:t>/Users/yp9846/Desktop/PhysLiteBench/results/task-roster.json</a:t>
            </a:r>
          </a:p>
          <a:p>
            <a:r>
              <a:t>/Users/yp9846/Desktop/PhysLiteBench/results/hint-comparison-20261014/plan.json</a:t>
            </a:r>
          </a:p>
          <a:p>
            <a:r>
              <a:t>/Users/yp9846/Desktop/PhysLiteBench/AGENTS.md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skip in current talk.</a:t>
            </a:r>
          </a:p>
          <a:p>
            <a:endParaRPr/>
          </a:p>
          <a:p>
            <a:r>
              <a:t>Technical detail for questions. The channel represents an infinite line of identical Brownian point particles with reflecting collisions and fixed initial positions j/rho in each independent repeat. The task predicts the joint long-time covariance coefficient, not finite-time trajectories or the exact position in one realization. With A = sqrt(D/pi)/rho, the correct coefficient is A[sqrt(t+s)-sqrt(abs(t-s))]. The starter uses A/sqrt(2)[sqrt(t)+sqrt(s)-sqrt(abs(t-s))]. Both agree on every equal-time setting. The plotted curves use the same D and density, normalized to the equal-time value, with earlier time multiplier 0.5 and later multiplier from 0.5 to 4. They therefore isolate the time-dependence difference. This plot is analytic, not a measured trial result. The apparent memory comes from the fixed preparation and no-passing constraint, even though the random forcing on different particles is independent. The saved Terra fit is 0.949947415037877. Its parameter error is 0.005535%, and its prediction-group errors at later/earlier ratios 2, 4 and 8 are 36.60%, 77.88% and 136.06%. Replacing only the covariance expression at the fixed fitted D reduces all tested group errors to 0.002768%.</a:t>
            </a:r>
          </a:p>
          <a:p>
            <a:endParaRPr/>
          </a:p>
          <a:p>
            <a:r>
              <a:t>Sources:</a:t>
            </a:r>
          </a:p>
          <a:p>
            <a:r>
              <a:t>/Users/yp9846/Desktop/PhysLiteBench/tasks/single-file-memory/environment/README.md</a:t>
            </a:r>
          </a:p>
          <a:p>
            <a:r>
              <a:t>/Users/yp9846/Desktop/PhysLiteBench/tasks/single-file-memory/instruction.md</a:t>
            </a:r>
          </a:p>
          <a:p>
            <a:r>
              <a:t>/Users/yp9846/Desktop/PhysLiteBench/tasks/single-file-memory/environment/model.py</a:t>
            </a:r>
          </a:p>
          <a:p>
            <a:r>
              <a:t>/Users/yp9846/Desktop/PhysLiteBench/tasks/single-file-memory/solution/model.py</a:t>
            </a:r>
          </a:p>
          <a:p>
            <a:r>
              <a:t>/Users/yp9846/Desktop/PhysLiteBench/tasks/single-file-memory/AUTHOR.md</a:t>
            </a:r>
          </a:p>
          <a:p>
            <a:r>
              <a:t>/Users/yp9846/Desktop/PhysLiteBench/results/trajectory-analysis-20261014/cases/single-file-memory__PC6LumP/metrics.json</a:t>
            </a:r>
          </a:p>
          <a:p>
            <a:r>
              <a:t>/Users/yp9846/Desktop/PhysLiteBench/results/trajectory-analysis-20261014/diagnostic-repairs.json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3DAF00F-B395-4BB8-A439-9AA89BEDDAA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B816860D-B2BB-4679-95BC-EC17130D2CD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C6704A9-9853-44A6-8B4A-4DC4DB9A471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0E75D2A-E789-411F-A213-993328928F9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EEEACEAE-9A1D-4507-A60D-2AE6FC7CF3F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7CEFAC2-A0C9-4F70-B012-77B95FAB7D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FE9C7553-1AB5-446B-B4C5-ABBCB0AC29F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B0184D06-C74C-4068-BE3F-45139A68C7E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57D4CBD-570B-4FE0-8AC2-C6CC842A2CE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2ACBB10A-755C-4118-A48F-8124498F7F4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B0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305941-EC9E-4DF1-85D9-9C688DEBF0BA}"/>
              </a:ext>
            </a:extLst>
          </p:cNvPr>
          <p:cNvSpPr>
            <a:spLocks noGrp="1"/>
          </p:cNvSpPr>
          <p:nvPr/>
        </p:nvSpPr>
        <p:spPr>
          <a:xfrm>
            <a:off x="609600" y="2266950"/>
            <a:ext cx="10972800" cy="990600"/>
          </a:xfrm>
          <a:prstGeom prst="rect">
            <a:avLst/>
          </a:prstGeom>
          <a:noFill/>
          <a:ln w="0">
            <a:noFill/>
          </a:ln>
        </p:spPr>
        <p:txBody>
          <a:bodyPr wrap="square" lIns="0" tIns="0" rIns="0" bIns="0" anchor="t"/>
          <a:lstStyle>
            <a:defPPr algn="l">
              <a:defRPr sz="5700" b="1">
                <a:solidFill>
                  <a:srgbClr val="FFFFFF"/>
                </a:solidFill>
                <a:latin typeface="Times New Roman"/>
                <a:ea typeface="Times New Roman"/>
                <a:cs typeface="Times New Roman"/>
              </a:defRPr>
            </a:defPPr>
          </a:lstStyle>
          <a:p>
            <a:pPr algn="l">
              <a:buNone/>
              <a:defRPr sz="5700" b="1">
                <a:solidFill>
                  <a:srgbClr val="FFFFFF"/>
                </a:solidFill>
                <a:latin typeface="Times New Roman"/>
                <a:ea typeface="Times New Roman"/>
                <a:cs typeface="Times New Roman"/>
              </a:defRPr>
            </a:pPr>
            <a:r>
              <a:rPr sz="5700" b="1">
                <a:solidFill>
                  <a:srgbClr val="FFFFFF"/>
                </a:solidFill>
                <a:latin typeface="Times New Roman"/>
                <a:ea typeface="Times New Roman"/>
                <a:cs typeface="Times New Roman"/>
              </a:rPr>
              <a:t>PhysLiteBench</a:t>
            </a:r>
          </a:p>
        </p:txBody>
      </p:sp>
      <p:sp>
        <p:nvSpPr>
          <p:cNvPr id="2" name="Rectangle 1">
            <a:extLst>
              <a:ext uri="{FF2B5EF4-FFF2-40B4-BE49-F238E27FC236}">
                <a16:creationId xmlns:a16="http://schemas.microsoft.com/office/drawing/2014/main" id="{A66653FB-D27E-4B22-AFF4-475D4255B342}"/>
              </a:ext>
            </a:extLst>
          </p:cNvPr>
          <p:cNvSpPr>
            <a:spLocks noGrp="1"/>
          </p:cNvSpPr>
          <p:nvPr/>
        </p:nvSpPr>
        <p:spPr>
          <a:xfrm>
            <a:off x="647700" y="3695700"/>
            <a:ext cx="10668000" cy="552450"/>
          </a:xfrm>
          <a:prstGeom prst="rect">
            <a:avLst/>
          </a:prstGeom>
          <a:noFill/>
          <a:ln w="0">
            <a:noFill/>
          </a:ln>
        </p:spPr>
        <p:txBody>
          <a:bodyPr wrap="square" lIns="0" tIns="0" rIns="0" bIns="0" anchor="t"/>
          <a:lstStyle>
            <a:defPPr algn="l">
              <a:defRPr sz="2700" b="0">
                <a:solidFill>
                  <a:srgbClr val="D1D5DB"/>
                </a:solidFill>
                <a:latin typeface="Times New Roman"/>
                <a:ea typeface="Times New Roman"/>
                <a:cs typeface="Times New Roman"/>
              </a:defRPr>
            </a:defPPr>
          </a:lstStyle>
          <a:p>
            <a:pPr algn="l">
              <a:buNone/>
              <a:defRPr sz="2700" b="0">
                <a:solidFill>
                  <a:srgbClr val="D1D5DB"/>
                </a:solidFill>
                <a:latin typeface="Times New Roman"/>
                <a:ea typeface="Times New Roman"/>
                <a:cs typeface="Times New Roman"/>
              </a:defRPr>
            </a:pPr>
            <a:r>
              <a:rPr sz="2700" b="0">
                <a:solidFill>
                  <a:srgbClr val="D1D5DB"/>
                </a:solidFill>
                <a:latin typeface="Times New Roman"/>
                <a:ea typeface="Times New Roman"/>
                <a:cs typeface="Times New Roman"/>
              </a:rPr>
              <a:t>Yue Pan and Andrew Liu</a:t>
            </a:r>
          </a:p>
        </p:txBody>
      </p:sp>
    </p:spTree>
    <p:extLst>
      <p:ext uri="{BB962C8B-B14F-4D97-AF65-F5344CB8AC3E}">
        <p14:creationId xmlns:p14="http://schemas.microsoft.com/office/powerpoint/2010/main" val="739885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BC09820-22BB-4372-A10F-CB42F1E32FBB}"/>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Physics beyond a good fit</a:t>
            </a:r>
          </a:p>
        </p:txBody>
      </p:sp>
      <p:sp>
        <p:nvSpPr>
          <p:cNvPr id="2" name="Rectangle 1">
            <a:extLst>
              <a:ext uri="{FF2B5EF4-FFF2-40B4-BE49-F238E27FC236}">
                <a16:creationId xmlns:a16="http://schemas.microsoft.com/office/drawing/2014/main" id="{C4A9DD3B-B3F9-48AA-BE20-495804BE1615}"/>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Can a coding agent infer the right physical model from a description and limited data?</a:t>
            </a:r>
          </a:p>
        </p:txBody>
      </p:sp>
      <p:graphicFrame>
        <p:nvGraphicFramePr>
          <p:cNvPr id="4" name="Table 3">
            <a:extLst>
              <a:ext uri="{FF2B5EF4-FFF2-40B4-BE49-F238E27FC236}">
                <a16:creationId xmlns:a16="http://schemas.microsoft.com/office/drawing/2014/main" id="{B4996A8D-374F-4E21-8B13-3438D1E052E6}"/>
              </a:ext>
            </a:extLst>
          </p:cNvPr>
          <p:cNvGraphicFramePr/>
          <p:nvPr/>
        </p:nvGraphicFramePr>
        <p:xfrm>
          <a:off x="457200" y="1819275"/>
          <a:ext cx="11277600" cy="2714625"/>
        </p:xfrm>
        <a:graphic>
          <a:graphicData uri="http://schemas.openxmlformats.org/drawingml/2006/table">
            <a:tbl>
              <a:tblPr/>
              <a:tblGrid>
                <a:gridCol w="5510869">
                  <a:extLst>
                    <a:ext uri="{9D8B030D-6E8A-4147-A177-3AD203B41FA5}">
                      <a16:colId xmlns:a16="http://schemas.microsoft.com/office/drawing/2014/main" val="20000"/>
                    </a:ext>
                  </a:extLst>
                </a:gridCol>
                <a:gridCol w="5766731">
                  <a:extLst>
                    <a:ext uri="{9D8B030D-6E8A-4147-A177-3AD203B41FA5}">
                      <a16:colId xmlns:a16="http://schemas.microsoft.com/office/drawing/2014/main" val="20001"/>
                    </a:ext>
                  </a:extLst>
                </a:gridCol>
              </a:tblGrid>
              <a:tr h="678656">
                <a:tc>
                  <a:txBody>
                    <a:bodyPr/>
                    <a:lstStyle/>
                    <a:p>
                      <a:r>
                        <a:rPr sz="2025" b="1">
                          <a:solidFill>
                            <a:srgbClr val="FFFFFF"/>
                          </a:solidFill>
                          <a:latin typeface="Times New Roman"/>
                          <a:ea typeface="Times New Roman"/>
                          <a:cs typeface="Times New Roman"/>
                        </a:rPr>
                        <a:t>Available to the agent</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2025" b="1">
                          <a:solidFill>
                            <a:srgbClr val="FFFFFF"/>
                          </a:solidFill>
                          <a:latin typeface="Times New Roman"/>
                          <a:ea typeface="Times New Roman"/>
                          <a:cs typeface="Times New Roman"/>
                        </a:rPr>
                        <a:t>What the evaluator checks</a:t>
                      </a:r>
                    </a:p>
                  </a:txBody>
                  <a:tcPr marL="114300" marR="114300" marT="66675" marB="66675" anchor="ctr">
                    <a:lnL w="5715" cap="flat" cmpd="sng" algn="ctr">
                      <a:solidFill>
                        <a:srgbClr val="C7CBD1"/>
                      </a:solidFill>
                      <a:prstDash val="solid"/>
                      <a:round/>
                      <a:headEnd type="none" w="med" len="med"/>
                      <a:tailEnd type="none" w="med" len="me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extLst>
                  <a:ext uri="{0D108BD9-81ED-4DB2-BD59-A6C34878D82A}">
                    <a16:rowId xmlns:a16="http://schemas.microsoft.com/office/drawing/2014/main" val="10000"/>
                  </a:ext>
                </a:extLst>
              </a:tr>
              <a:tr h="678656">
                <a:tc>
                  <a:txBody>
                    <a:bodyPr/>
                    <a:lstStyle/>
                    <a:p>
                      <a:r>
                        <a:rPr sz="2025" b="0">
                          <a:solidFill>
                            <a:srgbClr val="111111"/>
                          </a:solidFill>
                          <a:latin typeface="Times New Roman"/>
                          <a:ea typeface="Times New Roman"/>
                          <a:cs typeface="Times New Roman"/>
                        </a:rPr>
                        <a:t>Physical setup and starter code</a:t>
                      </a:r>
                    </a:p>
                  </a:txBody>
                  <a:tcPr marL="114300" marR="114300" marT="66675" marB="66675"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Fit to observed data and model parameters</a:t>
                      </a:r>
                    </a:p>
                  </a:txBody>
                  <a:tcPr marL="114300" marR="114300" marT="66675" marB="66675"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01"/>
                  </a:ext>
                </a:extLst>
              </a:tr>
              <a:tr h="678656">
                <a:tc>
                  <a:txBody>
                    <a:bodyPr/>
                    <a:lstStyle/>
                    <a:p>
                      <a:r>
                        <a:rPr sz="2025" b="0">
                          <a:solidFill>
                            <a:srgbClr val="111111"/>
                          </a:solidFill>
                          <a:latin typeface="Times New Roman"/>
                          <a:ea typeface="Times New Roman"/>
                          <a:cs typeface="Times New Roman"/>
                        </a:rPr>
                        <a:t>Calibration data and public tests</a:t>
                      </a:r>
                    </a:p>
                  </a:txBody>
                  <a:tcPr marL="114300" marR="114300" marT="66675" marB="66675"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2025" b="0">
                          <a:solidFill>
                            <a:srgbClr val="111111"/>
                          </a:solidFill>
                          <a:latin typeface="Times New Roman"/>
                          <a:ea typeface="Times New Roman"/>
                          <a:cs typeface="Times New Roman"/>
                        </a:rPr>
                        <a:t>Predictions beyond the calibration settings</a:t>
                      </a:r>
                    </a:p>
                  </a:txBody>
                  <a:tcPr marL="114300" marR="114300" marT="66675" marB="66675"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extLst>
                  <a:ext uri="{0D108BD9-81ED-4DB2-BD59-A6C34878D82A}">
                    <a16:rowId xmlns:a16="http://schemas.microsoft.com/office/drawing/2014/main" val="10002"/>
                  </a:ext>
                </a:extLst>
              </a:tr>
              <a:tr h="678656">
                <a:tc>
                  <a:txBody>
                    <a:bodyPr/>
                    <a:lstStyle/>
                    <a:p>
                      <a:r>
                        <a:rPr sz="2025" b="0">
                          <a:solidFill>
                            <a:srgbClr val="111111"/>
                          </a:solidFill>
                          <a:latin typeface="Times New Roman"/>
                          <a:ea typeface="Times New Roman"/>
                          <a:cs typeface="Times New Roman"/>
                        </a:rPr>
                        <a:t>A fixed software interface</a:t>
                      </a:r>
                    </a:p>
                  </a:txBody>
                  <a:tcPr marL="114300" marR="114300" marT="66675" marB="66675"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2025" b="0">
                          <a:solidFill>
                            <a:srgbClr val="111111"/>
                          </a:solidFill>
                          <a:latin typeface="Times New Roman"/>
                          <a:ea typeface="Times New Roman"/>
                          <a:cs typeface="Times New Roman"/>
                        </a:rPr>
                        <a:t>Completion within the time budget</a:t>
                      </a:r>
                    </a:p>
                  </a:txBody>
                  <a:tcPr marL="114300" marR="114300" marT="66675" marB="66675"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CB8521B4-CF08-403D-8F9A-418747D0A182}"/>
              </a:ext>
            </a:extLst>
          </p:cNvPr>
          <p:cNvSpPr>
            <a:spLocks noGrp="1"/>
          </p:cNvSpPr>
          <p:nvPr/>
        </p:nvSpPr>
        <p:spPr>
          <a:xfrm>
            <a:off x="457200" y="4857750"/>
            <a:ext cx="1143000" cy="714375"/>
          </a:xfrm>
          <a:prstGeom prst="rect">
            <a:avLst/>
          </a:prstGeom>
          <a:noFill/>
          <a:ln w="0">
            <a:noFill/>
          </a:ln>
        </p:spPr>
        <p:txBody>
          <a:bodyPr wrap="square" lIns="0" tIns="0" rIns="0" bIns="0" anchor="t"/>
          <a:lstStyle>
            <a:defPPr algn="l">
              <a:defRPr sz="4350" b="1" i="0">
                <a:solidFill>
                  <a:srgbClr val="0F766E"/>
                </a:solidFill>
                <a:latin typeface="Times New Roman"/>
                <a:ea typeface="Times New Roman"/>
                <a:cs typeface="Times New Roman"/>
              </a:defRPr>
            </a:defPPr>
          </a:lstStyle>
          <a:p>
            <a:pPr algn="l">
              <a:buNone/>
              <a:defRPr sz="4350" b="1" i="0">
                <a:solidFill>
                  <a:srgbClr val="0F766E"/>
                </a:solidFill>
                <a:latin typeface="Times New Roman"/>
                <a:ea typeface="Times New Roman"/>
                <a:cs typeface="Times New Roman"/>
              </a:defRPr>
            </a:pPr>
            <a:r>
              <a:rPr sz="4350" b="1" i="0">
                <a:solidFill>
                  <a:srgbClr val="0F766E"/>
                </a:solidFill>
                <a:latin typeface="Times New Roman"/>
                <a:ea typeface="Times New Roman"/>
                <a:cs typeface="Times New Roman"/>
              </a:rPr>
              <a:t>13</a:t>
            </a:r>
          </a:p>
        </p:txBody>
      </p:sp>
      <p:sp>
        <p:nvSpPr>
          <p:cNvPr id="6" name="Rectangle 5">
            <a:extLst>
              <a:ext uri="{FF2B5EF4-FFF2-40B4-BE49-F238E27FC236}">
                <a16:creationId xmlns:a16="http://schemas.microsoft.com/office/drawing/2014/main" id="{FC56EB49-9538-451F-AFC3-9BECA96A74F8}"/>
              </a:ext>
            </a:extLst>
          </p:cNvPr>
          <p:cNvSpPr>
            <a:spLocks noGrp="1"/>
          </p:cNvSpPr>
          <p:nvPr/>
        </p:nvSpPr>
        <p:spPr>
          <a:xfrm>
            <a:off x="2009775" y="4943475"/>
            <a:ext cx="8953500" cy="714375"/>
          </a:xfrm>
          <a:prstGeom prst="rect">
            <a:avLst/>
          </a:prstGeom>
          <a:noFill/>
          <a:ln w="0">
            <a:noFill/>
          </a:ln>
        </p:spPr>
        <p:txBody>
          <a:bodyPr wrap="square" lIns="0" tIns="0" rIns="0" bIns="0" anchor="t"/>
          <a:lstStyle>
            <a:defPPr algn="l">
              <a:defRPr sz="2025" b="0" i="0">
                <a:solidFill>
                  <a:srgbClr val="111111"/>
                </a:solidFill>
                <a:latin typeface="Times New Roman"/>
                <a:ea typeface="Times New Roman"/>
                <a:cs typeface="Times New Roman"/>
              </a:defRPr>
            </a:defPPr>
          </a:lstStyle>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tasks: random motion, heat and particle flow,</a:t>
            </a:r>
          </a:p>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correlations, and quantum systems</a:t>
            </a:r>
          </a:p>
        </p:txBody>
      </p:sp>
      <p:sp>
        <p:nvSpPr>
          <p:cNvPr id="7" name="Rectangle 6">
            <a:extLst>
              <a:ext uri="{FF2B5EF4-FFF2-40B4-BE49-F238E27FC236}">
                <a16:creationId xmlns:a16="http://schemas.microsoft.com/office/drawing/2014/main" id="{6F3BA975-F7F4-4E43-B8D0-56A627FC5D11}"/>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Tasks were selected using GPT-5.6 Luna, so this is a deliberately challenging suite.</a:t>
            </a:r>
          </a:p>
        </p:txBody>
      </p:sp>
      <p:sp>
        <p:nvSpPr>
          <p:cNvPr id="9" name="Rectangle 8">
            <a:extLst>
              <a:ext uri="{FF2B5EF4-FFF2-40B4-BE49-F238E27FC236}">
                <a16:creationId xmlns:a16="http://schemas.microsoft.com/office/drawing/2014/main" id="{1355ACDC-5475-4330-937A-52DCD24B3300}"/>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2</a:t>
            </a:r>
          </a:p>
        </p:txBody>
      </p:sp>
    </p:spTree>
    <p:extLst>
      <p:ext uri="{BB962C8B-B14F-4D97-AF65-F5344CB8AC3E}">
        <p14:creationId xmlns:p14="http://schemas.microsoft.com/office/powerpoint/2010/main" val="460768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A1D93F41-C257-4C97-81AC-53D8D3F98DD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Example: tracking one bead in a narrow tube</a:t>
            </a:r>
          </a:p>
        </p:txBody>
      </p:sp>
      <p:sp>
        <p:nvSpPr>
          <p:cNvPr id="2" name="Rectangle 1">
            <a:extLst>
              <a:ext uri="{FF2B5EF4-FFF2-40B4-BE49-F238E27FC236}">
                <a16:creationId xmlns:a16="http://schemas.microsoft.com/office/drawing/2014/main" id="{B2662629-35F5-4EF9-AC84-78AB4DCFFF26}"/>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beads move randomly and bump into each other, but cannot pass one another.</a:t>
            </a:r>
          </a:p>
        </p:txBody>
      </p:sp>
      <p:sp>
        <p:nvSpPr>
          <p:cNvPr id="3" name="Rectangle 2">
            <a:extLst>
              <a:ext uri="{FF2B5EF4-FFF2-40B4-BE49-F238E27FC236}">
                <a16:creationId xmlns:a16="http://schemas.microsoft.com/office/drawing/2014/main" id="{B72C789D-5DDF-4D29-8C76-5B173C9E8F4F}"/>
              </a:ext>
            </a:extLst>
          </p:cNvPr>
          <p:cNvSpPr>
            <a:spLocks noGrp="1"/>
          </p:cNvSpPr>
          <p:nvPr/>
        </p:nvSpPr>
        <p:spPr>
          <a:xfrm>
            <a:off x="457200" y="15811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Start every run with the same spacing</a:t>
            </a:r>
          </a:p>
        </p:txBody>
      </p:sp>
      <p:sp>
        <p:nvSpPr>
          <p:cNvPr id="4" name="Rectangle 3">
            <a:extLst>
              <a:ext uri="{FF2B5EF4-FFF2-40B4-BE49-F238E27FC236}">
                <a16:creationId xmlns:a16="http://schemas.microsoft.com/office/drawing/2014/main" id="{FA3A07CF-D11F-4622-856C-3CBFF16C57ED}"/>
              </a:ext>
            </a:extLst>
          </p:cNvPr>
          <p:cNvSpPr>
            <a:spLocks noGrp="1"/>
          </p:cNvSpPr>
          <p:nvPr/>
        </p:nvSpPr>
        <p:spPr>
          <a:xfrm>
            <a:off x="457200" y="2028825"/>
            <a:ext cx="5029200" cy="19050"/>
          </a:xfrm>
          <a:prstGeom prst="rect">
            <a:avLst/>
          </a:prstGeom>
          <a:solidFill>
            <a:srgbClr val="777777"/>
          </a:solidFill>
          <a:ln w="13335">
            <a:solidFill>
              <a:srgbClr val="777777"/>
            </a:solidFill>
            <a:prstDash val="solid"/>
          </a:ln>
        </p:spPr>
        <p:txBody>
          <a:bodyPr/>
          <a:lstStyle/>
          <a:p>
            <a:endParaRPr lang="en-US"/>
          </a:p>
        </p:txBody>
      </p:sp>
      <p:sp>
        <p:nvSpPr>
          <p:cNvPr id="5" name="Rectangle 4">
            <a:extLst>
              <a:ext uri="{FF2B5EF4-FFF2-40B4-BE49-F238E27FC236}">
                <a16:creationId xmlns:a16="http://schemas.microsoft.com/office/drawing/2014/main" id="{3FFFF243-D917-44D5-8B4E-AEF19A84DF20}"/>
              </a:ext>
            </a:extLst>
          </p:cNvPr>
          <p:cNvSpPr>
            <a:spLocks noGrp="1"/>
          </p:cNvSpPr>
          <p:nvPr/>
        </p:nvSpPr>
        <p:spPr>
          <a:xfrm>
            <a:off x="457200" y="2581275"/>
            <a:ext cx="5029200" cy="19050"/>
          </a:xfrm>
          <a:prstGeom prst="rect">
            <a:avLst/>
          </a:prstGeom>
          <a:solidFill>
            <a:srgbClr val="777777"/>
          </a:solidFill>
          <a:ln w="13335">
            <a:solidFill>
              <a:srgbClr val="777777"/>
            </a:solidFill>
            <a:prstDash val="solid"/>
          </a:ln>
        </p:spPr>
        <p:txBody>
          <a:bodyPr/>
          <a:lstStyle/>
          <a:p>
            <a:endParaRPr lang="en-US"/>
          </a:p>
        </p:txBody>
      </p:sp>
      <p:sp>
        <p:nvSpPr>
          <p:cNvPr id="6" name="Oval 5">
            <a:extLst>
              <a:ext uri="{FF2B5EF4-FFF2-40B4-BE49-F238E27FC236}">
                <a16:creationId xmlns:a16="http://schemas.microsoft.com/office/drawing/2014/main" id="{59B9F311-4DE1-41F4-91EE-D1DF06E54FB0}"/>
              </a:ext>
            </a:extLst>
          </p:cNvPr>
          <p:cNvSpPr>
            <a:spLocks noGrp="1"/>
          </p:cNvSpPr>
          <p:nvPr/>
        </p:nvSpPr>
        <p:spPr>
          <a:xfrm>
            <a:off x="7810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7" name="Oval 6">
            <a:extLst>
              <a:ext uri="{FF2B5EF4-FFF2-40B4-BE49-F238E27FC236}">
                <a16:creationId xmlns:a16="http://schemas.microsoft.com/office/drawing/2014/main" id="{F9DA28F5-23D0-4E5A-9759-20015A1D1595}"/>
              </a:ext>
            </a:extLst>
          </p:cNvPr>
          <p:cNvSpPr>
            <a:spLocks noGrp="1"/>
          </p:cNvSpPr>
          <p:nvPr/>
        </p:nvSpPr>
        <p:spPr>
          <a:xfrm>
            <a:off x="15049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8" name="Oval 7">
            <a:extLst>
              <a:ext uri="{FF2B5EF4-FFF2-40B4-BE49-F238E27FC236}">
                <a16:creationId xmlns:a16="http://schemas.microsoft.com/office/drawing/2014/main" id="{8379ECC2-76F0-4C85-9EF5-7010AC3D1101}"/>
              </a:ext>
            </a:extLst>
          </p:cNvPr>
          <p:cNvSpPr>
            <a:spLocks noGrp="1"/>
          </p:cNvSpPr>
          <p:nvPr/>
        </p:nvSpPr>
        <p:spPr>
          <a:xfrm>
            <a:off x="2228850" y="21431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9" name="Oval 8">
            <a:extLst>
              <a:ext uri="{FF2B5EF4-FFF2-40B4-BE49-F238E27FC236}">
                <a16:creationId xmlns:a16="http://schemas.microsoft.com/office/drawing/2014/main" id="{391A5650-9AC4-4DF2-B05B-863C0529C40E}"/>
              </a:ext>
            </a:extLst>
          </p:cNvPr>
          <p:cNvSpPr>
            <a:spLocks noGrp="1"/>
          </p:cNvSpPr>
          <p:nvPr/>
        </p:nvSpPr>
        <p:spPr>
          <a:xfrm>
            <a:off x="29527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0" name="Oval 9">
            <a:extLst>
              <a:ext uri="{FF2B5EF4-FFF2-40B4-BE49-F238E27FC236}">
                <a16:creationId xmlns:a16="http://schemas.microsoft.com/office/drawing/2014/main" id="{6EFEFD0B-10C8-4188-9C17-3FE386921650}"/>
              </a:ext>
            </a:extLst>
          </p:cNvPr>
          <p:cNvSpPr>
            <a:spLocks noGrp="1"/>
          </p:cNvSpPr>
          <p:nvPr/>
        </p:nvSpPr>
        <p:spPr>
          <a:xfrm>
            <a:off x="36766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1" name="Oval 10">
            <a:extLst>
              <a:ext uri="{FF2B5EF4-FFF2-40B4-BE49-F238E27FC236}">
                <a16:creationId xmlns:a16="http://schemas.microsoft.com/office/drawing/2014/main" id="{46B65E69-0398-4FD5-AF8C-50BF819D9F03}"/>
              </a:ext>
            </a:extLst>
          </p:cNvPr>
          <p:cNvSpPr>
            <a:spLocks noGrp="1"/>
          </p:cNvSpPr>
          <p:nvPr/>
        </p:nvSpPr>
        <p:spPr>
          <a:xfrm>
            <a:off x="4400550" y="21431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2" name="Rectangle 11">
            <a:extLst>
              <a:ext uri="{FF2B5EF4-FFF2-40B4-BE49-F238E27FC236}">
                <a16:creationId xmlns:a16="http://schemas.microsoft.com/office/drawing/2014/main" id="{28E2446B-75BD-490E-9F28-ECBCD9ADBFC6}"/>
              </a:ext>
            </a:extLst>
          </p:cNvPr>
          <p:cNvSpPr>
            <a:spLocks noGrp="1"/>
          </p:cNvSpPr>
          <p:nvPr/>
        </p:nvSpPr>
        <p:spPr>
          <a:xfrm>
            <a:off x="457200" y="29527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the orange bead early in the run</a:t>
            </a:r>
          </a:p>
        </p:txBody>
      </p:sp>
      <p:sp>
        <p:nvSpPr>
          <p:cNvPr id="13" name="Rectangle 12">
            <a:extLst>
              <a:ext uri="{FF2B5EF4-FFF2-40B4-BE49-F238E27FC236}">
                <a16:creationId xmlns:a16="http://schemas.microsoft.com/office/drawing/2014/main" id="{BAEFBBF5-E411-4F81-AF0F-D0CEC8B70CD1}"/>
              </a:ext>
            </a:extLst>
          </p:cNvPr>
          <p:cNvSpPr>
            <a:spLocks noGrp="1"/>
          </p:cNvSpPr>
          <p:nvPr/>
        </p:nvSpPr>
        <p:spPr>
          <a:xfrm>
            <a:off x="457200" y="3400425"/>
            <a:ext cx="5029200" cy="19050"/>
          </a:xfrm>
          <a:prstGeom prst="rect">
            <a:avLst/>
          </a:prstGeom>
          <a:solidFill>
            <a:srgbClr val="777777"/>
          </a:solidFill>
          <a:ln w="13335">
            <a:solidFill>
              <a:srgbClr val="777777"/>
            </a:solidFill>
            <a:prstDash val="solid"/>
          </a:ln>
        </p:spPr>
        <p:txBody>
          <a:bodyPr/>
          <a:lstStyle/>
          <a:p>
            <a:endParaRPr lang="en-US"/>
          </a:p>
        </p:txBody>
      </p:sp>
      <p:sp>
        <p:nvSpPr>
          <p:cNvPr id="14" name="Rectangle 13">
            <a:extLst>
              <a:ext uri="{FF2B5EF4-FFF2-40B4-BE49-F238E27FC236}">
                <a16:creationId xmlns:a16="http://schemas.microsoft.com/office/drawing/2014/main" id="{615AB876-010E-4283-9E21-EC397A4697F6}"/>
              </a:ext>
            </a:extLst>
          </p:cNvPr>
          <p:cNvSpPr>
            <a:spLocks noGrp="1"/>
          </p:cNvSpPr>
          <p:nvPr/>
        </p:nvSpPr>
        <p:spPr>
          <a:xfrm>
            <a:off x="457200" y="3952875"/>
            <a:ext cx="5029200" cy="19050"/>
          </a:xfrm>
          <a:prstGeom prst="rect">
            <a:avLst/>
          </a:prstGeom>
          <a:solidFill>
            <a:srgbClr val="777777"/>
          </a:solidFill>
          <a:ln w="13335">
            <a:solidFill>
              <a:srgbClr val="777777"/>
            </a:solidFill>
            <a:prstDash val="solid"/>
          </a:ln>
        </p:spPr>
        <p:txBody>
          <a:bodyPr/>
          <a:lstStyle/>
          <a:p>
            <a:endParaRPr lang="en-US"/>
          </a:p>
        </p:txBody>
      </p:sp>
      <p:sp>
        <p:nvSpPr>
          <p:cNvPr id="15" name="Oval 14">
            <a:extLst>
              <a:ext uri="{FF2B5EF4-FFF2-40B4-BE49-F238E27FC236}">
                <a16:creationId xmlns:a16="http://schemas.microsoft.com/office/drawing/2014/main" id="{E5A1B225-F3FF-4D9C-92D7-E40F1D5BCBCE}"/>
              </a:ext>
            </a:extLst>
          </p:cNvPr>
          <p:cNvSpPr>
            <a:spLocks noGrp="1"/>
          </p:cNvSpPr>
          <p:nvPr/>
        </p:nvSpPr>
        <p:spPr>
          <a:xfrm>
            <a:off x="70485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6" name="Oval 15">
            <a:extLst>
              <a:ext uri="{FF2B5EF4-FFF2-40B4-BE49-F238E27FC236}">
                <a16:creationId xmlns:a16="http://schemas.microsoft.com/office/drawing/2014/main" id="{9948075C-7CCB-41F8-BCA4-97DF2FD1515A}"/>
              </a:ext>
            </a:extLst>
          </p:cNvPr>
          <p:cNvSpPr>
            <a:spLocks noGrp="1"/>
          </p:cNvSpPr>
          <p:nvPr/>
        </p:nvSpPr>
        <p:spPr>
          <a:xfrm>
            <a:off x="14097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7" name="Oval 16">
            <a:extLst>
              <a:ext uri="{FF2B5EF4-FFF2-40B4-BE49-F238E27FC236}">
                <a16:creationId xmlns:a16="http://schemas.microsoft.com/office/drawing/2014/main" id="{B2F9B45D-0B24-4E86-BF50-D65EB69518C0}"/>
              </a:ext>
            </a:extLst>
          </p:cNvPr>
          <p:cNvSpPr>
            <a:spLocks noGrp="1"/>
          </p:cNvSpPr>
          <p:nvPr/>
        </p:nvSpPr>
        <p:spPr>
          <a:xfrm>
            <a:off x="2609850" y="35147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18" name="Oval 17">
            <a:extLst>
              <a:ext uri="{FF2B5EF4-FFF2-40B4-BE49-F238E27FC236}">
                <a16:creationId xmlns:a16="http://schemas.microsoft.com/office/drawing/2014/main" id="{AB1C0CEC-6762-440A-975C-D63168A89042}"/>
              </a:ext>
            </a:extLst>
          </p:cNvPr>
          <p:cNvSpPr>
            <a:spLocks noGrp="1"/>
          </p:cNvSpPr>
          <p:nvPr/>
        </p:nvSpPr>
        <p:spPr>
          <a:xfrm>
            <a:off x="3152775"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9" name="Oval 18">
            <a:extLst>
              <a:ext uri="{FF2B5EF4-FFF2-40B4-BE49-F238E27FC236}">
                <a16:creationId xmlns:a16="http://schemas.microsoft.com/office/drawing/2014/main" id="{B5AF0FC4-C53E-4C4D-9C04-31EC3AAB1406}"/>
              </a:ext>
            </a:extLst>
          </p:cNvPr>
          <p:cNvSpPr>
            <a:spLocks noGrp="1"/>
          </p:cNvSpPr>
          <p:nvPr/>
        </p:nvSpPr>
        <p:spPr>
          <a:xfrm>
            <a:off x="38862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0" name="Oval 19">
            <a:extLst>
              <a:ext uri="{FF2B5EF4-FFF2-40B4-BE49-F238E27FC236}">
                <a16:creationId xmlns:a16="http://schemas.microsoft.com/office/drawing/2014/main" id="{6B7E8D58-BDFF-479A-95C7-EE542F9EE661}"/>
              </a:ext>
            </a:extLst>
          </p:cNvPr>
          <p:cNvSpPr>
            <a:spLocks noGrp="1"/>
          </p:cNvSpPr>
          <p:nvPr/>
        </p:nvSpPr>
        <p:spPr>
          <a:xfrm>
            <a:off x="4610100" y="35147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1" name="Rectangle 20">
            <a:extLst>
              <a:ext uri="{FF2B5EF4-FFF2-40B4-BE49-F238E27FC236}">
                <a16:creationId xmlns:a16="http://schemas.microsoft.com/office/drawing/2014/main" id="{0CB0DDB6-D1AC-4C59-B68F-A6C8C1B7503D}"/>
              </a:ext>
            </a:extLst>
          </p:cNvPr>
          <p:cNvSpPr>
            <a:spLocks noGrp="1"/>
          </p:cNvSpPr>
          <p:nvPr/>
        </p:nvSpPr>
        <p:spPr>
          <a:xfrm>
            <a:off x="457200" y="4324350"/>
            <a:ext cx="5029200" cy="3429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Observe that same bead later in the run</a:t>
            </a:r>
          </a:p>
        </p:txBody>
      </p:sp>
      <p:sp>
        <p:nvSpPr>
          <p:cNvPr id="22" name="Rectangle 21">
            <a:extLst>
              <a:ext uri="{FF2B5EF4-FFF2-40B4-BE49-F238E27FC236}">
                <a16:creationId xmlns:a16="http://schemas.microsoft.com/office/drawing/2014/main" id="{962474D2-BD75-4462-A708-B5E038509DA5}"/>
              </a:ext>
            </a:extLst>
          </p:cNvPr>
          <p:cNvSpPr>
            <a:spLocks noGrp="1"/>
          </p:cNvSpPr>
          <p:nvPr/>
        </p:nvSpPr>
        <p:spPr>
          <a:xfrm>
            <a:off x="457200" y="4772025"/>
            <a:ext cx="5029200" cy="19050"/>
          </a:xfrm>
          <a:prstGeom prst="rect">
            <a:avLst/>
          </a:prstGeom>
          <a:solidFill>
            <a:srgbClr val="777777"/>
          </a:solidFill>
          <a:ln w="13335">
            <a:solidFill>
              <a:srgbClr val="777777"/>
            </a:solidFill>
            <a:prstDash val="solid"/>
          </a:ln>
        </p:spPr>
        <p:txBody>
          <a:bodyPr/>
          <a:lstStyle/>
          <a:p>
            <a:endParaRPr lang="en-US"/>
          </a:p>
        </p:txBody>
      </p:sp>
      <p:sp>
        <p:nvSpPr>
          <p:cNvPr id="23" name="Rectangle 22">
            <a:extLst>
              <a:ext uri="{FF2B5EF4-FFF2-40B4-BE49-F238E27FC236}">
                <a16:creationId xmlns:a16="http://schemas.microsoft.com/office/drawing/2014/main" id="{A804FFB7-A505-4837-8A32-F2BC99ABA718}"/>
              </a:ext>
            </a:extLst>
          </p:cNvPr>
          <p:cNvSpPr>
            <a:spLocks noGrp="1"/>
          </p:cNvSpPr>
          <p:nvPr/>
        </p:nvSpPr>
        <p:spPr>
          <a:xfrm>
            <a:off x="457200" y="5324475"/>
            <a:ext cx="5029200" cy="19050"/>
          </a:xfrm>
          <a:prstGeom prst="rect">
            <a:avLst/>
          </a:prstGeom>
          <a:solidFill>
            <a:srgbClr val="777777"/>
          </a:solidFill>
          <a:ln w="13335">
            <a:solidFill>
              <a:srgbClr val="777777"/>
            </a:solidFill>
            <a:prstDash val="solid"/>
          </a:ln>
        </p:spPr>
        <p:txBody>
          <a:bodyPr/>
          <a:lstStyle/>
          <a:p>
            <a:endParaRPr lang="en-US"/>
          </a:p>
        </p:txBody>
      </p:sp>
      <p:sp>
        <p:nvSpPr>
          <p:cNvPr id="24" name="Oval 23">
            <a:extLst>
              <a:ext uri="{FF2B5EF4-FFF2-40B4-BE49-F238E27FC236}">
                <a16:creationId xmlns:a16="http://schemas.microsoft.com/office/drawing/2014/main" id="{037F2927-4412-4402-945B-33194FE24E4C}"/>
              </a:ext>
            </a:extLst>
          </p:cNvPr>
          <p:cNvSpPr>
            <a:spLocks noGrp="1"/>
          </p:cNvSpPr>
          <p:nvPr/>
        </p:nvSpPr>
        <p:spPr>
          <a:xfrm>
            <a:off x="619125"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5" name="Oval 24">
            <a:extLst>
              <a:ext uri="{FF2B5EF4-FFF2-40B4-BE49-F238E27FC236}">
                <a16:creationId xmlns:a16="http://schemas.microsoft.com/office/drawing/2014/main" id="{68FBC403-934E-41E5-8C80-DE9DF183B5C5}"/>
              </a:ext>
            </a:extLst>
          </p:cNvPr>
          <p:cNvSpPr>
            <a:spLocks noGrp="1"/>
          </p:cNvSpPr>
          <p:nvPr/>
        </p:nvSpPr>
        <p:spPr>
          <a:xfrm>
            <a:off x="12001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6" name="Oval 25">
            <a:extLst>
              <a:ext uri="{FF2B5EF4-FFF2-40B4-BE49-F238E27FC236}">
                <a16:creationId xmlns:a16="http://schemas.microsoft.com/office/drawing/2014/main" id="{27E83168-75AC-4659-94BB-0865496E2000}"/>
              </a:ext>
            </a:extLst>
          </p:cNvPr>
          <p:cNvSpPr>
            <a:spLocks noGrp="1"/>
          </p:cNvSpPr>
          <p:nvPr/>
        </p:nvSpPr>
        <p:spPr>
          <a:xfrm>
            <a:off x="2914650" y="4886325"/>
            <a:ext cx="323850" cy="32385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endParaRPr/>
          </a:p>
        </p:txBody>
      </p:sp>
      <p:sp>
        <p:nvSpPr>
          <p:cNvPr id="27" name="Oval 26">
            <a:extLst>
              <a:ext uri="{FF2B5EF4-FFF2-40B4-BE49-F238E27FC236}">
                <a16:creationId xmlns:a16="http://schemas.microsoft.com/office/drawing/2014/main" id="{CCCC262F-3302-46A0-A01C-D4B3F8159971}"/>
              </a:ext>
            </a:extLst>
          </p:cNvPr>
          <p:cNvSpPr>
            <a:spLocks noGrp="1"/>
          </p:cNvSpPr>
          <p:nvPr/>
        </p:nvSpPr>
        <p:spPr>
          <a:xfrm>
            <a:off x="346710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8" name="Oval 27">
            <a:extLst>
              <a:ext uri="{FF2B5EF4-FFF2-40B4-BE49-F238E27FC236}">
                <a16:creationId xmlns:a16="http://schemas.microsoft.com/office/drawing/2014/main" id="{265E5809-D44E-48C4-B81F-908AF9B8EC90}"/>
              </a:ext>
            </a:extLst>
          </p:cNvPr>
          <p:cNvSpPr>
            <a:spLocks noGrp="1"/>
          </p:cNvSpPr>
          <p:nvPr/>
        </p:nvSpPr>
        <p:spPr>
          <a:xfrm>
            <a:off x="40195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9" name="Oval 28">
            <a:extLst>
              <a:ext uri="{FF2B5EF4-FFF2-40B4-BE49-F238E27FC236}">
                <a16:creationId xmlns:a16="http://schemas.microsoft.com/office/drawing/2014/main" id="{03EC835C-09E3-4CCA-AA9E-5F5E94C3BE48}"/>
              </a:ext>
            </a:extLst>
          </p:cNvPr>
          <p:cNvSpPr>
            <a:spLocks noGrp="1"/>
          </p:cNvSpPr>
          <p:nvPr/>
        </p:nvSpPr>
        <p:spPr>
          <a:xfrm>
            <a:off x="4667250" y="4886325"/>
            <a:ext cx="323850" cy="32385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30" name="Rectangle 29">
            <a:extLst>
              <a:ext uri="{FF2B5EF4-FFF2-40B4-BE49-F238E27FC236}">
                <a16:creationId xmlns:a16="http://schemas.microsoft.com/office/drawing/2014/main" id="{8612F575-4277-4BBE-91AB-80A8143AAEB7}"/>
              </a:ext>
            </a:extLst>
          </p:cNvPr>
          <p:cNvSpPr>
            <a:spLocks noGrp="1"/>
          </p:cNvSpPr>
          <p:nvPr/>
        </p:nvSpPr>
        <p:spPr>
          <a:xfrm>
            <a:off x="457200" y="5591175"/>
            <a:ext cx="5200650" cy="333375"/>
          </a:xfrm>
          <a:prstGeom prst="rect">
            <a:avLst/>
          </a:prstGeom>
          <a:noFill/>
          <a:ln w="0">
            <a:noFill/>
          </a:ln>
        </p:spPr>
        <p:txBody>
          <a:bodyPr wrap="square" lIns="0" tIns="0" rIns="0" bIns="0" anchor="t"/>
          <a:lstStyle>
            <a:defPPr algn="l">
              <a:defRPr sz="1575" b="0">
                <a:solidFill>
                  <a:srgbClr val="777777"/>
                </a:solidFill>
                <a:latin typeface="Times New Roman"/>
                <a:ea typeface="Times New Roman"/>
                <a:cs typeface="Times New Roman"/>
              </a:defRPr>
            </a:defPPr>
          </a:lstStyle>
          <a:p>
            <a:pPr algn="l">
              <a:buNone/>
              <a:defRPr sz="1575" b="0">
                <a:solidFill>
                  <a:srgbClr val="777777"/>
                </a:solidFill>
                <a:latin typeface="Times New Roman"/>
                <a:ea typeface="Times New Roman"/>
                <a:cs typeface="Times New Roman"/>
              </a:defRPr>
            </a:pPr>
            <a:r>
              <a:rPr sz="1575" b="0">
                <a:solidFill>
                  <a:srgbClr val="777777"/>
                </a:solidFill>
                <a:latin typeface="Times New Roman"/>
                <a:ea typeface="Times New Roman"/>
                <a:cs typeface="Times New Roman"/>
              </a:rPr>
              <a:t>One run shown. Each repeat resets the starting row.</a:t>
            </a:r>
          </a:p>
        </p:txBody>
      </p:sp>
      <p:sp>
        <p:nvSpPr>
          <p:cNvPr id="31" name="Rectangle 30">
            <a:extLst>
              <a:ext uri="{FF2B5EF4-FFF2-40B4-BE49-F238E27FC236}">
                <a16:creationId xmlns:a16="http://schemas.microsoft.com/office/drawing/2014/main" id="{80CC5B1B-DE91-4841-A5BF-721EB21691BD}"/>
              </a:ext>
            </a:extLst>
          </p:cNvPr>
          <p:cNvSpPr>
            <a:spLocks noGrp="1"/>
          </p:cNvSpPr>
          <p:nvPr/>
        </p:nvSpPr>
        <p:spPr>
          <a:xfrm>
            <a:off x="6286500" y="1581150"/>
            <a:ext cx="54483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What the agent gets</a:t>
            </a:r>
          </a:p>
        </p:txBody>
      </p:sp>
      <p:sp>
        <p:nvSpPr>
          <p:cNvPr id="32" name="Rectangle 31">
            <a:extLst>
              <a:ext uri="{FF2B5EF4-FFF2-40B4-BE49-F238E27FC236}">
                <a16:creationId xmlns:a16="http://schemas.microsoft.com/office/drawing/2014/main" id="{05DCB7A6-18B5-424E-94B8-11149F2A1D49}"/>
              </a:ext>
            </a:extLst>
          </p:cNvPr>
          <p:cNvSpPr>
            <a:spLocks noGrp="1"/>
          </p:cNvSpPr>
          <p:nvPr/>
        </p:nvSpPr>
        <p:spPr>
          <a:xfrm>
            <a:off x="6286500" y="2057400"/>
            <a:ext cx="5448300" cy="990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 setup description, starter code, and data</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on how far the bead typically moves</a:t>
            </a:r>
          </a:p>
          <a:p>
            <a:pPr algn="l">
              <a:buNone/>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at several observation times.</a:t>
            </a:r>
          </a:p>
        </p:txBody>
      </p:sp>
      <p:sp>
        <p:nvSpPr>
          <p:cNvPr id="33" name="Rectangle 32">
            <a:extLst>
              <a:ext uri="{FF2B5EF4-FFF2-40B4-BE49-F238E27FC236}">
                <a16:creationId xmlns:a16="http://schemas.microsoft.com/office/drawing/2014/main" id="{B0EA5148-8AD1-4370-B501-B24753F88571}"/>
              </a:ext>
            </a:extLst>
          </p:cNvPr>
          <p:cNvSpPr>
            <a:spLocks noGrp="1"/>
          </p:cNvSpPr>
          <p:nvPr/>
        </p:nvSpPr>
        <p:spPr>
          <a:xfrm>
            <a:off x="6286500" y="3295650"/>
            <a:ext cx="5448300" cy="352425"/>
          </a:xfrm>
          <a:prstGeom prst="rect">
            <a:avLst/>
          </a:prstGeom>
          <a:noFill/>
          <a:ln w="0">
            <a:noFill/>
          </a:ln>
        </p:spPr>
        <p:txBody>
          <a:bodyPr wrap="square" lIns="0" tIns="0" rIns="0" bIns="0" anchor="t"/>
          <a:lstStyle>
            <a:defPPr algn="l">
              <a:defRPr sz="2250" b="1">
                <a:solidFill>
                  <a:srgbClr val="1D4E89"/>
                </a:solidFill>
                <a:latin typeface="Times New Roman"/>
                <a:ea typeface="Times New Roman"/>
                <a:cs typeface="Times New Roman"/>
              </a:defRPr>
            </a:defPPr>
          </a:lstStyle>
          <a:p>
            <a:pPr algn="l">
              <a:buNone/>
              <a:defRPr sz="2250" b="1">
                <a:solidFill>
                  <a:srgbClr val="1D4E89"/>
                </a:solidFill>
                <a:latin typeface="Times New Roman"/>
                <a:ea typeface="Times New Roman"/>
                <a:cs typeface="Times New Roman"/>
              </a:defRPr>
            </a:pPr>
            <a:r>
              <a:rPr sz="2250" b="1">
                <a:solidFill>
                  <a:srgbClr val="1D4E89"/>
                </a:solidFill>
                <a:latin typeface="Times New Roman"/>
                <a:ea typeface="Times New Roman"/>
                <a:cs typeface="Times New Roman"/>
              </a:rPr>
              <a:t>What the agent must predict</a:t>
            </a:r>
          </a:p>
        </p:txBody>
      </p:sp>
      <p:sp>
        <p:nvSpPr>
          <p:cNvPr id="34" name="Rectangle 33">
            <a:extLst>
              <a:ext uri="{FF2B5EF4-FFF2-40B4-BE49-F238E27FC236}">
                <a16:creationId xmlns:a16="http://schemas.microsoft.com/office/drawing/2014/main" id="{C4209CE6-ACBA-4CB8-BAB6-2D1338E3E0D0}"/>
              </a:ext>
            </a:extLst>
          </p:cNvPr>
          <p:cNvSpPr>
            <a:spLocks noGrp="1"/>
          </p:cNvSpPr>
          <p:nvPr/>
        </p:nvSpPr>
        <p:spPr>
          <a:xfrm>
            <a:off x="6286500" y="3771900"/>
            <a:ext cx="5448300" cy="990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dirty="0">
                <a:solidFill>
                  <a:srgbClr val="111111"/>
                </a:solidFill>
                <a:latin typeface="Times New Roman"/>
                <a:ea typeface="Times New Roman"/>
                <a:cs typeface="Times New Roman"/>
              </a:rPr>
              <a:t>Fit the strength of random motion.</a:t>
            </a:r>
          </a:p>
          <a:p>
            <a:pPr algn="l">
              <a:buNone/>
              <a:defRPr sz="2025" b="0">
                <a:solidFill>
                  <a:srgbClr val="111111"/>
                </a:solidFill>
                <a:latin typeface="Times New Roman"/>
                <a:ea typeface="Times New Roman"/>
                <a:cs typeface="Times New Roman"/>
              </a:defRPr>
            </a:pPr>
            <a:r>
              <a:rPr sz="2025" b="0" dirty="0">
                <a:solidFill>
                  <a:srgbClr val="111111"/>
                </a:solidFill>
                <a:latin typeface="Times New Roman"/>
                <a:ea typeface="Times New Roman"/>
                <a:cs typeface="Times New Roman"/>
              </a:rPr>
              <a:t>Then predict how the bead’s early and later</a:t>
            </a:r>
          </a:p>
          <a:p>
            <a:pPr algn="l">
              <a:buNone/>
              <a:defRPr sz="2025" b="0">
                <a:solidFill>
                  <a:srgbClr val="111111"/>
                </a:solidFill>
                <a:latin typeface="Times New Roman"/>
                <a:ea typeface="Times New Roman"/>
                <a:cs typeface="Times New Roman"/>
              </a:defRPr>
            </a:pPr>
            <a:r>
              <a:rPr sz="2025" b="0" dirty="0">
                <a:solidFill>
                  <a:srgbClr val="111111"/>
                </a:solidFill>
                <a:latin typeface="Times New Roman"/>
                <a:ea typeface="Times New Roman"/>
                <a:cs typeface="Times New Roman"/>
              </a:rPr>
              <a:t>positions </a:t>
            </a:r>
            <a:r>
              <a:rPr lang="en-US" sz="2025" b="0" dirty="0">
                <a:solidFill>
                  <a:srgbClr val="111111"/>
                </a:solidFill>
                <a:latin typeface="Times New Roman"/>
                <a:ea typeface="Times New Roman"/>
                <a:cs typeface="Times New Roman"/>
              </a:rPr>
              <a:t>correlate</a:t>
            </a:r>
            <a:r>
              <a:rPr sz="2025" b="0" dirty="0">
                <a:solidFill>
                  <a:srgbClr val="111111"/>
                </a:solidFill>
                <a:latin typeface="Times New Roman"/>
                <a:ea typeface="Times New Roman"/>
                <a:cs typeface="Times New Roman"/>
              </a:rPr>
              <a:t> across many runs.</a:t>
            </a:r>
          </a:p>
        </p:txBody>
      </p:sp>
      <p:sp>
        <p:nvSpPr>
          <p:cNvPr id="35" name="Rectangle 34">
            <a:extLst>
              <a:ext uri="{FF2B5EF4-FFF2-40B4-BE49-F238E27FC236}">
                <a16:creationId xmlns:a16="http://schemas.microsoft.com/office/drawing/2014/main" id="{87E47CA0-617F-4DEA-BF6A-8B00F933ADEB}"/>
              </a:ext>
            </a:extLst>
          </p:cNvPr>
          <p:cNvSpPr>
            <a:spLocks noGrp="1"/>
          </p:cNvSpPr>
          <p:nvPr/>
        </p:nvSpPr>
        <p:spPr>
          <a:xfrm>
            <a:off x="6286500" y="4895850"/>
            <a:ext cx="54483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Physics it must account for</a:t>
            </a:r>
          </a:p>
        </p:txBody>
      </p:sp>
      <p:sp>
        <p:nvSpPr>
          <p:cNvPr id="36" name="Rectangle 35">
            <a:extLst>
              <a:ext uri="{FF2B5EF4-FFF2-40B4-BE49-F238E27FC236}">
                <a16:creationId xmlns:a16="http://schemas.microsoft.com/office/drawing/2014/main" id="{0E992A19-E518-4A04-BDBE-E9742D222B5F}"/>
              </a:ext>
            </a:extLst>
          </p:cNvPr>
          <p:cNvSpPr>
            <a:spLocks noGrp="1"/>
          </p:cNvSpPr>
          <p:nvPr/>
        </p:nvSpPr>
        <p:spPr>
          <a:xfrm>
            <a:off x="6286500" y="5324475"/>
            <a:ext cx="5448300" cy="609600"/>
          </a:xfrm>
          <a:prstGeom prst="rect">
            <a:avLst/>
          </a:prstGeom>
          <a:noFill/>
          <a:ln w="0">
            <a:noFill/>
          </a:ln>
        </p:spPr>
        <p:txBody>
          <a:bodyPr wrap="square" lIns="0" tIns="0" rIns="0" bIns="0" anchor="t"/>
          <a:lstStyle>
            <a:defPPr algn="l">
              <a:defRPr sz="2025" b="0">
                <a:solidFill>
                  <a:srgbClr val="111111"/>
                </a:solidFill>
                <a:latin typeface="Times New Roman"/>
                <a:ea typeface="Times New Roman"/>
                <a:cs typeface="Times New Roman"/>
              </a:defRPr>
            </a:defPPr>
          </a:lstStyle>
          <a:p>
            <a:pPr algn="l">
              <a:buNone/>
              <a:defRPr sz="2025" b="0">
                <a:solidFill>
                  <a:srgbClr val="111111"/>
                </a:solidFill>
                <a:latin typeface="Times New Roman"/>
                <a:ea typeface="Times New Roman"/>
                <a:cs typeface="Times New Roman"/>
              </a:defRPr>
            </a:pPr>
            <a:r>
              <a:rPr sz="2025" b="0" dirty="0">
                <a:solidFill>
                  <a:srgbClr val="111111"/>
                </a:solidFill>
                <a:latin typeface="Times New Roman"/>
                <a:ea typeface="Times New Roman"/>
                <a:cs typeface="Times New Roman"/>
              </a:rPr>
              <a:t>The initial</a:t>
            </a:r>
            <a:r>
              <a:rPr lang="en-US" sz="2025" b="0" dirty="0">
                <a:solidFill>
                  <a:srgbClr val="111111"/>
                </a:solidFill>
                <a:latin typeface="Times New Roman"/>
                <a:ea typeface="Times New Roman"/>
                <a:cs typeface="Times New Roman"/>
              </a:rPr>
              <a:t> bead</a:t>
            </a:r>
            <a:r>
              <a:rPr sz="2025" b="0" dirty="0">
                <a:solidFill>
                  <a:srgbClr val="111111"/>
                </a:solidFill>
                <a:latin typeface="Times New Roman"/>
                <a:ea typeface="Times New Roman"/>
                <a:cs typeface="Times New Roman"/>
              </a:rPr>
              <a:t> spacing can affect the </a:t>
            </a:r>
            <a:r>
              <a:rPr lang="en-US" sz="2025" b="0" dirty="0">
                <a:solidFill>
                  <a:srgbClr val="111111"/>
                </a:solidFill>
                <a:latin typeface="Times New Roman"/>
                <a:ea typeface="Times New Roman"/>
                <a:cs typeface="Times New Roman"/>
              </a:rPr>
              <a:t>correlation</a:t>
            </a:r>
            <a:endParaRPr sz="2025" b="0" dirty="0">
              <a:solidFill>
                <a:srgbClr val="111111"/>
              </a:solidFill>
              <a:latin typeface="Times New Roman"/>
              <a:ea typeface="Times New Roman"/>
              <a:cs typeface="Times New Roman"/>
            </a:endParaRPr>
          </a:p>
          <a:p>
            <a:pPr algn="l">
              <a:buNone/>
              <a:defRPr sz="2025" b="0">
                <a:solidFill>
                  <a:srgbClr val="111111"/>
                </a:solidFill>
                <a:latin typeface="Times New Roman"/>
                <a:ea typeface="Times New Roman"/>
                <a:cs typeface="Times New Roman"/>
              </a:defRPr>
            </a:pPr>
            <a:r>
              <a:rPr sz="2025" b="0" dirty="0">
                <a:solidFill>
                  <a:srgbClr val="111111"/>
                </a:solidFill>
                <a:latin typeface="Times New Roman"/>
                <a:ea typeface="Times New Roman"/>
                <a:cs typeface="Times New Roman"/>
              </a:rPr>
              <a:t>between early and later motion.</a:t>
            </a:r>
          </a:p>
        </p:txBody>
      </p:sp>
      <p:sp>
        <p:nvSpPr>
          <p:cNvPr id="37" name="Rectangle 36">
            <a:extLst>
              <a:ext uri="{FF2B5EF4-FFF2-40B4-BE49-F238E27FC236}">
                <a16:creationId xmlns:a16="http://schemas.microsoft.com/office/drawing/2014/main" id="{09EE6FC6-A10B-42CB-8A2D-C1E5B125AE17}"/>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Illustrative setup. The benchmark asks for the statistical trend after long observation times, rather than one bead’s exact path.</a:t>
            </a:r>
          </a:p>
        </p:txBody>
      </p:sp>
      <p:sp>
        <p:nvSpPr>
          <p:cNvPr id="38" name="Rectangle 37">
            <a:extLst>
              <a:ext uri="{FF2B5EF4-FFF2-40B4-BE49-F238E27FC236}">
                <a16:creationId xmlns:a16="http://schemas.microsoft.com/office/drawing/2014/main" id="{B5B2BFD1-9BD4-4B2A-804C-23D72BA3EF86}"/>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3</a:t>
            </a:r>
          </a:p>
        </p:txBody>
      </p:sp>
    </p:spTree>
    <p:extLst>
      <p:ext uri="{BB962C8B-B14F-4D97-AF65-F5344CB8AC3E}">
        <p14:creationId xmlns:p14="http://schemas.microsoft.com/office/powerpoint/2010/main" val="1374769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2E055D0-CB93-4BD7-8C34-D05A390641C9}"/>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Three prompt conditions</a:t>
            </a:r>
          </a:p>
        </p:txBody>
      </p:sp>
      <p:sp>
        <p:nvSpPr>
          <p:cNvPr id="2" name="Rectangle 1">
            <a:extLst>
              <a:ext uri="{FF2B5EF4-FFF2-40B4-BE49-F238E27FC236}">
                <a16:creationId xmlns:a16="http://schemas.microsoft.com/office/drawing/2014/main" id="{E3A2D2EB-BD64-42F5-A6A8-12EA53CBC6EA}"/>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The task stays the same. Only the extra guidance changes.</a:t>
            </a:r>
          </a:p>
        </p:txBody>
      </p:sp>
      <p:graphicFrame>
        <p:nvGraphicFramePr>
          <p:cNvPr id="3" name="Table 2">
            <a:extLst>
              <a:ext uri="{FF2B5EF4-FFF2-40B4-BE49-F238E27FC236}">
                <a16:creationId xmlns:a16="http://schemas.microsoft.com/office/drawing/2014/main" id="{EEE2AFE6-DAE0-4718-B369-545E6EEBD049}"/>
              </a:ext>
            </a:extLst>
          </p:cNvPr>
          <p:cNvGraphicFramePr/>
          <p:nvPr/>
        </p:nvGraphicFramePr>
        <p:xfrm>
          <a:off x="457200" y="1571625"/>
          <a:ext cx="11277600" cy="2967990"/>
        </p:xfrm>
        <a:graphic>
          <a:graphicData uri="http://schemas.openxmlformats.org/drawingml/2006/table">
            <a:tbl>
              <a:tblPr/>
              <a:tblGrid>
                <a:gridCol w="2247900">
                  <a:extLst>
                    <a:ext uri="{9D8B030D-6E8A-4147-A177-3AD203B41FA5}">
                      <a16:colId xmlns:a16="http://schemas.microsoft.com/office/drawing/2014/main" val="20000"/>
                    </a:ext>
                  </a:extLst>
                </a:gridCol>
                <a:gridCol w="9029700">
                  <a:extLst>
                    <a:ext uri="{9D8B030D-6E8A-4147-A177-3AD203B41FA5}">
                      <a16:colId xmlns:a16="http://schemas.microsoft.com/office/drawing/2014/main" val="20001"/>
                    </a:ext>
                  </a:extLst>
                </a:gridCol>
              </a:tblGrid>
              <a:tr h="714375">
                <a:tc>
                  <a:txBody>
                    <a:bodyPr/>
                    <a:lstStyle/>
                    <a:p>
                      <a:r>
                        <a:rPr sz="2025" b="1">
                          <a:solidFill>
                            <a:srgbClr val="FFFFFF"/>
                          </a:solidFill>
                          <a:latin typeface="Times New Roman"/>
                          <a:ea typeface="Times New Roman"/>
                          <a:cs typeface="Times New Roman"/>
                        </a:rPr>
                        <a:t>Condition</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a:lstStyle/>
                    <a:p>
                      <a:r>
                        <a:rPr sz="2025" b="1">
                          <a:solidFill>
                            <a:srgbClr val="FFFFFF"/>
                          </a:solidFill>
                          <a:latin typeface="Times New Roman"/>
                          <a:ea typeface="Times New Roman"/>
                          <a:cs typeface="Times New Roman"/>
                        </a:rPr>
                        <a:t>Instruction or added guidance</a:t>
                      </a:r>
                    </a:p>
                  </a:txBody>
                  <a:tcPr marL="114300" marR="114300" marT="76200" marB="76200" anchor="ctr">
                    <a:lnL w="7620" cap="flat" cmpd="sng" algn="ctr">
                      <a:solidFill>
                        <a:srgbClr val="D1D5DB"/>
                      </a:solidFill>
                      <a:prstDash val="solid"/>
                      <a:round/>
                      <a:headEnd type="none" w="med" len="med"/>
                      <a:tailEnd type="none" w="med" len="me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extLst>
                  <a:ext uri="{0D108BD9-81ED-4DB2-BD59-A6C34878D82A}">
                    <a16:rowId xmlns:a16="http://schemas.microsoft.com/office/drawing/2014/main" val="10000"/>
                  </a:ext>
                </a:extLst>
              </a:tr>
              <a:tr h="714375">
                <a:tc>
                  <a:txBody>
                    <a:bodyPr/>
                    <a:lstStyle/>
                    <a:p>
                      <a:r>
                        <a:rPr sz="2025"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T w="7620" cap="flat" cmpd="sng" algn="ctr">
                      <a:solidFill>
                        <a:srgbClr val="D1D5DB"/>
                      </a:solidFill>
                      <a:prstDash val="solid"/>
                      <a:round/>
                      <a:headEnd type="none" w="med" len="med"/>
                      <a:tailEnd type="none" w="med" len="me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Use the setup and supplied data to implement the model.</a:t>
                      </a:r>
                    </a:p>
                  </a:txBody>
                  <a:tcPr marL="114300" marR="114300" marT="76200" marB="76200" anchor="ctr">
                    <a:lnL w="7620" cap="flat" cmpd="sng" algn="ctr">
                      <a:solidFill>
                        <a:srgbClr val="D1D5DB"/>
                      </a:solidFill>
                      <a:prstDash val="solid"/>
                      <a:round/>
                      <a:headEnd type="none" w="med" len="med"/>
                      <a:tailEnd type="none" w="med" len="med"/>
                    </a:lnL>
                    <a:lnR w="7620">
                      <a:solidFill>
                        <a:srgbClr val="D1D5DB"/>
                      </a:solidFill>
                      <a:prstDash val="solid"/>
                    </a:lnR>
                    <a:lnT w="7620" cap="flat" cmpd="sng" algn="ctr">
                      <a:solidFill>
                        <a:srgbClr val="D1D5DB"/>
                      </a:solidFill>
                      <a:prstDash val="solid"/>
                      <a:round/>
                      <a:headEnd type="none" w="med" len="med"/>
                      <a:tailEnd type="none" w="med" len="med"/>
                    </a:lnT>
                    <a:lnB w="7620">
                      <a:solidFill>
                        <a:srgbClr val="D1D5DB"/>
                      </a:solidFill>
                      <a:prstDash val="solid"/>
                    </a:lnB>
                    <a:solidFill>
                      <a:srgbClr val="FFFFFF"/>
                    </a:solidFill>
                  </a:tcPr>
                </a:tc>
                <a:extLst>
                  <a:ext uri="{0D108BD9-81ED-4DB2-BD59-A6C34878D82A}">
                    <a16:rowId xmlns:a16="http://schemas.microsoft.com/office/drawing/2014/main" val="10001"/>
                  </a:ext>
                </a:extLst>
              </a:tr>
              <a:tr h="714375">
                <a:tc>
                  <a:txBody>
                    <a:bodyPr/>
                    <a:lstStyle/>
                    <a:p>
                      <a:r>
                        <a:rPr sz="2025" b="0">
                          <a:solidFill>
                            <a:srgbClr val="111111"/>
                          </a:solidFill>
                          <a:latin typeface="Times New Roman"/>
                          <a:ea typeface="Times New Roman"/>
                          <a:cs typeface="Times New Roman"/>
                        </a:rPr>
                        <a:t>General hint</a:t>
                      </a:r>
                    </a:p>
                  </a:txBody>
                  <a:tcPr marL="114300" marR="114300" marT="76200" marB="76200" anchor="ctr">
                    <a:lnL w="7620">
                      <a:solidFill>
                        <a:srgbClr val="D1D5DB"/>
                      </a:solidFill>
                      <a:prstDash val="solid"/>
                    </a:lnL>
                    <a:lnR w="7620">
                      <a:solidFill>
                        <a:srgbClr val="D1D5DB"/>
                      </a:solidFill>
                      <a:prstDash val="solid"/>
                    </a:lnR>
                    <a:lnT w="7620" cap="flat" cmpd="sng" algn="ctr">
                      <a:solidFill>
                        <a:srgbClr val="D1D5DB"/>
                      </a:solidFill>
                      <a:prstDash val="solid"/>
                      <a:round/>
                      <a:headEnd type="none" w="med" len="med"/>
                      <a:tailEnd type="none" w="med" len="med"/>
                    </a:lnT>
                    <a:lnB w="7620">
                      <a:solidFill>
                        <a:srgbClr val="D1D5DB"/>
                      </a:solidFill>
                      <a:prstDash val="solid"/>
                    </a:lnB>
                    <a:solidFill>
                      <a:srgbClr val="F3F4F6"/>
                    </a:solidFill>
                  </a:tcPr>
                </a:tc>
                <a:tc>
                  <a:txBody>
                    <a:bodyPr/>
                    <a:lstStyle/>
                    <a:p>
                      <a:r>
                        <a:rPr sz="2025" b="0">
                          <a:solidFill>
                            <a:srgbClr val="111111"/>
                          </a:solidFill>
                          <a:latin typeface="Times New Roman"/>
                          <a:ea typeface="Times New Roman"/>
                          <a:cs typeface="Times New Roman"/>
                        </a:rPr>
                        <a:t>“Check your implementation carefully and test its correctness</a:t>
                      </a:r>
                    </a:p>
                    <a:p>
                      <a:r>
                        <a:rPr sz="2025" b="0">
                          <a:solidFill>
                            <a:srgbClr val="111111"/>
                          </a:solidFill>
                          <a:latin typeface="Times New Roman"/>
                          <a:ea typeface="Times New Roman"/>
                          <a:cs typeface="Times New Roman"/>
                        </a:rPr>
                        <a:t>before finishing.”</a:t>
                      </a:r>
                    </a:p>
                  </a:txBody>
                  <a:tcPr marL="114300" marR="114300" marT="76200" marB="76200" anchor="ctr">
                    <a:lnL w="7620" cap="flat" cmpd="sng" algn="ctr">
                      <a:solidFill>
                        <a:srgbClr val="D1D5DB"/>
                      </a:solidFill>
                      <a:prstDash val="solid"/>
                      <a:round/>
                      <a:headEnd type="none" w="med" len="med"/>
                      <a:tailEnd type="none" w="med" len="med"/>
                    </a:lnL>
                    <a:lnR w="7620">
                      <a:solidFill>
                        <a:srgbClr val="D1D5DB"/>
                      </a:solidFill>
                      <a:prstDash val="solid"/>
                    </a:lnR>
                    <a:lnT w="7620" cap="flat" cmpd="sng" algn="ctr">
                      <a:solidFill>
                        <a:srgbClr val="D1D5DB"/>
                      </a:solidFill>
                      <a:prstDash val="solid"/>
                      <a:round/>
                      <a:headEnd type="none" w="med" len="med"/>
                      <a:tailEnd type="none" w="med" len="med"/>
                    </a:lnT>
                    <a:lnB w="7620">
                      <a:solidFill>
                        <a:srgbClr val="D1D5DB"/>
                      </a:solidFill>
                      <a:prstDash val="solid"/>
                    </a:lnB>
                    <a:solidFill>
                      <a:srgbClr val="F3F4F6"/>
                    </a:solidFill>
                  </a:tcPr>
                </a:tc>
                <a:extLst>
                  <a:ext uri="{0D108BD9-81ED-4DB2-BD59-A6C34878D82A}">
                    <a16:rowId xmlns:a16="http://schemas.microsoft.com/office/drawing/2014/main" val="10002"/>
                  </a:ext>
                </a:extLst>
              </a:tr>
              <a:tr h="714375">
                <a:tc>
                  <a:txBody>
                    <a:bodyPr/>
                    <a:lstStyle/>
                    <a:p>
                      <a:r>
                        <a:rPr sz="2025" b="0">
                          <a:solidFill>
                            <a:srgbClr val="111111"/>
                          </a:solidFill>
                          <a:latin typeface="Times New Roman"/>
                          <a:ea typeface="Times New Roman"/>
                          <a:cs typeface="Times New Roman"/>
                        </a:rPr>
                        <a:t>Physics hint</a:t>
                      </a:r>
                    </a:p>
                  </a:txBody>
                  <a:tcPr marL="114300" marR="114300" marT="76200" marB="76200" anchor="ctr">
                    <a:lnL w="7620">
                      <a:solidFill>
                        <a:srgbClr val="D1D5DB"/>
                      </a:solidFill>
                      <a:prstDash val="solid"/>
                    </a:lnL>
                    <a:lnR w="7620">
                      <a:solidFill>
                        <a:srgbClr val="D1D5DB"/>
                      </a:solidFill>
                      <a:prstDash val="solid"/>
                    </a:lnR>
                    <a:lnT w="7620" cap="flat" cmpd="sng" algn="ctr">
                      <a:solidFill>
                        <a:srgbClr val="D1D5DB"/>
                      </a:solidFill>
                      <a:prstDash val="solid"/>
                      <a:round/>
                      <a:headEnd type="none" w="med" len="med"/>
                      <a:tailEnd type="none" w="med" len="med"/>
                    </a:lnT>
                    <a:lnB w="7620">
                      <a:solidFill>
                        <a:srgbClr val="D1D5DB"/>
                      </a:solidFill>
                      <a:prstDash val="solid"/>
                    </a:lnB>
                    <a:solidFill>
                      <a:srgbClr val="FFFFFF"/>
                    </a:solidFill>
                  </a:tcPr>
                </a:tc>
                <a:tc>
                  <a:txBody>
                    <a:bodyPr/>
                    <a:lstStyle/>
                    <a:p>
                      <a:r>
                        <a:rPr sz="2025" b="0">
                          <a:solidFill>
                            <a:srgbClr val="111111"/>
                          </a:solidFill>
                          <a:latin typeface="Times New Roman"/>
                          <a:ea typeface="Times New Roman"/>
                          <a:cs typeface="Times New Roman"/>
                        </a:rPr>
                        <a:t>The starting arrangement affects how early and later motion</a:t>
                      </a:r>
                    </a:p>
                    <a:p>
                      <a:r>
                        <a:rPr sz="2025" b="0">
                          <a:solidFill>
                            <a:srgbClr val="111111"/>
                          </a:solidFill>
                          <a:latin typeface="Times New Roman"/>
                          <a:ea typeface="Times New Roman"/>
                          <a:cs typeface="Times New Roman"/>
                        </a:rPr>
                        <a:t>are connected. Account for that shared history.</a:t>
                      </a:r>
                    </a:p>
                  </a:txBody>
                  <a:tcPr marL="114300" marR="114300" marT="76200" marB="76200" anchor="ctr">
                    <a:lnL w="7620" cap="flat" cmpd="sng" algn="ctr">
                      <a:solidFill>
                        <a:srgbClr val="D1D5DB"/>
                      </a:solidFill>
                      <a:prstDash val="solid"/>
                      <a:round/>
                      <a:headEnd type="none" w="med" len="med"/>
                      <a:tailEnd type="none" w="med" len="med"/>
                    </a:lnL>
                    <a:lnR w="7620">
                      <a:solidFill>
                        <a:srgbClr val="D1D5DB"/>
                      </a:solidFill>
                      <a:prstDash val="solid"/>
                    </a:lnR>
                    <a:lnT w="7620" cap="flat" cmpd="sng" algn="ctr">
                      <a:solidFill>
                        <a:srgbClr val="D1D5DB"/>
                      </a:solidFill>
                      <a:prstDash val="solid"/>
                      <a:round/>
                      <a:headEnd type="none" w="med" len="med"/>
                      <a:tailEnd type="none" w="med" len="med"/>
                    </a:lnT>
                    <a:lnB w="7620">
                      <a:solidFill>
                        <a:srgbClr val="D1D5DB"/>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76C76A53-DEEC-454A-9753-1C69F3526FBC}"/>
              </a:ext>
            </a:extLst>
          </p:cNvPr>
          <p:cNvSpPr>
            <a:spLocks noGrp="1"/>
          </p:cNvSpPr>
          <p:nvPr/>
        </p:nvSpPr>
        <p:spPr>
          <a:xfrm>
            <a:off x="457200" y="4810125"/>
            <a:ext cx="11277600" cy="352425"/>
          </a:xfrm>
          <a:prstGeom prst="rect">
            <a:avLst/>
          </a:prstGeom>
          <a:noFill/>
          <a:ln w="0">
            <a:noFill/>
          </a:ln>
        </p:spPr>
        <p:txBody>
          <a:bodyPr wrap="square" lIns="0" tIns="0" rIns="0" bIns="0" anchor="t"/>
          <a:lstStyle>
            <a:defPPr algn="l">
              <a:defRPr sz="2250" b="1">
                <a:solidFill>
                  <a:srgbClr val="111111"/>
                </a:solidFill>
                <a:latin typeface="Times New Roman"/>
                <a:ea typeface="Times New Roman"/>
                <a:cs typeface="Times New Roman"/>
              </a:defRPr>
            </a:defPPr>
          </a:lstStyle>
          <a:p>
            <a:pPr algn="l">
              <a:buNone/>
              <a:defRPr sz="2250" b="1">
                <a:solidFill>
                  <a:srgbClr val="111111"/>
                </a:solidFill>
                <a:latin typeface="Times New Roman"/>
                <a:ea typeface="Times New Roman"/>
                <a:cs typeface="Times New Roman"/>
              </a:defRPr>
            </a:pPr>
            <a:r>
              <a:rPr sz="2250" b="1">
                <a:solidFill>
                  <a:srgbClr val="111111"/>
                </a:solidFill>
                <a:latin typeface="Times New Roman"/>
                <a:ea typeface="Times New Roman"/>
                <a:cs typeface="Times New Roman"/>
              </a:rPr>
              <a:t>For the bead example</a:t>
            </a:r>
          </a:p>
        </p:txBody>
      </p:sp>
      <p:sp>
        <p:nvSpPr>
          <p:cNvPr id="5" name="Rectangle 4">
            <a:extLst>
              <a:ext uri="{FF2B5EF4-FFF2-40B4-BE49-F238E27FC236}">
                <a16:creationId xmlns:a16="http://schemas.microsoft.com/office/drawing/2014/main" id="{9BB0283D-1D38-4884-B8B4-61E3727BC95D}"/>
              </a:ext>
            </a:extLst>
          </p:cNvPr>
          <p:cNvSpPr>
            <a:spLocks noGrp="1"/>
          </p:cNvSpPr>
          <p:nvPr/>
        </p:nvSpPr>
        <p:spPr>
          <a:xfrm>
            <a:off x="457200" y="5314950"/>
            <a:ext cx="11277600" cy="685800"/>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general hint asks the agent to check its work.</a:t>
            </a:r>
          </a:p>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The physics hint points to something its formula may be missing.</a:t>
            </a:r>
          </a:p>
        </p:txBody>
      </p:sp>
      <p:sp>
        <p:nvSpPr>
          <p:cNvPr id="6" name="Rectangle 5">
            <a:extLst>
              <a:ext uri="{FF2B5EF4-FFF2-40B4-BE49-F238E27FC236}">
                <a16:creationId xmlns:a16="http://schemas.microsoft.com/office/drawing/2014/main" id="{0052D048-AD03-400E-B7B2-F16D3D3D559D}"/>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No-hint instruction shortened. General hint quoted exactly. Physics hint summarized in plain language from the actual task hint.</a:t>
            </a:r>
          </a:p>
        </p:txBody>
      </p:sp>
      <p:sp>
        <p:nvSpPr>
          <p:cNvPr id="7" name="Rectangle 6">
            <a:extLst>
              <a:ext uri="{FF2B5EF4-FFF2-40B4-BE49-F238E27FC236}">
                <a16:creationId xmlns:a16="http://schemas.microsoft.com/office/drawing/2014/main" id="{6F7B7D6A-AEA7-4431-AB33-4CEEE44EF934}"/>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4</a:t>
            </a:r>
          </a:p>
        </p:txBody>
      </p:sp>
    </p:spTree>
    <p:extLst>
      <p:ext uri="{BB962C8B-B14F-4D97-AF65-F5344CB8AC3E}">
        <p14:creationId xmlns:p14="http://schemas.microsoft.com/office/powerpoint/2010/main" val="1697024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BEDFE61-F640-44E1-A39C-A8BF6BCC993A}"/>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Experiment and evaluation</a:t>
            </a:r>
          </a:p>
        </p:txBody>
      </p:sp>
      <p:sp>
        <p:nvSpPr>
          <p:cNvPr id="2" name="Rectangle 1">
            <a:extLst>
              <a:ext uri="{FF2B5EF4-FFF2-40B4-BE49-F238E27FC236}">
                <a16:creationId xmlns:a16="http://schemas.microsoft.com/office/drawing/2014/main" id="{1EA837F5-49FF-4083-8C0E-E2809BEDA85C}"/>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13 frozen tasks, 3 repeats per setting. A pass requires all grading gates and timely completion.</a:t>
            </a:r>
          </a:p>
        </p:txBody>
      </p:sp>
      <p:graphicFrame>
        <p:nvGraphicFramePr>
          <p:cNvPr id="3" name="Table 2">
            <a:extLst>
              <a:ext uri="{FF2B5EF4-FFF2-40B4-BE49-F238E27FC236}">
                <a16:creationId xmlns:a16="http://schemas.microsoft.com/office/drawing/2014/main" id="{320E67A4-4D69-4B36-841B-0E103CB2A8BE}"/>
              </a:ext>
            </a:extLst>
          </p:cNvPr>
          <p:cNvGraphicFramePr/>
          <p:nvPr/>
        </p:nvGraphicFramePr>
        <p:xfrm>
          <a:off x="457200" y="1562100"/>
          <a:ext cx="11277600" cy="2781300"/>
        </p:xfrm>
        <a:graphic>
          <a:graphicData uri="http://schemas.openxmlformats.org/drawingml/2006/table">
            <a:tbl>
              <a:tblPr/>
              <a:tblGrid>
                <a:gridCol w="2124075">
                  <a:extLst>
                    <a:ext uri="{9D8B030D-6E8A-4147-A177-3AD203B41FA5}">
                      <a16:colId xmlns:a16="http://schemas.microsoft.com/office/drawing/2014/main" val="20000"/>
                    </a:ext>
                  </a:extLst>
                </a:gridCol>
                <a:gridCol w="6219825">
                  <a:extLst>
                    <a:ext uri="{9D8B030D-6E8A-4147-A177-3AD203B41FA5}">
                      <a16:colId xmlns:a16="http://schemas.microsoft.com/office/drawing/2014/main" val="20001"/>
                    </a:ext>
                  </a:extLst>
                </a:gridCol>
                <a:gridCol w="2933700">
                  <a:extLst>
                    <a:ext uri="{9D8B030D-6E8A-4147-A177-3AD203B41FA5}">
                      <a16:colId xmlns:a16="http://schemas.microsoft.com/office/drawing/2014/main" val="20002"/>
                    </a:ext>
                  </a:extLst>
                </a:gridCol>
              </a:tblGrid>
              <a:tr h="927100">
                <a:tc>
                  <a:txBody>
                    <a:bodyPr/>
                    <a:lstStyle/>
                    <a:p>
                      <a:r>
                        <a:rPr sz="1875" b="1">
                          <a:solidFill>
                            <a:srgbClr val="FFFFFF"/>
                          </a:solidFill>
                          <a:latin typeface="Times New Roman"/>
                          <a:ea typeface="Times New Roman"/>
                          <a:cs typeface="Times New Roman"/>
                        </a:rPr>
                        <a:t>Study</a:t>
                      </a:r>
                    </a:p>
                  </a:txBody>
                  <a:tcPr marL="114300" marR="114300" marT="76200" marB="76200" anchor="ctr">
                    <a:lnL w="7620">
                      <a:solidFill>
                        <a:srgbClr val="D1D5DB"/>
                      </a:solidFill>
                      <a:prstDash val="soli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a:lstStyle/>
                    <a:p>
                      <a:r>
                        <a:rPr sz="1875" b="1">
                          <a:solidFill>
                            <a:srgbClr val="FFFFFF"/>
                          </a:solidFill>
                          <a:latin typeface="Times New Roman"/>
                          <a:ea typeface="Times New Roman"/>
                          <a:cs typeface="Times New Roman"/>
                        </a:rPr>
                        <a:t>Models and reasoning settings</a:t>
                      </a:r>
                    </a:p>
                  </a:txBody>
                  <a:tcPr marL="114300" marR="114300" marT="76200" marB="76200" anchor="ctr">
                    <a:lnL w="7620" cap="flat" cmpd="sng" algn="ctr">
                      <a:solidFill>
                        <a:srgbClr val="D1D5DB"/>
                      </a:solidFill>
                      <a:prstDash val="solid"/>
                      <a:round/>
                      <a:headEnd type="none" w="med" len="med"/>
                      <a:tailEnd type="none" w="med" len="me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tc>
                  <a:txBody>
                    <a:bodyPr/>
                    <a:lstStyle/>
                    <a:p>
                      <a:r>
                        <a:rPr sz="1875" b="1">
                          <a:solidFill>
                            <a:srgbClr val="FFFFFF"/>
                          </a:solidFill>
                          <a:latin typeface="Times New Roman"/>
                          <a:ea typeface="Times New Roman"/>
                          <a:cs typeface="Times New Roman"/>
                        </a:rPr>
                        <a:t>Planned observations</a:t>
                      </a:r>
                    </a:p>
                  </a:txBody>
                  <a:tcPr marL="114300" marR="114300" marT="76200" marB="76200" anchor="ctr">
                    <a:lnL w="7620" cap="flat" cmpd="sng" algn="ctr">
                      <a:solidFill>
                        <a:srgbClr val="D1D5DB"/>
                      </a:solidFill>
                      <a:prstDash val="solid"/>
                      <a:round/>
                      <a:headEnd type="none" w="med" len="med"/>
                      <a:tailEnd type="none" w="med" len="med"/>
                    </a:lnL>
                    <a:lnR w="7620">
                      <a:solidFill>
                        <a:srgbClr val="D1D5DB"/>
                      </a:solidFill>
                      <a:prstDash val="solid"/>
                    </a:lnR>
                    <a:lnT w="7620">
                      <a:solidFill>
                        <a:srgbClr val="D1D5DB"/>
                      </a:solidFill>
                      <a:prstDash val="solid"/>
                    </a:lnT>
                    <a:lnB w="7620">
                      <a:solidFill>
                        <a:srgbClr val="D1D5DB"/>
                      </a:solidFill>
                      <a:prstDash val="solid"/>
                    </a:lnB>
                    <a:solidFill>
                      <a:srgbClr val="374151"/>
                    </a:solidFill>
                  </a:tcPr>
                </a:tc>
                <a:extLst>
                  <a:ext uri="{0D108BD9-81ED-4DB2-BD59-A6C34878D82A}">
                    <a16:rowId xmlns:a16="http://schemas.microsoft.com/office/drawing/2014/main" val="10000"/>
                  </a:ext>
                </a:extLst>
              </a:tr>
              <a:tr h="927100">
                <a:tc>
                  <a:txBody>
                    <a:bodyPr/>
                    <a:lstStyle/>
                    <a:p>
                      <a:r>
                        <a:rPr sz="1875" b="0">
                          <a:solidFill>
                            <a:srgbClr val="111111"/>
                          </a:solidFill>
                          <a:latin typeface="Times New Roman"/>
                          <a:ea typeface="Times New Roman"/>
                          <a:cs typeface="Times New Roman"/>
                        </a:rPr>
                        <a:t>No hint</a:t>
                      </a:r>
                    </a:p>
                  </a:txBody>
                  <a:tcPr marL="114300" marR="114300" marT="76200" marB="76200" anchor="ctr">
                    <a:lnL w="7620">
                      <a:solidFill>
                        <a:srgbClr val="D1D5DB"/>
                      </a:solidFill>
                      <a:prstDash val="solid"/>
                    </a:lnL>
                    <a:lnR w="7620">
                      <a:solidFill>
                        <a:srgbClr val="D1D5DB"/>
                      </a:solidFill>
                      <a:prstDash val="solid"/>
                    </a:lnR>
                    <a:lnT w="7620" cap="flat" cmpd="sng" algn="ctr">
                      <a:solidFill>
                        <a:srgbClr val="D1D5DB"/>
                      </a:solidFill>
                      <a:prstDash val="solid"/>
                      <a:round/>
                      <a:headEnd type="none" w="med" len="med"/>
                      <a:tailEnd type="none" w="med" len="med"/>
                    </a:lnT>
                    <a:lnB w="7620">
                      <a:solidFill>
                        <a:srgbClr val="D1D5DB"/>
                      </a:solidFill>
                      <a:prstDash val="solid"/>
                    </a:lnB>
                    <a:solidFill>
                      <a:srgbClr val="FFFFFF"/>
                    </a:solidFill>
                  </a:tcPr>
                </a:tc>
                <a:tc>
                  <a:txBody>
                    <a:bodyPr/>
                    <a:lstStyle/>
                    <a:p>
                      <a:r>
                        <a:rPr sz="1875" b="0">
                          <a:solidFill>
                            <a:srgbClr val="111111"/>
                          </a:solidFill>
                          <a:latin typeface="Times New Roman"/>
                          <a:ea typeface="Times New Roman"/>
                          <a:cs typeface="Times New Roman"/>
                        </a:rPr>
                        <a:t>GPT-6 Luna / Sol / Astra; GPT-5.6 Terra</a:t>
                      </a:r>
                    </a:p>
                    <a:p>
                      <a:r>
                        <a:rPr sz="1875" b="0">
                          <a:solidFill>
                            <a:srgbClr val="111111"/>
                          </a:solidFill>
                          <a:latin typeface="Times New Roman"/>
                          <a:ea typeface="Times New Roman"/>
                          <a:cs typeface="Times New Roman"/>
                        </a:rPr>
                        <a:t>Low, High, Extra High</a:t>
                      </a:r>
                    </a:p>
                    <a:p>
                      <a:r>
                        <a:rPr sz="1875" b="0">
                          <a:solidFill>
                            <a:srgbClr val="111111"/>
                          </a:solidFill>
                          <a:latin typeface="Times New Roman"/>
                          <a:ea typeface="Times New Roman"/>
                          <a:cs typeface="Times New Roman"/>
                        </a:rPr>
                        <a:t>DeepSeek V4.1 Flash: Low, High, Max</a:t>
                      </a:r>
                    </a:p>
                  </a:txBody>
                  <a:tcPr marL="114300" marR="114300" marT="76200" marB="76200" anchor="ctr">
                    <a:lnL w="7620" cap="flat" cmpd="sng" algn="ctr">
                      <a:solidFill>
                        <a:srgbClr val="D1D5DB"/>
                      </a:solidFill>
                      <a:prstDash val="solid"/>
                      <a:round/>
                      <a:headEnd type="none" w="med" len="med"/>
                      <a:tailEnd type="none" w="med" len="med"/>
                    </a:lnL>
                    <a:lnR w="7620">
                      <a:solidFill>
                        <a:srgbClr val="D1D5DB"/>
                      </a:solidFill>
                      <a:prstDash val="solid"/>
                    </a:lnR>
                    <a:lnT w="7620" cap="flat" cmpd="sng" algn="ctr">
                      <a:solidFill>
                        <a:srgbClr val="D1D5DB"/>
                      </a:solidFill>
                      <a:prstDash val="solid"/>
                      <a:round/>
                      <a:headEnd type="none" w="med" len="med"/>
                      <a:tailEnd type="none" w="med" len="med"/>
                    </a:lnT>
                    <a:lnB w="7620">
                      <a:solidFill>
                        <a:srgbClr val="D1D5DB"/>
                      </a:solidFill>
                      <a:prstDash val="solid"/>
                    </a:lnB>
                    <a:solidFill>
                      <a:srgbClr val="FFFFFF"/>
                    </a:solidFill>
                  </a:tcPr>
                </a:tc>
                <a:tc>
                  <a:txBody>
                    <a:bodyPr/>
                    <a:lstStyle/>
                    <a:p>
                      <a:r>
                        <a:rPr sz="1875" b="0">
                          <a:solidFill>
                            <a:srgbClr val="111111"/>
                          </a:solidFill>
                          <a:latin typeface="Times New Roman"/>
                          <a:ea typeface="Times New Roman"/>
                          <a:cs typeface="Times New Roman"/>
                        </a:rPr>
                        <a:t>15 settings × 39 = 585</a:t>
                      </a:r>
                    </a:p>
                  </a:txBody>
                  <a:tcPr marL="114300" marR="114300" marT="76200" marB="76200" anchor="ctr">
                    <a:lnL w="7620" cap="flat" cmpd="sng" algn="ctr">
                      <a:solidFill>
                        <a:srgbClr val="D1D5DB"/>
                      </a:solidFill>
                      <a:prstDash val="solid"/>
                      <a:round/>
                      <a:headEnd type="none" w="med" len="med"/>
                      <a:tailEnd type="none" w="med" len="med"/>
                    </a:lnL>
                    <a:lnR w="7620">
                      <a:solidFill>
                        <a:srgbClr val="D1D5DB"/>
                      </a:solidFill>
                      <a:prstDash val="solid"/>
                    </a:lnR>
                    <a:lnT w="7620" cap="flat" cmpd="sng" algn="ctr">
                      <a:solidFill>
                        <a:srgbClr val="D1D5DB"/>
                      </a:solidFill>
                      <a:prstDash val="solid"/>
                      <a:round/>
                      <a:headEnd type="none" w="med" len="med"/>
                      <a:tailEnd type="none" w="med" len="med"/>
                    </a:lnT>
                    <a:lnB w="7620">
                      <a:solidFill>
                        <a:srgbClr val="D1D5DB"/>
                      </a:solidFill>
                      <a:prstDash val="solid"/>
                    </a:lnB>
                    <a:solidFill>
                      <a:srgbClr val="FFFFFF"/>
                    </a:solidFill>
                  </a:tcPr>
                </a:tc>
                <a:extLst>
                  <a:ext uri="{0D108BD9-81ED-4DB2-BD59-A6C34878D82A}">
                    <a16:rowId xmlns:a16="http://schemas.microsoft.com/office/drawing/2014/main" val="10001"/>
                  </a:ext>
                </a:extLst>
              </a:tr>
              <a:tr h="927100">
                <a:tc>
                  <a:txBody>
                    <a:bodyPr/>
                    <a:lstStyle/>
                    <a:p>
                      <a:r>
                        <a:rPr sz="1875" b="0">
                          <a:solidFill>
                            <a:srgbClr val="111111"/>
                          </a:solidFill>
                          <a:latin typeface="Times New Roman"/>
                          <a:ea typeface="Times New Roman"/>
                          <a:cs typeface="Times New Roman"/>
                        </a:rPr>
                        <a:t>Hint comparison</a:t>
                      </a:r>
                    </a:p>
                  </a:txBody>
                  <a:tcPr marL="114300" marR="114300" marT="76200" marB="76200" anchor="ctr">
                    <a:lnL w="7620">
                      <a:solidFill>
                        <a:srgbClr val="D1D5DB"/>
                      </a:solidFill>
                      <a:prstDash val="solid"/>
                    </a:lnL>
                    <a:lnR w="7620">
                      <a:solidFill>
                        <a:srgbClr val="D1D5DB"/>
                      </a:solidFill>
                      <a:prstDash val="solid"/>
                    </a:lnR>
                    <a:lnT w="7620" cap="flat" cmpd="sng" algn="ctr">
                      <a:solidFill>
                        <a:srgbClr val="D1D5DB"/>
                      </a:solidFill>
                      <a:prstDash val="solid"/>
                      <a:round/>
                      <a:headEnd type="none" w="med" len="med"/>
                      <a:tailEnd type="none" w="med" len="med"/>
                    </a:lnT>
                    <a:lnB w="7620">
                      <a:solidFill>
                        <a:srgbClr val="D1D5DB"/>
                      </a:solidFill>
                      <a:prstDash val="solid"/>
                    </a:lnB>
                    <a:solidFill>
                      <a:srgbClr val="F3F4F6"/>
                    </a:solidFill>
                  </a:tcPr>
                </a:tc>
                <a:tc>
                  <a:txBody>
                    <a:bodyPr/>
                    <a:lstStyle/>
                    <a:p>
                      <a:r>
                        <a:rPr sz="1875" b="0">
                          <a:solidFill>
                            <a:srgbClr val="111111"/>
                          </a:solidFill>
                          <a:latin typeface="Times New Roman"/>
                          <a:ea typeface="Times New Roman"/>
                          <a:cs typeface="Times New Roman"/>
                        </a:rPr>
                        <a:t>GPT-5.6 Luna / Terra; DeepSeek V4.1 Flash</a:t>
                      </a:r>
                    </a:p>
                    <a:p>
                      <a:r>
                        <a:rPr sz="1875" b="0">
                          <a:solidFill>
                            <a:srgbClr val="111111"/>
                          </a:solidFill>
                          <a:latin typeface="Times New Roman"/>
                          <a:ea typeface="Times New Roman"/>
                          <a:cs typeface="Times New Roman"/>
                        </a:rPr>
                        <a:t>High only, with 3 prompt conditions</a:t>
                      </a:r>
                    </a:p>
                  </a:txBody>
                  <a:tcPr marL="114300" marR="114300" marT="76200" marB="76200" anchor="ctr">
                    <a:lnL w="7620" cap="flat" cmpd="sng" algn="ctr">
                      <a:solidFill>
                        <a:srgbClr val="D1D5DB"/>
                      </a:solidFill>
                      <a:prstDash val="solid"/>
                      <a:round/>
                      <a:headEnd type="none" w="med" len="med"/>
                      <a:tailEnd type="none" w="med" len="med"/>
                    </a:lnL>
                    <a:lnR w="7620">
                      <a:solidFill>
                        <a:srgbClr val="D1D5DB"/>
                      </a:solidFill>
                      <a:prstDash val="solid"/>
                    </a:lnR>
                    <a:lnT w="7620" cap="flat" cmpd="sng" algn="ctr">
                      <a:solidFill>
                        <a:srgbClr val="D1D5DB"/>
                      </a:solidFill>
                      <a:prstDash val="solid"/>
                      <a:round/>
                      <a:headEnd type="none" w="med" len="med"/>
                      <a:tailEnd type="none" w="med" len="med"/>
                    </a:lnT>
                    <a:lnB w="7620">
                      <a:solidFill>
                        <a:srgbClr val="D1D5DB"/>
                      </a:solidFill>
                      <a:prstDash val="solid"/>
                    </a:lnB>
                    <a:solidFill>
                      <a:srgbClr val="F3F4F6"/>
                    </a:solidFill>
                  </a:tcPr>
                </a:tc>
                <a:tc>
                  <a:txBody>
                    <a:bodyPr/>
                    <a:lstStyle/>
                    <a:p>
                      <a:r>
                        <a:rPr sz="1875" b="0">
                          <a:solidFill>
                            <a:srgbClr val="111111"/>
                          </a:solidFill>
                          <a:latin typeface="Times New Roman"/>
                          <a:ea typeface="Times New Roman"/>
                          <a:cs typeface="Times New Roman"/>
                        </a:rPr>
                        <a:t>9 settings × 39 = 351</a:t>
                      </a:r>
                    </a:p>
                  </a:txBody>
                  <a:tcPr marL="114300" marR="114300" marT="76200" marB="76200" anchor="ctr">
                    <a:lnL w="7620" cap="flat" cmpd="sng" algn="ctr">
                      <a:solidFill>
                        <a:srgbClr val="D1D5DB"/>
                      </a:solidFill>
                      <a:prstDash val="solid"/>
                      <a:round/>
                      <a:headEnd type="none" w="med" len="med"/>
                      <a:tailEnd type="none" w="med" len="med"/>
                    </a:lnL>
                    <a:lnR w="7620">
                      <a:solidFill>
                        <a:srgbClr val="D1D5DB"/>
                      </a:solidFill>
                      <a:prstDash val="solid"/>
                    </a:lnR>
                    <a:lnT w="7620" cap="flat" cmpd="sng" algn="ctr">
                      <a:solidFill>
                        <a:srgbClr val="D1D5DB"/>
                      </a:solidFill>
                      <a:prstDash val="solid"/>
                      <a:round/>
                      <a:headEnd type="none" w="med" len="med"/>
                      <a:tailEnd type="none" w="med" len="med"/>
                    </a:lnT>
                    <a:lnB w="7620">
                      <a:solidFill>
                        <a:srgbClr val="D1D5DB"/>
                      </a:solidFill>
                      <a:prstDash val="solid"/>
                    </a:lnB>
                    <a:solidFill>
                      <a:srgbClr val="F3F4F6"/>
                    </a:solidFill>
                  </a:tcPr>
                </a:tc>
                <a:extLst>
                  <a:ext uri="{0D108BD9-81ED-4DB2-BD59-A6C34878D82A}">
                    <a16:rowId xmlns:a16="http://schemas.microsoft.com/office/drawing/2014/main" val="10002"/>
                  </a:ext>
                </a:extLst>
              </a:tr>
            </a:tbl>
          </a:graphicData>
        </a:graphic>
      </p:graphicFrame>
      <p:sp>
        <p:nvSpPr>
          <p:cNvPr id="4" name="Rectangle 3">
            <a:extLst>
              <a:ext uri="{FF2B5EF4-FFF2-40B4-BE49-F238E27FC236}">
                <a16:creationId xmlns:a16="http://schemas.microsoft.com/office/drawing/2014/main" id="{60523C90-4975-4A2D-A3C0-77A2CACDD7F8}"/>
              </a:ext>
            </a:extLst>
          </p:cNvPr>
          <p:cNvSpPr>
            <a:spLocks noGrp="1"/>
          </p:cNvSpPr>
          <p:nvPr/>
        </p:nvSpPr>
        <p:spPr>
          <a:xfrm>
            <a:off x="457200" y="4648200"/>
            <a:ext cx="11277600" cy="342900"/>
          </a:xfrm>
          <a:prstGeom prst="rect">
            <a:avLst/>
          </a:prstGeom>
          <a:noFill/>
          <a:ln w="0">
            <a:noFill/>
          </a:ln>
        </p:spPr>
        <p:txBody>
          <a:bodyPr wrap="square" lIns="0" tIns="0" rIns="0" bIns="0" anchor="t"/>
          <a:lstStyle>
            <a:defPPr algn="l">
              <a:defRPr sz="2175" b="1">
                <a:solidFill>
                  <a:srgbClr val="111111"/>
                </a:solidFill>
                <a:latin typeface="Times New Roman"/>
                <a:ea typeface="Times New Roman"/>
                <a:cs typeface="Times New Roman"/>
              </a:defRPr>
            </a:defPPr>
          </a:lstStyle>
          <a:p>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Same task files and grading across prompt conditions</a:t>
            </a:r>
          </a:p>
        </p:txBody>
      </p:sp>
      <p:sp>
        <p:nvSpPr>
          <p:cNvPr id="5" name="Rectangle 4">
            <a:extLst>
              <a:ext uri="{FF2B5EF4-FFF2-40B4-BE49-F238E27FC236}">
                <a16:creationId xmlns:a16="http://schemas.microsoft.com/office/drawing/2014/main" id="{DF89E35C-FE1B-4E68-A3B7-F4BF6C3BDEBB}"/>
              </a:ext>
            </a:extLst>
          </p:cNvPr>
          <p:cNvSpPr>
            <a:spLocks noGrp="1"/>
          </p:cNvSpPr>
          <p:nvPr/>
        </p:nvSpPr>
        <p:spPr>
          <a:xfrm>
            <a:off x="457200" y="5153025"/>
            <a:ext cx="11277600" cy="342900"/>
          </a:xfrm>
          <a:prstGeom prst="rect">
            <a:avLst/>
          </a:prstGeom>
          <a:noFill/>
          <a:ln w="0">
            <a:noFill/>
          </a:ln>
        </p:spPr>
        <p:txBody>
          <a:bodyPr wrap="square" lIns="0" tIns="0" rIns="0" bIns="0" anchor="t"/>
          <a:lstStyle>
            <a:defPPr algn="l">
              <a:defRPr sz="1950" b="0">
                <a:solidFill>
                  <a:srgbClr val="111111"/>
                </a:solidFill>
                <a:latin typeface="Times New Roman"/>
                <a:ea typeface="Times New Roman"/>
                <a:cs typeface="Times New Roman"/>
              </a:defRPr>
            </a:defPPr>
          </a:lstStyle>
          <a:p>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Harbor 0.21.0 + Codex agent   /   600 s agent   /   60 s verifier</a:t>
            </a:r>
          </a:p>
        </p:txBody>
      </p:sp>
      <p:sp>
        <p:nvSpPr>
          <p:cNvPr id="6" name="Rectangle 5">
            <a:extLst>
              <a:ext uri="{FF2B5EF4-FFF2-40B4-BE49-F238E27FC236}">
                <a16:creationId xmlns:a16="http://schemas.microsoft.com/office/drawing/2014/main" id="{CF7CE253-0BE1-438E-BE35-658EB1979A32}"/>
              </a:ext>
            </a:extLst>
          </p:cNvPr>
          <p:cNvSpPr>
            <a:spLocks noGrp="1"/>
          </p:cNvSpPr>
          <p:nvPr/>
        </p:nvSpPr>
        <p:spPr>
          <a:xfrm>
            <a:off x="457200" y="5619750"/>
            <a:ext cx="11277600" cy="323850"/>
          </a:xfrm>
          <a:prstGeom prst="rect">
            <a:avLst/>
          </a:prstGeom>
          <a:noFill/>
          <a:ln w="0">
            <a:noFill/>
          </a:ln>
        </p:spPr>
        <p:txBody>
          <a:bodyPr wrap="square" lIns="0" tIns="0" rIns="0" bIns="0" anchor="t"/>
          <a:lstStyle>
            <a:defPPr algn="l">
              <a:defRPr sz="1800" b="0">
                <a:solidFill>
                  <a:srgbClr val="444444"/>
                </a:solidFill>
                <a:latin typeface="Times New Roman"/>
                <a:ea typeface="Times New Roman"/>
                <a:cs typeface="Times New Roman"/>
              </a:defRPr>
            </a:defPPr>
          </a:lstStyle>
          <a:p>
            <a:pPr algn="l">
              <a:buNone/>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Cost axis: estimated API cost per attempt. Execution errors count as non-passes.</a:t>
            </a:r>
          </a:p>
        </p:txBody>
      </p:sp>
      <p:sp>
        <p:nvSpPr>
          <p:cNvPr id="7" name="Rectangle 6">
            <a:extLst>
              <a:ext uri="{FF2B5EF4-FFF2-40B4-BE49-F238E27FC236}">
                <a16:creationId xmlns:a16="http://schemas.microsoft.com/office/drawing/2014/main" id="{1C95A617-5DE4-4C84-8066-2B498553D96A}"/>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38 Luna hint-study baselines are historical: client 0.154.0 / concurrency 4 versus local 0.160.0 / 3. Hint differences are descriptive.</a:t>
            </a:r>
          </a:p>
        </p:txBody>
      </p:sp>
      <p:sp>
        <p:nvSpPr>
          <p:cNvPr id="10" name="Rectangle 9">
            <a:extLst>
              <a:ext uri="{FF2B5EF4-FFF2-40B4-BE49-F238E27FC236}">
                <a16:creationId xmlns:a16="http://schemas.microsoft.com/office/drawing/2014/main" id="{C6314FE6-BC15-4559-88D7-E17B06D35DD4}"/>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5</a:t>
            </a:r>
          </a:p>
        </p:txBody>
      </p:sp>
    </p:spTree>
    <p:extLst>
      <p:ext uri="{BB962C8B-B14F-4D97-AF65-F5344CB8AC3E}">
        <p14:creationId xmlns:p14="http://schemas.microsoft.com/office/powerpoint/2010/main" val="1104128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89F7872-6721-4E61-909A-D72DFA54E882}"/>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No-hint Pareto frontier</a:t>
            </a:r>
          </a:p>
        </p:txBody>
      </p:sp>
      <p:sp>
        <p:nvSpPr>
          <p:cNvPr id="2" name="Rectangle 1">
            <a:extLst>
              <a:ext uri="{FF2B5EF4-FFF2-40B4-BE49-F238E27FC236}">
                <a16:creationId xmlns:a16="http://schemas.microsoft.com/office/drawing/2014/main" id="{3FF4C2A8-9BF0-420F-9840-D4124FD4447B}"/>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Upper left is better: more passes at lower cost. Each point contains 39 attempts.</a:t>
            </a:r>
          </a:p>
        </p:txBody>
      </p:sp>
      <p:graphicFrame>
        <p:nvGraphicFramePr>
          <p:cNvPr id="4" name="Chart">
            <a:extLst>
              <a:ext uri="{FF2B5EF4-FFF2-40B4-BE49-F238E27FC236}">
                <a16:creationId xmlns:a16="http://schemas.microsoft.com/office/drawing/2014/main" id="{90167EDD-9C54-46AF-B293-9D6C53EA46BB}"/>
              </a:ext>
            </a:extLst>
          </p:cNvPr>
          <p:cNvGraphicFramePr/>
          <p:nvPr/>
        </p:nvGraphicFramePr>
        <p:xfrm>
          <a:off x="457200" y="1581150"/>
          <a:ext cx="7429500" cy="41719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42202847-E1E1-4E1F-A845-3226CD26728D}"/>
              </a:ext>
            </a:extLst>
          </p:cNvPr>
          <p:cNvSpPr>
            <a:spLocks noGrp="1"/>
          </p:cNvSpPr>
          <p:nvPr/>
        </p:nvSpPr>
        <p:spPr>
          <a:xfrm>
            <a:off x="8248650" y="1600200"/>
            <a:ext cx="3486150" cy="342900"/>
          </a:xfrm>
          <a:prstGeom prst="rect">
            <a:avLst/>
          </a:prstGeom>
          <a:noFill/>
          <a:ln w="0">
            <a:noFill/>
          </a:ln>
        </p:spPr>
        <p:txBody>
          <a:bodyPr wrap="square" lIns="0" tIns="0" rIns="0" bIns="0" anchor="t"/>
          <a:lstStyle>
            <a:defPPr algn="l">
              <a:defRPr sz="2100" b="1" i="0">
                <a:solidFill>
                  <a:srgbClr val="111111"/>
                </a:solidFill>
                <a:latin typeface="Times New Roman"/>
                <a:ea typeface="Times New Roman"/>
                <a:cs typeface="Times New Roman"/>
              </a:defRPr>
            </a:defPPr>
          </a:lstStyle>
          <a:p>
            <a:pPr algn="l">
              <a:buNone/>
              <a:defRPr sz="2100" b="1" i="0">
                <a:solidFill>
                  <a:srgbClr val="111111"/>
                </a:solidFill>
                <a:latin typeface="Times New Roman"/>
                <a:ea typeface="Times New Roman"/>
                <a:cs typeface="Times New Roman"/>
              </a:defRPr>
            </a:pPr>
            <a:r>
              <a:rPr sz="2100" b="1" i="0">
                <a:solidFill>
                  <a:srgbClr val="111111"/>
                </a:solidFill>
                <a:latin typeface="Times New Roman"/>
                <a:ea typeface="Times New Roman"/>
                <a:cs typeface="Times New Roman"/>
              </a:rPr>
              <a:t>Frontier settings</a:t>
            </a:r>
          </a:p>
        </p:txBody>
      </p:sp>
      <p:graphicFrame>
        <p:nvGraphicFramePr>
          <p:cNvPr id="6" name="Table 5">
            <a:extLst>
              <a:ext uri="{FF2B5EF4-FFF2-40B4-BE49-F238E27FC236}">
                <a16:creationId xmlns:a16="http://schemas.microsoft.com/office/drawing/2014/main" id="{148B6EF5-7696-4F31-925A-1C3AD0F89966}"/>
              </a:ext>
            </a:extLst>
          </p:cNvPr>
          <p:cNvGraphicFramePr/>
          <p:nvPr/>
        </p:nvGraphicFramePr>
        <p:xfrm>
          <a:off x="8191500" y="2085975"/>
          <a:ext cx="3543300" cy="2257425"/>
        </p:xfrm>
        <a:graphic>
          <a:graphicData uri="http://schemas.openxmlformats.org/drawingml/2006/table">
            <a:tbl>
              <a:tblPr/>
              <a:tblGrid>
                <a:gridCol w="1859743">
                  <a:extLst>
                    <a:ext uri="{9D8B030D-6E8A-4147-A177-3AD203B41FA5}">
                      <a16:colId xmlns:a16="http://schemas.microsoft.com/office/drawing/2014/main" val="20000"/>
                    </a:ext>
                  </a:extLst>
                </a:gridCol>
                <a:gridCol w="812414">
                  <a:extLst>
                    <a:ext uri="{9D8B030D-6E8A-4147-A177-3AD203B41FA5}">
                      <a16:colId xmlns:a16="http://schemas.microsoft.com/office/drawing/2014/main" val="20001"/>
                    </a:ext>
                  </a:extLst>
                </a:gridCol>
                <a:gridCol w="871143">
                  <a:extLst>
                    <a:ext uri="{9D8B030D-6E8A-4147-A177-3AD203B41FA5}">
                      <a16:colId xmlns:a16="http://schemas.microsoft.com/office/drawing/2014/main" val="20002"/>
                    </a:ext>
                  </a:extLst>
                </a:gridCol>
              </a:tblGrid>
              <a:tr h="451485">
                <a:tc>
                  <a:txBody>
                    <a:bodyPr/>
                    <a:lstStyle/>
                    <a:p>
                      <a:r>
                        <a:rPr sz="1575" b="1">
                          <a:solidFill>
                            <a:srgbClr val="FFFFFF"/>
                          </a:solidFill>
                          <a:latin typeface="Times New Roman"/>
                          <a:ea typeface="Times New Roman"/>
                          <a:cs typeface="Times New Roman"/>
                        </a:rPr>
                        <a:t>Setting</a:t>
                      </a:r>
                    </a:p>
                  </a:txBody>
                  <a:tcPr marL="114300" marR="114300" marT="66675" marB="66675"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75" b="1">
                          <a:solidFill>
                            <a:srgbClr val="FFFFFF"/>
                          </a:solidFill>
                          <a:latin typeface="Times New Roman"/>
                          <a:ea typeface="Times New Roman"/>
                          <a:cs typeface="Times New Roman"/>
                        </a:rPr>
                        <a:t>Pass</a:t>
                      </a:r>
                    </a:p>
                  </a:txBody>
                  <a:tcPr marL="114300" marR="114300" marT="66675" marB="66675" anchor="ctr">
                    <a:lnL w="5715" cap="flat" cmpd="sng" algn="ctr">
                      <a:solidFill>
                        <a:srgbClr val="C7CBD1"/>
                      </a:solidFill>
                      <a:prstDash val="solid"/>
                      <a:round/>
                      <a:headEnd type="none" w="med" len="med"/>
                      <a:tailEnd type="none" w="med" len="me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75" b="1">
                          <a:solidFill>
                            <a:srgbClr val="FFFFFF"/>
                          </a:solidFill>
                          <a:latin typeface="Times New Roman"/>
                          <a:ea typeface="Times New Roman"/>
                          <a:cs typeface="Times New Roman"/>
                        </a:rPr>
                        <a:t>USD</a:t>
                      </a:r>
                    </a:p>
                  </a:txBody>
                  <a:tcPr marL="114300" marR="114300" marT="66675" marB="66675" anchor="ctr">
                    <a:lnL w="5715" cap="flat" cmpd="sng" algn="ctr">
                      <a:solidFill>
                        <a:srgbClr val="C7CBD1"/>
                      </a:solidFill>
                      <a:prstDash val="solid"/>
                      <a:round/>
                      <a:headEnd type="none" w="med" len="med"/>
                      <a:tailEnd type="none" w="med" len="me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extLst>
                  <a:ext uri="{0D108BD9-81ED-4DB2-BD59-A6C34878D82A}">
                    <a16:rowId xmlns:a16="http://schemas.microsoft.com/office/drawing/2014/main" val="10000"/>
                  </a:ext>
                </a:extLst>
              </a:tr>
              <a:tr h="451485">
                <a:tc>
                  <a:txBody>
                    <a:bodyPr/>
                    <a:lstStyle/>
                    <a:p>
                      <a:r>
                        <a:rPr sz="1575" b="0">
                          <a:solidFill>
                            <a:srgbClr val="111111"/>
                          </a:solidFill>
                          <a:latin typeface="Times New Roman"/>
                          <a:ea typeface="Times New Roman"/>
                          <a:cs typeface="Times New Roman"/>
                        </a:rPr>
                        <a:t>Luna 6 Low</a:t>
                      </a:r>
                    </a:p>
                  </a:txBody>
                  <a:tcPr marL="114300" marR="114300" marT="66675" marB="66675"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75" b="0">
                          <a:solidFill>
                            <a:srgbClr val="111111"/>
                          </a:solidFill>
                          <a:latin typeface="Times New Roman"/>
                          <a:ea typeface="Times New Roman"/>
                          <a:cs typeface="Times New Roman"/>
                        </a:rPr>
                        <a:t>4/39</a:t>
                      </a:r>
                    </a:p>
                  </a:txBody>
                  <a:tcPr marL="114300" marR="114300" marT="66675" marB="66675"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75" b="0">
                          <a:solidFill>
                            <a:srgbClr val="111111"/>
                          </a:solidFill>
                          <a:latin typeface="Times New Roman"/>
                          <a:ea typeface="Times New Roman"/>
                          <a:cs typeface="Times New Roman"/>
                        </a:rPr>
                        <a:t>.0040</a:t>
                      </a:r>
                    </a:p>
                  </a:txBody>
                  <a:tcPr marL="114300" marR="114300" marT="66675" marB="66675"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01"/>
                  </a:ext>
                </a:extLst>
              </a:tr>
              <a:tr h="451485">
                <a:tc>
                  <a:txBody>
                    <a:bodyPr/>
                    <a:lstStyle/>
                    <a:p>
                      <a:r>
                        <a:rPr sz="1575" b="0">
                          <a:solidFill>
                            <a:srgbClr val="111111"/>
                          </a:solidFill>
                          <a:latin typeface="Times New Roman"/>
                          <a:ea typeface="Times New Roman"/>
                          <a:cs typeface="Times New Roman"/>
                        </a:rPr>
                        <a:t>Luna 6 Extra High</a:t>
                      </a:r>
                    </a:p>
                  </a:txBody>
                  <a:tcPr marL="114300" marR="114300" marT="66675" marB="66675"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75" b="0">
                          <a:solidFill>
                            <a:srgbClr val="111111"/>
                          </a:solidFill>
                          <a:latin typeface="Times New Roman"/>
                          <a:ea typeface="Times New Roman"/>
                          <a:cs typeface="Times New Roman"/>
                        </a:rPr>
                        <a:t>12/39</a:t>
                      </a:r>
                    </a:p>
                  </a:txBody>
                  <a:tcPr marL="114300" marR="114300" marT="66675" marB="66675"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75" b="0">
                          <a:solidFill>
                            <a:srgbClr val="111111"/>
                          </a:solidFill>
                          <a:latin typeface="Times New Roman"/>
                          <a:ea typeface="Times New Roman"/>
                          <a:cs typeface="Times New Roman"/>
                        </a:rPr>
                        <a:t>.0126</a:t>
                      </a:r>
                    </a:p>
                  </a:txBody>
                  <a:tcPr marL="114300" marR="114300" marT="66675" marB="66675"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extLst>
                  <a:ext uri="{0D108BD9-81ED-4DB2-BD59-A6C34878D82A}">
                    <a16:rowId xmlns:a16="http://schemas.microsoft.com/office/drawing/2014/main" val="10002"/>
                  </a:ext>
                </a:extLst>
              </a:tr>
              <a:tr h="451485">
                <a:tc>
                  <a:txBody>
                    <a:bodyPr/>
                    <a:lstStyle/>
                    <a:p>
                      <a:r>
                        <a:rPr sz="1575" b="0">
                          <a:solidFill>
                            <a:srgbClr val="111111"/>
                          </a:solidFill>
                          <a:latin typeface="Times New Roman"/>
                          <a:ea typeface="Times New Roman"/>
                          <a:cs typeface="Times New Roman"/>
                        </a:rPr>
                        <a:t>Sol 6 Low</a:t>
                      </a:r>
                    </a:p>
                  </a:txBody>
                  <a:tcPr marL="114300" marR="114300" marT="66675" marB="66675"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75" b="0">
                          <a:solidFill>
                            <a:srgbClr val="111111"/>
                          </a:solidFill>
                          <a:latin typeface="Times New Roman"/>
                          <a:ea typeface="Times New Roman"/>
                          <a:cs typeface="Times New Roman"/>
                        </a:rPr>
                        <a:t>37/39</a:t>
                      </a:r>
                    </a:p>
                  </a:txBody>
                  <a:tcPr marL="114300" marR="114300" marT="66675" marB="66675"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75" b="0">
                          <a:solidFill>
                            <a:srgbClr val="111111"/>
                          </a:solidFill>
                          <a:latin typeface="Times New Roman"/>
                          <a:ea typeface="Times New Roman"/>
                          <a:cs typeface="Times New Roman"/>
                        </a:rPr>
                        <a:t>.0773</a:t>
                      </a:r>
                    </a:p>
                  </a:txBody>
                  <a:tcPr marL="114300" marR="114300" marT="66675" marB="66675"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03"/>
                  </a:ext>
                </a:extLst>
              </a:tr>
              <a:tr h="451485">
                <a:tc>
                  <a:txBody>
                    <a:bodyPr/>
                    <a:lstStyle/>
                    <a:p>
                      <a:r>
                        <a:rPr sz="1575" b="0">
                          <a:solidFill>
                            <a:srgbClr val="111111"/>
                          </a:solidFill>
                          <a:latin typeface="Times New Roman"/>
                          <a:ea typeface="Times New Roman"/>
                          <a:cs typeface="Times New Roman"/>
                        </a:rPr>
                        <a:t>Sol 6 High</a:t>
                      </a:r>
                    </a:p>
                  </a:txBody>
                  <a:tcPr marL="114300" marR="114300" marT="66675" marB="66675"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75" b="0">
                          <a:solidFill>
                            <a:srgbClr val="111111"/>
                          </a:solidFill>
                          <a:latin typeface="Times New Roman"/>
                          <a:ea typeface="Times New Roman"/>
                          <a:cs typeface="Times New Roman"/>
                        </a:rPr>
                        <a:t>39/39</a:t>
                      </a:r>
                    </a:p>
                  </a:txBody>
                  <a:tcPr marL="114300" marR="114300" marT="66675" marB="66675"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75" b="0">
                          <a:solidFill>
                            <a:srgbClr val="111111"/>
                          </a:solidFill>
                          <a:latin typeface="Times New Roman"/>
                          <a:ea typeface="Times New Roman"/>
                          <a:cs typeface="Times New Roman"/>
                        </a:rPr>
                        <a:t>.1975</a:t>
                      </a:r>
                    </a:p>
                  </a:txBody>
                  <a:tcPr marL="114300" marR="114300" marT="66675" marB="66675"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AF81E9BA-8FF2-438C-A496-E9A150FB445B}"/>
              </a:ext>
            </a:extLst>
          </p:cNvPr>
          <p:cNvSpPr>
            <a:spLocks noGrp="1"/>
          </p:cNvSpPr>
          <p:nvPr/>
        </p:nvSpPr>
        <p:spPr>
          <a:xfrm>
            <a:off x="8286750" y="4600575"/>
            <a:ext cx="3333750" cy="266700"/>
          </a:xfrm>
          <a:prstGeom prst="rect">
            <a:avLst/>
          </a:prstGeom>
          <a:noFill/>
          <a:ln w="0">
            <a:noFill/>
          </a:ln>
        </p:spPr>
        <p:txBody>
          <a:bodyPr wrap="square" lIns="0" tIns="0" rIns="0" bIns="0" anchor="t"/>
          <a:lstStyle>
            <a:defPPr algn="l">
              <a:defRPr sz="1575" b="1" i="0">
                <a:solidFill>
                  <a:srgbClr val="1D4E89"/>
                </a:solidFill>
                <a:latin typeface="Times New Roman"/>
                <a:ea typeface="Times New Roman"/>
                <a:cs typeface="Times New Roman"/>
              </a:defRPr>
            </a:defPPr>
          </a:lstStyle>
          <a:p>
            <a:pPr algn="l">
              <a:buNone/>
              <a:defRPr sz="1575" b="1" i="0">
                <a:solidFill>
                  <a:srgbClr val="1D4E89"/>
                </a:solidFill>
                <a:latin typeface="Times New Roman"/>
                <a:ea typeface="Times New Roman"/>
                <a:cs typeface="Times New Roman"/>
              </a:defRPr>
            </a:pPr>
            <a:r>
              <a:rPr sz="1575" b="1" i="0">
                <a:solidFill>
                  <a:srgbClr val="1D4E89"/>
                </a:solidFill>
                <a:latin typeface="Times New Roman"/>
                <a:ea typeface="Times New Roman"/>
                <a:cs typeface="Times New Roman"/>
              </a:rPr>
              <a:t>GPT-6 Luna</a:t>
            </a:r>
          </a:p>
        </p:txBody>
      </p:sp>
      <p:sp>
        <p:nvSpPr>
          <p:cNvPr id="8" name="Rectangle 7">
            <a:extLst>
              <a:ext uri="{FF2B5EF4-FFF2-40B4-BE49-F238E27FC236}">
                <a16:creationId xmlns:a16="http://schemas.microsoft.com/office/drawing/2014/main" id="{CEC49F00-D148-458B-81B1-9BA26FDF690C}"/>
              </a:ext>
            </a:extLst>
          </p:cNvPr>
          <p:cNvSpPr>
            <a:spLocks noGrp="1"/>
          </p:cNvSpPr>
          <p:nvPr/>
        </p:nvSpPr>
        <p:spPr>
          <a:xfrm>
            <a:off x="8286750" y="4829175"/>
            <a:ext cx="3333750" cy="266700"/>
          </a:xfrm>
          <a:prstGeom prst="rect">
            <a:avLst/>
          </a:prstGeom>
          <a:noFill/>
          <a:ln w="0">
            <a:noFill/>
          </a:ln>
        </p:spPr>
        <p:txBody>
          <a:bodyPr wrap="square" lIns="0" tIns="0" rIns="0" bIns="0" anchor="t"/>
          <a:lstStyle>
            <a:defPPr algn="l">
              <a:defRPr sz="1575" b="1" i="0">
                <a:solidFill>
                  <a:srgbClr val="0F766E"/>
                </a:solidFill>
                <a:latin typeface="Times New Roman"/>
                <a:ea typeface="Times New Roman"/>
                <a:cs typeface="Times New Roman"/>
              </a:defRPr>
            </a:defPPr>
          </a:lstStyle>
          <a:p>
            <a:pPr algn="l">
              <a:buNone/>
              <a:defRPr sz="1575" b="1" i="0">
                <a:solidFill>
                  <a:srgbClr val="0F766E"/>
                </a:solidFill>
                <a:latin typeface="Times New Roman"/>
                <a:ea typeface="Times New Roman"/>
                <a:cs typeface="Times New Roman"/>
              </a:defRPr>
            </a:pPr>
            <a:r>
              <a:rPr sz="1575" b="1" i="0">
                <a:solidFill>
                  <a:srgbClr val="0F766E"/>
                </a:solidFill>
                <a:latin typeface="Times New Roman"/>
                <a:ea typeface="Times New Roman"/>
                <a:cs typeface="Times New Roman"/>
              </a:rPr>
              <a:t>GPT-6 Sol</a:t>
            </a:r>
          </a:p>
        </p:txBody>
      </p:sp>
      <p:sp>
        <p:nvSpPr>
          <p:cNvPr id="9" name="Rectangle 8">
            <a:extLst>
              <a:ext uri="{FF2B5EF4-FFF2-40B4-BE49-F238E27FC236}">
                <a16:creationId xmlns:a16="http://schemas.microsoft.com/office/drawing/2014/main" id="{D98A3FDB-39FB-412B-865A-7FFD8450E45B}"/>
              </a:ext>
            </a:extLst>
          </p:cNvPr>
          <p:cNvSpPr>
            <a:spLocks noGrp="1"/>
          </p:cNvSpPr>
          <p:nvPr/>
        </p:nvSpPr>
        <p:spPr>
          <a:xfrm>
            <a:off x="8286750" y="5057775"/>
            <a:ext cx="3333750" cy="266700"/>
          </a:xfrm>
          <a:prstGeom prst="rect">
            <a:avLst/>
          </a:prstGeom>
          <a:noFill/>
          <a:ln w="0">
            <a:noFill/>
          </a:ln>
        </p:spPr>
        <p:txBody>
          <a:bodyPr wrap="square" lIns="0" tIns="0" rIns="0" bIns="0" anchor="t"/>
          <a:lstStyle>
            <a:defPPr algn="l">
              <a:defRPr sz="1575" b="1" i="0">
                <a:solidFill>
                  <a:srgbClr val="B45309"/>
                </a:solidFill>
                <a:latin typeface="Times New Roman"/>
                <a:ea typeface="Times New Roman"/>
                <a:cs typeface="Times New Roman"/>
              </a:defRPr>
            </a:defPPr>
          </a:lstStyle>
          <a:p>
            <a:pPr algn="l">
              <a:buNone/>
              <a:defRPr sz="1575" b="1" i="0">
                <a:solidFill>
                  <a:srgbClr val="B45309"/>
                </a:solidFill>
                <a:latin typeface="Times New Roman"/>
                <a:ea typeface="Times New Roman"/>
                <a:cs typeface="Times New Roman"/>
              </a:defRPr>
            </a:pPr>
            <a:r>
              <a:rPr sz="1575" b="1" i="0">
                <a:solidFill>
                  <a:srgbClr val="B45309"/>
                </a:solidFill>
                <a:latin typeface="Times New Roman"/>
                <a:ea typeface="Times New Roman"/>
                <a:cs typeface="Times New Roman"/>
              </a:rPr>
              <a:t>GPT-5.6 Terra</a:t>
            </a:r>
          </a:p>
        </p:txBody>
      </p:sp>
      <p:sp>
        <p:nvSpPr>
          <p:cNvPr id="10" name="Rectangle 9">
            <a:extLst>
              <a:ext uri="{FF2B5EF4-FFF2-40B4-BE49-F238E27FC236}">
                <a16:creationId xmlns:a16="http://schemas.microsoft.com/office/drawing/2014/main" id="{08722D94-DD0B-4B6E-8AA3-66219E01A722}"/>
              </a:ext>
            </a:extLst>
          </p:cNvPr>
          <p:cNvSpPr>
            <a:spLocks noGrp="1"/>
          </p:cNvSpPr>
          <p:nvPr/>
        </p:nvSpPr>
        <p:spPr>
          <a:xfrm>
            <a:off x="8286750" y="5286375"/>
            <a:ext cx="3333750" cy="266700"/>
          </a:xfrm>
          <a:prstGeom prst="rect">
            <a:avLst/>
          </a:prstGeom>
          <a:noFill/>
          <a:ln w="0">
            <a:noFill/>
          </a:ln>
        </p:spPr>
        <p:txBody>
          <a:bodyPr wrap="square" lIns="0" tIns="0" rIns="0" bIns="0" anchor="t"/>
          <a:lstStyle>
            <a:defPPr algn="l">
              <a:defRPr sz="1575" b="1" i="0">
                <a:solidFill>
                  <a:srgbClr val="5B4B7C"/>
                </a:solidFill>
                <a:latin typeface="Times New Roman"/>
                <a:ea typeface="Times New Roman"/>
                <a:cs typeface="Times New Roman"/>
              </a:defRPr>
            </a:defPPr>
          </a:lstStyle>
          <a:p>
            <a:pPr algn="l">
              <a:buNone/>
              <a:defRPr sz="1575" b="1" i="0">
                <a:solidFill>
                  <a:srgbClr val="5B4B7C"/>
                </a:solidFill>
                <a:latin typeface="Times New Roman"/>
                <a:ea typeface="Times New Roman"/>
                <a:cs typeface="Times New Roman"/>
              </a:defRPr>
            </a:pPr>
            <a:r>
              <a:rPr sz="1575" b="1" i="0">
                <a:solidFill>
                  <a:srgbClr val="5B4B7C"/>
                </a:solidFill>
                <a:latin typeface="Times New Roman"/>
                <a:ea typeface="Times New Roman"/>
                <a:cs typeface="Times New Roman"/>
              </a:rPr>
              <a:t>GPT-6 Astra</a:t>
            </a:r>
          </a:p>
        </p:txBody>
      </p:sp>
      <p:sp>
        <p:nvSpPr>
          <p:cNvPr id="11" name="Rectangle 10">
            <a:extLst>
              <a:ext uri="{FF2B5EF4-FFF2-40B4-BE49-F238E27FC236}">
                <a16:creationId xmlns:a16="http://schemas.microsoft.com/office/drawing/2014/main" id="{127F6F18-1298-4922-9195-87FC90F3D4AA}"/>
              </a:ext>
            </a:extLst>
          </p:cNvPr>
          <p:cNvSpPr>
            <a:spLocks noGrp="1"/>
          </p:cNvSpPr>
          <p:nvPr/>
        </p:nvSpPr>
        <p:spPr>
          <a:xfrm>
            <a:off x="8286750" y="5514975"/>
            <a:ext cx="3333750" cy="266700"/>
          </a:xfrm>
          <a:prstGeom prst="rect">
            <a:avLst/>
          </a:prstGeom>
          <a:noFill/>
          <a:ln w="0">
            <a:noFill/>
          </a:ln>
        </p:spPr>
        <p:txBody>
          <a:bodyPr wrap="square" lIns="0" tIns="0" rIns="0" bIns="0" anchor="t"/>
          <a:lstStyle>
            <a:defPPr algn="l">
              <a:defRPr sz="1575" b="1" i="0">
                <a:solidFill>
                  <a:srgbClr val="A50026"/>
                </a:solidFill>
                <a:latin typeface="Times New Roman"/>
                <a:ea typeface="Times New Roman"/>
                <a:cs typeface="Times New Roman"/>
              </a:defRPr>
            </a:defPPr>
          </a:lstStyle>
          <a:p>
            <a:pPr algn="l">
              <a:buNone/>
              <a:defRPr sz="1575" b="1" i="0">
                <a:solidFill>
                  <a:srgbClr val="A50026"/>
                </a:solidFill>
                <a:latin typeface="Times New Roman"/>
                <a:ea typeface="Times New Roman"/>
                <a:cs typeface="Times New Roman"/>
              </a:defRPr>
            </a:pPr>
            <a:r>
              <a:rPr sz="1575" b="1" i="0">
                <a:solidFill>
                  <a:srgbClr val="A50026"/>
                </a:solidFill>
                <a:latin typeface="Times New Roman"/>
                <a:ea typeface="Times New Roman"/>
                <a:cs typeface="Times New Roman"/>
              </a:rPr>
              <a:t>DeepSeek V4.1 Flash</a:t>
            </a:r>
          </a:p>
        </p:txBody>
      </p:sp>
      <p:sp>
        <p:nvSpPr>
          <p:cNvPr id="12" name="Rectangle 11">
            <a:extLst>
              <a:ext uri="{FF2B5EF4-FFF2-40B4-BE49-F238E27FC236}">
                <a16:creationId xmlns:a16="http://schemas.microsoft.com/office/drawing/2014/main" id="{DF91C501-0CBF-49C9-B1B5-425E80660737}"/>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Circle = Low, square = High, triangle = Extra High, diamond = Max. DeepSeek costs are lower bounds.</a:t>
            </a:r>
          </a:p>
        </p:txBody>
      </p:sp>
      <p:sp>
        <p:nvSpPr>
          <p:cNvPr id="14" name="Rectangle 13">
            <a:extLst>
              <a:ext uri="{FF2B5EF4-FFF2-40B4-BE49-F238E27FC236}">
                <a16:creationId xmlns:a16="http://schemas.microsoft.com/office/drawing/2014/main" id="{AF35203A-9693-426E-B845-7C1682EB74D0}"/>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6</a:t>
            </a:r>
          </a:p>
        </p:txBody>
      </p:sp>
    </p:spTree>
    <p:extLst>
      <p:ext uri="{BB962C8B-B14F-4D97-AF65-F5344CB8AC3E}">
        <p14:creationId xmlns:p14="http://schemas.microsoft.com/office/powerpoint/2010/main" val="561225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E65D60F-3D9A-473F-B43E-56E192AFB8D6}"/>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Pareto frontiers with hints</a:t>
            </a:r>
          </a:p>
        </p:txBody>
      </p:sp>
      <p:sp>
        <p:nvSpPr>
          <p:cNvPr id="2" name="Rectangle 1">
            <a:extLst>
              <a:ext uri="{FF2B5EF4-FFF2-40B4-BE49-F238E27FC236}">
                <a16:creationId xmlns:a16="http://schemas.microsoft.com/office/drawing/2014/main" id="{BB2A8970-A62A-4BAA-A955-AC4DE743245E}"/>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No hint, general hint, and physics hint, with reasoning effort fixed at High.</a:t>
            </a:r>
          </a:p>
        </p:txBody>
      </p:sp>
      <p:sp>
        <p:nvSpPr>
          <p:cNvPr id="3" name="Rectangle 2">
            <a:extLst>
              <a:ext uri="{FF2B5EF4-FFF2-40B4-BE49-F238E27FC236}">
                <a16:creationId xmlns:a16="http://schemas.microsoft.com/office/drawing/2014/main" id="{882DF7A5-80DD-4EB6-90D7-50DCDB13DA99}"/>
              </a:ext>
            </a:extLst>
          </p:cNvPr>
          <p:cNvSpPr>
            <a:spLocks noGrp="1"/>
          </p:cNvSpPr>
          <p:nvPr/>
        </p:nvSpPr>
        <p:spPr>
          <a:xfrm>
            <a:off x="457200" y="1781175"/>
            <a:ext cx="11277600" cy="619125"/>
          </a:xfrm>
          <a:prstGeom prst="rect">
            <a:avLst/>
          </a:prstGeom>
          <a:noFill/>
          <a:ln w="0">
            <a:noFill/>
          </a:ln>
        </p:spPr>
        <p:txBody>
          <a:bodyPr wrap="square" lIns="0" tIns="0" rIns="0" bIns="0" anchor="t"/>
          <a:lstStyle>
            <a:defPPr algn="l">
              <a:defRPr sz="2850" b="1">
                <a:solidFill>
                  <a:srgbClr val="444444"/>
                </a:solidFill>
                <a:latin typeface="Times New Roman"/>
                <a:ea typeface="Times New Roman"/>
                <a:cs typeface="Times New Roman"/>
              </a:defRPr>
            </a:defPPr>
          </a:lstStyle>
          <a:p>
            <a:pPr algn="l">
              <a:buNone/>
              <a:defRPr sz="2850" b="1">
                <a:solidFill>
                  <a:srgbClr val="444444"/>
                </a:solidFill>
                <a:latin typeface="Times New Roman"/>
                <a:ea typeface="Times New Roman"/>
                <a:cs typeface="Times New Roman"/>
              </a:defRPr>
            </a:pPr>
            <a:r>
              <a:rPr sz="2850" b="1">
                <a:solidFill>
                  <a:srgbClr val="444444"/>
                </a:solidFill>
                <a:latin typeface="Times New Roman"/>
                <a:ea typeface="Times New Roman"/>
                <a:cs typeface="Times New Roman"/>
              </a:rPr>
              <a:t>Pending completion</a:t>
            </a:r>
          </a:p>
        </p:txBody>
      </p:sp>
      <p:sp>
        <p:nvSpPr>
          <p:cNvPr id="4" name="Rectangle 3">
            <a:extLst>
              <a:ext uri="{FF2B5EF4-FFF2-40B4-BE49-F238E27FC236}">
                <a16:creationId xmlns:a16="http://schemas.microsoft.com/office/drawing/2014/main" id="{1B72F584-5536-4531-A6BC-85D41953B791}"/>
              </a:ext>
            </a:extLst>
          </p:cNvPr>
          <p:cNvSpPr>
            <a:spLocks noGrp="1"/>
          </p:cNvSpPr>
          <p:nvPr/>
        </p:nvSpPr>
        <p:spPr>
          <a:xfrm>
            <a:off x="457200" y="2724150"/>
            <a:ext cx="11277600" cy="457200"/>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buNone/>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Reserved for the completed 3-condition cost–success comparison</a:t>
            </a:r>
          </a:p>
        </p:txBody>
      </p:sp>
      <p:sp>
        <p:nvSpPr>
          <p:cNvPr id="5" name="Rectangle 4">
            <a:extLst>
              <a:ext uri="{FF2B5EF4-FFF2-40B4-BE49-F238E27FC236}">
                <a16:creationId xmlns:a16="http://schemas.microsoft.com/office/drawing/2014/main" id="{7A6FC086-13E3-44A8-8727-98CDE35D2D27}"/>
              </a:ext>
            </a:extLst>
          </p:cNvPr>
          <p:cNvSpPr>
            <a:spLocks noGrp="1"/>
          </p:cNvSpPr>
          <p:nvPr/>
        </p:nvSpPr>
        <p:spPr>
          <a:xfrm>
            <a:off x="457200" y="3438525"/>
            <a:ext cx="11277600" cy="381000"/>
          </a:xfrm>
          <a:prstGeom prst="rect">
            <a:avLst/>
          </a:prstGeom>
          <a:noFill/>
          <a:ln w="0">
            <a:noFill/>
          </a:ln>
        </p:spPr>
        <p:txBody>
          <a:bodyPr wrap="square" lIns="0" tIns="0" rIns="0" bIns="0" anchor="t"/>
          <a:lstStyle>
            <a:defPPr algn="l">
              <a:defRPr sz="2025" b="0">
                <a:solidFill>
                  <a:srgbClr val="444444"/>
                </a:solidFill>
                <a:latin typeface="Times New Roman"/>
                <a:ea typeface="Times New Roman"/>
                <a:cs typeface="Times New Roman"/>
              </a:defRPr>
            </a:defPPr>
          </a:lstStyle>
          <a:p>
            <a:pPr algn="l">
              <a:buNone/>
              <a:defRPr sz="2025" b="0">
                <a:solidFill>
                  <a:srgbClr val="444444"/>
                </a:solidFill>
                <a:latin typeface="Times New Roman"/>
                <a:ea typeface="Times New Roman"/>
                <a:cs typeface="Times New Roman"/>
              </a:defRPr>
            </a:pPr>
            <a:r>
              <a:rPr sz="2025" b="0">
                <a:solidFill>
                  <a:srgbClr val="444444"/>
                </a:solidFill>
                <a:latin typeface="Times New Roman"/>
                <a:ea typeface="Times New Roman"/>
                <a:cs typeface="Times New Roman"/>
              </a:rPr>
              <a:t>GPT-5.6 Luna, GPT-5.6 Terra, DeepSeek V4.1 Flash</a:t>
            </a:r>
          </a:p>
        </p:txBody>
      </p:sp>
      <p:sp>
        <p:nvSpPr>
          <p:cNvPr id="6" name="Rectangle 5">
            <a:extLst>
              <a:ext uri="{FF2B5EF4-FFF2-40B4-BE49-F238E27FC236}">
                <a16:creationId xmlns:a16="http://schemas.microsoft.com/office/drawing/2014/main" id="{11C8BC45-6F3D-40F6-B47C-B66176413D4C}"/>
              </a:ext>
            </a:extLst>
          </p:cNvPr>
          <p:cNvSpPr>
            <a:spLocks noGrp="1"/>
          </p:cNvSpPr>
          <p:nvPr/>
        </p:nvSpPr>
        <p:spPr>
          <a:xfrm>
            <a:off x="457200" y="4038600"/>
            <a:ext cx="11277600" cy="381000"/>
          </a:xfrm>
          <a:prstGeom prst="rect">
            <a:avLst/>
          </a:prstGeom>
          <a:noFill/>
          <a:ln w="0">
            <a:noFill/>
          </a:ln>
        </p:spPr>
        <p:txBody>
          <a:bodyPr wrap="square" lIns="0" tIns="0" rIns="0" bIns="0" anchor="t"/>
          <a:lstStyle>
            <a:defPPr algn="l">
              <a:defRPr sz="2025" b="0">
                <a:solidFill>
                  <a:srgbClr val="444444"/>
                </a:solidFill>
                <a:latin typeface="Times New Roman"/>
                <a:ea typeface="Times New Roman"/>
                <a:cs typeface="Times New Roman"/>
              </a:defRPr>
            </a:defPPr>
          </a:lstStyle>
          <a:p>
            <a:pPr algn="l">
              <a:buNone/>
              <a:defRPr sz="2025" b="0">
                <a:solidFill>
                  <a:srgbClr val="444444"/>
                </a:solidFill>
                <a:latin typeface="Times New Roman"/>
                <a:ea typeface="Times New Roman"/>
                <a:cs typeface="Times New Roman"/>
              </a:defRPr>
            </a:pPr>
            <a:r>
              <a:rPr sz="2025" b="0">
                <a:solidFill>
                  <a:srgbClr val="444444"/>
                </a:solidFill>
                <a:latin typeface="Times New Roman"/>
                <a:ea typeface="Times New Roman"/>
                <a:cs typeface="Times New Roman"/>
              </a:rPr>
              <a:t>39 observations per model and prompt condition</a:t>
            </a:r>
          </a:p>
        </p:txBody>
      </p:sp>
      <p:sp>
        <p:nvSpPr>
          <p:cNvPr id="7" name="Rectangle 6">
            <a:extLst>
              <a:ext uri="{FF2B5EF4-FFF2-40B4-BE49-F238E27FC236}">
                <a16:creationId xmlns:a16="http://schemas.microsoft.com/office/drawing/2014/main" id="{1E20C6EE-0907-4B72-A1FB-E1DC4A1AB8A8}"/>
              </a:ext>
            </a:extLst>
          </p:cNvPr>
          <p:cNvSpPr>
            <a:spLocks noGrp="1"/>
          </p:cNvSpPr>
          <p:nvPr/>
        </p:nvSpPr>
        <p:spPr>
          <a:xfrm>
            <a:off x="457200" y="5076825"/>
            <a:ext cx="11277600" cy="457200"/>
          </a:xfrm>
          <a:prstGeom prst="rect">
            <a:avLst/>
          </a:prstGeom>
          <a:noFill/>
          <a:ln w="0">
            <a:noFill/>
          </a:ln>
        </p:spPr>
        <p:txBody>
          <a:bodyPr wrap="square" lIns="0" tIns="0" rIns="0" bIns="0" anchor="t"/>
          <a:lstStyle>
            <a:defPPr algn="l">
              <a:defRPr sz="2025" b="0">
                <a:solidFill>
                  <a:srgbClr val="1D4E89"/>
                </a:solidFill>
                <a:latin typeface="Times New Roman"/>
                <a:ea typeface="Times New Roman"/>
                <a:cs typeface="Times New Roman"/>
              </a:defRPr>
            </a:defPPr>
          </a:lstStyle>
          <a:p>
            <a:pPr algn="l">
              <a:buNone/>
              <a:defRPr sz="2025" b="0">
                <a:solidFill>
                  <a:srgbClr val="1D4E89"/>
                </a:solidFill>
                <a:latin typeface="Times New Roman"/>
                <a:ea typeface="Times New Roman"/>
                <a:cs typeface="Times New Roman"/>
              </a:defRPr>
            </a:pPr>
            <a:r>
              <a:rPr sz="2025" b="0">
                <a:solidFill>
                  <a:srgbClr val="1D4E89"/>
                </a:solidFill>
                <a:latin typeface="Times New Roman"/>
                <a:ea typeface="Times New Roman"/>
                <a:cs typeface="Times New Roman"/>
              </a:rPr>
              <a:t>The final plot will compare these conditions within this cohort.</a:t>
            </a:r>
          </a:p>
        </p:txBody>
      </p:sp>
      <p:sp>
        <p:nvSpPr>
          <p:cNvPr id="8" name="Rectangle 7">
            <a:extLst>
              <a:ext uri="{FF2B5EF4-FFF2-40B4-BE49-F238E27FC236}">
                <a16:creationId xmlns:a16="http://schemas.microsoft.com/office/drawing/2014/main" id="{9E6160E5-E91E-4322-B158-E88404567319}"/>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Results stay blank until all 351 observations and cost records are audited. Historical Luna controls limit causal interpretation.</a:t>
            </a:r>
          </a:p>
        </p:txBody>
      </p:sp>
      <p:sp>
        <p:nvSpPr>
          <p:cNvPr id="11" name="Rectangle 10">
            <a:extLst>
              <a:ext uri="{FF2B5EF4-FFF2-40B4-BE49-F238E27FC236}">
                <a16:creationId xmlns:a16="http://schemas.microsoft.com/office/drawing/2014/main" id="{A89DB174-5723-4BC6-B6E4-3168941A4785}"/>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7</a:t>
            </a:r>
          </a:p>
        </p:txBody>
      </p:sp>
    </p:spTree>
    <p:extLst>
      <p:ext uri="{BB962C8B-B14F-4D97-AF65-F5344CB8AC3E}">
        <p14:creationId xmlns:p14="http://schemas.microsoft.com/office/powerpoint/2010/main" val="1129388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5CB2C6E-7277-4057-92F4-D20AB1351AFD}"/>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Fixed model, different reasoning effort</a:t>
            </a:r>
          </a:p>
        </p:txBody>
      </p:sp>
      <p:sp>
        <p:nvSpPr>
          <p:cNvPr id="2" name="Rectangle 1">
            <a:extLst>
              <a:ext uri="{FF2B5EF4-FFF2-40B4-BE49-F238E27FC236}">
                <a16:creationId xmlns:a16="http://schemas.microsoft.com/office/drawing/2014/main" id="{6CDF1242-97DD-416C-80CD-7C84872B5567}"/>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Completed passes out of 39, with model and task suite held fixed.</a:t>
            </a:r>
          </a:p>
        </p:txBody>
      </p:sp>
      <p:graphicFrame>
        <p:nvGraphicFramePr>
          <p:cNvPr id="4" name="Chart">
            <a:extLst>
              <a:ext uri="{FF2B5EF4-FFF2-40B4-BE49-F238E27FC236}">
                <a16:creationId xmlns:a16="http://schemas.microsoft.com/office/drawing/2014/main" id="{4CC0D913-3562-4FF9-8CEE-FB33B14A2A4A}"/>
              </a:ext>
            </a:extLst>
          </p:cNvPr>
          <p:cNvGraphicFramePr/>
          <p:nvPr/>
        </p:nvGraphicFramePr>
        <p:xfrm>
          <a:off x="457200" y="1581150"/>
          <a:ext cx="7810500" cy="41719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780A35DB-01C4-4099-A34A-DEB48391A03B}"/>
              </a:ext>
            </a:extLst>
          </p:cNvPr>
          <p:cNvSpPr>
            <a:spLocks noGrp="1"/>
          </p:cNvSpPr>
          <p:nvPr/>
        </p:nvSpPr>
        <p:spPr>
          <a:xfrm>
            <a:off x="8763000" y="2038350"/>
            <a:ext cx="2952750" cy="342900"/>
          </a:xfrm>
          <a:prstGeom prst="rect">
            <a:avLst/>
          </a:prstGeom>
          <a:noFill/>
          <a:ln w="0">
            <a:noFill/>
          </a:ln>
        </p:spPr>
        <p:txBody>
          <a:bodyPr wrap="square" lIns="0" tIns="0" rIns="0" bIns="0" anchor="t"/>
          <a:lstStyle>
            <a:defPPr algn="l">
              <a:defRPr sz="2025" b="1" i="0">
                <a:solidFill>
                  <a:srgbClr val="B45309"/>
                </a:solidFill>
                <a:latin typeface="Times New Roman"/>
                <a:ea typeface="Times New Roman"/>
                <a:cs typeface="Times New Roman"/>
              </a:defRPr>
            </a:defPPr>
          </a:lstStyle>
          <a:p>
            <a:pPr algn="l">
              <a:buNone/>
              <a:defRPr sz="2025" b="1" i="0">
                <a:solidFill>
                  <a:srgbClr val="B45309"/>
                </a:solidFill>
                <a:latin typeface="Times New Roman"/>
                <a:ea typeface="Times New Roman"/>
                <a:cs typeface="Times New Roman"/>
              </a:defRPr>
            </a:pPr>
            <a:r>
              <a:rPr sz="2025" b="1" i="0">
                <a:solidFill>
                  <a:srgbClr val="B45309"/>
                </a:solidFill>
                <a:latin typeface="Times New Roman"/>
                <a:ea typeface="Times New Roman"/>
                <a:cs typeface="Times New Roman"/>
              </a:rPr>
              <a:t>Terra 5.6</a:t>
            </a:r>
          </a:p>
        </p:txBody>
      </p:sp>
      <p:sp>
        <p:nvSpPr>
          <p:cNvPr id="6" name="Rectangle 5">
            <a:extLst>
              <a:ext uri="{FF2B5EF4-FFF2-40B4-BE49-F238E27FC236}">
                <a16:creationId xmlns:a16="http://schemas.microsoft.com/office/drawing/2014/main" id="{FAB21FD1-8149-49A1-B62D-20549B8C274F}"/>
              </a:ext>
            </a:extLst>
          </p:cNvPr>
          <p:cNvSpPr>
            <a:spLocks noGrp="1"/>
          </p:cNvSpPr>
          <p:nvPr/>
        </p:nvSpPr>
        <p:spPr>
          <a:xfrm>
            <a:off x="8763000" y="2476500"/>
            <a:ext cx="2952750" cy="590550"/>
          </a:xfrm>
          <a:prstGeom prst="rect">
            <a:avLst/>
          </a:prstGeom>
          <a:noFill/>
          <a:ln w="0">
            <a:noFill/>
          </a:ln>
        </p:spPr>
        <p:txBody>
          <a:bodyPr wrap="square" lIns="0" tIns="0" rIns="0" bIns="0" anchor="t"/>
          <a:lstStyle>
            <a:defPPr algn="l">
              <a:defRPr sz="2025" b="0" i="0">
                <a:solidFill>
                  <a:srgbClr val="111111"/>
                </a:solidFill>
                <a:latin typeface="Times New Roman"/>
                <a:ea typeface="Times New Roman"/>
                <a:cs typeface="Times New Roman"/>
              </a:defRPr>
            </a:defPPr>
          </a:lstStyle>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4, 9, 19 passes</a:t>
            </a:r>
          </a:p>
        </p:txBody>
      </p:sp>
      <p:sp>
        <p:nvSpPr>
          <p:cNvPr id="7" name="Rectangle 6">
            <a:extLst>
              <a:ext uri="{FF2B5EF4-FFF2-40B4-BE49-F238E27FC236}">
                <a16:creationId xmlns:a16="http://schemas.microsoft.com/office/drawing/2014/main" id="{EF64A771-CEEB-4F4B-8604-6CBD810FF994}"/>
              </a:ext>
            </a:extLst>
          </p:cNvPr>
          <p:cNvSpPr>
            <a:spLocks noGrp="1"/>
          </p:cNvSpPr>
          <p:nvPr/>
        </p:nvSpPr>
        <p:spPr>
          <a:xfrm>
            <a:off x="8763000" y="3457575"/>
            <a:ext cx="2952750" cy="666750"/>
          </a:xfrm>
          <a:prstGeom prst="rect">
            <a:avLst/>
          </a:prstGeom>
          <a:noFill/>
          <a:ln w="0">
            <a:noFill/>
          </a:ln>
        </p:spPr>
        <p:txBody>
          <a:bodyPr wrap="square" lIns="0" tIns="0" rIns="0" bIns="0" anchor="t"/>
          <a:lstStyle>
            <a:defPPr algn="l">
              <a:defRPr sz="2025" b="1" i="0">
                <a:solidFill>
                  <a:srgbClr val="5B4B7C"/>
                </a:solidFill>
                <a:latin typeface="Times New Roman"/>
                <a:ea typeface="Times New Roman"/>
                <a:cs typeface="Times New Roman"/>
              </a:defRPr>
            </a:defPPr>
          </a:lstStyle>
          <a:p>
            <a:pPr algn="l">
              <a:buNone/>
              <a:defRPr sz="2025" b="1" i="0">
                <a:solidFill>
                  <a:srgbClr val="5B4B7C"/>
                </a:solidFill>
                <a:latin typeface="Times New Roman"/>
                <a:ea typeface="Times New Roman"/>
                <a:cs typeface="Times New Roman"/>
              </a:defRPr>
            </a:pPr>
            <a:r>
              <a:rPr sz="2025" b="1" i="0">
                <a:solidFill>
                  <a:srgbClr val="5B4B7C"/>
                </a:solidFill>
                <a:latin typeface="Times New Roman"/>
                <a:ea typeface="Times New Roman"/>
                <a:cs typeface="Times New Roman"/>
              </a:rPr>
              <a:t>Astra Extra High</a:t>
            </a:r>
          </a:p>
        </p:txBody>
      </p:sp>
      <p:sp>
        <p:nvSpPr>
          <p:cNvPr id="8" name="Rectangle 7">
            <a:extLst>
              <a:ext uri="{FF2B5EF4-FFF2-40B4-BE49-F238E27FC236}">
                <a16:creationId xmlns:a16="http://schemas.microsoft.com/office/drawing/2014/main" id="{AB07E48E-D3EB-4329-B686-D24EFD20298E}"/>
              </a:ext>
            </a:extLst>
          </p:cNvPr>
          <p:cNvSpPr>
            <a:spLocks noGrp="1"/>
          </p:cNvSpPr>
          <p:nvPr/>
        </p:nvSpPr>
        <p:spPr>
          <a:xfrm>
            <a:off x="8763000" y="4229100"/>
            <a:ext cx="2952750" cy="914400"/>
          </a:xfrm>
          <a:prstGeom prst="rect">
            <a:avLst/>
          </a:prstGeom>
          <a:noFill/>
          <a:ln w="0">
            <a:noFill/>
          </a:ln>
        </p:spPr>
        <p:txBody>
          <a:bodyPr wrap="square" lIns="0" tIns="0" rIns="0" bIns="0" anchor="t"/>
          <a:lstStyle>
            <a:defPPr algn="l">
              <a:defRPr sz="1875" b="0" i="0">
                <a:solidFill>
                  <a:srgbClr val="111111"/>
                </a:solidFill>
                <a:latin typeface="Times New Roman"/>
                <a:ea typeface="Times New Roman"/>
                <a:cs typeface="Times New Roman"/>
              </a:defRPr>
            </a:defPPr>
          </a:lstStyle>
          <a:p>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2 timeouts</a:t>
            </a:r>
          </a:p>
          <a:p>
            <a:pPr algn="l">
              <a:buNone/>
              <a:defRPr sz="1875" b="0" i="0">
                <a:solidFill>
                  <a:srgbClr val="111111"/>
                </a:solidFill>
                <a:latin typeface="Times New Roman"/>
                <a:ea typeface="Times New Roman"/>
                <a:cs typeface="Times New Roman"/>
              </a:defRPr>
            </a:pPr>
            <a:r>
              <a:rPr sz="1875" b="0" i="0">
                <a:solidFill>
                  <a:srgbClr val="111111"/>
                </a:solidFill>
                <a:latin typeface="Times New Roman"/>
                <a:ea typeface="Times New Roman"/>
                <a:cs typeface="Times New Roman"/>
              </a:rPr>
              <a:t>Both checkpoints passed</a:t>
            </a:r>
          </a:p>
        </p:txBody>
      </p:sp>
      <p:sp>
        <p:nvSpPr>
          <p:cNvPr id="9" name="Rectangle 8">
            <a:extLst>
              <a:ext uri="{FF2B5EF4-FFF2-40B4-BE49-F238E27FC236}">
                <a16:creationId xmlns:a16="http://schemas.microsoft.com/office/drawing/2014/main" id="{E3C707DE-9EBF-46C9-AF4D-C458D0B24515}"/>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Descriptive comparison on selected tasks. High reuses earlier observations. Timeout checkpoints do not count as completed passes.</a:t>
            </a:r>
          </a:p>
        </p:txBody>
      </p:sp>
      <p:sp>
        <p:nvSpPr>
          <p:cNvPr id="11" name="Rectangle 10">
            <a:extLst>
              <a:ext uri="{FF2B5EF4-FFF2-40B4-BE49-F238E27FC236}">
                <a16:creationId xmlns:a16="http://schemas.microsoft.com/office/drawing/2014/main" id="{AC0F4F45-8F61-4F0B-B49A-D041E976FA43}"/>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8</a:t>
            </a:r>
          </a:p>
        </p:txBody>
      </p:sp>
    </p:spTree>
    <p:extLst>
      <p:ext uri="{BB962C8B-B14F-4D97-AF65-F5344CB8AC3E}">
        <p14:creationId xmlns:p14="http://schemas.microsoft.com/office/powerpoint/2010/main" val="848171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C3A8EB5-DDCE-49F7-85D1-7223D386B087}"/>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Where the agents fail</a:t>
            </a:r>
          </a:p>
        </p:txBody>
      </p:sp>
      <p:sp>
        <p:nvSpPr>
          <p:cNvPr id="2" name="Rectangle 1">
            <a:extLst>
              <a:ext uri="{FF2B5EF4-FFF2-40B4-BE49-F238E27FC236}">
                <a16:creationId xmlns:a16="http://schemas.microsoft.com/office/drawing/2014/main" id="{B49328EB-D8A5-451B-869F-8FD13B246D88}"/>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585 no-hint attempts. Saved actions, submitted code, and verifier results separate the failure types.</a:t>
            </a:r>
          </a:p>
        </p:txBody>
      </p:sp>
      <p:graphicFrame>
        <p:nvGraphicFramePr>
          <p:cNvPr id="4" name="Chart">
            <a:extLst>
              <a:ext uri="{FF2B5EF4-FFF2-40B4-BE49-F238E27FC236}">
                <a16:creationId xmlns:a16="http://schemas.microsoft.com/office/drawing/2014/main" id="{CA365D2D-7A1E-4B00-BEA7-E46852CD6594}"/>
              </a:ext>
            </a:extLst>
          </p:cNvPr>
          <p:cNvGraphicFramePr/>
          <p:nvPr/>
        </p:nvGraphicFramePr>
        <p:xfrm>
          <a:off x="457200" y="1581150"/>
          <a:ext cx="7810500" cy="417195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F2D96288-71B3-4E25-9F6C-1BB5F3E6CB1A}"/>
              </a:ext>
            </a:extLst>
          </p:cNvPr>
          <p:cNvSpPr>
            <a:spLocks noGrp="1"/>
          </p:cNvSpPr>
          <p:nvPr/>
        </p:nvSpPr>
        <p:spPr>
          <a:xfrm>
            <a:off x="8648700" y="1943100"/>
            <a:ext cx="3086100" cy="619125"/>
          </a:xfrm>
          <a:prstGeom prst="rect">
            <a:avLst/>
          </a:prstGeom>
          <a:noFill/>
          <a:ln w="0">
            <a:noFill/>
          </a:ln>
        </p:spPr>
        <p:txBody>
          <a:bodyPr wrap="square" lIns="0" tIns="0" rIns="0" bIns="0" anchor="t"/>
          <a:lstStyle>
            <a:defPPr algn="l">
              <a:defRPr sz="3750" b="1" i="0">
                <a:solidFill>
                  <a:srgbClr val="B45309"/>
                </a:solidFill>
                <a:latin typeface="Times New Roman"/>
                <a:ea typeface="Times New Roman"/>
                <a:cs typeface="Times New Roman"/>
              </a:defRPr>
            </a:defPPr>
          </a:lstStyle>
          <a:p>
            <a:pPr algn="l">
              <a:buNone/>
              <a:defRPr sz="3750" b="1" i="0">
                <a:solidFill>
                  <a:srgbClr val="B45309"/>
                </a:solidFill>
                <a:latin typeface="Times New Roman"/>
                <a:ea typeface="Times New Roman"/>
                <a:cs typeface="Times New Roman"/>
              </a:defRPr>
            </a:pPr>
            <a:r>
              <a:rPr sz="3750" b="1" i="0">
                <a:solidFill>
                  <a:srgbClr val="B45309"/>
                </a:solidFill>
                <a:latin typeface="Times New Roman"/>
                <a:ea typeface="Times New Roman"/>
                <a:cs typeface="Times New Roman"/>
              </a:rPr>
              <a:t>186 / 191</a:t>
            </a:r>
          </a:p>
        </p:txBody>
      </p:sp>
      <p:sp>
        <p:nvSpPr>
          <p:cNvPr id="6" name="Rectangle 5">
            <a:extLst>
              <a:ext uri="{FF2B5EF4-FFF2-40B4-BE49-F238E27FC236}">
                <a16:creationId xmlns:a16="http://schemas.microsoft.com/office/drawing/2014/main" id="{332E1CDF-1E53-48FC-875C-1D23408D90FF}"/>
              </a:ext>
            </a:extLst>
          </p:cNvPr>
          <p:cNvSpPr>
            <a:spLocks noGrp="1"/>
          </p:cNvSpPr>
          <p:nvPr/>
        </p:nvSpPr>
        <p:spPr>
          <a:xfrm>
            <a:off x="8648700" y="2638425"/>
            <a:ext cx="3086100" cy="857250"/>
          </a:xfrm>
          <a:prstGeom prst="rect">
            <a:avLst/>
          </a:prstGeom>
          <a:noFill/>
          <a:ln w="0">
            <a:noFill/>
          </a:ln>
        </p:spPr>
        <p:txBody>
          <a:bodyPr wrap="square" lIns="0" tIns="0" rIns="0" bIns="0" anchor="t"/>
          <a:lstStyle>
            <a:defPPr algn="l">
              <a:defRPr sz="2025" b="0" i="0">
                <a:solidFill>
                  <a:srgbClr val="111111"/>
                </a:solidFill>
                <a:latin typeface="Times New Roman"/>
                <a:ea typeface="Times New Roman"/>
                <a:cs typeface="Times New Roman"/>
              </a:defRPr>
            </a:defPPr>
          </a:lstStyle>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Normally completed failures</a:t>
            </a:r>
          </a:p>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failed only hidden predictions</a:t>
            </a:r>
          </a:p>
        </p:txBody>
      </p:sp>
      <p:sp>
        <p:nvSpPr>
          <p:cNvPr id="7" name="Rectangle 6">
            <a:extLst>
              <a:ext uri="{FF2B5EF4-FFF2-40B4-BE49-F238E27FC236}">
                <a16:creationId xmlns:a16="http://schemas.microsoft.com/office/drawing/2014/main" id="{12C4D2AB-7951-41B3-8FE2-A2005C68A079}"/>
              </a:ext>
            </a:extLst>
          </p:cNvPr>
          <p:cNvSpPr>
            <a:spLocks noGrp="1"/>
          </p:cNvSpPr>
          <p:nvPr/>
        </p:nvSpPr>
        <p:spPr>
          <a:xfrm>
            <a:off x="8648700" y="3848100"/>
            <a:ext cx="3086100" cy="619125"/>
          </a:xfrm>
          <a:prstGeom prst="rect">
            <a:avLst/>
          </a:prstGeom>
          <a:noFill/>
          <a:ln w="0">
            <a:noFill/>
          </a:ln>
        </p:spPr>
        <p:txBody>
          <a:bodyPr wrap="square" lIns="0" tIns="0" rIns="0" bIns="0" anchor="t"/>
          <a:lstStyle>
            <a:defPPr algn="l">
              <a:defRPr sz="3750" b="1" i="0">
                <a:solidFill>
                  <a:srgbClr val="A50026"/>
                </a:solidFill>
                <a:latin typeface="Times New Roman"/>
                <a:ea typeface="Times New Roman"/>
                <a:cs typeface="Times New Roman"/>
              </a:defRPr>
            </a:defPPr>
          </a:lstStyle>
          <a:p>
            <a:pPr algn="l">
              <a:buNone/>
              <a:defRPr sz="3750" b="1" i="0">
                <a:solidFill>
                  <a:srgbClr val="A50026"/>
                </a:solidFill>
                <a:latin typeface="Times New Roman"/>
                <a:ea typeface="Times New Roman"/>
                <a:cs typeface="Times New Roman"/>
              </a:defRPr>
            </a:pPr>
            <a:r>
              <a:rPr sz="3750" b="1" i="0">
                <a:solidFill>
                  <a:srgbClr val="A50026"/>
                </a:solidFill>
                <a:latin typeface="Times New Roman"/>
                <a:ea typeface="Times New Roman"/>
                <a:cs typeface="Times New Roman"/>
              </a:rPr>
              <a:t>105 / 117</a:t>
            </a:r>
          </a:p>
        </p:txBody>
      </p:sp>
      <p:sp>
        <p:nvSpPr>
          <p:cNvPr id="8" name="Rectangle 7">
            <a:extLst>
              <a:ext uri="{FF2B5EF4-FFF2-40B4-BE49-F238E27FC236}">
                <a16:creationId xmlns:a16="http://schemas.microsoft.com/office/drawing/2014/main" id="{1BC68402-3368-46B8-ADCC-4D87B60E3C86}"/>
              </a:ext>
            </a:extLst>
          </p:cNvPr>
          <p:cNvSpPr>
            <a:spLocks noGrp="1"/>
          </p:cNvSpPr>
          <p:nvPr/>
        </p:nvSpPr>
        <p:spPr>
          <a:xfrm>
            <a:off x="8648700" y="4543425"/>
            <a:ext cx="3086100" cy="762000"/>
          </a:xfrm>
          <a:prstGeom prst="rect">
            <a:avLst/>
          </a:prstGeom>
          <a:noFill/>
          <a:ln w="0">
            <a:noFill/>
          </a:ln>
        </p:spPr>
        <p:txBody>
          <a:bodyPr wrap="square" lIns="0" tIns="0" rIns="0" bIns="0" anchor="t"/>
          <a:lstStyle>
            <a:defPPr algn="l">
              <a:defRPr sz="2025" b="0" i="0">
                <a:solidFill>
                  <a:srgbClr val="111111"/>
                </a:solidFill>
                <a:latin typeface="Times New Roman"/>
                <a:ea typeface="Times New Roman"/>
                <a:cs typeface="Times New Roman"/>
              </a:defRPr>
            </a:defPPr>
          </a:lstStyle>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DeepSeek attempts ended</a:t>
            </a:r>
          </a:p>
          <a:p>
            <a:pPr algn="l">
              <a:buNone/>
              <a:defRPr sz="2025" b="0" i="0">
                <a:solidFill>
                  <a:srgbClr val="111111"/>
                </a:solidFill>
                <a:latin typeface="Times New Roman"/>
                <a:ea typeface="Times New Roman"/>
                <a:cs typeface="Times New Roman"/>
              </a:defRPr>
            </a:pPr>
            <a:r>
              <a:rPr sz="2025" b="0" i="0">
                <a:solidFill>
                  <a:srgbClr val="111111"/>
                </a:solidFill>
                <a:latin typeface="Times New Roman"/>
                <a:ea typeface="Times New Roman"/>
                <a:cs typeface="Times New Roman"/>
              </a:rPr>
              <a:t>with execution errors</a:t>
            </a:r>
          </a:p>
        </p:txBody>
      </p:sp>
      <p:sp>
        <p:nvSpPr>
          <p:cNvPr id="9" name="Rectangle 8">
            <a:extLst>
              <a:ext uri="{FF2B5EF4-FFF2-40B4-BE49-F238E27FC236}">
                <a16:creationId xmlns:a16="http://schemas.microsoft.com/office/drawing/2014/main" id="{F966C5D2-2C0D-49CA-82C3-5166CF87B915}"/>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At least 141 of the 186 prediction-only failures show public-test passes. Errors alone do not establish a physics mistake.</a:t>
            </a:r>
          </a:p>
        </p:txBody>
      </p:sp>
      <p:sp>
        <p:nvSpPr>
          <p:cNvPr id="11" name="Rectangle 10">
            <a:extLst>
              <a:ext uri="{FF2B5EF4-FFF2-40B4-BE49-F238E27FC236}">
                <a16:creationId xmlns:a16="http://schemas.microsoft.com/office/drawing/2014/main" id="{3979B510-2B14-4E4E-9F9A-06C4CBB61403}"/>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9</a:t>
            </a:r>
          </a:p>
        </p:txBody>
      </p:sp>
    </p:spTree>
    <p:extLst>
      <p:ext uri="{BB962C8B-B14F-4D97-AF65-F5344CB8AC3E}">
        <p14:creationId xmlns:p14="http://schemas.microsoft.com/office/powerpoint/2010/main" val="59164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188BF787-8096-4C2A-88D4-72B59C3957F8}"/>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Why the agent failed on the bead task</a:t>
            </a:r>
          </a:p>
        </p:txBody>
      </p:sp>
      <p:sp>
        <p:nvSpPr>
          <p:cNvPr id="2" name="Rectangle 1">
            <a:extLst>
              <a:ext uri="{FF2B5EF4-FFF2-40B4-BE49-F238E27FC236}">
                <a16:creationId xmlns:a16="http://schemas.microsoft.com/office/drawing/2014/main" id="{90E0191D-DC24-4A27-8C1D-B6CD527F23A6}"/>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GPT-5.6 Terra High, no hint</a:t>
            </a:r>
          </a:p>
        </p:txBody>
      </p:sp>
      <p:sp>
        <p:nvSpPr>
          <p:cNvPr id="3" name="Rectangle 2">
            <a:extLst>
              <a:ext uri="{FF2B5EF4-FFF2-40B4-BE49-F238E27FC236}">
                <a16:creationId xmlns:a16="http://schemas.microsoft.com/office/drawing/2014/main" id="{AD1C196F-EF25-4184-B114-2530E3410410}"/>
              </a:ext>
            </a:extLst>
          </p:cNvPr>
          <p:cNvSpPr>
            <a:spLocks noGrp="1"/>
          </p:cNvSpPr>
          <p:nvPr/>
        </p:nvSpPr>
        <p:spPr>
          <a:xfrm>
            <a:off x="457200" y="1628775"/>
            <a:ext cx="5467350" cy="342900"/>
          </a:xfrm>
          <a:prstGeom prst="rect">
            <a:avLst/>
          </a:prstGeom>
          <a:noFill/>
          <a:ln w="0">
            <a:noFill/>
          </a:ln>
        </p:spPr>
        <p:txBody>
          <a:bodyPr wrap="square" lIns="0" tIns="0" rIns="0" bIns="0" anchor="t"/>
          <a:lstStyle>
            <a:defPPr algn="ctr">
              <a:defRPr sz="2100" b="1">
                <a:solidFill>
                  <a:srgbClr val="111111"/>
                </a:solidFill>
                <a:latin typeface="Times New Roman"/>
                <a:ea typeface="Times New Roman"/>
                <a:cs typeface="Times New Roman"/>
              </a:defRPr>
            </a:defPPr>
          </a:lstStyle>
          <a:p>
            <a:pPr algn="ctr">
              <a:defRPr sz="2100" b="1">
                <a:solidFill>
                  <a:srgbClr val="111111"/>
                </a:solidFill>
                <a:latin typeface="Times New Roman"/>
                <a:ea typeface="Times New Roman"/>
                <a:cs typeface="Times New Roman"/>
              </a:defRPr>
            </a:pPr>
            <a:r>
              <a:rPr sz="2100" b="1">
                <a:solidFill>
                  <a:srgbClr val="111111"/>
                </a:solidFill>
                <a:latin typeface="Times New Roman"/>
                <a:ea typeface="Times New Roman"/>
                <a:cs typeface="Times New Roman"/>
              </a:rPr>
              <a:t>Same evenly spaced start</a:t>
            </a:r>
          </a:p>
        </p:txBody>
      </p:sp>
      <p:sp>
        <p:nvSpPr>
          <p:cNvPr id="4" name="Rectangle 3">
            <a:extLst>
              <a:ext uri="{FF2B5EF4-FFF2-40B4-BE49-F238E27FC236}">
                <a16:creationId xmlns:a16="http://schemas.microsoft.com/office/drawing/2014/main" id="{6CB97F0B-14D1-45A5-8F9B-88A5CA265AC7}"/>
              </a:ext>
            </a:extLst>
          </p:cNvPr>
          <p:cNvSpPr>
            <a:spLocks noGrp="1"/>
          </p:cNvSpPr>
          <p:nvPr/>
        </p:nvSpPr>
        <p:spPr>
          <a:xfrm>
            <a:off x="2038350" y="2095500"/>
            <a:ext cx="2305050" cy="19050"/>
          </a:xfrm>
          <a:prstGeom prst="rect">
            <a:avLst/>
          </a:prstGeom>
          <a:solidFill>
            <a:srgbClr val="777777"/>
          </a:solidFill>
          <a:ln w="0">
            <a:noFill/>
          </a:ln>
        </p:spPr>
        <p:txBody>
          <a:bodyPr/>
          <a:lstStyle/>
          <a:p>
            <a:endParaRPr lang="en-US"/>
          </a:p>
        </p:txBody>
      </p:sp>
      <p:sp>
        <p:nvSpPr>
          <p:cNvPr id="5" name="Rectangle 4">
            <a:extLst>
              <a:ext uri="{FF2B5EF4-FFF2-40B4-BE49-F238E27FC236}">
                <a16:creationId xmlns:a16="http://schemas.microsoft.com/office/drawing/2014/main" id="{A2592DAE-900F-479B-A890-400A518A5C35}"/>
              </a:ext>
            </a:extLst>
          </p:cNvPr>
          <p:cNvSpPr>
            <a:spLocks noGrp="1"/>
          </p:cNvSpPr>
          <p:nvPr/>
        </p:nvSpPr>
        <p:spPr>
          <a:xfrm>
            <a:off x="2038350" y="2609850"/>
            <a:ext cx="2305050" cy="19050"/>
          </a:xfrm>
          <a:prstGeom prst="rect">
            <a:avLst/>
          </a:prstGeom>
          <a:solidFill>
            <a:srgbClr val="777777"/>
          </a:solidFill>
          <a:ln w="0">
            <a:noFill/>
          </a:ln>
        </p:spPr>
        <p:txBody>
          <a:bodyPr/>
          <a:lstStyle/>
          <a:p>
            <a:endParaRPr lang="en-US"/>
          </a:p>
        </p:txBody>
      </p:sp>
      <p:sp>
        <p:nvSpPr>
          <p:cNvPr id="6" name="Oval 5">
            <a:extLst>
              <a:ext uri="{FF2B5EF4-FFF2-40B4-BE49-F238E27FC236}">
                <a16:creationId xmlns:a16="http://schemas.microsoft.com/office/drawing/2014/main" id="{4AEFC1F5-B00A-442B-A9CB-59FA4BA6930E}"/>
              </a:ext>
            </a:extLst>
          </p:cNvPr>
          <p:cNvSpPr>
            <a:spLocks noGrp="1"/>
          </p:cNvSpPr>
          <p:nvPr/>
        </p:nvSpPr>
        <p:spPr>
          <a:xfrm>
            <a:off x="2133600" y="2238375"/>
            <a:ext cx="228600" cy="228600"/>
          </a:xfrm>
          <a:prstGeom prst="ellipse">
            <a:avLst/>
          </a:prstGeom>
          <a:solidFill>
            <a:srgbClr val="E8ECEF"/>
          </a:solidFill>
          <a:ln w="15240">
            <a:solidFill>
              <a:srgbClr val="777777"/>
            </a:solidFill>
            <a:prstDash val="solid"/>
          </a:ln>
        </p:spPr>
        <p:txBody>
          <a:bodyPr/>
          <a:lstStyle/>
          <a:p>
            <a:endParaRPr lang="en-US"/>
          </a:p>
        </p:txBody>
      </p:sp>
      <p:sp>
        <p:nvSpPr>
          <p:cNvPr id="7" name="Oval 6">
            <a:extLst>
              <a:ext uri="{FF2B5EF4-FFF2-40B4-BE49-F238E27FC236}">
                <a16:creationId xmlns:a16="http://schemas.microsoft.com/office/drawing/2014/main" id="{C59E5C55-848C-42F8-8543-5E83EBE4790C}"/>
              </a:ext>
            </a:extLst>
          </p:cNvPr>
          <p:cNvSpPr>
            <a:spLocks noGrp="1"/>
          </p:cNvSpPr>
          <p:nvPr/>
        </p:nvSpPr>
        <p:spPr>
          <a:xfrm>
            <a:off x="2505075" y="2238375"/>
            <a:ext cx="228600" cy="228600"/>
          </a:xfrm>
          <a:prstGeom prst="ellipse">
            <a:avLst/>
          </a:prstGeom>
          <a:solidFill>
            <a:srgbClr val="E8ECEF"/>
          </a:solidFill>
          <a:ln w="15240">
            <a:solidFill>
              <a:srgbClr val="777777"/>
            </a:solidFill>
            <a:prstDash val="solid"/>
          </a:ln>
        </p:spPr>
        <p:txBody>
          <a:bodyPr/>
          <a:lstStyle/>
          <a:p>
            <a:endParaRPr lang="en-US"/>
          </a:p>
        </p:txBody>
      </p:sp>
      <p:sp>
        <p:nvSpPr>
          <p:cNvPr id="8" name="Oval 7">
            <a:extLst>
              <a:ext uri="{FF2B5EF4-FFF2-40B4-BE49-F238E27FC236}">
                <a16:creationId xmlns:a16="http://schemas.microsoft.com/office/drawing/2014/main" id="{E14639FD-8428-44D2-9C15-7D66D756CAAA}"/>
              </a:ext>
            </a:extLst>
          </p:cNvPr>
          <p:cNvSpPr>
            <a:spLocks noGrp="1"/>
          </p:cNvSpPr>
          <p:nvPr/>
        </p:nvSpPr>
        <p:spPr>
          <a:xfrm>
            <a:off x="2876550" y="2238375"/>
            <a:ext cx="228600" cy="228600"/>
          </a:xfrm>
          <a:prstGeom prst="ellipse">
            <a:avLst/>
          </a:prstGeom>
          <a:solidFill>
            <a:srgbClr val="B45309"/>
          </a:solidFill>
          <a:ln w="15240">
            <a:solidFill>
              <a:srgbClr val="B45309"/>
            </a:solidFill>
            <a:prstDash val="solid"/>
          </a:ln>
        </p:spPr>
        <p:txBody>
          <a:bodyPr/>
          <a:lstStyle/>
          <a:p>
            <a:endParaRPr lang="en-US"/>
          </a:p>
        </p:txBody>
      </p:sp>
      <p:sp>
        <p:nvSpPr>
          <p:cNvPr id="9" name="Oval 8">
            <a:extLst>
              <a:ext uri="{FF2B5EF4-FFF2-40B4-BE49-F238E27FC236}">
                <a16:creationId xmlns:a16="http://schemas.microsoft.com/office/drawing/2014/main" id="{D1467A71-ED3C-44C5-844C-EF34BB051944}"/>
              </a:ext>
            </a:extLst>
          </p:cNvPr>
          <p:cNvSpPr>
            <a:spLocks noGrp="1"/>
          </p:cNvSpPr>
          <p:nvPr/>
        </p:nvSpPr>
        <p:spPr>
          <a:xfrm>
            <a:off x="3248025" y="2238375"/>
            <a:ext cx="228600" cy="228600"/>
          </a:xfrm>
          <a:prstGeom prst="ellipse">
            <a:avLst/>
          </a:prstGeom>
          <a:solidFill>
            <a:srgbClr val="E8ECEF"/>
          </a:solidFill>
          <a:ln w="15240">
            <a:solidFill>
              <a:srgbClr val="777777"/>
            </a:solidFill>
            <a:prstDash val="solid"/>
          </a:ln>
        </p:spPr>
        <p:txBody>
          <a:bodyPr/>
          <a:lstStyle/>
          <a:p>
            <a:endParaRPr lang="en-US"/>
          </a:p>
        </p:txBody>
      </p:sp>
      <p:sp>
        <p:nvSpPr>
          <p:cNvPr id="10" name="Oval 9">
            <a:extLst>
              <a:ext uri="{FF2B5EF4-FFF2-40B4-BE49-F238E27FC236}">
                <a16:creationId xmlns:a16="http://schemas.microsoft.com/office/drawing/2014/main" id="{22F03590-CD66-4324-9B45-D90E7670F2BC}"/>
              </a:ext>
            </a:extLst>
          </p:cNvPr>
          <p:cNvSpPr>
            <a:spLocks noGrp="1"/>
          </p:cNvSpPr>
          <p:nvPr/>
        </p:nvSpPr>
        <p:spPr>
          <a:xfrm>
            <a:off x="3619500" y="2238375"/>
            <a:ext cx="228600" cy="228600"/>
          </a:xfrm>
          <a:prstGeom prst="ellipse">
            <a:avLst/>
          </a:prstGeom>
          <a:solidFill>
            <a:srgbClr val="E8ECEF"/>
          </a:solidFill>
          <a:ln w="15240">
            <a:solidFill>
              <a:srgbClr val="777777"/>
            </a:solidFill>
            <a:prstDash val="solid"/>
          </a:ln>
        </p:spPr>
        <p:txBody>
          <a:bodyPr/>
          <a:lstStyle/>
          <a:p>
            <a:endParaRPr lang="en-US"/>
          </a:p>
        </p:txBody>
      </p:sp>
      <p:sp>
        <p:nvSpPr>
          <p:cNvPr id="11" name="Oval 10">
            <a:extLst>
              <a:ext uri="{FF2B5EF4-FFF2-40B4-BE49-F238E27FC236}">
                <a16:creationId xmlns:a16="http://schemas.microsoft.com/office/drawing/2014/main" id="{514F4D2C-52B8-4904-9800-3B56EDDCABE1}"/>
              </a:ext>
            </a:extLst>
          </p:cNvPr>
          <p:cNvSpPr>
            <a:spLocks noGrp="1"/>
          </p:cNvSpPr>
          <p:nvPr/>
        </p:nvSpPr>
        <p:spPr>
          <a:xfrm>
            <a:off x="3990975" y="2238375"/>
            <a:ext cx="228600" cy="228600"/>
          </a:xfrm>
          <a:prstGeom prst="ellipse">
            <a:avLst/>
          </a:prstGeom>
          <a:solidFill>
            <a:srgbClr val="E8ECEF"/>
          </a:solidFill>
          <a:ln w="15240">
            <a:solidFill>
              <a:srgbClr val="777777"/>
            </a:solidFill>
            <a:prstDash val="solid"/>
          </a:ln>
        </p:spPr>
        <p:txBody>
          <a:bodyPr/>
          <a:lstStyle/>
          <a:p>
            <a:endParaRPr lang="en-US"/>
          </a:p>
        </p:txBody>
      </p:sp>
      <p:sp>
        <p:nvSpPr>
          <p:cNvPr id="12" name="Down Arrow 11">
            <a:extLst>
              <a:ext uri="{FF2B5EF4-FFF2-40B4-BE49-F238E27FC236}">
                <a16:creationId xmlns:a16="http://schemas.microsoft.com/office/drawing/2014/main" id="{2B9547D1-0D56-40EB-A613-AD781B488373}"/>
              </a:ext>
            </a:extLst>
          </p:cNvPr>
          <p:cNvSpPr>
            <a:spLocks noGrp="1"/>
          </p:cNvSpPr>
          <p:nvPr/>
        </p:nvSpPr>
        <p:spPr>
          <a:xfrm>
            <a:off x="3048000" y="2762250"/>
            <a:ext cx="228600" cy="323850"/>
          </a:xfrm>
          <a:prstGeom prst="downArrow">
            <a:avLst/>
          </a:prstGeom>
          <a:solidFill>
            <a:srgbClr val="777777"/>
          </a:solidFill>
          <a:ln w="0">
            <a:noFill/>
          </a:ln>
        </p:spPr>
        <p:txBody>
          <a:bodyPr/>
          <a:lstStyle/>
          <a:p>
            <a:endParaRPr lang="en-US"/>
          </a:p>
        </p:txBody>
      </p:sp>
      <p:sp>
        <p:nvSpPr>
          <p:cNvPr id="13" name="Rectangle 12">
            <a:extLst>
              <a:ext uri="{FF2B5EF4-FFF2-40B4-BE49-F238E27FC236}">
                <a16:creationId xmlns:a16="http://schemas.microsoft.com/office/drawing/2014/main" id="{B29D8764-60D2-480D-B980-A00088FC00FD}"/>
              </a:ext>
            </a:extLst>
          </p:cNvPr>
          <p:cNvSpPr>
            <a:spLocks noGrp="1"/>
          </p:cNvSpPr>
          <p:nvPr/>
        </p:nvSpPr>
        <p:spPr>
          <a:xfrm>
            <a:off x="457200" y="3324225"/>
            <a:ext cx="2305050" cy="314325"/>
          </a:xfrm>
          <a:prstGeom prst="rect">
            <a:avLst/>
          </a:prstGeom>
          <a:noFill/>
          <a:ln w="0">
            <a:noFill/>
          </a:ln>
        </p:spPr>
        <p:txBody>
          <a:bodyPr wrap="square" lIns="0" tIns="0" rIns="0" bIns="0" anchor="t"/>
          <a:lstStyle>
            <a:defPPr algn="ctr">
              <a:defRPr sz="2025" b="0">
                <a:solidFill>
                  <a:srgbClr val="111111"/>
                </a:solidFill>
                <a:latin typeface="Times New Roman"/>
                <a:ea typeface="Times New Roman"/>
                <a:cs typeface="Times New Roman"/>
              </a:defRPr>
            </a:defPPr>
          </a:lstStyle>
          <a:p>
            <a:pPr algn="ctr">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Early position</a:t>
            </a:r>
          </a:p>
        </p:txBody>
      </p:sp>
      <p:sp>
        <p:nvSpPr>
          <p:cNvPr id="14" name="Rectangle 13">
            <a:extLst>
              <a:ext uri="{FF2B5EF4-FFF2-40B4-BE49-F238E27FC236}">
                <a16:creationId xmlns:a16="http://schemas.microsoft.com/office/drawing/2014/main" id="{8C762CA3-6389-42EF-9006-A1AD10A8C613}"/>
              </a:ext>
            </a:extLst>
          </p:cNvPr>
          <p:cNvSpPr>
            <a:spLocks noGrp="1"/>
          </p:cNvSpPr>
          <p:nvPr/>
        </p:nvSpPr>
        <p:spPr>
          <a:xfrm>
            <a:off x="3619500" y="3324225"/>
            <a:ext cx="2305050" cy="314325"/>
          </a:xfrm>
          <a:prstGeom prst="rect">
            <a:avLst/>
          </a:prstGeom>
          <a:noFill/>
          <a:ln w="0">
            <a:noFill/>
          </a:ln>
        </p:spPr>
        <p:txBody>
          <a:bodyPr wrap="square" lIns="0" tIns="0" rIns="0" bIns="0" anchor="t"/>
          <a:lstStyle>
            <a:defPPr algn="ctr">
              <a:defRPr sz="2025" b="0">
                <a:solidFill>
                  <a:srgbClr val="111111"/>
                </a:solidFill>
                <a:latin typeface="Times New Roman"/>
                <a:ea typeface="Times New Roman"/>
                <a:cs typeface="Times New Roman"/>
              </a:defRPr>
            </a:defPPr>
          </a:lstStyle>
          <a:p>
            <a:pPr algn="ctr">
              <a:defRPr sz="2025" b="0">
                <a:solidFill>
                  <a:srgbClr val="111111"/>
                </a:solidFill>
                <a:latin typeface="Times New Roman"/>
                <a:ea typeface="Times New Roman"/>
                <a:cs typeface="Times New Roman"/>
              </a:defRPr>
            </a:pPr>
            <a:r>
              <a:rPr sz="2025" b="0">
                <a:solidFill>
                  <a:srgbClr val="111111"/>
                </a:solidFill>
                <a:latin typeface="Times New Roman"/>
                <a:ea typeface="Times New Roman"/>
                <a:cs typeface="Times New Roman"/>
              </a:rPr>
              <a:t>Later position</a:t>
            </a:r>
          </a:p>
        </p:txBody>
      </p:sp>
      <p:sp>
        <p:nvSpPr>
          <p:cNvPr id="15" name="Rectangle 14">
            <a:extLst>
              <a:ext uri="{FF2B5EF4-FFF2-40B4-BE49-F238E27FC236}">
                <a16:creationId xmlns:a16="http://schemas.microsoft.com/office/drawing/2014/main" id="{44E89158-6FEE-4279-A678-86EC80971E97}"/>
              </a:ext>
            </a:extLst>
          </p:cNvPr>
          <p:cNvSpPr>
            <a:spLocks noGrp="1"/>
          </p:cNvSpPr>
          <p:nvPr/>
        </p:nvSpPr>
        <p:spPr>
          <a:xfrm>
            <a:off x="457200" y="3752850"/>
            <a:ext cx="2305050" cy="19050"/>
          </a:xfrm>
          <a:prstGeom prst="rect">
            <a:avLst/>
          </a:prstGeom>
          <a:solidFill>
            <a:srgbClr val="777777"/>
          </a:solidFill>
          <a:ln w="0">
            <a:noFill/>
          </a:ln>
        </p:spPr>
        <p:txBody>
          <a:bodyPr/>
          <a:lstStyle/>
          <a:p>
            <a:endParaRPr lang="en-US"/>
          </a:p>
        </p:txBody>
      </p:sp>
      <p:sp>
        <p:nvSpPr>
          <p:cNvPr id="16" name="Rectangle 15">
            <a:extLst>
              <a:ext uri="{FF2B5EF4-FFF2-40B4-BE49-F238E27FC236}">
                <a16:creationId xmlns:a16="http://schemas.microsoft.com/office/drawing/2014/main" id="{F5D70699-BAD5-4E1D-B932-83872919EF0A}"/>
              </a:ext>
            </a:extLst>
          </p:cNvPr>
          <p:cNvSpPr>
            <a:spLocks noGrp="1"/>
          </p:cNvSpPr>
          <p:nvPr/>
        </p:nvSpPr>
        <p:spPr>
          <a:xfrm>
            <a:off x="457200" y="4267200"/>
            <a:ext cx="2305050" cy="19050"/>
          </a:xfrm>
          <a:prstGeom prst="rect">
            <a:avLst/>
          </a:prstGeom>
          <a:solidFill>
            <a:srgbClr val="777777"/>
          </a:solidFill>
          <a:ln w="0">
            <a:noFill/>
          </a:ln>
        </p:spPr>
        <p:txBody>
          <a:bodyPr/>
          <a:lstStyle/>
          <a:p>
            <a:endParaRPr lang="en-US"/>
          </a:p>
        </p:txBody>
      </p:sp>
      <p:sp>
        <p:nvSpPr>
          <p:cNvPr id="17" name="Oval 16">
            <a:extLst>
              <a:ext uri="{FF2B5EF4-FFF2-40B4-BE49-F238E27FC236}">
                <a16:creationId xmlns:a16="http://schemas.microsoft.com/office/drawing/2014/main" id="{E4800A52-7A43-4EE3-BFDE-4345E3917BBC}"/>
              </a:ext>
            </a:extLst>
          </p:cNvPr>
          <p:cNvSpPr>
            <a:spLocks noGrp="1"/>
          </p:cNvSpPr>
          <p:nvPr/>
        </p:nvSpPr>
        <p:spPr>
          <a:xfrm>
            <a:off x="552450" y="3895725"/>
            <a:ext cx="228600" cy="228600"/>
          </a:xfrm>
          <a:prstGeom prst="ellipse">
            <a:avLst/>
          </a:prstGeom>
          <a:solidFill>
            <a:srgbClr val="E8ECEF"/>
          </a:solidFill>
          <a:ln w="15240">
            <a:solidFill>
              <a:srgbClr val="777777"/>
            </a:solidFill>
            <a:prstDash val="solid"/>
          </a:ln>
        </p:spPr>
        <p:txBody>
          <a:bodyPr/>
          <a:lstStyle/>
          <a:p>
            <a:endParaRPr lang="en-US"/>
          </a:p>
        </p:txBody>
      </p:sp>
      <p:sp>
        <p:nvSpPr>
          <p:cNvPr id="18" name="Oval 17">
            <a:extLst>
              <a:ext uri="{FF2B5EF4-FFF2-40B4-BE49-F238E27FC236}">
                <a16:creationId xmlns:a16="http://schemas.microsoft.com/office/drawing/2014/main" id="{62A308A1-DACE-4383-9C9F-56EC1ABE876B}"/>
              </a:ext>
            </a:extLst>
          </p:cNvPr>
          <p:cNvSpPr>
            <a:spLocks noGrp="1"/>
          </p:cNvSpPr>
          <p:nvPr/>
        </p:nvSpPr>
        <p:spPr>
          <a:xfrm>
            <a:off x="895350" y="3895725"/>
            <a:ext cx="228600" cy="228600"/>
          </a:xfrm>
          <a:prstGeom prst="ellipse">
            <a:avLst/>
          </a:prstGeom>
          <a:solidFill>
            <a:srgbClr val="E8ECEF"/>
          </a:solidFill>
          <a:ln w="15240">
            <a:solidFill>
              <a:srgbClr val="777777"/>
            </a:solidFill>
            <a:prstDash val="solid"/>
          </a:ln>
        </p:spPr>
        <p:txBody>
          <a:bodyPr/>
          <a:lstStyle/>
          <a:p>
            <a:endParaRPr lang="en-US"/>
          </a:p>
        </p:txBody>
      </p:sp>
      <p:sp>
        <p:nvSpPr>
          <p:cNvPr id="19" name="Oval 18">
            <a:extLst>
              <a:ext uri="{FF2B5EF4-FFF2-40B4-BE49-F238E27FC236}">
                <a16:creationId xmlns:a16="http://schemas.microsoft.com/office/drawing/2014/main" id="{F532BC2B-393A-4988-9DB6-D5C1679E5992}"/>
              </a:ext>
            </a:extLst>
          </p:cNvPr>
          <p:cNvSpPr>
            <a:spLocks noGrp="1"/>
          </p:cNvSpPr>
          <p:nvPr/>
        </p:nvSpPr>
        <p:spPr>
          <a:xfrm>
            <a:off x="1333500" y="3895725"/>
            <a:ext cx="228600" cy="228600"/>
          </a:xfrm>
          <a:prstGeom prst="ellipse">
            <a:avLst/>
          </a:prstGeom>
          <a:solidFill>
            <a:srgbClr val="B45309"/>
          </a:solidFill>
          <a:ln w="15240">
            <a:solidFill>
              <a:srgbClr val="B45309"/>
            </a:solidFill>
            <a:prstDash val="solid"/>
          </a:ln>
        </p:spPr>
        <p:txBody>
          <a:bodyPr/>
          <a:lstStyle/>
          <a:p>
            <a:endParaRPr lang="en-US"/>
          </a:p>
        </p:txBody>
      </p:sp>
      <p:sp>
        <p:nvSpPr>
          <p:cNvPr id="20" name="Oval 19">
            <a:extLst>
              <a:ext uri="{FF2B5EF4-FFF2-40B4-BE49-F238E27FC236}">
                <a16:creationId xmlns:a16="http://schemas.microsoft.com/office/drawing/2014/main" id="{3969F120-CB61-4C0C-BD8B-DA3147A0F5B3}"/>
              </a:ext>
            </a:extLst>
          </p:cNvPr>
          <p:cNvSpPr>
            <a:spLocks noGrp="1"/>
          </p:cNvSpPr>
          <p:nvPr/>
        </p:nvSpPr>
        <p:spPr>
          <a:xfrm>
            <a:off x="1628775" y="3895725"/>
            <a:ext cx="228600" cy="228600"/>
          </a:xfrm>
          <a:prstGeom prst="ellipse">
            <a:avLst/>
          </a:prstGeom>
          <a:solidFill>
            <a:srgbClr val="E8ECEF"/>
          </a:solidFill>
          <a:ln w="15240">
            <a:solidFill>
              <a:srgbClr val="777777"/>
            </a:solidFill>
            <a:prstDash val="solid"/>
          </a:ln>
        </p:spPr>
        <p:txBody>
          <a:bodyPr/>
          <a:lstStyle/>
          <a:p>
            <a:endParaRPr lang="en-US"/>
          </a:p>
        </p:txBody>
      </p:sp>
      <p:sp>
        <p:nvSpPr>
          <p:cNvPr id="21" name="Oval 20">
            <a:extLst>
              <a:ext uri="{FF2B5EF4-FFF2-40B4-BE49-F238E27FC236}">
                <a16:creationId xmlns:a16="http://schemas.microsoft.com/office/drawing/2014/main" id="{A4C9A583-94F0-4BA9-A1F1-75C831BF51D7}"/>
              </a:ext>
            </a:extLst>
          </p:cNvPr>
          <p:cNvSpPr>
            <a:spLocks noGrp="1"/>
          </p:cNvSpPr>
          <p:nvPr/>
        </p:nvSpPr>
        <p:spPr>
          <a:xfrm>
            <a:off x="2066925" y="3895725"/>
            <a:ext cx="228600" cy="228600"/>
          </a:xfrm>
          <a:prstGeom prst="ellipse">
            <a:avLst/>
          </a:prstGeom>
          <a:solidFill>
            <a:srgbClr val="E8ECEF"/>
          </a:solidFill>
          <a:ln w="15240">
            <a:solidFill>
              <a:srgbClr val="777777"/>
            </a:solidFill>
            <a:prstDash val="solid"/>
          </a:ln>
        </p:spPr>
        <p:txBody>
          <a:bodyPr/>
          <a:lstStyle/>
          <a:p>
            <a:endParaRPr lang="en-US"/>
          </a:p>
        </p:txBody>
      </p:sp>
      <p:sp>
        <p:nvSpPr>
          <p:cNvPr id="22" name="Oval 21">
            <a:extLst>
              <a:ext uri="{FF2B5EF4-FFF2-40B4-BE49-F238E27FC236}">
                <a16:creationId xmlns:a16="http://schemas.microsoft.com/office/drawing/2014/main" id="{58B0A4D4-3ED5-482F-8869-E22CB5184AB7}"/>
              </a:ext>
            </a:extLst>
          </p:cNvPr>
          <p:cNvSpPr>
            <a:spLocks noGrp="1"/>
          </p:cNvSpPr>
          <p:nvPr/>
        </p:nvSpPr>
        <p:spPr>
          <a:xfrm>
            <a:off x="2400300" y="3895725"/>
            <a:ext cx="228600" cy="228600"/>
          </a:xfrm>
          <a:prstGeom prst="ellipse">
            <a:avLst/>
          </a:prstGeom>
          <a:solidFill>
            <a:srgbClr val="E8ECEF"/>
          </a:solidFill>
          <a:ln w="15240">
            <a:solidFill>
              <a:srgbClr val="777777"/>
            </a:solidFill>
            <a:prstDash val="solid"/>
          </a:ln>
        </p:spPr>
        <p:txBody>
          <a:bodyPr/>
          <a:lstStyle/>
          <a:p>
            <a:endParaRPr lang="en-US"/>
          </a:p>
        </p:txBody>
      </p:sp>
      <p:sp>
        <p:nvSpPr>
          <p:cNvPr id="23" name="Rectangle 22">
            <a:extLst>
              <a:ext uri="{FF2B5EF4-FFF2-40B4-BE49-F238E27FC236}">
                <a16:creationId xmlns:a16="http://schemas.microsoft.com/office/drawing/2014/main" id="{6BBAA5C2-F6E8-401D-A2D4-FF1AE8E4C308}"/>
              </a:ext>
            </a:extLst>
          </p:cNvPr>
          <p:cNvSpPr>
            <a:spLocks noGrp="1"/>
          </p:cNvSpPr>
          <p:nvPr/>
        </p:nvSpPr>
        <p:spPr>
          <a:xfrm>
            <a:off x="3619500" y="3752850"/>
            <a:ext cx="2305050" cy="19050"/>
          </a:xfrm>
          <a:prstGeom prst="rect">
            <a:avLst/>
          </a:prstGeom>
          <a:solidFill>
            <a:srgbClr val="777777"/>
          </a:solidFill>
          <a:ln w="0">
            <a:noFill/>
          </a:ln>
        </p:spPr>
        <p:txBody>
          <a:bodyPr/>
          <a:lstStyle/>
          <a:p>
            <a:endParaRPr lang="en-US"/>
          </a:p>
        </p:txBody>
      </p:sp>
      <p:sp>
        <p:nvSpPr>
          <p:cNvPr id="24" name="Rectangle 23">
            <a:extLst>
              <a:ext uri="{FF2B5EF4-FFF2-40B4-BE49-F238E27FC236}">
                <a16:creationId xmlns:a16="http://schemas.microsoft.com/office/drawing/2014/main" id="{D413A0C3-BBFC-414E-B042-F4DB66E7B045}"/>
              </a:ext>
            </a:extLst>
          </p:cNvPr>
          <p:cNvSpPr>
            <a:spLocks noGrp="1"/>
          </p:cNvSpPr>
          <p:nvPr/>
        </p:nvSpPr>
        <p:spPr>
          <a:xfrm>
            <a:off x="3619500" y="4267200"/>
            <a:ext cx="2305050" cy="19050"/>
          </a:xfrm>
          <a:prstGeom prst="rect">
            <a:avLst/>
          </a:prstGeom>
          <a:solidFill>
            <a:srgbClr val="777777"/>
          </a:solidFill>
          <a:ln w="0">
            <a:noFill/>
          </a:ln>
        </p:spPr>
        <p:txBody>
          <a:bodyPr/>
          <a:lstStyle/>
          <a:p>
            <a:endParaRPr lang="en-US"/>
          </a:p>
        </p:txBody>
      </p:sp>
      <p:sp>
        <p:nvSpPr>
          <p:cNvPr id="25" name="Oval 24">
            <a:extLst>
              <a:ext uri="{FF2B5EF4-FFF2-40B4-BE49-F238E27FC236}">
                <a16:creationId xmlns:a16="http://schemas.microsoft.com/office/drawing/2014/main" id="{5DDBCCB3-6174-452E-8287-941151DEF8D4}"/>
              </a:ext>
            </a:extLst>
          </p:cNvPr>
          <p:cNvSpPr>
            <a:spLocks noGrp="1"/>
          </p:cNvSpPr>
          <p:nvPr/>
        </p:nvSpPr>
        <p:spPr>
          <a:xfrm>
            <a:off x="3676650" y="3895725"/>
            <a:ext cx="228600" cy="228600"/>
          </a:xfrm>
          <a:prstGeom prst="ellipse">
            <a:avLst/>
          </a:prstGeom>
          <a:solidFill>
            <a:srgbClr val="E8ECEF"/>
          </a:solidFill>
          <a:ln w="15240">
            <a:solidFill>
              <a:srgbClr val="777777"/>
            </a:solidFill>
            <a:prstDash val="solid"/>
          </a:ln>
        </p:spPr>
        <p:txBody>
          <a:bodyPr/>
          <a:lstStyle/>
          <a:p>
            <a:endParaRPr lang="en-US"/>
          </a:p>
        </p:txBody>
      </p:sp>
      <p:sp>
        <p:nvSpPr>
          <p:cNvPr id="26" name="Oval 25">
            <a:extLst>
              <a:ext uri="{FF2B5EF4-FFF2-40B4-BE49-F238E27FC236}">
                <a16:creationId xmlns:a16="http://schemas.microsoft.com/office/drawing/2014/main" id="{D83C408D-2753-4A93-B04E-B4BCB093519E}"/>
              </a:ext>
            </a:extLst>
          </p:cNvPr>
          <p:cNvSpPr>
            <a:spLocks noGrp="1"/>
          </p:cNvSpPr>
          <p:nvPr/>
        </p:nvSpPr>
        <p:spPr>
          <a:xfrm>
            <a:off x="3952875" y="3895725"/>
            <a:ext cx="228600" cy="228600"/>
          </a:xfrm>
          <a:prstGeom prst="ellipse">
            <a:avLst/>
          </a:prstGeom>
          <a:solidFill>
            <a:srgbClr val="E8ECEF"/>
          </a:solidFill>
          <a:ln w="15240">
            <a:solidFill>
              <a:srgbClr val="777777"/>
            </a:solidFill>
            <a:prstDash val="solid"/>
          </a:ln>
        </p:spPr>
        <p:txBody>
          <a:bodyPr/>
          <a:lstStyle/>
          <a:p>
            <a:endParaRPr lang="en-US"/>
          </a:p>
        </p:txBody>
      </p:sp>
      <p:sp>
        <p:nvSpPr>
          <p:cNvPr id="27" name="Oval 26">
            <a:extLst>
              <a:ext uri="{FF2B5EF4-FFF2-40B4-BE49-F238E27FC236}">
                <a16:creationId xmlns:a16="http://schemas.microsoft.com/office/drawing/2014/main" id="{7E6E7AB3-854B-47DB-9A00-122279DD0A40}"/>
              </a:ext>
            </a:extLst>
          </p:cNvPr>
          <p:cNvSpPr>
            <a:spLocks noGrp="1"/>
          </p:cNvSpPr>
          <p:nvPr/>
        </p:nvSpPr>
        <p:spPr>
          <a:xfrm>
            <a:off x="4676775" y="3895725"/>
            <a:ext cx="228600" cy="228600"/>
          </a:xfrm>
          <a:prstGeom prst="ellipse">
            <a:avLst/>
          </a:prstGeom>
          <a:solidFill>
            <a:srgbClr val="B45309"/>
          </a:solidFill>
          <a:ln w="15240">
            <a:solidFill>
              <a:srgbClr val="B45309"/>
            </a:solidFill>
            <a:prstDash val="solid"/>
          </a:ln>
        </p:spPr>
        <p:txBody>
          <a:bodyPr/>
          <a:lstStyle/>
          <a:p>
            <a:endParaRPr lang="en-US"/>
          </a:p>
        </p:txBody>
      </p:sp>
      <p:sp>
        <p:nvSpPr>
          <p:cNvPr id="28" name="Oval 27">
            <a:extLst>
              <a:ext uri="{FF2B5EF4-FFF2-40B4-BE49-F238E27FC236}">
                <a16:creationId xmlns:a16="http://schemas.microsoft.com/office/drawing/2014/main" id="{7C7A7103-E5BA-4F0E-AE18-5C2D9622CBA5}"/>
              </a:ext>
            </a:extLst>
          </p:cNvPr>
          <p:cNvSpPr>
            <a:spLocks noGrp="1"/>
          </p:cNvSpPr>
          <p:nvPr/>
        </p:nvSpPr>
        <p:spPr>
          <a:xfrm>
            <a:off x="4953000" y="3895725"/>
            <a:ext cx="228600" cy="228600"/>
          </a:xfrm>
          <a:prstGeom prst="ellipse">
            <a:avLst/>
          </a:prstGeom>
          <a:solidFill>
            <a:srgbClr val="E8ECEF"/>
          </a:solidFill>
          <a:ln w="15240">
            <a:solidFill>
              <a:srgbClr val="777777"/>
            </a:solidFill>
            <a:prstDash val="solid"/>
          </a:ln>
        </p:spPr>
        <p:txBody>
          <a:bodyPr/>
          <a:lstStyle/>
          <a:p>
            <a:endParaRPr lang="en-US"/>
          </a:p>
        </p:txBody>
      </p:sp>
      <p:sp>
        <p:nvSpPr>
          <p:cNvPr id="29" name="Oval 28">
            <a:extLst>
              <a:ext uri="{FF2B5EF4-FFF2-40B4-BE49-F238E27FC236}">
                <a16:creationId xmlns:a16="http://schemas.microsoft.com/office/drawing/2014/main" id="{33DE8FFE-2024-4BA3-8ED3-293C46275BDE}"/>
              </a:ext>
            </a:extLst>
          </p:cNvPr>
          <p:cNvSpPr>
            <a:spLocks noGrp="1"/>
          </p:cNvSpPr>
          <p:nvPr/>
        </p:nvSpPr>
        <p:spPr>
          <a:xfrm>
            <a:off x="5267325" y="3895725"/>
            <a:ext cx="228600" cy="228600"/>
          </a:xfrm>
          <a:prstGeom prst="ellipse">
            <a:avLst/>
          </a:prstGeom>
          <a:solidFill>
            <a:srgbClr val="E8ECEF"/>
          </a:solidFill>
          <a:ln w="15240">
            <a:solidFill>
              <a:srgbClr val="777777"/>
            </a:solidFill>
            <a:prstDash val="solid"/>
          </a:ln>
        </p:spPr>
        <p:txBody>
          <a:bodyPr/>
          <a:lstStyle/>
          <a:p>
            <a:endParaRPr lang="en-US"/>
          </a:p>
        </p:txBody>
      </p:sp>
      <p:sp>
        <p:nvSpPr>
          <p:cNvPr id="30" name="Oval 29">
            <a:extLst>
              <a:ext uri="{FF2B5EF4-FFF2-40B4-BE49-F238E27FC236}">
                <a16:creationId xmlns:a16="http://schemas.microsoft.com/office/drawing/2014/main" id="{92D95110-4FA3-45BD-A738-3F39256E8B6A}"/>
              </a:ext>
            </a:extLst>
          </p:cNvPr>
          <p:cNvSpPr>
            <a:spLocks noGrp="1"/>
          </p:cNvSpPr>
          <p:nvPr/>
        </p:nvSpPr>
        <p:spPr>
          <a:xfrm>
            <a:off x="5600700" y="3895725"/>
            <a:ext cx="228600" cy="228600"/>
          </a:xfrm>
          <a:prstGeom prst="ellipse">
            <a:avLst/>
          </a:prstGeom>
          <a:solidFill>
            <a:srgbClr val="E8ECEF"/>
          </a:solidFill>
          <a:ln w="15240">
            <a:solidFill>
              <a:srgbClr val="777777"/>
            </a:solidFill>
            <a:prstDash val="solid"/>
          </a:ln>
        </p:spPr>
        <p:txBody>
          <a:bodyPr/>
          <a:lstStyle/>
          <a:p>
            <a:endParaRPr lang="en-US"/>
          </a:p>
        </p:txBody>
      </p:sp>
      <p:sp>
        <p:nvSpPr>
          <p:cNvPr id="31" name="Left-Right Arrow 30">
            <a:extLst>
              <a:ext uri="{FF2B5EF4-FFF2-40B4-BE49-F238E27FC236}">
                <a16:creationId xmlns:a16="http://schemas.microsoft.com/office/drawing/2014/main" id="{084A0D89-582D-44C4-98B7-B310C73D2595}"/>
              </a:ext>
            </a:extLst>
          </p:cNvPr>
          <p:cNvSpPr>
            <a:spLocks noGrp="1"/>
          </p:cNvSpPr>
          <p:nvPr/>
        </p:nvSpPr>
        <p:spPr>
          <a:xfrm>
            <a:off x="2905125" y="3914775"/>
            <a:ext cx="571500" cy="190500"/>
          </a:xfrm>
          <a:prstGeom prst="leftRightArrow">
            <a:avLst/>
          </a:prstGeom>
          <a:solidFill>
            <a:srgbClr val="A50026"/>
          </a:solidFill>
          <a:ln w="0">
            <a:noFill/>
          </a:ln>
        </p:spPr>
        <p:txBody>
          <a:bodyPr/>
          <a:lstStyle/>
          <a:p>
            <a:endParaRPr lang="en-US"/>
          </a:p>
        </p:txBody>
      </p:sp>
      <p:sp>
        <p:nvSpPr>
          <p:cNvPr id="32" name="Rectangle 31">
            <a:extLst>
              <a:ext uri="{FF2B5EF4-FFF2-40B4-BE49-F238E27FC236}">
                <a16:creationId xmlns:a16="http://schemas.microsoft.com/office/drawing/2014/main" id="{80CFA7B7-556A-4AFA-A558-012B8CF83F09}"/>
              </a:ext>
            </a:extLst>
          </p:cNvPr>
          <p:cNvSpPr>
            <a:spLocks noGrp="1"/>
          </p:cNvSpPr>
          <p:nvPr/>
        </p:nvSpPr>
        <p:spPr>
          <a:xfrm>
            <a:off x="457200" y="4476750"/>
            <a:ext cx="5467350" cy="304800"/>
          </a:xfrm>
          <a:prstGeom prst="rect">
            <a:avLst/>
          </a:prstGeom>
          <a:noFill/>
          <a:ln w="0">
            <a:noFill/>
          </a:ln>
        </p:spPr>
        <p:txBody>
          <a:bodyPr wrap="square" lIns="0" tIns="0" rIns="0" bIns="0" anchor="t"/>
          <a:lstStyle>
            <a:defPPr algn="ctr">
              <a:defRPr sz="1800" b="0">
                <a:solidFill>
                  <a:srgbClr val="444444"/>
                </a:solidFill>
                <a:latin typeface="Times New Roman"/>
                <a:ea typeface="Times New Roman"/>
                <a:cs typeface="Times New Roman"/>
              </a:defRPr>
            </a:defPPr>
          </a:lstStyle>
          <a:p>
            <a:pPr algn="ctr">
              <a:defRPr sz="1800" b="0">
                <a:solidFill>
                  <a:srgbClr val="444444"/>
                </a:solidFill>
                <a:latin typeface="Times New Roman"/>
                <a:ea typeface="Times New Roman"/>
                <a:cs typeface="Times New Roman"/>
              </a:defRPr>
            </a:pPr>
            <a:r>
              <a:rPr sz="1800" b="0">
                <a:solidFill>
                  <a:srgbClr val="444444"/>
                </a:solidFill>
                <a:latin typeface="Times New Roman"/>
                <a:ea typeface="Times New Roman"/>
                <a:cs typeface="Times New Roman"/>
              </a:rPr>
              <a:t>Same bead in one run</a:t>
            </a:r>
          </a:p>
        </p:txBody>
      </p:sp>
      <p:sp>
        <p:nvSpPr>
          <p:cNvPr id="33" name="Rectangle 32">
            <a:extLst>
              <a:ext uri="{FF2B5EF4-FFF2-40B4-BE49-F238E27FC236}">
                <a16:creationId xmlns:a16="http://schemas.microsoft.com/office/drawing/2014/main" id="{737B63CA-D7D2-4215-912C-850F09E9709B}"/>
              </a:ext>
            </a:extLst>
          </p:cNvPr>
          <p:cNvSpPr>
            <a:spLocks noGrp="1"/>
          </p:cNvSpPr>
          <p:nvPr/>
        </p:nvSpPr>
        <p:spPr>
          <a:xfrm>
            <a:off x="457200" y="4886325"/>
            <a:ext cx="5467350" cy="352425"/>
          </a:xfrm>
          <a:prstGeom prst="rect">
            <a:avLst/>
          </a:prstGeom>
          <a:noFill/>
          <a:ln w="0">
            <a:noFill/>
          </a:ln>
        </p:spPr>
        <p:txBody>
          <a:bodyPr wrap="square" lIns="0" tIns="0" rIns="0" bIns="0" anchor="t"/>
          <a:lstStyle>
            <a:defPPr algn="ctr">
              <a:defRPr sz="2175" b="1">
                <a:solidFill>
                  <a:srgbClr val="A50026"/>
                </a:solidFill>
                <a:latin typeface="Times New Roman"/>
                <a:ea typeface="Times New Roman"/>
                <a:cs typeface="Times New Roman"/>
              </a:defRPr>
            </a:defPPr>
          </a:lstStyle>
          <a:p>
            <a:pPr algn="ctr">
              <a:defRPr sz="2175" b="1">
                <a:solidFill>
                  <a:srgbClr val="A50026"/>
                </a:solidFill>
                <a:latin typeface="Times New Roman"/>
                <a:ea typeface="Times New Roman"/>
                <a:cs typeface="Times New Roman"/>
              </a:defRPr>
            </a:pPr>
            <a:r>
              <a:rPr sz="2175" b="1" dirty="0">
                <a:solidFill>
                  <a:srgbClr val="A50026"/>
                </a:solidFill>
                <a:latin typeface="Times New Roman"/>
                <a:ea typeface="Times New Roman"/>
                <a:cs typeface="Times New Roman"/>
              </a:rPr>
              <a:t>The agent overestimates the </a:t>
            </a:r>
            <a:r>
              <a:rPr lang="en-US" sz="2175" b="1" dirty="0">
                <a:solidFill>
                  <a:srgbClr val="A50026"/>
                </a:solidFill>
                <a:latin typeface="Times New Roman"/>
                <a:ea typeface="Times New Roman"/>
                <a:cs typeface="Times New Roman"/>
              </a:rPr>
              <a:t>covariance</a:t>
            </a:r>
            <a:endParaRPr sz="2175" b="1" dirty="0">
              <a:solidFill>
                <a:srgbClr val="A50026"/>
              </a:solidFill>
              <a:latin typeface="Times New Roman"/>
              <a:ea typeface="Times New Roman"/>
              <a:cs typeface="Times New Roman"/>
            </a:endParaRPr>
          </a:p>
        </p:txBody>
      </p:sp>
      <p:sp>
        <p:nvSpPr>
          <p:cNvPr id="34" name="Rectangle 33">
            <a:extLst>
              <a:ext uri="{FF2B5EF4-FFF2-40B4-BE49-F238E27FC236}">
                <a16:creationId xmlns:a16="http://schemas.microsoft.com/office/drawing/2014/main" id="{9506109F-601E-49E5-BD20-77D45C23A0A6}"/>
              </a:ext>
            </a:extLst>
          </p:cNvPr>
          <p:cNvSpPr>
            <a:spLocks noGrp="1"/>
          </p:cNvSpPr>
          <p:nvPr/>
        </p:nvSpPr>
        <p:spPr>
          <a:xfrm>
            <a:off x="6610350" y="1628775"/>
            <a:ext cx="5124450" cy="371475"/>
          </a:xfrm>
          <a:prstGeom prst="rect">
            <a:avLst/>
          </a:prstGeom>
          <a:noFill/>
          <a:ln w="0">
            <a:noFill/>
          </a:ln>
        </p:spPr>
        <p:txBody>
          <a:bodyPr wrap="square" lIns="0" tIns="0" rIns="0" bIns="0" anchor="t"/>
          <a:lstStyle>
            <a:defPPr algn="l">
              <a:defRPr sz="2325" b="1">
                <a:solidFill>
                  <a:srgbClr val="0F766E"/>
                </a:solidFill>
                <a:latin typeface="Times New Roman"/>
                <a:ea typeface="Times New Roman"/>
                <a:cs typeface="Times New Roman"/>
              </a:defRPr>
            </a:defPPr>
          </a:lstStyle>
          <a:p>
            <a:pPr algn="l">
              <a:defRPr sz="2325" b="1">
                <a:solidFill>
                  <a:srgbClr val="0F766E"/>
                </a:solidFill>
                <a:latin typeface="Times New Roman"/>
                <a:ea typeface="Times New Roman"/>
                <a:cs typeface="Times New Roman"/>
              </a:defRPr>
            </a:pPr>
            <a:r>
              <a:rPr sz="2325" b="1">
                <a:solidFill>
                  <a:srgbClr val="0F766E"/>
                </a:solidFill>
                <a:latin typeface="Times New Roman"/>
                <a:ea typeface="Times New Roman"/>
                <a:cs typeface="Times New Roman"/>
              </a:rPr>
              <a:t>Fits the measured motion</a:t>
            </a:r>
          </a:p>
        </p:txBody>
      </p:sp>
      <p:sp>
        <p:nvSpPr>
          <p:cNvPr id="35" name="Rectangle 34">
            <a:extLst>
              <a:ext uri="{FF2B5EF4-FFF2-40B4-BE49-F238E27FC236}">
                <a16:creationId xmlns:a16="http://schemas.microsoft.com/office/drawing/2014/main" id="{941F02D7-5787-45E1-8F90-17FA1B625712}"/>
              </a:ext>
            </a:extLst>
          </p:cNvPr>
          <p:cNvSpPr>
            <a:spLocks noGrp="1"/>
          </p:cNvSpPr>
          <p:nvPr/>
        </p:nvSpPr>
        <p:spPr>
          <a:xfrm>
            <a:off x="6610350" y="2143125"/>
            <a:ext cx="5124450" cy="742950"/>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Adjusts how far the bead wanders</a:t>
            </a:r>
          </a:p>
          <a:p>
            <a:pPr algn="l">
              <a:defRPr sz="2175" b="0">
                <a:solidFill>
                  <a:srgbClr val="111111"/>
                </a:solidFill>
                <a:latin typeface="Times New Roman"/>
                <a:ea typeface="Times New Roman"/>
                <a:cs typeface="Times New Roman"/>
              </a:defRPr>
            </a:pPr>
            <a:r>
              <a:rPr sz="2175" b="0">
                <a:solidFill>
                  <a:srgbClr val="111111"/>
                </a:solidFill>
                <a:latin typeface="Times New Roman"/>
                <a:ea typeface="Times New Roman"/>
                <a:cs typeface="Times New Roman"/>
              </a:rPr>
              <a:t>at each observation time.</a:t>
            </a:r>
          </a:p>
        </p:txBody>
      </p:sp>
      <p:sp>
        <p:nvSpPr>
          <p:cNvPr id="36" name="Rectangle 35">
            <a:extLst>
              <a:ext uri="{FF2B5EF4-FFF2-40B4-BE49-F238E27FC236}">
                <a16:creationId xmlns:a16="http://schemas.microsoft.com/office/drawing/2014/main" id="{BB95EC0A-29BC-48DF-8D71-281CA0886E16}"/>
              </a:ext>
            </a:extLst>
          </p:cNvPr>
          <p:cNvSpPr>
            <a:spLocks noGrp="1"/>
          </p:cNvSpPr>
          <p:nvPr/>
        </p:nvSpPr>
        <p:spPr>
          <a:xfrm>
            <a:off x="6610350" y="3286125"/>
            <a:ext cx="5124450" cy="400050"/>
          </a:xfrm>
          <a:prstGeom prst="rect">
            <a:avLst/>
          </a:prstGeom>
          <a:noFill/>
          <a:ln w="0">
            <a:noFill/>
          </a:ln>
        </p:spPr>
        <p:txBody>
          <a:bodyPr wrap="square" lIns="0" tIns="0" rIns="0" bIns="0" anchor="t"/>
          <a:lstStyle>
            <a:defPPr algn="l">
              <a:defRPr sz="2250" b="1">
                <a:solidFill>
                  <a:srgbClr val="A50026"/>
                </a:solidFill>
                <a:latin typeface="Times New Roman"/>
                <a:ea typeface="Times New Roman"/>
                <a:cs typeface="Times New Roman"/>
              </a:defRPr>
            </a:defPPr>
          </a:lstStyle>
          <a:p>
            <a:pPr algn="l">
              <a:defRPr sz="2250" b="1">
                <a:solidFill>
                  <a:srgbClr val="A50026"/>
                </a:solidFill>
                <a:latin typeface="Times New Roman"/>
                <a:ea typeface="Times New Roman"/>
                <a:cs typeface="Times New Roman"/>
              </a:defRPr>
            </a:pPr>
            <a:r>
              <a:rPr sz="2250" b="1">
                <a:solidFill>
                  <a:srgbClr val="A50026"/>
                </a:solidFill>
                <a:latin typeface="Times New Roman"/>
                <a:ea typeface="Times New Roman"/>
                <a:cs typeface="Times New Roman"/>
              </a:rPr>
              <a:t>Misses the effect of the starting row</a:t>
            </a:r>
          </a:p>
        </p:txBody>
      </p:sp>
      <p:sp>
        <p:nvSpPr>
          <p:cNvPr id="37" name="Rectangle 36">
            <a:extLst>
              <a:ext uri="{FF2B5EF4-FFF2-40B4-BE49-F238E27FC236}">
                <a16:creationId xmlns:a16="http://schemas.microsoft.com/office/drawing/2014/main" id="{EC6D5905-D6B4-4632-95EA-E52D9EB81E11}"/>
              </a:ext>
            </a:extLst>
          </p:cNvPr>
          <p:cNvSpPr>
            <a:spLocks noGrp="1"/>
          </p:cNvSpPr>
          <p:nvPr/>
        </p:nvSpPr>
        <p:spPr>
          <a:xfrm>
            <a:off x="6610350" y="3819525"/>
            <a:ext cx="5124450" cy="1057275"/>
          </a:xfrm>
          <a:prstGeom prst="rect">
            <a:avLst/>
          </a:prstGeom>
          <a:noFill/>
          <a:ln w="0">
            <a:noFill/>
          </a:ln>
        </p:spPr>
        <p:txBody>
          <a:bodyPr wrap="square" lIns="0" tIns="0" rIns="0" bIns="0" anchor="t"/>
          <a:lstStyle>
            <a:defPPr algn="l">
              <a:defRPr sz="2175" b="0">
                <a:solidFill>
                  <a:srgbClr val="111111"/>
                </a:solidFill>
                <a:latin typeface="Times New Roman"/>
                <a:ea typeface="Times New Roman"/>
                <a:cs typeface="Times New Roman"/>
              </a:defRPr>
            </a:defPPr>
          </a:lstStyle>
          <a:p>
            <a:pPr algn="l">
              <a:defRPr sz="2175" b="0">
                <a:solidFill>
                  <a:srgbClr val="111111"/>
                </a:solidFill>
                <a:latin typeface="Times New Roman"/>
                <a:ea typeface="Times New Roman"/>
                <a:cs typeface="Times New Roman"/>
              </a:defRPr>
            </a:pPr>
            <a:r>
              <a:rPr sz="2175" b="0" dirty="0">
                <a:solidFill>
                  <a:srgbClr val="111111"/>
                </a:solidFill>
                <a:latin typeface="Times New Roman"/>
                <a:ea typeface="Times New Roman"/>
                <a:cs typeface="Times New Roman"/>
              </a:rPr>
              <a:t>Keeps the starter’s rule for </a:t>
            </a:r>
            <a:r>
              <a:rPr lang="en-US" sz="2175" dirty="0">
                <a:solidFill>
                  <a:srgbClr val="111111"/>
                </a:solidFill>
                <a:latin typeface="Times New Roman"/>
                <a:ea typeface="Times New Roman"/>
                <a:cs typeface="Times New Roman"/>
              </a:rPr>
              <a:t>correlate</a:t>
            </a:r>
            <a:endParaRPr sz="2175" b="0" dirty="0">
              <a:solidFill>
                <a:srgbClr val="111111"/>
              </a:solidFill>
              <a:latin typeface="Times New Roman"/>
              <a:ea typeface="Times New Roman"/>
              <a:cs typeface="Times New Roman"/>
            </a:endParaRPr>
          </a:p>
          <a:p>
            <a:pPr algn="l">
              <a:defRPr sz="2175" b="0">
                <a:solidFill>
                  <a:srgbClr val="111111"/>
                </a:solidFill>
                <a:latin typeface="Times New Roman"/>
                <a:ea typeface="Times New Roman"/>
                <a:cs typeface="Times New Roman"/>
              </a:defRPr>
            </a:pPr>
            <a:r>
              <a:rPr sz="2175" b="0" dirty="0">
                <a:solidFill>
                  <a:srgbClr val="111111"/>
                </a:solidFill>
                <a:latin typeface="Times New Roman"/>
                <a:ea typeface="Times New Roman"/>
                <a:cs typeface="Times New Roman"/>
              </a:rPr>
              <a:t>its early and later positions.</a:t>
            </a:r>
          </a:p>
          <a:p>
            <a:pPr algn="l">
              <a:defRPr sz="2175" b="0">
                <a:solidFill>
                  <a:srgbClr val="111111"/>
                </a:solidFill>
                <a:latin typeface="Times New Roman"/>
                <a:ea typeface="Times New Roman"/>
                <a:cs typeface="Times New Roman"/>
              </a:defRPr>
            </a:pPr>
            <a:r>
              <a:rPr sz="2175" b="0" dirty="0">
                <a:solidFill>
                  <a:srgbClr val="111111"/>
                </a:solidFill>
                <a:latin typeface="Times New Roman"/>
                <a:ea typeface="Times New Roman"/>
                <a:cs typeface="Times New Roman"/>
              </a:rPr>
              <a:t>That rule makes the </a:t>
            </a:r>
            <a:r>
              <a:rPr lang="en-US" sz="2175" dirty="0">
                <a:solidFill>
                  <a:srgbClr val="111111"/>
                </a:solidFill>
                <a:latin typeface="Times New Roman"/>
                <a:ea typeface="Times New Roman"/>
                <a:cs typeface="Times New Roman"/>
              </a:rPr>
              <a:t>correlation</a:t>
            </a:r>
            <a:r>
              <a:rPr sz="2175" b="0" dirty="0">
                <a:solidFill>
                  <a:srgbClr val="111111"/>
                </a:solidFill>
                <a:latin typeface="Times New Roman"/>
                <a:ea typeface="Times New Roman"/>
                <a:cs typeface="Times New Roman"/>
              </a:rPr>
              <a:t> too strong.</a:t>
            </a:r>
          </a:p>
        </p:txBody>
      </p:sp>
      <p:sp>
        <p:nvSpPr>
          <p:cNvPr id="38" name="Rectangle 37">
            <a:extLst>
              <a:ext uri="{FF2B5EF4-FFF2-40B4-BE49-F238E27FC236}">
                <a16:creationId xmlns:a16="http://schemas.microsoft.com/office/drawing/2014/main" id="{B430F3E2-3BE0-4DA7-AFF9-D384305F98EB}"/>
              </a:ext>
            </a:extLst>
          </p:cNvPr>
          <p:cNvSpPr>
            <a:spLocks noGrp="1"/>
          </p:cNvSpPr>
          <p:nvPr/>
        </p:nvSpPr>
        <p:spPr>
          <a:xfrm>
            <a:off x="457200" y="5476875"/>
            <a:ext cx="11277600" cy="12383"/>
          </a:xfrm>
          <a:prstGeom prst="rect">
            <a:avLst/>
          </a:prstGeom>
          <a:solidFill>
            <a:srgbClr val="D1D5DB"/>
          </a:solidFill>
          <a:ln w="0">
            <a:noFill/>
          </a:ln>
        </p:spPr>
        <p:txBody>
          <a:bodyPr/>
          <a:lstStyle/>
          <a:p>
            <a:endParaRPr lang="en-US"/>
          </a:p>
        </p:txBody>
      </p:sp>
      <p:sp>
        <p:nvSpPr>
          <p:cNvPr id="39" name="Rectangle 38">
            <a:extLst>
              <a:ext uri="{FF2B5EF4-FFF2-40B4-BE49-F238E27FC236}">
                <a16:creationId xmlns:a16="http://schemas.microsoft.com/office/drawing/2014/main" id="{66A75466-E52D-47F7-AC02-3EC78F3F82E0}"/>
              </a:ext>
            </a:extLst>
          </p:cNvPr>
          <p:cNvSpPr>
            <a:spLocks noGrp="1"/>
          </p:cNvSpPr>
          <p:nvPr/>
        </p:nvSpPr>
        <p:spPr>
          <a:xfrm>
            <a:off x="457200" y="5686425"/>
            <a:ext cx="11277600" cy="381000"/>
          </a:xfrm>
          <a:prstGeom prst="rect">
            <a:avLst/>
          </a:prstGeom>
          <a:noFill/>
          <a:ln w="0">
            <a:noFill/>
          </a:ln>
        </p:spPr>
        <p:txBody>
          <a:bodyPr wrap="square" lIns="0" tIns="0" rIns="0" bIns="0" anchor="t"/>
          <a:lstStyle>
            <a:defPPr algn="l">
              <a:defRPr sz="2325" b="1">
                <a:solidFill>
                  <a:srgbClr val="111111"/>
                </a:solidFill>
                <a:latin typeface="Times New Roman"/>
                <a:ea typeface="Times New Roman"/>
                <a:cs typeface="Times New Roman"/>
              </a:defRPr>
            </a:defPPr>
          </a:lstStyle>
          <a:p>
            <a:pPr algn="l">
              <a:defRPr sz="2325" b="1">
                <a:solidFill>
                  <a:srgbClr val="111111"/>
                </a:solidFill>
                <a:latin typeface="Times New Roman"/>
                <a:ea typeface="Times New Roman"/>
                <a:cs typeface="Times New Roman"/>
              </a:defRPr>
            </a:pPr>
            <a:r>
              <a:rPr sz="2325" b="1">
                <a:solidFill>
                  <a:srgbClr val="111111"/>
                </a:solidFill>
                <a:latin typeface="Times New Roman"/>
                <a:ea typeface="Times New Roman"/>
                <a:cs typeface="Times New Roman"/>
              </a:rPr>
              <a:t>Fits the supplied data. New predictions are wrong by up to 136%.</a:t>
            </a:r>
          </a:p>
        </p:txBody>
      </p:sp>
      <p:sp>
        <p:nvSpPr>
          <p:cNvPr id="40" name="Rectangle 39">
            <a:extLst>
              <a:ext uri="{FF2B5EF4-FFF2-40B4-BE49-F238E27FC236}">
                <a16:creationId xmlns:a16="http://schemas.microsoft.com/office/drawing/2014/main" id="{3AEAE191-3FA4-4FC7-AA83-11EAD6F2EF2A}"/>
              </a:ext>
            </a:extLst>
          </p:cNvPr>
          <p:cNvSpPr>
            <a:spLocks noGrp="1"/>
          </p:cNvSpPr>
          <p:nvPr/>
        </p:nvSpPr>
        <p:spPr>
          <a:xfrm>
            <a:off x="457200" y="6191250"/>
            <a:ext cx="11277600" cy="285750"/>
          </a:xfrm>
          <a:prstGeom prst="rect">
            <a:avLst/>
          </a:prstGeom>
          <a:noFill/>
          <a:ln w="0">
            <a:noFill/>
          </a:ln>
        </p:spPr>
        <p:txBody>
          <a:bodyPr wrap="square" lIns="0" tIns="0" rIns="0" bIns="0" anchor="t"/>
          <a:lstStyle>
            <a:defPPr algn="l">
              <a:defRPr sz="1425" b="0">
                <a:solidFill>
                  <a:srgbClr val="777777"/>
                </a:solidFill>
                <a:latin typeface="Times New Roman"/>
                <a:ea typeface="Times New Roman"/>
                <a:cs typeface="Times New Roman"/>
              </a:defRPr>
            </a:defPPr>
          </a:lstStyle>
          <a:p>
            <a:pPr algn="l">
              <a:defRPr sz="1425" b="0">
                <a:solidFill>
                  <a:srgbClr val="777777"/>
                </a:solidFill>
                <a:latin typeface="Times New Roman"/>
                <a:ea typeface="Times New Roman"/>
                <a:cs typeface="Times New Roman"/>
              </a:defRPr>
            </a:pPr>
            <a:r>
              <a:rPr sz="1425" b="0">
                <a:solidFill>
                  <a:srgbClr val="777777"/>
                </a:solidFill>
                <a:latin typeface="Times New Roman"/>
                <a:ea typeface="Times New Roman"/>
                <a:cs typeface="Times New Roman"/>
              </a:rPr>
              <a:t>Allowed error: 4%. Schematic positions. The link describes averages across repeated runs.</a:t>
            </a:r>
          </a:p>
        </p:txBody>
      </p:sp>
      <p:sp>
        <p:nvSpPr>
          <p:cNvPr id="41" name="Rectangle 40">
            <a:extLst>
              <a:ext uri="{FF2B5EF4-FFF2-40B4-BE49-F238E27FC236}">
                <a16:creationId xmlns:a16="http://schemas.microsoft.com/office/drawing/2014/main" id="{72B33178-FBED-4B95-AC40-7C6C81162659}"/>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r">
              <a:defRPr sz="1200" b="0">
                <a:solidFill>
                  <a:srgbClr val="777777"/>
                </a:solidFill>
                <a:latin typeface="Times New Roman"/>
                <a:ea typeface="Times New Roman"/>
                <a:cs typeface="Times New Roman"/>
              </a:defRPr>
            </a:defPPr>
          </a:lstStyle>
          <a:p>
            <a:pPr algn="r">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10</a:t>
            </a:r>
          </a:p>
        </p:txBody>
      </p:sp>
    </p:spTree>
    <p:extLst>
      <p:ext uri="{BB962C8B-B14F-4D97-AF65-F5344CB8AC3E}">
        <p14:creationId xmlns:p14="http://schemas.microsoft.com/office/powerpoint/2010/main" val="787898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E50B44-48E6-416C-9860-3C03878314C7}"/>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Conclusions</a:t>
            </a:r>
          </a:p>
        </p:txBody>
      </p:sp>
      <p:sp>
        <p:nvSpPr>
          <p:cNvPr id="2" name="Rectangle 1">
            <a:extLst>
              <a:ext uri="{FF2B5EF4-FFF2-40B4-BE49-F238E27FC236}">
                <a16:creationId xmlns:a16="http://schemas.microsoft.com/office/drawing/2014/main" id="{9AFB84F0-75DD-4F99-9444-0BF9DFCD2BEB}"/>
              </a:ext>
            </a:extLst>
          </p:cNvPr>
          <p:cNvSpPr>
            <a:spLocks noGrp="1"/>
          </p:cNvSpPr>
          <p:nvPr/>
        </p:nvSpPr>
        <p:spPr>
          <a:xfrm>
            <a:off x="609600" y="1609725"/>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A good fit can hide the wrong physical model</a:t>
            </a:r>
          </a:p>
        </p:txBody>
      </p:sp>
      <p:sp>
        <p:nvSpPr>
          <p:cNvPr id="3" name="Rectangle 2">
            <a:extLst>
              <a:ext uri="{FF2B5EF4-FFF2-40B4-BE49-F238E27FC236}">
                <a16:creationId xmlns:a16="http://schemas.microsoft.com/office/drawing/2014/main" id="{0B2C7386-EAD4-4C99-88E7-41B295B555FC}"/>
              </a:ext>
            </a:extLst>
          </p:cNvPr>
          <p:cNvSpPr>
            <a:spLocks noGrp="1"/>
          </p:cNvSpPr>
          <p:nvPr/>
        </p:nvSpPr>
        <p:spPr>
          <a:xfrm>
            <a:off x="609600" y="2219325"/>
            <a:ext cx="11125200" cy="62865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The bead example fits the data but gets the link between two times wrong.</a:t>
            </a:r>
          </a:p>
        </p:txBody>
      </p:sp>
      <p:sp>
        <p:nvSpPr>
          <p:cNvPr id="4" name="Rectangle 3">
            <a:extLst>
              <a:ext uri="{FF2B5EF4-FFF2-40B4-BE49-F238E27FC236}">
                <a16:creationId xmlns:a16="http://schemas.microsoft.com/office/drawing/2014/main" id="{6ACA5743-0522-4422-A526-56BBA71F09D6}"/>
              </a:ext>
            </a:extLst>
          </p:cNvPr>
          <p:cNvSpPr>
            <a:spLocks noGrp="1"/>
          </p:cNvSpPr>
          <p:nvPr/>
        </p:nvSpPr>
        <p:spPr>
          <a:xfrm>
            <a:off x="609600" y="3257550"/>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Cost, reasoning effort, and completion all matter</a:t>
            </a:r>
          </a:p>
        </p:txBody>
      </p:sp>
      <p:sp>
        <p:nvSpPr>
          <p:cNvPr id="5" name="Rectangle 4">
            <a:extLst>
              <a:ext uri="{FF2B5EF4-FFF2-40B4-BE49-F238E27FC236}">
                <a16:creationId xmlns:a16="http://schemas.microsoft.com/office/drawing/2014/main" id="{2B6D1906-A7F2-4178-AA65-A670BAAA2EE4}"/>
              </a:ext>
            </a:extLst>
          </p:cNvPr>
          <p:cNvSpPr>
            <a:spLocks noGrp="1"/>
          </p:cNvSpPr>
          <p:nvPr/>
        </p:nvSpPr>
        <p:spPr>
          <a:xfrm>
            <a:off x="609600" y="3867150"/>
            <a:ext cx="11125200" cy="62865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Sol 6 Low and High reach the high-success end of the observed no-hint frontier.</a:t>
            </a:r>
          </a:p>
        </p:txBody>
      </p:sp>
      <p:sp>
        <p:nvSpPr>
          <p:cNvPr id="6" name="Rectangle 5">
            <a:extLst>
              <a:ext uri="{FF2B5EF4-FFF2-40B4-BE49-F238E27FC236}">
                <a16:creationId xmlns:a16="http://schemas.microsoft.com/office/drawing/2014/main" id="{5D605833-9C79-493D-84E5-16F6E9A05EBF}"/>
              </a:ext>
            </a:extLst>
          </p:cNvPr>
          <p:cNvSpPr>
            <a:spLocks noGrp="1"/>
          </p:cNvSpPr>
          <p:nvPr/>
        </p:nvSpPr>
        <p:spPr>
          <a:xfrm>
            <a:off x="609600" y="4905375"/>
            <a:ext cx="11125200" cy="495300"/>
          </a:xfrm>
          <a:prstGeom prst="rect">
            <a:avLst/>
          </a:prstGeom>
          <a:noFill/>
          <a:ln w="0">
            <a:noFill/>
          </a:ln>
        </p:spPr>
        <p:txBody>
          <a:bodyPr wrap="square" lIns="0" tIns="0" rIns="0" bIns="0" anchor="t"/>
          <a:lstStyle>
            <a:defPPr algn="l">
              <a:defRPr sz="2550" b="1">
                <a:solidFill>
                  <a:srgbClr val="111111"/>
                </a:solidFill>
                <a:latin typeface="Times New Roman"/>
                <a:ea typeface="Times New Roman"/>
                <a:cs typeface="Times New Roman"/>
              </a:defRPr>
            </a:defPPr>
          </a:lstStyle>
          <a:p>
            <a:pPr algn="l">
              <a:buNone/>
              <a:defRPr sz="2550" b="1">
                <a:solidFill>
                  <a:srgbClr val="111111"/>
                </a:solidFill>
                <a:latin typeface="Times New Roman"/>
                <a:ea typeface="Times New Roman"/>
                <a:cs typeface="Times New Roman"/>
              </a:defRPr>
            </a:pPr>
            <a:r>
              <a:rPr sz="2550" b="1">
                <a:solidFill>
                  <a:srgbClr val="111111"/>
                </a:solidFill>
                <a:latin typeface="Times New Roman"/>
                <a:ea typeface="Times New Roman"/>
                <a:cs typeface="Times New Roman"/>
              </a:rPr>
              <a:t>The hint comparison is the remaining experiment</a:t>
            </a:r>
          </a:p>
        </p:txBody>
      </p:sp>
      <p:sp>
        <p:nvSpPr>
          <p:cNvPr id="7" name="Rectangle 6">
            <a:extLst>
              <a:ext uri="{FF2B5EF4-FFF2-40B4-BE49-F238E27FC236}">
                <a16:creationId xmlns:a16="http://schemas.microsoft.com/office/drawing/2014/main" id="{4FB740C6-2A78-43B4-94E0-F1DA4CC2609E}"/>
              </a:ext>
            </a:extLst>
          </p:cNvPr>
          <p:cNvSpPr>
            <a:spLocks noGrp="1"/>
          </p:cNvSpPr>
          <p:nvPr/>
        </p:nvSpPr>
        <p:spPr>
          <a:xfrm>
            <a:off x="609600" y="5514975"/>
            <a:ext cx="11125200" cy="457200"/>
          </a:xfrm>
          <a:prstGeom prst="rect">
            <a:avLst/>
          </a:prstGeom>
          <a:noFill/>
          <a:ln w="0">
            <a:noFill/>
          </a:ln>
        </p:spPr>
        <p:txBody>
          <a:bodyPr wrap="square" lIns="0" tIns="0" rIns="0" bIns="0" anchor="t"/>
          <a:lstStyle>
            <a:defPPr algn="l">
              <a:defRPr sz="2175" b="0">
                <a:solidFill>
                  <a:srgbClr val="444444"/>
                </a:solidFill>
                <a:latin typeface="Times New Roman"/>
                <a:ea typeface="Times New Roman"/>
                <a:cs typeface="Times New Roman"/>
              </a:defRPr>
            </a:defPPr>
          </a:lstStyle>
          <a:p>
            <a:pPr algn="l">
              <a:buNone/>
              <a:defRPr sz="2175" b="0">
                <a:solidFill>
                  <a:srgbClr val="444444"/>
                </a:solidFill>
                <a:latin typeface="Times New Roman"/>
                <a:ea typeface="Times New Roman"/>
                <a:cs typeface="Times New Roman"/>
              </a:defRPr>
            </a:pPr>
            <a:r>
              <a:rPr sz="2175" b="0">
                <a:solidFill>
                  <a:srgbClr val="444444"/>
                </a:solidFill>
                <a:latin typeface="Times New Roman"/>
                <a:ea typeface="Times New Roman"/>
                <a:cs typeface="Times New Roman"/>
              </a:rPr>
              <a:t>We will test whether targeted physical guidance improves success per dollar.</a:t>
            </a:r>
          </a:p>
        </p:txBody>
      </p:sp>
      <p:sp>
        <p:nvSpPr>
          <p:cNvPr id="10" name="Rectangle 9">
            <a:extLst>
              <a:ext uri="{FF2B5EF4-FFF2-40B4-BE49-F238E27FC236}">
                <a16:creationId xmlns:a16="http://schemas.microsoft.com/office/drawing/2014/main" id="{CE164575-2928-4D3E-956F-8803F36A47D9}"/>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11</a:t>
            </a:r>
          </a:p>
        </p:txBody>
      </p:sp>
    </p:spTree>
    <p:extLst>
      <p:ext uri="{BB962C8B-B14F-4D97-AF65-F5344CB8AC3E}">
        <p14:creationId xmlns:p14="http://schemas.microsoft.com/office/powerpoint/2010/main" val="549842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B0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9447901-9249-469C-A67F-257239997CC0}"/>
              </a:ext>
            </a:extLst>
          </p:cNvPr>
          <p:cNvSpPr>
            <a:spLocks noGrp="1"/>
          </p:cNvSpPr>
          <p:nvPr/>
        </p:nvSpPr>
        <p:spPr>
          <a:xfrm>
            <a:off x="609600" y="2333625"/>
            <a:ext cx="10477500" cy="952500"/>
          </a:xfrm>
          <a:prstGeom prst="rect">
            <a:avLst/>
          </a:prstGeom>
          <a:noFill/>
          <a:ln w="0">
            <a:noFill/>
          </a:ln>
        </p:spPr>
        <p:txBody>
          <a:bodyPr wrap="square" lIns="0" tIns="0" rIns="0" bIns="0" anchor="t"/>
          <a:lstStyle>
            <a:defPPr algn="l">
              <a:defRPr sz="5700" b="1" i="0">
                <a:solidFill>
                  <a:srgbClr val="FFFFFF"/>
                </a:solidFill>
                <a:latin typeface="Times New Roman"/>
                <a:ea typeface="Times New Roman"/>
                <a:cs typeface="Times New Roman"/>
              </a:defRPr>
            </a:defPPr>
          </a:lstStyle>
          <a:p>
            <a:pPr algn="l">
              <a:buNone/>
              <a:defRPr sz="5700" b="1" i="0">
                <a:solidFill>
                  <a:srgbClr val="FFFFFF"/>
                </a:solidFill>
                <a:latin typeface="Times New Roman"/>
                <a:ea typeface="Times New Roman"/>
                <a:cs typeface="Times New Roman"/>
              </a:defRPr>
            </a:pPr>
            <a:r>
              <a:rPr sz="5700" b="1" i="0">
                <a:solidFill>
                  <a:srgbClr val="FFFFFF"/>
                </a:solidFill>
                <a:latin typeface="Times New Roman"/>
                <a:ea typeface="Times New Roman"/>
                <a:cs typeface="Times New Roman"/>
              </a:rPr>
              <a:t>Questions</a:t>
            </a:r>
          </a:p>
        </p:txBody>
      </p:sp>
      <p:sp>
        <p:nvSpPr>
          <p:cNvPr id="2" name="Rectangle 1">
            <a:extLst>
              <a:ext uri="{FF2B5EF4-FFF2-40B4-BE49-F238E27FC236}">
                <a16:creationId xmlns:a16="http://schemas.microsoft.com/office/drawing/2014/main" id="{2AE705A4-0FC6-405B-B3A2-4281C7C3DE5F}"/>
              </a:ext>
            </a:extLst>
          </p:cNvPr>
          <p:cNvSpPr>
            <a:spLocks noGrp="1"/>
          </p:cNvSpPr>
          <p:nvPr/>
        </p:nvSpPr>
        <p:spPr>
          <a:xfrm>
            <a:off x="609600" y="3667125"/>
            <a:ext cx="7620000" cy="476250"/>
          </a:xfrm>
          <a:prstGeom prst="rect">
            <a:avLst/>
          </a:prstGeom>
          <a:noFill/>
          <a:ln w="0">
            <a:noFill/>
          </a:ln>
        </p:spPr>
        <p:txBody>
          <a:bodyPr wrap="square" lIns="0" tIns="0" rIns="0" bIns="0" anchor="t"/>
          <a:lstStyle>
            <a:defPPr algn="l">
              <a:defRPr sz="2400" b="0" i="0">
                <a:solidFill>
                  <a:srgbClr val="D1D5DB"/>
                </a:solidFill>
                <a:latin typeface="Times New Roman"/>
                <a:ea typeface="Times New Roman"/>
                <a:cs typeface="Times New Roman"/>
              </a:defRPr>
            </a:defPPr>
          </a:lstStyle>
          <a:p>
            <a:pPr algn="l">
              <a:buNone/>
              <a:defRPr sz="2400" b="0" i="0">
                <a:solidFill>
                  <a:srgbClr val="D1D5DB"/>
                </a:solidFill>
                <a:latin typeface="Times New Roman"/>
                <a:ea typeface="Times New Roman"/>
                <a:cs typeface="Times New Roman"/>
              </a:defRPr>
            </a:pPr>
            <a:r>
              <a:rPr sz="2400" b="0" i="0">
                <a:solidFill>
                  <a:srgbClr val="D1D5DB"/>
                </a:solidFill>
                <a:latin typeface="Times New Roman"/>
                <a:ea typeface="Times New Roman"/>
                <a:cs typeface="Times New Roman"/>
              </a:rPr>
              <a:t>3 minutes</a:t>
            </a:r>
          </a:p>
        </p:txBody>
      </p:sp>
    </p:spTree>
    <p:extLst>
      <p:ext uri="{BB962C8B-B14F-4D97-AF65-F5344CB8AC3E}">
        <p14:creationId xmlns:p14="http://schemas.microsoft.com/office/powerpoint/2010/main" val="471599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47441D-9E7C-446E-9907-F2E07DAC68B8}"/>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all complete no-hint settings</a:t>
            </a:r>
          </a:p>
        </p:txBody>
      </p:sp>
      <p:sp>
        <p:nvSpPr>
          <p:cNvPr id="2" name="Rectangle 1">
            <a:extLst>
              <a:ext uri="{FF2B5EF4-FFF2-40B4-BE49-F238E27FC236}">
                <a16:creationId xmlns:a16="http://schemas.microsoft.com/office/drawing/2014/main" id="{615984E6-F9CE-4148-9384-268D33D7F223}"/>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Original sweep only. Costs are estimated USD per attempt.</a:t>
            </a:r>
          </a:p>
        </p:txBody>
      </p:sp>
      <p:graphicFrame>
        <p:nvGraphicFramePr>
          <p:cNvPr id="4" name="Table 3">
            <a:extLst>
              <a:ext uri="{FF2B5EF4-FFF2-40B4-BE49-F238E27FC236}">
                <a16:creationId xmlns:a16="http://schemas.microsoft.com/office/drawing/2014/main" id="{929D89AD-9ED5-4D3B-9F3D-15F52636397D}"/>
              </a:ext>
            </a:extLst>
          </p:cNvPr>
          <p:cNvGraphicFramePr/>
          <p:nvPr/>
        </p:nvGraphicFramePr>
        <p:xfrm>
          <a:off x="457200" y="1533525"/>
          <a:ext cx="11277600" cy="4267200"/>
        </p:xfrm>
        <a:graphic>
          <a:graphicData uri="http://schemas.openxmlformats.org/drawingml/2006/table">
            <a:tbl>
              <a:tblPr/>
              <a:tblGrid>
                <a:gridCol w="3483657">
                  <a:extLst>
                    <a:ext uri="{9D8B030D-6E8A-4147-A177-3AD203B41FA5}">
                      <a16:colId xmlns:a16="http://schemas.microsoft.com/office/drawing/2014/main" val="20000"/>
                    </a:ext>
                  </a:extLst>
                </a:gridCol>
                <a:gridCol w="2066576">
                  <a:extLst>
                    <a:ext uri="{9D8B030D-6E8A-4147-A177-3AD203B41FA5}">
                      <a16:colId xmlns:a16="http://schemas.microsoft.com/office/drawing/2014/main" val="20001"/>
                    </a:ext>
                  </a:extLst>
                </a:gridCol>
                <a:gridCol w="1377717">
                  <a:extLst>
                    <a:ext uri="{9D8B030D-6E8A-4147-A177-3AD203B41FA5}">
                      <a16:colId xmlns:a16="http://schemas.microsoft.com/office/drawing/2014/main" val="20002"/>
                    </a:ext>
                  </a:extLst>
                </a:gridCol>
                <a:gridCol w="2332279">
                  <a:extLst>
                    <a:ext uri="{9D8B030D-6E8A-4147-A177-3AD203B41FA5}">
                      <a16:colId xmlns:a16="http://schemas.microsoft.com/office/drawing/2014/main" val="20003"/>
                    </a:ext>
                  </a:extLst>
                </a:gridCol>
                <a:gridCol w="2017372">
                  <a:extLst>
                    <a:ext uri="{9D8B030D-6E8A-4147-A177-3AD203B41FA5}">
                      <a16:colId xmlns:a16="http://schemas.microsoft.com/office/drawing/2014/main" val="20004"/>
                    </a:ext>
                  </a:extLst>
                </a:gridCol>
              </a:tblGrid>
              <a:tr h="266700">
                <a:tc>
                  <a:txBody>
                    <a:bodyPr/>
                    <a:lstStyle/>
                    <a:p>
                      <a:r>
                        <a:rPr sz="1500" b="1">
                          <a:solidFill>
                            <a:srgbClr val="FFFFFF"/>
                          </a:solidFill>
                          <a:latin typeface="Times New Roman"/>
                          <a:ea typeface="Times New Roman"/>
                          <a:cs typeface="Times New Roman"/>
                        </a:rPr>
                        <a:t>Model</a:t>
                      </a:r>
                    </a:p>
                  </a:txBody>
                  <a:tcPr marL="114300" marR="114300" marT="19050" marB="19050"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Effort</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Passes</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Execution errors</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500" b="1">
                          <a:solidFill>
                            <a:srgbClr val="FFFFFF"/>
                          </a:solidFill>
                          <a:latin typeface="Times New Roman"/>
                          <a:ea typeface="Times New Roman"/>
                          <a:cs typeface="Times New Roman"/>
                        </a:rPr>
                        <a:t>Mean cost</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extLst>
                  <a:ext uri="{0D108BD9-81ED-4DB2-BD59-A6C34878D82A}">
                    <a16:rowId xmlns:a16="http://schemas.microsoft.com/office/drawing/2014/main" val="10000"/>
                  </a:ext>
                </a:extLst>
              </a:tr>
              <a:tr h="266700">
                <a:tc>
                  <a:txBody>
                    <a:bodyPr/>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$0.0040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01"/>
                  </a:ext>
                </a:extLst>
              </a:tr>
              <a:tr h="266700">
                <a:tc>
                  <a:txBody>
                    <a:bodyPr/>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1/39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$0.0052</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extLst>
                  <a:ext uri="{0D108BD9-81ED-4DB2-BD59-A6C34878D82A}">
                    <a16:rowId xmlns:a16="http://schemas.microsoft.com/office/drawing/2014/main" val="10002"/>
                  </a:ext>
                </a:extLst>
              </a:tr>
              <a:tr h="266700">
                <a:tc>
                  <a:txBody>
                    <a:bodyPr/>
                    <a:lstStyle/>
                    <a:p>
                      <a:r>
                        <a:rPr sz="1500" b="0">
                          <a:solidFill>
                            <a:srgbClr val="111111"/>
                          </a:solidFill>
                          <a:latin typeface="Times New Roman"/>
                          <a:ea typeface="Times New Roman"/>
                          <a:cs typeface="Times New Roman"/>
                        </a:rPr>
                        <a:t>GPT-6 Luna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12/39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$0.0126</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03"/>
                  </a:ext>
                </a:extLst>
              </a:tr>
              <a:tr h="266700">
                <a:tc>
                  <a:txBody>
                    <a:bodyPr/>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37/39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$0.0773</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extLst>
                  <a:ext uri="{0D108BD9-81ED-4DB2-BD59-A6C34878D82A}">
                    <a16:rowId xmlns:a16="http://schemas.microsoft.com/office/drawing/2014/main" val="10004"/>
                  </a:ext>
                </a:extLst>
              </a:tr>
              <a:tr h="266700">
                <a:tc>
                  <a:txBody>
                    <a:bodyPr/>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$0.1975</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05"/>
                  </a:ext>
                </a:extLst>
              </a:tr>
              <a:tr h="266700">
                <a:tc>
                  <a:txBody>
                    <a:bodyPr/>
                    <a:lstStyle/>
                    <a:p>
                      <a:r>
                        <a:rPr sz="1500" b="0">
                          <a:solidFill>
                            <a:srgbClr val="111111"/>
                          </a:solidFill>
                          <a:latin typeface="Times New Roman"/>
                          <a:ea typeface="Times New Roman"/>
                          <a:cs typeface="Times New Roman"/>
                        </a:rPr>
                        <a:t>GPT-6 Sol</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$0.2306</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extLst>
                  <a:ext uri="{0D108BD9-81ED-4DB2-BD59-A6C34878D82A}">
                    <a16:rowId xmlns:a16="http://schemas.microsoft.com/office/drawing/2014/main" val="10006"/>
                  </a:ext>
                </a:extLst>
              </a:tr>
              <a:tr h="266700">
                <a:tc>
                  <a:txBody>
                    <a:bodyPr/>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$0.1107</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07"/>
                  </a:ext>
                </a:extLst>
              </a:tr>
              <a:tr h="266700">
                <a:tc>
                  <a:txBody>
                    <a:bodyPr/>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9/39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$0.1942</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extLst>
                  <a:ext uri="{0D108BD9-81ED-4DB2-BD59-A6C34878D82A}">
                    <a16:rowId xmlns:a16="http://schemas.microsoft.com/office/drawing/2014/main" val="10008"/>
                  </a:ext>
                </a:extLst>
              </a:tr>
              <a:tr h="266700">
                <a:tc>
                  <a:txBody>
                    <a:bodyPr/>
                    <a:lstStyle/>
                    <a:p>
                      <a:r>
                        <a:rPr sz="15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19/39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4</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$0.3196</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09"/>
                  </a:ext>
                </a:extLst>
              </a:tr>
              <a:tr h="266700">
                <a:tc>
                  <a:txBody>
                    <a:bodyPr/>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$0.4450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extLst>
                  <a:ext uri="{0D108BD9-81ED-4DB2-BD59-A6C34878D82A}">
                    <a16:rowId xmlns:a16="http://schemas.microsoft.com/office/drawing/2014/main" val="10010"/>
                  </a:ext>
                </a:extLst>
              </a:tr>
              <a:tr h="266700">
                <a:tc>
                  <a:txBody>
                    <a:bodyPr/>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39/39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$0.7132</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11"/>
                  </a:ext>
                </a:extLst>
              </a:tr>
              <a:tr h="266700">
                <a:tc>
                  <a:txBody>
                    <a:bodyPr/>
                    <a:lstStyle/>
                    <a:p>
                      <a:r>
                        <a:rPr sz="1500" b="0">
                          <a:solidFill>
                            <a:srgbClr val="111111"/>
                          </a:solidFill>
                          <a:latin typeface="Times New Roman"/>
                          <a:ea typeface="Times New Roman"/>
                          <a:cs typeface="Times New Roman"/>
                        </a:rPr>
                        <a:t>GPT-6 Astra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Extra High</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37/39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2</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$1.0801</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extLst>
                  <a:ext uri="{0D108BD9-81ED-4DB2-BD59-A6C34878D82A}">
                    <a16:rowId xmlns:a16="http://schemas.microsoft.com/office/drawing/2014/main" val="10012"/>
                  </a:ext>
                </a:extLst>
              </a:tr>
              <a:tr h="266700">
                <a:tc>
                  <a:txBody>
                    <a:bodyPr/>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High</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34</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 $0.1500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13"/>
                  </a:ext>
                </a:extLst>
              </a:tr>
              <a:tr h="266700">
                <a:tc>
                  <a:txBody>
                    <a:bodyPr/>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Low</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0/39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33</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500" b="0">
                          <a:solidFill>
                            <a:srgbClr val="111111"/>
                          </a:solidFill>
                          <a:latin typeface="Times New Roman"/>
                          <a:ea typeface="Times New Roman"/>
                          <a:cs typeface="Times New Roman"/>
                        </a:rPr>
                        <a:t>≥ $0.0995</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extLst>
                  <a:ext uri="{0D108BD9-81ED-4DB2-BD59-A6C34878D82A}">
                    <a16:rowId xmlns:a16="http://schemas.microsoft.com/office/drawing/2014/main" val="10014"/>
                  </a:ext>
                </a:extLst>
              </a:tr>
              <a:tr h="266700">
                <a:tc>
                  <a:txBody>
                    <a:bodyPr/>
                    <a:lstStyle/>
                    <a:p>
                      <a:r>
                        <a:rPr sz="1500" b="0">
                          <a:solidFill>
                            <a:srgbClr val="111111"/>
                          </a:solidFill>
                          <a:latin typeface="Times New Roman"/>
                          <a:ea typeface="Times New Roman"/>
                          <a:cs typeface="Times New Roman"/>
                        </a:rPr>
                        <a:t>DeepSeek V4.1 Flash</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Max</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0/39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38</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500" b="0">
                          <a:solidFill>
                            <a:srgbClr val="111111"/>
                          </a:solidFill>
                          <a:latin typeface="Times New Roman"/>
                          <a:ea typeface="Times New Roman"/>
                          <a:cs typeface="Times New Roman"/>
                        </a:rPr>
                        <a:t>≥ $0.2450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15"/>
                  </a:ext>
                </a:extLst>
              </a:tr>
            </a:tbl>
          </a:graphicData>
        </a:graphic>
      </p:graphicFrame>
      <p:sp>
        <p:nvSpPr>
          <p:cNvPr id="5" name="Rectangle 4">
            <a:extLst>
              <a:ext uri="{FF2B5EF4-FFF2-40B4-BE49-F238E27FC236}">
                <a16:creationId xmlns:a16="http://schemas.microsoft.com/office/drawing/2014/main" id="{C770164C-450E-4724-BF61-A374BD500079}"/>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DeepSeek None is partial at 3/39 and excluded. API-equivalent estimates differ from subscription usage.</a:t>
            </a:r>
          </a:p>
        </p:txBody>
      </p:sp>
      <p:sp>
        <p:nvSpPr>
          <p:cNvPr id="7" name="Rectangle 6">
            <a:extLst>
              <a:ext uri="{FF2B5EF4-FFF2-40B4-BE49-F238E27FC236}">
                <a16:creationId xmlns:a16="http://schemas.microsoft.com/office/drawing/2014/main" id="{535A85E1-E730-4726-A620-C0DA6E491EF0}"/>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13</a:t>
            </a:r>
          </a:p>
        </p:txBody>
      </p:sp>
    </p:spTree>
    <p:extLst>
      <p:ext uri="{BB962C8B-B14F-4D97-AF65-F5344CB8AC3E}">
        <p14:creationId xmlns:p14="http://schemas.microsoft.com/office/powerpoint/2010/main" val="1860972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8893FD5-19C5-4725-9012-D0BB7596899B}"/>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collaborator results remain separate</a:t>
            </a:r>
          </a:p>
        </p:txBody>
      </p:sp>
      <p:sp>
        <p:nvSpPr>
          <p:cNvPr id="2" name="Rectangle 1">
            <a:extLst>
              <a:ext uri="{FF2B5EF4-FFF2-40B4-BE49-F238E27FC236}">
                <a16:creationId xmlns:a16="http://schemas.microsoft.com/office/drawing/2014/main" id="{A9CE83C5-C343-47FE-884F-5B1A3DB6AEEC}"/>
              </a:ext>
            </a:extLst>
          </p:cNvPr>
          <p:cNvSpPr>
            <a:spLocks noGrp="1"/>
          </p:cNvSpPr>
          <p:nvPr/>
        </p:nvSpPr>
        <p:spPr>
          <a:xfrm>
            <a:off x="457200" y="914400"/>
            <a:ext cx="11277600" cy="457200"/>
          </a:xfrm>
          <a:prstGeom prst="rect">
            <a:avLst/>
          </a:prstGeom>
          <a:noFill/>
          <a:ln w="0">
            <a:noFill/>
          </a:ln>
        </p:spPr>
        <p:txBody>
          <a:bodyPr wrap="square" lIns="0" tIns="0" rIns="0" bIns="0" anchor="t"/>
          <a:lstStyle>
            <a:defPPr algn="l">
              <a:defRPr sz="1875" b="0" i="0">
                <a:solidFill>
                  <a:srgbClr val="444444"/>
                </a:solidFill>
                <a:latin typeface="Times New Roman"/>
                <a:ea typeface="Times New Roman"/>
                <a:cs typeface="Times New Roman"/>
              </a:defRPr>
            </a:defPPr>
          </a:lstStyle>
          <a:p>
            <a:pPr algn="l">
              <a:buNone/>
              <a:defRPr sz="1875" b="0" i="0">
                <a:solidFill>
                  <a:srgbClr val="444444"/>
                </a:solidFill>
                <a:latin typeface="Times New Roman"/>
                <a:ea typeface="Times New Roman"/>
                <a:cs typeface="Times New Roman"/>
              </a:defRPr>
            </a:pPr>
            <a:r>
              <a:rPr sz="1875" b="0" i="0">
                <a:solidFill>
                  <a:srgbClr val="444444"/>
                </a:solidFill>
                <a:latin typeface="Times New Roman"/>
                <a:ea typeface="Times New Roman"/>
                <a:cs typeface="Times New Roman"/>
              </a:rPr>
              <a:t>390 published no-hint trials on the matching 13-task snapshot.</a:t>
            </a:r>
          </a:p>
        </p:txBody>
      </p:sp>
      <p:graphicFrame>
        <p:nvGraphicFramePr>
          <p:cNvPr id="4" name="Table 3">
            <a:extLst>
              <a:ext uri="{FF2B5EF4-FFF2-40B4-BE49-F238E27FC236}">
                <a16:creationId xmlns:a16="http://schemas.microsoft.com/office/drawing/2014/main" id="{10DA371C-3D72-4C06-B305-A52DB276A6A0}"/>
              </a:ext>
            </a:extLst>
          </p:cNvPr>
          <p:cNvGraphicFramePr/>
          <p:nvPr/>
        </p:nvGraphicFramePr>
        <p:xfrm>
          <a:off x="457200" y="1657350"/>
          <a:ext cx="11277600" cy="3876675"/>
        </p:xfrm>
        <a:graphic>
          <a:graphicData uri="http://schemas.openxmlformats.org/drawingml/2006/table">
            <a:tbl>
              <a:tblPr/>
              <a:tblGrid>
                <a:gridCol w="4083948">
                  <a:extLst>
                    <a:ext uri="{9D8B030D-6E8A-4147-A177-3AD203B41FA5}">
                      <a16:colId xmlns:a16="http://schemas.microsoft.com/office/drawing/2014/main" val="20000"/>
                    </a:ext>
                  </a:extLst>
                </a:gridCol>
                <a:gridCol w="2755435">
                  <a:extLst>
                    <a:ext uri="{9D8B030D-6E8A-4147-A177-3AD203B41FA5}">
                      <a16:colId xmlns:a16="http://schemas.microsoft.com/office/drawing/2014/main" val="20001"/>
                    </a:ext>
                  </a:extLst>
                </a:gridCol>
                <a:gridCol w="2263393">
                  <a:extLst>
                    <a:ext uri="{9D8B030D-6E8A-4147-A177-3AD203B41FA5}">
                      <a16:colId xmlns:a16="http://schemas.microsoft.com/office/drawing/2014/main" val="20002"/>
                    </a:ext>
                  </a:extLst>
                </a:gridCol>
                <a:gridCol w="2174825">
                  <a:extLst>
                    <a:ext uri="{9D8B030D-6E8A-4147-A177-3AD203B41FA5}">
                      <a16:colId xmlns:a16="http://schemas.microsoft.com/office/drawing/2014/main" val="20003"/>
                    </a:ext>
                  </a:extLst>
                </a:gridCol>
              </a:tblGrid>
              <a:tr h="352425">
                <a:tc>
                  <a:txBody>
                    <a:bodyPr/>
                    <a:lstStyle/>
                    <a:p>
                      <a:r>
                        <a:rPr sz="1800" b="1">
                          <a:solidFill>
                            <a:srgbClr val="FFFFFF"/>
                          </a:solidFill>
                          <a:latin typeface="Times New Roman"/>
                          <a:ea typeface="Times New Roman"/>
                          <a:cs typeface="Times New Roman"/>
                        </a:rPr>
                        <a:t>Model</a:t>
                      </a:r>
                    </a:p>
                  </a:txBody>
                  <a:tcPr marL="114300" marR="114300" marT="19050" marB="19050" anchor="ctr">
                    <a:lnL w="5715">
                      <a:solidFill>
                        <a:srgbClr val="C7CBD1"/>
                      </a:solidFill>
                      <a:prstDash val="soli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800" b="1">
                          <a:solidFill>
                            <a:srgbClr val="FFFFFF"/>
                          </a:solidFill>
                          <a:latin typeface="Times New Roman"/>
                          <a:ea typeface="Times New Roman"/>
                          <a:cs typeface="Times New Roman"/>
                        </a:rPr>
                        <a:t>Effort</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800" b="1">
                          <a:solidFill>
                            <a:srgbClr val="FFFFFF"/>
                          </a:solidFill>
                          <a:latin typeface="Times New Roman"/>
                          <a:ea typeface="Times New Roman"/>
                          <a:cs typeface="Times New Roman"/>
                        </a:rPr>
                        <a:t>Passes / 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tc>
                  <a:txBody>
                    <a:bodyPr/>
                    <a:lstStyle/>
                    <a:p>
                      <a:r>
                        <a:rPr sz="1800" b="1">
                          <a:solidFill>
                            <a:srgbClr val="FFFFFF"/>
                          </a:solidFill>
                          <a:latin typeface="Times New Roman"/>
                          <a:ea typeface="Times New Roman"/>
                          <a:cs typeface="Times New Roman"/>
                        </a:rPr>
                        <a:t>Execution errors</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a:solidFill>
                        <a:srgbClr val="C7CBD1"/>
                      </a:solidFill>
                      <a:prstDash val="solid"/>
                    </a:lnT>
                    <a:lnB w="5715">
                      <a:solidFill>
                        <a:srgbClr val="C7CBD1"/>
                      </a:solidFill>
                      <a:prstDash val="solid"/>
                    </a:lnB>
                    <a:solidFill>
                      <a:srgbClr val="374151"/>
                    </a:solidFill>
                  </a:tcPr>
                </a:tc>
                <a:extLst>
                  <a:ext uri="{0D108BD9-81ED-4DB2-BD59-A6C34878D82A}">
                    <a16:rowId xmlns:a16="http://schemas.microsoft.com/office/drawing/2014/main" val="10000"/>
                  </a:ext>
                </a:extLst>
              </a:tr>
              <a:tr h="352425">
                <a:tc>
                  <a:txBody>
                    <a:bodyPr/>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800" b="0">
                          <a:solidFill>
                            <a:srgbClr val="111111"/>
                          </a:solidFill>
                          <a:latin typeface="Times New Roman"/>
                          <a:ea typeface="Times New Roman"/>
                          <a:cs typeface="Times New Roman"/>
                        </a:rPr>
                        <a:t>None</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800" b="0">
                          <a:solidFill>
                            <a:srgbClr val="111111"/>
                          </a:solidFill>
                          <a:latin typeface="Times New Roman"/>
                          <a:ea typeface="Times New Roman"/>
                          <a:cs typeface="Times New Roman"/>
                        </a:rPr>
                        <a:t>1 / 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8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01"/>
                  </a:ext>
                </a:extLst>
              </a:tr>
              <a:tr h="352425">
                <a:tc>
                  <a:txBody>
                    <a:bodyPr/>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800" b="0">
                          <a:solidFill>
                            <a:srgbClr val="111111"/>
                          </a:solidFill>
                          <a:latin typeface="Times New Roman"/>
                          <a:ea typeface="Times New Roman"/>
                          <a:cs typeface="Times New Roman"/>
                        </a:rPr>
                        <a:t>Low</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800" b="0">
                          <a:solidFill>
                            <a:srgbClr val="111111"/>
                          </a:solidFill>
                          <a:latin typeface="Times New Roman"/>
                          <a:ea typeface="Times New Roman"/>
                          <a:cs typeface="Times New Roman"/>
                        </a:rPr>
                        <a:t>0 / 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8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extLst>
                  <a:ext uri="{0D108BD9-81ED-4DB2-BD59-A6C34878D82A}">
                    <a16:rowId xmlns:a16="http://schemas.microsoft.com/office/drawing/2014/main" val="10002"/>
                  </a:ext>
                </a:extLst>
              </a:tr>
              <a:tr h="352425">
                <a:tc>
                  <a:txBody>
                    <a:bodyPr/>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800" b="0">
                          <a:solidFill>
                            <a:srgbClr val="111111"/>
                          </a:solidFill>
                          <a:latin typeface="Times New Roman"/>
                          <a:ea typeface="Times New Roman"/>
                          <a:cs typeface="Times New Roman"/>
                        </a:rPr>
                        <a:t>Medium</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800" b="0">
                          <a:solidFill>
                            <a:srgbClr val="111111"/>
                          </a:solidFill>
                          <a:latin typeface="Times New Roman"/>
                          <a:ea typeface="Times New Roman"/>
                          <a:cs typeface="Times New Roman"/>
                        </a:rPr>
                        <a:t>0 / 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8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03"/>
                  </a:ext>
                </a:extLst>
              </a:tr>
              <a:tr h="352425">
                <a:tc>
                  <a:txBody>
                    <a:bodyPr/>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800" b="0">
                          <a:solidFill>
                            <a:srgbClr val="111111"/>
                          </a:solidFill>
                          <a:latin typeface="Times New Roman"/>
                          <a:ea typeface="Times New Roman"/>
                          <a:cs typeface="Times New Roman"/>
                        </a:rPr>
                        <a:t>High</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800" b="0">
                          <a:solidFill>
                            <a:srgbClr val="111111"/>
                          </a:solidFill>
                          <a:latin typeface="Times New Roman"/>
                          <a:ea typeface="Times New Roman"/>
                          <a:cs typeface="Times New Roman"/>
                        </a:rPr>
                        <a:t>4 / 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800" b="0">
                          <a:solidFill>
                            <a:srgbClr val="111111"/>
                          </a:solidFill>
                          <a:latin typeface="Times New Roman"/>
                          <a:ea typeface="Times New Roman"/>
                          <a:cs typeface="Times New Roman"/>
                        </a:rPr>
                        <a:t>1</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extLst>
                  <a:ext uri="{0D108BD9-81ED-4DB2-BD59-A6C34878D82A}">
                    <a16:rowId xmlns:a16="http://schemas.microsoft.com/office/drawing/2014/main" val="10004"/>
                  </a:ext>
                </a:extLst>
              </a:tr>
              <a:tr h="352425">
                <a:tc>
                  <a:txBody>
                    <a:bodyPr/>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800" b="0">
                          <a:solidFill>
                            <a:srgbClr val="111111"/>
                          </a:solidFill>
                          <a:latin typeface="Times New Roman"/>
                          <a:ea typeface="Times New Roman"/>
                          <a:cs typeface="Times New Roman"/>
                        </a:rPr>
                        <a:t>Extra High</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800" b="0">
                          <a:solidFill>
                            <a:srgbClr val="111111"/>
                          </a:solidFill>
                          <a:latin typeface="Times New Roman"/>
                          <a:ea typeface="Times New Roman"/>
                          <a:cs typeface="Times New Roman"/>
                        </a:rPr>
                        <a:t>6 / 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800" b="0">
                          <a:solidFill>
                            <a:srgbClr val="111111"/>
                          </a:solidFill>
                          <a:latin typeface="Times New Roman"/>
                          <a:ea typeface="Times New Roman"/>
                          <a:cs typeface="Times New Roman"/>
                        </a:rPr>
                        <a:t>1</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05"/>
                  </a:ext>
                </a:extLst>
              </a:tr>
              <a:tr h="352425">
                <a:tc>
                  <a:txBody>
                    <a:bodyPr/>
                    <a:lstStyle/>
                    <a:p>
                      <a:r>
                        <a:rPr sz="1800" b="0">
                          <a:solidFill>
                            <a:srgbClr val="111111"/>
                          </a:solidFill>
                          <a:latin typeface="Times New Roman"/>
                          <a:ea typeface="Times New Roman"/>
                          <a:cs typeface="Times New Roman"/>
                        </a:rPr>
                        <a:t>GPT-5.6 Luna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800" b="0">
                          <a:solidFill>
                            <a:srgbClr val="111111"/>
                          </a:solidFill>
                          <a:latin typeface="Times New Roman"/>
                          <a:ea typeface="Times New Roman"/>
                          <a:cs typeface="Times New Roman"/>
                        </a:rPr>
                        <a:t>Max</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800" b="0">
                          <a:solidFill>
                            <a:srgbClr val="111111"/>
                          </a:solidFill>
                          <a:latin typeface="Times New Roman"/>
                          <a:ea typeface="Times New Roman"/>
                          <a:cs typeface="Times New Roman"/>
                        </a:rPr>
                        <a:t>8 / 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8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extLst>
                  <a:ext uri="{0D108BD9-81ED-4DB2-BD59-A6C34878D82A}">
                    <a16:rowId xmlns:a16="http://schemas.microsoft.com/office/drawing/2014/main" val="10006"/>
                  </a:ext>
                </a:extLst>
              </a:tr>
              <a:tr h="352425">
                <a:tc>
                  <a:txBody>
                    <a:bodyPr/>
                    <a:lstStyle/>
                    <a:p>
                      <a:r>
                        <a:rPr sz="1800" b="0">
                          <a:solidFill>
                            <a:srgbClr val="111111"/>
                          </a:solidFill>
                          <a:latin typeface="Times New Roman"/>
                          <a:ea typeface="Times New Roman"/>
                          <a:cs typeface="Times New Roman"/>
                        </a:rPr>
                        <a:t>GPT-5.6 Sol</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800" b="0">
                          <a:solidFill>
                            <a:srgbClr val="111111"/>
                          </a:solidFill>
                          <a:latin typeface="Times New Roman"/>
                          <a:ea typeface="Times New Roman"/>
                          <a:cs typeface="Times New Roman"/>
                        </a:rPr>
                        <a:t>Low</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800" b="0">
                          <a:solidFill>
                            <a:srgbClr val="111111"/>
                          </a:solidFill>
                          <a:latin typeface="Times New Roman"/>
                          <a:ea typeface="Times New Roman"/>
                          <a:cs typeface="Times New Roman"/>
                        </a:rPr>
                        <a:t>24 / 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8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07"/>
                  </a:ext>
                </a:extLst>
              </a:tr>
              <a:tr h="352425">
                <a:tc>
                  <a:txBody>
                    <a:bodyPr/>
                    <a:lstStyle/>
                    <a:p>
                      <a:r>
                        <a:rPr sz="1800" b="0">
                          <a:solidFill>
                            <a:srgbClr val="111111"/>
                          </a:solidFill>
                          <a:latin typeface="Times New Roman"/>
                          <a:ea typeface="Times New Roman"/>
                          <a:cs typeface="Times New Roman"/>
                        </a:rPr>
                        <a:t>GPT-5.6 Sol</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800" b="0">
                          <a:solidFill>
                            <a:srgbClr val="111111"/>
                          </a:solidFill>
                          <a:latin typeface="Times New Roman"/>
                          <a:ea typeface="Times New Roman"/>
                          <a:cs typeface="Times New Roman"/>
                        </a:rPr>
                        <a:t>Medium</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800" b="0">
                          <a:solidFill>
                            <a:srgbClr val="111111"/>
                          </a:solidFill>
                          <a:latin typeface="Times New Roman"/>
                          <a:ea typeface="Times New Roman"/>
                          <a:cs typeface="Times New Roman"/>
                        </a:rPr>
                        <a:t>31 / 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8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extLst>
                  <a:ext uri="{0D108BD9-81ED-4DB2-BD59-A6C34878D82A}">
                    <a16:rowId xmlns:a16="http://schemas.microsoft.com/office/drawing/2014/main" val="10008"/>
                  </a:ext>
                </a:extLst>
              </a:tr>
              <a:tr h="352425">
                <a:tc>
                  <a:txBody>
                    <a:bodyPr/>
                    <a:lstStyle/>
                    <a:p>
                      <a:r>
                        <a:rPr sz="18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800" b="0">
                          <a:solidFill>
                            <a:srgbClr val="111111"/>
                          </a:solidFill>
                          <a:latin typeface="Times New Roman"/>
                          <a:ea typeface="Times New Roman"/>
                          <a:cs typeface="Times New Roman"/>
                        </a:rPr>
                        <a:t>Low</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800" b="0">
                          <a:solidFill>
                            <a:srgbClr val="111111"/>
                          </a:solidFill>
                          <a:latin typeface="Times New Roman"/>
                          <a:ea typeface="Times New Roman"/>
                          <a:cs typeface="Times New Roman"/>
                        </a:rPr>
                        <a:t>5 / 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tc>
                  <a:txBody>
                    <a:bodyPr/>
                    <a:lstStyle/>
                    <a:p>
                      <a:r>
                        <a:rPr sz="18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FFFFF"/>
                    </a:solidFill>
                  </a:tcPr>
                </a:tc>
                <a:extLst>
                  <a:ext uri="{0D108BD9-81ED-4DB2-BD59-A6C34878D82A}">
                    <a16:rowId xmlns:a16="http://schemas.microsoft.com/office/drawing/2014/main" val="10009"/>
                  </a:ext>
                </a:extLst>
              </a:tr>
              <a:tr h="352425">
                <a:tc>
                  <a:txBody>
                    <a:bodyPr/>
                    <a:lstStyle/>
                    <a:p>
                      <a:r>
                        <a:rPr sz="1800" b="0">
                          <a:solidFill>
                            <a:srgbClr val="111111"/>
                          </a:solidFill>
                          <a:latin typeface="Times New Roman"/>
                          <a:ea typeface="Times New Roman"/>
                          <a:cs typeface="Times New Roman"/>
                        </a:rPr>
                        <a:t>GPT-5.6 Terra</a:t>
                      </a:r>
                    </a:p>
                  </a:txBody>
                  <a:tcPr marL="114300" marR="114300" marT="19050" marB="19050" anchor="ctr">
                    <a:lnL w="5715">
                      <a:solidFill>
                        <a:srgbClr val="C7CBD1"/>
                      </a:solidFill>
                      <a:prstDash val="soli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800" b="0">
                          <a:solidFill>
                            <a:srgbClr val="111111"/>
                          </a:solidFill>
                          <a:latin typeface="Times New Roman"/>
                          <a:ea typeface="Times New Roman"/>
                          <a:cs typeface="Times New Roman"/>
                        </a:rPr>
                        <a:t>Medium</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800" b="0">
                          <a:solidFill>
                            <a:srgbClr val="111111"/>
                          </a:solidFill>
                          <a:latin typeface="Times New Roman"/>
                          <a:ea typeface="Times New Roman"/>
                          <a:cs typeface="Times New Roman"/>
                        </a:rPr>
                        <a:t>5 / 39</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tc>
                  <a:txBody>
                    <a:bodyPr/>
                    <a:lstStyle/>
                    <a:p>
                      <a:r>
                        <a:rPr sz="1800" b="0">
                          <a:solidFill>
                            <a:srgbClr val="111111"/>
                          </a:solidFill>
                          <a:latin typeface="Times New Roman"/>
                          <a:ea typeface="Times New Roman"/>
                          <a:cs typeface="Times New Roman"/>
                        </a:rPr>
                        <a:t>0</a:t>
                      </a:r>
                    </a:p>
                  </a:txBody>
                  <a:tcPr marL="114300" marR="114300" marT="19050" marB="19050" anchor="ctr">
                    <a:lnL w="5715" cap="flat" cmpd="sng" algn="ctr">
                      <a:solidFill>
                        <a:srgbClr val="C7CBD1"/>
                      </a:solidFill>
                      <a:prstDash val="solid"/>
                      <a:round/>
                      <a:headEnd type="none" w="med" len="med"/>
                      <a:tailEnd type="none" w="med" len="med"/>
                    </a:lnL>
                    <a:lnR w="5715">
                      <a:solidFill>
                        <a:srgbClr val="C7CBD1"/>
                      </a:solidFill>
                      <a:prstDash val="solid"/>
                    </a:lnR>
                    <a:lnT w="5715" cap="flat" cmpd="sng" algn="ctr">
                      <a:solidFill>
                        <a:srgbClr val="C7CBD1"/>
                      </a:solidFill>
                      <a:prstDash val="solid"/>
                      <a:round/>
                      <a:headEnd type="none" w="med" len="med"/>
                      <a:tailEnd type="none" w="med" len="med"/>
                    </a:lnT>
                    <a:lnB w="5715">
                      <a:solidFill>
                        <a:srgbClr val="C7CBD1"/>
                      </a:solidFill>
                      <a:prstDash val="solid"/>
                    </a:lnB>
                    <a:solidFill>
                      <a:srgbClr val="F3F4F6"/>
                    </a:solidFill>
                  </a:tcPr>
                </a:tc>
                <a:extLst>
                  <a:ext uri="{0D108BD9-81ED-4DB2-BD59-A6C34878D82A}">
                    <a16:rowId xmlns:a16="http://schemas.microsoft.com/office/drawing/2014/main" val="10010"/>
                  </a:ext>
                </a:extLst>
              </a:tr>
            </a:tbl>
          </a:graphicData>
        </a:graphic>
      </p:graphicFrame>
      <p:sp>
        <p:nvSpPr>
          <p:cNvPr id="5" name="Rectangle 4">
            <a:extLst>
              <a:ext uri="{FF2B5EF4-FFF2-40B4-BE49-F238E27FC236}">
                <a16:creationId xmlns:a16="http://schemas.microsoft.com/office/drawing/2014/main" id="{116D0D02-17BA-4929-B054-012E70EF32FB}"/>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Codex 0.154.0 and concurrency 4, versus 0.160.0 and concurrency 3 locally. Model generations are distinct.</a:t>
            </a:r>
          </a:p>
        </p:txBody>
      </p:sp>
      <p:sp>
        <p:nvSpPr>
          <p:cNvPr id="7" name="Rectangle 6">
            <a:extLst>
              <a:ext uri="{FF2B5EF4-FFF2-40B4-BE49-F238E27FC236}">
                <a16:creationId xmlns:a16="http://schemas.microsoft.com/office/drawing/2014/main" id="{42503B8A-F4EB-4F3D-8FBE-9C1B696EBF68}"/>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14</a:t>
            </a:r>
          </a:p>
        </p:txBody>
      </p:sp>
    </p:spTree>
    <p:extLst>
      <p:ext uri="{BB962C8B-B14F-4D97-AF65-F5344CB8AC3E}">
        <p14:creationId xmlns:p14="http://schemas.microsoft.com/office/powerpoint/2010/main" val="2026827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6BA0FF3-04EA-4212-BFD6-BA0891C308E1}"/>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i="0">
                <a:solidFill>
                  <a:srgbClr val="111111"/>
                </a:solidFill>
                <a:latin typeface="Times New Roman"/>
                <a:ea typeface="Times New Roman"/>
                <a:cs typeface="Times New Roman"/>
              </a:defRPr>
            </a:defPPr>
          </a:lstStyle>
          <a:p>
            <a:pPr algn="l">
              <a:buNone/>
              <a:defRPr sz="3600" b="1" i="0">
                <a:solidFill>
                  <a:srgbClr val="111111"/>
                </a:solidFill>
                <a:latin typeface="Times New Roman"/>
                <a:ea typeface="Times New Roman"/>
                <a:cs typeface="Times New Roman"/>
              </a:defRPr>
            </a:pPr>
            <a:r>
              <a:rPr sz="3600" b="1" i="0">
                <a:solidFill>
                  <a:srgbClr val="111111"/>
                </a:solidFill>
                <a:latin typeface="Times New Roman"/>
                <a:ea typeface="Times New Roman"/>
                <a:cs typeface="Times New Roman"/>
              </a:rPr>
              <a:t>Backup: the frozen 13-task roster</a:t>
            </a:r>
          </a:p>
        </p:txBody>
      </p:sp>
      <p:sp>
        <p:nvSpPr>
          <p:cNvPr id="3" name="Rectangle 2">
            <a:extLst>
              <a:ext uri="{FF2B5EF4-FFF2-40B4-BE49-F238E27FC236}">
                <a16:creationId xmlns:a16="http://schemas.microsoft.com/office/drawing/2014/main" id="{1B617954-181A-4A23-BF2D-053035054F7D}"/>
              </a:ext>
            </a:extLst>
          </p:cNvPr>
          <p:cNvSpPr>
            <a:spLocks noGrp="1"/>
          </p:cNvSpPr>
          <p:nvPr/>
        </p:nvSpPr>
        <p:spPr>
          <a:xfrm>
            <a:off x="457200" y="1419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entropy-anomaly</a:t>
            </a:r>
          </a:p>
        </p:txBody>
      </p:sp>
      <p:sp>
        <p:nvSpPr>
          <p:cNvPr id="4" name="Rectangle 3">
            <a:extLst>
              <a:ext uri="{FF2B5EF4-FFF2-40B4-BE49-F238E27FC236}">
                <a16:creationId xmlns:a16="http://schemas.microsoft.com/office/drawing/2014/main" id="{E184659C-ED43-48C5-9DD3-A617939BA21B}"/>
              </a:ext>
            </a:extLst>
          </p:cNvPr>
          <p:cNvSpPr>
            <a:spLocks noGrp="1"/>
          </p:cNvSpPr>
          <p:nvPr/>
        </p:nvSpPr>
        <p:spPr>
          <a:xfrm>
            <a:off x="457200" y="1952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finite-layer-phoresis</a:t>
            </a:r>
          </a:p>
        </p:txBody>
      </p:sp>
      <p:sp>
        <p:nvSpPr>
          <p:cNvPr id="5" name="Rectangle 4">
            <a:extLst>
              <a:ext uri="{FF2B5EF4-FFF2-40B4-BE49-F238E27FC236}">
                <a16:creationId xmlns:a16="http://schemas.microsoft.com/office/drawing/2014/main" id="{ACEAC897-E548-4A51-9467-D4512B3E482F}"/>
              </a:ext>
            </a:extLst>
          </p:cNvPr>
          <p:cNvSpPr>
            <a:spLocks noGrp="1"/>
          </p:cNvSpPr>
          <p:nvPr/>
        </p:nvSpPr>
        <p:spPr>
          <a:xfrm>
            <a:off x="457200" y="24860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hierarchical-glass-overlaps</a:t>
            </a:r>
          </a:p>
        </p:txBody>
      </p:sp>
      <p:sp>
        <p:nvSpPr>
          <p:cNvPr id="6" name="Rectangle 5">
            <a:extLst>
              <a:ext uri="{FF2B5EF4-FFF2-40B4-BE49-F238E27FC236}">
                <a16:creationId xmlns:a16="http://schemas.microsoft.com/office/drawing/2014/main" id="{8109EB7F-43D7-488D-8A62-D803A593F497}"/>
              </a:ext>
            </a:extLst>
          </p:cNvPr>
          <p:cNvSpPr>
            <a:spLocks noGrp="1"/>
          </p:cNvSpPr>
          <p:nvPr/>
        </p:nvSpPr>
        <p:spPr>
          <a:xfrm>
            <a:off x="457200" y="30194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insulating-mhd-duct</a:t>
            </a:r>
          </a:p>
        </p:txBody>
      </p:sp>
      <p:sp>
        <p:nvSpPr>
          <p:cNvPr id="7" name="Rectangle 6">
            <a:extLst>
              <a:ext uri="{FF2B5EF4-FFF2-40B4-BE49-F238E27FC236}">
                <a16:creationId xmlns:a16="http://schemas.microsoft.com/office/drawing/2014/main" id="{FFB1FA39-94CE-431E-9645-61A0CC786757}"/>
              </a:ext>
            </a:extLst>
          </p:cNvPr>
          <p:cNvSpPr>
            <a:spLocks noGrp="1"/>
          </p:cNvSpPr>
          <p:nvPr/>
        </p:nvSpPr>
        <p:spPr>
          <a:xfrm>
            <a:off x="457200" y="35528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magnetic-tracer</a:t>
            </a:r>
          </a:p>
        </p:txBody>
      </p:sp>
      <p:sp>
        <p:nvSpPr>
          <p:cNvPr id="8" name="Rectangle 7">
            <a:extLst>
              <a:ext uri="{FF2B5EF4-FFF2-40B4-BE49-F238E27FC236}">
                <a16:creationId xmlns:a16="http://schemas.microsoft.com/office/drawing/2014/main" id="{C417F617-88C4-4E5F-8408-0643D2B6A682}"/>
              </a:ext>
            </a:extLst>
          </p:cNvPr>
          <p:cNvSpPr>
            <a:spLocks noGrp="1"/>
          </p:cNvSpPr>
          <p:nvPr/>
        </p:nvSpPr>
        <p:spPr>
          <a:xfrm>
            <a:off x="457200" y="4086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reaction-diffusion</a:t>
            </a:r>
          </a:p>
        </p:txBody>
      </p:sp>
      <p:sp>
        <p:nvSpPr>
          <p:cNvPr id="9" name="Rectangle 8">
            <a:extLst>
              <a:ext uri="{FF2B5EF4-FFF2-40B4-BE49-F238E27FC236}">
                <a16:creationId xmlns:a16="http://schemas.microsoft.com/office/drawing/2014/main" id="{911F5FFF-8663-471A-98CE-29B1F1D9B568}"/>
              </a:ext>
            </a:extLst>
          </p:cNvPr>
          <p:cNvSpPr>
            <a:spLocks noGrp="1"/>
          </p:cNvSpPr>
          <p:nvPr/>
        </p:nvSpPr>
        <p:spPr>
          <a:xfrm>
            <a:off x="457200" y="4619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ring-current-fluctuations</a:t>
            </a:r>
          </a:p>
        </p:txBody>
      </p:sp>
      <p:sp>
        <p:nvSpPr>
          <p:cNvPr id="10" name="Rectangle 9">
            <a:extLst>
              <a:ext uri="{FF2B5EF4-FFF2-40B4-BE49-F238E27FC236}">
                <a16:creationId xmlns:a16="http://schemas.microsoft.com/office/drawing/2014/main" id="{B86DA223-D697-451A-A51A-91BE7366B2E3}"/>
              </a:ext>
            </a:extLst>
          </p:cNvPr>
          <p:cNvSpPr>
            <a:spLocks noGrp="1"/>
          </p:cNvSpPr>
          <p:nvPr/>
        </p:nvSpPr>
        <p:spPr>
          <a:xfrm>
            <a:off x="6362700" y="1419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rotating-reservoir</a:t>
            </a:r>
          </a:p>
        </p:txBody>
      </p:sp>
      <p:sp>
        <p:nvSpPr>
          <p:cNvPr id="11" name="Rectangle 10">
            <a:extLst>
              <a:ext uri="{FF2B5EF4-FFF2-40B4-BE49-F238E27FC236}">
                <a16:creationId xmlns:a16="http://schemas.microsoft.com/office/drawing/2014/main" id="{7808C839-AEFA-4D36-B29C-420F636341B5}"/>
              </a:ext>
            </a:extLst>
          </p:cNvPr>
          <p:cNvSpPr>
            <a:spLocks noGrp="1"/>
          </p:cNvSpPr>
          <p:nvPr/>
        </p:nvSpPr>
        <p:spPr>
          <a:xfrm>
            <a:off x="6362700" y="19526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single-file-memory</a:t>
            </a:r>
          </a:p>
        </p:txBody>
      </p:sp>
      <p:sp>
        <p:nvSpPr>
          <p:cNvPr id="12" name="Rectangle 11">
            <a:extLst>
              <a:ext uri="{FF2B5EF4-FFF2-40B4-BE49-F238E27FC236}">
                <a16:creationId xmlns:a16="http://schemas.microsoft.com/office/drawing/2014/main" id="{7A716844-98DE-4D97-BD8E-850B5CC8A603}"/>
              </a:ext>
            </a:extLst>
          </p:cNvPr>
          <p:cNvSpPr>
            <a:spLocks noGrp="1"/>
          </p:cNvSpPr>
          <p:nvPr/>
        </p:nvSpPr>
        <p:spPr>
          <a:xfrm>
            <a:off x="6362700" y="24860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superconducting-heat</a:t>
            </a:r>
          </a:p>
        </p:txBody>
      </p:sp>
      <p:sp>
        <p:nvSpPr>
          <p:cNvPr id="13" name="Rectangle 12">
            <a:extLst>
              <a:ext uri="{FF2B5EF4-FFF2-40B4-BE49-F238E27FC236}">
                <a16:creationId xmlns:a16="http://schemas.microsoft.com/office/drawing/2014/main" id="{8E313484-B01D-4662-9B77-A526F38FCA36}"/>
              </a:ext>
            </a:extLst>
          </p:cNvPr>
          <p:cNvSpPr>
            <a:spLocks noGrp="1"/>
          </p:cNvSpPr>
          <p:nvPr/>
        </p:nvSpPr>
        <p:spPr>
          <a:xfrm>
            <a:off x="6362700" y="30194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swirling-heat-tails</a:t>
            </a:r>
          </a:p>
        </p:txBody>
      </p:sp>
      <p:sp>
        <p:nvSpPr>
          <p:cNvPr id="14" name="Rectangle 13">
            <a:extLst>
              <a:ext uri="{FF2B5EF4-FFF2-40B4-BE49-F238E27FC236}">
                <a16:creationId xmlns:a16="http://schemas.microsoft.com/office/drawing/2014/main" id="{CB4180C1-0E47-4AC5-8EB7-942852E1E2D0}"/>
              </a:ext>
            </a:extLst>
          </p:cNvPr>
          <p:cNvSpPr>
            <a:spLocks noGrp="1"/>
          </p:cNvSpPr>
          <p:nvPr/>
        </p:nvSpPr>
        <p:spPr>
          <a:xfrm>
            <a:off x="6362700" y="35528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hard-rod-current</a:t>
            </a:r>
          </a:p>
        </p:txBody>
      </p:sp>
      <p:sp>
        <p:nvSpPr>
          <p:cNvPr id="15" name="Rectangle 14">
            <a:extLst>
              <a:ext uri="{FF2B5EF4-FFF2-40B4-BE49-F238E27FC236}">
                <a16:creationId xmlns:a16="http://schemas.microsoft.com/office/drawing/2014/main" id="{A97A6698-C261-42DF-A038-2BFF43D3125B}"/>
              </a:ext>
            </a:extLst>
          </p:cNvPr>
          <p:cNvSpPr>
            <a:spLocks noGrp="1"/>
          </p:cNvSpPr>
          <p:nvPr/>
        </p:nvSpPr>
        <p:spPr>
          <a:xfrm>
            <a:off x="6362700" y="4086225"/>
            <a:ext cx="5238750" cy="409575"/>
          </a:xfrm>
          <a:prstGeom prst="rect">
            <a:avLst/>
          </a:prstGeom>
          <a:noFill/>
          <a:ln w="0">
            <a:noFill/>
          </a:ln>
        </p:spPr>
        <p:txBody>
          <a:bodyPr wrap="square" lIns="0" tIns="0" rIns="0" bIns="0" anchor="t"/>
          <a:lstStyle>
            <a:defPPr algn="l">
              <a:defRPr sz="2175" b="0" i="0">
                <a:solidFill>
                  <a:srgbClr val="111111"/>
                </a:solidFill>
                <a:latin typeface="Times New Roman"/>
                <a:ea typeface="Times New Roman"/>
                <a:cs typeface="Times New Roman"/>
              </a:defRPr>
            </a:defPPr>
          </a:lstStyle>
          <a:p>
            <a:pPr algn="l">
              <a:buNone/>
              <a:defRPr sz="2175" b="0" i="0">
                <a:solidFill>
                  <a:srgbClr val="111111"/>
                </a:solidFill>
                <a:latin typeface="Times New Roman"/>
                <a:ea typeface="Times New Roman"/>
                <a:cs typeface="Times New Roman"/>
              </a:defRPr>
            </a:pPr>
            <a:r>
              <a:rPr sz="2175" b="0" i="0">
                <a:solidFill>
                  <a:srgbClr val="111111"/>
                </a:solidFill>
                <a:latin typeface="Times New Roman"/>
                <a:ea typeface="Times New Roman"/>
                <a:cs typeface="Times New Roman"/>
              </a:rPr>
              <a:t>finite-ion-cloud</a:t>
            </a:r>
          </a:p>
        </p:txBody>
      </p:sp>
      <p:sp>
        <p:nvSpPr>
          <p:cNvPr id="16" name="Rectangle 15">
            <a:extLst>
              <a:ext uri="{FF2B5EF4-FFF2-40B4-BE49-F238E27FC236}">
                <a16:creationId xmlns:a16="http://schemas.microsoft.com/office/drawing/2014/main" id="{ABF92BC6-A106-4C0F-883D-9CF630DDC338}"/>
              </a:ext>
            </a:extLst>
          </p:cNvPr>
          <p:cNvSpPr>
            <a:spLocks noGrp="1"/>
          </p:cNvSpPr>
          <p:nvPr/>
        </p:nvSpPr>
        <p:spPr>
          <a:xfrm>
            <a:off x="457200" y="6067425"/>
            <a:ext cx="11277600" cy="381000"/>
          </a:xfrm>
          <a:prstGeom prst="rect">
            <a:avLst/>
          </a:prstGeom>
          <a:noFill/>
          <a:ln w="0">
            <a:noFill/>
          </a:ln>
        </p:spPr>
        <p:txBody>
          <a:bodyPr wrap="square" lIns="0" tIns="0" rIns="0" bIns="0" anchor="t"/>
          <a:lstStyle>
            <a:defPPr algn="l">
              <a:defRPr sz="1350" b="0" i="0">
                <a:solidFill>
                  <a:srgbClr val="777777"/>
                </a:solidFill>
                <a:latin typeface="Times New Roman"/>
                <a:ea typeface="Times New Roman"/>
                <a:cs typeface="Times New Roman"/>
              </a:defRPr>
            </a:defPPr>
          </a:lstStyle>
          <a:p>
            <a:pPr algn="l">
              <a:buNone/>
              <a:defRPr sz="1350" b="0" i="0">
                <a:solidFill>
                  <a:srgbClr val="777777"/>
                </a:solidFill>
                <a:latin typeface="Times New Roman"/>
                <a:ea typeface="Times New Roman"/>
                <a:cs typeface="Times New Roman"/>
              </a:defRPr>
            </a:pPr>
            <a:r>
              <a:rPr sz="1350" b="0" i="0">
                <a:solidFill>
                  <a:srgbClr val="777777"/>
                </a:solidFill>
                <a:latin typeface="Times New Roman"/>
                <a:ea typeface="Times New Roman"/>
                <a:cs typeface="Times New Roman"/>
              </a:rPr>
              <a:t>Frozen snapshot: 34dedfbbd8ff. Task selection against GPT-5.6 Luna limits generalization to a broader physics population.</a:t>
            </a:r>
          </a:p>
        </p:txBody>
      </p:sp>
      <p:sp>
        <p:nvSpPr>
          <p:cNvPr id="18" name="Rectangle 17">
            <a:extLst>
              <a:ext uri="{FF2B5EF4-FFF2-40B4-BE49-F238E27FC236}">
                <a16:creationId xmlns:a16="http://schemas.microsoft.com/office/drawing/2014/main" id="{7B5E6208-A8BB-4725-9921-6CA79EB21DD2}"/>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15</a:t>
            </a:r>
          </a:p>
        </p:txBody>
      </p:sp>
    </p:spTree>
    <p:extLst>
      <p:ext uri="{BB962C8B-B14F-4D97-AF65-F5344CB8AC3E}">
        <p14:creationId xmlns:p14="http://schemas.microsoft.com/office/powerpoint/2010/main" val="1828126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817B6CD4-DA5B-4A7F-A081-E2A2B31B441E}"/>
              </a:ext>
            </a:extLst>
          </p:cNvPr>
          <p:cNvSpPr>
            <a:spLocks noGrp="1"/>
          </p:cNvSpPr>
          <p:nvPr/>
        </p:nvSpPr>
        <p:spPr>
          <a:xfrm>
            <a:off x="457200" y="209550"/>
            <a:ext cx="11277600" cy="638175"/>
          </a:xfrm>
          <a:prstGeom prst="rect">
            <a:avLst/>
          </a:prstGeom>
          <a:noFill/>
          <a:ln w="0">
            <a:noFill/>
          </a:ln>
        </p:spPr>
        <p:txBody>
          <a:bodyPr wrap="square" lIns="0" tIns="0" rIns="0" bIns="0" anchor="t"/>
          <a:lstStyle>
            <a:defPPr algn="l">
              <a:defRPr sz="3600" b="1">
                <a:solidFill>
                  <a:srgbClr val="111111"/>
                </a:solidFill>
                <a:latin typeface="Times New Roman"/>
                <a:ea typeface="Times New Roman"/>
                <a:cs typeface="Times New Roman"/>
              </a:defRPr>
            </a:defPPr>
          </a:lstStyle>
          <a:p>
            <a:pPr algn="l">
              <a:buNone/>
              <a:defRPr sz="3600" b="1">
                <a:solidFill>
                  <a:srgbClr val="111111"/>
                </a:solidFill>
                <a:latin typeface="Times New Roman"/>
                <a:ea typeface="Times New Roman"/>
                <a:cs typeface="Times New Roman"/>
              </a:defRPr>
            </a:pPr>
            <a:r>
              <a:rPr sz="3600" b="1">
                <a:solidFill>
                  <a:srgbClr val="111111"/>
                </a:solidFill>
                <a:latin typeface="Times New Roman"/>
                <a:ea typeface="Times New Roman"/>
                <a:cs typeface="Times New Roman"/>
              </a:rPr>
              <a:t>Backup: comparing the two prediction formulas</a:t>
            </a:r>
          </a:p>
        </p:txBody>
      </p:sp>
      <p:sp>
        <p:nvSpPr>
          <p:cNvPr id="2" name="Rectangle 1">
            <a:extLst>
              <a:ext uri="{FF2B5EF4-FFF2-40B4-BE49-F238E27FC236}">
                <a16:creationId xmlns:a16="http://schemas.microsoft.com/office/drawing/2014/main" id="{D5E4B9E4-4CB2-45E9-BE61-2A76387824CA}"/>
              </a:ext>
            </a:extLst>
          </p:cNvPr>
          <p:cNvSpPr>
            <a:spLocks noGrp="1"/>
          </p:cNvSpPr>
          <p:nvPr/>
        </p:nvSpPr>
        <p:spPr>
          <a:xfrm>
            <a:off x="457200" y="914400"/>
            <a:ext cx="11277600" cy="47625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A narrow channel preserves particle order. Every experiment starts from the same positions.</a:t>
            </a:r>
          </a:p>
        </p:txBody>
      </p:sp>
      <p:sp>
        <p:nvSpPr>
          <p:cNvPr id="3" name="Rectangle 2">
            <a:extLst>
              <a:ext uri="{FF2B5EF4-FFF2-40B4-BE49-F238E27FC236}">
                <a16:creationId xmlns:a16="http://schemas.microsoft.com/office/drawing/2014/main" id="{D7084F74-4A77-424A-8676-E2C561AADB53}"/>
              </a:ext>
            </a:extLst>
          </p:cNvPr>
          <p:cNvSpPr>
            <a:spLocks noGrp="1"/>
          </p:cNvSpPr>
          <p:nvPr/>
        </p:nvSpPr>
        <p:spPr>
          <a:xfrm>
            <a:off x="457200" y="1533525"/>
            <a:ext cx="4905375" cy="323850"/>
          </a:xfrm>
          <a:prstGeom prst="rect">
            <a:avLst/>
          </a:prstGeom>
          <a:noFill/>
          <a:ln w="0">
            <a:noFill/>
          </a:ln>
        </p:spPr>
        <p:txBody>
          <a:bodyPr wrap="square" lIns="0" tIns="0" rIns="0" bIns="0" anchor="t"/>
          <a:lstStyle>
            <a:defPPr algn="l">
              <a:defRPr sz="2175" b="1">
                <a:solidFill>
                  <a:srgbClr val="111111"/>
                </a:solidFill>
                <a:latin typeface="Times New Roman"/>
                <a:ea typeface="Times New Roman"/>
                <a:cs typeface="Times New Roman"/>
              </a:defRPr>
            </a:defPPr>
          </a:lstStyle>
          <a:p>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Physical setup</a:t>
            </a:r>
          </a:p>
        </p:txBody>
      </p:sp>
      <p:sp>
        <p:nvSpPr>
          <p:cNvPr id="4" name="Rectangle 3">
            <a:extLst>
              <a:ext uri="{FF2B5EF4-FFF2-40B4-BE49-F238E27FC236}">
                <a16:creationId xmlns:a16="http://schemas.microsoft.com/office/drawing/2014/main" id="{6FA7336F-7C6A-4BCE-8251-D4E67C80EBA4}"/>
              </a:ext>
            </a:extLst>
          </p:cNvPr>
          <p:cNvSpPr>
            <a:spLocks noGrp="1"/>
          </p:cNvSpPr>
          <p:nvPr/>
        </p:nvSpPr>
        <p:spPr>
          <a:xfrm>
            <a:off x="457200" y="1971675"/>
            <a:ext cx="4905375" cy="3048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Reset to evenly spaced positions</a:t>
            </a:r>
          </a:p>
        </p:txBody>
      </p:sp>
      <p:sp>
        <p:nvSpPr>
          <p:cNvPr id="5" name="Rectangle 4">
            <a:extLst>
              <a:ext uri="{FF2B5EF4-FFF2-40B4-BE49-F238E27FC236}">
                <a16:creationId xmlns:a16="http://schemas.microsoft.com/office/drawing/2014/main" id="{87B85EBA-3D0E-4570-AB1C-A6DAAC2C6C19}"/>
              </a:ext>
            </a:extLst>
          </p:cNvPr>
          <p:cNvSpPr>
            <a:spLocks noGrp="1"/>
          </p:cNvSpPr>
          <p:nvPr/>
        </p:nvSpPr>
        <p:spPr>
          <a:xfrm>
            <a:off x="457200" y="2381250"/>
            <a:ext cx="4905375" cy="19050"/>
          </a:xfrm>
          <a:prstGeom prst="rect">
            <a:avLst/>
          </a:prstGeom>
          <a:solidFill>
            <a:srgbClr val="777777"/>
          </a:solidFill>
          <a:ln w="13335">
            <a:solidFill>
              <a:srgbClr val="777777"/>
            </a:solidFill>
            <a:prstDash val="solid"/>
          </a:ln>
        </p:spPr>
        <p:txBody>
          <a:bodyPr/>
          <a:lstStyle/>
          <a:p>
            <a:endParaRPr lang="en-US"/>
          </a:p>
        </p:txBody>
      </p:sp>
      <p:sp>
        <p:nvSpPr>
          <p:cNvPr id="6" name="Rectangle 5">
            <a:extLst>
              <a:ext uri="{FF2B5EF4-FFF2-40B4-BE49-F238E27FC236}">
                <a16:creationId xmlns:a16="http://schemas.microsoft.com/office/drawing/2014/main" id="{24CC1E4B-DA4A-4952-9357-94695F024E82}"/>
              </a:ext>
            </a:extLst>
          </p:cNvPr>
          <p:cNvSpPr>
            <a:spLocks noGrp="1"/>
          </p:cNvSpPr>
          <p:nvPr/>
        </p:nvSpPr>
        <p:spPr>
          <a:xfrm>
            <a:off x="457200" y="2952750"/>
            <a:ext cx="4905375" cy="19050"/>
          </a:xfrm>
          <a:prstGeom prst="rect">
            <a:avLst/>
          </a:prstGeom>
          <a:solidFill>
            <a:srgbClr val="777777"/>
          </a:solidFill>
          <a:ln w="13335">
            <a:solidFill>
              <a:srgbClr val="777777"/>
            </a:solidFill>
            <a:prstDash val="solid"/>
          </a:ln>
        </p:spPr>
        <p:txBody>
          <a:bodyPr/>
          <a:lstStyle/>
          <a:p>
            <a:endParaRPr lang="en-US"/>
          </a:p>
        </p:txBody>
      </p:sp>
      <p:sp>
        <p:nvSpPr>
          <p:cNvPr id="7" name="Oval 6">
            <a:extLst>
              <a:ext uri="{FF2B5EF4-FFF2-40B4-BE49-F238E27FC236}">
                <a16:creationId xmlns:a16="http://schemas.microsoft.com/office/drawing/2014/main" id="{C585912F-9C1E-4568-943F-CBE08EBBEEF3}"/>
              </a:ext>
            </a:extLst>
          </p:cNvPr>
          <p:cNvSpPr>
            <a:spLocks noGrp="1"/>
          </p:cNvSpPr>
          <p:nvPr/>
        </p:nvSpPr>
        <p:spPr>
          <a:xfrm>
            <a:off x="8191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8" name="Oval 7">
            <a:extLst>
              <a:ext uri="{FF2B5EF4-FFF2-40B4-BE49-F238E27FC236}">
                <a16:creationId xmlns:a16="http://schemas.microsoft.com/office/drawing/2014/main" id="{573E44D9-9C6E-4C68-B21F-0E97F4A722A1}"/>
              </a:ext>
            </a:extLst>
          </p:cNvPr>
          <p:cNvSpPr>
            <a:spLocks noGrp="1"/>
          </p:cNvSpPr>
          <p:nvPr/>
        </p:nvSpPr>
        <p:spPr>
          <a:xfrm>
            <a:off x="15430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9" name="Oval 8">
            <a:extLst>
              <a:ext uri="{FF2B5EF4-FFF2-40B4-BE49-F238E27FC236}">
                <a16:creationId xmlns:a16="http://schemas.microsoft.com/office/drawing/2014/main" id="{35222835-3645-4478-B478-7C25458AA3AD}"/>
              </a:ext>
            </a:extLst>
          </p:cNvPr>
          <p:cNvSpPr>
            <a:spLocks noGrp="1"/>
          </p:cNvSpPr>
          <p:nvPr/>
        </p:nvSpPr>
        <p:spPr>
          <a:xfrm>
            <a:off x="2266950" y="2505075"/>
            <a:ext cx="342900" cy="34290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0" name="Oval 9">
            <a:extLst>
              <a:ext uri="{FF2B5EF4-FFF2-40B4-BE49-F238E27FC236}">
                <a16:creationId xmlns:a16="http://schemas.microsoft.com/office/drawing/2014/main" id="{481EC8C4-2B3A-44A2-A2DF-D3B5BDC43513}"/>
              </a:ext>
            </a:extLst>
          </p:cNvPr>
          <p:cNvSpPr>
            <a:spLocks noGrp="1"/>
          </p:cNvSpPr>
          <p:nvPr/>
        </p:nvSpPr>
        <p:spPr>
          <a:xfrm>
            <a:off x="29908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1" name="Oval 10">
            <a:extLst>
              <a:ext uri="{FF2B5EF4-FFF2-40B4-BE49-F238E27FC236}">
                <a16:creationId xmlns:a16="http://schemas.microsoft.com/office/drawing/2014/main" id="{DA0C0A62-E4A3-467B-A311-2D83BDF1B9AF}"/>
              </a:ext>
            </a:extLst>
          </p:cNvPr>
          <p:cNvSpPr>
            <a:spLocks noGrp="1"/>
          </p:cNvSpPr>
          <p:nvPr/>
        </p:nvSpPr>
        <p:spPr>
          <a:xfrm>
            <a:off x="37147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2" name="Oval 11">
            <a:extLst>
              <a:ext uri="{FF2B5EF4-FFF2-40B4-BE49-F238E27FC236}">
                <a16:creationId xmlns:a16="http://schemas.microsoft.com/office/drawing/2014/main" id="{EACBA4F9-08AB-451A-A852-FD50A060CAF2}"/>
              </a:ext>
            </a:extLst>
          </p:cNvPr>
          <p:cNvSpPr>
            <a:spLocks noGrp="1"/>
          </p:cNvSpPr>
          <p:nvPr/>
        </p:nvSpPr>
        <p:spPr>
          <a:xfrm>
            <a:off x="4438650" y="250507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3" name="Rectangle 12">
            <a:extLst>
              <a:ext uri="{FF2B5EF4-FFF2-40B4-BE49-F238E27FC236}">
                <a16:creationId xmlns:a16="http://schemas.microsoft.com/office/drawing/2014/main" id="{93CE4E81-AFEA-4EAF-B896-3C060B8A4437}"/>
              </a:ext>
            </a:extLst>
          </p:cNvPr>
          <p:cNvSpPr>
            <a:spLocks noGrp="1"/>
          </p:cNvSpPr>
          <p:nvPr/>
        </p:nvSpPr>
        <p:spPr>
          <a:xfrm>
            <a:off x="457200" y="3333750"/>
            <a:ext cx="4905375" cy="304800"/>
          </a:xfrm>
          <a:prstGeom prst="rect">
            <a:avLst/>
          </a:prstGeom>
          <a:noFill/>
          <a:ln w="0">
            <a:noFill/>
          </a:ln>
        </p:spPr>
        <p:txBody>
          <a:bodyPr wrap="square" lIns="0" tIns="0" rIns="0" bIns="0" anchor="t"/>
          <a:lstStyle>
            <a:defPPr algn="l">
              <a:defRPr sz="1875" b="0">
                <a:solidFill>
                  <a:srgbClr val="444444"/>
                </a:solidFill>
                <a:latin typeface="Times New Roman"/>
                <a:ea typeface="Times New Roman"/>
                <a:cs typeface="Times New Roman"/>
              </a:defRPr>
            </a:defPPr>
          </a:lstStyle>
          <a:p>
            <a:pPr algn="l">
              <a:buNone/>
              <a:defRPr sz="1875" b="0">
                <a:solidFill>
                  <a:srgbClr val="444444"/>
                </a:solidFill>
                <a:latin typeface="Times New Roman"/>
                <a:ea typeface="Times New Roman"/>
                <a:cs typeface="Times New Roman"/>
              </a:defRPr>
            </a:pPr>
            <a:r>
              <a:rPr sz="1875" b="0">
                <a:solidFill>
                  <a:srgbClr val="444444"/>
                </a:solidFill>
                <a:latin typeface="Times New Roman"/>
                <a:ea typeface="Times New Roman"/>
                <a:cs typeface="Times New Roman"/>
              </a:rPr>
              <a:t>Let the particles move randomly</a:t>
            </a:r>
          </a:p>
        </p:txBody>
      </p:sp>
      <p:sp>
        <p:nvSpPr>
          <p:cNvPr id="14" name="Rectangle 13">
            <a:extLst>
              <a:ext uri="{FF2B5EF4-FFF2-40B4-BE49-F238E27FC236}">
                <a16:creationId xmlns:a16="http://schemas.microsoft.com/office/drawing/2014/main" id="{B847700A-C0A6-4E12-9D00-0EE5AE9846DC}"/>
              </a:ext>
            </a:extLst>
          </p:cNvPr>
          <p:cNvSpPr>
            <a:spLocks noGrp="1"/>
          </p:cNvSpPr>
          <p:nvPr/>
        </p:nvSpPr>
        <p:spPr>
          <a:xfrm>
            <a:off x="457200" y="3733800"/>
            <a:ext cx="4905375" cy="19050"/>
          </a:xfrm>
          <a:prstGeom prst="rect">
            <a:avLst/>
          </a:prstGeom>
          <a:solidFill>
            <a:srgbClr val="777777"/>
          </a:solidFill>
          <a:ln w="13335">
            <a:solidFill>
              <a:srgbClr val="777777"/>
            </a:solidFill>
            <a:prstDash val="solid"/>
          </a:ln>
        </p:spPr>
        <p:txBody>
          <a:bodyPr/>
          <a:lstStyle/>
          <a:p>
            <a:endParaRPr lang="en-US"/>
          </a:p>
        </p:txBody>
      </p:sp>
      <p:sp>
        <p:nvSpPr>
          <p:cNvPr id="15" name="Rectangle 14">
            <a:extLst>
              <a:ext uri="{FF2B5EF4-FFF2-40B4-BE49-F238E27FC236}">
                <a16:creationId xmlns:a16="http://schemas.microsoft.com/office/drawing/2014/main" id="{AEEECDFF-1488-4898-89D7-95611235AE31}"/>
              </a:ext>
            </a:extLst>
          </p:cNvPr>
          <p:cNvSpPr>
            <a:spLocks noGrp="1"/>
          </p:cNvSpPr>
          <p:nvPr/>
        </p:nvSpPr>
        <p:spPr>
          <a:xfrm>
            <a:off x="457200" y="4305300"/>
            <a:ext cx="4905375" cy="19050"/>
          </a:xfrm>
          <a:prstGeom prst="rect">
            <a:avLst/>
          </a:prstGeom>
          <a:solidFill>
            <a:srgbClr val="777777"/>
          </a:solidFill>
          <a:ln w="13335">
            <a:solidFill>
              <a:srgbClr val="777777"/>
            </a:solidFill>
            <a:prstDash val="solid"/>
          </a:ln>
        </p:spPr>
        <p:txBody>
          <a:bodyPr/>
          <a:lstStyle/>
          <a:p>
            <a:endParaRPr lang="en-US"/>
          </a:p>
        </p:txBody>
      </p:sp>
      <p:sp>
        <p:nvSpPr>
          <p:cNvPr id="16" name="Oval 15">
            <a:extLst>
              <a:ext uri="{FF2B5EF4-FFF2-40B4-BE49-F238E27FC236}">
                <a16:creationId xmlns:a16="http://schemas.microsoft.com/office/drawing/2014/main" id="{C3DD7281-A990-4437-A3F6-D1905D0C92FA}"/>
              </a:ext>
            </a:extLst>
          </p:cNvPr>
          <p:cNvSpPr>
            <a:spLocks noGrp="1"/>
          </p:cNvSpPr>
          <p:nvPr/>
        </p:nvSpPr>
        <p:spPr>
          <a:xfrm>
            <a:off x="70485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7" name="Oval 16">
            <a:extLst>
              <a:ext uri="{FF2B5EF4-FFF2-40B4-BE49-F238E27FC236}">
                <a16:creationId xmlns:a16="http://schemas.microsoft.com/office/drawing/2014/main" id="{E4B66C14-9B22-4218-BF4E-66A109931AE8}"/>
              </a:ext>
            </a:extLst>
          </p:cNvPr>
          <p:cNvSpPr>
            <a:spLocks noGrp="1"/>
          </p:cNvSpPr>
          <p:nvPr/>
        </p:nvSpPr>
        <p:spPr>
          <a:xfrm>
            <a:off x="1381125"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18" name="Oval 17">
            <a:extLst>
              <a:ext uri="{FF2B5EF4-FFF2-40B4-BE49-F238E27FC236}">
                <a16:creationId xmlns:a16="http://schemas.microsoft.com/office/drawing/2014/main" id="{8F84BEF1-1367-4E78-AA01-BC3889CEF4BC}"/>
              </a:ext>
            </a:extLst>
          </p:cNvPr>
          <p:cNvSpPr>
            <a:spLocks noGrp="1"/>
          </p:cNvSpPr>
          <p:nvPr/>
        </p:nvSpPr>
        <p:spPr>
          <a:xfrm>
            <a:off x="2657475" y="3857625"/>
            <a:ext cx="342900" cy="342900"/>
          </a:xfrm>
          <a:prstGeom prst="ellipse">
            <a:avLst/>
          </a:prstGeom>
          <a:solidFill>
            <a:srgbClr val="B45309"/>
          </a:solidFill>
          <a:ln w="15240">
            <a:solidFill>
              <a:srgbClr val="B45309"/>
            </a:solidFill>
            <a:prstDash val="solid"/>
          </a:ln>
        </p:spPr>
        <p:txBody>
          <a:bodyPr lIns="0" tIns="0" rIns="0" bIns="0" anchor="ctr"/>
          <a:lstStyle>
            <a:defPPr algn="ctr">
              <a:defRPr sz="2025" b="1">
                <a:solidFill>
                  <a:srgbClr val="B45309"/>
                </a:solidFill>
                <a:latin typeface="Times New Roman"/>
                <a:ea typeface="Times New Roman"/>
                <a:cs typeface="Times New Roman"/>
              </a:defRPr>
            </a:defPPr>
          </a:lstStyle>
          <a:p>
            <a:pPr algn="ctr">
              <a:buNone/>
              <a:defRPr sz="2025" b="1">
                <a:solidFill>
                  <a:srgbClr val="B45309"/>
                </a:solidFill>
                <a:latin typeface="Times New Roman"/>
                <a:ea typeface="Times New Roman"/>
                <a:cs typeface="Times New Roman"/>
              </a:defRPr>
            </a:pPr>
            <a:r>
              <a:rPr sz="2025" b="1">
                <a:solidFill>
                  <a:srgbClr val="B45309"/>
                </a:solidFill>
                <a:latin typeface="Times New Roman"/>
                <a:ea typeface="Times New Roman"/>
                <a:cs typeface="Times New Roman"/>
              </a:rPr>
              <a:t>●</a:t>
            </a:r>
          </a:p>
        </p:txBody>
      </p:sp>
      <p:sp>
        <p:nvSpPr>
          <p:cNvPr id="19" name="Oval 18">
            <a:extLst>
              <a:ext uri="{FF2B5EF4-FFF2-40B4-BE49-F238E27FC236}">
                <a16:creationId xmlns:a16="http://schemas.microsoft.com/office/drawing/2014/main" id="{EA9A95CF-FC14-4BD4-BAC7-E113A1CEFD24}"/>
              </a:ext>
            </a:extLst>
          </p:cNvPr>
          <p:cNvSpPr>
            <a:spLocks noGrp="1"/>
          </p:cNvSpPr>
          <p:nvPr/>
        </p:nvSpPr>
        <p:spPr>
          <a:xfrm>
            <a:off x="318135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0" name="Oval 19">
            <a:extLst>
              <a:ext uri="{FF2B5EF4-FFF2-40B4-BE49-F238E27FC236}">
                <a16:creationId xmlns:a16="http://schemas.microsoft.com/office/drawing/2014/main" id="{1B62E78F-7E2D-4AF0-BA2D-8DF4AE712DA5}"/>
              </a:ext>
            </a:extLst>
          </p:cNvPr>
          <p:cNvSpPr>
            <a:spLocks noGrp="1"/>
          </p:cNvSpPr>
          <p:nvPr/>
        </p:nvSpPr>
        <p:spPr>
          <a:xfrm>
            <a:off x="388620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1" name="Oval 20">
            <a:extLst>
              <a:ext uri="{FF2B5EF4-FFF2-40B4-BE49-F238E27FC236}">
                <a16:creationId xmlns:a16="http://schemas.microsoft.com/office/drawing/2014/main" id="{49E266AB-BC36-4FB6-AC5A-38A91A3CB61C}"/>
              </a:ext>
            </a:extLst>
          </p:cNvPr>
          <p:cNvSpPr>
            <a:spLocks noGrp="1"/>
          </p:cNvSpPr>
          <p:nvPr/>
        </p:nvSpPr>
        <p:spPr>
          <a:xfrm>
            <a:off x="4610100" y="3857625"/>
            <a:ext cx="342900" cy="342900"/>
          </a:xfrm>
          <a:prstGeom prst="ellipse">
            <a:avLst/>
          </a:prstGeom>
          <a:solidFill>
            <a:srgbClr val="E8ECEF"/>
          </a:solidFill>
          <a:ln w="15240">
            <a:solidFill>
              <a:srgbClr val="777777"/>
            </a:solidFill>
            <a:prstDash val="solid"/>
          </a:ln>
        </p:spPr>
        <p:txBody>
          <a:bodyPr lIns="0" tIns="0" rIns="0" bIns="0" anchor="ctr"/>
          <a:lstStyle>
            <a:defPPr algn="ctr">
              <a:defRPr sz="2025" b="1">
                <a:solidFill>
                  <a:srgbClr val="777777"/>
                </a:solidFill>
                <a:latin typeface="Times New Roman"/>
                <a:ea typeface="Times New Roman"/>
                <a:cs typeface="Times New Roman"/>
              </a:defRPr>
            </a:defPPr>
          </a:lstStyle>
          <a:p>
            <a:endParaRPr/>
          </a:p>
        </p:txBody>
      </p:sp>
      <p:sp>
        <p:nvSpPr>
          <p:cNvPr id="22" name="Rectangle 21">
            <a:extLst>
              <a:ext uri="{FF2B5EF4-FFF2-40B4-BE49-F238E27FC236}">
                <a16:creationId xmlns:a16="http://schemas.microsoft.com/office/drawing/2014/main" id="{59D743A1-E3D9-4428-B67C-E58F47681335}"/>
              </a:ext>
            </a:extLst>
          </p:cNvPr>
          <p:cNvSpPr>
            <a:spLocks noGrp="1"/>
          </p:cNvSpPr>
          <p:nvPr/>
        </p:nvSpPr>
        <p:spPr>
          <a:xfrm>
            <a:off x="457200" y="4572000"/>
            <a:ext cx="4953000" cy="666750"/>
          </a:xfrm>
          <a:prstGeom prst="rect">
            <a:avLst/>
          </a:prstGeom>
          <a:noFill/>
          <a:ln w="0">
            <a:noFill/>
          </a:ln>
        </p:spPr>
        <p:txBody>
          <a:bodyPr wrap="square" lIns="0" tIns="0" rIns="0" bIns="0" anchor="t"/>
          <a:lstStyle>
            <a:defPPr algn="l">
              <a:defRPr sz="1950" b="0">
                <a:solidFill>
                  <a:srgbClr val="111111"/>
                </a:solidFill>
                <a:latin typeface="Times New Roman"/>
                <a:ea typeface="Times New Roman"/>
                <a:cs typeface="Times New Roman"/>
              </a:defRPr>
            </a:defPPr>
          </a:lstStyle>
          <a:p>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Track the orange particle in each repeat.</a:t>
            </a:r>
          </a:p>
          <a:p>
            <a:pPr algn="l">
              <a:buNone/>
              <a:defRPr sz="1950" b="0">
                <a:solidFill>
                  <a:srgbClr val="111111"/>
                </a:solidFill>
                <a:latin typeface="Times New Roman"/>
                <a:ea typeface="Times New Roman"/>
                <a:cs typeface="Times New Roman"/>
              </a:defRPr>
            </a:pPr>
            <a:r>
              <a:rPr sz="1950" b="0">
                <a:solidFill>
                  <a:srgbClr val="111111"/>
                </a:solidFill>
                <a:latin typeface="Times New Roman"/>
                <a:ea typeface="Times New Roman"/>
                <a:cs typeface="Times New Roman"/>
              </a:rPr>
              <a:t>Particles collide but never overtake.</a:t>
            </a:r>
          </a:p>
        </p:txBody>
      </p:sp>
      <p:sp>
        <p:nvSpPr>
          <p:cNvPr id="23" name="Rectangle 22">
            <a:extLst>
              <a:ext uri="{FF2B5EF4-FFF2-40B4-BE49-F238E27FC236}">
                <a16:creationId xmlns:a16="http://schemas.microsoft.com/office/drawing/2014/main" id="{DBD48C7F-F0B6-4566-AD72-218593300322}"/>
              </a:ext>
            </a:extLst>
          </p:cNvPr>
          <p:cNvSpPr>
            <a:spLocks noGrp="1"/>
          </p:cNvSpPr>
          <p:nvPr/>
        </p:nvSpPr>
        <p:spPr>
          <a:xfrm>
            <a:off x="6191250" y="1533525"/>
            <a:ext cx="5543550" cy="323850"/>
          </a:xfrm>
          <a:prstGeom prst="rect">
            <a:avLst/>
          </a:prstGeom>
          <a:noFill/>
          <a:ln w="0">
            <a:noFill/>
          </a:ln>
        </p:spPr>
        <p:txBody>
          <a:bodyPr wrap="square" lIns="0" tIns="0" rIns="0" bIns="0" anchor="t"/>
          <a:lstStyle>
            <a:defPPr algn="l">
              <a:defRPr sz="2175" b="1">
                <a:solidFill>
                  <a:srgbClr val="111111"/>
                </a:solidFill>
                <a:latin typeface="Times New Roman"/>
                <a:ea typeface="Times New Roman"/>
                <a:cs typeface="Times New Roman"/>
              </a:defRPr>
            </a:defPPr>
          </a:lstStyle>
          <a:p>
            <a:pPr algn="l">
              <a:buNone/>
              <a:defRPr sz="2175" b="1">
                <a:solidFill>
                  <a:srgbClr val="111111"/>
                </a:solidFill>
                <a:latin typeface="Times New Roman"/>
                <a:ea typeface="Times New Roman"/>
                <a:cs typeface="Times New Roman"/>
              </a:defRPr>
            </a:pPr>
            <a:r>
              <a:rPr sz="2175" b="1">
                <a:solidFill>
                  <a:srgbClr val="111111"/>
                </a:solidFill>
                <a:latin typeface="Times New Roman"/>
                <a:ea typeface="Times New Roman"/>
                <a:cs typeface="Times New Roman"/>
              </a:rPr>
              <a:t>Why fitting alone is insufficient</a:t>
            </a:r>
          </a:p>
        </p:txBody>
      </p:sp>
      <p:graphicFrame>
        <p:nvGraphicFramePr>
          <p:cNvPr id="24" name="Chart">
            <a:extLst>
              <a:ext uri="{FF2B5EF4-FFF2-40B4-BE49-F238E27FC236}">
                <a16:creationId xmlns:a16="http://schemas.microsoft.com/office/drawing/2014/main" id="{5C80ED8D-8155-4020-993B-DFCD3EDA9109}"/>
              </a:ext>
            </a:extLst>
          </p:cNvPr>
          <p:cNvGraphicFramePr/>
          <p:nvPr/>
        </p:nvGraphicFramePr>
        <p:xfrm>
          <a:off x="6105525" y="1971675"/>
          <a:ext cx="5629275" cy="3143250"/>
        </p:xfrm>
        <a:graphic>
          <a:graphicData uri="http://schemas.openxmlformats.org/drawingml/2006/chart">
            <c:chart xmlns:c="http://schemas.openxmlformats.org/drawingml/2006/chart" xmlns:r="http://schemas.openxmlformats.org/officeDocument/2006/relationships" r:id="rId3"/>
          </a:graphicData>
        </a:graphic>
      </p:graphicFrame>
      <p:sp>
        <p:nvSpPr>
          <p:cNvPr id="25" name="Rectangle 24">
            <a:extLst>
              <a:ext uri="{FF2B5EF4-FFF2-40B4-BE49-F238E27FC236}">
                <a16:creationId xmlns:a16="http://schemas.microsoft.com/office/drawing/2014/main" id="{4B241E38-7C47-46F8-8966-8D5D630DCA39}"/>
              </a:ext>
            </a:extLst>
          </p:cNvPr>
          <p:cNvSpPr>
            <a:spLocks noGrp="1"/>
          </p:cNvSpPr>
          <p:nvPr/>
        </p:nvSpPr>
        <p:spPr>
          <a:xfrm>
            <a:off x="6191250" y="5248275"/>
            <a:ext cx="5543550" cy="647700"/>
          </a:xfrm>
          <a:prstGeom prst="rect">
            <a:avLst/>
          </a:prstGeom>
          <a:noFill/>
          <a:ln w="0">
            <a:noFill/>
          </a:ln>
        </p:spPr>
        <p:txBody>
          <a:bodyPr wrap="square" lIns="0" tIns="0" rIns="0" bIns="0" anchor="t"/>
          <a:lstStyle>
            <a:defPPr algn="l">
              <a:defRPr sz="1950" b="1">
                <a:solidFill>
                  <a:srgbClr val="111111"/>
                </a:solidFill>
                <a:latin typeface="Times New Roman"/>
                <a:ea typeface="Times New Roman"/>
                <a:cs typeface="Times New Roman"/>
              </a:defRPr>
            </a:defPPr>
          </a:lstStyle>
          <a:p>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Same time: both fit.</a:t>
            </a:r>
          </a:p>
          <a:p>
            <a:pPr algn="l">
              <a:buNone/>
              <a:defRPr sz="1950" b="1">
                <a:solidFill>
                  <a:srgbClr val="111111"/>
                </a:solidFill>
                <a:latin typeface="Times New Roman"/>
                <a:ea typeface="Times New Roman"/>
                <a:cs typeface="Times New Roman"/>
              </a:defRPr>
            </a:pPr>
            <a:r>
              <a:rPr sz="1950" b="1">
                <a:solidFill>
                  <a:srgbClr val="111111"/>
                </a:solidFill>
                <a:latin typeface="Times New Roman"/>
                <a:ea typeface="Times New Roman"/>
                <a:cs typeface="Times New Roman"/>
              </a:rPr>
              <a:t>Different times: memory changes the prediction.</a:t>
            </a:r>
          </a:p>
        </p:txBody>
      </p:sp>
      <p:sp>
        <p:nvSpPr>
          <p:cNvPr id="26" name="Rectangle 25">
            <a:extLst>
              <a:ext uri="{FF2B5EF4-FFF2-40B4-BE49-F238E27FC236}">
                <a16:creationId xmlns:a16="http://schemas.microsoft.com/office/drawing/2014/main" id="{6D89FA9C-1AA0-4165-931E-D886C36E63EB}"/>
              </a:ext>
            </a:extLst>
          </p:cNvPr>
          <p:cNvSpPr>
            <a:spLocks noGrp="1"/>
          </p:cNvSpPr>
          <p:nvPr/>
        </p:nvSpPr>
        <p:spPr>
          <a:xfrm>
            <a:off x="457200" y="5362575"/>
            <a:ext cx="5162550" cy="581025"/>
          </a:xfrm>
          <a:prstGeom prst="rect">
            <a:avLst/>
          </a:prstGeom>
          <a:noFill/>
          <a:ln w="0">
            <a:noFill/>
          </a:ln>
        </p:spPr>
        <p:txBody>
          <a:bodyPr wrap="square" lIns="0" tIns="0" rIns="0" bIns="0" anchor="t"/>
          <a:lstStyle>
            <a:defPPr algn="l">
              <a:defRPr sz="1800" b="1">
                <a:solidFill>
                  <a:srgbClr val="1D4E89"/>
                </a:solidFill>
                <a:latin typeface="Times New Roman"/>
                <a:ea typeface="Times New Roman"/>
                <a:cs typeface="Times New Roman"/>
              </a:defRPr>
            </a:defPPr>
          </a:lstStyle>
          <a:p>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Agent task: fit the movement scale, then</a:t>
            </a:r>
          </a:p>
          <a:p>
            <a:pPr algn="l">
              <a:buNone/>
              <a:defRPr sz="1800" b="1">
                <a:solidFill>
                  <a:srgbClr val="1D4E89"/>
                </a:solidFill>
                <a:latin typeface="Times New Roman"/>
                <a:ea typeface="Times New Roman"/>
                <a:cs typeface="Times New Roman"/>
              </a:defRPr>
            </a:pPr>
            <a:r>
              <a:rPr sz="1800" b="1">
                <a:solidFill>
                  <a:srgbClr val="1D4E89"/>
                </a:solidFill>
                <a:latin typeface="Times New Roman"/>
                <a:ea typeface="Times New Roman"/>
                <a:cs typeface="Times New Roman"/>
              </a:rPr>
              <a:t>predict how two measurement times are related.</a:t>
            </a:r>
          </a:p>
        </p:txBody>
      </p:sp>
      <p:sp>
        <p:nvSpPr>
          <p:cNvPr id="27" name="Rectangle 26">
            <a:extLst>
              <a:ext uri="{FF2B5EF4-FFF2-40B4-BE49-F238E27FC236}">
                <a16:creationId xmlns:a16="http://schemas.microsoft.com/office/drawing/2014/main" id="{451EDAC5-84AF-4886-ABB5-00F5489CD4A3}"/>
              </a:ext>
            </a:extLst>
          </p:cNvPr>
          <p:cNvSpPr>
            <a:spLocks noGrp="1"/>
          </p:cNvSpPr>
          <p:nvPr/>
        </p:nvSpPr>
        <p:spPr>
          <a:xfrm>
            <a:off x="457200" y="6076950"/>
            <a:ext cx="11277600" cy="381000"/>
          </a:xfrm>
          <a:prstGeom prst="rect">
            <a:avLst/>
          </a:prstGeom>
          <a:noFill/>
          <a:ln w="0">
            <a:noFill/>
          </a:ln>
        </p:spPr>
        <p:txBody>
          <a:bodyPr wrap="square" lIns="0" tIns="0" rIns="0" bIns="0" anchor="t"/>
          <a:lstStyle>
            <a:defPPr algn="l">
              <a:defRPr sz="1350" b="0">
                <a:solidFill>
                  <a:srgbClr val="777777"/>
                </a:solidFill>
                <a:latin typeface="Times New Roman"/>
                <a:ea typeface="Times New Roman"/>
                <a:cs typeface="Times New Roman"/>
              </a:defRPr>
            </a:defPPr>
          </a:lstStyle>
          <a:p>
            <a:pPr algn="l">
              <a:buNone/>
              <a:defRPr sz="1350" b="0">
                <a:solidFill>
                  <a:srgbClr val="777777"/>
                </a:solidFill>
                <a:latin typeface="Times New Roman"/>
                <a:ea typeface="Times New Roman"/>
                <a:cs typeface="Times New Roman"/>
              </a:defRPr>
            </a:pPr>
            <a:r>
              <a:rPr sz="1350" b="0">
                <a:solidFill>
                  <a:srgbClr val="777777"/>
                </a:solidFill>
                <a:latin typeface="Times New Roman"/>
                <a:ea typeface="Times New Roman"/>
                <a:cs typeface="Times New Roman"/>
              </a:rPr>
              <a:t>Schematic and analytic curves, not measured trajectories. “Shared motion” means covariance. The task asks for its long-time scaling coefficient.</a:t>
            </a:r>
          </a:p>
        </p:txBody>
      </p:sp>
      <p:sp>
        <p:nvSpPr>
          <p:cNvPr id="30" name="Rectangle 29">
            <a:extLst>
              <a:ext uri="{FF2B5EF4-FFF2-40B4-BE49-F238E27FC236}">
                <a16:creationId xmlns:a16="http://schemas.microsoft.com/office/drawing/2014/main" id="{F6A031A1-5617-41AC-B818-7E20F8A6707A}"/>
              </a:ext>
            </a:extLst>
          </p:cNvPr>
          <p:cNvSpPr>
            <a:spLocks noGrp="1"/>
          </p:cNvSpPr>
          <p:nvPr/>
        </p:nvSpPr>
        <p:spPr>
          <a:xfrm>
            <a:off x="11201400" y="6477000"/>
            <a:ext cx="533400" cy="190500"/>
          </a:xfrm>
          <a:prstGeom prst="rect">
            <a:avLst/>
          </a:prstGeom>
          <a:noFill/>
          <a:ln w="0">
            <a:noFill/>
          </a:ln>
        </p:spPr>
        <p:txBody>
          <a:bodyPr wrap="square" lIns="0" tIns="0" rIns="0" bIns="0" anchor="t"/>
          <a:lstStyle>
            <a:defPPr algn="l">
              <a:defRPr sz="1200" b="0">
                <a:solidFill>
                  <a:srgbClr val="777777"/>
                </a:solidFill>
                <a:latin typeface="Times New Roman"/>
                <a:ea typeface="Times New Roman"/>
                <a:cs typeface="Times New Roman"/>
              </a:defRPr>
            </a:defPPr>
          </a:lstStyle>
          <a:p>
            <a:pPr algn="l">
              <a:buNone/>
              <a:defRPr sz="1200" b="0">
                <a:solidFill>
                  <a:srgbClr val="777777"/>
                </a:solidFill>
                <a:latin typeface="Times New Roman"/>
                <a:ea typeface="Times New Roman"/>
                <a:cs typeface="Times New Roman"/>
              </a:defRPr>
            </a:pPr>
            <a:r>
              <a:rPr sz="1200" b="0">
                <a:solidFill>
                  <a:srgbClr val="777777"/>
                </a:solidFill>
                <a:latin typeface="Times New Roman"/>
                <a:ea typeface="Times New Roman"/>
                <a:cs typeface="Times New Roman"/>
              </a:rPr>
              <a:t>16</a:t>
            </a:r>
          </a:p>
        </p:txBody>
      </p:sp>
    </p:spTree>
    <p:extLst>
      <p:ext uri="{BB962C8B-B14F-4D97-AF65-F5344CB8AC3E}">
        <p14:creationId xmlns:p14="http://schemas.microsoft.com/office/powerpoint/2010/main" val="52420409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Times New Roman"/>
        <a:ea typeface=""/>
        <a:cs typeface=""/>
      </a:majorFont>
      <a:minorFont>
        <a:latin typeface="Times New Roma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ommittee — Times New Roman">
      <a:dk1>
        <a:srgbClr val="0B0B0F"/>
      </a:dk1>
      <a:lt1>
        <a:srgbClr val="FFFFFF"/>
      </a:lt1>
      <a:dk2>
        <a:srgbClr val="374151"/>
      </a:dk2>
      <a:lt2>
        <a:srgbClr val="F3F4F6"/>
      </a:lt2>
      <a:accent1>
        <a:srgbClr val="1D4E89"/>
      </a:accent1>
      <a:accent2>
        <a:srgbClr val="0F766E"/>
      </a:accent2>
      <a:accent3>
        <a:srgbClr val="B45309"/>
      </a:accent3>
      <a:accent4>
        <a:srgbClr val="A50026"/>
      </a:accent4>
      <a:accent5>
        <a:srgbClr val="5B4B7C"/>
      </a:accent5>
      <a:accent6>
        <a:srgbClr val="777777"/>
      </a:accent6>
      <a:hlink>
        <a:srgbClr val="1D4E89"/>
      </a:hlink>
      <a:folHlink>
        <a:srgbClr val="5B4B7C"/>
      </a:folHlink>
    </a:clrScheme>
    <a:fontScheme name="">
      <a:majorFont>
        <a:latin typeface="Times New Roman"/>
        <a:ea typeface=""/>
        <a:cs typeface=""/>
      </a:majorFont>
      <a:minorFont>
        <a:latin typeface="Times New Roman"/>
        <a:ea typeface=""/>
        <a:cs typeface=""/>
      </a:minorFont>
    </a:fontScheme>
    <a:fmtScheme name="Committee — Times New Roma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4418</Words>
  <Application>Microsoft Macintosh PowerPoint</Application>
  <DocSecurity>0</DocSecurity>
  <PresentationFormat>Widescreen</PresentationFormat>
  <Paragraphs>456</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Yue Pan</cp:lastModifiedBy>
  <cp:revision>1</cp:revision>
  <dcterms:created xsi:type="dcterms:W3CDTF">2026-10-15T03:34:45Z</dcterms:created>
  <dcterms:modified xsi:type="dcterms:W3CDTF">2026-10-15T03:50:24Z</dcterms:modified>
</cp:coreProperties>
</file>