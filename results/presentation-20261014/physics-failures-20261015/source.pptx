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a4293f97c742a4" /><Relationship Type="http://schemas.openxmlformats.org/officeDocument/2006/relationships/extended-properties" Target="/docProps/app.xml" Id="Rbaceec977fd14cda" /><Relationship Type="http://schemas.openxmlformats.org/officeDocument/2006/relationships/officeDocument" Target="/ppt/presentation.xml" Id="Ref2cebcc2ce44105" /></Relationships>
</file>

<file path=ppt/presentation.xml><?xml version="1.0" encoding="utf-8"?>
<p:presentation xmlns:p="http://schemas.openxmlformats.org/presentationml/2006/main">
  <p:sldMasterIdLst>
    <p:sldMasterId xmlns:r="http://schemas.openxmlformats.org/officeDocument/2006/relationships" id="2147483648" r:id="Rb77aa978adf74c4c"/>
  </p:sldMasterIdLst>
  <p:notesMasterIdLst>
    <p:notesMasterId xmlns:r="http://schemas.openxmlformats.org/officeDocument/2006/relationships" r:id="R080ef6017bb6463c"/>
  </p:notesMasterIdLst>
  <p:sldIdLst>
    <p:sldId xmlns:r="http://schemas.openxmlformats.org/officeDocument/2006/relationships" id="256" r:id="R901a5923e83e4fac"/>
    <p:sldId xmlns:r="http://schemas.openxmlformats.org/officeDocument/2006/relationships" id="257" r:id="R7d28caee3f444f6f"/>
    <p:sldId xmlns:r="http://schemas.openxmlformats.org/officeDocument/2006/relationships" id="258" r:id="R503f7038a6994078"/>
    <p:sldId xmlns:r="http://schemas.openxmlformats.org/officeDocument/2006/relationships" id="259" r:id="R2f0750915b4749be"/>
    <p:sldId xmlns:r="http://schemas.openxmlformats.org/officeDocument/2006/relationships" id="260" r:id="R61ba69076b294450"/>
    <p:sldId xmlns:r="http://schemas.openxmlformats.org/officeDocument/2006/relationships" id="261" r:id="R88054a175b97404e"/>
    <p:sldId xmlns:r="http://schemas.openxmlformats.org/officeDocument/2006/relationships" id="262" r:id="R4c815eedc3444393"/>
    <p:sldId xmlns:r="http://schemas.openxmlformats.org/officeDocument/2006/relationships" id="263" r:id="Re522cbbc75c14f3e"/>
    <p:sldId xmlns:r="http://schemas.openxmlformats.org/officeDocument/2006/relationships" id="264" r:id="R66d5b40631b34279"/>
    <p:sldId xmlns:r="http://schemas.openxmlformats.org/officeDocument/2006/relationships" id="265" r:id="R4234d1e6d03440a2"/>
    <p:sldId xmlns:r="http://schemas.openxmlformats.org/officeDocument/2006/relationships" id="266" r:id="Rec7b5b71b1404cdf"/>
    <p:sldId xmlns:r="http://schemas.openxmlformats.org/officeDocument/2006/relationships" id="267" r:id="R552bab5c5f934c9e"/>
    <p:sldId xmlns:r="http://schemas.openxmlformats.org/officeDocument/2006/relationships" id="268" r:id="Rcb8d9e84b6bb4c00"/>
    <p:sldId xmlns:r="http://schemas.openxmlformats.org/officeDocument/2006/relationships" id="269" r:id="R7a04f6718c8945ef"/>
    <p:sldId xmlns:r="http://schemas.openxmlformats.org/officeDocument/2006/relationships" id="270" r:id="Rc43e4c0930084faf"/>
    <p:sldId xmlns:r="http://schemas.openxmlformats.org/officeDocument/2006/relationships" id="271" r:id="R1301cd3da7f740d5"/>
    <p:sldId xmlns:r="http://schemas.openxmlformats.org/officeDocument/2006/relationships" id="272" r:id="R2f866c292f034af9"/>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544dc07ad5a4821" /><Relationship Type="http://schemas.openxmlformats.org/officeDocument/2006/relationships/slideMaster" Target="/ppt/slideMasters/slideMaster1.xml" Id="Rb77aa978adf74c4c" /><Relationship Type="http://schemas.openxmlformats.org/officeDocument/2006/relationships/notesMaster" Target="/ppt/notesMasters/notesMaster1.xml" Id="R080ef6017bb6463c" /><Relationship Type="http://schemas.openxmlformats.org/officeDocument/2006/relationships/presProps" Target="/ppt/presProps.xml" Id="R417879ca8bda4612" /><Relationship Type="http://schemas.openxmlformats.org/officeDocument/2006/relationships/viewProps" Target="/ppt/viewProps.xml" Id="R2e8cd5fc19a7405f" /><Relationship Type="http://schemas.openxmlformats.org/officeDocument/2006/relationships/tableStyles" Target="/ppt/tableStyles.xml" Id="R4c637071f76c4878" /><Relationship Type="http://schemas.openxmlformats.org/officeDocument/2006/relationships/slide" Target="/ppt/slides/slide1.xml" Id="R901a5923e83e4fac" /><Relationship Type="http://schemas.openxmlformats.org/officeDocument/2006/relationships/slide" Target="/ppt/slides/slide2.xml" Id="R7d28caee3f444f6f" /><Relationship Type="http://schemas.openxmlformats.org/officeDocument/2006/relationships/slide" Target="/ppt/slides/slide3.xml" Id="R503f7038a6994078" /><Relationship Type="http://schemas.openxmlformats.org/officeDocument/2006/relationships/slide" Target="/ppt/slides/slide4.xml" Id="R2f0750915b4749be" /><Relationship Type="http://schemas.openxmlformats.org/officeDocument/2006/relationships/slide" Target="/ppt/slides/slide5.xml" Id="R61ba69076b294450" /><Relationship Type="http://schemas.openxmlformats.org/officeDocument/2006/relationships/slide" Target="/ppt/slides/slide6.xml" Id="R88054a175b97404e" /><Relationship Type="http://schemas.openxmlformats.org/officeDocument/2006/relationships/slide" Target="/ppt/slides/slide7.xml" Id="R4c815eedc3444393" /><Relationship Type="http://schemas.openxmlformats.org/officeDocument/2006/relationships/slide" Target="/ppt/slides/slide8.xml" Id="Re522cbbc75c14f3e" /><Relationship Type="http://schemas.openxmlformats.org/officeDocument/2006/relationships/slide" Target="/ppt/slides/slide9.xml" Id="R66d5b40631b34279" /><Relationship Type="http://schemas.openxmlformats.org/officeDocument/2006/relationships/slide" Target="/ppt/slides/slide10.xml" Id="R4234d1e6d03440a2" /><Relationship Type="http://schemas.openxmlformats.org/officeDocument/2006/relationships/slide" Target="/ppt/slides/slide11.xml" Id="Rec7b5b71b1404cdf" /><Relationship Type="http://schemas.openxmlformats.org/officeDocument/2006/relationships/slide" Target="/ppt/slides/slide12.xml" Id="R552bab5c5f934c9e" /><Relationship Type="http://schemas.openxmlformats.org/officeDocument/2006/relationships/slide" Target="/ppt/slides/slide13.xml" Id="Rcb8d9e84b6bb4c00" /><Relationship Type="http://schemas.openxmlformats.org/officeDocument/2006/relationships/slide" Target="/ppt/slides/slide14.xml" Id="R7a04f6718c8945ef" /><Relationship Type="http://schemas.openxmlformats.org/officeDocument/2006/relationships/slide" Target="/ppt/slides/slide15.xml" Id="Rc43e4c0930084faf" /><Relationship Type="http://schemas.openxmlformats.org/officeDocument/2006/relationships/slide" Target="/ppt/slides/slide16.xml" Id="R1301cd3da7f740d5" /><Relationship Type="http://schemas.openxmlformats.org/officeDocument/2006/relationships/slide" Target="/ppt/slides/slide17.xml" Id="R2f866c292f034a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95472a109744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c75bb8f4734df2" /><Relationship Type="http://schemas.openxmlformats.org/officeDocument/2006/relationships/notesMaster" Target="/ppt/notesMasters/notesMaster1.xml" Id="R48d6d88fc5534f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af63056afd4cce" /><Relationship Type="http://schemas.openxmlformats.org/officeDocument/2006/relationships/notesMaster" Target="/ppt/notesMasters/notesMaster1.xml" Id="R8f7508cd5f0146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369ed7a55f4ad2" /><Relationship Type="http://schemas.openxmlformats.org/officeDocument/2006/relationships/notesMaster" Target="/ppt/notesMasters/notesMaster1.xml" Id="Ra631d7b0ae044f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ac7be151a14f64" /><Relationship Type="http://schemas.openxmlformats.org/officeDocument/2006/relationships/notesMaster" Target="/ppt/notesMasters/notesMaster1.xml" Id="R2a15d1a7629d40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b91067538546aa" /><Relationship Type="http://schemas.openxmlformats.org/officeDocument/2006/relationships/notesMaster" Target="/ppt/notesMasters/notesMaster1.xml" Id="Rcafcd68789a54f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ecadf562b94557" /><Relationship Type="http://schemas.openxmlformats.org/officeDocument/2006/relationships/notesMaster" Target="/ppt/notesMasters/notesMaster1.xml" Id="Rac74cee0f6324f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9aa13b06674be1" /><Relationship Type="http://schemas.openxmlformats.org/officeDocument/2006/relationships/notesMaster" Target="/ppt/notesMasters/notesMaster1.xml" Id="R71787e9e101f4e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34dcddeb814baf" /><Relationship Type="http://schemas.openxmlformats.org/officeDocument/2006/relationships/notesMaster" Target="/ppt/notesMasters/notesMaster1.xml" Id="Re3ac9f9a3aa543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7b3c3ecd2049a9" /><Relationship Type="http://schemas.openxmlformats.org/officeDocument/2006/relationships/notesMaster" Target="/ppt/notesMasters/notesMaster1.xml" Id="Red59f019d2794b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2fc9362ee24b0a" /><Relationship Type="http://schemas.openxmlformats.org/officeDocument/2006/relationships/notesMaster" Target="/ppt/notesMasters/notesMaster1.xml" Id="R94a285dff85348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7782b25c69494e" /><Relationship Type="http://schemas.openxmlformats.org/officeDocument/2006/relationships/notesMaster" Target="/ppt/notesMasters/notesMaster1.xml" Id="R2925c099d03f47b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55bb15a6a44506" /><Relationship Type="http://schemas.openxmlformats.org/officeDocument/2006/relationships/notesMaster" Target="/ppt/notesMasters/notesMaster1.xml" Id="Rf1b47c2ba7d646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9cc2271a6141a0" /><Relationship Type="http://schemas.openxmlformats.org/officeDocument/2006/relationships/notesMaster" Target="/ppt/notesMasters/notesMaster1.xml" Id="R792768743eef459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29bba50d4834410" /><Relationship Type="http://schemas.openxmlformats.org/officeDocument/2006/relationships/notesMaster" Target="/ppt/notesMasters/notesMaster1.xml" Id="R9747007ac90e4a6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531a326218f4720" /><Relationship Type="http://schemas.openxmlformats.org/officeDocument/2006/relationships/notesMaster" Target="/ppt/notesMasters/notesMaster1.xml" Id="R65440dfb1431491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eb9e31a823f47ec" /><Relationship Type="http://schemas.openxmlformats.org/officeDocument/2006/relationships/notesMaster" Target="/ppt/notesMasters/notesMaster1.xml" Id="Re981a68d83f54a7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e5782f37a154aa9" /><Relationship Type="http://schemas.openxmlformats.org/officeDocument/2006/relationships/notesMaster" Target="/ppt/notesMasters/notesMaster1.xml" Id="Rdd78edba16f547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 seconds.</a:t>
            </a:r>
          </a:p>
          <a:p xmlns:a="http://schemas.openxmlformats.org/drawingml/2006/main">
            <a:endParaRPr/>
          </a:p>
          <a:p xmlns:a="http://schemas.openxmlformats.org/drawingml/2006/main">
            <a:r>
              <a:t>We study how well coding agents can turn a physical setup and limited measurements into predictions.</a:t>
            </a:r>
          </a:p>
          <a:p xmlns:a="http://schemas.openxmlformats.org/drawingml/2006/main">
            <a:endParaRPr/>
          </a:p>
          <a:p xmlns:a="http://schemas.openxmlformats.org/drawingml/2006/main">
            <a:r>
              <a:t>Sources:</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45 seconds.</a:t>
            </a:r>
          </a:p>
          <a:p xmlns:a="http://schemas.openxmlformats.org/drawingml/2006/main">
            <a:r>
              <a:t/>
            </a:r>
            <a:endParaRPr/>
          </a:p>
          <a:p xmlns:a="http://schemas.openxmlformats.org/drawingml/2006/main">
            <a:r>
              <a:t>Our key question is whether an agent can identify the physics behind a scenario and predict beyond what it observes. A good fit to the supplied data is not enough. We use thirteen tasks with hidden predictions, then test whether general checking instructions and task-specific physics guidance improve performance. The hints probe what the agent misses without guidance.</a:t>
            </a:r>
          </a:p>
          <a:p xmlns:a="http://schemas.openxmlformats.org/drawingml/2006/main">
            <a:r>
              <a:t/>
            </a:r>
            <a:endParaRPr/>
          </a:p>
          <a:p xmlns:a="http://schemas.openxmlformats.org/drawingml/2006/main">
            <a:r>
              <a:t>The suite was selected using GPT-5.6 Luna. The original ten tasks had zero of three Luna High passes during initial selection. All thirteen are implemented with Harbor. Selection outcomes differ from independent evaluation. Historical controls, runtime differences and unmatched hint length limit causal interpretation. General-hint gains alone cannot identify a specifically physical reasoning defect. The task-specific hints and reviewed failures provide further evidence.</a:t>
            </a:r>
          </a:p>
          <a:p xmlns:a="http://schemas.openxmlformats.org/drawingml/2006/main">
            <a:r>
              <a:t/>
            </a:r>
          </a:p>
          <a:p xmlns:a="http://schemas.openxmlformats.org/drawingml/2006/main">
            <a:r>
              <a:t>Sources:</a:t>
            </a:r>
          </a:p>
          <a:p xmlns:a="http://schemas.openxmlformats.org/drawingml/2006/main">
            <a:r>
              <a:t>/Users/yp9846/Desktop/PhysLiteBench/results/task-roster.json</a:t>
            </a:r>
          </a:p>
          <a:p xmlns:a="http://schemas.openxmlformats.org/drawingml/2006/main">
            <a:r>
              <a:t>/Users/yp9846/Desktop/PhysLiteBench/output/presentation-20261014/PhysLiteBench-focused-study-figures-20261015/sources/hint-matrix-summary.md</a:t>
            </a:r>
          </a:p>
          <a:p xmlns:a="http://schemas.openxmlformats.org/drawingml/2006/main">
            <a:r>
              <a:t>/Users/yp9846/Desktop/PhysLiteBench/output/presentation-20261014/PhysLiteBench-focused-study-figures-20261015/summary.json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85 seconds.</a:t>
            </a:r>
          </a:p>
          <a:p xmlns:a="http://schemas.openxmlformats.org/drawingml/2006/main">
            <a:r>
              <a:t/>
            </a:r>
            <a:endParaRPr/>
          </a:p>
          <a:p xmlns:a="http://schemas.openxmlformats.org/drawingml/2006/main">
            <a:r>
              <a:t>Imagine a long tube containing a row of beads. Random motion makes them bump around, but the tube is too narrow for one bead to pass another. We mark one bead orange and observe it. Every repeat starts with all the beads in exactly the same evenly spaced positions. We release them, then record the orange bead's position early and later in the same run. The next run starts from the original row but has different random motion. The pictures illustrate one possible run, not measured data. What does the agent know? It has this description, starter code, and measurements of how far the orange bead typically moves at several chosen times. These data let it estimate how strong the random motion is. What must it predict? Across many repeats, how strongly are the orange bead's early and later positions connected? For example, in runs where it is farther right early, does it also tend to be farther right later, and how strong is that relationship? The agent must write a numerical prediction for this relationship. The important physical detail is how we start the experiment. The beads begin in a regular row and cannot pass one another. That arrangement can still influence how motion at one time relates to motion later. Fitting the movement strength alone does not settle that question.</a:t>
            </a:r>
          </a:p>
          <a:p xmlns:a="http://schemas.openxmlformats.org/drawingml/2006/main">
            <a:r>
              <a:t/>
            </a:r>
            <a:endParaRPr/>
          </a:p>
          <a:p xmlns:a="http://schemas.openxmlformats.org/drawingml/2006/main">
            <a:r>
              <a:t>Sources:</a:t>
            </a:r>
          </a:p>
          <a:p xmlns:a="http://schemas.openxmlformats.org/drawingml/2006/main">
            <a:r>
              <a:t>/Users/yp9846/Desktop/PhysLiteBench/tasks/single-file-memory/environment/README.md</a:t>
            </a:r>
          </a:p>
          <a:p xmlns:a="http://schemas.openxmlformats.org/drawingml/2006/main">
            <a:r>
              <a:t>/Users/yp9846/Desktop/PhysLiteBench/tasks/single-file-memory/instruction.md</a:t>
            </a:r>
          </a:p>
          <a:p xmlns:a="http://schemas.openxmlformats.org/drawingml/2006/main">
            <a:r>
              <a:t>/Users/yp9846/Desktop/PhysLiteBench/tasks/single-file-memory/environment/model.py</a:t>
            </a:r>
          </a:p>
          <a:p xmlns:a="http://schemas.openxmlformats.org/drawingml/2006/main">
            <a:r>
              <a:t>/Users/yp9846/Desktop/PhysLiteBench/tasks/single-file-memory/solution/model.py</a:t>
            </a:r>
          </a:p>
          <a:p xmlns:a="http://schemas.openxmlformats.org/drawingml/2006/main">
            <a:r>
              <a:t>/Users/yp9846/Desktop/PhysLiteBench/tasks/single-file-memory/AUTHOR.md</a:t>
            </a:r>
          </a:p>
          <a:p xmlns:a="http://schemas.openxmlformats.org/drawingml/2006/main">
            <a:r>
              <a:t/>
            </a:r>
          </a:p>
          <a:p xmlns:a="http://schemas.openxmlformats.org/drawingml/2006/main">
            <a:r>
              <a:t>One run shown. Each repeat resets the starting row.</a:t>
            </a:r>
          </a:p>
          <a:p xmlns:a="http://schemas.openxmlformats.org/drawingml/2006/main">
            <a:r>
              <a:t/>
            </a:r>
          </a:p>
          <a:p xmlns:a="http://schemas.openxmlformats.org/drawingml/2006/main">
            <a:r>
              <a:t>Illustrative setup. The benchmark asks for the statistical trend after long observation times, rather than one bead’s exact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60 seconds.</a:t>
            </a:r>
          </a:p>
          <a:p xmlns:a="http://schemas.openxmlformats.org/drawingml/2006/main">
            <a:r>
              <a:t/>
            </a:r>
            <a:endParaRPr/>
          </a:p>
          <a:p xmlns:a="http://schemas.openxmlformats.org/drawingml/2006/main">
            <a:r>
              <a:t>There are three prompt conditions. The baseline gives the original task and public files. The general hint asks the agent to check its implementation and test correctness. It does not identify which assumption might need attention. The physics hint points to a specific feature of the experiment. For the beads, it emphasizes that the same starting arrangement can affect the relationship between positions measured at two times. The full hint also suggests how to calculate this relationship. The slide summarizes its physical idea in everyday language. The hint supplies a direction for thinking, not the final formula. We keep the task files and grading the same across these conditions.</a:t>
            </a:r>
          </a:p>
          <a:p xmlns:a="http://schemas.openxmlformats.org/drawingml/2006/main">
            <a:r>
              <a:t/>
            </a:r>
            <a:endParaRPr/>
          </a:p>
          <a:p xmlns:a="http://schemas.openxmlformats.org/drawingml/2006/main">
            <a:r>
              <a:t>Sources:</a:t>
            </a:r>
          </a:p>
          <a:p xmlns:a="http://schemas.openxmlformats.org/drawingml/2006/main">
            <a:r>
              <a:t>/Users/yp9846/Desktop/PhysLiteBench/results/hint-comparison-20261014/plan.json</a:t>
            </a:r>
          </a:p>
          <a:p xmlns:a="http://schemas.openxmlformats.org/drawingml/2006/main">
            <a:r>
              <a:t>/Users/yp9846/Desktop/PhysLiteBench/tasks/single-file-memory/hint.md</a:t>
            </a:r>
          </a:p>
          <a:p xmlns:a="http://schemas.openxmlformats.org/drawingml/2006/main">
            <a:r>
              <a:t/>
            </a:r>
          </a:p>
          <a:p xmlns:a="http://schemas.openxmlformats.org/drawingml/2006/main">
            <a:r>
              <a:t>No-hint instruction shortened. General hint quoted exactly. Physics hint summarized in plain language from the actual task hint.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endParaRPr/>
          </a:p>
          <a:p xmlns:a="http://schemas.openxmlformats.org/drawingml/2006/main">
            <a:r>
              <a:t>This is one study across seven model versions. Each listed setting covers all thirteen tasks. A batch usually samples three independent attempts per task, without stopping after a pass. We combine independent repetitions of the same model, effort and condition, and count each reused baseline only once. The table shows total attempts over the listed conditions, including exceptions. The exact breakdown is in the backup tables and CSV. No-hint totals are 1,054; general and physics hints each have 507. An incomplete three-attempt DeepSeek None pilot remains outside these totals.</a:t>
            </a:r>
          </a:p>
          <a:p xmlns:a="http://schemas.openxmlformats.org/drawingml/2006/main">
            <a:endParaRPr/>
          </a:p>
          <a:p xmlns:a="http://schemas.openxmlformats.org/drawingml/2006/main">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xmlns:a="http://schemas.openxmlformats.org/drawingml/2006/main">
            <a:endParaRPr/>
          </a:p>
          <a:p xmlns:a="http://schemas.openxmlformats.org/drawingml/2006/main">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xmlns:a="http://schemas.openxmlformats.org/drawingml/2006/main">
            <a:endParaRPr/>
          </a:p>
          <a:p xmlns:a="http://schemas.openxmlformats.org/drawingml/2006/main">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xmlns:a="http://schemas.openxmlformats.org/drawingml/2006/main">
            <a:endParaRPr/>
          </a:p>
          <a:p xmlns:a="http://schemas.openxmlformats.org/drawingml/2006/main">
            <a:r>
              <a:t>Sources:</a:t>
            </a:r>
          </a:p>
          <a:p xmlns:a="http://schemas.openxmlformats.org/drawingml/2006/main">
            <a:r>
              <a:t>/Users/yp9846/Desktop/PhysLiteBench/output/presentation-20261014/PhysLiteBench-study-figures-20261015/summary.csv</a:t>
            </a:r>
          </a:p>
          <a:p xmlns:a="http://schemas.openxmlformats.org/drawingml/2006/main">
            <a:r>
              <a:t>/Users/yp9846/Desktop/PhysLiteBench/output/presentation-20261014/PhysLiteBench-study-figures-20261015/source-manifest.json</a:t>
            </a:r>
          </a:p>
          <a:p xmlns:a="http://schemas.openxmlformats.org/drawingml/2006/main">
            <a:r>
              <a:t>/Users/yp9846/Desktop/PhysLiteBench/output/presentation-20261014/PhysLiteBench-study-figures-20261015/aggregate_results.py</a:t>
            </a:r>
          </a:p>
          <a:p xmlns:a="http://schemas.openxmlformats.org/drawingml/2006/main">
            <a:r>
              <a:t>/Users/yp9846/Desktop/PhysLiteBench/output/presentation-20261014/PhysLiteBench-study-figures-20261015/plot_results.py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75 seconds.</a:t>
            </a:r>
          </a:p>
          <a:p xmlns:a="http://schemas.openxmlformats.org/drawingml/2006/main">
            <a:r>
              <a:t/>
            </a:r>
            <a:endParaRPr/>
          </a:p>
          <a:p xmlns:a="http://schemas.openxmlformats.org/drawingml/2006/main">
            <a:r>
              <a:t>The horizontal axis uses a logarithmic scale because costs span more than two orders of magnitude. Moving left means lower cost and moving up means more completed passes. Colors identify exact model versions; marker shapes identify reasoning effort. The dashed line joins observed nondominated settings with straight segments, without smoothing or interpolation of new observations. GPT-6 Luna Low and Extra High anchor the inexpensive end. GPT-6 Sol Low and High reach about 95% and 100% completion. The remaining complete-cost settings are shown even when dominated. Five settings have incomplete costs: Luna 5.6 High and Extra High plus DeepSeek Low, High and Max. Their outcomes stay in the backup and data, but their uncertain cost does not enter an exact frontier.</a:t>
            </a:r>
          </a:p>
          <a:p xmlns:a="http://schemas.openxmlformats.org/drawingml/2006/main">
            <a:r>
              <a:t/>
            </a:r>
            <a:endParaRPr/>
          </a:p>
          <a:p xmlns:a="http://schemas.openxmlformats.org/drawingml/2006/main">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xmlns:a="http://schemas.openxmlformats.org/drawingml/2006/main">
            <a:r>
              <a:t/>
            </a:r>
            <a:endParaRPr/>
          </a:p>
          <a:p xmlns:a="http://schemas.openxmlformats.org/drawingml/2006/main">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xmlns:a="http://schemas.openxmlformats.org/drawingml/2006/main">
            <a:r>
              <a:t/>
            </a:r>
            <a:endParaRPr/>
          </a:p>
          <a:p xmlns:a="http://schemas.openxmlformats.org/drawingml/2006/main">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xmlns:a="http://schemas.openxmlformats.org/drawingml/2006/main">
            <a:r>
              <a:t/>
            </a:r>
            <a:endParaRPr/>
          </a:p>
          <a:p xmlns:a="http://schemas.openxmlformats.org/drawingml/2006/main">
            <a:r>
              <a:t>Sources:</a:t>
            </a:r>
          </a:p>
          <a:p xmlns:a="http://schemas.openxmlformats.org/drawingml/2006/main">
            <a:r>
              <a:t>/Users/yp9846/Desktop/PhysLiteBench/output/presentation-20261014/PhysLiteBench-study-figures-20261015/summary.csv</a:t>
            </a:r>
          </a:p>
          <a:p xmlns:a="http://schemas.openxmlformats.org/drawingml/2006/main">
            <a:r>
              <a:t>/Users/yp9846/Desktop/PhysLiteBench/output/presentation-20261014/PhysLiteBench-study-figures-20261015/source-manifest.json</a:t>
            </a:r>
          </a:p>
          <a:p xmlns:a="http://schemas.openxmlformats.org/drawingml/2006/main">
            <a:r>
              <a:t>/Users/yp9846/Desktop/PhysLiteBench/output/presentation-20261014/PhysLiteBench-study-figures-20261015/aggregate_results.py</a:t>
            </a:r>
          </a:p>
          <a:p xmlns:a="http://schemas.openxmlformats.org/drawingml/2006/main">
            <a:r>
              <a:t>/Users/yp9846/Desktop/PhysLiteBench/output/presentation-20261014/PhysLiteBench-study-figures-20261015/plot_results.py</a:t>
            </a:r>
          </a:p>
          <a:p xmlns:a="http://schemas.openxmlformats.org/drawingml/2006/main">
            <a:r>
              <a:t/>
            </a:r>
          </a:p>
          <a:p xmlns:a="http://schemas.openxmlformats.org/drawingml/2006/main">
            <a:r>
              <a:t>19 of 24 settings have complete costs. Dashed line: observed frontier. Five incomplete-cost settings are omitted.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50 seconds.</a:t>
            </a:r>
          </a:p>
          <a:p xmlns:a="http://schemas.openxmlformats.org/drawingml/2006/main">
            <a:r>
              <a:t/>
            </a:r>
            <a:endParaRPr/>
          </a:p>
          <a:p xmlns:a="http://schemas.openxmlformats.org/drawingml/2006/main">
            <a:r>
              <a:t>This view holds the set of model and effort combinations fixed across the three prompt conditions. It includes GPT-5.6 Luna at six efforts, Terra at Low, Medium and High, Sol at Low and Medium, and DeepSeek at High. Color shows the hint condition. Shape shows the model and nearby letters show selected effort labels. We combine the available independent attempts within each model, effort and condition. The log-scaled cost axis exposes the low-cost Luna settings and the more expensive Terra and Sol settings. Physics hints generally reach higher observed success, but fourteen settings have incomplete costs, including all three Luna High cost estimates after pooling, so they are omitted from exact cost frontiers. All outcomes remain in the next slide and backup table. The curves join observed points with straight segments. They do not imply interpolated model configurations or a causal effect.</a:t>
            </a:r>
          </a:p>
          <a:p xmlns:a="http://schemas.openxmlformats.org/drawingml/2006/main">
            <a:r>
              <a:t/>
            </a:r>
            <a:endParaRPr/>
          </a:p>
          <a:p xmlns:a="http://schemas.openxmlformats.org/drawingml/2006/main">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xmlns:a="http://schemas.openxmlformats.org/drawingml/2006/main">
            <a:r>
              <a:t/>
            </a:r>
            <a:endParaRPr/>
          </a:p>
          <a:p xmlns:a="http://schemas.openxmlformats.org/drawingml/2006/main">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xmlns:a="http://schemas.openxmlformats.org/drawingml/2006/main">
            <a:r>
              <a:t/>
            </a:r>
            <a:endParaRPr/>
          </a:p>
          <a:p xmlns:a="http://schemas.openxmlformats.org/drawingml/2006/main">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xmlns:a="http://schemas.openxmlformats.org/drawingml/2006/main">
            <a:r>
              <a:t/>
            </a:r>
            <a:endParaRPr/>
          </a:p>
          <a:p xmlns:a="http://schemas.openxmlformats.org/drawingml/2006/main">
            <a:r>
              <a:t>Sources:</a:t>
            </a:r>
          </a:p>
          <a:p xmlns:a="http://schemas.openxmlformats.org/drawingml/2006/main">
            <a:r>
              <a:t>/Users/yp9846/Desktop/PhysLiteBench/output/presentation-20261014/PhysLiteBench-study-figures-20261015/summary.csv</a:t>
            </a:r>
          </a:p>
          <a:p xmlns:a="http://schemas.openxmlformats.org/drawingml/2006/main">
            <a:r>
              <a:t>/Users/yp9846/Desktop/PhysLiteBench/output/presentation-20261014/PhysLiteBench-study-figures-20261015/source-manifest.json</a:t>
            </a:r>
          </a:p>
          <a:p xmlns:a="http://schemas.openxmlformats.org/drawingml/2006/main">
            <a:r>
              <a:t>/Users/yp9846/Desktop/PhysLiteBench/output/presentation-20261014/PhysLiteBench-study-figures-20261015/aggregate_results.py</a:t>
            </a:r>
          </a:p>
          <a:p xmlns:a="http://schemas.openxmlformats.org/drawingml/2006/main">
            <a:r>
              <a:t>/Users/yp9846/Desktop/PhysLiteBench/output/presentation-20261014/PhysLiteBench-study-figures-20261015/plot_results.py</a:t>
            </a:r>
          </a:p>
          <a:p xmlns:a="http://schemas.openxmlformats.org/drawingml/2006/main">
            <a:r>
              <a:t/>
            </a:r>
          </a:p>
          <a:p xmlns:a="http://schemas.openxmlformats.org/drawingml/2006/main">
            <a:r>
              <a:t>22 of 36 settings have complete costs. Lines join observed frontiers. Historical controls and runtime differences remain.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endParaRPr/>
          </a:p>
          <a:p xmlns:a="http://schemas.openxmlformats.org/drawingml/2006/main">
            <a:r>
              <a:t>The model is GPT-5.6 Luna throughout. Every bar uses thirteen tasks with three attempts each, giving thirty-nine attempts. At High effort, the completed passes are four without a hint, eighteen with a general hint, and thirty with a physics hint. General hints increase the observed pass rate from Medium effort upward. Physics hints have the highest observed rate at all six efforts. These results suggest that relevant physics is often available to the agent but is not identified or applied without guidance.</a:t>
            </a:r>
          </a:p>
          <a:p xmlns:a="http://schemas.openxmlformats.org/drawingml/2006/main">
            <a:r>
              <a:t/>
            </a:r>
            <a:endParaRPr/>
          </a:p>
          <a:p xmlns:a="http://schemas.openxmlformats.org/drawingml/2006/main">
            <a:r>
              <a:t>This figure selects the complete six-effort matrix and its historical no-hint controls. It does not add the later independent High-effort replication or the one fresh baseline. The prior 78-attempt bars pooled independent trials, rather than duplicate trial identities, but this view deliberately keeps one three-repeat panel per cell. Full-study plots and backup tables still preserve the independent replication. Execution errors remain in each denominator. No trial outcomes were changed.</a:t>
            </a:r>
          </a:p>
          <a:p xmlns:a="http://schemas.openxmlformats.org/drawingml/2006/main">
            <a:r>
              <a:t/>
            </a:r>
            <a:endParaRPr/>
          </a:p>
          <a:p xmlns:a="http://schemas.openxmlformats.org/drawingml/2006/main">
            <a:r>
              <a:t>The hint comparison remains descriptive. Earlier controls differ in runtime, concurrency and CPU quotas. Hint lengths are not matched. A general hint may improve checking, implementation or attention, and alone does not isolate a physics deficit. Task-specific hint gains together with submitted-code failure evidence support the proposed interpretation. Published hinted evidence is aggregate only; raw transcripts were not independently inspected here.</a:t>
            </a:r>
          </a:p>
          <a:p xmlns:a="http://schemas.openxmlformats.org/drawingml/2006/main">
            <a:r>
              <a:t/>
            </a:r>
            <a:endParaRPr/>
          </a:p>
          <a:p xmlns:a="http://schemas.openxmlformats.org/drawingml/2006/main">
            <a:r>
              <a:t>Sources:</a:t>
            </a:r>
          </a:p>
          <a:p xmlns:a="http://schemas.openxmlformats.org/drawingml/2006/main">
            <a:r>
              <a:t>/Users/yp9846/Desktop/PhysLiteBench/output/presentation-20261014/PhysLiteBench-focused-study-figures-20261015/luna-effort-panel.json</a:t>
            </a:r>
            <a:endParaRPr/>
          </a:p>
          <a:p xmlns:a="http://schemas.openxmlformats.org/drawingml/2006/main">
            <a:r>
              <a:t>/Users/yp9846/Desktop/PhysLiteBench/output/presentation-20261014/PhysLiteBench-focused-study-figures-20261015/sources/baseline-luna-trials.csv</a:t>
            </a:r>
          </a:p>
          <a:p xmlns:a="http://schemas.openxmlformats.org/drawingml/2006/main">
            <a:r>
              <a:t>/Users/yp9846/Desktop/PhysLiteBench/output/presentation-20261014/PhysLiteBench-focused-study-figures-20261015/sources/hint-matrix-summary.csv</a:t>
            </a:r>
          </a:p>
          <a:p xmlns:a="http://schemas.openxmlformats.org/drawingml/2006/main">
            <a:r>
              <a:t>/Users/yp9846/Desktop/PhysLiteBench/output/presentation-20261014/PhysLiteBench-focused-study-figures-20261015/plot_results.py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endParaRPr/>
          </a:p>
          <a:p xmlns:a="http://schemas.openxmlformats.org/drawingml/2006/main">
            <a:r>
              <a:t>The outcome chart combines all recorded attempts by model. Its different sample sizes are printed beside the names. The study has 899 completed passes, 904 graded failures and 265 execution errors. These model totals combine different effort and hint settings, so this chart describes outcome composition rather than a controlled ranking.</a:t>
            </a:r>
          </a:p>
          <a:p xmlns:a="http://schemas.openxmlformats.org/drawingml/2006/main">
            <a:r>
              <a:t/>
            </a:r>
            <a:endParaRPr/>
          </a:p>
          <a:p xmlns:a="http://schemas.openxmlformats.org/drawingml/2006/main">
            <a:r>
              <a:t>The failure diagnoses on the right refer to explicitly reviewed subsets. Among 191 normally completed failures in a 585-attempt no-hint subset, 186 passed calibration and parameter checks but failed new predictions. At least 141 of these 186 also show public-test passes. The published hinted failure review classified 229 of 315 graded failures as physics/modeling, 54 as mathematical/numerical and 32 as implementation. These are different review taxonomies and should not be subtracted as a hint-effect estimate. The no-hint analysis used saved tool actions, submitted code and verifier evidence. The hinted diagnoses are published review results; their raw trajectories were not independently reviewed here. None of these counts infer physics failure from a timeout.</a:t>
            </a:r>
          </a:p>
          <a:p xmlns:a="http://schemas.openxmlformats.org/drawingml/2006/main">
            <a:r>
              <a:t/>
            </a:r>
            <a:endParaRPr/>
          </a:p>
          <a:p xmlns:a="http://schemas.openxmlformats.org/drawingml/2006/main">
            <a:r>
              <a:t>Sources:</a:t>
            </a:r>
          </a:p>
          <a:p xmlns:a="http://schemas.openxmlformats.org/drawingml/2006/main">
            <a:r>
              <a:t>/Users/yp9846/Desktop/PhysLiteBench/output/presentation-20261014/PhysLiteBench-study-figures-20261015/sources/trajectory-analysis.json</a:t>
            </a:r>
          </a:p>
          <a:p xmlns:a="http://schemas.openxmlformats.org/drawingml/2006/main">
            <a:r>
              <a:t>/Users/yp9846/Desktop/PhysLiteBench/output/presentation-20261014/PhysLiteBench-study-figures-20261015/sources/hint-matrix-summary.md</a:t>
            </a:r>
          </a:p>
          <a:p xmlns:a="http://schemas.openxmlformats.org/drawingml/2006/main">
            <a:r>
              <a:t/>
            </a:r>
            <a:endParaRPr/>
          </a:p>
          <a:p xmlns:a="http://schemas.openxmlformats.org/drawingml/2006/main">
            <a:r>
              <a:t>Sources:</a:t>
            </a:r>
          </a:p>
          <a:p xmlns:a="http://schemas.openxmlformats.org/drawingml/2006/main">
            <a:r>
              <a:t>/Users/yp9846/Desktop/PhysLiteBench/output/presentation-20261014/PhysLiteBench-study-figures-20261015/summary.csv</a:t>
            </a:r>
          </a:p>
          <a:p xmlns:a="http://schemas.openxmlformats.org/drawingml/2006/main">
            <a:r>
              <a:t>/Users/yp9846/Desktop/PhysLiteBench/output/presentation-20261014/PhysLiteBench-study-figures-20261015/source-manifest.json</a:t>
            </a:r>
          </a:p>
          <a:p xmlns:a="http://schemas.openxmlformats.org/drawingml/2006/main">
            <a:r>
              <a:t>/Users/yp9846/Desktop/PhysLiteBench/output/presentation-20261014/PhysLiteBench-study-figures-20261015/aggregate_results.py</a:t>
            </a:r>
          </a:p>
          <a:p xmlns:a="http://schemas.openxmlformats.org/drawingml/2006/main">
            <a:r>
              <a:t>/Users/yp9846/Desktop/PhysLiteBench/output/presentation-20261014/PhysLiteBench-study-figures-20261015/plot_results.py</a:t>
            </a:r>
          </a:p>
          <a:p xmlns:a="http://schemas.openxmlformats.org/drawingml/2006/main">
            <a:r>
              <a:t/>
            </a:r>
          </a:p>
          <a:p xmlns:a="http://schemas.openxmlformats.org/drawingml/2006/main">
            <a:r>
              <a:t>Review subsets use different diagnostic categories. Execution errors alone do not establish a physics mistake.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80 seconds.</a:t>
            </a:r>
          </a:p>
          <a:p xmlns:a="http://schemas.openxmlformats.org/drawingml/2006/main">
            <a:r>
              <a:t/>
            </a:r>
            <a:endParaRPr/>
          </a:p>
          <a:p xmlns:a="http://schemas.openxmlformats.org/drawingml/2006/main">
            <a:r>
              <a:t>Here is the same bead example, now using a saved Terra run. Every repeat starts with the neighbors evenly spaced. We record the orange bead early and again later. The red arrow means a statistical link across repeats, not a force between two beads.</a:t>
            </a:r>
          </a:p>
          <a:p xmlns:a="http://schemas.openxmlformats.org/drawingml/2006/main">
            <a:r>
              <a:t/>
            </a:r>
            <a:endParaRPr/>
          </a:p>
          <a:p xmlns:a="http://schemas.openxmlformats.org/drawingml/2006/main">
            <a:r>
              <a:t>The agent adjusted one number controlling the amount of random motion. Its code matched the supplied measurements of how far the bead wanders at each time, and the public test passed.</a:t>
            </a:r>
          </a:p>
          <a:p xmlns:a="http://schemas.openxmlformats.org/drawingml/2006/main">
            <a:r>
              <a:t/>
            </a:r>
            <a:endParaRPr/>
          </a:p>
          <a:p xmlns:a="http://schemas.openxmlformats.org/drawingml/2006/main">
            <a:r>
              <a:t>But it kept the starter's rule for connecting the two observations. In plain terms, that rule made an early displacement count too much when predicting the later motion. The evenly spaced starting row affects this connection, and its formula did not account for that effect correctly. Matching the spread at each time could not reveal this mistake.</a:t>
            </a:r>
          </a:p>
          <a:p xmlns:a="http://schemas.openxmlformats.org/drawingml/2006/main">
            <a:r>
              <a:t/>
            </a:r>
            <a:endParaRPr/>
          </a:p>
          <a:p xmlns:a="http://schemas.openxmlformats.org/drawingml/2006/main">
            <a:r>
              <a:t>The hidden predictions were wrong by as much as 136%, against a 4% allowance. We checked the diagnosis by keeping its fitted motion strength and replacing only the rule connecting two times. The largest error fell to about 0.003%. That is our diagnostic correction, not a new agent pass or a hint result. The conclusion comes from the saved code, tool actions and tests.</a:t>
            </a:r>
          </a:p>
          <a:p xmlns:a="http://schemas.openxmlformats.org/drawingml/2006/main">
            <a:r>
              <a:t/>
            </a:r>
            <a:endParaRPr/>
          </a:p>
          <a:p xmlns:a="http://schemas.openxmlformats.org/drawingml/2006/main">
            <a:r>
              <a:t>Sources:</a:t>
            </a:r>
          </a:p>
          <a:p xmlns:a="http://schemas.openxmlformats.org/drawingml/2006/main">
            <a:r>
              <a:t>/Users/yp9846/Desktop/PhysLiteBench/tasks/single-file-memory/environment/README.md</a:t>
            </a:r>
          </a:p>
          <a:p xmlns:a="http://schemas.openxmlformats.org/drawingml/2006/main">
            <a:r>
              <a:t>/Users/yp9846/Desktop/PhysLiteBench/tasks/single-file-memory/environment/model.py</a:t>
            </a:r>
          </a:p>
          <a:p xmlns:a="http://schemas.openxmlformats.org/drawingml/2006/main">
            <a:r>
              <a:t>/Users/yp9846/Desktop/PhysLiteBench/tasks/single-file-memory/solution/model.py</a:t>
            </a:r>
          </a:p>
          <a:p xmlns:a="http://schemas.openxmlformats.org/drawingml/2006/main">
            <a:r>
              <a:t>/Users/yp9846/Desktop/PhysLiteBench/results/trajectory-analysis-20261014/cases/single-file-memory__PC6LumP/review.json</a:t>
            </a:r>
          </a:p>
          <a:p xmlns:a="http://schemas.openxmlformats.org/drawingml/2006/main">
            <a:r>
              <a:t>/Users/yp9846/Desktop/PhysLiteBench/results/trajectory-analysis-20261014/cases/single-file-memory__PC6LumP/model.diff</a:t>
            </a:r>
          </a:p>
          <a:p xmlns:a="http://schemas.openxmlformats.org/drawingml/2006/main">
            <a:r>
              <a:t>/Users/yp9846/Desktop/PhysLiteBench/results/trajectory-analysis-20261014/cases/single-file-memory__PC6LumP/metrics.json</a:t>
            </a:r>
          </a:p>
          <a:p xmlns:a="http://schemas.openxmlformats.org/drawingml/2006/main">
            <a:r>
              <a:t>/Users/yp9846/Desktop/PhysLiteBench/results/trajectory-analysis-20261014/diagnostic-repairs.json</a:t>
            </a:r>
          </a:p>
          <a:p xmlns:a="http://schemas.openxmlformats.org/drawingml/2006/main">
            <a:r>
              <a:t/>
            </a:r>
            <a:endParaRPr/>
          </a:p>
          <a:p xmlns:a="http://schemas.openxmlformats.org/drawingml/2006/main">
            <a:r>
              <a:t>Technical clarification for questions: both formulas have correlated motion and agree at equal times. The saved formula overestimates the two-time covariance. It incorrectly treats increments as depending only on the time gap. The benchmark uses a joint long-time coefficient, not the finite-time positions drawn in this schematic. Equations and exact metrics remain in backup slide 16.</a:t>
            </a:r>
          </a:p>
          <a:p xmlns:a="http://schemas.openxmlformats.org/drawingml/2006/main">
            <a:r>
              <a:t/>
            </a:r>
          </a:p>
          <a:p xmlns:a="http://schemas.openxmlformats.org/drawingml/2006/main">
            <a:r>
              <a:t>Allowed tolerance: 4%. The covariance describes averages across repeated runs. Bead positions are schematic.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30 seconds.</a:t>
            </a:r>
          </a:p>
          <a:p xmlns:a="http://schemas.openxmlformats.org/drawingml/2006/main">
            <a:r>
              <a:t/>
            </a:r>
            <a:endParaRPr/>
          </a:p>
          <a:p xmlns:a="http://schemas.openxmlformats.org/drawingml/2006/main">
            <a:r>
              <a:t>The benchmark tests whether agents can reason about the physics beyond the supplied observations. The bead example shows a good fit with the wrong model for covariance. Both hint types improve Luna at higher efforts, and physics hints improve it at every tested effort. Together with the failure analysis, these gains suggest that agents often miss relevant physics without guidance.</a:t>
            </a:r>
          </a:p>
          <a:p xmlns:a="http://schemas.openxmlformats.org/drawingml/2006/main">
            <a:r>
              <a:t/>
            </a:r>
            <a:endParaRPr/>
          </a:p>
          <a:p xmlns:a="http://schemas.openxmlformats.org/drawingml/2006/main">
            <a:r>
              <a:t>The quoted Luna High counts are the same single 39-attempt panels shown on slide 8. The full study retains additional independent High repetitions in the other figures and backup tables. General hints can help with implementation or checking as well as reasoning. Historical controls, runtime differences and hint length prevent a causal attribution solely to physics reasoning. These results support a limitation on this selected task suite, rather than a universal claim about agent capability. DeepSeek has many execution errors, which are not diagnoses of physics mistakes.</a:t>
            </a:r>
          </a:p>
          <a:p xmlns:a="http://schemas.openxmlformats.org/drawingml/2006/main">
            <a:r>
              <a:t/>
            </a:r>
          </a:p>
          <a:p xmlns:a="http://schemas.openxmlformats.org/drawingml/2006/main">
            <a:r>
              <a:t>Sources:</a:t>
            </a:r>
          </a:p>
          <a:p xmlns:a="http://schemas.openxmlformats.org/drawingml/2006/main">
            <a:r>
              <a:t>/Users/yp9846/Desktop/PhysLiteBench/output/presentation-20261014/PhysLiteBench-focused-study-figures-20261015/luna-effort-panel.json</a:t>
            </a:r>
          </a:p>
          <a:p xmlns:a="http://schemas.openxmlformats.org/drawingml/2006/main">
            <a:r>
              <a:t>/Users/yp9846/Desktop/PhysLiteBench/output/presentation-20261014/PhysLiteBench-focused-study-figures-20261015/sources/trajectory-analysis.json</a:t>
            </a:r>
          </a:p>
          <a:p xmlns:a="http://schemas.openxmlformats.org/drawingml/2006/main">
            <a:r>
              <a:t>/Users/yp9846/Desktop/PhysLiteBench/output/presentation-20261014/PhysLiteBench-focused-study-figures-20261015/sources/hint-matrix-summary.md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180 seconds.</a:t>
            </a:r>
          </a:p>
          <a:p xmlns:a="http://schemas.openxmlformats.org/drawingml/2006/main">
            <a:endParaRPr/>
          </a:p>
          <a:p xmlns:a="http://schemas.openxmlformats.org/drawingml/2006/main">
            <a:r>
              <a:t>Questions. Useful scope distinctions are task selection versus evaluation, completed passes versus timeout checkpoints, and descriptive hint comparisons versus causal estimates. Backup slides provide the full model/effort tables, task roster and bead covariance formulas. The plotting bundle contains the archived sources, hash manifest, aggregation script and Python plotting script.</a:t>
            </a:r>
          </a:p>
          <a:p xmlns:a="http://schemas.openxmlformats.org/drawingml/2006/main">
            <a:endParaRPr/>
          </a:p>
          <a:p xmlns:a="http://schemas.openxmlformats.org/drawingml/2006/main">
            <a:r>
              <a:t>Sources:</a:t>
            </a:r>
          </a:p>
          <a:p xmlns:a="http://schemas.openxmlformats.org/drawingml/2006/main">
            <a:r>
              <a:t>/Users/yp9846/Desktop/PhysLiteBench/output/presentation-20261014/PhysLiteBench-study-figures-20261015/summary.csv</a:t>
            </a:r>
          </a:p>
          <a:p xmlns:a="http://schemas.openxmlformats.org/drawingml/2006/main">
            <a:r>
              <a:t>/Users/yp9846/Desktop/PhysLiteBench/output/presentation-20261014/PhysLiteBench-study-figures-20261015/source-manifest.json</a:t>
            </a:r>
          </a:p>
          <a:p xmlns:a="http://schemas.openxmlformats.org/drawingml/2006/main">
            <a:r>
              <a:t>/Users/yp9846/Desktop/PhysLiteBench/output/presentation-20261014/PhysLiteBench-study-figures-20261015/aggregate_results.py</a:t>
            </a:r>
          </a:p>
          <a:p xmlns:a="http://schemas.openxmlformats.org/drawingml/2006/main">
            <a:r>
              <a:t>/Users/yp9846/Desktop/PhysLiteBench/output/presentation-20261014/PhysLiteBench-study-figures-20261015/plot_results.py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endParaRPr/>
          </a:p>
          <a:p xmlns:a="http://schemas.openxmlformats.org/drawingml/2006/main">
            <a:r>
              <a:t>All complete no-hint settings, aggregated by exact model version and effort. This table retains results with missing cost, even though those settings are absent from the exact frontier. Terra Low and High, and DeepSeek High, each have 78 distinct attempts. Luna High has 40 because one fresh baseline was already started before historical baseline reuse. Other settings have 39. Cost bounds and original records are in the plotting bundle.</a:t>
            </a:r>
          </a:p>
          <a:p xmlns:a="http://schemas.openxmlformats.org/drawingml/2006/main">
            <a:endParaRPr/>
          </a:p>
          <a:p xmlns:a="http://schemas.openxmlformats.org/drawingml/2006/main">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xmlns:a="http://schemas.openxmlformats.org/drawingml/2006/main">
            <a:endParaRPr/>
          </a:p>
          <a:p xmlns:a="http://schemas.openxmlformats.org/drawingml/2006/main">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xmlns:a="http://schemas.openxmlformats.org/drawingml/2006/main">
            <a:endParaRPr/>
          </a:p>
          <a:p xmlns:a="http://schemas.openxmlformats.org/drawingml/2006/main">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xmlns:a="http://schemas.openxmlformats.org/drawingml/2006/main">
            <a:endParaRPr/>
          </a:p>
          <a:p xmlns:a="http://schemas.openxmlformats.org/drawingml/2006/main">
            <a:r>
              <a:t>Sources:</a:t>
            </a:r>
          </a:p>
          <a:p xmlns:a="http://schemas.openxmlformats.org/drawingml/2006/main">
            <a:r>
              <a:t>/Users/yp9846/Desktop/PhysLiteBench/output/presentation-20261014/PhysLiteBench-study-figures-20261015/summary.csv</a:t>
            </a:r>
          </a:p>
          <a:p xmlns:a="http://schemas.openxmlformats.org/drawingml/2006/main">
            <a:r>
              <a:t>/Users/yp9846/Desktop/PhysLiteBench/output/presentation-20261014/PhysLiteBench-study-figures-20261015/source-manifest.json</a:t>
            </a:r>
          </a:p>
          <a:p xmlns:a="http://schemas.openxmlformats.org/drawingml/2006/main">
            <a:r>
              <a:t>/Users/yp9846/Desktop/PhysLiteBench/output/presentation-20261014/PhysLiteBench-study-figures-20261015/aggregate_results.py</a:t>
            </a:r>
          </a:p>
          <a:p xmlns:a="http://schemas.openxmlformats.org/drawingml/2006/main">
            <a:r>
              <a:t>/Users/yp9846/Desktop/PhysLiteBench/output/presentation-20261014/PhysLiteBench-study-figures-20261015/plot_results.py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endParaRPr/>
          </a:p>
          <a:p xmlns:a="http://schemas.openxmlformats.org/drawingml/2006/main">
            <a:r>
              <a:t>These twelve model-effort combinations have all three prompt conditions. The full experiment also includes models and effort settings tested without hints only. Every result in this table belongs to the same frozen thirteen-task benchmark. Parenthesized values are execution errors, not additional passes or independently diagnosed physics failures. The setup replacement policy differs across the archived schedules and remains documented, rather than being changed after the fact.</a:t>
            </a:r>
          </a:p>
          <a:p xmlns:a="http://schemas.openxmlformats.org/drawingml/2006/main">
            <a:r>
              <a:t/>
            </a:r>
            <a:endParaRPr/>
          </a:p>
          <a:p xmlns:a="http://schemas.openxmlformats.org/drawingml/2006/main">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xmlns:a="http://schemas.openxmlformats.org/drawingml/2006/main">
            <a:r>
              <a:t/>
            </a:r>
            <a:endParaRPr/>
          </a:p>
          <a:p xmlns:a="http://schemas.openxmlformats.org/drawingml/2006/main">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xmlns:a="http://schemas.openxmlformats.org/drawingml/2006/main">
            <a:r>
              <a:t/>
            </a:r>
            <a:endParaRPr/>
          </a:p>
          <a:p xmlns:a="http://schemas.openxmlformats.org/drawingml/2006/main">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xmlns:a="http://schemas.openxmlformats.org/drawingml/2006/main">
            <a:r>
              <a:t/>
            </a:r>
            <a:endParaRPr/>
          </a:p>
          <a:p xmlns:a="http://schemas.openxmlformats.org/drawingml/2006/main">
            <a:r>
              <a:t>Sources:</a:t>
            </a:r>
          </a:p>
          <a:p xmlns:a="http://schemas.openxmlformats.org/drawingml/2006/main">
            <a:r>
              <a:t>/Users/yp9846/Desktop/PhysLiteBench/output/presentation-20261014/PhysLiteBench-study-figures-20261015/summary.csv</a:t>
            </a:r>
          </a:p>
          <a:p xmlns:a="http://schemas.openxmlformats.org/drawingml/2006/main">
            <a:r>
              <a:t>/Users/yp9846/Desktop/PhysLiteBench/output/presentation-20261014/PhysLiteBench-study-figures-20261015/source-manifest.json</a:t>
            </a:r>
          </a:p>
          <a:p xmlns:a="http://schemas.openxmlformats.org/drawingml/2006/main">
            <a:r>
              <a:t>/Users/yp9846/Desktop/PhysLiteBench/output/presentation-20261014/PhysLiteBench-study-figures-20261015/aggregate_results.py</a:t>
            </a:r>
          </a:p>
          <a:p xmlns:a="http://schemas.openxmlformats.org/drawingml/2006/main">
            <a:r>
              <a:t>/Users/yp9846/Desktop/PhysLiteBench/output/presentation-20261014/PhysLiteBench-study-figures-20261015/plot_results.py</a:t>
            </a:r>
          </a:p>
          <a:p xmlns:a="http://schemas.openxmlformats.org/drawingml/2006/main">
            <a:r>
              <a:t/>
            </a:r>
          </a:p>
          <a:p xmlns:a="http://schemas.openxmlformats.org/drawingml/2006/main">
            <a:r>
              <a:t>Slide 8 now shows one six-effort Luna matrix with 39 attempts per cell. This backup table continues to show all unique attempts, including the independent later High repetition. These are different declared summaries, not duplicated trial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endParaRPr/>
          </a:p>
          <a:p xmlns:a="http://schemas.openxmlformats.org/drawingml/2006/main">
            <a:r>
              <a:t>The same thirteen task families are used throughout the study. Content and grading match the frozen source snapshot. The original ten have a preserved zero-of-three Luna High qualification record; the three later tasks have separate selection and confirmation evidence. Subsequent independent evaluations can pass.</a:t>
            </a:r>
          </a:p>
          <a:p xmlns:a="http://schemas.openxmlformats.org/drawingml/2006/main">
            <a:endParaRPr/>
          </a:p>
          <a:p xmlns:a="http://schemas.openxmlformats.org/drawingml/2006/main">
            <a:r>
              <a:t>Sources:</a:t>
            </a:r>
          </a:p>
          <a:p xmlns:a="http://schemas.openxmlformats.org/drawingml/2006/main">
            <a:r>
              <a:t>/Users/yp9846/Desktop/PhysLiteBench/results/task-roster.json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endParaRPr/>
          </a:p>
          <a:p xmlns:a="http://schemas.openxmlformats.org/drawingml/2006/main">
            <a:r>
              <a:t>Technical detail for questions. The channel represents an infinite line of identical Brownian point particles with reflecting collisions and fixed initial positions j/rho in each independent repeat. The task predicts the joint long-time covariance coefficient, not finite-time trajectories or the exact position in one realization. With A = sqrt(D/pi)/rho, the correct coefficient is A[sqrt(t+s)-sqrt(abs(t-s))]. The starter uses A/sqrt(2)[sqrt(t)+sqrt(s)-sqrt(abs(t-s))]. Both agree on every equal-time setting. The plotted curves use the same D and density, normalized to the equal-time value, with earlier time multiplier 0.5 and later multiplier from 0.5 to 4. They therefore isolate the time-dependence difference. This plot is analytic, not a measured trial result. The apparent memory comes from the fixed preparation and no-passing constraint, even though the random forcing on different particles is independent. The saved Terra fit is 0.949947415037877. Its parameter error is 0.005535%, and its prediction-group errors at later/earlier ratios 2, 4 and 8 are 36.60%, 77.88% and 136.06%. Replacing only the covariance expression at the fixed fitted D reduces all tested group errors to 0.002768%.</a:t>
            </a:r>
          </a:p>
          <a:p xmlns:a="http://schemas.openxmlformats.org/drawingml/2006/main">
            <a:endParaRPr/>
          </a:p>
          <a:p xmlns:a="http://schemas.openxmlformats.org/drawingml/2006/main">
            <a:r>
              <a:t>Sources:</a:t>
            </a:r>
          </a:p>
          <a:p xmlns:a="http://schemas.openxmlformats.org/drawingml/2006/main">
            <a:r>
              <a:t>/Users/yp9846/Desktop/PhysLiteBench/tasks/single-file-memory/environment/README.md</a:t>
            </a:r>
          </a:p>
          <a:p xmlns:a="http://schemas.openxmlformats.org/drawingml/2006/main">
            <a:r>
              <a:t>/Users/yp9846/Desktop/PhysLiteBench/tasks/single-file-memory/instruction.md</a:t>
            </a:r>
          </a:p>
          <a:p xmlns:a="http://schemas.openxmlformats.org/drawingml/2006/main">
            <a:r>
              <a:t>/Users/yp9846/Desktop/PhysLiteBench/tasks/single-file-memory/environment/model.py</a:t>
            </a:r>
          </a:p>
          <a:p xmlns:a="http://schemas.openxmlformats.org/drawingml/2006/main">
            <a:r>
              <a:t>/Users/yp9846/Desktop/PhysLiteBench/tasks/single-file-memory/solution/model.py</a:t>
            </a:r>
          </a:p>
          <a:p xmlns:a="http://schemas.openxmlformats.org/drawingml/2006/main">
            <a:r>
              <a:t>/Users/yp9846/Desktop/PhysLiteBench/tasks/single-file-memory/AUTHOR.md</a:t>
            </a:r>
          </a:p>
          <a:p xmlns:a="http://schemas.openxmlformats.org/drawingml/2006/main">
            <a:r>
              <a:t>/Users/yp9846/Desktop/PhysLiteBench/results/trajectory-analysis-20261014/cases/single-file-memory__PC6LumP/metrics.json</a:t>
            </a:r>
          </a:p>
          <a:p xmlns:a="http://schemas.openxmlformats.org/drawingml/2006/main">
            <a:r>
              <a:t>/Users/yp9846/Desktop/PhysLiteBench/results/trajectory-analysis-20261014/diagnostic-repairs.json</a:t>
            </a:r>
          </a:p>
          <a:p xmlns:a="http://schemas.openxmlformats.org/drawingml/2006/main">
            <a:endParaRPr/>
          </a:p>
          <a:p xmlns:a="http://schemas.openxmlformats.org/drawingml/2006/main">
            <a:r>
              <a:t>The Python plot uses the exact 57 coordinate pairs per series from the user-edited source chart. No spline or smoothing is applied. The source series and plotting script are archived in /Users/yp9846/Desktop/PhysLiteBench/output/presentation-20261014/PhysLiteBench-study-figures-20261015.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endParaRPr/>
          </a:p>
          <a:p xmlns:a="http://schemas.openxmlformats.org/drawingml/2006/main">
            <a:r>
              <a:t>All available model versions and no-hint effort settings appear in one chart. Rates use the pooled distinct-attempt denominators in the preceding table. Points are connected by straight segments only for visual guidance. Untested effort settings are not inferred. More reasoning does not monotonically increase the observed completion rate under the fixed time limit.</a:t>
            </a:r>
          </a:p>
          <a:p xmlns:a="http://schemas.openxmlformats.org/drawingml/2006/main">
            <a:endParaRPr/>
          </a:p>
          <a:p xmlns:a="http://schemas.openxmlformats.org/drawingml/2006/main">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xmlns:a="http://schemas.openxmlformats.org/drawingml/2006/main">
            <a:endParaRPr/>
          </a:p>
          <a:p xmlns:a="http://schemas.openxmlformats.org/drawingml/2006/main">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xmlns:a="http://schemas.openxmlformats.org/drawingml/2006/main">
            <a:endParaRPr/>
          </a:p>
          <a:p xmlns:a="http://schemas.openxmlformats.org/drawingml/2006/main">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xmlns:a="http://schemas.openxmlformats.org/drawingml/2006/main">
            <a:endParaRPr/>
          </a:p>
          <a:p xmlns:a="http://schemas.openxmlformats.org/drawingml/2006/main">
            <a:r>
              <a:t>Sources:</a:t>
            </a:r>
          </a:p>
          <a:p xmlns:a="http://schemas.openxmlformats.org/drawingml/2006/main">
            <a:r>
              <a:t>/Users/yp9846/Desktop/PhysLiteBench/output/presentation-20261014/PhysLiteBench-study-figures-20261015/summary.csv</a:t>
            </a:r>
          </a:p>
          <a:p xmlns:a="http://schemas.openxmlformats.org/drawingml/2006/main">
            <a:r>
              <a:t>/Users/yp9846/Desktop/PhysLiteBench/output/presentation-20261014/PhysLiteBench-study-figures-20261015/source-manifest.json</a:t>
            </a:r>
          </a:p>
          <a:p xmlns:a="http://schemas.openxmlformats.org/drawingml/2006/main">
            <a:r>
              <a:t>/Users/yp9846/Desktop/PhysLiteBench/output/presentation-20261014/PhysLiteBench-study-figures-20261015/aggregate_results.py</a:t>
            </a:r>
          </a:p>
          <a:p xmlns:a="http://schemas.openxmlformats.org/drawingml/2006/main">
            <a:r>
              <a:t>/Users/yp9846/Desktop/PhysLiteBench/output/presentation-20261014/PhysLiteBench-study-figures-20261015/plot_results.py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3cc2f9a87a4b1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a26d247b2d426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34c46b4538d446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da5c6e284b740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49fa7e2956401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ba3b7fd84dd47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DAF00F-B395-4BB8-A439-9AA89BEDDA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B816860D-B2BB-4679-95BC-EC17130D2CD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C6704A9-9853-44A6-8B4A-4DC4DB9A471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E75D2A-E789-411F-A213-993328928F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EEEACEAE-9A1D-4507-A60D-2AE6FC7CF3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CEFAC2-A0C9-4F70-B012-77B95FAB7D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FE9C7553-1AB5-446B-B4C5-ABBCB0AC29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B0184D06-C74C-4068-BE3F-45139A68C7E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7D4CBD-570B-4FE0-8AC2-C6CC842A2C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2ACBB10A-755C-4118-A48F-8124498F7F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699b52fae64ce1" /><Relationship Type="http://schemas.openxmlformats.org/officeDocument/2006/relationships/slideLayout" Target="/ppt/slideLayouts/slideLayout1.xml" Id="R6e2f807f1673473f" /><Relationship Type="http://schemas.openxmlformats.org/officeDocument/2006/relationships/slideLayout" Target="/ppt/slideLayouts/slideLayout2.xml" Id="Re12ebc012c644c67" /><Relationship Type="http://schemas.openxmlformats.org/officeDocument/2006/relationships/slideLayout" Target="/ppt/slideLayouts/slideLayout3.xml" Id="R844af76f5b7d48db" /><Relationship Type="http://schemas.openxmlformats.org/officeDocument/2006/relationships/slideLayout" Target="/ppt/slideLayouts/slideLayout4.xml" Id="R2ba4942dcab74a1c" /><Relationship Type="http://schemas.openxmlformats.org/officeDocument/2006/relationships/slideLayout" Target="/ppt/slideLayouts/slideLayout5.xml" Id="R275d5ad7b6e74718" /><Relationship Type="http://schemas.openxmlformats.org/officeDocument/2006/relationships/slideLayout" Target="/ppt/slideLayouts/slideLayout6.xml" Id="Rc6ecc4d96a2a45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2f807f1673473f"/>
    <p:sldLayoutId xmlns:r="http://schemas.openxmlformats.org/officeDocument/2006/relationships" id="2147483650" r:id="Re12ebc012c644c67"/>
    <p:sldLayoutId xmlns:r="http://schemas.openxmlformats.org/officeDocument/2006/relationships" id="2147483651" r:id="R844af76f5b7d48db"/>
    <p:sldLayoutId xmlns:r="http://schemas.openxmlformats.org/officeDocument/2006/relationships" id="2147483652" r:id="R2ba4942dcab74a1c"/>
    <p:sldLayoutId xmlns:r="http://schemas.openxmlformats.org/officeDocument/2006/relationships" id="2147483653" r:id="R275d5ad7b6e74718"/>
    <p:sldLayoutId xmlns:r="http://schemas.openxmlformats.org/officeDocument/2006/relationships" id="2147483654" r:id="Rc6ecc4d96a2a45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a331df10b7049e9" /><Relationship Type="http://schemas.openxmlformats.org/officeDocument/2006/relationships/notesSlide" Target="/ppt/notesSlides/notesSlide1.xml" Id="R60eda9b948ad45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8bb429280e6455c" /><Relationship Type="http://schemas.openxmlformats.org/officeDocument/2006/relationships/notesSlide" Target="/ppt/notesSlides/notesSlide2.xml" Id="Rc443d8ef3eb548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bb2029f6b9e4a1a" /><Relationship Type="http://schemas.openxmlformats.org/officeDocument/2006/relationships/notesSlide" Target="/ppt/notesSlides/notesSlide3.xml" Id="R606ba3670cc048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0faca2950e541bd" /><Relationship Type="http://schemas.openxmlformats.org/officeDocument/2006/relationships/notesSlide" Target="/ppt/notesSlides/notesSlide4.xml" Id="Rb9351733ad034b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970eff032ad425f" /><Relationship Type="http://schemas.openxmlformats.org/officeDocument/2006/relationships/notesSlide" Target="/ppt/notesSlides/notesSlide5.xml" Id="Rcd60f1377fa645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4f67789e1644d0a" /><Relationship Type="http://schemas.openxmlformats.org/officeDocument/2006/relationships/image" Target="/ppt/media/image.png" Id="Rbcae6d3dac4045e2" /><Relationship Type="http://schemas.openxmlformats.org/officeDocument/2006/relationships/notesSlide" Target="/ppt/notesSlides/notesSlide6.xml" Id="R64b2ab0122be47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aa6f5dde0654e3a" /><Relationship Type="http://schemas.openxmlformats.org/officeDocument/2006/relationships/image" Target="/ppt/media/image2.png" Id="R048097f527614674" /><Relationship Type="http://schemas.openxmlformats.org/officeDocument/2006/relationships/notesSlide" Target="/ppt/notesSlides/notesSlide7.xml" Id="R20c23eb8b05048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950556af2bb4e0c" /><Relationship Type="http://schemas.openxmlformats.org/officeDocument/2006/relationships/image" Target="/ppt/media/image3.png" Id="R638222d0e8aa4f76" /><Relationship Type="http://schemas.openxmlformats.org/officeDocument/2006/relationships/notesSlide" Target="/ppt/notesSlides/notesSlide8.xml" Id="Rfab29c56040240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d7e98922e8749ee" /><Relationship Type="http://schemas.openxmlformats.org/officeDocument/2006/relationships/image" Target="/ppt/media/image4.png" Id="R715d154b7df549d9" /><Relationship Type="http://schemas.openxmlformats.org/officeDocument/2006/relationships/notesSlide" Target="/ppt/notesSlides/notesSlide9.xml" Id="R51b54b28109b431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a6bee95cbc14202" /><Relationship Type="http://schemas.openxmlformats.org/officeDocument/2006/relationships/notesSlide" Target="/ppt/notesSlides/notesSlide10.xml" Id="Rc490056423c34d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7bc871c7c3040b4" /><Relationship Type="http://schemas.openxmlformats.org/officeDocument/2006/relationships/notesSlide" Target="/ppt/notesSlides/notesSlide11.xml" Id="R8eb1708f025b465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56b6afab1704a69" /><Relationship Type="http://schemas.openxmlformats.org/officeDocument/2006/relationships/notesSlide" Target="/ppt/notesSlides/notesSlide12.xml" Id="R1936ad7204794ae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bbc8f1d6aab4e1a" /><Relationship Type="http://schemas.openxmlformats.org/officeDocument/2006/relationships/notesSlide" Target="/ppt/notesSlides/notesSlide13.xml" Id="Rff5500590460462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fc4e1196a3642eb" /><Relationship Type="http://schemas.openxmlformats.org/officeDocument/2006/relationships/notesSlide" Target="/ppt/notesSlides/notesSlide14.xml" Id="Rca71ac60441b45f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c10789a80824a47" /><Relationship Type="http://schemas.openxmlformats.org/officeDocument/2006/relationships/notesSlide" Target="/ppt/notesSlides/notesSlide15.xml" Id="Rdbcc5b5e50094de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708e7ff4243466c" /><Relationship Type="http://schemas.openxmlformats.org/officeDocument/2006/relationships/image" Target="/ppt/media/image5.png" Id="Rc644b4aa2f474bcb" /><Relationship Type="http://schemas.openxmlformats.org/officeDocument/2006/relationships/notesSlide" Target="/ppt/notesSlides/notesSlide16.xml" Id="Rd634ea375ab542f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689d43902c14a7e" /><Relationship Type="http://schemas.openxmlformats.org/officeDocument/2006/relationships/image" Target="/ppt/media/image6.png" Id="R76b463e03bc04830" /><Relationship Type="http://schemas.openxmlformats.org/officeDocument/2006/relationships/notesSlide" Target="/ppt/notesSlides/notesSlide17.xml" Id="R86c1acde931041b2" /></Relationships>
</file>

<file path=ppt/slides/slide1.xml><?xml version="1.0" encoding="utf-8"?>
<p:sld xmlns:p="http://schemas.openxmlformats.org/presentationml/2006/main">
  <p:cSld>
    <p:bg>
      <p:bgPr>
        <a:solidFill xmlns:a="http://schemas.openxmlformats.org/drawingml/2006/main">
          <a:srgbClr val="0B0B0F"/>
        </a:solidFill>
      </p:bgPr>
    </p:bg>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09305941-EC9E-4DF1-85D9-9C688DEBF0BA}"/>
              </a:ext>
            </a:extLst>
          </p:cNvPr>
          <p:cNvSpPr>
            <a:spLocks xmlns:a="http://schemas.openxmlformats.org/drawingml/2006/main" noGrp="1"/>
          </p:cNvSpPr>
          <p:nvPr/>
        </p:nvSpPr>
        <p:spPr>
          <a:xfrm xmlns:a="http://schemas.openxmlformats.org/drawingml/2006/main">
            <a:off x="609600" y="22669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700" b="1">
                <a:solidFill>
                  <a:srgbClr val="FFFFFF"/>
                </a:solidFill>
                <a:latin typeface="Times New Roman"/>
                <a:ea typeface="Times New Roman"/>
                <a:cs typeface="Times New Roman"/>
              </a:defRPr>
            </a:defPPr>
          </a:lstStyle>
          <a:p xmlns:a="http://schemas.openxmlformats.org/drawingml/2006/main">
            <a:pPr algn="l">
              <a:buNone/>
              <a:defRPr sz="5700" b="1">
                <a:solidFill>
                  <a:srgbClr val="FFFFFF"/>
                </a:solidFill>
                <a:latin typeface="Times New Roman"/>
                <a:ea typeface="Times New Roman"/>
                <a:cs typeface="Times New Roman"/>
              </a:defRPr>
            </a:pPr>
            <a:r>
              <a:rPr sz="5700" b="1">
                <a:solidFill>
                  <a:srgbClr val="FFFFFF"/>
                </a:solidFill>
                <a:latin typeface="Times New Roman"/>
                <a:ea typeface="Times New Roman"/>
                <a:cs typeface="Times New Roman"/>
              </a:rPr>
              <a:t>PhysLiteBench</a:t>
            </a:r>
          </a:p>
        </p:txBody>
      </p:sp>
      <p:sp>
        <p:nvSpPr>
          <p:cNvPr id="2" name="Rectangle 1">
            <a:extLst xmlns:a="http://schemas.openxmlformats.org/drawingml/2006/main">
              <a:ext uri="{FF2B5EF4-FFF2-40B4-BE49-F238E27FC236}">
                <a16:creationId xmlns:a16="http://schemas.microsoft.com/office/drawing/2014/main" id="{A66653FB-D27E-4B22-AFF4-475D4255B342}"/>
              </a:ext>
            </a:extLst>
          </p:cNvPr>
          <p:cNvSpPr>
            <a:spLocks xmlns:a="http://schemas.openxmlformats.org/drawingml/2006/main" noGrp="1"/>
          </p:cNvSpPr>
          <p:nvPr/>
        </p:nvSpPr>
        <p:spPr>
          <a:xfrm xmlns:a="http://schemas.openxmlformats.org/drawingml/2006/main">
            <a:off x="647700" y="36957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00" b="0">
                <a:solidFill>
                  <a:srgbClr val="D1D5DB"/>
                </a:solidFill>
                <a:latin typeface="Times New Roman"/>
                <a:ea typeface="Times New Roman"/>
                <a:cs typeface="Times New Roman"/>
              </a:defRPr>
            </a:defPPr>
          </a:lstStyle>
          <a:p xmlns:a="http://schemas.openxmlformats.org/drawingml/2006/main">
            <a:pPr algn="l">
              <a:buNone/>
              <a:defRPr sz="2700" b="0">
                <a:solidFill>
                  <a:srgbClr val="D1D5DB"/>
                </a:solidFill>
                <a:latin typeface="Times New Roman"/>
                <a:ea typeface="Times New Roman"/>
                <a:cs typeface="Times New Roman"/>
              </a:defRPr>
            </a:pPr>
            <a:r>
              <a:rPr sz="2700" b="0">
                <a:solidFill>
                  <a:srgbClr val="D1D5DB"/>
                </a:solidFill>
                <a:latin typeface="Times New Roman"/>
                <a:ea typeface="Times New Roman"/>
                <a:cs typeface="Times New Roman"/>
              </a:rPr>
              <a:t>Yue Pan and Andrew Liu</a:t>
            </a:r>
          </a:p>
        </p:txBody>
      </p:sp>
    </p:spTree>
    <p:extLst>
      <p:ext uri="{BB962C8B-B14F-4D97-AF65-F5344CB8AC3E}">
        <p14:creationId xmlns:p14="http://schemas.microsoft.com/office/powerpoint/2010/main" val="7398851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EBC09820-22BB-4372-A10F-CB42F1E32FBB}"/>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Physics beyond a good fit</a:t>
            </a:r>
          </a:p>
        </p:txBody>
      </p:sp>
      <p:sp>
        <p:nvSpPr>
          <p:cNvPr id="2" name="Rectangle 1">
            <a:extLst xmlns:a="http://schemas.openxmlformats.org/drawingml/2006/main">
              <a:ext uri="{FF2B5EF4-FFF2-40B4-BE49-F238E27FC236}">
                <a16:creationId xmlns:a16="http://schemas.microsoft.com/office/drawing/2014/main" id="{C4A9DD3B-B3F9-48AA-BE20-495804BE1615}"/>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Can agents identify the physics behind a scenario and predict beyond the observed data?</a:t>
            </a:r>
          </a:p>
        </p:txBody>
      </p:sp>
      <p:graphicFrame>
        <p:nvGraphicFramePr>
          <p:cNvPr id="4" name="Table 3">
            <a:extLst xmlns:a="http://schemas.openxmlformats.org/drawingml/2006/main">
              <a:ext uri="{FF2B5EF4-FFF2-40B4-BE49-F238E27FC236}">
                <a16:creationId xmlns:a16="http://schemas.microsoft.com/office/drawing/2014/main" id="{D0D441D0-EE13-46FD-A5B4-B8D38ADE4665}"/>
              </a:ext>
            </a:extLst>
          </p:cNvPr>
          <p:cNvGraphicFramePr/>
          <p:nvPr/>
        </p:nvGraphicFramePr>
        <p:xfrm>
          <a:off xmlns:a="http://schemas.openxmlformats.org/drawingml/2006/main" x="457200" y="1819275"/>
          <a:ext xmlns:a="http://schemas.openxmlformats.org/drawingml/2006/main" cx="11277600" cy="2714624"/>
        </p:xfrm>
        <a:graphic xmlns:a="http://schemas.openxmlformats.org/drawingml/2006/main">
          <a:graphicData uri="http://schemas.openxmlformats.org/drawingml/2006/table">
            <a:tbl>
              <a:tblPr/>
              <a:tblGrid>
                <a:gridCol w="5510869"/>
                <a:gridCol w="5766731"/>
              </a:tblGrid>
              <a:tr h="678656">
                <a:tc>
                  <a:txBody>
                    <a:bodyPr/>
                    <a:lstStyle/>
                    <a:p>
                      <a:r>
                        <a:rPr sz="2025" b="1">
                          <a:solidFill>
                            <a:srgbClr val="FFFFFF"/>
                          </a:solidFill>
                          <a:latin typeface="Times New Roman"/>
                          <a:ea typeface="Times New Roman"/>
                          <a:cs typeface="Times New Roman"/>
                        </a:rPr>
                        <a:t>Available to the agent</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2025" b="1">
                          <a:solidFill>
                            <a:srgbClr val="FFFFFF"/>
                          </a:solidFill>
                          <a:latin typeface="Times New Roman"/>
                          <a:ea typeface="Times New Roman"/>
                          <a:cs typeface="Times New Roman"/>
                        </a:rPr>
                        <a:t>What the evaluator checks</a:t>
                      </a:r>
                    </a:p>
                  </a:txBody>
                  <a:tcPr marL="114300" marR="114300" marT="66675" marB="66675"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678656">
                <a:tc>
                  <a:txBody>
                    <a:bodyPr/>
                    <a:lstStyle/>
                    <a:p>
                      <a:r>
                        <a:rPr sz="2025" b="0">
                          <a:solidFill>
                            <a:srgbClr val="111111"/>
                          </a:solidFill>
                          <a:latin typeface="Times New Roman"/>
                          <a:ea typeface="Times New Roman"/>
                          <a:cs typeface="Times New Roman"/>
                        </a:rPr>
                        <a:t>Physical description and starter code</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2025" b="0">
                          <a:solidFill>
                            <a:srgbClr val="111111"/>
                          </a:solidFill>
                          <a:latin typeface="Times New Roman"/>
                          <a:ea typeface="Times New Roman"/>
                          <a:cs typeface="Times New Roman"/>
                        </a:rPr>
                        <a:t>Fit to observed data and model parameters</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r h="678656">
                <a:tc>
                  <a:txBody>
                    <a:bodyPr/>
                    <a:lstStyle/>
                    <a:p>
                      <a:r>
                        <a:rPr sz="2025" b="0">
                          <a:solidFill>
                            <a:srgbClr val="111111"/>
                          </a:solidFill>
                          <a:latin typeface="Times New Roman"/>
                          <a:ea typeface="Times New Roman"/>
                          <a:cs typeface="Times New Roman"/>
                        </a:rPr>
                        <a:t>Calibration data and public tests</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2025" b="0">
                          <a:solidFill>
                            <a:srgbClr val="111111"/>
                          </a:solidFill>
                          <a:latin typeface="Times New Roman"/>
                          <a:ea typeface="Times New Roman"/>
                          <a:cs typeface="Times New Roman"/>
                        </a:rPr>
                        <a:t>Predictions beyond the observed settings</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r>
              <a:tr h="678656">
                <a:tc>
                  <a:txBody>
                    <a:bodyPr/>
                    <a:lstStyle/>
                    <a:p>
                      <a:r>
                        <a:rPr sz="2025" b="0">
                          <a:solidFill>
                            <a:srgbClr val="111111"/>
                          </a:solidFill>
                          <a:latin typeface="Times New Roman"/>
                          <a:ea typeface="Times New Roman"/>
                          <a:cs typeface="Times New Roman"/>
                        </a:rPr>
                        <a:t>A fixed software interface</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2025" b="0">
                          <a:solidFill>
                            <a:srgbClr val="111111"/>
                          </a:solidFill>
                          <a:latin typeface="Times New Roman"/>
                          <a:ea typeface="Times New Roman"/>
                          <a:cs typeface="Times New Roman"/>
                        </a:rPr>
                        <a:t>Completion within the time budget</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bl>
          </a:graphicData>
        </a:graphic>
      </p:graphicFrame>
      <p:sp>
        <p:nvSpPr>
          <p:cNvPr id="5" name="Rectangle 4">
            <a:extLst xmlns:a="http://schemas.openxmlformats.org/drawingml/2006/main">
              <a:ext uri="{FF2B5EF4-FFF2-40B4-BE49-F238E27FC236}">
                <a16:creationId xmlns:a16="http://schemas.microsoft.com/office/drawing/2014/main" id="{CB8521B4-CF08-403D-8F9A-418747D0A182}"/>
              </a:ext>
            </a:extLst>
          </p:cNvPr>
          <p:cNvSpPr>
            <a:spLocks xmlns:a="http://schemas.openxmlformats.org/drawingml/2006/main" noGrp="1"/>
          </p:cNvSpPr>
          <p:nvPr/>
        </p:nvSpPr>
        <p:spPr>
          <a:xfrm xmlns:a="http://schemas.openxmlformats.org/drawingml/2006/main">
            <a:off x="457200" y="485775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350" b="1" i="0">
                <a:solidFill>
                  <a:srgbClr val="0F766E"/>
                </a:solidFill>
                <a:latin typeface="Times New Roman"/>
                <a:ea typeface="Times New Roman"/>
                <a:cs typeface="Times New Roman"/>
              </a:defRPr>
            </a:defPPr>
          </a:lstStyle>
          <a:p xmlns:a="http://schemas.openxmlformats.org/drawingml/2006/main">
            <a:pPr algn="l">
              <a:buNone/>
              <a:defRPr sz="4350" b="1" i="0">
                <a:solidFill>
                  <a:srgbClr val="0F766E"/>
                </a:solidFill>
                <a:latin typeface="Times New Roman"/>
                <a:ea typeface="Times New Roman"/>
                <a:cs typeface="Times New Roman"/>
              </a:defRPr>
            </a:pPr>
            <a:r>
              <a:rPr sz="4350" b="1" i="0">
                <a:solidFill>
                  <a:srgbClr val="0F766E"/>
                </a:solidFill>
                <a:latin typeface="Times New Roman"/>
                <a:ea typeface="Times New Roman"/>
                <a:cs typeface="Times New Roman"/>
              </a:rPr>
              <a:t>13</a:t>
            </a:r>
          </a:p>
        </p:txBody>
      </p:sp>
      <p:sp>
        <p:nvSpPr>
          <p:cNvPr id="6" name="Rectangle 5">
            <a:extLst xmlns:a="http://schemas.openxmlformats.org/drawingml/2006/main">
              <a:ext uri="{FF2B5EF4-FFF2-40B4-BE49-F238E27FC236}">
                <a16:creationId xmlns:a16="http://schemas.microsoft.com/office/drawing/2014/main" id="{FC56EB49-9538-451F-AFC3-9BECA96A74F8}"/>
              </a:ext>
            </a:extLst>
          </p:cNvPr>
          <p:cNvSpPr>
            <a:spLocks xmlns:a="http://schemas.openxmlformats.org/drawingml/2006/main" noGrp="1"/>
          </p:cNvSpPr>
          <p:nvPr/>
        </p:nvSpPr>
        <p:spPr>
          <a:xfrm xmlns:a="http://schemas.openxmlformats.org/drawingml/2006/main">
            <a:off x="2009775" y="4943475"/>
            <a:ext cx="8953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physics tasks require predictions beyond the supplied observations.</a:t>
            </a:r>
          </a:p>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General and physics hints test what guidance helps agents succeed.</a:t>
            </a:r>
          </a:p>
        </p:txBody>
      </p:sp>
      <p:sp>
        <p:nvSpPr>
          <p:cNvPr id="9" name="Rectangle 8">
            <a:extLst xmlns:a="http://schemas.openxmlformats.org/drawingml/2006/main">
              <a:ext uri="{FF2B5EF4-FFF2-40B4-BE49-F238E27FC236}">
                <a16:creationId xmlns:a16="http://schemas.microsoft.com/office/drawing/2014/main" id="{1355ACDC-5475-4330-937A-52DCD24B3300}"/>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2</a:t>
            </a:r>
          </a:p>
        </p:txBody>
      </p:sp>
    </p:spTree>
    <p:extLst>
      <p:ext uri="{BB962C8B-B14F-4D97-AF65-F5344CB8AC3E}">
        <p14:creationId xmlns:p14="http://schemas.microsoft.com/office/powerpoint/2010/main" val="46076852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Rectangle 38">
            <a:extLst xmlns:a="http://schemas.openxmlformats.org/drawingml/2006/main">
              <a:ext uri="{FF2B5EF4-FFF2-40B4-BE49-F238E27FC236}">
                <a16:creationId xmlns:a16="http://schemas.microsoft.com/office/drawing/2014/main" id="{A1D93F41-C257-4C97-81AC-53D8D3F98DDE}"/>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Example Task: tracking one bead in a narrow tube</a:t>
            </a:r>
          </a:p>
        </p:txBody>
      </p:sp>
      <p:sp>
        <p:nvSpPr>
          <p:cNvPr id="2" name="Rectangle 1">
            <a:extLst xmlns:a="http://schemas.openxmlformats.org/drawingml/2006/main">
              <a:ext uri="{FF2B5EF4-FFF2-40B4-BE49-F238E27FC236}">
                <a16:creationId xmlns:a16="http://schemas.microsoft.com/office/drawing/2014/main" id="{B2662629-35F5-4EF9-AC84-78AB4DCFFF26}"/>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beads move randomly and bump into each other, but cannot pass one another.</a:t>
            </a:r>
          </a:p>
        </p:txBody>
      </p:sp>
      <p:sp>
        <p:nvSpPr>
          <p:cNvPr id="3" name="Rectangle 2">
            <a:extLst xmlns:a="http://schemas.openxmlformats.org/drawingml/2006/main">
              <a:ext uri="{FF2B5EF4-FFF2-40B4-BE49-F238E27FC236}">
                <a16:creationId xmlns:a16="http://schemas.microsoft.com/office/drawing/2014/main" id="{B72C789D-5DDF-4D29-8C76-5B173C9E8F4F}"/>
              </a:ext>
            </a:extLst>
          </p:cNvPr>
          <p:cNvSpPr>
            <a:spLocks xmlns:a="http://schemas.openxmlformats.org/drawingml/2006/main" noGrp="1"/>
          </p:cNvSpPr>
          <p:nvPr/>
        </p:nvSpPr>
        <p:spPr>
          <a:xfrm xmlns:a="http://schemas.openxmlformats.org/drawingml/2006/main">
            <a:off x="457200" y="1581150"/>
            <a:ext cx="5029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Start every run with the same spacing</a:t>
            </a:r>
          </a:p>
        </p:txBody>
      </p:sp>
      <p:sp>
        <p:nvSpPr>
          <p:cNvPr id="4" name="Rectangle 3">
            <a:extLst xmlns:a="http://schemas.openxmlformats.org/drawingml/2006/main">
              <a:ext uri="{FF2B5EF4-FFF2-40B4-BE49-F238E27FC236}">
                <a16:creationId xmlns:a16="http://schemas.microsoft.com/office/drawing/2014/main" id="{FA3A07CF-D11F-4622-856C-3CBFF16C57ED}"/>
              </a:ext>
            </a:extLst>
          </p:cNvPr>
          <p:cNvSpPr>
            <a:spLocks xmlns:a="http://schemas.openxmlformats.org/drawingml/2006/main" noGrp="1"/>
          </p:cNvSpPr>
          <p:nvPr/>
        </p:nvSpPr>
        <p:spPr>
          <a:xfrm xmlns:a="http://schemas.openxmlformats.org/drawingml/2006/main">
            <a:off x="457200" y="202882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3FFFF243-D917-44D5-8B4E-AEF19A84DF20}"/>
              </a:ext>
            </a:extLst>
          </p:cNvPr>
          <p:cNvSpPr>
            <a:spLocks xmlns:a="http://schemas.openxmlformats.org/drawingml/2006/main" noGrp="1"/>
          </p:cNvSpPr>
          <p:nvPr/>
        </p:nvSpPr>
        <p:spPr>
          <a:xfrm xmlns:a="http://schemas.openxmlformats.org/drawingml/2006/main">
            <a:off x="457200" y="258127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59B9F311-4DE1-41F4-91EE-D1DF06E54FB0}"/>
              </a:ext>
            </a:extLst>
          </p:cNvPr>
          <p:cNvSpPr>
            <a:spLocks xmlns:a="http://schemas.openxmlformats.org/drawingml/2006/main" noGrp="1"/>
          </p:cNvSpPr>
          <p:nvPr/>
        </p:nvSpPr>
        <p:spPr>
          <a:xfrm xmlns:a="http://schemas.openxmlformats.org/drawingml/2006/main">
            <a:off x="7810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F9DA28F5-23D0-4E5A-9759-20015A1D1595}"/>
              </a:ext>
            </a:extLst>
          </p:cNvPr>
          <p:cNvSpPr>
            <a:spLocks xmlns:a="http://schemas.openxmlformats.org/drawingml/2006/main" noGrp="1"/>
          </p:cNvSpPr>
          <p:nvPr/>
        </p:nvSpPr>
        <p:spPr>
          <a:xfrm xmlns:a="http://schemas.openxmlformats.org/drawingml/2006/main">
            <a:off x="15049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8379ECC2-76F0-4C85-9EF5-7010AC3D1101}"/>
              </a:ext>
            </a:extLst>
          </p:cNvPr>
          <p:cNvSpPr>
            <a:spLocks xmlns:a="http://schemas.openxmlformats.org/drawingml/2006/main" noGrp="1"/>
          </p:cNvSpPr>
          <p:nvPr/>
        </p:nvSpPr>
        <p:spPr>
          <a:xfrm xmlns:a="http://schemas.openxmlformats.org/drawingml/2006/main">
            <a:off x="2228850" y="2143125"/>
            <a:ext cx="323850" cy="32385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391A5650-9AC4-4DF2-B05B-863C0529C40E}"/>
              </a:ext>
            </a:extLst>
          </p:cNvPr>
          <p:cNvSpPr>
            <a:spLocks xmlns:a="http://schemas.openxmlformats.org/drawingml/2006/main" noGrp="1"/>
          </p:cNvSpPr>
          <p:nvPr/>
        </p:nvSpPr>
        <p:spPr>
          <a:xfrm xmlns:a="http://schemas.openxmlformats.org/drawingml/2006/main">
            <a:off x="29527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6EFEFD0B-10C8-4188-9C17-3FE386921650}"/>
              </a:ext>
            </a:extLst>
          </p:cNvPr>
          <p:cNvSpPr>
            <a:spLocks xmlns:a="http://schemas.openxmlformats.org/drawingml/2006/main" noGrp="1"/>
          </p:cNvSpPr>
          <p:nvPr/>
        </p:nvSpPr>
        <p:spPr>
          <a:xfrm xmlns:a="http://schemas.openxmlformats.org/drawingml/2006/main">
            <a:off x="36766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46B65E69-0398-4FD5-AF8C-50BF819D9F03}"/>
              </a:ext>
            </a:extLst>
          </p:cNvPr>
          <p:cNvSpPr>
            <a:spLocks xmlns:a="http://schemas.openxmlformats.org/drawingml/2006/main" noGrp="1"/>
          </p:cNvSpPr>
          <p:nvPr/>
        </p:nvSpPr>
        <p:spPr>
          <a:xfrm xmlns:a="http://schemas.openxmlformats.org/drawingml/2006/main">
            <a:off x="44005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28E2446B-75BD-490E-9F28-ECBCD9ADBFC6}"/>
              </a:ext>
            </a:extLst>
          </p:cNvPr>
          <p:cNvSpPr>
            <a:spLocks xmlns:a="http://schemas.openxmlformats.org/drawingml/2006/main" noGrp="1"/>
          </p:cNvSpPr>
          <p:nvPr/>
        </p:nvSpPr>
        <p:spPr>
          <a:xfrm xmlns:a="http://schemas.openxmlformats.org/drawingml/2006/main">
            <a:off x="457200" y="2952750"/>
            <a:ext cx="5029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the orange bead early in the run</a:t>
            </a:r>
          </a:p>
        </p:txBody>
      </p:sp>
      <p:sp>
        <p:nvSpPr>
          <p:cNvPr id="13" name="Rectangle 12">
            <a:extLst xmlns:a="http://schemas.openxmlformats.org/drawingml/2006/main">
              <a:ext uri="{FF2B5EF4-FFF2-40B4-BE49-F238E27FC236}">
                <a16:creationId xmlns:a16="http://schemas.microsoft.com/office/drawing/2014/main" id="{BAEFBBF5-E411-4F81-AF0F-D0CEC8B70CD1}"/>
              </a:ext>
            </a:extLst>
          </p:cNvPr>
          <p:cNvSpPr>
            <a:spLocks xmlns:a="http://schemas.openxmlformats.org/drawingml/2006/main" noGrp="1"/>
          </p:cNvSpPr>
          <p:nvPr/>
        </p:nvSpPr>
        <p:spPr>
          <a:xfrm xmlns:a="http://schemas.openxmlformats.org/drawingml/2006/main">
            <a:off x="457200" y="340042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615AB876-010E-4283-9E21-EC397A4697F6}"/>
              </a:ext>
            </a:extLst>
          </p:cNvPr>
          <p:cNvSpPr>
            <a:spLocks xmlns:a="http://schemas.openxmlformats.org/drawingml/2006/main" noGrp="1"/>
          </p:cNvSpPr>
          <p:nvPr/>
        </p:nvSpPr>
        <p:spPr>
          <a:xfrm xmlns:a="http://schemas.openxmlformats.org/drawingml/2006/main">
            <a:off x="457200" y="395287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Oval 14">
            <a:extLst xmlns:a="http://schemas.openxmlformats.org/drawingml/2006/main">
              <a:ext uri="{FF2B5EF4-FFF2-40B4-BE49-F238E27FC236}">
                <a16:creationId xmlns:a16="http://schemas.microsoft.com/office/drawing/2014/main" id="{E5A1B225-F3FF-4D9C-92D7-E40F1D5BCBCE}"/>
              </a:ext>
            </a:extLst>
          </p:cNvPr>
          <p:cNvSpPr>
            <a:spLocks xmlns:a="http://schemas.openxmlformats.org/drawingml/2006/main" noGrp="1"/>
          </p:cNvSpPr>
          <p:nvPr/>
        </p:nvSpPr>
        <p:spPr>
          <a:xfrm xmlns:a="http://schemas.openxmlformats.org/drawingml/2006/main">
            <a:off x="70485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6" name="Oval 15">
            <a:extLst xmlns:a="http://schemas.openxmlformats.org/drawingml/2006/main">
              <a:ext uri="{FF2B5EF4-FFF2-40B4-BE49-F238E27FC236}">
                <a16:creationId xmlns:a16="http://schemas.microsoft.com/office/drawing/2014/main" id="{9948075C-7CCB-41F8-BCA4-97DF2FD1515A}"/>
              </a:ext>
            </a:extLst>
          </p:cNvPr>
          <p:cNvSpPr>
            <a:spLocks xmlns:a="http://schemas.openxmlformats.org/drawingml/2006/main" noGrp="1"/>
          </p:cNvSpPr>
          <p:nvPr/>
        </p:nvSpPr>
        <p:spPr>
          <a:xfrm xmlns:a="http://schemas.openxmlformats.org/drawingml/2006/main">
            <a:off x="140970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B2F9B45D-0B24-4E86-BF50-D65EB69518C0}"/>
              </a:ext>
            </a:extLst>
          </p:cNvPr>
          <p:cNvSpPr>
            <a:spLocks xmlns:a="http://schemas.openxmlformats.org/drawingml/2006/main" noGrp="1"/>
          </p:cNvSpPr>
          <p:nvPr/>
        </p:nvSpPr>
        <p:spPr>
          <a:xfrm xmlns:a="http://schemas.openxmlformats.org/drawingml/2006/main">
            <a:off x="2609850" y="3514725"/>
            <a:ext cx="323850" cy="32385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endParaRPr/>
          </a:p>
        </p:txBody>
      </p:sp>
      <p:sp>
        <p:nvSpPr>
          <p:cNvPr id="18" name="Oval 17">
            <a:extLst xmlns:a="http://schemas.openxmlformats.org/drawingml/2006/main">
              <a:ext uri="{FF2B5EF4-FFF2-40B4-BE49-F238E27FC236}">
                <a16:creationId xmlns:a16="http://schemas.microsoft.com/office/drawing/2014/main" id="{AB1C0CEC-6762-440A-975C-D63168A89042}"/>
              </a:ext>
            </a:extLst>
          </p:cNvPr>
          <p:cNvSpPr>
            <a:spLocks xmlns:a="http://schemas.openxmlformats.org/drawingml/2006/main" noGrp="1"/>
          </p:cNvSpPr>
          <p:nvPr/>
        </p:nvSpPr>
        <p:spPr>
          <a:xfrm xmlns:a="http://schemas.openxmlformats.org/drawingml/2006/main">
            <a:off x="3152775"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9" name="Oval 18">
            <a:extLst xmlns:a="http://schemas.openxmlformats.org/drawingml/2006/main">
              <a:ext uri="{FF2B5EF4-FFF2-40B4-BE49-F238E27FC236}">
                <a16:creationId xmlns:a16="http://schemas.microsoft.com/office/drawing/2014/main" id="{B5AF0FC4-C53E-4C4D-9C04-31EC3AAB1406}"/>
              </a:ext>
            </a:extLst>
          </p:cNvPr>
          <p:cNvSpPr>
            <a:spLocks xmlns:a="http://schemas.openxmlformats.org/drawingml/2006/main" noGrp="1"/>
          </p:cNvSpPr>
          <p:nvPr/>
        </p:nvSpPr>
        <p:spPr>
          <a:xfrm xmlns:a="http://schemas.openxmlformats.org/drawingml/2006/main">
            <a:off x="388620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0" name="Oval 19">
            <a:extLst xmlns:a="http://schemas.openxmlformats.org/drawingml/2006/main">
              <a:ext uri="{FF2B5EF4-FFF2-40B4-BE49-F238E27FC236}">
                <a16:creationId xmlns:a16="http://schemas.microsoft.com/office/drawing/2014/main" id="{6B7E8D58-BDFF-479A-95C7-EE542F9EE661}"/>
              </a:ext>
            </a:extLst>
          </p:cNvPr>
          <p:cNvSpPr>
            <a:spLocks xmlns:a="http://schemas.openxmlformats.org/drawingml/2006/main" noGrp="1"/>
          </p:cNvSpPr>
          <p:nvPr/>
        </p:nvSpPr>
        <p:spPr>
          <a:xfrm xmlns:a="http://schemas.openxmlformats.org/drawingml/2006/main">
            <a:off x="461010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0CB0DDB6-D1AC-4C59-B68F-A6C8C1B7503D}"/>
              </a:ext>
            </a:extLst>
          </p:cNvPr>
          <p:cNvSpPr>
            <a:spLocks xmlns:a="http://schemas.openxmlformats.org/drawingml/2006/main" noGrp="1"/>
          </p:cNvSpPr>
          <p:nvPr/>
        </p:nvSpPr>
        <p:spPr>
          <a:xfrm xmlns:a="http://schemas.openxmlformats.org/drawingml/2006/main">
            <a:off x="457200" y="4324350"/>
            <a:ext cx="5029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that same bead later in the run</a:t>
            </a:r>
          </a:p>
        </p:txBody>
      </p:sp>
      <p:sp>
        <p:nvSpPr>
          <p:cNvPr id="22" name="Rectangle 21">
            <a:extLst xmlns:a="http://schemas.openxmlformats.org/drawingml/2006/main">
              <a:ext uri="{FF2B5EF4-FFF2-40B4-BE49-F238E27FC236}">
                <a16:creationId xmlns:a16="http://schemas.microsoft.com/office/drawing/2014/main" id="{962474D2-BD75-4462-A708-B5E038509DA5}"/>
              </a:ext>
            </a:extLst>
          </p:cNvPr>
          <p:cNvSpPr>
            <a:spLocks xmlns:a="http://schemas.openxmlformats.org/drawingml/2006/main" noGrp="1"/>
          </p:cNvSpPr>
          <p:nvPr/>
        </p:nvSpPr>
        <p:spPr>
          <a:xfrm xmlns:a="http://schemas.openxmlformats.org/drawingml/2006/main">
            <a:off x="457200" y="477202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A804FFB7-A505-4837-8A32-F2BC99ABA718}"/>
              </a:ext>
            </a:extLst>
          </p:cNvPr>
          <p:cNvSpPr>
            <a:spLocks xmlns:a="http://schemas.openxmlformats.org/drawingml/2006/main" noGrp="1"/>
          </p:cNvSpPr>
          <p:nvPr/>
        </p:nvSpPr>
        <p:spPr>
          <a:xfrm xmlns:a="http://schemas.openxmlformats.org/drawingml/2006/main">
            <a:off x="457200" y="532447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Oval 23">
            <a:extLst xmlns:a="http://schemas.openxmlformats.org/drawingml/2006/main">
              <a:ext uri="{FF2B5EF4-FFF2-40B4-BE49-F238E27FC236}">
                <a16:creationId xmlns:a16="http://schemas.microsoft.com/office/drawing/2014/main" id="{037F2927-4412-4402-945B-33194FE24E4C}"/>
              </a:ext>
            </a:extLst>
          </p:cNvPr>
          <p:cNvSpPr>
            <a:spLocks xmlns:a="http://schemas.openxmlformats.org/drawingml/2006/main" noGrp="1"/>
          </p:cNvSpPr>
          <p:nvPr/>
        </p:nvSpPr>
        <p:spPr>
          <a:xfrm xmlns:a="http://schemas.openxmlformats.org/drawingml/2006/main">
            <a:off x="619125"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5" name="Oval 24">
            <a:extLst xmlns:a="http://schemas.openxmlformats.org/drawingml/2006/main">
              <a:ext uri="{FF2B5EF4-FFF2-40B4-BE49-F238E27FC236}">
                <a16:creationId xmlns:a16="http://schemas.microsoft.com/office/drawing/2014/main" id="{68FBC403-934E-41E5-8C80-DE9DF183B5C5}"/>
              </a:ext>
            </a:extLst>
          </p:cNvPr>
          <p:cNvSpPr>
            <a:spLocks xmlns:a="http://schemas.openxmlformats.org/drawingml/2006/main" noGrp="1"/>
          </p:cNvSpPr>
          <p:nvPr/>
        </p:nvSpPr>
        <p:spPr>
          <a:xfrm xmlns:a="http://schemas.openxmlformats.org/drawingml/2006/main">
            <a:off x="120015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6" name="Oval 25">
            <a:extLst xmlns:a="http://schemas.openxmlformats.org/drawingml/2006/main">
              <a:ext uri="{FF2B5EF4-FFF2-40B4-BE49-F238E27FC236}">
                <a16:creationId xmlns:a16="http://schemas.microsoft.com/office/drawing/2014/main" id="{27E83168-75AC-4659-94BB-0865496E2000}"/>
              </a:ext>
            </a:extLst>
          </p:cNvPr>
          <p:cNvSpPr>
            <a:spLocks xmlns:a="http://schemas.openxmlformats.org/drawingml/2006/main" noGrp="1"/>
          </p:cNvSpPr>
          <p:nvPr/>
        </p:nvSpPr>
        <p:spPr>
          <a:xfrm xmlns:a="http://schemas.openxmlformats.org/drawingml/2006/main">
            <a:off x="2914650" y="4886325"/>
            <a:ext cx="323850" cy="32385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endParaRPr/>
          </a:p>
        </p:txBody>
      </p:sp>
      <p:sp>
        <p:nvSpPr>
          <p:cNvPr id="27" name="Oval 26">
            <a:extLst xmlns:a="http://schemas.openxmlformats.org/drawingml/2006/main">
              <a:ext uri="{FF2B5EF4-FFF2-40B4-BE49-F238E27FC236}">
                <a16:creationId xmlns:a16="http://schemas.microsoft.com/office/drawing/2014/main" id="{CCCC262F-3302-46A0-A01C-D4B3F8159971}"/>
              </a:ext>
            </a:extLst>
          </p:cNvPr>
          <p:cNvSpPr>
            <a:spLocks xmlns:a="http://schemas.openxmlformats.org/drawingml/2006/main" noGrp="1"/>
          </p:cNvSpPr>
          <p:nvPr/>
        </p:nvSpPr>
        <p:spPr>
          <a:xfrm xmlns:a="http://schemas.openxmlformats.org/drawingml/2006/main">
            <a:off x="346710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8" name="Oval 27">
            <a:extLst xmlns:a="http://schemas.openxmlformats.org/drawingml/2006/main">
              <a:ext uri="{FF2B5EF4-FFF2-40B4-BE49-F238E27FC236}">
                <a16:creationId xmlns:a16="http://schemas.microsoft.com/office/drawing/2014/main" id="{265E5809-D44E-48C4-B81F-908AF9B8EC90}"/>
              </a:ext>
            </a:extLst>
          </p:cNvPr>
          <p:cNvSpPr>
            <a:spLocks xmlns:a="http://schemas.openxmlformats.org/drawingml/2006/main" noGrp="1"/>
          </p:cNvSpPr>
          <p:nvPr/>
        </p:nvSpPr>
        <p:spPr>
          <a:xfrm xmlns:a="http://schemas.openxmlformats.org/drawingml/2006/main">
            <a:off x="401955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9" name="Oval 28">
            <a:extLst xmlns:a="http://schemas.openxmlformats.org/drawingml/2006/main">
              <a:ext uri="{FF2B5EF4-FFF2-40B4-BE49-F238E27FC236}">
                <a16:creationId xmlns:a16="http://schemas.microsoft.com/office/drawing/2014/main" id="{03EC835C-09E3-4CCA-AA9E-5F5E94C3BE48}"/>
              </a:ext>
            </a:extLst>
          </p:cNvPr>
          <p:cNvSpPr>
            <a:spLocks xmlns:a="http://schemas.openxmlformats.org/drawingml/2006/main" noGrp="1"/>
          </p:cNvSpPr>
          <p:nvPr/>
        </p:nvSpPr>
        <p:spPr>
          <a:xfrm xmlns:a="http://schemas.openxmlformats.org/drawingml/2006/main">
            <a:off x="466725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31" name="Rectangle 30">
            <a:extLst xmlns:a="http://schemas.openxmlformats.org/drawingml/2006/main">
              <a:ext uri="{FF2B5EF4-FFF2-40B4-BE49-F238E27FC236}">
                <a16:creationId xmlns:a16="http://schemas.microsoft.com/office/drawing/2014/main" id="{80CC5B1B-DE91-4841-A5BF-721EB21691BD}"/>
              </a:ext>
            </a:extLst>
          </p:cNvPr>
          <p:cNvSpPr>
            <a:spLocks xmlns:a="http://schemas.openxmlformats.org/drawingml/2006/main" noGrp="1"/>
          </p:cNvSpPr>
          <p:nvPr/>
        </p:nvSpPr>
        <p:spPr>
          <a:xfrm xmlns:a="http://schemas.openxmlformats.org/drawingml/2006/main">
            <a:off x="6286500" y="1581150"/>
            <a:ext cx="544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11111"/>
                </a:solidFill>
                <a:latin typeface="Times New Roman"/>
                <a:ea typeface="Times New Roman"/>
                <a:cs typeface="Times New Roman"/>
              </a:defRPr>
            </a:defPPr>
          </a:lstStyle>
          <a:p xmlns:a="http://schemas.openxmlformats.org/drawingml/2006/main">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What the agent gets</a:t>
            </a:r>
          </a:p>
        </p:txBody>
      </p:sp>
      <p:sp>
        <p:nvSpPr>
          <p:cNvPr id="32" name="Rectangle 31">
            <a:extLst xmlns:a="http://schemas.openxmlformats.org/drawingml/2006/main">
              <a:ext uri="{FF2B5EF4-FFF2-40B4-BE49-F238E27FC236}">
                <a16:creationId xmlns:a16="http://schemas.microsoft.com/office/drawing/2014/main" id="{05DCB7A6-18B5-424E-94B8-11149F2A1D49}"/>
              </a:ext>
            </a:extLst>
          </p:cNvPr>
          <p:cNvSpPr>
            <a:spLocks xmlns:a="http://schemas.openxmlformats.org/drawingml/2006/main" noGrp="1"/>
          </p:cNvSpPr>
          <p:nvPr/>
        </p:nvSpPr>
        <p:spPr>
          <a:xfrm xmlns:a="http://schemas.openxmlformats.org/drawingml/2006/main">
            <a:off x="6286500" y="2057400"/>
            <a:ext cx="5448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 setup description, starter code, and data</a:t>
            </a: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on how far the bead typically moves</a:t>
            </a: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at several observation times.</a:t>
            </a:r>
          </a:p>
        </p:txBody>
      </p:sp>
      <p:sp>
        <p:nvSpPr>
          <p:cNvPr id="33" name="Rectangle 32">
            <a:extLst xmlns:a="http://schemas.openxmlformats.org/drawingml/2006/main">
              <a:ext uri="{FF2B5EF4-FFF2-40B4-BE49-F238E27FC236}">
                <a16:creationId xmlns:a16="http://schemas.microsoft.com/office/drawing/2014/main" id="{B0EA5148-8AD1-4370-B501-B24753F88571}"/>
              </a:ext>
            </a:extLst>
          </p:cNvPr>
          <p:cNvSpPr>
            <a:spLocks xmlns:a="http://schemas.openxmlformats.org/drawingml/2006/main" noGrp="1"/>
          </p:cNvSpPr>
          <p:nvPr/>
        </p:nvSpPr>
        <p:spPr>
          <a:xfrm xmlns:a="http://schemas.openxmlformats.org/drawingml/2006/main">
            <a:off x="6286500" y="3295650"/>
            <a:ext cx="544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D4E89"/>
                </a:solidFill>
                <a:latin typeface="Times New Roman"/>
                <a:ea typeface="Times New Roman"/>
                <a:cs typeface="Times New Roman"/>
              </a:defRPr>
            </a:defPPr>
          </a:lstStyle>
          <a:p xmlns:a="http://schemas.openxmlformats.org/drawingml/2006/main">
            <a:pPr algn="l">
              <a:buNone/>
              <a:defRPr sz="2250" b="1">
                <a:solidFill>
                  <a:srgbClr val="1D4E89"/>
                </a:solidFill>
                <a:latin typeface="Times New Roman"/>
                <a:ea typeface="Times New Roman"/>
                <a:cs typeface="Times New Roman"/>
              </a:defRPr>
            </a:pPr>
            <a:r>
              <a:rPr sz="2250" b="1">
                <a:solidFill>
                  <a:srgbClr val="1D4E89"/>
                </a:solidFill>
                <a:latin typeface="Times New Roman"/>
                <a:ea typeface="Times New Roman"/>
                <a:cs typeface="Times New Roman"/>
              </a:rPr>
              <a:t>What the agent must predict</a:t>
            </a:r>
          </a:p>
        </p:txBody>
      </p:sp>
      <p:sp>
        <p:nvSpPr>
          <p:cNvPr id="34" name="Rectangle 33">
            <a:extLst xmlns:a="http://schemas.openxmlformats.org/drawingml/2006/main">
              <a:ext uri="{FF2B5EF4-FFF2-40B4-BE49-F238E27FC236}">
                <a16:creationId xmlns:a16="http://schemas.microsoft.com/office/drawing/2014/main" id="{C4209CE6-ACBA-4CB8-BAB6-2D1338E3E0D0}"/>
              </a:ext>
            </a:extLst>
          </p:cNvPr>
          <p:cNvSpPr>
            <a:spLocks xmlns:a="http://schemas.openxmlformats.org/drawingml/2006/main" noGrp="1"/>
          </p:cNvSpPr>
          <p:nvPr/>
        </p:nvSpPr>
        <p:spPr>
          <a:xfrm xmlns:a="http://schemas.openxmlformats.org/drawingml/2006/main">
            <a:off x="6286500" y="3771900"/>
            <a:ext cx="5448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Fit the strength of random motion.</a:t>
            </a: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Then predict how the bead’s early and later</a:t>
            </a: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positions correlate across many runs.</a:t>
            </a:r>
          </a:p>
        </p:txBody>
      </p:sp>
      <p:sp>
        <p:nvSpPr>
          <p:cNvPr id="35" name="Rectangle 34">
            <a:extLst xmlns:a="http://schemas.openxmlformats.org/drawingml/2006/main">
              <a:ext uri="{FF2B5EF4-FFF2-40B4-BE49-F238E27FC236}">
                <a16:creationId xmlns:a16="http://schemas.microsoft.com/office/drawing/2014/main" id="{87E47CA0-617F-4DEA-BF6A-8B00F933ADEB}"/>
              </a:ext>
            </a:extLst>
          </p:cNvPr>
          <p:cNvSpPr>
            <a:spLocks xmlns:a="http://schemas.openxmlformats.org/drawingml/2006/main" noGrp="1"/>
          </p:cNvSpPr>
          <p:nvPr/>
        </p:nvSpPr>
        <p:spPr>
          <a:xfrm xmlns:a="http://schemas.openxmlformats.org/drawingml/2006/main">
            <a:off x="6286500" y="4895850"/>
            <a:ext cx="544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11111"/>
                </a:solidFill>
                <a:latin typeface="Times New Roman"/>
                <a:ea typeface="Times New Roman"/>
                <a:cs typeface="Times New Roman"/>
              </a:defRPr>
            </a:defPPr>
          </a:lstStyle>
          <a:p xmlns:a="http://schemas.openxmlformats.org/drawingml/2006/main">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Physics it must account for</a:t>
            </a:r>
          </a:p>
        </p:txBody>
      </p:sp>
      <p:sp>
        <p:nvSpPr>
          <p:cNvPr id="36" name="Rectangle 35">
            <a:extLst xmlns:a="http://schemas.openxmlformats.org/drawingml/2006/main">
              <a:ext uri="{FF2B5EF4-FFF2-40B4-BE49-F238E27FC236}">
                <a16:creationId xmlns:a16="http://schemas.microsoft.com/office/drawing/2014/main" id="{0E992A19-E518-4A04-BDBE-E9742D222B5F}"/>
              </a:ext>
            </a:extLst>
          </p:cNvPr>
          <p:cNvSpPr>
            <a:spLocks xmlns:a="http://schemas.openxmlformats.org/drawingml/2006/main" noGrp="1"/>
          </p:cNvSpPr>
          <p:nvPr/>
        </p:nvSpPr>
        <p:spPr>
          <a:xfrm xmlns:a="http://schemas.openxmlformats.org/drawingml/2006/main">
            <a:off x="6286500" y="5324475"/>
            <a:ext cx="5448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 initial bead spacing can affect the correlation</a:t>
            </a: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between early and later motion.</a:t>
            </a:r>
          </a:p>
        </p:txBody>
      </p:sp>
      <p:sp>
        <p:nvSpPr>
          <p:cNvPr id="38" name="Rectangle 37">
            <a:extLst xmlns:a="http://schemas.openxmlformats.org/drawingml/2006/main">
              <a:ext uri="{FF2B5EF4-FFF2-40B4-BE49-F238E27FC236}">
                <a16:creationId xmlns:a16="http://schemas.microsoft.com/office/drawing/2014/main" id="{B5B2BFD1-9BD4-4B2A-804C-23D72BA3EF86}"/>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3</a:t>
            </a:r>
          </a:p>
        </p:txBody>
      </p:sp>
    </p:spTree>
    <p:extLst>
      <p:ext uri="{BB962C8B-B14F-4D97-AF65-F5344CB8AC3E}">
        <p14:creationId xmlns:p14="http://schemas.microsoft.com/office/powerpoint/2010/main" val="13747693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A2E055D0-CB93-4BD7-8C34-D05A390641C9}"/>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Three prompt conditions</a:t>
            </a:r>
          </a:p>
        </p:txBody>
      </p:sp>
      <p:sp>
        <p:nvSpPr>
          <p:cNvPr id="2" name="Rectangle 1">
            <a:extLst xmlns:a="http://schemas.openxmlformats.org/drawingml/2006/main">
              <a:ext uri="{FF2B5EF4-FFF2-40B4-BE49-F238E27FC236}">
                <a16:creationId xmlns:a16="http://schemas.microsoft.com/office/drawing/2014/main" id="{E3A2D2EB-BD64-42F5-A6A8-12EA53CBC6EA}"/>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task stays the same. Hints probe why the agent fails.</a:t>
            </a:r>
          </a:p>
        </p:txBody>
      </p:sp>
      <p:graphicFrame>
        <p:nvGraphicFramePr>
          <p:cNvPr id="3" name="Table 2">
            <a:extLst xmlns:a="http://schemas.openxmlformats.org/drawingml/2006/main">
              <a:ext uri="{FF2B5EF4-FFF2-40B4-BE49-F238E27FC236}">
                <a16:creationId xmlns:a16="http://schemas.microsoft.com/office/drawing/2014/main" id="{3D1136A9-E135-4A8C-8721-607B259E7B1A}"/>
              </a:ext>
            </a:extLst>
          </p:cNvPr>
          <p:cNvGraphicFramePr/>
          <p:nvPr/>
        </p:nvGraphicFramePr>
        <p:xfrm>
          <a:off xmlns:a="http://schemas.openxmlformats.org/drawingml/2006/main" x="457200" y="1571625"/>
          <a:ext xmlns:a="http://schemas.openxmlformats.org/drawingml/2006/main" cx="11277600" cy="2967990"/>
        </p:xfrm>
        <a:graphic xmlns:a="http://schemas.openxmlformats.org/drawingml/2006/main">
          <a:graphicData uri="http://schemas.openxmlformats.org/drawingml/2006/table">
            <a:tbl>
              <a:tblPr/>
              <a:tblGrid>
                <a:gridCol w="2247900"/>
                <a:gridCol w="9029700"/>
              </a:tblGrid>
              <a:tr h="714375">
                <a:tc>
                  <a:txBody>
                    <a:bodyPr/>
                    <a:lstStyle/>
                    <a:p>
                      <a:r>
                        <a:rPr sz="2025" b="1">
                          <a:solidFill>
                            <a:srgbClr val="FFFFFF"/>
                          </a:solidFill>
                          <a:latin typeface="Times New Roman"/>
                          <a:ea typeface="Times New Roman"/>
                          <a:cs typeface="Times New Roman"/>
                        </a:rPr>
                        <a:t>Condition</a:t>
                      </a:r>
                    </a:p>
                  </a:txBody>
                  <a:tcPr marL="114300" marR="114300" marT="76200" marB="76200" anchor="ctr">
                    <a:lnL w="7620">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c>
                  <a:txBody>
                    <a:bodyPr/>
                    <a:lstStyle/>
                    <a:p>
                      <a:r>
                        <a:rPr sz="2025" b="1">
                          <a:solidFill>
                            <a:srgbClr val="FFFFFF"/>
                          </a:solidFill>
                          <a:latin typeface="Times New Roman"/>
                          <a:ea typeface="Times New Roman"/>
                          <a:cs typeface="Times New Roman"/>
                        </a:rPr>
                        <a:t>Instruction or added guidance</a:t>
                      </a:r>
                    </a:p>
                  </a:txBody>
                  <a:tcPr marL="114300" marR="114300" marT="76200" marB="76200" anchor="ctr">
                    <a:lnL w="7620" cmpd="sng">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r>
              <a:tr h="714375">
                <a:tc>
                  <a:txBody>
                    <a:bodyPr/>
                    <a:lstStyle/>
                    <a:p>
                      <a:r>
                        <a:rPr sz="2025" b="0">
                          <a:solidFill>
                            <a:srgbClr val="111111"/>
                          </a:solidFill>
                          <a:latin typeface="Times New Roman"/>
                          <a:ea typeface="Times New Roman"/>
                          <a:cs typeface="Times New Roman"/>
                        </a:rPr>
                        <a:t>No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c>
                  <a:txBody>
                    <a:bodyPr/>
                    <a:lstStyle/>
                    <a:p>
                      <a:r>
                        <a:rPr sz="2025" b="0">
                          <a:solidFill>
                            <a:srgbClr val="111111"/>
                          </a:solidFill>
                          <a:latin typeface="Times New Roman"/>
                          <a:ea typeface="Times New Roman"/>
                          <a:cs typeface="Times New Roman"/>
                        </a:rPr>
                        <a:t>Use the setup and supplied data to implement the model.</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r>
              <a:tr h="714375">
                <a:tc>
                  <a:txBody>
                    <a:bodyPr/>
                    <a:lstStyle/>
                    <a:p>
                      <a:r>
                        <a:rPr sz="2025" b="0">
                          <a:solidFill>
                            <a:srgbClr val="111111"/>
                          </a:solidFill>
                          <a:latin typeface="Times New Roman"/>
                          <a:ea typeface="Times New Roman"/>
                          <a:cs typeface="Times New Roman"/>
                        </a:rPr>
                        <a:t>General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3F4F6"/>
                    </a:solidFill>
                  </a:tcPr>
                </a:tc>
                <a:tc>
                  <a:txBody>
                    <a:bodyPr/>
                    <a:lstStyle/>
                    <a:p>
                      <a:r>
                        <a:rPr sz="2025" b="0">
                          <a:solidFill>
                            <a:srgbClr val="111111"/>
                          </a:solidFill>
                          <a:latin typeface="Times New Roman"/>
                          <a:ea typeface="Times New Roman"/>
                          <a:cs typeface="Times New Roman"/>
                        </a:rPr>
                        <a:t>“Check your implementation carefully and test its correctness</a:t>
                      </a:r>
                    </a:p>
                    <a:p>
                      <a:r>
                        <a:rPr sz="2025" b="0">
                          <a:solidFill>
                            <a:srgbClr val="111111"/>
                          </a:solidFill>
                          <a:latin typeface="Times New Roman"/>
                          <a:ea typeface="Times New Roman"/>
                          <a:cs typeface="Times New Roman"/>
                        </a:rPr>
                        <a:t>before finishing.”</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3F4F6"/>
                    </a:solidFill>
                  </a:tcPr>
                </a:tc>
              </a:tr>
              <a:tr h="714375">
                <a:tc>
                  <a:txBody>
                    <a:bodyPr/>
                    <a:lstStyle/>
                    <a:p>
                      <a:r>
                        <a:rPr sz="2025" b="0">
                          <a:solidFill>
                            <a:srgbClr val="111111"/>
                          </a:solidFill>
                          <a:latin typeface="Times New Roman"/>
                          <a:ea typeface="Times New Roman"/>
                          <a:cs typeface="Times New Roman"/>
                        </a:rPr>
                        <a:t>Physics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c>
                  <a:txBody>
                    <a:bodyPr/>
                    <a:lstStyle/>
                    <a:p>
                      <a:r>
                        <a:rPr sz="2025" b="0">
                          <a:solidFill>
                            <a:srgbClr val="111111"/>
                          </a:solidFill>
                          <a:latin typeface="Times New Roman"/>
                          <a:ea typeface="Times New Roman"/>
                          <a:cs typeface="Times New Roman"/>
                        </a:rPr>
                        <a:t>The starting arrangement affects how early and later motion</a:t>
                      </a:r>
                    </a:p>
                    <a:p>
                      <a:r>
                        <a:rPr sz="2025" b="0">
                          <a:solidFill>
                            <a:srgbClr val="111111"/>
                          </a:solidFill>
                          <a:latin typeface="Times New Roman"/>
                          <a:ea typeface="Times New Roman"/>
                          <a:cs typeface="Times New Roman"/>
                        </a:rPr>
                        <a:t>are </a:t>
                      </a:r>
                      <a:r>
                        <a:rPr sz="2025" b="0">
                          <a:solidFill>
                            <a:srgbClr val="111111"/>
                          </a:solidFill>
                          <a:latin typeface="Times New Roman"/>
                          <a:ea typeface="Times New Roman"/>
                          <a:cs typeface="Times New Roman"/>
                        </a:rPr>
                        <a:t>correlated</a:t>
                      </a:r>
                      <a:r>
                        <a:rPr sz="2025" b="0">
                          <a:solidFill>
                            <a:srgbClr val="111111"/>
                          </a:solidFill>
                          <a:latin typeface="Times New Roman"/>
                          <a:ea typeface="Times New Roman"/>
                          <a:cs typeface="Times New Roman"/>
                        </a:rPr>
                        <a:t>. </a:t>
                      </a:r>
                      <a:r>
                        <a:rPr sz="2025" b="0">
                          <a:solidFill>
                            <a:srgbClr val="111111"/>
                          </a:solidFill>
                          <a:latin typeface="Times New Roman"/>
                          <a:ea typeface="Times New Roman"/>
                          <a:cs typeface="Times New Roman"/>
                        </a:rPr>
                        <a:t>Account for that shared history.</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r>
            </a:tbl>
          </a:graphicData>
        </a:graphic>
      </p:graphicFrame>
      <p:sp>
        <p:nvSpPr>
          <p:cNvPr id="4" name="Rectangle 3">
            <a:extLst xmlns:a="http://schemas.openxmlformats.org/drawingml/2006/main">
              <a:ext uri="{FF2B5EF4-FFF2-40B4-BE49-F238E27FC236}">
                <a16:creationId xmlns:a16="http://schemas.microsoft.com/office/drawing/2014/main" id="{76C76A53-DEEC-454A-9753-1C69F3526FBC}"/>
              </a:ext>
            </a:extLst>
          </p:cNvPr>
          <p:cNvSpPr>
            <a:spLocks xmlns:a="http://schemas.openxmlformats.org/drawingml/2006/main" noGrp="1"/>
          </p:cNvSpPr>
          <p:nvPr/>
        </p:nvSpPr>
        <p:spPr>
          <a:xfrm xmlns:a="http://schemas.openxmlformats.org/drawingml/2006/main">
            <a:off x="457200" y="4810125"/>
            <a:ext cx="11277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11111"/>
                </a:solidFill>
                <a:latin typeface="Times New Roman"/>
                <a:ea typeface="Times New Roman"/>
                <a:cs typeface="Times New Roman"/>
              </a:defRPr>
            </a:defPPr>
          </a:lstStyle>
          <a:p xmlns:a="http://schemas.openxmlformats.org/drawingml/2006/main">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For the bead example</a:t>
            </a:r>
          </a:p>
        </p:txBody>
      </p:sp>
      <p:sp>
        <p:nvSpPr>
          <p:cNvPr id="5" name="Rectangle 4">
            <a:extLst xmlns:a="http://schemas.openxmlformats.org/drawingml/2006/main">
              <a:ext uri="{FF2B5EF4-FFF2-40B4-BE49-F238E27FC236}">
                <a16:creationId xmlns:a16="http://schemas.microsoft.com/office/drawing/2014/main" id="{9BB0283D-1D38-4884-B8B4-61E3727BC95D}"/>
              </a:ext>
            </a:extLst>
          </p:cNvPr>
          <p:cNvSpPr>
            <a:spLocks xmlns:a="http://schemas.openxmlformats.org/drawingml/2006/main" noGrp="1"/>
          </p:cNvSpPr>
          <p:nvPr/>
        </p:nvSpPr>
        <p:spPr>
          <a:xfrm xmlns:a="http://schemas.openxmlformats.org/drawingml/2006/main">
            <a:off x="457200" y="5314950"/>
            <a:ext cx="1127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11111"/>
                </a:solidFill>
                <a:latin typeface="Times New Roman"/>
                <a:ea typeface="Times New Roman"/>
                <a:cs typeface="Times New Roman"/>
              </a:defRPr>
            </a:defPPr>
          </a:lstStyle>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general hint asks the agent to check its work.</a:t>
            </a:r>
          </a:p>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physics hint points to something its formula may be missing.</a:t>
            </a:r>
          </a:p>
        </p:txBody>
      </p:sp>
      <p:sp>
        <p:nvSpPr>
          <p:cNvPr id="7" name="Rectangle 6">
            <a:extLst xmlns:a="http://schemas.openxmlformats.org/drawingml/2006/main">
              <a:ext uri="{FF2B5EF4-FFF2-40B4-BE49-F238E27FC236}">
                <a16:creationId xmlns:a16="http://schemas.microsoft.com/office/drawing/2014/main" id="{6F7B7D6A-AEA7-4431-AB33-4CEEE44EF934}"/>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4</a:t>
            </a:r>
          </a:p>
        </p:txBody>
      </p:sp>
    </p:spTree>
    <p:extLst>
      <p:ext uri="{BB962C8B-B14F-4D97-AF65-F5344CB8AC3E}">
        <p14:creationId xmlns:p14="http://schemas.microsoft.com/office/powerpoint/2010/main" val="16970246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B27324F2-5B2D-40B0-A9C9-E6CD9418AB7A}"/>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Experiment and evaluation</a:t>
            </a:r>
          </a:p>
        </p:txBody>
      </p:sp>
      <p:sp>
        <p:nvSpPr>
          <p:cNvPr id="2" name="Rectangle 1">
            <a:extLst xmlns:a="http://schemas.openxmlformats.org/drawingml/2006/main">
              <a:ext uri="{FF2B5EF4-FFF2-40B4-BE49-F238E27FC236}">
                <a16:creationId xmlns:a16="http://schemas.microsoft.com/office/drawing/2014/main" id="{B54B4D67-E035-47EF-9E0D-E9E7105557A7}"/>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13 frozen tasks. A pass requires completion within the time limit and all grading checks.</a:t>
            </a:r>
          </a:p>
        </p:txBody>
      </p:sp>
      <p:sp>
        <p:nvSpPr>
          <p:cNvPr id="3" name="Rectangle 2">
            <a:extLst xmlns:a="http://schemas.openxmlformats.org/drawingml/2006/main">
              <a:ext uri="{FF2B5EF4-FFF2-40B4-BE49-F238E27FC236}">
                <a16:creationId xmlns:a16="http://schemas.microsoft.com/office/drawing/2014/main" id="{4625F7E8-2DA2-4C40-B871-DB3AA8D209FE}"/>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5</a:t>
            </a:r>
          </a:p>
        </p:txBody>
      </p:sp>
      <p:graphicFrame>
        <p:nvGraphicFramePr>
          <p:cNvPr id="4" name="Table 3">
            <a:extLst xmlns:a="http://schemas.openxmlformats.org/drawingml/2006/main">
              <a:ext uri="{FF2B5EF4-FFF2-40B4-BE49-F238E27FC236}">
                <a16:creationId xmlns:a16="http://schemas.microsoft.com/office/drawing/2014/main" id="{AEEB7B38-967C-4EEC-AD31-AD9C81194FFF}"/>
              </a:ext>
            </a:extLst>
          </p:cNvPr>
          <p:cNvGraphicFramePr/>
          <p:nvPr/>
        </p:nvGraphicFramePr>
        <p:xfrm>
          <a:off xmlns:a="http://schemas.openxmlformats.org/drawingml/2006/main" x="457200" y="1504950"/>
          <a:ext xmlns:a="http://schemas.openxmlformats.org/drawingml/2006/main" cx="11277600" cy="3962400"/>
        </p:xfrm>
        <a:graphic xmlns:a="http://schemas.openxmlformats.org/drawingml/2006/main">
          <a:graphicData uri="http://schemas.openxmlformats.org/drawingml/2006/table">
            <a:tbl>
              <a:tblPr/>
              <a:tblGrid>
                <a:gridCol w="2428875"/>
                <a:gridCol w="3238500"/>
                <a:gridCol w="2809875"/>
                <a:gridCol w="952500"/>
                <a:gridCol w="1847850"/>
              </a:tblGrid>
              <a:tr h="495300">
                <a:tc>
                  <a:txBody>
                    <a:bodyPr/>
                    <a:lstStyle/>
                    <a:p>
                      <a:r>
                        <a:rPr sz="1725" b="1">
                          <a:solidFill>
                            <a:srgbClr val="FFFFFF"/>
                          </a:solidFill>
                          <a:latin typeface="Times New Roman"/>
                          <a:ea typeface="Times New Roman"/>
                          <a:cs typeface="Times New Roman"/>
                        </a:rPr>
                        <a:t>Model</a:t>
                      </a:r>
                    </a:p>
                  </a:txBody>
                  <a:tcPr marL="91440" marR="91440" marT="45720" marB="45720"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No-hint efforts</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Hinted efforts</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Tasks</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Attempts</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r>
              <a:tr h="495300">
                <a:tc>
                  <a:txBody>
                    <a:bodyPr/>
                    <a:lstStyle/>
                    <a:p>
                      <a:r>
                        <a:rPr sz="1725" b="0">
                          <a:solidFill>
                            <a:srgbClr val="111111"/>
                          </a:solidFill>
                          <a:latin typeface="Times New Roman"/>
                          <a:ea typeface="Times New Roman"/>
                          <a:cs typeface="Times New Roman"/>
                        </a:rPr>
                        <a:t>GPT-5.6 Luna</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None to Max (6 levels)</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None to Max (6 levels)</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781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495300">
                <a:tc>
                  <a:txBody>
                    <a:bodyPr/>
                    <a:lstStyle/>
                    <a:p>
                      <a:r>
                        <a:rPr sz="1725" b="0">
                          <a:solidFill>
                            <a:srgbClr val="111111"/>
                          </a:solidFill>
                          <a:latin typeface="Times New Roman"/>
                          <a:ea typeface="Times New Roman"/>
                          <a:cs typeface="Times New Roman"/>
                        </a:rPr>
                        <a:t>GPT-5.6 Terra</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Medium, High, Extra High</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Medium, High</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468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495300">
                <a:tc>
                  <a:txBody>
                    <a:bodyPr/>
                    <a:lstStyle/>
                    <a:p>
                      <a:r>
                        <a:rPr sz="1725" b="0">
                          <a:solidFill>
                            <a:srgbClr val="111111"/>
                          </a:solidFill>
                          <a:latin typeface="Times New Roman"/>
                          <a:ea typeface="Times New Roman"/>
                          <a:cs typeface="Times New Roman"/>
                        </a:rPr>
                        <a:t>GPT-5.6 Sol</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Medium</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Medium</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234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495300">
                <a:tc>
                  <a:txBody>
                    <a:bodyPr/>
                    <a:lstStyle/>
                    <a:p>
                      <a:r>
                        <a:rPr sz="1725" b="0">
                          <a:solidFill>
                            <a:srgbClr val="111111"/>
                          </a:solidFill>
                          <a:latin typeface="Times New Roman"/>
                          <a:ea typeface="Times New Roman"/>
                          <a:cs typeface="Times New Roman"/>
                        </a:rPr>
                        <a:t>GPT-6 Luna</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High, Extra High</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117</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495300">
                <a:tc>
                  <a:txBody>
                    <a:bodyPr/>
                    <a:lstStyle/>
                    <a:p>
                      <a:r>
                        <a:rPr sz="1725" b="0">
                          <a:solidFill>
                            <a:srgbClr val="111111"/>
                          </a:solidFill>
                          <a:latin typeface="Times New Roman"/>
                          <a:ea typeface="Times New Roman"/>
                          <a:cs typeface="Times New Roman"/>
                        </a:rPr>
                        <a:t>GPT-6 Sol</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High, Extra High</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117</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495300">
                <a:tc>
                  <a:txBody>
                    <a:bodyPr/>
                    <a:lstStyle/>
                    <a:p>
                      <a:r>
                        <a:rPr sz="1725" b="0">
                          <a:solidFill>
                            <a:srgbClr val="111111"/>
                          </a:solidFill>
                          <a:latin typeface="Times New Roman"/>
                          <a:ea typeface="Times New Roman"/>
                          <a:cs typeface="Times New Roman"/>
                        </a:rPr>
                        <a:t>GPT-6 Astra</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High, Extra High</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117</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495300">
                <a:tc>
                  <a:txBody>
                    <a:bodyPr/>
                    <a:lstStyle/>
                    <a:p>
                      <a:r>
                        <a:rPr sz="1725" b="0">
                          <a:solidFill>
                            <a:srgbClr val="111111"/>
                          </a:solidFill>
                          <a:latin typeface="Times New Roman"/>
                          <a:ea typeface="Times New Roman"/>
                          <a:cs typeface="Times New Roman"/>
                        </a:rPr>
                        <a:t>DeepSeek V4.1 Flash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High, Max</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High</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234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bl>
          </a:graphicData>
        </a:graphic>
      </p:graphicFrame>
      <p:sp>
        <p:nvSpPr>
          <p:cNvPr id="5" name="Rectangle 4">
            <a:extLst xmlns:a="http://schemas.openxmlformats.org/drawingml/2006/main">
              <a:ext uri="{FF2B5EF4-FFF2-40B4-BE49-F238E27FC236}">
                <a16:creationId xmlns:a16="http://schemas.microsoft.com/office/drawing/2014/main" id="{81B102D8-C580-4666-BE72-0F06D59D92F7}"/>
              </a:ext>
            </a:extLst>
          </p:cNvPr>
          <p:cNvSpPr>
            <a:spLocks xmlns:a="http://schemas.openxmlformats.org/drawingml/2006/main" noGrp="1"/>
          </p:cNvSpPr>
          <p:nvPr/>
        </p:nvSpPr>
        <p:spPr>
          <a:xfrm xmlns:a="http://schemas.openxmlformats.org/drawingml/2006/main">
            <a:off x="457200" y="56197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11111"/>
                </a:solidFill>
                <a:latin typeface="Times New Roman"/>
                <a:ea typeface="Times New Roman"/>
                <a:cs typeface="Times New Roman"/>
              </a:defRPr>
            </a:defPPr>
          </a:lstStyle>
          <a:p xmlns:a="http://schemas.openxmlformats.org/drawingml/2006/main">
            <a:pP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2,068 attempts across 48 model, effort and hint settings.</a:t>
            </a:r>
          </a:p>
        </p:txBody>
      </p:sp>
      <p:sp>
        <p:nvSpPr>
          <p:cNvPr id="6" name="Rectangle 5">
            <a:extLst xmlns:a="http://schemas.openxmlformats.org/drawingml/2006/main">
              <a:ext uri="{FF2B5EF4-FFF2-40B4-BE49-F238E27FC236}">
                <a16:creationId xmlns:a16="http://schemas.microsoft.com/office/drawing/2014/main" id="{B6BD40B8-157E-475B-A1A6-73A9D3808EE9}"/>
              </a:ext>
            </a:extLst>
          </p:cNvPr>
          <p:cNvSpPr>
            <a:spLocks xmlns:a="http://schemas.openxmlformats.org/drawingml/2006/main" noGrp="1"/>
          </p:cNvSpPr>
          <p:nvPr/>
        </p:nvSpPr>
        <p:spPr>
          <a:xfrm xmlns:a="http://schemas.openxmlformats.org/drawingml/2006/main">
            <a:off x="457200" y="6048375"/>
            <a:ext cx="11277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444444"/>
                </a:solidFill>
                <a:latin typeface="Times New Roman"/>
                <a:ea typeface="Times New Roman"/>
                <a:cs typeface="Times New Roman"/>
              </a:defRPr>
            </a:defPPr>
          </a:lstStyle>
          <a:p xmlns:a="http://schemas.openxmlformats.org/drawingml/2006/main">
            <a:pP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Harbor with Codex agents. Time limits: 600 s for solving and 60 s for grading.</a:t>
            </a:r>
          </a:p>
        </p:txBody>
      </p:sp>
    </p:spTree>
    <p:extLst>
      <p:ext uri="{BB962C8B-B14F-4D97-AF65-F5344CB8AC3E}">
        <p14:creationId xmlns:p14="http://schemas.microsoft.com/office/powerpoint/2010/main" val="11041282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275362C3-E16C-40AA-A029-16633B943820}"/>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Cost and success without hints</a:t>
            </a:r>
          </a:p>
        </p:txBody>
      </p:sp>
      <p:sp>
        <p:nvSpPr>
          <p:cNvPr id="2" name="Rectangle 1">
            <a:extLst xmlns:a="http://schemas.openxmlformats.org/drawingml/2006/main">
              <a:ext uri="{FF2B5EF4-FFF2-40B4-BE49-F238E27FC236}">
                <a16:creationId xmlns:a16="http://schemas.microsoft.com/office/drawing/2014/main" id="{2C5B2D1A-7360-4324-ACFF-A9BC0F3B6241}"/>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19 settings with complete costs. The dashed line marks the observed Pareto frontier.</a:t>
            </a:r>
          </a:p>
        </p:txBody>
      </p:sp>
      <p:sp>
        <p:nvSpPr>
          <p:cNvPr id="3" name="Rectangle 2">
            <a:extLst xmlns:a="http://schemas.openxmlformats.org/drawingml/2006/main">
              <a:ext uri="{FF2B5EF4-FFF2-40B4-BE49-F238E27FC236}">
                <a16:creationId xmlns:a16="http://schemas.microsoft.com/office/drawing/2014/main" id="{2F1DD0E5-D745-4C1A-B0A4-70599B6D8BAC}"/>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6</a:t>
            </a:r>
          </a:p>
        </p:txBody>
      </p:sp>
      <p:pic>
        <p:nvPicPr>
          <p:cNvPr id="4" name="Picture 3">
            <a:extLst xmlns:a="http://schemas.openxmlformats.org/drawingml/2006/main">
              <a:ext uri="{FF2B5EF4-FFF2-40B4-BE49-F238E27FC236}">
                <a16:creationId xmlns:a16="http://schemas.microsoft.com/office/drawing/2014/main" id="{2502941F-C9FC-4A4E-BF73-90A307E2A8BB}"/>
              </a:ext>
            </a:extLst>
          </p:cNvPr>
          <p:cNvPicPr>
            <a:picLocks xmlns:a="http://schemas.openxmlformats.org/drawingml/2006/main" noChangeAspect="1"/>
          </p:cNvPicPr>
          <p:nvPr/>
        </p:nvPicPr>
        <p:blipFill>
          <a:blip xmlns:r="http://schemas.openxmlformats.org/officeDocument/2006/relationships" xmlns:a="http://schemas.openxmlformats.org/drawingml/2006/main" r:embed="Rbcae6d3dac4045e2"/>
          <a:stretch xmlns:a="http://schemas.openxmlformats.org/drawingml/2006/main"/>
        </p:blipFill>
        <p:spPr>
          <a:xfrm xmlns:a="http://schemas.openxmlformats.org/drawingml/2006/main">
            <a:off x="457200" y="1438708"/>
            <a:ext cx="11277600" cy="4485409"/>
          </a:xfrm>
          <a:prstGeom xmlns:a="http://schemas.openxmlformats.org/drawingml/2006/main" prst="rect">
            <a:avLst/>
          </a:prstGeom>
        </p:spPr>
      </p:pic>
    </p:spTree>
    <p:extLst>
      <p:ext uri="{BB962C8B-B14F-4D97-AF65-F5344CB8AC3E}">
        <p14:creationId xmlns:p14="http://schemas.microsoft.com/office/powerpoint/2010/main" val="56122520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C26DFC98-4EEA-4DBF-B935-A165B973D315}"/>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Cost and success with hints</a:t>
            </a:r>
          </a:p>
        </p:txBody>
      </p:sp>
      <p:sp>
        <p:nvSpPr>
          <p:cNvPr id="2" name="Rectangle 1">
            <a:extLst xmlns:a="http://schemas.openxmlformats.org/drawingml/2006/main">
              <a:ext uri="{FF2B5EF4-FFF2-40B4-BE49-F238E27FC236}">
                <a16:creationId xmlns:a16="http://schemas.microsoft.com/office/drawing/2014/main" id="{623779AE-31B5-450E-B7C2-137A836D3766}"/>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22 settings with complete costs, compared across the three prompt conditions.</a:t>
            </a:r>
          </a:p>
        </p:txBody>
      </p:sp>
      <p:sp>
        <p:nvSpPr>
          <p:cNvPr id="3" name="Rectangle 2">
            <a:extLst xmlns:a="http://schemas.openxmlformats.org/drawingml/2006/main">
              <a:ext uri="{FF2B5EF4-FFF2-40B4-BE49-F238E27FC236}">
                <a16:creationId xmlns:a16="http://schemas.microsoft.com/office/drawing/2014/main" id="{5F85D8CF-06FA-4496-858C-F58EF7172157}"/>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7</a:t>
            </a:r>
          </a:p>
        </p:txBody>
      </p:sp>
      <p:pic>
        <p:nvPicPr>
          <p:cNvPr id="4" name="Picture 3">
            <a:extLst xmlns:a="http://schemas.openxmlformats.org/drawingml/2006/main">
              <a:ext uri="{FF2B5EF4-FFF2-40B4-BE49-F238E27FC236}">
                <a16:creationId xmlns:a16="http://schemas.microsoft.com/office/drawing/2014/main" id="{7F892CC8-D80A-41EC-B407-570E2C49BDC9}"/>
              </a:ext>
            </a:extLst>
          </p:cNvPr>
          <p:cNvPicPr>
            <a:picLocks xmlns:a="http://schemas.openxmlformats.org/drawingml/2006/main" noChangeAspect="1"/>
          </p:cNvPicPr>
          <p:nvPr/>
        </p:nvPicPr>
        <p:blipFill>
          <a:blip xmlns:r="http://schemas.openxmlformats.org/officeDocument/2006/relationships" xmlns:a="http://schemas.openxmlformats.org/drawingml/2006/main" r:embed="R048097f527614674"/>
          <a:stretch xmlns:a="http://schemas.openxmlformats.org/drawingml/2006/main"/>
        </p:blipFill>
        <p:spPr>
          <a:xfrm xmlns:a="http://schemas.openxmlformats.org/drawingml/2006/main">
            <a:off x="457200" y="1438708"/>
            <a:ext cx="11277600" cy="4485409"/>
          </a:xfrm>
          <a:prstGeom xmlns:a="http://schemas.openxmlformats.org/drawingml/2006/main" prst="rect">
            <a:avLst/>
          </a:prstGeom>
        </p:spPr>
      </p:pic>
    </p:spTree>
    <p:extLst>
      <p:ext uri="{BB962C8B-B14F-4D97-AF65-F5344CB8AC3E}">
        <p14:creationId xmlns:p14="http://schemas.microsoft.com/office/powerpoint/2010/main" val="112938865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17CF5279-D8E9-4CE9-8986-47802DA68BE8}"/>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Luna: reasoning effort and hints</a:t>
            </a:r>
          </a:p>
        </p:txBody>
      </p:sp>
      <p:sp>
        <p:nvSpPr>
          <p:cNvPr id="2" name="Rectangle 1">
            <a:extLst xmlns:a="http://schemas.openxmlformats.org/drawingml/2006/main">
              <a:ext uri="{FF2B5EF4-FFF2-40B4-BE49-F238E27FC236}">
                <a16:creationId xmlns:a16="http://schemas.microsoft.com/office/drawing/2014/main" id="{5753F515-E0DC-4630-8EF3-4CFECCB7156E}"/>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Luna. 13 tasks × 3 attempts for each effort and hint condition.</a:t>
            </a:r>
          </a:p>
        </p:txBody>
      </p:sp>
      <p:sp>
        <p:nvSpPr>
          <p:cNvPr id="3" name="Rectangle 2">
            <a:extLst xmlns:a="http://schemas.openxmlformats.org/drawingml/2006/main">
              <a:ext uri="{FF2B5EF4-FFF2-40B4-BE49-F238E27FC236}">
                <a16:creationId xmlns:a16="http://schemas.microsoft.com/office/drawing/2014/main" id="{44CBCC7A-2B3E-4BB8-A17C-89503162166B}"/>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8</a:t>
            </a:r>
          </a:p>
        </p:txBody>
      </p:sp>
      <p:sp>
        <p:nvSpPr>
          <p:cNvPr id="5" name="Rectangle 4">
            <a:extLst xmlns:a="http://schemas.openxmlformats.org/drawingml/2006/main">
              <a:ext uri="{FF2B5EF4-FFF2-40B4-BE49-F238E27FC236}">
                <a16:creationId xmlns:a16="http://schemas.microsoft.com/office/drawing/2014/main" id="{C503E373-5342-45CE-B7DA-D5478D3FADA8}"/>
              </a:ext>
            </a:extLst>
          </p:cNvPr>
          <p:cNvSpPr>
            <a:spLocks xmlns:a="http://schemas.openxmlformats.org/drawingml/2006/main" noGrp="1"/>
          </p:cNvSpPr>
          <p:nvPr/>
        </p:nvSpPr>
        <p:spPr>
          <a:xfrm xmlns:a="http://schemas.openxmlformats.org/drawingml/2006/main">
            <a:off x="457200" y="5895975"/>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11111"/>
                </a:solidFill>
                <a:latin typeface="Times New Roman"/>
                <a:ea typeface="Times New Roman"/>
                <a:cs typeface="Times New Roman"/>
              </a:defRPr>
            </a:defPPr>
          </a:lstStyle>
          <a:p xmlns:a="http://schemas.openxmlformats.org/drawingml/2006/main">
            <a:pPr>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General hints help at higher efforts. Physics hints help at every effort.</a:t>
            </a:r>
          </a:p>
        </p:txBody>
      </p:sp>
      <p:pic>
        <p:nvPicPr>
          <p:cNvPr id="8" name="">
            <a:extLst xmlns:a="http://schemas.openxmlformats.org/drawingml/2006/main">
              <a:ext uri="{FF2B5EF4-FFF2-40B4-BE49-F238E27FC236}">
                <a16:creationId xmlns:a16="http://schemas.microsoft.com/office/drawing/2014/main" id="{63742635-DA54-44AF-91DD-8453B78A4CA1}"/>
              </a:ext>
            </a:extLst>
          </p:cNvPr>
          <p:cNvPicPr>
            <a:picLocks xmlns:a="http://schemas.openxmlformats.org/drawingml/2006/main" noChangeAspect="1"/>
          </p:cNvPicPr>
          <p:nvPr/>
        </p:nvPicPr>
        <p:blipFill>
          <a:blip xmlns:r="http://schemas.openxmlformats.org/officeDocument/2006/relationships" xmlns:a="http://schemas.openxmlformats.org/drawingml/2006/main" r:embed="R638222d0e8aa4f76"/>
          <a:stretch xmlns:a="http://schemas.openxmlformats.org/drawingml/2006/main"/>
        </p:blipFill>
        <p:spPr>
          <a:xfrm xmlns:a="http://schemas.openxmlformats.org/drawingml/2006/main">
            <a:off x="457200" y="1400656"/>
            <a:ext cx="11277600" cy="4485409"/>
          </a:xfrm>
          <a:prstGeom xmlns:a="http://schemas.openxmlformats.org/drawingml/2006/main" prst="rect">
            <a:avLst/>
          </a:prstGeom>
        </p:spPr>
      </p:pic>
    </p:spTree>
    <p:extLst>
      <p:ext uri="{BB962C8B-B14F-4D97-AF65-F5344CB8AC3E}">
        <p14:creationId xmlns:p14="http://schemas.microsoft.com/office/powerpoint/2010/main" val="8481716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DF9950FC-52E5-401D-BB3F-ADA8D732378C}"/>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Where the agents fail</a:t>
            </a:r>
          </a:p>
        </p:txBody>
      </p:sp>
      <p:sp>
        <p:nvSpPr>
          <p:cNvPr id="2" name="Rectangle 1">
            <a:extLst xmlns:a="http://schemas.openxmlformats.org/drawingml/2006/main">
              <a:ext uri="{FF2B5EF4-FFF2-40B4-BE49-F238E27FC236}">
                <a16:creationId xmlns:a16="http://schemas.microsoft.com/office/drawing/2014/main" id="{381E6914-BC82-4617-873D-C301993F70D4}"/>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Outcome totals combine all tested efforts and hints. Failure diagnoses use reviewed subsets.</a:t>
            </a:r>
          </a:p>
        </p:txBody>
      </p:sp>
      <p:sp>
        <p:nvSpPr>
          <p:cNvPr id="3" name="Rectangle 2">
            <a:extLst xmlns:a="http://schemas.openxmlformats.org/drawingml/2006/main">
              <a:ext uri="{FF2B5EF4-FFF2-40B4-BE49-F238E27FC236}">
                <a16:creationId xmlns:a16="http://schemas.microsoft.com/office/drawing/2014/main" id="{CD1C8120-6B60-4FD3-9977-BD6B1FB3EFD7}"/>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9</a:t>
            </a:r>
          </a:p>
        </p:txBody>
      </p:sp>
      <p:pic>
        <p:nvPicPr>
          <p:cNvPr id="4" name="Picture 3">
            <a:extLst xmlns:a="http://schemas.openxmlformats.org/drawingml/2006/main">
              <a:ext uri="{FF2B5EF4-FFF2-40B4-BE49-F238E27FC236}">
                <a16:creationId xmlns:a16="http://schemas.microsoft.com/office/drawing/2014/main" id="{E8AC8F3E-4A4F-4B95-A46F-4C387DDF718A}"/>
              </a:ext>
            </a:extLst>
          </p:cNvPr>
          <p:cNvPicPr>
            <a:picLocks xmlns:a="http://schemas.openxmlformats.org/drawingml/2006/main" noChangeAspect="1"/>
          </p:cNvPicPr>
          <p:nvPr/>
        </p:nvPicPr>
        <p:blipFill>
          <a:blip xmlns:r="http://schemas.openxmlformats.org/officeDocument/2006/relationships" xmlns:a="http://schemas.openxmlformats.org/drawingml/2006/main" r:embed="R715d154b7df549d9"/>
          <a:stretch xmlns:a="http://schemas.openxmlformats.org/drawingml/2006/main"/>
        </p:blipFill>
        <p:spPr>
          <a:xfrm xmlns:a="http://schemas.openxmlformats.org/drawingml/2006/main">
            <a:off x="306777" y="1419225"/>
            <a:ext cx="8130396" cy="495300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5F31B343-1558-4750-98E9-18D17A4EAD6E}"/>
              </a:ext>
            </a:extLst>
          </p:cNvPr>
          <p:cNvSpPr>
            <a:spLocks xmlns:a="http://schemas.openxmlformats.org/drawingml/2006/main" noGrp="1"/>
          </p:cNvSpPr>
          <p:nvPr/>
        </p:nvSpPr>
        <p:spPr>
          <a:xfrm xmlns:a="http://schemas.openxmlformats.org/drawingml/2006/main">
            <a:off x="8734425" y="1819275"/>
            <a:ext cx="3000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75" b="1">
                <a:solidFill>
                  <a:srgbClr val="B45309"/>
                </a:solidFill>
                <a:latin typeface="Times New Roman"/>
                <a:ea typeface="Times New Roman"/>
                <a:cs typeface="Times New Roman"/>
              </a:defRPr>
            </a:defPPr>
          </a:lstStyle>
          <a:p xmlns:a="http://schemas.openxmlformats.org/drawingml/2006/main">
            <a:pPr>
              <a:buNone/>
              <a:defRPr sz="3675" b="1">
                <a:solidFill>
                  <a:srgbClr val="B45309"/>
                </a:solidFill>
                <a:latin typeface="Times New Roman"/>
                <a:ea typeface="Times New Roman"/>
                <a:cs typeface="Times New Roman"/>
              </a:defRPr>
            </a:pPr>
            <a:r>
              <a:rPr sz="3675" b="1">
                <a:solidFill>
                  <a:srgbClr val="B45309"/>
                </a:solidFill>
                <a:latin typeface="Times New Roman"/>
                <a:ea typeface="Times New Roman"/>
                <a:cs typeface="Times New Roman"/>
              </a:rPr>
              <a:t>186 / 191</a:t>
            </a:r>
          </a:p>
        </p:txBody>
      </p:sp>
      <p:sp>
        <p:nvSpPr>
          <p:cNvPr id="6" name="Rectangle 5">
            <a:extLst xmlns:a="http://schemas.openxmlformats.org/drawingml/2006/main">
              <a:ext uri="{FF2B5EF4-FFF2-40B4-BE49-F238E27FC236}">
                <a16:creationId xmlns:a16="http://schemas.microsoft.com/office/drawing/2014/main" id="{348AC248-6EA1-40E5-A02A-27D474FF3AF9}"/>
              </a:ext>
            </a:extLst>
          </p:cNvPr>
          <p:cNvSpPr>
            <a:spLocks xmlns:a="http://schemas.openxmlformats.org/drawingml/2006/main" noGrp="1"/>
          </p:cNvSpPr>
          <p:nvPr/>
        </p:nvSpPr>
        <p:spPr>
          <a:xfrm xmlns:a="http://schemas.openxmlformats.org/drawingml/2006/main">
            <a:off x="8734425" y="250507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11111"/>
                </a:solidFill>
                <a:latin typeface="Times New Roman"/>
                <a:ea typeface="Times New Roman"/>
                <a:cs typeface="Times New Roman"/>
              </a:defRPr>
            </a:defPPr>
          </a:lstStyle>
          <a:p xmlns:a="http://schemas.openxmlformats.org/drawingml/2006/main">
            <a:pP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Reviewed no-hint failures</a:t>
            </a:r>
          </a:p>
          <a:p xmlns:a="http://schemas.openxmlformats.org/drawingml/2006/main">
            <a:pP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fit calibration but failed</a:t>
            </a:r>
          </a:p>
          <a:p xmlns:a="http://schemas.openxmlformats.org/drawingml/2006/main">
            <a:pP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on new predictions.</a:t>
            </a:r>
          </a:p>
        </p:txBody>
      </p:sp>
      <p:sp>
        <p:nvSpPr>
          <p:cNvPr id="7" name="Rectangle 6">
            <a:extLst xmlns:a="http://schemas.openxmlformats.org/drawingml/2006/main">
              <a:ext uri="{FF2B5EF4-FFF2-40B4-BE49-F238E27FC236}">
                <a16:creationId xmlns:a16="http://schemas.microsoft.com/office/drawing/2014/main" id="{3B667413-E581-451A-8225-4A9FB9EBBD3E}"/>
              </a:ext>
            </a:extLst>
          </p:cNvPr>
          <p:cNvSpPr>
            <a:spLocks xmlns:a="http://schemas.openxmlformats.org/drawingml/2006/main" noGrp="1"/>
          </p:cNvSpPr>
          <p:nvPr/>
        </p:nvSpPr>
        <p:spPr>
          <a:xfrm xmlns:a="http://schemas.openxmlformats.org/drawingml/2006/main">
            <a:off x="8734425" y="3829050"/>
            <a:ext cx="3000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75" b="1">
                <a:solidFill>
                  <a:srgbClr val="B00032"/>
                </a:solidFill>
                <a:latin typeface="Times New Roman"/>
                <a:ea typeface="Times New Roman"/>
                <a:cs typeface="Times New Roman"/>
              </a:defRPr>
            </a:defPPr>
          </a:lstStyle>
          <a:p xmlns:a="http://schemas.openxmlformats.org/drawingml/2006/main">
            <a:pPr>
              <a:buNone/>
              <a:defRPr sz="3675" b="1">
                <a:solidFill>
                  <a:srgbClr val="B00032"/>
                </a:solidFill>
                <a:latin typeface="Times New Roman"/>
                <a:ea typeface="Times New Roman"/>
                <a:cs typeface="Times New Roman"/>
              </a:defRPr>
            </a:pPr>
            <a:r>
              <a:rPr sz="3675" b="1">
                <a:solidFill>
                  <a:srgbClr val="B00032"/>
                </a:solidFill>
                <a:latin typeface="Times New Roman"/>
                <a:ea typeface="Times New Roman"/>
                <a:cs typeface="Times New Roman"/>
              </a:rPr>
              <a:t>229 / 315</a:t>
            </a:r>
          </a:p>
        </p:txBody>
      </p:sp>
      <p:sp>
        <p:nvSpPr>
          <p:cNvPr id="8" name="Rectangle 7">
            <a:extLst xmlns:a="http://schemas.openxmlformats.org/drawingml/2006/main">
              <a:ext uri="{FF2B5EF4-FFF2-40B4-BE49-F238E27FC236}">
                <a16:creationId xmlns:a16="http://schemas.microsoft.com/office/drawing/2014/main" id="{89F9A2A3-3A6F-41DB-A9C7-9CD4BB4EA097}"/>
              </a:ext>
            </a:extLst>
          </p:cNvPr>
          <p:cNvSpPr>
            <a:spLocks xmlns:a="http://schemas.openxmlformats.org/drawingml/2006/main" noGrp="1"/>
          </p:cNvSpPr>
          <p:nvPr/>
        </p:nvSpPr>
        <p:spPr>
          <a:xfrm xmlns:a="http://schemas.openxmlformats.org/drawingml/2006/main">
            <a:off x="8734425" y="4514850"/>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11111"/>
                </a:solidFill>
                <a:latin typeface="Times New Roman"/>
                <a:ea typeface="Times New Roman"/>
                <a:cs typeface="Times New Roman"/>
              </a:defRPr>
            </a:defPPr>
          </a:lstStyle>
          <a:p xmlns:a="http://schemas.openxmlformats.org/drawingml/2006/main">
            <a:pP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Reviewed hinted failures</a:t>
            </a:r>
          </a:p>
          <a:p xmlns:a="http://schemas.openxmlformats.org/drawingml/2006/main">
            <a:pP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involved physics or modeling.</a:t>
            </a:r>
          </a:p>
        </p:txBody>
      </p:sp>
    </p:spTree>
    <p:extLst>
      <p:ext uri="{BB962C8B-B14F-4D97-AF65-F5344CB8AC3E}">
        <p14:creationId xmlns:p14="http://schemas.microsoft.com/office/powerpoint/2010/main" val="591641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Rectangle 41">
            <a:extLst xmlns:a="http://schemas.openxmlformats.org/drawingml/2006/main">
              <a:ext uri="{FF2B5EF4-FFF2-40B4-BE49-F238E27FC236}">
                <a16:creationId xmlns:a16="http://schemas.microsoft.com/office/drawing/2014/main" id="{188BF787-8096-4C2A-88D4-72B59C3957F8}"/>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Why the agent failed on the bead task</a:t>
            </a:r>
          </a:p>
        </p:txBody>
      </p:sp>
      <p:sp>
        <p:nvSpPr>
          <p:cNvPr id="2" name="Rectangle 1">
            <a:extLst xmlns:a="http://schemas.openxmlformats.org/drawingml/2006/main">
              <a:ext uri="{FF2B5EF4-FFF2-40B4-BE49-F238E27FC236}">
                <a16:creationId xmlns:a16="http://schemas.microsoft.com/office/drawing/2014/main" id="{90E0191D-DC24-4A27-8C1D-B6CD527F23A6}"/>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Terra High, no hint</a:t>
            </a:r>
          </a:p>
        </p:txBody>
      </p:sp>
      <p:sp>
        <p:nvSpPr>
          <p:cNvPr id="3" name="Rectangle 2">
            <a:extLst xmlns:a="http://schemas.openxmlformats.org/drawingml/2006/main">
              <a:ext uri="{FF2B5EF4-FFF2-40B4-BE49-F238E27FC236}">
                <a16:creationId xmlns:a16="http://schemas.microsoft.com/office/drawing/2014/main" id="{AD1C196F-EF25-4184-B114-2530E3410410}"/>
              </a:ext>
            </a:extLst>
          </p:cNvPr>
          <p:cNvSpPr>
            <a:spLocks xmlns:a="http://schemas.openxmlformats.org/drawingml/2006/main" noGrp="1"/>
          </p:cNvSpPr>
          <p:nvPr/>
        </p:nvSpPr>
        <p:spPr>
          <a:xfrm xmlns:a="http://schemas.openxmlformats.org/drawingml/2006/main">
            <a:off x="457200" y="1628775"/>
            <a:ext cx="5467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2100" b="1">
                <a:solidFill>
                  <a:srgbClr val="111111"/>
                </a:solidFill>
                <a:latin typeface="Times New Roman"/>
                <a:ea typeface="Times New Roman"/>
                <a:cs typeface="Times New Roman"/>
              </a:defRPr>
            </a:defPPr>
          </a:lstStyle>
          <a:p xmlns:a="http://schemas.openxmlformats.org/drawingml/2006/main">
            <a:pPr algn="ctr">
              <a:buNone/>
              <a:defRPr sz="2100" b="1">
                <a:solidFill>
                  <a:srgbClr val="111111"/>
                </a:solidFill>
                <a:latin typeface="Times New Roman"/>
                <a:ea typeface="Times New Roman"/>
                <a:cs typeface="Times New Roman"/>
              </a:defRPr>
            </a:pPr>
            <a:r>
              <a:rPr sz="2100" b="1">
                <a:solidFill>
                  <a:srgbClr val="111111"/>
                </a:solidFill>
                <a:latin typeface="Times New Roman"/>
                <a:ea typeface="Times New Roman"/>
                <a:cs typeface="Times New Roman"/>
              </a:rPr>
              <a:t>Same evenly spaced start</a:t>
            </a:r>
          </a:p>
        </p:txBody>
      </p:sp>
      <p:sp>
        <p:nvSpPr>
          <p:cNvPr id="4" name="Rectangle 3">
            <a:extLst xmlns:a="http://schemas.openxmlformats.org/drawingml/2006/main">
              <a:ext uri="{FF2B5EF4-FFF2-40B4-BE49-F238E27FC236}">
                <a16:creationId xmlns:a16="http://schemas.microsoft.com/office/drawing/2014/main" id="{6CB97F0B-14D1-45A5-8F9B-88A5CA265AC7}"/>
              </a:ext>
            </a:extLst>
          </p:cNvPr>
          <p:cNvSpPr>
            <a:spLocks xmlns:a="http://schemas.openxmlformats.org/drawingml/2006/main" noGrp="1"/>
          </p:cNvSpPr>
          <p:nvPr/>
        </p:nvSpPr>
        <p:spPr>
          <a:xfrm xmlns:a="http://schemas.openxmlformats.org/drawingml/2006/main">
            <a:off x="2038350" y="209550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A2592DAE-900F-479B-A890-400A518A5C35}"/>
              </a:ext>
            </a:extLst>
          </p:cNvPr>
          <p:cNvSpPr>
            <a:spLocks xmlns:a="http://schemas.openxmlformats.org/drawingml/2006/main" noGrp="1"/>
          </p:cNvSpPr>
          <p:nvPr/>
        </p:nvSpPr>
        <p:spPr>
          <a:xfrm xmlns:a="http://schemas.openxmlformats.org/drawingml/2006/main">
            <a:off x="2038350" y="260985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4AEFC1F5-B00A-442B-A9CB-59FA4BA6930E}"/>
              </a:ext>
            </a:extLst>
          </p:cNvPr>
          <p:cNvSpPr>
            <a:spLocks xmlns:a="http://schemas.openxmlformats.org/drawingml/2006/main" noGrp="1"/>
          </p:cNvSpPr>
          <p:nvPr/>
        </p:nvSpPr>
        <p:spPr>
          <a:xfrm xmlns:a="http://schemas.openxmlformats.org/drawingml/2006/main">
            <a:off x="2133600"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C59E5C55-848C-42F8-8543-5E83EBE4790C}"/>
              </a:ext>
            </a:extLst>
          </p:cNvPr>
          <p:cNvSpPr>
            <a:spLocks xmlns:a="http://schemas.openxmlformats.org/drawingml/2006/main" noGrp="1"/>
          </p:cNvSpPr>
          <p:nvPr/>
        </p:nvSpPr>
        <p:spPr>
          <a:xfrm xmlns:a="http://schemas.openxmlformats.org/drawingml/2006/main">
            <a:off x="2505075"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E14639FD-8428-44D2-9C15-7D66D756CAAA}"/>
              </a:ext>
            </a:extLst>
          </p:cNvPr>
          <p:cNvSpPr>
            <a:spLocks xmlns:a="http://schemas.openxmlformats.org/drawingml/2006/main" noGrp="1"/>
          </p:cNvSpPr>
          <p:nvPr/>
        </p:nvSpPr>
        <p:spPr>
          <a:xfrm xmlns:a="http://schemas.openxmlformats.org/drawingml/2006/main">
            <a:off x="2876550" y="2238375"/>
            <a:ext cx="228600" cy="2286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D1467A71-ED3C-44C5-844C-EF34BB051944}"/>
              </a:ext>
            </a:extLst>
          </p:cNvPr>
          <p:cNvSpPr>
            <a:spLocks xmlns:a="http://schemas.openxmlformats.org/drawingml/2006/main" noGrp="1"/>
          </p:cNvSpPr>
          <p:nvPr/>
        </p:nvSpPr>
        <p:spPr>
          <a:xfrm xmlns:a="http://schemas.openxmlformats.org/drawingml/2006/main">
            <a:off x="3248025"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22F03590-CD66-4324-9B45-D90E7670F2BC}"/>
              </a:ext>
            </a:extLst>
          </p:cNvPr>
          <p:cNvSpPr>
            <a:spLocks xmlns:a="http://schemas.openxmlformats.org/drawingml/2006/main" noGrp="1"/>
          </p:cNvSpPr>
          <p:nvPr/>
        </p:nvSpPr>
        <p:spPr>
          <a:xfrm xmlns:a="http://schemas.openxmlformats.org/drawingml/2006/main">
            <a:off x="3619500"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514F4D2C-52B8-4904-9800-3B56EDDCABE1}"/>
              </a:ext>
            </a:extLst>
          </p:cNvPr>
          <p:cNvSpPr>
            <a:spLocks xmlns:a="http://schemas.openxmlformats.org/drawingml/2006/main" noGrp="1"/>
          </p:cNvSpPr>
          <p:nvPr/>
        </p:nvSpPr>
        <p:spPr>
          <a:xfrm xmlns:a="http://schemas.openxmlformats.org/drawingml/2006/main">
            <a:off x="3990975"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Down Arrow 11">
            <a:extLst xmlns:a="http://schemas.openxmlformats.org/drawingml/2006/main">
              <a:ext uri="{FF2B5EF4-FFF2-40B4-BE49-F238E27FC236}">
                <a16:creationId xmlns:a16="http://schemas.microsoft.com/office/drawing/2014/main" id="{2B9547D1-0D56-40EB-A613-AD781B488373}"/>
              </a:ext>
            </a:extLst>
          </p:cNvPr>
          <p:cNvSpPr>
            <a:spLocks xmlns:a="http://schemas.openxmlformats.org/drawingml/2006/main" noGrp="1"/>
          </p:cNvSpPr>
          <p:nvPr/>
        </p:nvSpPr>
        <p:spPr>
          <a:xfrm xmlns:a="http://schemas.openxmlformats.org/drawingml/2006/main">
            <a:off x="3048000" y="2762250"/>
            <a:ext cx="228600" cy="323850"/>
          </a:xfrm>
          <a:prstGeom xmlns:a="http://schemas.openxmlformats.org/drawingml/2006/main" prst="downArrow">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B29D8764-60D2-480D-B980-A00088FC00FD}"/>
              </a:ext>
            </a:extLst>
          </p:cNvPr>
          <p:cNvSpPr>
            <a:spLocks xmlns:a="http://schemas.openxmlformats.org/drawingml/2006/main" noGrp="1"/>
          </p:cNvSpPr>
          <p:nvPr/>
        </p:nvSpPr>
        <p:spPr>
          <a:xfrm xmlns:a="http://schemas.openxmlformats.org/drawingml/2006/main">
            <a:off x="457200" y="3324225"/>
            <a:ext cx="2305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2025" b="0">
                <a:solidFill>
                  <a:srgbClr val="111111"/>
                </a:solidFill>
                <a:latin typeface="Times New Roman"/>
                <a:ea typeface="Times New Roman"/>
                <a:cs typeface="Times New Roman"/>
              </a:defRPr>
            </a:defPPr>
          </a:lstStyle>
          <a:p xmlns:a="http://schemas.openxmlformats.org/drawingml/2006/main">
            <a:pPr algn="ct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Early position</a:t>
            </a:r>
          </a:p>
        </p:txBody>
      </p:sp>
      <p:sp>
        <p:nvSpPr>
          <p:cNvPr id="14" name="Rectangle 13">
            <a:extLst xmlns:a="http://schemas.openxmlformats.org/drawingml/2006/main">
              <a:ext uri="{FF2B5EF4-FFF2-40B4-BE49-F238E27FC236}">
                <a16:creationId xmlns:a16="http://schemas.microsoft.com/office/drawing/2014/main" id="{8C762CA3-6389-42EF-9006-A1AD10A8C613}"/>
              </a:ext>
            </a:extLst>
          </p:cNvPr>
          <p:cNvSpPr>
            <a:spLocks xmlns:a="http://schemas.openxmlformats.org/drawingml/2006/main" noGrp="1"/>
          </p:cNvSpPr>
          <p:nvPr/>
        </p:nvSpPr>
        <p:spPr>
          <a:xfrm xmlns:a="http://schemas.openxmlformats.org/drawingml/2006/main">
            <a:off x="3619500" y="3324225"/>
            <a:ext cx="2305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2025" b="0">
                <a:solidFill>
                  <a:srgbClr val="111111"/>
                </a:solidFill>
                <a:latin typeface="Times New Roman"/>
                <a:ea typeface="Times New Roman"/>
                <a:cs typeface="Times New Roman"/>
              </a:defRPr>
            </a:defPPr>
          </a:lstStyle>
          <a:p xmlns:a="http://schemas.openxmlformats.org/drawingml/2006/main">
            <a:pPr algn="ct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Later position</a:t>
            </a:r>
          </a:p>
        </p:txBody>
      </p:sp>
      <p:sp>
        <p:nvSpPr>
          <p:cNvPr id="15" name="Rectangle 14">
            <a:extLst xmlns:a="http://schemas.openxmlformats.org/drawingml/2006/main">
              <a:ext uri="{FF2B5EF4-FFF2-40B4-BE49-F238E27FC236}">
                <a16:creationId xmlns:a16="http://schemas.microsoft.com/office/drawing/2014/main" id="{44E89158-6FEE-4279-A678-86EC80971E97}"/>
              </a:ext>
            </a:extLst>
          </p:cNvPr>
          <p:cNvSpPr>
            <a:spLocks xmlns:a="http://schemas.openxmlformats.org/drawingml/2006/main" noGrp="1"/>
          </p:cNvSpPr>
          <p:nvPr/>
        </p:nvSpPr>
        <p:spPr>
          <a:xfrm xmlns:a="http://schemas.openxmlformats.org/drawingml/2006/main">
            <a:off x="457200" y="375285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6" name="Rectangle 15">
            <a:extLst xmlns:a="http://schemas.openxmlformats.org/drawingml/2006/main">
              <a:ext uri="{FF2B5EF4-FFF2-40B4-BE49-F238E27FC236}">
                <a16:creationId xmlns:a16="http://schemas.microsoft.com/office/drawing/2014/main" id="{F5D70699-BAD5-4E1D-B932-83872919EF0A}"/>
              </a:ext>
            </a:extLst>
          </p:cNvPr>
          <p:cNvSpPr>
            <a:spLocks xmlns:a="http://schemas.openxmlformats.org/drawingml/2006/main" noGrp="1"/>
          </p:cNvSpPr>
          <p:nvPr/>
        </p:nvSpPr>
        <p:spPr>
          <a:xfrm xmlns:a="http://schemas.openxmlformats.org/drawingml/2006/main">
            <a:off x="457200" y="426720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E4800A52-7A43-4EE3-BFDE-4345E3917BBC}"/>
              </a:ext>
            </a:extLst>
          </p:cNvPr>
          <p:cNvSpPr>
            <a:spLocks xmlns:a="http://schemas.openxmlformats.org/drawingml/2006/main" noGrp="1"/>
          </p:cNvSpPr>
          <p:nvPr/>
        </p:nvSpPr>
        <p:spPr>
          <a:xfrm xmlns:a="http://schemas.openxmlformats.org/drawingml/2006/main">
            <a:off x="55245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Oval 17">
            <a:extLst xmlns:a="http://schemas.openxmlformats.org/drawingml/2006/main">
              <a:ext uri="{FF2B5EF4-FFF2-40B4-BE49-F238E27FC236}">
                <a16:creationId xmlns:a16="http://schemas.microsoft.com/office/drawing/2014/main" id="{62A308A1-DACE-4383-9C9F-56EC1ABE876B}"/>
              </a:ext>
            </a:extLst>
          </p:cNvPr>
          <p:cNvSpPr>
            <a:spLocks xmlns:a="http://schemas.openxmlformats.org/drawingml/2006/main" noGrp="1"/>
          </p:cNvSpPr>
          <p:nvPr/>
        </p:nvSpPr>
        <p:spPr>
          <a:xfrm xmlns:a="http://schemas.openxmlformats.org/drawingml/2006/main">
            <a:off x="89535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Oval 18">
            <a:extLst xmlns:a="http://schemas.openxmlformats.org/drawingml/2006/main">
              <a:ext uri="{FF2B5EF4-FFF2-40B4-BE49-F238E27FC236}">
                <a16:creationId xmlns:a16="http://schemas.microsoft.com/office/drawing/2014/main" id="{F532BC2B-393A-4988-9DB6-D5C1679E5992}"/>
              </a:ext>
            </a:extLst>
          </p:cNvPr>
          <p:cNvSpPr>
            <a:spLocks xmlns:a="http://schemas.openxmlformats.org/drawingml/2006/main" noGrp="1"/>
          </p:cNvSpPr>
          <p:nvPr/>
        </p:nvSpPr>
        <p:spPr>
          <a:xfrm xmlns:a="http://schemas.openxmlformats.org/drawingml/2006/main">
            <a:off x="1333500" y="3895725"/>
            <a:ext cx="228600" cy="2286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Oval 19">
            <a:extLst xmlns:a="http://schemas.openxmlformats.org/drawingml/2006/main">
              <a:ext uri="{FF2B5EF4-FFF2-40B4-BE49-F238E27FC236}">
                <a16:creationId xmlns:a16="http://schemas.microsoft.com/office/drawing/2014/main" id="{3969F120-CB61-4C0C-BD8B-DA3147A0F5B3}"/>
              </a:ext>
            </a:extLst>
          </p:cNvPr>
          <p:cNvSpPr>
            <a:spLocks xmlns:a="http://schemas.openxmlformats.org/drawingml/2006/main" noGrp="1"/>
          </p:cNvSpPr>
          <p:nvPr/>
        </p:nvSpPr>
        <p:spPr>
          <a:xfrm xmlns:a="http://schemas.openxmlformats.org/drawingml/2006/main">
            <a:off x="1628775"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Oval 20">
            <a:extLst xmlns:a="http://schemas.openxmlformats.org/drawingml/2006/main">
              <a:ext uri="{FF2B5EF4-FFF2-40B4-BE49-F238E27FC236}">
                <a16:creationId xmlns:a16="http://schemas.microsoft.com/office/drawing/2014/main" id="{A4C9A583-94F0-4BA9-A1F1-75C831BF51D7}"/>
              </a:ext>
            </a:extLst>
          </p:cNvPr>
          <p:cNvSpPr>
            <a:spLocks xmlns:a="http://schemas.openxmlformats.org/drawingml/2006/main" noGrp="1"/>
          </p:cNvSpPr>
          <p:nvPr/>
        </p:nvSpPr>
        <p:spPr>
          <a:xfrm xmlns:a="http://schemas.openxmlformats.org/drawingml/2006/main">
            <a:off x="2066925"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Oval 21">
            <a:extLst xmlns:a="http://schemas.openxmlformats.org/drawingml/2006/main">
              <a:ext uri="{FF2B5EF4-FFF2-40B4-BE49-F238E27FC236}">
                <a16:creationId xmlns:a16="http://schemas.microsoft.com/office/drawing/2014/main" id="{58B0A4D4-3ED5-482F-8869-E22CB5184AB7}"/>
              </a:ext>
            </a:extLst>
          </p:cNvPr>
          <p:cNvSpPr>
            <a:spLocks xmlns:a="http://schemas.openxmlformats.org/drawingml/2006/main" noGrp="1"/>
          </p:cNvSpPr>
          <p:nvPr/>
        </p:nvSpPr>
        <p:spPr>
          <a:xfrm xmlns:a="http://schemas.openxmlformats.org/drawingml/2006/main">
            <a:off x="240030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6BBAA5C2-F6E8-401D-A2D4-FF1AE8E4C308}"/>
              </a:ext>
            </a:extLst>
          </p:cNvPr>
          <p:cNvSpPr>
            <a:spLocks xmlns:a="http://schemas.openxmlformats.org/drawingml/2006/main" noGrp="1"/>
          </p:cNvSpPr>
          <p:nvPr/>
        </p:nvSpPr>
        <p:spPr>
          <a:xfrm xmlns:a="http://schemas.openxmlformats.org/drawingml/2006/main">
            <a:off x="3619500" y="375285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4" name="Rectangle 23">
            <a:extLst xmlns:a="http://schemas.openxmlformats.org/drawingml/2006/main">
              <a:ext uri="{FF2B5EF4-FFF2-40B4-BE49-F238E27FC236}">
                <a16:creationId xmlns:a16="http://schemas.microsoft.com/office/drawing/2014/main" id="{D413A0C3-BBFC-414E-B042-F4DB66E7B045}"/>
              </a:ext>
            </a:extLst>
          </p:cNvPr>
          <p:cNvSpPr>
            <a:spLocks xmlns:a="http://schemas.openxmlformats.org/drawingml/2006/main" noGrp="1"/>
          </p:cNvSpPr>
          <p:nvPr/>
        </p:nvSpPr>
        <p:spPr>
          <a:xfrm xmlns:a="http://schemas.openxmlformats.org/drawingml/2006/main">
            <a:off x="3619500" y="426720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5" name="Oval 24">
            <a:extLst xmlns:a="http://schemas.openxmlformats.org/drawingml/2006/main">
              <a:ext uri="{FF2B5EF4-FFF2-40B4-BE49-F238E27FC236}">
                <a16:creationId xmlns:a16="http://schemas.microsoft.com/office/drawing/2014/main" id="{5DDBCCB3-6174-452E-8287-941151DEF8D4}"/>
              </a:ext>
            </a:extLst>
          </p:cNvPr>
          <p:cNvSpPr>
            <a:spLocks xmlns:a="http://schemas.openxmlformats.org/drawingml/2006/main" noGrp="1"/>
          </p:cNvSpPr>
          <p:nvPr/>
        </p:nvSpPr>
        <p:spPr>
          <a:xfrm xmlns:a="http://schemas.openxmlformats.org/drawingml/2006/main">
            <a:off x="367665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Oval 25">
            <a:extLst xmlns:a="http://schemas.openxmlformats.org/drawingml/2006/main">
              <a:ext uri="{FF2B5EF4-FFF2-40B4-BE49-F238E27FC236}">
                <a16:creationId xmlns:a16="http://schemas.microsoft.com/office/drawing/2014/main" id="{D83C408D-2753-4A93-B04E-B4BCB093519E}"/>
              </a:ext>
            </a:extLst>
          </p:cNvPr>
          <p:cNvSpPr>
            <a:spLocks xmlns:a="http://schemas.openxmlformats.org/drawingml/2006/main" noGrp="1"/>
          </p:cNvSpPr>
          <p:nvPr/>
        </p:nvSpPr>
        <p:spPr>
          <a:xfrm xmlns:a="http://schemas.openxmlformats.org/drawingml/2006/main">
            <a:off x="3952875"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Oval 26">
            <a:extLst xmlns:a="http://schemas.openxmlformats.org/drawingml/2006/main">
              <a:ext uri="{FF2B5EF4-FFF2-40B4-BE49-F238E27FC236}">
                <a16:creationId xmlns:a16="http://schemas.microsoft.com/office/drawing/2014/main" id="{7E6E7AB3-854B-47DB-9A00-122279DD0A40}"/>
              </a:ext>
            </a:extLst>
          </p:cNvPr>
          <p:cNvSpPr>
            <a:spLocks xmlns:a="http://schemas.openxmlformats.org/drawingml/2006/main" noGrp="1"/>
          </p:cNvSpPr>
          <p:nvPr/>
        </p:nvSpPr>
        <p:spPr>
          <a:xfrm xmlns:a="http://schemas.openxmlformats.org/drawingml/2006/main">
            <a:off x="4676775" y="3895725"/>
            <a:ext cx="228600" cy="2286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Oval 27">
            <a:extLst xmlns:a="http://schemas.openxmlformats.org/drawingml/2006/main">
              <a:ext uri="{FF2B5EF4-FFF2-40B4-BE49-F238E27FC236}">
                <a16:creationId xmlns:a16="http://schemas.microsoft.com/office/drawing/2014/main" id="{7C7A7103-E5BA-4F0E-AE18-5C2D9622CBA5}"/>
              </a:ext>
            </a:extLst>
          </p:cNvPr>
          <p:cNvSpPr>
            <a:spLocks xmlns:a="http://schemas.openxmlformats.org/drawingml/2006/main" noGrp="1"/>
          </p:cNvSpPr>
          <p:nvPr/>
        </p:nvSpPr>
        <p:spPr>
          <a:xfrm xmlns:a="http://schemas.openxmlformats.org/drawingml/2006/main">
            <a:off x="495300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Oval 28">
            <a:extLst xmlns:a="http://schemas.openxmlformats.org/drawingml/2006/main">
              <a:ext uri="{FF2B5EF4-FFF2-40B4-BE49-F238E27FC236}">
                <a16:creationId xmlns:a16="http://schemas.microsoft.com/office/drawing/2014/main" id="{33DE8FFE-2024-4BA3-8ED3-293C46275BDE}"/>
              </a:ext>
            </a:extLst>
          </p:cNvPr>
          <p:cNvSpPr>
            <a:spLocks xmlns:a="http://schemas.openxmlformats.org/drawingml/2006/main" noGrp="1"/>
          </p:cNvSpPr>
          <p:nvPr/>
        </p:nvSpPr>
        <p:spPr>
          <a:xfrm xmlns:a="http://schemas.openxmlformats.org/drawingml/2006/main">
            <a:off x="5267325"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Oval 29">
            <a:extLst xmlns:a="http://schemas.openxmlformats.org/drawingml/2006/main">
              <a:ext uri="{FF2B5EF4-FFF2-40B4-BE49-F238E27FC236}">
                <a16:creationId xmlns:a16="http://schemas.microsoft.com/office/drawing/2014/main" id="{92D95110-4FA3-45BD-A738-3F39256E8B6A}"/>
              </a:ext>
            </a:extLst>
          </p:cNvPr>
          <p:cNvSpPr>
            <a:spLocks xmlns:a="http://schemas.openxmlformats.org/drawingml/2006/main" noGrp="1"/>
          </p:cNvSpPr>
          <p:nvPr/>
        </p:nvSpPr>
        <p:spPr>
          <a:xfrm xmlns:a="http://schemas.openxmlformats.org/drawingml/2006/main">
            <a:off x="560070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Left-Right Arrow 30">
            <a:extLst xmlns:a="http://schemas.openxmlformats.org/drawingml/2006/main">
              <a:ext uri="{FF2B5EF4-FFF2-40B4-BE49-F238E27FC236}">
                <a16:creationId xmlns:a16="http://schemas.microsoft.com/office/drawing/2014/main" id="{084A0D89-582D-44C4-98B7-B310C73D2595}"/>
              </a:ext>
            </a:extLst>
          </p:cNvPr>
          <p:cNvSpPr>
            <a:spLocks xmlns:a="http://schemas.openxmlformats.org/drawingml/2006/main" noGrp="1"/>
          </p:cNvSpPr>
          <p:nvPr/>
        </p:nvSpPr>
        <p:spPr>
          <a:xfrm xmlns:a="http://schemas.openxmlformats.org/drawingml/2006/main">
            <a:off x="2905125" y="3914775"/>
            <a:ext cx="571500" cy="190500"/>
          </a:xfrm>
          <a:prstGeom xmlns:a="http://schemas.openxmlformats.org/drawingml/2006/main" prst="leftRightArrow">
            <a:avLst/>
          </a:prstGeom>
          <a:solidFill xmlns:a="http://schemas.openxmlformats.org/drawingml/2006/main">
            <a:srgbClr val="A5002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2" name="Rectangle 31">
            <a:extLst xmlns:a="http://schemas.openxmlformats.org/drawingml/2006/main">
              <a:ext uri="{FF2B5EF4-FFF2-40B4-BE49-F238E27FC236}">
                <a16:creationId xmlns:a16="http://schemas.microsoft.com/office/drawing/2014/main" id="{80CFA7B7-556A-4AFA-A558-012B8CF83F09}"/>
              </a:ext>
            </a:extLst>
          </p:cNvPr>
          <p:cNvSpPr>
            <a:spLocks xmlns:a="http://schemas.openxmlformats.org/drawingml/2006/main" noGrp="1"/>
          </p:cNvSpPr>
          <p:nvPr/>
        </p:nvSpPr>
        <p:spPr>
          <a:xfrm xmlns:a="http://schemas.openxmlformats.org/drawingml/2006/main">
            <a:off x="457200" y="4476750"/>
            <a:ext cx="5467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800" b="0">
                <a:solidFill>
                  <a:srgbClr val="444444"/>
                </a:solidFill>
                <a:latin typeface="Times New Roman"/>
                <a:ea typeface="Times New Roman"/>
                <a:cs typeface="Times New Roman"/>
              </a:defRPr>
            </a:defPPr>
          </a:lstStyle>
          <a:p xmlns:a="http://schemas.openxmlformats.org/drawingml/2006/main">
            <a:pPr algn="ct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Same bead in one run</a:t>
            </a:r>
          </a:p>
        </p:txBody>
      </p:sp>
      <p:sp>
        <p:nvSpPr>
          <p:cNvPr id="33" name="Rectangle 32">
            <a:extLst xmlns:a="http://schemas.openxmlformats.org/drawingml/2006/main">
              <a:ext uri="{FF2B5EF4-FFF2-40B4-BE49-F238E27FC236}">
                <a16:creationId xmlns:a16="http://schemas.microsoft.com/office/drawing/2014/main" id="{737B63CA-D7D2-4215-912C-850F09E9709B}"/>
              </a:ext>
            </a:extLst>
          </p:cNvPr>
          <p:cNvSpPr>
            <a:spLocks xmlns:a="http://schemas.openxmlformats.org/drawingml/2006/main" noGrp="1"/>
          </p:cNvSpPr>
          <p:nvPr/>
        </p:nvSpPr>
        <p:spPr>
          <a:xfrm xmlns:a="http://schemas.openxmlformats.org/drawingml/2006/main">
            <a:off x="457200" y="4886325"/>
            <a:ext cx="5467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2175" b="1">
                <a:solidFill>
                  <a:srgbClr val="A50026"/>
                </a:solidFill>
                <a:latin typeface="Times New Roman"/>
                <a:ea typeface="Times New Roman"/>
                <a:cs typeface="Times New Roman"/>
              </a:defRPr>
            </a:defPPr>
          </a:lstStyle>
          <a:p xmlns:a="http://schemas.openxmlformats.org/drawingml/2006/main">
            <a:pPr algn="ctr">
              <a:buNone/>
              <a:defRPr sz="2175" b="1">
                <a:solidFill>
                  <a:srgbClr val="A50026"/>
                </a:solidFill>
                <a:latin typeface="Times New Roman"/>
                <a:ea typeface="Times New Roman"/>
                <a:cs typeface="Times New Roman"/>
              </a:defRPr>
            </a:pPr>
            <a:r>
              <a:rPr sz="2175" b="1">
                <a:solidFill>
                  <a:srgbClr val="A50026"/>
                </a:solidFill>
                <a:latin typeface="Times New Roman"/>
                <a:ea typeface="Times New Roman"/>
                <a:cs typeface="Times New Roman"/>
              </a:rPr>
              <a:t>The agent overestimates the covariance</a:t>
            </a:r>
          </a:p>
        </p:txBody>
      </p:sp>
      <p:sp>
        <p:nvSpPr>
          <p:cNvPr id="34" name="Rectangle 33">
            <a:extLst xmlns:a="http://schemas.openxmlformats.org/drawingml/2006/main">
              <a:ext uri="{FF2B5EF4-FFF2-40B4-BE49-F238E27FC236}">
                <a16:creationId xmlns:a16="http://schemas.microsoft.com/office/drawing/2014/main" id="{9506109F-601E-49E5-BD20-77D45C23A0A6}"/>
              </a:ext>
            </a:extLst>
          </p:cNvPr>
          <p:cNvSpPr>
            <a:spLocks xmlns:a="http://schemas.openxmlformats.org/drawingml/2006/main" noGrp="1"/>
          </p:cNvSpPr>
          <p:nvPr/>
        </p:nvSpPr>
        <p:spPr>
          <a:xfrm xmlns:a="http://schemas.openxmlformats.org/drawingml/2006/main">
            <a:off x="6610350" y="1628775"/>
            <a:ext cx="5124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1">
                <a:solidFill>
                  <a:srgbClr val="0F766E"/>
                </a:solidFill>
                <a:latin typeface="Times New Roman"/>
                <a:ea typeface="Times New Roman"/>
                <a:cs typeface="Times New Roman"/>
              </a:defRPr>
            </a:defPPr>
          </a:lstStyle>
          <a:p xmlns:a="http://schemas.openxmlformats.org/drawingml/2006/main">
            <a:pPr algn="l">
              <a:buNone/>
              <a:defRPr sz="2325" b="1">
                <a:solidFill>
                  <a:srgbClr val="0F766E"/>
                </a:solidFill>
                <a:latin typeface="Times New Roman"/>
                <a:ea typeface="Times New Roman"/>
                <a:cs typeface="Times New Roman"/>
              </a:defRPr>
            </a:pPr>
            <a:r>
              <a:rPr sz="2325" b="1">
                <a:solidFill>
                  <a:srgbClr val="0F766E"/>
                </a:solidFill>
                <a:latin typeface="Times New Roman"/>
                <a:ea typeface="Times New Roman"/>
                <a:cs typeface="Times New Roman"/>
              </a:rPr>
              <a:t>Fits the measured motion</a:t>
            </a:r>
          </a:p>
        </p:txBody>
      </p:sp>
      <p:sp>
        <p:nvSpPr>
          <p:cNvPr id="35" name="Rectangle 34">
            <a:extLst xmlns:a="http://schemas.openxmlformats.org/drawingml/2006/main">
              <a:ext uri="{FF2B5EF4-FFF2-40B4-BE49-F238E27FC236}">
                <a16:creationId xmlns:a16="http://schemas.microsoft.com/office/drawing/2014/main" id="{941F02D7-5787-45E1-8F90-17FA1B625712}"/>
              </a:ext>
            </a:extLst>
          </p:cNvPr>
          <p:cNvSpPr>
            <a:spLocks xmlns:a="http://schemas.openxmlformats.org/drawingml/2006/main" noGrp="1"/>
          </p:cNvSpPr>
          <p:nvPr/>
        </p:nvSpPr>
        <p:spPr>
          <a:xfrm xmlns:a="http://schemas.openxmlformats.org/drawingml/2006/main">
            <a:off x="6610350" y="2143125"/>
            <a:ext cx="5124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11111"/>
                </a:solidFill>
                <a:latin typeface="Times New Roman"/>
                <a:ea typeface="Times New Roman"/>
                <a:cs typeface="Times New Roman"/>
              </a:defRPr>
            </a:defPPr>
          </a:lstStyle>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Adjusts how far the bead wanders</a:t>
            </a:r>
          </a:p>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at each observation time.</a:t>
            </a:r>
          </a:p>
        </p:txBody>
      </p:sp>
      <p:sp>
        <p:nvSpPr>
          <p:cNvPr id="36" name="Rectangle 35">
            <a:extLst xmlns:a="http://schemas.openxmlformats.org/drawingml/2006/main">
              <a:ext uri="{FF2B5EF4-FFF2-40B4-BE49-F238E27FC236}">
                <a16:creationId xmlns:a16="http://schemas.microsoft.com/office/drawing/2014/main" id="{BB95EC0A-29BC-48DF-8D71-281CA0886E16}"/>
              </a:ext>
            </a:extLst>
          </p:cNvPr>
          <p:cNvSpPr>
            <a:spLocks xmlns:a="http://schemas.openxmlformats.org/drawingml/2006/main" noGrp="1"/>
          </p:cNvSpPr>
          <p:nvPr/>
        </p:nvSpPr>
        <p:spPr>
          <a:xfrm xmlns:a="http://schemas.openxmlformats.org/drawingml/2006/main">
            <a:off x="6610350" y="3286125"/>
            <a:ext cx="5124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A50026"/>
                </a:solidFill>
                <a:latin typeface="Times New Roman"/>
                <a:ea typeface="Times New Roman"/>
                <a:cs typeface="Times New Roman"/>
              </a:defRPr>
            </a:defPPr>
          </a:lstStyle>
          <a:p xmlns:a="http://schemas.openxmlformats.org/drawingml/2006/main">
            <a:pPr algn="l">
              <a:buNone/>
              <a:defRPr sz="2250" b="1">
                <a:solidFill>
                  <a:srgbClr val="A50026"/>
                </a:solidFill>
                <a:latin typeface="Times New Roman"/>
                <a:ea typeface="Times New Roman"/>
                <a:cs typeface="Times New Roman"/>
              </a:defRPr>
            </a:pPr>
            <a:r>
              <a:rPr sz="2250" b="1">
                <a:solidFill>
                  <a:srgbClr val="A50026"/>
                </a:solidFill>
                <a:latin typeface="Times New Roman"/>
                <a:ea typeface="Times New Roman"/>
                <a:cs typeface="Times New Roman"/>
              </a:rPr>
              <a:t>Misses the effect of the starting row</a:t>
            </a:r>
          </a:p>
        </p:txBody>
      </p:sp>
      <p:sp>
        <p:nvSpPr>
          <p:cNvPr id="37" name="Rectangle 36">
            <a:extLst xmlns:a="http://schemas.openxmlformats.org/drawingml/2006/main">
              <a:ext uri="{FF2B5EF4-FFF2-40B4-BE49-F238E27FC236}">
                <a16:creationId xmlns:a16="http://schemas.microsoft.com/office/drawing/2014/main" id="{EC6D5905-D6B4-4632-95EA-E52D9EB81E11}"/>
              </a:ext>
            </a:extLst>
          </p:cNvPr>
          <p:cNvSpPr>
            <a:spLocks xmlns:a="http://schemas.openxmlformats.org/drawingml/2006/main" noGrp="1"/>
          </p:cNvSpPr>
          <p:nvPr/>
        </p:nvSpPr>
        <p:spPr>
          <a:xfrm xmlns:a="http://schemas.openxmlformats.org/drawingml/2006/main">
            <a:off x="6610350" y="3819525"/>
            <a:ext cx="51244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11111"/>
                </a:solidFill>
                <a:latin typeface="Times New Roman"/>
                <a:ea typeface="Times New Roman"/>
                <a:cs typeface="Times New Roman"/>
              </a:defRPr>
            </a:defPPr>
          </a:lstStyle>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Keeps the starter’s correlation formula.</a:t>
            </a:r>
          </a:p>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It misses the effect of the initial spacing,</a:t>
            </a:r>
          </a:p>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so the covariance is too large.</a:t>
            </a:r>
          </a:p>
        </p:txBody>
      </p:sp>
      <p:sp>
        <p:nvSpPr>
          <p:cNvPr id="38" name="Rectangle 37">
            <a:extLst xmlns:a="http://schemas.openxmlformats.org/drawingml/2006/main">
              <a:ext uri="{FF2B5EF4-FFF2-40B4-BE49-F238E27FC236}">
                <a16:creationId xmlns:a16="http://schemas.microsoft.com/office/drawing/2014/main" id="{B430F3E2-3BE0-4DA7-AFF9-D384305F98EB}"/>
              </a:ext>
            </a:extLst>
          </p:cNvPr>
          <p:cNvSpPr>
            <a:spLocks xmlns:a="http://schemas.openxmlformats.org/drawingml/2006/main" noGrp="1"/>
          </p:cNvSpPr>
          <p:nvPr/>
        </p:nvSpPr>
        <p:spPr>
          <a:xfrm xmlns:a="http://schemas.openxmlformats.org/drawingml/2006/main">
            <a:off x="457200" y="5476875"/>
            <a:ext cx="11277600" cy="12383"/>
          </a:xfrm>
          <a:prstGeom xmlns:a="http://schemas.openxmlformats.org/drawingml/2006/main" prst="rect">
            <a:avLst/>
          </a:prstGeom>
          <a:solidFill xmlns:a="http://schemas.openxmlformats.org/drawingml/2006/main">
            <a:srgbClr val="D1D5D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9" name="Rectangle 38">
            <a:extLst xmlns:a="http://schemas.openxmlformats.org/drawingml/2006/main">
              <a:ext uri="{FF2B5EF4-FFF2-40B4-BE49-F238E27FC236}">
                <a16:creationId xmlns:a16="http://schemas.microsoft.com/office/drawing/2014/main" id="{66A75466-E52D-47F7-AC02-3EC78F3F82E0}"/>
              </a:ext>
            </a:extLst>
          </p:cNvPr>
          <p:cNvSpPr>
            <a:spLocks xmlns:a="http://schemas.openxmlformats.org/drawingml/2006/main" noGrp="1"/>
          </p:cNvSpPr>
          <p:nvPr/>
        </p:nvSpPr>
        <p:spPr>
          <a:xfrm xmlns:a="http://schemas.openxmlformats.org/drawingml/2006/main">
            <a:off x="457200" y="5675792"/>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1">
                <a:solidFill>
                  <a:srgbClr val="111111"/>
                </a:solidFill>
                <a:latin typeface="Times New Roman"/>
                <a:ea typeface="Times New Roman"/>
                <a:cs typeface="Times New Roman"/>
              </a:defRPr>
            </a:defPPr>
          </a:lstStyle>
          <a:p xmlns:a="http://schemas.openxmlformats.org/drawingml/2006/main">
            <a:pPr algn="l">
              <a:buNone/>
              <a:defRPr sz="2325" b="1">
                <a:solidFill>
                  <a:srgbClr val="111111"/>
                </a:solidFill>
                <a:latin typeface="Times New Roman"/>
                <a:ea typeface="Times New Roman"/>
                <a:cs typeface="Times New Roman"/>
              </a:defRPr>
            </a:pPr>
            <a:r>
              <a:rPr sz="2325" b="1">
                <a:solidFill>
                  <a:srgbClr val="111111"/>
                </a:solidFill>
                <a:latin typeface="Times New Roman"/>
                <a:ea typeface="Times New Roman"/>
                <a:cs typeface="Times New Roman"/>
              </a:rPr>
              <a:t>Fits the supplied data. Covariance errors reach 136% (allowed tolerance: 4%).</a:t>
            </a:r>
          </a:p>
        </p:txBody>
      </p:sp>
      <p:sp>
        <p:nvSpPr>
          <p:cNvPr id="41" name="Rectangle 40">
            <a:extLst xmlns:a="http://schemas.openxmlformats.org/drawingml/2006/main">
              <a:ext uri="{FF2B5EF4-FFF2-40B4-BE49-F238E27FC236}">
                <a16:creationId xmlns:a16="http://schemas.microsoft.com/office/drawing/2014/main" id="{72B33178-FBED-4B95-AC40-7C6C81162659}"/>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200" b="0">
                <a:solidFill>
                  <a:srgbClr val="777777"/>
                </a:solidFill>
                <a:latin typeface="Times New Roman"/>
                <a:ea typeface="Times New Roman"/>
                <a:cs typeface="Times New Roman"/>
              </a:defRPr>
            </a:defPPr>
          </a:lstStyle>
          <a:p xmlns:a="http://schemas.openxmlformats.org/drawingml/2006/main">
            <a:pPr algn="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10</a:t>
            </a:r>
          </a:p>
        </p:txBody>
      </p:sp>
    </p:spTree>
    <p:extLst>
      <p:ext uri="{BB962C8B-B14F-4D97-AF65-F5344CB8AC3E}">
        <p14:creationId xmlns:p14="http://schemas.microsoft.com/office/powerpoint/2010/main" val="78789864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10E50B44-48E6-416C-9860-3C03878314C7}"/>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Conclusions</a:t>
            </a:r>
          </a:p>
        </p:txBody>
      </p:sp>
      <p:sp>
        <p:nvSpPr>
          <p:cNvPr id="2" name="Rectangle 1">
            <a:extLst xmlns:a="http://schemas.openxmlformats.org/drawingml/2006/main">
              <a:ext uri="{FF2B5EF4-FFF2-40B4-BE49-F238E27FC236}">
                <a16:creationId xmlns:a16="http://schemas.microsoft.com/office/drawing/2014/main" id="{9AFB84F0-75DD-4F99-9444-0BF9DFCD2BEB}"/>
              </a:ext>
            </a:extLst>
          </p:cNvPr>
          <p:cNvSpPr>
            <a:spLocks xmlns:a="http://schemas.openxmlformats.org/drawingml/2006/main" noGrp="1"/>
          </p:cNvSpPr>
          <p:nvPr/>
        </p:nvSpPr>
        <p:spPr>
          <a:xfrm xmlns:a="http://schemas.openxmlformats.org/drawingml/2006/main">
            <a:off x="609600" y="16097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11111"/>
                </a:solidFill>
                <a:latin typeface="Times New Roman"/>
                <a:ea typeface="Times New Roman"/>
                <a:cs typeface="Times New Roman"/>
              </a:defRPr>
            </a:defPPr>
          </a:lstStyle>
          <a:p xmlns:a="http://schemas.openxmlformats.org/drawingml/2006/main">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Agents can fit observations and still miss the physics</a:t>
            </a:r>
          </a:p>
        </p:txBody>
      </p:sp>
      <p:sp>
        <p:nvSpPr>
          <p:cNvPr id="3" name="Rectangle 2">
            <a:extLst xmlns:a="http://schemas.openxmlformats.org/drawingml/2006/main">
              <a:ext uri="{FF2B5EF4-FFF2-40B4-BE49-F238E27FC236}">
                <a16:creationId xmlns:a16="http://schemas.microsoft.com/office/drawing/2014/main" id="{0B2C7386-EAD4-4C99-88E7-41B295B555FC}"/>
              </a:ext>
            </a:extLst>
          </p:cNvPr>
          <p:cNvSpPr>
            <a:spLocks xmlns:a="http://schemas.openxmlformats.org/drawingml/2006/main" noGrp="1"/>
          </p:cNvSpPr>
          <p:nvPr/>
        </p:nvSpPr>
        <p:spPr>
          <a:xfrm xmlns:a="http://schemas.openxmlformats.org/drawingml/2006/main">
            <a:off x="609600" y="2219325"/>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444444"/>
                </a:solidFill>
                <a:latin typeface="Times New Roman"/>
                <a:ea typeface="Times New Roman"/>
                <a:cs typeface="Times New Roman"/>
              </a:defRPr>
            </a:defPPr>
          </a:lstStyle>
          <a:p xmlns:a="http://schemas.openxmlformats.org/drawingml/2006/main">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The bead example fits the data but predicts the covariance incorrectly.</a:t>
            </a:r>
          </a:p>
        </p:txBody>
      </p:sp>
      <p:sp>
        <p:nvSpPr>
          <p:cNvPr id="4" name="Rectangle 3">
            <a:extLst xmlns:a="http://schemas.openxmlformats.org/drawingml/2006/main">
              <a:ext uri="{FF2B5EF4-FFF2-40B4-BE49-F238E27FC236}">
                <a16:creationId xmlns:a16="http://schemas.microsoft.com/office/drawing/2014/main" id="{6ACA5743-0522-4422-A526-56BBA71F09D6}"/>
              </a:ext>
            </a:extLst>
          </p:cNvPr>
          <p:cNvSpPr>
            <a:spLocks xmlns:a="http://schemas.openxmlformats.org/drawingml/2006/main" noGrp="1"/>
          </p:cNvSpPr>
          <p:nvPr/>
        </p:nvSpPr>
        <p:spPr>
          <a:xfrm xmlns:a="http://schemas.openxmlformats.org/drawingml/2006/main">
            <a:off x="609600" y="3257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11111"/>
                </a:solidFill>
                <a:latin typeface="Times New Roman"/>
                <a:ea typeface="Times New Roman"/>
                <a:cs typeface="Times New Roman"/>
              </a:defRPr>
            </a:defPPr>
          </a:lstStyle>
          <a:p xmlns:a="http://schemas.openxmlformats.org/drawingml/2006/main">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General and physics hints improve predictions</a:t>
            </a:r>
          </a:p>
        </p:txBody>
      </p:sp>
      <p:sp>
        <p:nvSpPr>
          <p:cNvPr id="5" name="Rectangle 4">
            <a:extLst xmlns:a="http://schemas.openxmlformats.org/drawingml/2006/main">
              <a:ext uri="{FF2B5EF4-FFF2-40B4-BE49-F238E27FC236}">
                <a16:creationId xmlns:a16="http://schemas.microsoft.com/office/drawing/2014/main" id="{2B6D1906-A7F2-4178-AA65-A670BAAA2EE4}"/>
              </a:ext>
            </a:extLst>
          </p:cNvPr>
          <p:cNvSpPr>
            <a:spLocks xmlns:a="http://schemas.openxmlformats.org/drawingml/2006/main" noGrp="1"/>
          </p:cNvSpPr>
          <p:nvPr/>
        </p:nvSpPr>
        <p:spPr>
          <a:xfrm xmlns:a="http://schemas.openxmlformats.org/drawingml/2006/main">
            <a:off x="609600" y="3867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444444"/>
                </a:solidFill>
                <a:latin typeface="Times New Roman"/>
                <a:ea typeface="Times New Roman"/>
                <a:cs typeface="Times New Roman"/>
              </a:defRPr>
            </a:defPPr>
          </a:lstStyle>
          <a:p xmlns:a="http://schemas.openxmlformats.org/drawingml/2006/main">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Luna High: 4/39 without hints, 18/39 with a general hint,</a:t>
            </a:r>
          </a:p>
          <a:p xmlns:a="http://schemas.openxmlformats.org/drawingml/2006/main">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and 30/39 with a physics hint.</a:t>
            </a:r>
          </a:p>
        </p:txBody>
      </p:sp>
      <p:sp>
        <p:nvSpPr>
          <p:cNvPr id="6" name="Rectangle 5">
            <a:extLst xmlns:a="http://schemas.openxmlformats.org/drawingml/2006/main">
              <a:ext uri="{FF2B5EF4-FFF2-40B4-BE49-F238E27FC236}">
                <a16:creationId xmlns:a16="http://schemas.microsoft.com/office/drawing/2014/main" id="{5D605833-9C79-493D-84E5-16F6E9A05EBF}"/>
              </a:ext>
            </a:extLst>
          </p:cNvPr>
          <p:cNvSpPr>
            <a:spLocks xmlns:a="http://schemas.openxmlformats.org/drawingml/2006/main" noGrp="1"/>
          </p:cNvSpPr>
          <p:nvPr/>
        </p:nvSpPr>
        <p:spPr>
          <a:xfrm xmlns:a="http://schemas.openxmlformats.org/drawingml/2006/main">
            <a:off x="609600" y="490537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11111"/>
                </a:solidFill>
                <a:latin typeface="Times New Roman"/>
                <a:ea typeface="Times New Roman"/>
                <a:cs typeface="Times New Roman"/>
              </a:defRPr>
            </a:defPPr>
          </a:lstStyle>
          <a:p xmlns:a="http://schemas.openxmlformats.org/drawingml/2006/main">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The gains suggest a gap in physical reasoning</a:t>
            </a:r>
          </a:p>
        </p:txBody>
      </p:sp>
      <p:sp>
        <p:nvSpPr>
          <p:cNvPr id="7" name="Rectangle 6">
            <a:extLst xmlns:a="http://schemas.openxmlformats.org/drawingml/2006/main">
              <a:ext uri="{FF2B5EF4-FFF2-40B4-BE49-F238E27FC236}">
                <a16:creationId xmlns:a16="http://schemas.microsoft.com/office/drawing/2014/main" id="{4FB740C6-2A78-43B4-94E0-F1DA4CC2609E}"/>
              </a:ext>
            </a:extLst>
          </p:cNvPr>
          <p:cNvSpPr>
            <a:spLocks xmlns:a="http://schemas.openxmlformats.org/drawingml/2006/main" noGrp="1"/>
          </p:cNvSpPr>
          <p:nvPr/>
        </p:nvSpPr>
        <p:spPr>
          <a:xfrm xmlns:a="http://schemas.openxmlformats.org/drawingml/2006/main">
            <a:off x="609600" y="5514975"/>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444444"/>
                </a:solidFill>
                <a:latin typeface="Times New Roman"/>
                <a:ea typeface="Times New Roman"/>
                <a:cs typeface="Times New Roman"/>
              </a:defRPr>
            </a:defPPr>
          </a:lstStyle>
          <a:p xmlns:a="http://schemas.openxmlformats.org/drawingml/2006/main">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Agents often need guidance to identify and use relevant physics.</a:t>
            </a:r>
          </a:p>
        </p:txBody>
      </p:sp>
      <p:sp>
        <p:nvSpPr>
          <p:cNvPr id="10" name="Rectangle 9">
            <a:extLst xmlns:a="http://schemas.openxmlformats.org/drawingml/2006/main">
              <a:ext uri="{FF2B5EF4-FFF2-40B4-BE49-F238E27FC236}">
                <a16:creationId xmlns:a16="http://schemas.microsoft.com/office/drawing/2014/main" id="{CE164575-2928-4D3E-956F-8803F36A47D9}"/>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11</a:t>
            </a:r>
          </a:p>
        </p:txBody>
      </p:sp>
    </p:spTree>
    <p:extLst>
      <p:ext uri="{BB962C8B-B14F-4D97-AF65-F5344CB8AC3E}">
        <p14:creationId xmlns:p14="http://schemas.microsoft.com/office/powerpoint/2010/main" val="549842823"/>
      </p:ext>
    </p:extLst>
  </p:cSld>
</p:sld>
</file>

<file path=ppt/slides/slide12.xml><?xml version="1.0" encoding="utf-8"?>
<p:sld xmlns:p="http://schemas.openxmlformats.org/presentationml/2006/main">
  <p:cSld>
    <p:bg>
      <p:bgPr>
        <a:solidFill xmlns:a="http://schemas.openxmlformats.org/drawingml/2006/main">
          <a:srgbClr val="0B0B0F"/>
        </a:solidFill>
      </p:bgPr>
    </p:bg>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29447901-9249-469C-A67F-257239997CC0}"/>
              </a:ext>
            </a:extLst>
          </p:cNvPr>
          <p:cNvSpPr>
            <a:spLocks xmlns:a="http://schemas.openxmlformats.org/drawingml/2006/main" noGrp="1"/>
          </p:cNvSpPr>
          <p:nvPr/>
        </p:nvSpPr>
        <p:spPr>
          <a:xfrm xmlns:a="http://schemas.openxmlformats.org/drawingml/2006/main">
            <a:off x="609600" y="23336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700" b="1" i="0">
                <a:solidFill>
                  <a:srgbClr val="FFFFFF"/>
                </a:solidFill>
                <a:latin typeface="Times New Roman"/>
                <a:ea typeface="Times New Roman"/>
                <a:cs typeface="Times New Roman"/>
              </a:defRPr>
            </a:defPPr>
          </a:lstStyle>
          <a:p xmlns:a="http://schemas.openxmlformats.org/drawingml/2006/main">
            <a:pPr algn="l">
              <a:buNone/>
              <a:defRPr sz="5700" b="1" i="0">
                <a:solidFill>
                  <a:srgbClr val="FFFFFF"/>
                </a:solidFill>
                <a:latin typeface="Times New Roman"/>
                <a:ea typeface="Times New Roman"/>
                <a:cs typeface="Times New Roman"/>
              </a:defRPr>
            </a:pPr>
            <a:r>
              <a:rPr sz="5700" b="1" i="0">
                <a:solidFill>
                  <a:srgbClr val="FFFFFF"/>
                </a:solidFill>
                <a:latin typeface="Times New Roman"/>
                <a:ea typeface="Times New Roman"/>
                <a:cs typeface="Times New Roman"/>
              </a:rPr>
              <a:t>Questions</a:t>
            </a:r>
          </a:p>
        </p:txBody>
      </p:sp>
      <p:sp>
        <p:nvSpPr>
          <p:cNvPr id="2" name="Rectangle 1">
            <a:extLst xmlns:a="http://schemas.openxmlformats.org/drawingml/2006/main">
              <a:ext uri="{FF2B5EF4-FFF2-40B4-BE49-F238E27FC236}">
                <a16:creationId xmlns:a16="http://schemas.microsoft.com/office/drawing/2014/main" id="{2AE705A4-0FC6-405B-B3A2-4281C7C3DE5F}"/>
              </a:ext>
            </a:extLst>
          </p:cNvPr>
          <p:cNvSpPr>
            <a:spLocks xmlns:a="http://schemas.openxmlformats.org/drawingml/2006/main" noGrp="1"/>
          </p:cNvSpPr>
          <p:nvPr/>
        </p:nvSpPr>
        <p:spPr>
          <a:xfrm xmlns:a="http://schemas.openxmlformats.org/drawingml/2006/main">
            <a:off x="609600" y="3667125"/>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00" b="0" i="0">
                <a:solidFill>
                  <a:srgbClr val="D1D5DB"/>
                </a:solidFill>
                <a:latin typeface="Times New Roman"/>
                <a:ea typeface="Times New Roman"/>
                <a:cs typeface="Times New Roman"/>
              </a:defRPr>
            </a:defPPr>
          </a:lstStyle>
          <a:p xmlns:a="http://schemas.openxmlformats.org/drawingml/2006/main">
            <a:pPr algn="l">
              <a:buNone/>
              <a:defRPr sz="2400" b="0" i="0">
                <a:solidFill>
                  <a:srgbClr val="D1D5DB"/>
                </a:solidFill>
                <a:latin typeface="Times New Roman"/>
                <a:ea typeface="Times New Roman"/>
                <a:cs typeface="Times New Roman"/>
              </a:defRPr>
            </a:pPr>
            <a:r>
              <a:rPr sz="2400" b="0" i="0">
                <a:solidFill>
                  <a:srgbClr val="D1D5DB"/>
                </a:solidFill>
                <a:latin typeface="Times New Roman"/>
                <a:ea typeface="Times New Roman"/>
                <a:cs typeface="Times New Roman"/>
              </a:rPr>
              <a:t>3 minutes</a:t>
            </a:r>
          </a:p>
        </p:txBody>
      </p:sp>
    </p:spTree>
    <p:extLst>
      <p:ext uri="{BB962C8B-B14F-4D97-AF65-F5344CB8AC3E}">
        <p14:creationId xmlns:p14="http://schemas.microsoft.com/office/powerpoint/2010/main" val="4715999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8C4B44AF-C39B-480E-8294-BE118959A9F4}"/>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no-hint results by model and effort</a:t>
            </a:r>
          </a:p>
        </p:txBody>
      </p:sp>
      <p:sp>
        <p:nvSpPr>
          <p:cNvPr id="2" name="Rectangle 1">
            <a:extLst xmlns:a="http://schemas.openxmlformats.org/drawingml/2006/main">
              <a:ext uri="{FF2B5EF4-FFF2-40B4-BE49-F238E27FC236}">
                <a16:creationId xmlns:a16="http://schemas.microsoft.com/office/drawing/2014/main" id="{3A8418D7-28B2-48E6-8C97-350F2EC2D7A5}"/>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Completed passes / attempts. Errors are retained. Mean cost is shown only when complete.</a:t>
            </a:r>
          </a:p>
        </p:txBody>
      </p:sp>
      <p:sp>
        <p:nvSpPr>
          <p:cNvPr id="3" name="Rectangle 2">
            <a:extLst xmlns:a="http://schemas.openxmlformats.org/drawingml/2006/main">
              <a:ext uri="{FF2B5EF4-FFF2-40B4-BE49-F238E27FC236}">
                <a16:creationId xmlns:a16="http://schemas.microsoft.com/office/drawing/2014/main" id="{1B56C1CF-C64F-4769-A5BE-C66C3A2DADCD}"/>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13</a:t>
            </a:r>
          </a:p>
        </p:txBody>
      </p:sp>
      <p:graphicFrame>
        <p:nvGraphicFramePr>
          <p:cNvPr id="4" name="Table 3">
            <a:extLst xmlns:a="http://schemas.openxmlformats.org/drawingml/2006/main">
              <a:ext uri="{FF2B5EF4-FFF2-40B4-BE49-F238E27FC236}">
                <a16:creationId xmlns:a16="http://schemas.microsoft.com/office/drawing/2014/main" id="{2F7C743B-A168-4871-98DE-66AE03861627}"/>
              </a:ext>
            </a:extLst>
          </p:cNvPr>
          <p:cNvGraphicFramePr/>
          <p:nvPr/>
        </p:nvGraphicFramePr>
        <p:xfrm>
          <a:off xmlns:a="http://schemas.openxmlformats.org/drawingml/2006/main" x="457200" y="1533525"/>
          <a:ext xmlns:a="http://schemas.openxmlformats.org/drawingml/2006/main" cx="5524500" cy="4210050"/>
        </p:xfrm>
        <a:graphic xmlns:a="http://schemas.openxmlformats.org/drawingml/2006/main">
          <a:graphicData uri="http://schemas.openxmlformats.org/drawingml/2006/table">
            <a:tbl>
              <a:tblPr/>
              <a:tblGrid>
                <a:gridCol w="2362200"/>
                <a:gridCol w="1057275"/>
                <a:gridCol w="809625"/>
                <a:gridCol w="1295400"/>
              </a:tblGrid>
              <a:tr h="323850">
                <a:tc>
                  <a:txBody>
                    <a:bodyPr/>
                    <a:lstStyle/>
                    <a:p>
                      <a:r>
                        <a:rPr sz="1575" b="1">
                          <a:solidFill>
                            <a:srgbClr val="FFFFFF"/>
                          </a:solidFill>
                          <a:latin typeface="Times New Roman"/>
                          <a:ea typeface="Times New Roman"/>
                          <a:cs typeface="Times New Roman"/>
                        </a:rPr>
                        <a:t>Model and effort</a:t>
                      </a:r>
                    </a:p>
                  </a:txBody>
                  <a:tcPr marL="91440" marR="91440" marT="45720" marB="45720"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Passes / n</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Errors</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Mean cost</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r>
              <a:tr h="323850">
                <a:tc>
                  <a:txBody>
                    <a:bodyPr/>
                    <a:lstStyle/>
                    <a:p>
                      <a:r>
                        <a:rPr sz="1575" b="0">
                          <a:solidFill>
                            <a:srgbClr val="111111"/>
                          </a:solidFill>
                          <a:latin typeface="Times New Roman"/>
                          <a:ea typeface="Times New Roman"/>
                          <a:cs typeface="Times New Roman"/>
                        </a:rPr>
                        <a:t>5.6 Luna None</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$0.0084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5.6 Luna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$0.0074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5.6 Luna Medium</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$0.0135</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5.6 Luna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4/40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Incomplete</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5.6 Luna Extra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6/39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Incomplete</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5.6 Luna Max</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8/39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$0.0513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5.6 Terra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9/78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$0.1145</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5.6 Terra Medium</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5/39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$0.1254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5.6 Terra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16/78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$0.1905</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5.6 Terra Extra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19/39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$0.3196</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5.6 Sol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24/39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$0.1832</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5.6 Sol Medium</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31/39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$0.3178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bl>
          </a:graphicData>
        </a:graphic>
      </p:graphicFrame>
      <p:graphicFrame>
        <p:nvGraphicFramePr>
          <p:cNvPr id="5" name="Table 4">
            <a:extLst xmlns:a="http://schemas.openxmlformats.org/drawingml/2006/main">
              <a:ext uri="{FF2B5EF4-FFF2-40B4-BE49-F238E27FC236}">
                <a16:creationId xmlns:a16="http://schemas.microsoft.com/office/drawing/2014/main" id="{E2E8F642-C8FB-4775-B5F8-3FBD252039A7}"/>
              </a:ext>
            </a:extLst>
          </p:cNvPr>
          <p:cNvGraphicFramePr/>
          <p:nvPr/>
        </p:nvGraphicFramePr>
        <p:xfrm>
          <a:off xmlns:a="http://schemas.openxmlformats.org/drawingml/2006/main" x="6210300" y="1533525"/>
          <a:ext xmlns:a="http://schemas.openxmlformats.org/drawingml/2006/main" cx="5524500" cy="4210050"/>
        </p:xfrm>
        <a:graphic xmlns:a="http://schemas.openxmlformats.org/drawingml/2006/main">
          <a:graphicData uri="http://schemas.openxmlformats.org/drawingml/2006/table">
            <a:tbl>
              <a:tblPr/>
              <a:tblGrid>
                <a:gridCol w="2362200"/>
                <a:gridCol w="1057275"/>
                <a:gridCol w="809625"/>
                <a:gridCol w="1295400"/>
              </a:tblGrid>
              <a:tr h="323850">
                <a:tc>
                  <a:txBody>
                    <a:bodyPr/>
                    <a:lstStyle/>
                    <a:p>
                      <a:r>
                        <a:rPr sz="1575" b="1">
                          <a:solidFill>
                            <a:srgbClr val="FFFFFF"/>
                          </a:solidFill>
                          <a:latin typeface="Times New Roman"/>
                          <a:ea typeface="Times New Roman"/>
                          <a:cs typeface="Times New Roman"/>
                        </a:rPr>
                        <a:t>Model and effort</a:t>
                      </a:r>
                    </a:p>
                  </a:txBody>
                  <a:tcPr marL="91440" marR="91440" marT="45720" marB="45720"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Passes / n</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Errors</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Mean cost</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r>
              <a:tr h="323850">
                <a:tc>
                  <a:txBody>
                    <a:bodyPr/>
                    <a:lstStyle/>
                    <a:p>
                      <a:r>
                        <a:rPr sz="1575" b="0">
                          <a:solidFill>
                            <a:srgbClr val="111111"/>
                          </a:solidFill>
                          <a:latin typeface="Times New Roman"/>
                          <a:ea typeface="Times New Roman"/>
                          <a:cs typeface="Times New Roman"/>
                        </a:rPr>
                        <a:t>6 Luna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4/39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$0.0040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6 Luna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1/39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$0.0052</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6 Luna Extra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12/39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$0.0126</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6 Sol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37/39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$0.0773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6 Sol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39/39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$0.1975</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6 Sol Extra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39/39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$0.2306</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6 Astra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39/39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$0.4450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6 Astra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39/39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$0.7132</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6 Astra Extra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37/39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2</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$1.0801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DeepSeek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Incomplete</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DeepSeek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0/78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71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Incomplete</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DeepSeek Max</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Incomplete</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bl>
          </a:graphicData>
        </a:graphic>
      </p:graphicFrame>
      <p:sp>
        <p:nvSpPr>
          <p:cNvPr id="6" name="Rectangle 5">
            <a:extLst xmlns:a="http://schemas.openxmlformats.org/drawingml/2006/main">
              <a:ext uri="{FF2B5EF4-FFF2-40B4-BE49-F238E27FC236}">
                <a16:creationId xmlns:a16="http://schemas.microsoft.com/office/drawing/2014/main" id="{0C10FABB-0C4C-4688-86EF-D33F291F34DF}"/>
              </a:ext>
            </a:extLst>
          </p:cNvPr>
          <p:cNvSpPr>
            <a:spLocks xmlns:a="http://schemas.openxmlformats.org/drawingml/2006/main" noGrp="1"/>
          </p:cNvSpPr>
          <p:nvPr/>
        </p:nvSpPr>
        <p:spPr>
          <a:xfrm xmlns:a="http://schemas.openxmlformats.org/drawingml/2006/main">
            <a:off x="457200" y="6191250"/>
            <a:ext cx="1114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777777"/>
                </a:solidFill>
                <a:latin typeface="Times New Roman"/>
                <a:ea typeface="Times New Roman"/>
                <a:cs typeface="Times New Roman"/>
              </a:defRPr>
            </a:defPPr>
          </a:lstStyle>
          <a:p xmlns:a="http://schemas.openxmlformats.org/drawingml/2006/main">
            <a:pPr>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All 24 settings cover 13 tasks. DeepSeek None has only 3 attempts and is excluded. Costs are API-equivalent estimates.</a:t>
            </a:r>
          </a:p>
        </p:txBody>
      </p:sp>
    </p:spTree>
    <p:extLst>
      <p:ext uri="{BB962C8B-B14F-4D97-AF65-F5344CB8AC3E}">
        <p14:creationId xmlns:p14="http://schemas.microsoft.com/office/powerpoint/2010/main" val="18609724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046EAFF2-DF32-4821-A2AE-13D4AC0E04AC}"/>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results under all three prompt conditions</a:t>
            </a:r>
          </a:p>
        </p:txBody>
      </p:sp>
      <p:sp>
        <p:nvSpPr>
          <p:cNvPr id="2" name="Rectangle 1">
            <a:extLst xmlns:a="http://schemas.openxmlformats.org/drawingml/2006/main">
              <a:ext uri="{FF2B5EF4-FFF2-40B4-BE49-F238E27FC236}">
                <a16:creationId xmlns:a16="http://schemas.microsoft.com/office/drawing/2014/main" id="{EA4DE82B-2412-479E-A5E7-5266E1032F2A}"/>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Each cell shows completed passes / attempts, followed by execution errors in parentheses.</a:t>
            </a:r>
          </a:p>
        </p:txBody>
      </p:sp>
      <p:sp>
        <p:nvSpPr>
          <p:cNvPr id="3" name="Rectangle 2">
            <a:extLst xmlns:a="http://schemas.openxmlformats.org/drawingml/2006/main">
              <a:ext uri="{FF2B5EF4-FFF2-40B4-BE49-F238E27FC236}">
                <a16:creationId xmlns:a16="http://schemas.microsoft.com/office/drawing/2014/main" id="{B38A0E69-2856-4E3F-89B8-CA92EF53A95E}"/>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14</a:t>
            </a:r>
          </a:p>
        </p:txBody>
      </p:sp>
      <p:graphicFrame>
        <p:nvGraphicFramePr>
          <p:cNvPr id="4" name="Table 3">
            <a:extLst xmlns:a="http://schemas.openxmlformats.org/drawingml/2006/main">
              <a:ext uri="{FF2B5EF4-FFF2-40B4-BE49-F238E27FC236}">
                <a16:creationId xmlns:a16="http://schemas.microsoft.com/office/drawing/2014/main" id="{8A81FB2A-58E6-4261-A3C1-C993FC6AD187}"/>
              </a:ext>
            </a:extLst>
          </p:cNvPr>
          <p:cNvGraphicFramePr/>
          <p:nvPr/>
        </p:nvGraphicFramePr>
        <p:xfrm>
          <a:off xmlns:a="http://schemas.openxmlformats.org/drawingml/2006/main" x="457200" y="1533525"/>
          <a:ext xmlns:a="http://schemas.openxmlformats.org/drawingml/2006/main" cx="11277600" cy="4333875"/>
        </p:xfrm>
        <a:graphic xmlns:a="http://schemas.openxmlformats.org/drawingml/2006/main">
          <a:graphicData uri="http://schemas.openxmlformats.org/drawingml/2006/table">
            <a:tbl>
              <a:tblPr/>
              <a:tblGrid>
                <a:gridCol w="4419600"/>
                <a:gridCol w="2286000"/>
                <a:gridCol w="2286000"/>
                <a:gridCol w="2286000"/>
              </a:tblGrid>
              <a:tr h="333375">
                <a:tc>
                  <a:txBody>
                    <a:bodyPr/>
                    <a:lstStyle/>
                    <a:p>
                      <a:r>
                        <a:rPr sz="1650" b="1">
                          <a:solidFill>
                            <a:srgbClr val="FFFFFF"/>
                          </a:solidFill>
                          <a:latin typeface="Times New Roman"/>
                          <a:ea typeface="Times New Roman"/>
                          <a:cs typeface="Times New Roman"/>
                        </a:rPr>
                        <a:t>Model and effort</a:t>
                      </a:r>
                    </a:p>
                  </a:txBody>
                  <a:tcPr marL="91440" marR="91440" marT="45720" marB="45720"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650" b="1">
                          <a:solidFill>
                            <a:srgbClr val="FFFFFF"/>
                          </a:solidFill>
                          <a:latin typeface="Times New Roman"/>
                          <a:ea typeface="Times New Roman"/>
                          <a:cs typeface="Times New Roman"/>
                        </a:rPr>
                        <a:t>No hint</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650" b="1">
                          <a:solidFill>
                            <a:srgbClr val="FFFFFF"/>
                          </a:solidFill>
                          <a:latin typeface="Times New Roman"/>
                          <a:ea typeface="Times New Roman"/>
                          <a:cs typeface="Times New Roman"/>
                        </a:rPr>
                        <a:t>General hint</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650" b="1">
                          <a:solidFill>
                            <a:srgbClr val="FFFFFF"/>
                          </a:solidFill>
                          <a:latin typeface="Times New Roman"/>
                          <a:ea typeface="Times New Roman"/>
                          <a:cs typeface="Times New Roman"/>
                        </a:rPr>
                        <a:t>Physics hint</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r>
              <a:tr h="333375">
                <a:tc>
                  <a:txBody>
                    <a:bodyPr/>
                    <a:lstStyle/>
                    <a:p>
                      <a:r>
                        <a:rPr sz="1650" b="0">
                          <a:solidFill>
                            <a:srgbClr val="111111"/>
                          </a:solidFill>
                          <a:latin typeface="Times New Roman"/>
                          <a:ea typeface="Times New Roman"/>
                          <a:cs typeface="Times New Roman"/>
                        </a:rPr>
                        <a:t>GPT-5.6 Luna None</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3/39 (2)</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33375">
                <a:tc>
                  <a:txBody>
                    <a:bodyPr/>
                    <a:lstStyle/>
                    <a:p>
                      <a:r>
                        <a:rPr sz="1650" b="0">
                          <a:solidFill>
                            <a:srgbClr val="111111"/>
                          </a:solidFill>
                          <a:latin typeface="Times New Roman"/>
                          <a:ea typeface="Times New Roman"/>
                          <a:cs typeface="Times New Roman"/>
                        </a:rPr>
                        <a:t>GPT-5.6 Luna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8/39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33375">
                <a:tc>
                  <a:txBody>
                    <a:bodyPr/>
                    <a:lstStyle/>
                    <a:p>
                      <a:r>
                        <a:rPr sz="1650" b="0">
                          <a:solidFill>
                            <a:srgbClr val="111111"/>
                          </a:solidFill>
                          <a:latin typeface="Times New Roman"/>
                          <a:ea typeface="Times New Roman"/>
                          <a:cs typeface="Times New Roman"/>
                        </a:rPr>
                        <a:t>GPT-5.6 Luna Medium</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0/39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9/39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16/39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33375">
                <a:tc>
                  <a:txBody>
                    <a:bodyPr/>
                    <a:lstStyle/>
                    <a:p>
                      <a:r>
                        <a:rPr sz="1650" b="0">
                          <a:solidFill>
                            <a:srgbClr val="111111"/>
                          </a:solidFill>
                          <a:latin typeface="Times New Roman"/>
                          <a:ea typeface="Times New Roman"/>
                          <a:cs typeface="Times New Roman"/>
                        </a:rPr>
                        <a:t>GPT-5.6 Luna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4/40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25/78 (3)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62/78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33375">
                <a:tc>
                  <a:txBody>
                    <a:bodyPr/>
                    <a:lstStyle/>
                    <a:p>
                      <a:r>
                        <a:rPr sz="1650" b="0">
                          <a:solidFill>
                            <a:srgbClr val="111111"/>
                          </a:solidFill>
                          <a:latin typeface="Times New Roman"/>
                          <a:ea typeface="Times New Roman"/>
                          <a:cs typeface="Times New Roman"/>
                        </a:rPr>
                        <a:t>GPT-5.6 Luna Extra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6/39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22/39 (3)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33/39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33375">
                <a:tc>
                  <a:txBody>
                    <a:bodyPr/>
                    <a:lstStyle/>
                    <a:p>
                      <a:r>
                        <a:rPr sz="1650" b="0">
                          <a:solidFill>
                            <a:srgbClr val="111111"/>
                          </a:solidFill>
                          <a:latin typeface="Times New Roman"/>
                          <a:ea typeface="Times New Roman"/>
                          <a:cs typeface="Times New Roman"/>
                        </a:rPr>
                        <a:t>GPT-5.6 Luna Max</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8/39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27/39 (5)</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35/39 (3)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33375">
                <a:tc>
                  <a:txBody>
                    <a:bodyPr/>
                    <a:lstStyle/>
                    <a:p>
                      <a:r>
                        <a:rPr sz="1650" b="0">
                          <a:solidFill>
                            <a:srgbClr val="111111"/>
                          </a:solidFill>
                          <a:latin typeface="Times New Roman"/>
                          <a:ea typeface="Times New Roman"/>
                          <a:cs typeface="Times New Roman"/>
                        </a:rPr>
                        <a:t>GPT-5.6 Terra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9/78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12/39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25/39 (2)</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33375">
                <a:tc>
                  <a:txBody>
                    <a:bodyPr/>
                    <a:lstStyle/>
                    <a:p>
                      <a:r>
                        <a:rPr sz="1650" b="0">
                          <a:solidFill>
                            <a:srgbClr val="111111"/>
                          </a:solidFill>
                          <a:latin typeface="Times New Roman"/>
                          <a:ea typeface="Times New Roman"/>
                          <a:cs typeface="Times New Roman"/>
                        </a:rPr>
                        <a:t>GPT-5.6 Terra Medium</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5/39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24/39 (3)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32/39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33375">
                <a:tc>
                  <a:txBody>
                    <a:bodyPr/>
                    <a:lstStyle/>
                    <a:p>
                      <a:r>
                        <a:rPr sz="1650" b="0">
                          <a:solidFill>
                            <a:srgbClr val="111111"/>
                          </a:solidFill>
                          <a:latin typeface="Times New Roman"/>
                          <a:ea typeface="Times New Roman"/>
                          <a:cs typeface="Times New Roman"/>
                        </a:rPr>
                        <a:t>GPT-5.6 Terra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16/78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13/39 (6)</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36/39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33375">
                <a:tc>
                  <a:txBody>
                    <a:bodyPr/>
                    <a:lstStyle/>
                    <a:p>
                      <a:r>
                        <a:rPr sz="1650" b="0">
                          <a:solidFill>
                            <a:srgbClr val="111111"/>
                          </a:solidFill>
                          <a:latin typeface="Times New Roman"/>
                          <a:ea typeface="Times New Roman"/>
                          <a:cs typeface="Times New Roman"/>
                        </a:rPr>
                        <a:t>GPT-5.6 Sol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24/39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32/39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37/39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33375">
                <a:tc>
                  <a:txBody>
                    <a:bodyPr/>
                    <a:lstStyle/>
                    <a:p>
                      <a:r>
                        <a:rPr sz="1650" b="0">
                          <a:solidFill>
                            <a:srgbClr val="111111"/>
                          </a:solidFill>
                          <a:latin typeface="Times New Roman"/>
                          <a:ea typeface="Times New Roman"/>
                          <a:cs typeface="Times New Roman"/>
                        </a:rPr>
                        <a:t>GPT-5.6 Sol Medium</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31/39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38/39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38/39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33375">
                <a:tc>
                  <a:txBody>
                    <a:bodyPr/>
                    <a:lstStyle/>
                    <a:p>
                      <a:r>
                        <a:rPr sz="1650" b="0">
                          <a:solidFill>
                            <a:srgbClr val="111111"/>
                          </a:solidFill>
                          <a:latin typeface="Times New Roman"/>
                          <a:ea typeface="Times New Roman"/>
                          <a:cs typeface="Times New Roman"/>
                        </a:rPr>
                        <a:t>DeepSeek V4.1 Flash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0/78 (71)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0/39 (39)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1/39 (38)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bl>
          </a:graphicData>
        </a:graphic>
      </p:graphicFrame>
      <p:sp>
        <p:nvSpPr>
          <p:cNvPr id="5" name="Rectangle 4">
            <a:extLst xmlns:a="http://schemas.openxmlformats.org/drawingml/2006/main">
              <a:ext uri="{FF2B5EF4-FFF2-40B4-BE49-F238E27FC236}">
                <a16:creationId xmlns:a16="http://schemas.microsoft.com/office/drawing/2014/main" id="{3007565F-8EDB-461A-AD1E-EA5E177192C0}"/>
              </a:ext>
            </a:extLst>
          </p:cNvPr>
          <p:cNvSpPr>
            <a:spLocks xmlns:a="http://schemas.openxmlformats.org/drawingml/2006/main" noGrp="1"/>
          </p:cNvSpPr>
          <p:nvPr/>
        </p:nvSpPr>
        <p:spPr>
          <a:xfrm xmlns:a="http://schemas.openxmlformats.org/drawingml/2006/main">
            <a:off x="457200" y="6191250"/>
            <a:ext cx="1114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777777"/>
                </a:solidFill>
                <a:latin typeface="Times New Roman"/>
                <a:ea typeface="Times New Roman"/>
                <a:cs typeface="Times New Roman"/>
              </a:defRPr>
            </a:defPPr>
          </a:lstStyle>
          <a:p xmlns:a="http://schemas.openxmlformats.org/drawingml/2006/main">
            <a:pPr>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13 tasks per setting. Counts combine distinct attempts; repeated baseline records count once.</a:t>
            </a:r>
          </a:p>
        </p:txBody>
      </p:sp>
    </p:spTree>
    <p:extLst>
      <p:ext uri="{BB962C8B-B14F-4D97-AF65-F5344CB8AC3E}">
        <p14:creationId xmlns:p14="http://schemas.microsoft.com/office/powerpoint/2010/main" val="202682779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B6BA0FF3-04EA-4212-BFD6-BA0891C308E1}"/>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the frozen 13-task roster</a:t>
            </a:r>
          </a:p>
        </p:txBody>
      </p:sp>
      <p:sp>
        <p:nvSpPr>
          <p:cNvPr id="3" name="Rectangle 2">
            <a:extLst xmlns:a="http://schemas.openxmlformats.org/drawingml/2006/main">
              <a:ext uri="{FF2B5EF4-FFF2-40B4-BE49-F238E27FC236}">
                <a16:creationId xmlns:a16="http://schemas.microsoft.com/office/drawing/2014/main" id="{1B617954-181A-4A23-BF2D-053035054F7D}"/>
              </a:ext>
            </a:extLst>
          </p:cNvPr>
          <p:cNvSpPr>
            <a:spLocks xmlns:a="http://schemas.openxmlformats.org/drawingml/2006/main" noGrp="1"/>
          </p:cNvSpPr>
          <p:nvPr/>
        </p:nvSpPr>
        <p:spPr>
          <a:xfrm xmlns:a="http://schemas.openxmlformats.org/drawingml/2006/main">
            <a:off x="457200" y="1419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entropy-anomaly</a:t>
            </a:r>
          </a:p>
        </p:txBody>
      </p:sp>
      <p:sp>
        <p:nvSpPr>
          <p:cNvPr id="4" name="Rectangle 3">
            <a:extLst xmlns:a="http://schemas.openxmlformats.org/drawingml/2006/main">
              <a:ext uri="{FF2B5EF4-FFF2-40B4-BE49-F238E27FC236}">
                <a16:creationId xmlns:a16="http://schemas.microsoft.com/office/drawing/2014/main" id="{E184659C-ED43-48C5-9DD3-A617939BA21B}"/>
              </a:ext>
            </a:extLst>
          </p:cNvPr>
          <p:cNvSpPr>
            <a:spLocks xmlns:a="http://schemas.openxmlformats.org/drawingml/2006/main" noGrp="1"/>
          </p:cNvSpPr>
          <p:nvPr/>
        </p:nvSpPr>
        <p:spPr>
          <a:xfrm xmlns:a="http://schemas.openxmlformats.org/drawingml/2006/main">
            <a:off x="457200" y="1952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finite-layer-phoresis</a:t>
            </a:r>
          </a:p>
        </p:txBody>
      </p:sp>
      <p:sp>
        <p:nvSpPr>
          <p:cNvPr id="5" name="Rectangle 4">
            <a:extLst xmlns:a="http://schemas.openxmlformats.org/drawingml/2006/main">
              <a:ext uri="{FF2B5EF4-FFF2-40B4-BE49-F238E27FC236}">
                <a16:creationId xmlns:a16="http://schemas.microsoft.com/office/drawing/2014/main" id="{ACEAC897-E548-4A51-9467-D4512B3E482F}"/>
              </a:ext>
            </a:extLst>
          </p:cNvPr>
          <p:cNvSpPr>
            <a:spLocks xmlns:a="http://schemas.openxmlformats.org/drawingml/2006/main" noGrp="1"/>
          </p:cNvSpPr>
          <p:nvPr/>
        </p:nvSpPr>
        <p:spPr>
          <a:xfrm xmlns:a="http://schemas.openxmlformats.org/drawingml/2006/main">
            <a:off x="457200" y="24860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hierarchical-glass-overlaps</a:t>
            </a:r>
          </a:p>
        </p:txBody>
      </p:sp>
      <p:sp>
        <p:nvSpPr>
          <p:cNvPr id="6" name="Rectangle 5">
            <a:extLst xmlns:a="http://schemas.openxmlformats.org/drawingml/2006/main">
              <a:ext uri="{FF2B5EF4-FFF2-40B4-BE49-F238E27FC236}">
                <a16:creationId xmlns:a16="http://schemas.microsoft.com/office/drawing/2014/main" id="{8109EB7F-43D7-488D-8A62-D803A593F497}"/>
              </a:ext>
            </a:extLst>
          </p:cNvPr>
          <p:cNvSpPr>
            <a:spLocks xmlns:a="http://schemas.openxmlformats.org/drawingml/2006/main" noGrp="1"/>
          </p:cNvSpPr>
          <p:nvPr/>
        </p:nvSpPr>
        <p:spPr>
          <a:xfrm xmlns:a="http://schemas.openxmlformats.org/drawingml/2006/main">
            <a:off x="457200" y="30194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insulating-mhd-duct</a:t>
            </a:r>
          </a:p>
        </p:txBody>
      </p:sp>
      <p:sp>
        <p:nvSpPr>
          <p:cNvPr id="7" name="Rectangle 6">
            <a:extLst xmlns:a="http://schemas.openxmlformats.org/drawingml/2006/main">
              <a:ext uri="{FF2B5EF4-FFF2-40B4-BE49-F238E27FC236}">
                <a16:creationId xmlns:a16="http://schemas.microsoft.com/office/drawing/2014/main" id="{FFB1FA39-94CE-431E-9645-61A0CC786757}"/>
              </a:ext>
            </a:extLst>
          </p:cNvPr>
          <p:cNvSpPr>
            <a:spLocks xmlns:a="http://schemas.openxmlformats.org/drawingml/2006/main" noGrp="1"/>
          </p:cNvSpPr>
          <p:nvPr/>
        </p:nvSpPr>
        <p:spPr>
          <a:xfrm xmlns:a="http://schemas.openxmlformats.org/drawingml/2006/main">
            <a:off x="457200" y="35528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magnetic-tracer</a:t>
            </a:r>
          </a:p>
        </p:txBody>
      </p:sp>
      <p:sp>
        <p:nvSpPr>
          <p:cNvPr id="8" name="Rectangle 7">
            <a:extLst xmlns:a="http://schemas.openxmlformats.org/drawingml/2006/main">
              <a:ext uri="{FF2B5EF4-FFF2-40B4-BE49-F238E27FC236}">
                <a16:creationId xmlns:a16="http://schemas.microsoft.com/office/drawing/2014/main" id="{C417F617-88C4-4E5F-8408-0643D2B6A682}"/>
              </a:ext>
            </a:extLst>
          </p:cNvPr>
          <p:cNvSpPr>
            <a:spLocks xmlns:a="http://schemas.openxmlformats.org/drawingml/2006/main" noGrp="1"/>
          </p:cNvSpPr>
          <p:nvPr/>
        </p:nvSpPr>
        <p:spPr>
          <a:xfrm xmlns:a="http://schemas.openxmlformats.org/drawingml/2006/main">
            <a:off x="457200" y="4086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reaction-diffusion</a:t>
            </a:r>
          </a:p>
        </p:txBody>
      </p:sp>
      <p:sp>
        <p:nvSpPr>
          <p:cNvPr id="9" name="Rectangle 8">
            <a:extLst xmlns:a="http://schemas.openxmlformats.org/drawingml/2006/main">
              <a:ext uri="{FF2B5EF4-FFF2-40B4-BE49-F238E27FC236}">
                <a16:creationId xmlns:a16="http://schemas.microsoft.com/office/drawing/2014/main" id="{911F5FFF-8663-471A-98CE-29B1F1D9B568}"/>
              </a:ext>
            </a:extLst>
          </p:cNvPr>
          <p:cNvSpPr>
            <a:spLocks xmlns:a="http://schemas.openxmlformats.org/drawingml/2006/main" noGrp="1"/>
          </p:cNvSpPr>
          <p:nvPr/>
        </p:nvSpPr>
        <p:spPr>
          <a:xfrm xmlns:a="http://schemas.openxmlformats.org/drawingml/2006/main">
            <a:off x="457200" y="4619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ring-current-fluctuations</a:t>
            </a:r>
          </a:p>
        </p:txBody>
      </p:sp>
      <p:sp>
        <p:nvSpPr>
          <p:cNvPr id="10" name="Rectangle 9">
            <a:extLst xmlns:a="http://schemas.openxmlformats.org/drawingml/2006/main">
              <a:ext uri="{FF2B5EF4-FFF2-40B4-BE49-F238E27FC236}">
                <a16:creationId xmlns:a16="http://schemas.microsoft.com/office/drawing/2014/main" id="{B86DA223-D697-451A-A51A-91BE7366B2E3}"/>
              </a:ext>
            </a:extLst>
          </p:cNvPr>
          <p:cNvSpPr>
            <a:spLocks xmlns:a="http://schemas.openxmlformats.org/drawingml/2006/main" noGrp="1"/>
          </p:cNvSpPr>
          <p:nvPr/>
        </p:nvSpPr>
        <p:spPr>
          <a:xfrm xmlns:a="http://schemas.openxmlformats.org/drawingml/2006/main">
            <a:off x="6362700" y="1419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rotating-reservoir</a:t>
            </a:r>
          </a:p>
        </p:txBody>
      </p:sp>
      <p:sp>
        <p:nvSpPr>
          <p:cNvPr id="11" name="Rectangle 10">
            <a:extLst xmlns:a="http://schemas.openxmlformats.org/drawingml/2006/main">
              <a:ext uri="{FF2B5EF4-FFF2-40B4-BE49-F238E27FC236}">
                <a16:creationId xmlns:a16="http://schemas.microsoft.com/office/drawing/2014/main" id="{7808C839-AEFA-4D36-B29C-420F636341B5}"/>
              </a:ext>
            </a:extLst>
          </p:cNvPr>
          <p:cNvSpPr>
            <a:spLocks xmlns:a="http://schemas.openxmlformats.org/drawingml/2006/main" noGrp="1"/>
          </p:cNvSpPr>
          <p:nvPr/>
        </p:nvSpPr>
        <p:spPr>
          <a:xfrm xmlns:a="http://schemas.openxmlformats.org/drawingml/2006/main">
            <a:off x="6362700" y="1952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single-file-memory</a:t>
            </a:r>
          </a:p>
        </p:txBody>
      </p:sp>
      <p:sp>
        <p:nvSpPr>
          <p:cNvPr id="12" name="Rectangle 11">
            <a:extLst xmlns:a="http://schemas.openxmlformats.org/drawingml/2006/main">
              <a:ext uri="{FF2B5EF4-FFF2-40B4-BE49-F238E27FC236}">
                <a16:creationId xmlns:a16="http://schemas.microsoft.com/office/drawing/2014/main" id="{7A716844-98DE-4D97-BD8E-850B5CC8A603}"/>
              </a:ext>
            </a:extLst>
          </p:cNvPr>
          <p:cNvSpPr>
            <a:spLocks xmlns:a="http://schemas.openxmlformats.org/drawingml/2006/main" noGrp="1"/>
          </p:cNvSpPr>
          <p:nvPr/>
        </p:nvSpPr>
        <p:spPr>
          <a:xfrm xmlns:a="http://schemas.openxmlformats.org/drawingml/2006/main">
            <a:off x="6362700" y="24860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superconducting-heat</a:t>
            </a:r>
          </a:p>
        </p:txBody>
      </p:sp>
      <p:sp>
        <p:nvSpPr>
          <p:cNvPr id="13" name="Rectangle 12">
            <a:extLst xmlns:a="http://schemas.openxmlformats.org/drawingml/2006/main">
              <a:ext uri="{FF2B5EF4-FFF2-40B4-BE49-F238E27FC236}">
                <a16:creationId xmlns:a16="http://schemas.microsoft.com/office/drawing/2014/main" id="{8E313484-B01D-4662-9B77-A526F38FCA36}"/>
              </a:ext>
            </a:extLst>
          </p:cNvPr>
          <p:cNvSpPr>
            <a:spLocks xmlns:a="http://schemas.openxmlformats.org/drawingml/2006/main" noGrp="1"/>
          </p:cNvSpPr>
          <p:nvPr/>
        </p:nvSpPr>
        <p:spPr>
          <a:xfrm xmlns:a="http://schemas.openxmlformats.org/drawingml/2006/main">
            <a:off x="6362700" y="30194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swirling-heat-tails</a:t>
            </a:r>
          </a:p>
        </p:txBody>
      </p:sp>
      <p:sp>
        <p:nvSpPr>
          <p:cNvPr id="14" name="Rectangle 13">
            <a:extLst xmlns:a="http://schemas.openxmlformats.org/drawingml/2006/main">
              <a:ext uri="{FF2B5EF4-FFF2-40B4-BE49-F238E27FC236}">
                <a16:creationId xmlns:a16="http://schemas.microsoft.com/office/drawing/2014/main" id="{CB4180C1-0E47-4AC5-8EB7-942852E1E2D0}"/>
              </a:ext>
            </a:extLst>
          </p:cNvPr>
          <p:cNvSpPr>
            <a:spLocks xmlns:a="http://schemas.openxmlformats.org/drawingml/2006/main" noGrp="1"/>
          </p:cNvSpPr>
          <p:nvPr/>
        </p:nvSpPr>
        <p:spPr>
          <a:xfrm xmlns:a="http://schemas.openxmlformats.org/drawingml/2006/main">
            <a:off x="6362700" y="35528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hard-rod-current</a:t>
            </a:r>
          </a:p>
        </p:txBody>
      </p:sp>
      <p:sp>
        <p:nvSpPr>
          <p:cNvPr id="15" name="Rectangle 14">
            <a:extLst xmlns:a="http://schemas.openxmlformats.org/drawingml/2006/main">
              <a:ext uri="{FF2B5EF4-FFF2-40B4-BE49-F238E27FC236}">
                <a16:creationId xmlns:a16="http://schemas.microsoft.com/office/drawing/2014/main" id="{A97A6698-C261-42DF-A038-2BFF43D3125B}"/>
              </a:ext>
            </a:extLst>
          </p:cNvPr>
          <p:cNvSpPr>
            <a:spLocks xmlns:a="http://schemas.openxmlformats.org/drawingml/2006/main" noGrp="1"/>
          </p:cNvSpPr>
          <p:nvPr/>
        </p:nvSpPr>
        <p:spPr>
          <a:xfrm xmlns:a="http://schemas.openxmlformats.org/drawingml/2006/main">
            <a:off x="6362700" y="4086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finite-ion-cloud</a:t>
            </a:r>
          </a:p>
        </p:txBody>
      </p:sp>
      <p:sp>
        <p:nvSpPr>
          <p:cNvPr id="16" name="Rectangle 15">
            <a:extLst xmlns:a="http://schemas.openxmlformats.org/drawingml/2006/main">
              <a:ext uri="{FF2B5EF4-FFF2-40B4-BE49-F238E27FC236}">
                <a16:creationId xmlns:a16="http://schemas.microsoft.com/office/drawing/2014/main" id="{ABF92BC6-A106-4C0F-883D-9CF630DDC338}"/>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Frozen snapshot: 34dedfbbd8ff. Task selection against GPT-5.6 Luna limits generalization to a broader physics population.</a:t>
            </a:r>
          </a:p>
        </p:txBody>
      </p:sp>
      <p:sp>
        <p:nvSpPr>
          <p:cNvPr id="18" name="Rectangle 17">
            <a:extLst xmlns:a="http://schemas.openxmlformats.org/drawingml/2006/main">
              <a:ext uri="{FF2B5EF4-FFF2-40B4-BE49-F238E27FC236}">
                <a16:creationId xmlns:a16="http://schemas.microsoft.com/office/drawing/2014/main" id="{7B5E6208-A8BB-4725-9921-6CA79EB21DD2}"/>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15</a:t>
            </a:r>
          </a:p>
        </p:txBody>
      </p:sp>
    </p:spTree>
    <p:extLst>
      <p:ext uri="{BB962C8B-B14F-4D97-AF65-F5344CB8AC3E}">
        <p14:creationId xmlns:p14="http://schemas.microsoft.com/office/powerpoint/2010/main" val="182812619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Rectangle 28">
            <a:extLst xmlns:a="http://schemas.openxmlformats.org/drawingml/2006/main">
              <a:ext uri="{FF2B5EF4-FFF2-40B4-BE49-F238E27FC236}">
                <a16:creationId xmlns:a16="http://schemas.microsoft.com/office/drawing/2014/main" id="{817B6CD4-DA5B-4A7F-A081-E2A2B31B441E}"/>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comparing the two prediction formulas</a:t>
            </a:r>
          </a:p>
        </p:txBody>
      </p:sp>
      <p:sp>
        <p:nvSpPr>
          <p:cNvPr id="2" name="Rectangle 1">
            <a:extLst xmlns:a="http://schemas.openxmlformats.org/drawingml/2006/main">
              <a:ext uri="{FF2B5EF4-FFF2-40B4-BE49-F238E27FC236}">
                <a16:creationId xmlns:a16="http://schemas.microsoft.com/office/drawing/2014/main" id="{D5E4B9E4-4CB2-45E9-BE61-2A76387824CA}"/>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A narrow channel preserves particle order. Every experiment starts from the same positions.</a:t>
            </a:r>
          </a:p>
        </p:txBody>
      </p:sp>
      <p:sp>
        <p:nvSpPr>
          <p:cNvPr id="3" name="Rectangle 2">
            <a:extLst xmlns:a="http://schemas.openxmlformats.org/drawingml/2006/main">
              <a:ext uri="{FF2B5EF4-FFF2-40B4-BE49-F238E27FC236}">
                <a16:creationId xmlns:a16="http://schemas.microsoft.com/office/drawing/2014/main" id="{D7084F74-4A77-424A-8676-E2C561AADB53}"/>
              </a:ext>
            </a:extLst>
          </p:cNvPr>
          <p:cNvSpPr>
            <a:spLocks xmlns:a="http://schemas.openxmlformats.org/drawingml/2006/main" noGrp="1"/>
          </p:cNvSpPr>
          <p:nvPr/>
        </p:nvSpPr>
        <p:spPr>
          <a:xfrm xmlns:a="http://schemas.openxmlformats.org/drawingml/2006/main">
            <a:off x="457200" y="1533525"/>
            <a:ext cx="490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11111"/>
                </a:solidFill>
                <a:latin typeface="Times New Roman"/>
                <a:ea typeface="Times New Roman"/>
                <a:cs typeface="Times New Roman"/>
              </a:defRPr>
            </a:defPPr>
          </a:lstStyle>
          <a:p xmlns:a="http://schemas.openxmlformats.org/drawingml/2006/main">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Physical setup</a:t>
            </a:r>
          </a:p>
        </p:txBody>
      </p:sp>
      <p:sp>
        <p:nvSpPr>
          <p:cNvPr id="4" name="Rectangle 3">
            <a:extLst xmlns:a="http://schemas.openxmlformats.org/drawingml/2006/main">
              <a:ext uri="{FF2B5EF4-FFF2-40B4-BE49-F238E27FC236}">
                <a16:creationId xmlns:a16="http://schemas.microsoft.com/office/drawing/2014/main" id="{6FA7336F-7C6A-4BCE-8251-D4E67C80EBA4}"/>
              </a:ext>
            </a:extLst>
          </p:cNvPr>
          <p:cNvSpPr>
            <a:spLocks xmlns:a="http://schemas.openxmlformats.org/drawingml/2006/main" noGrp="1"/>
          </p:cNvSpPr>
          <p:nvPr/>
        </p:nvSpPr>
        <p:spPr>
          <a:xfrm xmlns:a="http://schemas.openxmlformats.org/drawingml/2006/main">
            <a:off x="457200" y="1971675"/>
            <a:ext cx="490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Reset to evenly spaced positions</a:t>
            </a:r>
          </a:p>
        </p:txBody>
      </p:sp>
      <p:sp>
        <p:nvSpPr>
          <p:cNvPr id="5" name="Rectangle 4">
            <a:extLst xmlns:a="http://schemas.openxmlformats.org/drawingml/2006/main">
              <a:ext uri="{FF2B5EF4-FFF2-40B4-BE49-F238E27FC236}">
                <a16:creationId xmlns:a16="http://schemas.microsoft.com/office/drawing/2014/main" id="{87B85EBA-3D0E-4570-AB1C-A6DAAC2C6C19}"/>
              </a:ext>
            </a:extLst>
          </p:cNvPr>
          <p:cNvSpPr>
            <a:spLocks xmlns:a="http://schemas.openxmlformats.org/drawingml/2006/main" noGrp="1"/>
          </p:cNvSpPr>
          <p:nvPr/>
        </p:nvSpPr>
        <p:spPr>
          <a:xfrm xmlns:a="http://schemas.openxmlformats.org/drawingml/2006/main">
            <a:off x="457200" y="238125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24CC1E4B-DA4A-4952-9357-94695F024E82}"/>
              </a:ext>
            </a:extLst>
          </p:cNvPr>
          <p:cNvSpPr>
            <a:spLocks xmlns:a="http://schemas.openxmlformats.org/drawingml/2006/main" noGrp="1"/>
          </p:cNvSpPr>
          <p:nvPr/>
        </p:nvSpPr>
        <p:spPr>
          <a:xfrm xmlns:a="http://schemas.openxmlformats.org/drawingml/2006/main">
            <a:off x="457200" y="295275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C585912F-9C1E-4568-943F-CBE08EBBEEF3}"/>
              </a:ext>
            </a:extLst>
          </p:cNvPr>
          <p:cNvSpPr>
            <a:spLocks xmlns:a="http://schemas.openxmlformats.org/drawingml/2006/main" noGrp="1"/>
          </p:cNvSpPr>
          <p:nvPr/>
        </p:nvSpPr>
        <p:spPr>
          <a:xfrm xmlns:a="http://schemas.openxmlformats.org/drawingml/2006/main">
            <a:off x="8191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573E44D9-9C6E-4C68-B21F-0E97F4A722A1}"/>
              </a:ext>
            </a:extLst>
          </p:cNvPr>
          <p:cNvSpPr>
            <a:spLocks xmlns:a="http://schemas.openxmlformats.org/drawingml/2006/main" noGrp="1"/>
          </p:cNvSpPr>
          <p:nvPr/>
        </p:nvSpPr>
        <p:spPr>
          <a:xfrm xmlns:a="http://schemas.openxmlformats.org/drawingml/2006/main">
            <a:off x="15430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35222835-3645-4478-B478-7C25458AA3AD}"/>
              </a:ext>
            </a:extLst>
          </p:cNvPr>
          <p:cNvSpPr>
            <a:spLocks xmlns:a="http://schemas.openxmlformats.org/drawingml/2006/main" noGrp="1"/>
          </p:cNvSpPr>
          <p:nvPr/>
        </p:nvSpPr>
        <p:spPr>
          <a:xfrm xmlns:a="http://schemas.openxmlformats.org/drawingml/2006/main">
            <a:off x="2266950" y="2505075"/>
            <a:ext cx="342900" cy="3429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0" name="Oval 9">
            <a:extLst xmlns:a="http://schemas.openxmlformats.org/drawingml/2006/main">
              <a:ext uri="{FF2B5EF4-FFF2-40B4-BE49-F238E27FC236}">
                <a16:creationId xmlns:a16="http://schemas.microsoft.com/office/drawing/2014/main" id="{481EC8C4-2B3A-44A2-A2DF-D3B5BDC43513}"/>
              </a:ext>
            </a:extLst>
          </p:cNvPr>
          <p:cNvSpPr>
            <a:spLocks xmlns:a="http://schemas.openxmlformats.org/drawingml/2006/main" noGrp="1"/>
          </p:cNvSpPr>
          <p:nvPr/>
        </p:nvSpPr>
        <p:spPr>
          <a:xfrm xmlns:a="http://schemas.openxmlformats.org/drawingml/2006/main">
            <a:off x="29908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DA0C0A62-E4A3-467B-A311-2D83BDF1B9AF}"/>
              </a:ext>
            </a:extLst>
          </p:cNvPr>
          <p:cNvSpPr>
            <a:spLocks xmlns:a="http://schemas.openxmlformats.org/drawingml/2006/main" noGrp="1"/>
          </p:cNvSpPr>
          <p:nvPr/>
        </p:nvSpPr>
        <p:spPr>
          <a:xfrm xmlns:a="http://schemas.openxmlformats.org/drawingml/2006/main">
            <a:off x="37147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2" name="Oval 11">
            <a:extLst xmlns:a="http://schemas.openxmlformats.org/drawingml/2006/main">
              <a:ext uri="{FF2B5EF4-FFF2-40B4-BE49-F238E27FC236}">
                <a16:creationId xmlns:a16="http://schemas.microsoft.com/office/drawing/2014/main" id="{EACBA4F9-08AB-451A-A852-FD50A060CAF2}"/>
              </a:ext>
            </a:extLst>
          </p:cNvPr>
          <p:cNvSpPr>
            <a:spLocks xmlns:a="http://schemas.openxmlformats.org/drawingml/2006/main" noGrp="1"/>
          </p:cNvSpPr>
          <p:nvPr/>
        </p:nvSpPr>
        <p:spPr>
          <a:xfrm xmlns:a="http://schemas.openxmlformats.org/drawingml/2006/main">
            <a:off x="44386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93CE4E81-AFEA-4EAF-B896-3C060B8A4437}"/>
              </a:ext>
            </a:extLst>
          </p:cNvPr>
          <p:cNvSpPr>
            <a:spLocks xmlns:a="http://schemas.openxmlformats.org/drawingml/2006/main" noGrp="1"/>
          </p:cNvSpPr>
          <p:nvPr/>
        </p:nvSpPr>
        <p:spPr>
          <a:xfrm xmlns:a="http://schemas.openxmlformats.org/drawingml/2006/main">
            <a:off x="457200" y="3333750"/>
            <a:ext cx="490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Let the particles move randomly</a:t>
            </a:r>
          </a:p>
        </p:txBody>
      </p:sp>
      <p:sp>
        <p:nvSpPr>
          <p:cNvPr id="14" name="Rectangle 13">
            <a:extLst xmlns:a="http://schemas.openxmlformats.org/drawingml/2006/main">
              <a:ext uri="{FF2B5EF4-FFF2-40B4-BE49-F238E27FC236}">
                <a16:creationId xmlns:a16="http://schemas.microsoft.com/office/drawing/2014/main" id="{B847700A-C0A6-4E12-9D00-0EE5AE9846DC}"/>
              </a:ext>
            </a:extLst>
          </p:cNvPr>
          <p:cNvSpPr>
            <a:spLocks xmlns:a="http://schemas.openxmlformats.org/drawingml/2006/main" noGrp="1"/>
          </p:cNvSpPr>
          <p:nvPr/>
        </p:nvSpPr>
        <p:spPr>
          <a:xfrm xmlns:a="http://schemas.openxmlformats.org/drawingml/2006/main">
            <a:off x="457200" y="373380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AEEECDFF-1488-4898-89D7-95611235AE31}"/>
              </a:ext>
            </a:extLst>
          </p:cNvPr>
          <p:cNvSpPr>
            <a:spLocks xmlns:a="http://schemas.openxmlformats.org/drawingml/2006/main" noGrp="1"/>
          </p:cNvSpPr>
          <p:nvPr/>
        </p:nvSpPr>
        <p:spPr>
          <a:xfrm xmlns:a="http://schemas.openxmlformats.org/drawingml/2006/main">
            <a:off x="457200" y="430530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Oval 15">
            <a:extLst xmlns:a="http://schemas.openxmlformats.org/drawingml/2006/main">
              <a:ext uri="{FF2B5EF4-FFF2-40B4-BE49-F238E27FC236}">
                <a16:creationId xmlns:a16="http://schemas.microsoft.com/office/drawing/2014/main" id="{C3DD7281-A990-4437-A3F6-D1905D0C92FA}"/>
              </a:ext>
            </a:extLst>
          </p:cNvPr>
          <p:cNvSpPr>
            <a:spLocks xmlns:a="http://schemas.openxmlformats.org/drawingml/2006/main" noGrp="1"/>
          </p:cNvSpPr>
          <p:nvPr/>
        </p:nvSpPr>
        <p:spPr>
          <a:xfrm xmlns:a="http://schemas.openxmlformats.org/drawingml/2006/main">
            <a:off x="70485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E4B66C14-9B22-4218-BF4E-66A109931AE8}"/>
              </a:ext>
            </a:extLst>
          </p:cNvPr>
          <p:cNvSpPr>
            <a:spLocks xmlns:a="http://schemas.openxmlformats.org/drawingml/2006/main" noGrp="1"/>
          </p:cNvSpPr>
          <p:nvPr/>
        </p:nvSpPr>
        <p:spPr>
          <a:xfrm xmlns:a="http://schemas.openxmlformats.org/drawingml/2006/main">
            <a:off x="1381125"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8" name="Oval 17">
            <a:extLst xmlns:a="http://schemas.openxmlformats.org/drawingml/2006/main">
              <a:ext uri="{FF2B5EF4-FFF2-40B4-BE49-F238E27FC236}">
                <a16:creationId xmlns:a16="http://schemas.microsoft.com/office/drawing/2014/main" id="{8F84BEF1-1367-4E78-AA01-BC3889CEF4BC}"/>
              </a:ext>
            </a:extLst>
          </p:cNvPr>
          <p:cNvSpPr>
            <a:spLocks xmlns:a="http://schemas.openxmlformats.org/drawingml/2006/main" noGrp="1"/>
          </p:cNvSpPr>
          <p:nvPr/>
        </p:nvSpPr>
        <p:spPr>
          <a:xfrm xmlns:a="http://schemas.openxmlformats.org/drawingml/2006/main">
            <a:off x="2657475" y="3857625"/>
            <a:ext cx="342900" cy="3429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9" name="Oval 18">
            <a:extLst xmlns:a="http://schemas.openxmlformats.org/drawingml/2006/main">
              <a:ext uri="{FF2B5EF4-FFF2-40B4-BE49-F238E27FC236}">
                <a16:creationId xmlns:a16="http://schemas.microsoft.com/office/drawing/2014/main" id="{EA9A95CF-FC14-4BD4-BAC7-E113A1CEFD24}"/>
              </a:ext>
            </a:extLst>
          </p:cNvPr>
          <p:cNvSpPr>
            <a:spLocks xmlns:a="http://schemas.openxmlformats.org/drawingml/2006/main" noGrp="1"/>
          </p:cNvSpPr>
          <p:nvPr/>
        </p:nvSpPr>
        <p:spPr>
          <a:xfrm xmlns:a="http://schemas.openxmlformats.org/drawingml/2006/main">
            <a:off x="318135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0" name="Oval 19">
            <a:extLst xmlns:a="http://schemas.openxmlformats.org/drawingml/2006/main">
              <a:ext uri="{FF2B5EF4-FFF2-40B4-BE49-F238E27FC236}">
                <a16:creationId xmlns:a16="http://schemas.microsoft.com/office/drawing/2014/main" id="{1B62E78F-7E2D-4AF0-BA2D-8DF4AE712DA5}"/>
              </a:ext>
            </a:extLst>
          </p:cNvPr>
          <p:cNvSpPr>
            <a:spLocks xmlns:a="http://schemas.openxmlformats.org/drawingml/2006/main" noGrp="1"/>
          </p:cNvSpPr>
          <p:nvPr/>
        </p:nvSpPr>
        <p:spPr>
          <a:xfrm xmlns:a="http://schemas.openxmlformats.org/drawingml/2006/main">
            <a:off x="388620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1" name="Oval 20">
            <a:extLst xmlns:a="http://schemas.openxmlformats.org/drawingml/2006/main">
              <a:ext uri="{FF2B5EF4-FFF2-40B4-BE49-F238E27FC236}">
                <a16:creationId xmlns:a16="http://schemas.microsoft.com/office/drawing/2014/main" id="{49E266AB-BC36-4FB6-AC5A-38A91A3CB61C}"/>
              </a:ext>
            </a:extLst>
          </p:cNvPr>
          <p:cNvSpPr>
            <a:spLocks xmlns:a="http://schemas.openxmlformats.org/drawingml/2006/main" noGrp="1"/>
          </p:cNvSpPr>
          <p:nvPr/>
        </p:nvSpPr>
        <p:spPr>
          <a:xfrm xmlns:a="http://schemas.openxmlformats.org/drawingml/2006/main">
            <a:off x="461010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59D743A1-E3D9-4428-B67C-E58F47681335}"/>
              </a:ext>
            </a:extLst>
          </p:cNvPr>
          <p:cNvSpPr>
            <a:spLocks xmlns:a="http://schemas.openxmlformats.org/drawingml/2006/main" noGrp="1"/>
          </p:cNvSpPr>
          <p:nvPr/>
        </p:nvSpPr>
        <p:spPr>
          <a:xfrm xmlns:a="http://schemas.openxmlformats.org/drawingml/2006/main">
            <a:off x="457200" y="45720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111111"/>
                </a:solidFill>
                <a:latin typeface="Times New Roman"/>
                <a:ea typeface="Times New Roman"/>
                <a:cs typeface="Times New Roman"/>
              </a:defRPr>
            </a:defPPr>
          </a:lstStyle>
          <a:p xmlns:a="http://schemas.openxmlformats.org/drawingml/2006/main">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Track the orange particle in each repeat.</a:t>
            </a:r>
          </a:p>
          <a:p xmlns:a="http://schemas.openxmlformats.org/drawingml/2006/main">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Particles collide but never overtake.</a:t>
            </a:r>
          </a:p>
        </p:txBody>
      </p:sp>
      <p:sp>
        <p:nvSpPr>
          <p:cNvPr id="23" name="Rectangle 22">
            <a:extLst xmlns:a="http://schemas.openxmlformats.org/drawingml/2006/main">
              <a:ext uri="{FF2B5EF4-FFF2-40B4-BE49-F238E27FC236}">
                <a16:creationId xmlns:a16="http://schemas.microsoft.com/office/drawing/2014/main" id="{DBD48C7F-F0B6-4566-AD72-218593300322}"/>
              </a:ext>
            </a:extLst>
          </p:cNvPr>
          <p:cNvSpPr>
            <a:spLocks xmlns:a="http://schemas.openxmlformats.org/drawingml/2006/main" noGrp="1"/>
          </p:cNvSpPr>
          <p:nvPr/>
        </p:nvSpPr>
        <p:spPr>
          <a:xfrm xmlns:a="http://schemas.openxmlformats.org/drawingml/2006/main">
            <a:off x="6191250" y="1533525"/>
            <a:ext cx="5543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11111"/>
                </a:solidFill>
                <a:latin typeface="Times New Roman"/>
                <a:ea typeface="Times New Roman"/>
                <a:cs typeface="Times New Roman"/>
              </a:defRPr>
            </a:defPPr>
          </a:lstStyle>
          <a:p xmlns:a="http://schemas.openxmlformats.org/drawingml/2006/main">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Why fitting alone is insufficient</a:t>
            </a:r>
          </a:p>
        </p:txBody>
      </p:sp>
      <p:sp>
        <p:nvSpPr>
          <p:cNvPr id="25" name="Rectangle 24">
            <a:extLst xmlns:a="http://schemas.openxmlformats.org/drawingml/2006/main">
              <a:ext uri="{FF2B5EF4-FFF2-40B4-BE49-F238E27FC236}">
                <a16:creationId xmlns:a16="http://schemas.microsoft.com/office/drawing/2014/main" id="{4B241E38-7C47-46F8-8966-8D5D630DCA39}"/>
              </a:ext>
            </a:extLst>
          </p:cNvPr>
          <p:cNvSpPr>
            <a:spLocks xmlns:a="http://schemas.openxmlformats.org/drawingml/2006/main" noGrp="1"/>
          </p:cNvSpPr>
          <p:nvPr/>
        </p:nvSpPr>
        <p:spPr>
          <a:xfrm xmlns:a="http://schemas.openxmlformats.org/drawingml/2006/main">
            <a:off x="6191250" y="5248275"/>
            <a:ext cx="55435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1">
                <a:solidFill>
                  <a:srgbClr val="111111"/>
                </a:solidFill>
                <a:latin typeface="Times New Roman"/>
                <a:ea typeface="Times New Roman"/>
                <a:cs typeface="Times New Roman"/>
              </a:defRPr>
            </a:defPPr>
          </a:lstStyle>
          <a:p xmlns:a="http://schemas.openxmlformats.org/drawingml/2006/main">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Same time: both fit.</a:t>
            </a:r>
          </a:p>
          <a:p xmlns:a="http://schemas.openxmlformats.org/drawingml/2006/main">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Different times: memory changes the prediction.</a:t>
            </a:r>
          </a:p>
        </p:txBody>
      </p:sp>
      <p:sp>
        <p:nvSpPr>
          <p:cNvPr id="26" name="Rectangle 25">
            <a:extLst xmlns:a="http://schemas.openxmlformats.org/drawingml/2006/main">
              <a:ext uri="{FF2B5EF4-FFF2-40B4-BE49-F238E27FC236}">
                <a16:creationId xmlns:a16="http://schemas.microsoft.com/office/drawing/2014/main" id="{6D89FA9C-1AA0-4165-931E-D886C36E63EB}"/>
              </a:ext>
            </a:extLst>
          </p:cNvPr>
          <p:cNvSpPr>
            <a:spLocks xmlns:a="http://schemas.openxmlformats.org/drawingml/2006/main" noGrp="1"/>
          </p:cNvSpPr>
          <p:nvPr/>
        </p:nvSpPr>
        <p:spPr>
          <a:xfrm xmlns:a="http://schemas.openxmlformats.org/drawingml/2006/main">
            <a:off x="457200" y="5362575"/>
            <a:ext cx="5162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1">
                <a:solidFill>
                  <a:srgbClr val="1D4E89"/>
                </a:solidFill>
                <a:latin typeface="Times New Roman"/>
                <a:ea typeface="Times New Roman"/>
                <a:cs typeface="Times New Roman"/>
              </a:defRPr>
            </a:defPPr>
          </a:lstStyle>
          <a:p xmlns:a="http://schemas.openxmlformats.org/drawingml/2006/main">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Agent task: fit the movement scale, then</a:t>
            </a:r>
          </a:p>
          <a:p xmlns:a="http://schemas.openxmlformats.org/drawingml/2006/main">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predict how two measurement times are related.</a:t>
            </a:r>
          </a:p>
        </p:txBody>
      </p:sp>
      <p:sp>
        <p:nvSpPr>
          <p:cNvPr id="27" name="Rectangle 26">
            <a:extLst xmlns:a="http://schemas.openxmlformats.org/drawingml/2006/main">
              <a:ext uri="{FF2B5EF4-FFF2-40B4-BE49-F238E27FC236}">
                <a16:creationId xmlns:a16="http://schemas.microsoft.com/office/drawing/2014/main" id="{451EDAC5-84AF-4886-ABB5-00F5489CD4A3}"/>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Analytic covariance curves and schematic positions, not measured trajectories. The task asks for the long-time scaling coefficient.</a:t>
            </a:r>
          </a:p>
        </p:txBody>
      </p:sp>
      <p:sp>
        <p:nvSpPr>
          <p:cNvPr id="30" name="Rectangle 29">
            <a:extLst xmlns:a="http://schemas.openxmlformats.org/drawingml/2006/main">
              <a:ext uri="{FF2B5EF4-FFF2-40B4-BE49-F238E27FC236}">
                <a16:creationId xmlns:a16="http://schemas.microsoft.com/office/drawing/2014/main" id="{F6A031A1-5617-41AC-B818-7E20F8A6707A}"/>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16</a:t>
            </a:r>
          </a:p>
        </p:txBody>
      </p:sp>
      <p:pic>
        <p:nvPicPr>
          <p:cNvPr id="31" name="Picture 30">
            <a:extLst xmlns:a="http://schemas.openxmlformats.org/drawingml/2006/main">
              <a:ext uri="{FF2B5EF4-FFF2-40B4-BE49-F238E27FC236}">
                <a16:creationId xmlns:a16="http://schemas.microsoft.com/office/drawing/2014/main" id="{F7F35E76-0415-4C0E-9896-770697A15D06}"/>
              </a:ext>
            </a:extLst>
          </p:cNvPr>
          <p:cNvPicPr>
            <a:picLocks xmlns:a="http://schemas.openxmlformats.org/drawingml/2006/main" noChangeAspect="1"/>
          </p:cNvPicPr>
          <p:nvPr/>
        </p:nvPicPr>
        <p:blipFill>
          <a:blip xmlns:r="http://schemas.openxmlformats.org/officeDocument/2006/relationships" xmlns:a="http://schemas.openxmlformats.org/drawingml/2006/main" r:embed="Rc644b4aa2f474bcb"/>
          <a:stretch xmlns:a="http://schemas.openxmlformats.org/drawingml/2006/main"/>
        </p:blipFill>
        <p:spPr>
          <a:xfrm xmlns:a="http://schemas.openxmlformats.org/drawingml/2006/main">
            <a:off x="6335316" y="1885950"/>
            <a:ext cx="5083969" cy="3333750"/>
          </a:xfrm>
          <a:prstGeom xmlns:a="http://schemas.openxmlformats.org/drawingml/2006/main" prst="rect">
            <a:avLst/>
          </a:prstGeom>
        </p:spPr>
      </p:pic>
    </p:spTree>
    <p:extLst>
      <p:ext uri="{BB962C8B-B14F-4D97-AF65-F5344CB8AC3E}">
        <p14:creationId xmlns:p14="http://schemas.microsoft.com/office/powerpoint/2010/main" val="52420409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DD7C7636-DBD0-4BC1-9687-EB40565DE5E4}"/>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reasoning effort without hints</a:t>
            </a:r>
          </a:p>
        </p:txBody>
      </p:sp>
      <p:sp>
        <p:nvSpPr>
          <p:cNvPr id="2" name="Rectangle 1">
            <a:extLst xmlns:a="http://schemas.openxmlformats.org/drawingml/2006/main">
              <a:ext uri="{FF2B5EF4-FFF2-40B4-BE49-F238E27FC236}">
                <a16:creationId xmlns:a16="http://schemas.microsoft.com/office/drawing/2014/main" id="{77266C2A-F01F-4525-AB62-D3833EEC1AAF}"/>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Each line holds the model fixed. Only the observed effort settings are connected.</a:t>
            </a:r>
          </a:p>
        </p:txBody>
      </p:sp>
      <p:sp>
        <p:nvSpPr>
          <p:cNvPr id="3" name="Rectangle 2">
            <a:extLst xmlns:a="http://schemas.openxmlformats.org/drawingml/2006/main">
              <a:ext uri="{FF2B5EF4-FFF2-40B4-BE49-F238E27FC236}">
                <a16:creationId xmlns:a16="http://schemas.microsoft.com/office/drawing/2014/main" id="{AAC1A2CB-697A-4082-B829-98096488BA20}"/>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17</a:t>
            </a:r>
          </a:p>
        </p:txBody>
      </p:sp>
      <p:pic>
        <p:nvPicPr>
          <p:cNvPr id="4" name="Picture 3">
            <a:extLst xmlns:a="http://schemas.openxmlformats.org/drawingml/2006/main">
              <a:ext uri="{FF2B5EF4-FFF2-40B4-BE49-F238E27FC236}">
                <a16:creationId xmlns:a16="http://schemas.microsoft.com/office/drawing/2014/main" id="{EB9B4962-F4FB-4738-BE54-B4F65A1EB3B3}"/>
              </a:ext>
            </a:extLst>
          </p:cNvPr>
          <p:cNvPicPr>
            <a:picLocks xmlns:a="http://schemas.openxmlformats.org/drawingml/2006/main" noChangeAspect="1"/>
          </p:cNvPicPr>
          <p:nvPr/>
        </p:nvPicPr>
        <p:blipFill>
          <a:blip xmlns:r="http://schemas.openxmlformats.org/officeDocument/2006/relationships" xmlns:a="http://schemas.openxmlformats.org/drawingml/2006/main" r:embed="R76b463e03bc04830"/>
          <a:stretch xmlns:a="http://schemas.openxmlformats.org/drawingml/2006/main"/>
        </p:blipFill>
        <p:spPr>
          <a:xfrm xmlns:a="http://schemas.openxmlformats.org/drawingml/2006/main">
            <a:off x="457200" y="1438708"/>
            <a:ext cx="11277600" cy="4485409"/>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898C7526-E0AE-495E-80B4-0C202386A0AE}"/>
              </a:ext>
            </a:extLst>
          </p:cNvPr>
          <p:cNvSpPr>
            <a:spLocks xmlns:a="http://schemas.openxmlformats.org/drawingml/2006/main" noGrp="1"/>
          </p:cNvSpPr>
          <p:nvPr/>
        </p:nvSpPr>
        <p:spPr>
          <a:xfrm xmlns:a="http://schemas.openxmlformats.org/drawingml/2006/main">
            <a:off x="457200" y="6191250"/>
            <a:ext cx="1114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777777"/>
                </a:solidFill>
                <a:latin typeface="Times New Roman"/>
                <a:ea typeface="Times New Roman"/>
                <a:cs typeface="Times New Roman"/>
              </a:defRPr>
            </a:defPPr>
          </a:lstStyle>
          <a:p xmlns:a="http://schemas.openxmlformats.org/drawingml/2006/main">
            <a:pPr>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Rates use each setting’s actual denominator. Model generations remain distinct. Historical and runtime differences apply.</a:t>
            </a:r>
          </a:p>
        </p:txBody>
      </p:sp>
    </p:spTree>
    <p:extLst>
      <p:ext uri="{BB962C8B-B14F-4D97-AF65-F5344CB8AC3E}">
        <p14:creationId xmlns:p14="http://schemas.microsoft.com/office/powerpoint/2010/main" val="8481716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2026-10-16T00:30:21.6490000Z</dcterms:created>
  <dcterms:modified xsi:type="dcterms:W3CDTF">2026-10-16T00:30:21.6490000Z</dcterms:modified>
</coreProperties>
</file>