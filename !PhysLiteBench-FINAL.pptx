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p:restoredTop sz="94658"/>
  </p:normalViewPr>
  <p:slideViewPr>
    <p:cSldViewPr snapToGrid="0">
      <p:cViewPr varScale="1">
        <p:scale>
          <a:sx n="120" d="100"/>
          <a:sy n="120" d="100"/>
        </p:scale>
        <p:origin x="38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10 seconds.</a:t>
            </a:r>
          </a:p>
          <a:p>
            <a:endParaRPr/>
          </a:p>
          <a:p>
            <a:r>
              <a:t>We study how well coding agents can turn a physical setup and limited measurements into predictions.</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45 seconds.</a:t>
            </a:r>
          </a:p>
          <a:p>
            <a:endParaRPr/>
          </a:p>
          <a:p>
            <a:r>
              <a:t>Our key question is whether an agent can identify the physics behind a scenario and predict beyond what it observes. A good fit to the supplied data is not enough. We use thirteen tasks with hidden predictions, then test whether general checking instructions and task-specific physics guidance improve performance. The hints probe what the agent misses without guidance.</a:t>
            </a:r>
          </a:p>
          <a:p>
            <a:endParaRPr/>
          </a:p>
          <a:p>
            <a:r>
              <a:t>The suite was selected using GPT-5.6 Luna. The original ten tasks had zero of three Luna High passes during initial selection. All thirteen are implemented with Harbor. Selection outcomes differ from independent evaluation. Historical controls, runtime differences and unmatched hint length limit causal interpretation. General-hint gains alone cannot identify a specifically physical reasoning defect. The task-specific hints and reviewed failures provide further evidence.</a:t>
            </a:r>
          </a:p>
          <a:p>
            <a:endParaRPr/>
          </a:p>
          <a:p>
            <a:r>
              <a:t>Sources:</a:t>
            </a:r>
          </a:p>
          <a:p>
            <a:r>
              <a:t>/Users/yp9846/Desktop/PhysLiteBench/results/task-roster.json</a:t>
            </a:r>
          </a:p>
          <a:p>
            <a:r>
              <a:t>/Users/yp9846/Desktop/PhysLiteBench/output/presentation-20261014/PhysLiteBench-focused-study-figures-20261015/sources/hint-matrix-summary.md</a:t>
            </a:r>
          </a:p>
          <a:p>
            <a:r>
              <a:t>/Users/yp9846/Desktop/PhysLiteBench/output/presentation-20261014/PhysLiteBench-focused-study-figures-20261015/summary.json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85 seconds.</a:t>
            </a:r>
          </a:p>
          <a:p>
            <a:endParaRPr/>
          </a:p>
          <a:p>
            <a:r>
              <a:t>Imagine a long tube containing a row of beads. Random motion makes them bump around, but the tube is too narrow for one bead to pass another. We mark one bead orange and observe it. Every repeat starts with all the beads in exactly the same evenly spaced positions. We release them, then record the orange bead's position early and later in the same run. The next run starts from the original row but has different random motion. The pictures illustrate one possible run, not measured data. What does the agent know? It has this description, starter code, and measurements of how far the orange bead typically moves at several chosen times. These data let it estimate how strong the random motion is. What must it predict? Across many repeats, how strongly are the orange bead's early and later positions connected? For example, in runs where it is farther right early, does it also tend to be farther right later, and how strong is that relationship? The agent must write a numerical prediction for this relationship. The important physical detail is how we start the experiment. The beads begin in a regular row and cannot pass one another. That arrangement can still influence how motion at one time relates to motion later. Fitting the movement strength alone does not settle that question.</a:t>
            </a:r>
          </a:p>
          <a:p>
            <a:endParaRPr/>
          </a:p>
          <a:p>
            <a:r>
              <a:t>Sources:</a:t>
            </a:r>
          </a:p>
          <a:p>
            <a:r>
              <a:t>/Users/yp9846/Desktop/PhysLiteBench/tasks/single-file-memory/environment/README.md</a:t>
            </a:r>
          </a:p>
          <a:p>
            <a:r>
              <a:t>/Users/yp9846/Desktop/PhysLiteBench/tasks/single-file-memory/instruction.md</a:t>
            </a:r>
          </a:p>
          <a:p>
            <a:r>
              <a:t>/Users/yp9846/Desktop/PhysLiteBench/tasks/single-file-memory/environment/model.py</a:t>
            </a:r>
          </a:p>
          <a:p>
            <a:r>
              <a:t>/Users/yp9846/Desktop/PhysLiteBench/tasks/single-file-memory/solution/model.py</a:t>
            </a:r>
          </a:p>
          <a:p>
            <a:r>
              <a:t>/Users/yp9846/Desktop/PhysLiteBench/tasks/single-file-memory/AUTHOR.md</a:t>
            </a:r>
          </a:p>
          <a:p>
            <a:endParaRPr/>
          </a:p>
          <a:p>
            <a:r>
              <a:t>One run shown. Each repeat resets the starting row.</a:t>
            </a:r>
          </a:p>
          <a:p>
            <a:endParaRPr/>
          </a:p>
          <a:p>
            <a:r>
              <a:t>Illustrative setup. The benchmark asks for the statistical trend after long observation times, rather than one bead’s exact path.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60 seconds.</a:t>
            </a:r>
          </a:p>
          <a:p>
            <a:endParaRPr/>
          </a:p>
          <a:p>
            <a:r>
              <a:t>There are three prompt conditions. The baseline gives the original task and public files. The general hint asks the agent to check its implementation and test correctness. It does not identify which assumption might need attention. The physics hint points to a specific feature of the experiment. For the beads, it emphasizes that the same starting arrangement can affect the relationship between positions measured at two times. The full hint also suggests how to calculate this relationship. The slide summarizes its physical idea in everyday language. The hint supplies a direction for thinking, not the final formula. We keep the task files and grading the same across these conditions.</a:t>
            </a:r>
          </a:p>
          <a:p>
            <a:endParaRPr/>
          </a:p>
          <a:p>
            <a:r>
              <a:t>Sources:</a:t>
            </a:r>
          </a:p>
          <a:p>
            <a:r>
              <a:t>/Users/yp9846/Desktop/PhysLiteBench/results/hint-comparison-20261014/plan.json</a:t>
            </a:r>
          </a:p>
          <a:p>
            <a:r>
              <a:t>/Users/yp9846/Desktop/PhysLiteBench/tasks/single-file-memory/hint.md</a:t>
            </a:r>
          </a:p>
          <a:p>
            <a:endParaRPr/>
          </a:p>
          <a:p>
            <a:r>
              <a:t>No-hint instruction shortened. General hint quoted exactly. Physics hint summarized in plain language from the actual task hint.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This is one study across seven model versions. Each listed setting covers all thirteen tasks. A batch usually samples three independent attempts per task, without stopping after a pass. We combine independent repetitions of the same model, effort and condition, and count each reused baseline only once. The table shows total attempts over the listed conditions, including exceptions. The exact breakdown is in the backup tables and CSV. No-hint totals are 1,054; general and physics hints each have 507. An incomplete three-attempt DeepSeek None pilot remains outside these totals.</a:t>
            </a:r>
          </a:p>
          <a:p>
            <a:endParaRPr/>
          </a:p>
          <a:p>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a:endParaRPr/>
          </a:p>
          <a:p>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a:endParaRPr/>
          </a:p>
          <a:p>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75 seconds.</a:t>
            </a:r>
          </a:p>
          <a:p>
            <a:endParaRPr/>
          </a:p>
          <a:p>
            <a:r>
              <a:t>These two panels use the same no-hint outcomes. Dollar cost is on the left and processed tokens on the right, both on log scales. Every benchmark setting is now visible, including the five settings with incomplete usage. Open points are recorded minima, and the horizontal bars show conservative provider reserve ceilings. The low-cost GPT-6 Luna and high-success GPT-6 Sol settings still stand out in dollars. GPT-6 Astra Low uses relatively few processed tokens at high success, but its higher token price makes it more expensive. Token count and dollar cost therefore tell different stories.</a:t>
            </a:r>
          </a:p>
          <a:p>
            <a:endParaRPr/>
          </a:p>
          <a:p>
            <a:r>
              <a:t>All 48 primary model/effort/condition settings appear across slides 6 and 7. Slide 6 has all 24 no-hint settings representing 1,054 attempts. Slide 7 has all 36 settings for the 12 model/effort combinations measured under all three hint conditions, representing 1,600 distinct attempts within that comparison. Twelve baseline settings appear in both views for comparison, but their observations are not added again to the 2,068 study total. The three-attempt DeepSeek None pilot covers only one task. It is excluded from the figures, benchmark totals and frontier; its source records are preserved. No new attempts or changed grades were introduced.</a:t>
            </a:r>
          </a:p>
          <a:p>
            <a:endParaRPr/>
          </a:p>
          <a:p>
            <a:r>
              <a:t>Dollar coordinates are the saved complete API-equivalent estimate where available, otherwise the recorded minimum divided by every attempt in the cell. The previous plots omitted five incomplete no-hint settings and fourteen incomplete matched-hint settings. This version draws every one. Open markers show incomplete usage. Arrows point toward unrecorded additional usage and do not encode a finite interval. DeepSeek dollar bars end at the preserved conservative reserve ceilings; those ceilings are not confirmed spending. No model-based imputation fills missing requests. Dashed lines show provisional Pareto envelopes at the displayed costs, using all primary points, including the lower bounds. If unrecorded usage moves an open point rightward, the true frontier may change. The lines connect observed settings and do not imply intermediate model configurations.</a:t>
            </a:r>
          </a:p>
          <a:p>
            <a:endParaRPr/>
          </a:p>
          <a:p>
            <a:r>
              <a:t>Token coordinates are the sum of request input plus output tokens divided by all attempts, including errors. Cached input is already part of input, and reasoning is already part of output, so neither is added twice. For DeepSeek, saved provider ledgers supersede incomplete client-observed totals. This includes retries and streams finishing after agent timeout; 157 archived provider batches have 3,341 unique request IDs including the pilot. Unknown stream usage remains a lower bound. One published Terra Medium/general aggregate reports only total recorded tokens, so its input/output split remains unavailable. Tokens measure processed token volume, not latency, FLOPs, uncached tokens or subscription usage. Different model prices and caching account for differences between dollar and token plots.</a:t>
            </a:r>
          </a:p>
          <a:p>
            <a:endParaRPr/>
          </a:p>
          <a:p>
            <a:r>
              <a:t>Rates and unique trial identities are unchanged. Raw published hinted trials are aggregate evidence, not independently reviewed here. Runtime differences and historical controls remain, so this is a descriptive comparison. All five pre-agent setup records remain outside their original matrix denominator and all retained execution exceptions remain in their original counts.</a:t>
            </a:r>
          </a:p>
          <a:p>
            <a:endParaRPr/>
          </a:p>
          <a:p>
            <a:r>
              <a:t>Sources:</a:t>
            </a:r>
          </a:p>
          <a:p>
            <a:r>
              <a:t>/Users/yp9846/Desktop/PhysLiteBench/output/presentation-20261014/PhysLiteBench-no-pilot-figures-20261016/resource-summary.csv</a:t>
            </a:r>
          </a:p>
          <a:p>
            <a:r>
              <a:t>/Users/yp9846/Desktop/PhysLiteBench/output/presentation-20261014/PhysLiteBench-no-pilot-figures-20261016/resource-summary.json</a:t>
            </a:r>
          </a:p>
          <a:p>
            <a:r>
              <a:t>/Users/yp9846/Desktop/PhysLiteBench/output/presentation-20261014/PhysLiteBench-no-pilot-figures-20261016/aggregate_resources.py</a:t>
            </a:r>
          </a:p>
          <a:p>
            <a:r>
              <a:t>/Users/yp9846/Desktop/PhysLiteBench/output/presentation-20261014/PhysLiteBench-no-pilot-figures-20261016/plot_resources.py</a:t>
            </a:r>
          </a:p>
          <a:p>
            <a:r>
              <a:t>/Users/yp9846/Desktop/PhysLiteBench/output/presentation-20261014/PhysLiteBench-no-pilot-figures-20261016/source-manifest.json</a:t>
            </a:r>
          </a:p>
          <a:p>
            <a:r>
              <a:t>/Users/yp9846/Desktop/PhysLiteBench/output/presentation-20261014/PhysLiteBench-no-pilot-figures-20261016/sources/provider-resource-records.json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50 seconds.</a:t>
            </a:r>
          </a:p>
          <a:p>
            <a:endParaRPr/>
          </a:p>
          <a:p>
            <a:r>
              <a:t>The three prompt conditions use the same twelve model and effort combinations. All thirty-six settings appear in both panels. In particular, the previously missing Luna High, Extra High and Max hinted settings are now visible as open circles. Physics hints generally improve observed success, although they can also change the amount of work. The dollar and token frontiers differ because model prices and caching differ. The dashed frontiers use recorded minima, so incomplete usage can move points to the right. We preserve every attempt and keep failures and execution errors in the pass-rate denominator.</a:t>
            </a:r>
          </a:p>
          <a:p>
            <a:endParaRPr/>
          </a:p>
          <a:p>
            <a:r>
              <a:t>All 48 primary model/effort/condition settings appear across slides 6 and 7. Slide 6 has all 24 no-hint settings representing 1,054 attempts. Slide 7 has all 36 settings for the 12 model/effort combinations measured under all three hint conditions, representing 1,600 distinct attempts within that comparison. Twelve baseline settings appear in both views for comparison, but their observations are not added again to the 2,068 study total. The three-attempt DeepSeek None pilot covers only one task. It is excluded from the figures, benchmark totals and frontier; its source records are preserved. No new attempts or changed grades were introduced.</a:t>
            </a:r>
          </a:p>
          <a:p>
            <a:endParaRPr/>
          </a:p>
          <a:p>
            <a:r>
              <a:t>Dollar coordinates are the saved complete API-equivalent estimate where available, otherwise the recorded minimum divided by every attempt in the cell. The previous plots omitted five incomplete no-hint settings and fourteen incomplete matched-hint settings. This version draws every one. Open markers show incomplete usage. Arrows point toward unrecorded additional usage and do not encode a finite interval. DeepSeek dollar bars end at the preserved conservative reserve ceilings; those ceilings are not confirmed spending. No model-based imputation fills missing requests. Dashed lines show provisional Pareto envelopes at the displayed costs, using all primary points, including the lower bounds. If unrecorded usage moves an open point rightward, the true frontier may change. The lines connect observed settings and do not imply intermediate model configurations.</a:t>
            </a:r>
          </a:p>
          <a:p>
            <a:endParaRPr/>
          </a:p>
          <a:p>
            <a:r>
              <a:t>Token coordinates are the sum of request input plus output tokens divided by all attempts, including errors. Cached input is already part of input, and reasoning is already part of output, so neither is added twice. For DeepSeek, saved provider ledgers supersede incomplete client-observed totals. This includes retries and streams finishing after agent timeout; 157 archived provider batches have 3,341 unique request IDs including the pilot. Unknown stream usage remains a lower bound. One published Terra Medium/general aggregate reports only total recorded tokens, so its input/output split remains unavailable. Tokens measure processed token volume, not latency, FLOPs, uncached tokens or subscription usage. Different model prices and caching account for differences between dollar and token plots.</a:t>
            </a:r>
          </a:p>
          <a:p>
            <a:endParaRPr/>
          </a:p>
          <a:p>
            <a:r>
              <a:t>Rates and unique trial identities are unchanged. Raw published hinted trials are aggregate evidence, not independently reviewed here. Runtime differences and historical controls remain, so this is a descriptive comparison. All five pre-agent setup records remain outside their original matrix denominator and all retained execution exceptions remain in their original counts.</a:t>
            </a:r>
          </a:p>
          <a:p>
            <a:endParaRPr/>
          </a:p>
          <a:p>
            <a:r>
              <a:t>Sources:</a:t>
            </a:r>
          </a:p>
          <a:p>
            <a:r>
              <a:t>/Users/yp9846/Desktop/PhysLiteBench/output/presentation-20261014/PhysLiteBench-no-pilot-figures-20261016/resource-summary.csv</a:t>
            </a:r>
          </a:p>
          <a:p>
            <a:r>
              <a:t>/Users/yp9846/Desktop/PhysLiteBench/output/presentation-20261014/PhysLiteBench-no-pilot-figures-20261016/resource-summary.json</a:t>
            </a:r>
          </a:p>
          <a:p>
            <a:r>
              <a:t>/Users/yp9846/Desktop/PhysLiteBench/output/presentation-20261014/PhysLiteBench-no-pilot-figures-20261016/aggregate_resources.py</a:t>
            </a:r>
          </a:p>
          <a:p>
            <a:r>
              <a:t>/Users/yp9846/Desktop/PhysLiteBench/output/presentation-20261014/PhysLiteBench-no-pilot-figures-20261016/plot_resources.py</a:t>
            </a:r>
          </a:p>
          <a:p>
            <a:r>
              <a:t>/Users/yp9846/Desktop/PhysLiteBench/output/presentation-20261014/PhysLiteBench-no-pilot-figures-20261016/source-manifest.json</a:t>
            </a:r>
          </a:p>
          <a:p>
            <a:r>
              <a:t>/Users/yp9846/Desktop/PhysLiteBench/output/presentation-20261014/PhysLiteBench-no-pilot-figures-20261016/sources/provider-resource-records.json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The model is GPT-5.6 Luna throughout. Every bar uses thirteen tasks with three attempts each, giving thirty-nine attempts. At High effort, the completed passes are four without a hint, eighteen with a general hint, and thirty with a physics hint. General hints increase the observed pass rate from Medium effort upward. Physics hints have the highest observed rate at all six efforts. These results suggest that relevant physics is often available to the agent but is not identified or applied without guidance.</a:t>
            </a:r>
          </a:p>
          <a:p>
            <a:endParaRPr/>
          </a:p>
          <a:p>
            <a:r>
              <a:t>This figure selects the complete six-effort matrix and its historical no-hint controls. It does not add the later independent High-effort replication or the one fresh baseline. The prior 78-attempt bars pooled independent trials, rather than duplicate trial identities, but this view deliberately keeps one three-repeat panel per cell. Full-study plots and backup tables still preserve the independent replication. Execution errors remain in each denominator. No trial outcomes were changed.</a:t>
            </a:r>
          </a:p>
          <a:p>
            <a:endParaRPr/>
          </a:p>
          <a:p>
            <a:r>
              <a:t>The hint comparison remains descriptive. Earlier controls differ in runtime, concurrency and CPU quotas. Hint lengths are not matched. A general hint may improve checking, implementation or attention, and alone does not isolate a physics deficit. Task-specific hint gains together with submitted-code failure evidence support the proposed interpretation. Published hinted evidence is aggregate only; raw transcripts were not independently inspected here.</a:t>
            </a:r>
          </a:p>
          <a:p>
            <a:endParaRPr/>
          </a:p>
          <a:p>
            <a:r>
              <a:t>Sources:</a:t>
            </a:r>
          </a:p>
          <a:p>
            <a:r>
              <a:t>/Users/yp9846/Desktop/PhysLiteBench/output/presentation-20261014/PhysLiteBench-focused-study-figures-20261015/luna-effort-panel.json</a:t>
            </a:r>
          </a:p>
          <a:p>
            <a:r>
              <a:t>/Users/yp9846/Desktop/PhysLiteBench/output/presentation-20261014/PhysLiteBench-focused-study-figures-20261015/sources/baseline-luna-trials.csv</a:t>
            </a:r>
          </a:p>
          <a:p>
            <a:r>
              <a:t>/Users/yp9846/Desktop/PhysLiteBench/output/presentation-20261014/PhysLiteBench-focused-study-figures-20261015/sources/hint-matrix-summary.csv</a:t>
            </a:r>
          </a:p>
          <a:p>
            <a:r>
              <a:t>/Users/yp9846/Desktop/PhysLiteBench/output/presentation-20261014/PhysLiteBench-focused-study-figures-20261015/plot_results.py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Here a physics failure means the agent fits the supplied data, but the reviewed code uses the wrong physical model for a new prediction. Across the same ten model and effort settings, we see 296 such failures without hints, 158 with a general hint and 66 with a physics hint, out of 390 attempts per condition. At Luna High, the counts are 33, 12 and 2 out of 39. Hints help, but lower reasoning effort still leaves a problem: 56 of the 66 physics failures with physics hints are Luna at None, Low or Medium effort. The other colors keep mathematical or coding failures and execution errors separate. Now the bead example shows what this kind of physics error looks like in code.</a:t>
            </a:r>
          </a:p>
          <a:p>
            <a:endParaRPr/>
          </a:p>
          <a:p>
            <a:r>
              <a:t>This classification covers 1,170 existing matrix attempts, not additional observations: 390 no-hint, 390 general-hint and 390 physics-hint. It uses GPT-5.6 Luna at None, Low, Medium, High, Extra High and Max; GPT-5.6 Terra at Low and Medium; and GPT-5.6 Sol at Low and Medium. Each of the 30 cells has thirteen tasks with three attempts, so n=39. The full study remains 2,068 unique attempts. The additional independent High-effort study and other models are outside this strict classification. No classifications were imputed for them. Luna High here is the same single 39-attempt matrix used on slide 8.</a:t>
            </a:r>
          </a:p>
          <a:p>
            <a:endParaRPr/>
          </a:p>
          <a:p>
            <a:r>
              <a:t>A physics failure is a normally completed reward-0 attempt that passes calibration, parameter recovery and the public checks, fails at least one hidden prediction, and has a reviewed primary physical-model error. Mathematical, numerical or coding primaries remain Other graded failure, even if a secondary physics issue appears. Execution exceptions take precedence over saved grades. Timeout and other execution errors never establish a physics mistake.</a:t>
            </a:r>
          </a:p>
          <a:p>
            <a:endParaRPr/>
          </a:p>
          <a:p>
            <a:r>
              <a:t>The published report reuses full observable-trajectory and final-code reviews for 315 hinted graded failures and targeted reviews of 304 historical no-hint graded failures. We verified aggregate counts and overlap with archived results; we did not independently review the underlying raw trajectories or unpublished classification ledger. The report states 4,686 original artifact hashes were checked. The report ledger SHA-256 is b9faeffe2d4db9c983eab440f52b0eb19cf9222ead0e142fd0c9dfb2a2e5faca. No new model runs, numerical diagnostic reruns or grades were introduced.</a:t>
            </a:r>
          </a:p>
          <a:p>
            <a:endParaRPr/>
          </a:p>
          <a:p>
            <a:r>
              <a:t>Historical controls used four workers without the newer per-container CPU quotas. Hint runs used up to eight workers capped at 8.8 CPU cores including proxies. Hint lengths also differ. Comparisons describe observed outcomes and do not isolate a causal hint effect. Aggregate changes do not show that particular failed attempts became passes. Five replaced pre-agent DNS failures remain outside this matrix, preventing double counting of their replacements. All other retained exceptions remain in the 39-attempt denominators.</a:t>
            </a:r>
          </a:p>
          <a:p>
            <a:endParaRPr/>
          </a:p>
          <a:p>
            <a:r>
              <a:t>Sources:</a:t>
            </a:r>
          </a:p>
          <a:p>
            <a:r>
              <a:t>https://github.com/liuyiqiandrew/PhysLiteBench/blob/f1164fe2b2bc8d312733bedbfc633b48e3b3cb36/results/hint-comparison-20261015-005800/outcome-breakdown.md</a:t>
            </a:r>
          </a:p>
          <a:p>
            <a:r>
              <a:t>/Users/yp9846/Desktop/PhysLiteBench/output/presentation-20261014/PhysLiteBench-physics-failure-figures-20261015/failure-breakdown.json</a:t>
            </a:r>
          </a:p>
          <a:p>
            <a:r>
              <a:t>/Users/yp9846/Desktop/PhysLiteBench/output/presentation-20261014/PhysLiteBench-physics-failure-figures-20261015/analyze_failures.py</a:t>
            </a:r>
          </a:p>
          <a:p>
            <a:r>
              <a:t>/Users/yp9846/Desktop/PhysLiteBench/output/presentation-20261014/PhysLiteBench-physics-failure-figures-20261015/plot_failures.py</a:t>
            </a:r>
          </a:p>
          <a:p>
            <a:r>
              <a:t>/Users/yp9846/Desktop/PhysLiteBench/output/presentation-20261014/PhysLiteBench-physics-failure-figures-20261015/outcome-source-manifest.json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80 seconds.</a:t>
            </a:r>
          </a:p>
          <a:p>
            <a:endParaRPr/>
          </a:p>
          <a:p>
            <a:r>
              <a:t>Here is the same bead example, now using a saved Terra run. Every repeat starts with the neighbors evenly spaced. We record the orange bead early and again later. The red arrow means a statistical link across repeats, not a force between two beads.</a:t>
            </a:r>
          </a:p>
          <a:p>
            <a:endParaRPr/>
          </a:p>
          <a:p>
            <a:r>
              <a:t>The agent adjusted one number controlling the amount of random motion. Its code matched the supplied measurements of how far the bead wanders at each time, and the public test passed.</a:t>
            </a:r>
          </a:p>
          <a:p>
            <a:endParaRPr/>
          </a:p>
          <a:p>
            <a:r>
              <a:t>But it kept the starter's rule for connecting the two observations. In plain terms, that rule made an early displacement count too much when predicting the later motion. The evenly spaced starting row affects this connection, and its formula did not account for that effect correctly. Matching the spread at each time could not reveal this mistake.</a:t>
            </a:r>
          </a:p>
          <a:p>
            <a:endParaRPr/>
          </a:p>
          <a:p>
            <a:r>
              <a:t>The hidden predictions were wrong by as much as 136%, against a 4% allowance. We checked the diagnosis by keeping its fitted motion strength and replacing only the rule connecting two times. The largest error fell to about 0.003%. That is our diagnostic correction, not a new agent pass or a hint result. The conclusion comes from the saved code, tool actions and tests.</a:t>
            </a:r>
          </a:p>
          <a:p>
            <a:endParaRPr/>
          </a:p>
          <a:p>
            <a:r>
              <a:t>Sources:</a:t>
            </a:r>
          </a:p>
          <a:p>
            <a:r>
              <a:t>/Users/yp9846/Desktop/PhysLiteBench/tasks/single-file-memory/environment/README.md</a:t>
            </a:r>
          </a:p>
          <a:p>
            <a:r>
              <a:t>/Users/yp9846/Desktop/PhysLiteBench/tasks/single-file-memory/environment/model.py</a:t>
            </a:r>
          </a:p>
          <a:p>
            <a:r>
              <a:t>/Users/yp9846/Desktop/PhysLiteBench/tasks/single-file-memory/solution/model.py</a:t>
            </a:r>
          </a:p>
          <a:p>
            <a:r>
              <a:t>/Users/yp9846/Desktop/PhysLiteBench/results/trajectory-analysis-20261014/cases/single-file-memory__PC6LumP/review.json</a:t>
            </a:r>
          </a:p>
          <a:p>
            <a:r>
              <a:t>/Users/yp9846/Desktop/PhysLiteBench/results/trajectory-analysis-20261014/cases/single-file-memory__PC6LumP/model.diff</a:t>
            </a:r>
          </a:p>
          <a:p>
            <a:r>
              <a:t>/Users/yp9846/Desktop/PhysLiteBench/results/trajectory-analysis-20261014/cases/single-file-memory__PC6LumP/metrics.json</a:t>
            </a:r>
          </a:p>
          <a:p>
            <a:r>
              <a:t>/Users/yp9846/Desktop/PhysLiteBench/results/trajectory-analysis-20261014/diagnostic-repairs.json</a:t>
            </a:r>
          </a:p>
          <a:p>
            <a:endParaRPr/>
          </a:p>
          <a:p>
            <a:r>
              <a:t>Technical clarification for questions: both formulas have correlated motion and agree at equal times. The saved formula overestimates the two-time covariance. It incorrectly treats increments as depending only on the time gap. The benchmark uses a joint long-time coefficient, not the finite-time positions drawn in this schematic. Equations and exact metrics remain in backup slide 16.</a:t>
            </a:r>
          </a:p>
          <a:p>
            <a:endParaRPr/>
          </a:p>
          <a:p>
            <a:r>
              <a:t>Allowed tolerance: 4%. The covariance describes averages across repeated runs. Bead positions are schematic.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30 seconds.</a:t>
            </a:r>
          </a:p>
          <a:p>
            <a:endParaRPr/>
          </a:p>
          <a:p>
            <a:r>
              <a:t>Agents can fit observations and still miss the physics. The bead example shows how the wrong covariance formula fails beyond the supplied data. Both general and physics hints improve prediction performance. The new reviewed breakdown also shows fewer primary physics failures, with Luna High falling from 33 to 12 to 2 out of 39. Together, these results suggest that agents often need guidance to identify and use relevant physics.</a:t>
            </a:r>
          </a:p>
          <a:p>
            <a:endParaRPr/>
          </a:p>
          <a:p>
            <a:r>
              <a:t>The hint result is descriptive. General hints can improve checking or implementation as well as physical reasoning. Historical controls and runtime differences remain, and this selected suite does not establish a universal capability limit. The 33, 12 and 2 refer to failures, whereas slide 8 uses completed passes of 4, 18 and 30 in those same cells. They are not complements because other graded failures and execution errors remain separate.</a:t>
            </a:r>
          </a:p>
          <a:p>
            <a:endParaRPr/>
          </a:p>
          <a:p>
            <a:r>
              <a:t>This classification covers 1,170 existing matrix attempts, not additional observations: 390 no-hint, 390 general-hint and 390 physics-hint. It uses GPT-5.6 Luna at None, Low, Medium, High, Extra High and Max; GPT-5.6 Terra at Low and Medium; and GPT-5.6 Sol at Low and Medium. Each of the 30 cells has thirteen tasks with three attempts, so n=39. The full study remains 2,068 unique attempts. The additional independent High-effort study and other models are outside this strict classification. No classifications were imputed for them. Luna High here is the same single 39-attempt matrix used on slide 8.</a:t>
            </a:r>
          </a:p>
          <a:p>
            <a:endParaRPr/>
          </a:p>
          <a:p>
            <a:r>
              <a:t>A physics failure is a normally completed reward-0 attempt that passes calibration, parameter recovery and the public checks, fails at least one hidden prediction, and has a reviewed primary physical-model error. Mathematical, numerical or coding primaries remain Other graded failure, even if a secondary physics issue appears. Execution exceptions take precedence over saved grades. Timeout and other execution errors never establish a physics mistake.</a:t>
            </a:r>
          </a:p>
          <a:p>
            <a:endParaRPr/>
          </a:p>
          <a:p>
            <a:r>
              <a:t>The published report reuses full observable-trajectory and final-code reviews for 315 hinted graded failures and targeted reviews of 304 historical no-hint graded failures. We verified aggregate counts and overlap with archived results; we did not independently review the underlying raw trajectories or unpublished classification ledger. The report states 4,686 original artifact hashes were checked. The report ledger SHA-256 is b9faeffe2d4db9c983eab440f52b0eb19cf9222ead0e142fd0c9dfb2a2e5faca. No new model runs, numerical diagnostic reruns or grades were introduced.</a:t>
            </a:r>
          </a:p>
          <a:p>
            <a:endParaRPr/>
          </a:p>
          <a:p>
            <a:r>
              <a:t>Historical controls used four workers without the newer per-container CPU quotas. Hint runs used up to eight workers capped at 8.8 CPU cores including proxies. Hint lengths also differ. Comparisons describe observed outcomes and do not isolate a causal hint effect. Aggregate changes do not show that particular failed attempts became passes. Five replaced pre-agent DNS failures remain outside this matrix, preventing double counting of their replacements. All other retained exceptions remain in the 39-attempt denominators.</a:t>
            </a:r>
          </a:p>
          <a:p>
            <a:endParaRPr/>
          </a:p>
          <a:p>
            <a:r>
              <a:t>Sources:</a:t>
            </a:r>
          </a:p>
          <a:p>
            <a:r>
              <a:t>https://github.com/liuyiqiandrew/PhysLiteBench/blob/f1164fe2b2bc8d312733bedbfc633b48e3b3cb36/results/hint-comparison-20261015-005800/outcome-breakdown.md</a:t>
            </a:r>
          </a:p>
          <a:p>
            <a:r>
              <a:t>/Users/yp9846/Desktop/PhysLiteBench/output/presentation-20261014/PhysLiteBench-physics-failure-figures-20261015/failure-breakdown.json</a:t>
            </a:r>
          </a:p>
          <a:p>
            <a:r>
              <a:t>/Users/yp9846/Desktop/PhysLiteBench/output/presentation-20261014/PhysLiteBench-physics-failure-figures-20261015/analyze_failures.py</a:t>
            </a:r>
          </a:p>
          <a:p>
            <a:r>
              <a:t>/Users/yp9846/Desktop/PhysLiteBench/output/presentation-20261014/PhysLiteBench-physics-failure-figures-20261015/plot_failures.py</a:t>
            </a:r>
          </a:p>
          <a:p>
            <a:r>
              <a:t>/Users/yp9846/Desktop/PhysLiteBench/output/presentation-20261014/PhysLiteBench-physics-failure-figures-20261015/outcome-source-manifest.json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180 seconds.</a:t>
            </a:r>
          </a:p>
          <a:p>
            <a:endParaRPr/>
          </a:p>
          <a:p>
            <a:r>
              <a:t>Questions. Useful scope distinctions are task selection versus evaluation, completed passes versus timeout checkpoints, and descriptive hint comparisons versus causal estimates. Backup slides provide the full model/effort tables, task roster and bead covariance formulas. The plotting bundle contains the archived sources, hash manifest, aggregation script and Python plotting script.</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a:p>
            <a:endParaRPr/>
          </a:p>
          <a:p>
            <a:r>
              <a:t>Additional backup slides 18 and 19 give the reviewed physics failures by model/effort/hint and the mutually exclusive outcome definitions. They classify existing observations, with no added trials.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a:t>
            </a:r>
          </a:p>
          <a:p>
            <a:endParaRPr/>
          </a:p>
          <a:p>
            <a:r>
              <a:t>All complete no-hint settings, aggregated by exact model version and effort. This table retains results with missing cost, even though those settings are absent from the exact frontier. Terra Low and High, and DeepSeek High, each have 78 distinct attempts. Luna High has 40 because one fresh baseline was already started before historical baseline reuse. Other settings have 39. Cost bounds and original records are in the plotting bundle.</a:t>
            </a:r>
          </a:p>
          <a:p>
            <a:endParaRPr/>
          </a:p>
          <a:p>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a:endParaRPr/>
          </a:p>
          <a:p>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a:endParaRPr/>
          </a:p>
          <a:p>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a:p>
            <a:endParaRPr/>
          </a:p>
          <a:p>
            <a:r>
              <a:t>Slides 6 and 7 now show incomplete costs at recorded lower bounds. This table retains its conservative complete-cost entries. Every numeric lower bound, provider reserve ceiling and token total is in /Users/yp9846/Desktop/PhysLiteBench/output/presentation-20261014/PhysLiteBench-all-cost-figures-20261015/resource-summary.csv. No incomplete value is treated as zero.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a:t>
            </a:r>
          </a:p>
          <a:p>
            <a:endParaRPr/>
          </a:p>
          <a:p>
            <a:r>
              <a:t>These twelve model-effort combinations have all three prompt conditions. The full experiment also includes models and effort settings tested without hints only. Every result in this table belongs to the same frozen thirteen-task benchmark. Parenthesized values are execution errors, not additional passes or independently diagnosed physics failures. The setup replacement policy differs across the archived schedules and remains documented, rather than being changed after the fact.</a:t>
            </a:r>
          </a:p>
          <a:p>
            <a:endParaRPr/>
          </a:p>
          <a:p>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a:endParaRPr/>
          </a:p>
          <a:p>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a:endParaRPr/>
          </a:p>
          <a:p>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a:p>
            <a:endParaRPr/>
          </a:p>
          <a:p>
            <a:r>
              <a:t>Slide 8 now shows one six-effort Luna matrix with 39 attempts per cell. This backup table continues to show all unique attempts, including the independent later High repetition. These are different declared summaries, not duplicated trial identities.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a:t>
            </a:r>
          </a:p>
          <a:p>
            <a:endParaRPr/>
          </a:p>
          <a:p>
            <a:r>
              <a:t>The same thirteen task families are used throughout the study. Content and grading match the frozen source snapshot. The original ten have a preserved zero-of-three Luna High qualification record; the three later tasks have separate selection and confirmation evidence. Subsequent independent evaluations can pass.</a:t>
            </a:r>
          </a:p>
          <a:p>
            <a:endParaRPr/>
          </a:p>
          <a:p>
            <a:r>
              <a:t>Sources:</a:t>
            </a:r>
          </a:p>
          <a:p>
            <a:r>
              <a:t>/Users/yp9846/Desktop/PhysLiteBench/results/task-roster.json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skip in current talk.</a:t>
            </a:r>
          </a:p>
          <a:p>
            <a:endParaRPr/>
          </a:p>
          <a:p>
            <a:r>
              <a:t>Technical detail for questions. The channel represents an infinite line of identical Brownian point particles with reflecting collisions and fixed initial positions j/rho in each independent repeat. The task predicts the joint long-time covariance coefficient, not finite-time trajectories or the exact position in one realization. With A = sqrt(D/pi)/rho, the correct coefficient is A[sqrt(t+s)-sqrt(abs(t-s))]. The starter uses A/sqrt(2)[sqrt(t)+sqrt(s)-sqrt(abs(t-s))]. Both agree on every equal-time setting. The plotted curves use the same D and density, normalized to the equal-time value, with earlier time multiplier 0.5 and later multiplier from 0.5 to 4. They therefore isolate the time-dependence difference. This plot is analytic, not a measured trial result. The apparent memory comes from the fixed preparation and no-passing constraint, even though the random forcing on different particles is independent. The saved Terra fit is 0.949947415037877. Its parameter error is 0.005535%, and its prediction-group errors at later/earlier ratios 2, 4 and 8 are 36.60%, 77.88% and 136.06%. Replacing only the covariance expression at the fixed fitted D reduces all tested group errors to 0.002768%.</a:t>
            </a:r>
          </a:p>
          <a:p>
            <a:endParaRPr/>
          </a:p>
          <a:p>
            <a:r>
              <a:t>Sources:</a:t>
            </a:r>
          </a:p>
          <a:p>
            <a:r>
              <a:t>/Users/yp9846/Desktop/PhysLiteBench/tasks/single-file-memory/environment/README.md</a:t>
            </a:r>
          </a:p>
          <a:p>
            <a:r>
              <a:t>/Users/yp9846/Desktop/PhysLiteBench/tasks/single-file-memory/instruction.md</a:t>
            </a:r>
          </a:p>
          <a:p>
            <a:r>
              <a:t>/Users/yp9846/Desktop/PhysLiteBench/tasks/single-file-memory/environment/model.py</a:t>
            </a:r>
          </a:p>
          <a:p>
            <a:r>
              <a:t>/Users/yp9846/Desktop/PhysLiteBench/tasks/single-file-memory/solution/model.py</a:t>
            </a:r>
          </a:p>
          <a:p>
            <a:r>
              <a:t>/Users/yp9846/Desktop/PhysLiteBench/tasks/single-file-memory/AUTHOR.md</a:t>
            </a:r>
          </a:p>
          <a:p>
            <a:r>
              <a:t>/Users/yp9846/Desktop/PhysLiteBench/results/trajectory-analysis-20261014/cases/single-file-memory__PC6LumP/metrics.json</a:t>
            </a:r>
          </a:p>
          <a:p>
            <a:r>
              <a:t>/Users/yp9846/Desktop/PhysLiteBench/results/trajectory-analysis-20261014/diagnostic-repairs.json</a:t>
            </a:r>
          </a:p>
          <a:p>
            <a:endParaRPr/>
          </a:p>
          <a:p>
            <a:r>
              <a:t>The Python plot uses the exact 57 coordinate pairs per series from the user-edited source chart. No spline or smoothing is applied. The source series and plotting script are archived in /Users/yp9846/Desktop/PhysLiteBench/output/presentation-20261014/PhysLiteBench-study-figures-20261015.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a:t>
            </a:r>
          </a:p>
          <a:p>
            <a:endParaRPr/>
          </a:p>
          <a:p>
            <a:r>
              <a:t>All available model versions and no-hint effort settings appear in one chart. Rates use the pooled distinct-attempt denominators in the preceding table. Points are connected by straight segments only for visual guidance. Untested effort settings are not inferred. More reasoning does not monotonically increase the observed completion rate under the fixed time limit.</a:t>
            </a:r>
          </a:p>
          <a:p>
            <a:endParaRPr/>
          </a:p>
          <a:p>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a:endParaRPr/>
          </a:p>
          <a:p>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a:endParaRPr/>
          </a:p>
          <a:p>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a:t>
            </a:r>
          </a:p>
          <a:p>
            <a:endParaRPr/>
          </a:p>
          <a:p>
            <a:r>
              <a:t>The full breakdown separates model, effort and prompt condition. Each cell contains three repeats on all thirteen tasks. At each Luna effort the physics hint has fewer physics failures than the other conditions. With a physics hint, Luna None, Low and Medium account for 26 + 20 + 10 = 56 of the 66 remaining physics failures. The higher Luna efforts contribute six, Terra contributes four and Sol contributes zero. Zero physics failures is not perfect task success: Sol Low and Medium still have two and one other graded failures, respectively. Counts concern primary causes, so a numerical or coding primary with a secondary physics issue remains Other.</a:t>
            </a:r>
          </a:p>
          <a:p>
            <a:endParaRPr/>
          </a:p>
          <a:p>
            <a:r>
              <a:t>This classification covers 1,170 existing matrix attempts, not additional observations: 390 no-hint, 390 general-hint and 390 physics-hint. It uses GPT-5.6 Luna at None, Low, Medium, High, Extra High and Max; GPT-5.6 Terra at Low and Medium; and GPT-5.6 Sol at Low and Medium. Each of the 30 cells has thirteen tasks with three attempts, so n=39. The full study remains 2,068 unique attempts. The additional independent High-effort study and other models are outside this strict classification. No classifications were imputed for them. Luna High here is the same single 39-attempt matrix used on slide 8.</a:t>
            </a:r>
          </a:p>
          <a:p>
            <a:endParaRPr/>
          </a:p>
          <a:p>
            <a:r>
              <a:t>A physics failure is a normally completed reward-0 attempt that passes calibration, parameter recovery and the public checks, fails at least one hidden prediction, and has a reviewed primary physical-model error. Mathematical, numerical or coding primaries remain Other graded failure, even if a secondary physics issue appears. Execution exceptions take precedence over saved grades. Timeout and other execution errors never establish a physics mistake.</a:t>
            </a:r>
          </a:p>
          <a:p>
            <a:endParaRPr/>
          </a:p>
          <a:p>
            <a:r>
              <a:t>The published report reuses full observable-trajectory and final-code reviews for 315 hinted graded failures and targeted reviews of 304 historical no-hint graded failures. We verified aggregate counts and overlap with archived results; we did not independently review the underlying raw trajectories or unpublished classification ledger. The report states 4,686 original artifact hashes were checked. The report ledger SHA-256 is b9faeffe2d4db9c983eab440f52b0eb19cf9222ead0e142fd0c9dfb2a2e5faca. No new model runs, numerical diagnostic reruns or grades were introduced.</a:t>
            </a:r>
          </a:p>
          <a:p>
            <a:endParaRPr/>
          </a:p>
          <a:p>
            <a:r>
              <a:t>Historical controls used four workers without the newer per-container CPU quotas. Hint runs used up to eight workers capped at 8.8 CPU cores including proxies. Hint lengths also differ. Comparisons describe observed outcomes and do not isolate a causal hint effect. Aggregate changes do not show that particular failed attempts became passes. Five replaced pre-agent DNS failures remain outside this matrix, preventing double counting of their replacements. All other retained exceptions remain in the 39-attempt denominators.</a:t>
            </a:r>
          </a:p>
          <a:p>
            <a:endParaRPr/>
          </a:p>
          <a:p>
            <a:r>
              <a:t>Sources:</a:t>
            </a:r>
          </a:p>
          <a:p>
            <a:r>
              <a:t>https://github.com/liuyiqiandrew/PhysLiteBench/blob/f1164fe2b2bc8d312733bedbfc633b48e3b3cb36/results/hint-comparison-20261015-005800/outcome-breakdown.md</a:t>
            </a:r>
          </a:p>
          <a:p>
            <a:r>
              <a:t>/Users/yp9846/Desktop/PhysLiteBench/output/presentation-20261014/PhysLiteBench-physics-failure-figures-20261015/failure-breakdown.json</a:t>
            </a:r>
          </a:p>
          <a:p>
            <a:r>
              <a:t>/Users/yp9846/Desktop/PhysLiteBench/output/presentation-20261014/PhysLiteBench-physics-failure-figures-20261015/analyze_failures.py</a:t>
            </a:r>
          </a:p>
          <a:p>
            <a:r>
              <a:t>/Users/yp9846/Desktop/PhysLiteBench/output/presentation-20261014/PhysLiteBench-physics-failure-figures-20261015/plot_failures.py</a:t>
            </a:r>
          </a:p>
          <a:p>
            <a:r>
              <a:t>/Users/yp9846/Desktop/PhysLiteBench/output/presentation-20261014/PhysLiteBench-physics-failure-figures-20261015/outcome-source-manifest.json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a:t>
            </a:r>
          </a:p>
          <a:p>
            <a:endParaRPr/>
          </a:p>
          <a:p>
            <a:r>
              <a:t>The table has five mutually exclusive outcomes and sums to 1,170. Of the 619 normally completed graded failures, 520 meet the strict physics-failure definition and 99 count as Other graded failure. Calibration and parameter success plus a hidden-prediction failure alone would identify 604 attempts. Review places 84 of them in Other because a mathematical, numerical or coding error was the primary cause. Examples in the report include detector-coordinate conversion, an anion charge sign, incorrect operator derivatives and a phase-wrap implementation error. A fit plus a failed new prediction is therefore insufficient to diagnose a physics failure. Three saved verifier-passing checkpoints in the hinted batch still count as timeouts because the agent exceeded its time limit.</a:t>
            </a:r>
          </a:p>
          <a:p>
            <a:endParaRPr/>
          </a:p>
          <a:p>
            <a:r>
              <a:t>This classification covers 1,170 existing matrix attempts, not additional observations: 390 no-hint, 390 general-hint and 390 physics-hint. It uses GPT-5.6 Luna at None, Low, Medium, High, Extra High and Max; GPT-5.6 Terra at Low and Medium; and GPT-5.6 Sol at Low and Medium. Each of the 30 cells has thirteen tasks with three attempts, so n=39. The full study remains 2,068 unique attempts. The additional independent High-effort study and other models are outside this strict classification. No classifications were imputed for them. Luna High here is the same single 39-attempt matrix used on slide 8.</a:t>
            </a:r>
          </a:p>
          <a:p>
            <a:endParaRPr/>
          </a:p>
          <a:p>
            <a:r>
              <a:t>A physics failure is a normally completed reward-0 attempt that passes calibration, parameter recovery and the public checks, fails at least one hidden prediction, and has a reviewed primary physical-model error. Mathematical, numerical or coding primaries remain Other graded failure, even if a secondary physics issue appears. Execution exceptions take precedence over saved grades. Timeout and other execution errors never establish a physics mistake.</a:t>
            </a:r>
          </a:p>
          <a:p>
            <a:endParaRPr/>
          </a:p>
          <a:p>
            <a:r>
              <a:t>The published report reuses full observable-trajectory and final-code reviews for 315 hinted graded failures and targeted reviews of 304 historical no-hint graded failures. We verified aggregate counts and overlap with archived results; we did not independently review the underlying raw trajectories or unpublished classification ledger. The report states 4,686 original artifact hashes were checked. The report ledger SHA-256 is b9faeffe2d4db9c983eab440f52b0eb19cf9222ead0e142fd0c9dfb2a2e5faca. No new model runs, numerical diagnostic reruns or grades were introduced.</a:t>
            </a:r>
          </a:p>
          <a:p>
            <a:endParaRPr/>
          </a:p>
          <a:p>
            <a:r>
              <a:t>Historical controls used four workers without the newer per-container CPU quotas. Hint runs used up to eight workers capped at 8.8 CPU cores including proxies. Hint lengths also differ. Comparisons describe observed outcomes and do not isolate a causal hint effect. Aggregate changes do not show that particular failed attempts became passes. Five replaced pre-agent DNS failures remain outside this matrix, preventing double counting of their replacements. All other retained exceptions remain in the 39-attempt denominators.</a:t>
            </a:r>
          </a:p>
          <a:p>
            <a:endParaRPr/>
          </a:p>
          <a:p>
            <a:r>
              <a:t>Sources:</a:t>
            </a:r>
          </a:p>
          <a:p>
            <a:r>
              <a:t>https://github.com/liuyiqiandrew/PhysLiteBench/blob/f1164fe2b2bc8d312733bedbfc633b48e3b3cb36/results/hint-comparison-20261015-005800/outcome-breakdown.md</a:t>
            </a:r>
          </a:p>
          <a:p>
            <a:r>
              <a:t>/Users/yp9846/Desktop/PhysLiteBench/output/presentation-20261014/PhysLiteBench-physics-failure-figures-20261015/failure-breakdown.json</a:t>
            </a:r>
          </a:p>
          <a:p>
            <a:r>
              <a:t>/Users/yp9846/Desktop/PhysLiteBench/output/presentation-20261014/PhysLiteBench-physics-failure-figures-20261015/analyze_failures.py</a:t>
            </a:r>
          </a:p>
          <a:p>
            <a:r>
              <a:t>/Users/yp9846/Desktop/PhysLiteBench/output/presentation-20261014/PhysLiteBench-physics-failure-figures-20261015/plot_failures.py</a:t>
            </a:r>
          </a:p>
          <a:p>
            <a:r>
              <a:t>/Users/yp9846/Desktop/PhysLiteBench/output/presentation-20261014/PhysLiteBench-physics-failure-figures-20261015/outcome-source-manifest.json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3DAF00F-B395-4BB8-A439-9AA89BEDDAA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B816860D-B2BB-4679-95BC-EC17130D2CD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C6704A9-9853-44A6-8B4A-4DC4DB9A471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0E75D2A-E789-411F-A213-993328928F9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EEEACEAE-9A1D-4507-A60D-2AE6FC7CF3F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7CEFAC2-A0C9-4F70-B012-77B95FAB7D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FE9C7553-1AB5-446B-B4C5-ABBCB0AC29F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B0184D06-C74C-4068-BE3F-45139A68C7E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57D4CBD-570B-4FE0-8AC2-C6CC842A2CE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2ACBB10A-755C-4118-A48F-8124498F7F4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B0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305941-EC9E-4DF1-85D9-9C688DEBF0BA}"/>
              </a:ext>
            </a:extLst>
          </p:cNvPr>
          <p:cNvSpPr>
            <a:spLocks noGrp="1"/>
          </p:cNvSpPr>
          <p:nvPr/>
        </p:nvSpPr>
        <p:spPr>
          <a:xfrm>
            <a:off x="609600" y="2266950"/>
            <a:ext cx="10972800" cy="990600"/>
          </a:xfrm>
          <a:prstGeom prst="rect">
            <a:avLst/>
          </a:prstGeom>
          <a:noFill/>
          <a:ln w="0">
            <a:noFill/>
          </a:ln>
        </p:spPr>
        <p:txBody>
          <a:bodyPr wrap="square" lIns="0" tIns="0" rIns="0" bIns="0" anchor="t"/>
          <a:lstStyle>
            <a:defPPr algn="l">
              <a:defRPr sz="5700" b="1">
                <a:solidFill>
                  <a:srgbClr val="FFFFFF"/>
                </a:solidFill>
                <a:latin typeface="Times New Roman"/>
                <a:ea typeface="Times New Roman"/>
                <a:cs typeface="Times New Roman"/>
              </a:defRPr>
            </a:defPPr>
          </a:lstStyle>
          <a:p>
            <a:pPr algn="l">
              <a:buNone/>
              <a:defRPr sz="5700" b="1">
                <a:solidFill>
                  <a:srgbClr val="FFFFFF"/>
                </a:solidFill>
                <a:latin typeface="Times New Roman"/>
                <a:ea typeface="Times New Roman"/>
                <a:cs typeface="Times New Roman"/>
              </a:defRPr>
            </a:pPr>
            <a:r>
              <a:rPr sz="5700" b="1">
                <a:solidFill>
                  <a:srgbClr val="FFFFFF"/>
                </a:solidFill>
                <a:latin typeface="Times New Roman"/>
                <a:ea typeface="Times New Roman"/>
                <a:cs typeface="Times New Roman"/>
              </a:rPr>
              <a:t>PhysLiteBench</a:t>
            </a:r>
          </a:p>
        </p:txBody>
      </p:sp>
      <p:sp>
        <p:nvSpPr>
          <p:cNvPr id="2" name="Rectangle 1">
            <a:extLst>
              <a:ext uri="{FF2B5EF4-FFF2-40B4-BE49-F238E27FC236}">
                <a16:creationId xmlns:a16="http://schemas.microsoft.com/office/drawing/2014/main" id="{A66653FB-D27E-4B22-AFF4-475D4255B342}"/>
              </a:ext>
            </a:extLst>
          </p:cNvPr>
          <p:cNvSpPr>
            <a:spLocks noGrp="1"/>
          </p:cNvSpPr>
          <p:nvPr/>
        </p:nvSpPr>
        <p:spPr>
          <a:xfrm>
            <a:off x="647700" y="3695700"/>
            <a:ext cx="10668000" cy="552450"/>
          </a:xfrm>
          <a:prstGeom prst="rect">
            <a:avLst/>
          </a:prstGeom>
          <a:noFill/>
          <a:ln w="0">
            <a:noFill/>
          </a:ln>
        </p:spPr>
        <p:txBody>
          <a:bodyPr wrap="square" lIns="0" tIns="0" rIns="0" bIns="0" anchor="t"/>
          <a:lstStyle>
            <a:defPPr algn="l">
              <a:defRPr sz="2700" b="0">
                <a:solidFill>
                  <a:srgbClr val="D1D5DB"/>
                </a:solidFill>
                <a:latin typeface="Times New Roman"/>
                <a:ea typeface="Times New Roman"/>
                <a:cs typeface="Times New Roman"/>
              </a:defRPr>
            </a:defPPr>
          </a:lstStyle>
          <a:p>
            <a:pPr algn="l">
              <a:buNone/>
              <a:defRPr sz="2700" b="0">
                <a:solidFill>
                  <a:srgbClr val="D1D5DB"/>
                </a:solidFill>
                <a:latin typeface="Times New Roman"/>
                <a:ea typeface="Times New Roman"/>
                <a:cs typeface="Times New Roman"/>
              </a:defRPr>
            </a:pPr>
            <a:r>
              <a:rPr sz="2700" b="0">
                <a:solidFill>
                  <a:srgbClr val="D1D5DB"/>
                </a:solidFill>
                <a:latin typeface="Times New Roman"/>
                <a:ea typeface="Times New Roman"/>
                <a:cs typeface="Times New Roman"/>
              </a:rPr>
              <a:t>Yue Pan and Andrew Liu</a:t>
            </a:r>
          </a:p>
        </p:txBody>
      </p:sp>
    </p:spTree>
    <p:extLst>
      <p:ext uri="{BB962C8B-B14F-4D97-AF65-F5344CB8AC3E}">
        <p14:creationId xmlns:p14="http://schemas.microsoft.com/office/powerpoint/2010/main" val="739885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C09820-22BB-4372-A10F-CB42F1E32FBB}"/>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Physics beyond a good fit</a:t>
            </a:r>
          </a:p>
        </p:txBody>
      </p:sp>
      <p:sp>
        <p:nvSpPr>
          <p:cNvPr id="2" name="Rectangle 1">
            <a:extLst>
              <a:ext uri="{FF2B5EF4-FFF2-40B4-BE49-F238E27FC236}">
                <a16:creationId xmlns:a16="http://schemas.microsoft.com/office/drawing/2014/main" id="{C4A9DD3B-B3F9-48AA-BE20-495804BE1615}"/>
              </a:ext>
            </a:extLst>
          </p:cNvPr>
          <p:cNvSpPr>
            <a:spLocks noGrp="1"/>
          </p:cNvSpPr>
          <p:nvPr/>
        </p:nvSpPr>
        <p:spPr>
          <a:xfrm>
            <a:off x="457200" y="914400"/>
            <a:ext cx="11277600" cy="457200"/>
          </a:xfrm>
          <a:prstGeom prst="rect">
            <a:avLst/>
          </a:prstGeom>
          <a:noFill/>
          <a:ln w="0">
            <a:noFill/>
          </a:ln>
        </p:spPr>
        <p:txBody>
          <a:bodyPr wrap="square" lIns="0" tIns="0" rIns="0" bIns="0" anchor="t"/>
          <a:lstStyle>
            <a:defPPr algn="l">
              <a:defRPr sz="1875" b="0" i="0">
                <a:solidFill>
                  <a:srgbClr val="444444"/>
                </a:solidFill>
                <a:latin typeface="Times New Roman"/>
                <a:ea typeface="Times New Roman"/>
                <a:cs typeface="Times New Roman"/>
              </a:defRPr>
            </a:defPPr>
          </a:lstStyle>
          <a:p>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Can agents identify the physics behind a scenario and predict beyond the observed data?</a:t>
            </a:r>
          </a:p>
        </p:txBody>
      </p:sp>
      <p:graphicFrame>
        <p:nvGraphicFramePr>
          <p:cNvPr id="4" name="Table 3">
            <a:extLst>
              <a:ext uri="{FF2B5EF4-FFF2-40B4-BE49-F238E27FC236}">
                <a16:creationId xmlns:a16="http://schemas.microsoft.com/office/drawing/2014/main" id="{F8A3C423-7B05-4BD0-A8C4-F0D2D9C72886}"/>
              </a:ext>
            </a:extLst>
          </p:cNvPr>
          <p:cNvGraphicFramePr/>
          <p:nvPr/>
        </p:nvGraphicFramePr>
        <p:xfrm>
          <a:off x="457200" y="1819275"/>
          <a:ext cx="11277600" cy="2714624"/>
        </p:xfrm>
        <a:graphic>
          <a:graphicData uri="http://schemas.openxmlformats.org/drawingml/2006/table">
            <a:tbl>
              <a:tblPr/>
              <a:tblGrid>
                <a:gridCol w="5510869">
                  <a:extLst>
                    <a:ext uri="{9D8B030D-6E8A-4147-A177-3AD203B41FA5}">
                      <a16:colId xmlns:a16="http://schemas.microsoft.com/office/drawing/2014/main" val="20000"/>
                    </a:ext>
                  </a:extLst>
                </a:gridCol>
                <a:gridCol w="5766731">
                  <a:extLst>
                    <a:ext uri="{9D8B030D-6E8A-4147-A177-3AD203B41FA5}">
                      <a16:colId xmlns:a16="http://schemas.microsoft.com/office/drawing/2014/main" val="20001"/>
                    </a:ext>
                  </a:extLst>
                </a:gridCol>
              </a:tblGrid>
              <a:tr h="678656">
                <a:tc>
                  <a:txBody>
                    <a:bodyPr/>
                    <a:lstStyle/>
                    <a:p>
                      <a:r>
                        <a:rPr sz="2025" b="1">
                          <a:solidFill>
                            <a:srgbClr val="FFFFFF"/>
                          </a:solidFill>
                          <a:latin typeface="Times New Roman"/>
                          <a:ea typeface="Times New Roman"/>
                          <a:cs typeface="Times New Roman"/>
                        </a:rPr>
                        <a:t>Available to the agent</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2025" b="1">
                          <a:solidFill>
                            <a:srgbClr val="FFFFFF"/>
                          </a:solidFill>
                          <a:latin typeface="Times New Roman"/>
                          <a:ea typeface="Times New Roman"/>
                          <a:cs typeface="Times New Roman"/>
                        </a:rPr>
                        <a:t>What the evaluator checks</a:t>
                      </a:r>
                    </a:p>
                  </a:txBody>
                  <a:tcPr marL="114300" marR="114300" marT="66675" marB="66675"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extLst>
                  <a:ext uri="{0D108BD9-81ED-4DB2-BD59-A6C34878D82A}">
                    <a16:rowId xmlns:a16="http://schemas.microsoft.com/office/drawing/2014/main" val="10000"/>
                  </a:ext>
                </a:extLst>
              </a:tr>
              <a:tr h="678656">
                <a:tc>
                  <a:txBody>
                    <a:bodyPr/>
                    <a:lstStyle/>
                    <a:p>
                      <a:r>
                        <a:rPr sz="2025" b="0">
                          <a:solidFill>
                            <a:srgbClr val="111111"/>
                          </a:solidFill>
                          <a:latin typeface="Times New Roman"/>
                          <a:ea typeface="Times New Roman"/>
                          <a:cs typeface="Times New Roman"/>
                        </a:rPr>
                        <a:t>Physical description and starter code</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Fit to observed data and model parameters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1"/>
                  </a:ext>
                </a:extLst>
              </a:tr>
              <a:tr h="678656">
                <a:tc>
                  <a:txBody>
                    <a:bodyPr/>
                    <a:lstStyle/>
                    <a:p>
                      <a:r>
                        <a:rPr sz="2025" b="0">
                          <a:solidFill>
                            <a:srgbClr val="111111"/>
                          </a:solidFill>
                          <a:latin typeface="Times New Roman"/>
                          <a:ea typeface="Times New Roman"/>
                          <a:cs typeface="Times New Roman"/>
                        </a:rPr>
                        <a:t>Calibration data and public tests</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2025" b="0">
                          <a:solidFill>
                            <a:srgbClr val="111111"/>
                          </a:solidFill>
                          <a:latin typeface="Times New Roman"/>
                          <a:ea typeface="Times New Roman"/>
                          <a:cs typeface="Times New Roman"/>
                        </a:rPr>
                        <a:t>Predictions beyond the observed settings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02"/>
                  </a:ext>
                </a:extLst>
              </a:tr>
              <a:tr h="678656">
                <a:tc>
                  <a:txBody>
                    <a:bodyPr/>
                    <a:lstStyle/>
                    <a:p>
                      <a:pPr marL="0" marR="0" indent="0" algn="l" defTabSz="914400">
                        <a:lnSpc>
                          <a:spcPct val="100000"/>
                        </a:lnSpc>
                        <a:spcBef>
                          <a:spcPts val="0"/>
                        </a:spcBef>
                        <a:spcAft>
                          <a:spcPts val="0"/>
                        </a:spcAft>
                        <a:buClrTx/>
                        <a:buSzTx/>
                        <a:buFontTx/>
                        <a:buNone/>
                      </a:pPr>
                      <a:r>
                        <a:rPr sz="2025" b="0">
                          <a:solidFill>
                            <a:srgbClr val="111111"/>
                          </a:solidFill>
                          <a:latin typeface="+mn-lt"/>
                          <a:ea typeface="+mn-lt"/>
                          <a:cs typeface="+mn-lt"/>
                        </a:rPr>
                        <a:t>Documented Python functions and I/O format</a:t>
                      </a:r>
                      <a:endParaRPr sz="2025" b="0">
                        <a:solidFill>
                          <a:srgbClr val="111111"/>
                        </a:solidFill>
                        <a:latin typeface="Times New Roman"/>
                        <a:ea typeface="Times New Roman"/>
                        <a:cs typeface="Times New Roman"/>
                      </a:endParaRP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Completion within the time budget</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CB8521B4-CF08-403D-8F9A-418747D0A182}"/>
              </a:ext>
            </a:extLst>
          </p:cNvPr>
          <p:cNvSpPr>
            <a:spLocks noGrp="1"/>
          </p:cNvSpPr>
          <p:nvPr/>
        </p:nvSpPr>
        <p:spPr>
          <a:xfrm>
            <a:off x="457200" y="4857750"/>
            <a:ext cx="1143000" cy="714375"/>
          </a:xfrm>
          <a:prstGeom prst="rect">
            <a:avLst/>
          </a:prstGeom>
          <a:noFill/>
          <a:ln w="0">
            <a:noFill/>
          </a:ln>
        </p:spPr>
        <p:txBody>
          <a:bodyPr wrap="square" lIns="0" tIns="0" rIns="0" bIns="0" anchor="t"/>
          <a:lstStyle>
            <a:defPPr algn="l">
              <a:defRPr sz="4350" b="1" i="0">
                <a:solidFill>
                  <a:srgbClr val="0F766E"/>
                </a:solidFill>
                <a:latin typeface="Times New Roman"/>
                <a:ea typeface="Times New Roman"/>
                <a:cs typeface="Times New Roman"/>
              </a:defRPr>
            </a:defPPr>
          </a:lstStyle>
          <a:p>
            <a:pPr algn="l">
              <a:buNone/>
              <a:defRPr sz="4350" b="1" i="0">
                <a:solidFill>
                  <a:srgbClr val="0F766E"/>
                </a:solidFill>
                <a:latin typeface="Times New Roman"/>
                <a:ea typeface="Times New Roman"/>
                <a:cs typeface="Times New Roman"/>
              </a:defRPr>
            </a:pPr>
            <a:r>
              <a:rPr sz="4350" b="1" i="0">
                <a:solidFill>
                  <a:srgbClr val="0F766E"/>
                </a:solidFill>
                <a:latin typeface="Times New Roman"/>
                <a:ea typeface="Times New Roman"/>
                <a:cs typeface="Times New Roman"/>
              </a:rPr>
              <a:t>13</a:t>
            </a:r>
          </a:p>
        </p:txBody>
      </p:sp>
      <p:sp>
        <p:nvSpPr>
          <p:cNvPr id="6" name="Rectangle 5">
            <a:extLst>
              <a:ext uri="{FF2B5EF4-FFF2-40B4-BE49-F238E27FC236}">
                <a16:creationId xmlns:a16="http://schemas.microsoft.com/office/drawing/2014/main" id="{FC56EB49-9538-451F-AFC3-9BECA96A74F8}"/>
              </a:ext>
            </a:extLst>
          </p:cNvPr>
          <p:cNvSpPr>
            <a:spLocks noGrp="1"/>
          </p:cNvSpPr>
          <p:nvPr/>
        </p:nvSpPr>
        <p:spPr>
          <a:xfrm>
            <a:off x="2009775" y="4943475"/>
            <a:ext cx="8953500" cy="1028700"/>
          </a:xfrm>
          <a:prstGeom prst="rect">
            <a:avLst/>
          </a:prstGeom>
          <a:noFill/>
          <a:ln w="0">
            <a:noFill/>
          </a:ln>
        </p:spPr>
        <p:txBody>
          <a:bodyPr wrap="square" lIns="0" tIns="0" rIns="0" bIns="0" anchor="t"/>
          <a:lstStyle>
            <a:defPPr algn="l">
              <a:defRPr sz="2025" b="0" i="0">
                <a:solidFill>
                  <a:srgbClr val="111111"/>
                </a:solidFill>
                <a:latin typeface="Times New Roman"/>
                <a:ea typeface="Times New Roman"/>
                <a:cs typeface="Times New Roman"/>
              </a:defRPr>
            </a:defPPr>
          </a:lstStyle>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physics tasks require predictions beyond the supplied observations.</a:t>
            </a:r>
          </a:p>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General and physics hints test what guidance helps agents succeed.</a:t>
            </a:r>
          </a:p>
        </p:txBody>
      </p:sp>
      <p:sp>
        <p:nvSpPr>
          <p:cNvPr id="9" name="Rectangle 8">
            <a:extLst>
              <a:ext uri="{FF2B5EF4-FFF2-40B4-BE49-F238E27FC236}">
                <a16:creationId xmlns:a16="http://schemas.microsoft.com/office/drawing/2014/main" id="{1355ACDC-5475-4330-937A-52DCD24B3300}"/>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2</a:t>
            </a:r>
          </a:p>
        </p:txBody>
      </p:sp>
    </p:spTree>
    <p:extLst>
      <p:ext uri="{BB962C8B-B14F-4D97-AF65-F5344CB8AC3E}">
        <p14:creationId xmlns:p14="http://schemas.microsoft.com/office/powerpoint/2010/main" val="460768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A1D93F41-C257-4C97-81AC-53D8D3F98DDE}"/>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Example Task: tracking one bead in a narrow tube</a:t>
            </a:r>
          </a:p>
        </p:txBody>
      </p:sp>
      <p:sp>
        <p:nvSpPr>
          <p:cNvPr id="2" name="Rectangle 1">
            <a:extLst>
              <a:ext uri="{FF2B5EF4-FFF2-40B4-BE49-F238E27FC236}">
                <a16:creationId xmlns:a16="http://schemas.microsoft.com/office/drawing/2014/main" id="{B2662629-35F5-4EF9-AC84-78AB4DCFFF26}"/>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beads move randomly and bump into each other, but cannot pass one another.</a:t>
            </a:r>
          </a:p>
        </p:txBody>
      </p:sp>
      <p:sp>
        <p:nvSpPr>
          <p:cNvPr id="3" name="Rectangle 2">
            <a:extLst>
              <a:ext uri="{FF2B5EF4-FFF2-40B4-BE49-F238E27FC236}">
                <a16:creationId xmlns:a16="http://schemas.microsoft.com/office/drawing/2014/main" id="{B72C789D-5DDF-4D29-8C76-5B173C9E8F4F}"/>
              </a:ext>
            </a:extLst>
          </p:cNvPr>
          <p:cNvSpPr>
            <a:spLocks noGrp="1"/>
          </p:cNvSpPr>
          <p:nvPr/>
        </p:nvSpPr>
        <p:spPr>
          <a:xfrm>
            <a:off x="457200" y="15811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Start every run with the same spacing</a:t>
            </a:r>
          </a:p>
        </p:txBody>
      </p:sp>
      <p:sp>
        <p:nvSpPr>
          <p:cNvPr id="4" name="Rectangle 3">
            <a:extLst>
              <a:ext uri="{FF2B5EF4-FFF2-40B4-BE49-F238E27FC236}">
                <a16:creationId xmlns:a16="http://schemas.microsoft.com/office/drawing/2014/main" id="{FA3A07CF-D11F-4622-856C-3CBFF16C57ED}"/>
              </a:ext>
            </a:extLst>
          </p:cNvPr>
          <p:cNvSpPr>
            <a:spLocks noGrp="1"/>
          </p:cNvSpPr>
          <p:nvPr/>
        </p:nvSpPr>
        <p:spPr>
          <a:xfrm>
            <a:off x="457200" y="2028825"/>
            <a:ext cx="5029200" cy="19050"/>
          </a:xfrm>
          <a:prstGeom prst="rect">
            <a:avLst/>
          </a:prstGeom>
          <a:solidFill>
            <a:srgbClr val="777777"/>
          </a:solidFill>
          <a:ln w="13335">
            <a:solidFill>
              <a:srgbClr val="777777"/>
            </a:solidFill>
            <a:prstDash val="solid"/>
          </a:ln>
        </p:spPr>
        <p:txBody>
          <a:bodyPr/>
          <a:lstStyle/>
          <a:p>
            <a:endParaRPr/>
          </a:p>
        </p:txBody>
      </p:sp>
      <p:sp>
        <p:nvSpPr>
          <p:cNvPr id="5" name="Rectangle 4">
            <a:extLst>
              <a:ext uri="{FF2B5EF4-FFF2-40B4-BE49-F238E27FC236}">
                <a16:creationId xmlns:a16="http://schemas.microsoft.com/office/drawing/2014/main" id="{3FFFF243-D917-44D5-8B4E-AEF19A84DF20}"/>
              </a:ext>
            </a:extLst>
          </p:cNvPr>
          <p:cNvSpPr>
            <a:spLocks noGrp="1"/>
          </p:cNvSpPr>
          <p:nvPr/>
        </p:nvSpPr>
        <p:spPr>
          <a:xfrm>
            <a:off x="457200" y="2581275"/>
            <a:ext cx="5029200" cy="19050"/>
          </a:xfrm>
          <a:prstGeom prst="rect">
            <a:avLst/>
          </a:prstGeom>
          <a:solidFill>
            <a:srgbClr val="777777"/>
          </a:solidFill>
          <a:ln w="13335">
            <a:solidFill>
              <a:srgbClr val="777777"/>
            </a:solidFill>
            <a:prstDash val="solid"/>
          </a:ln>
        </p:spPr>
        <p:txBody>
          <a:bodyPr/>
          <a:lstStyle/>
          <a:p>
            <a:endParaRPr/>
          </a:p>
        </p:txBody>
      </p:sp>
      <p:sp>
        <p:nvSpPr>
          <p:cNvPr id="6" name="Oval 5">
            <a:extLst>
              <a:ext uri="{FF2B5EF4-FFF2-40B4-BE49-F238E27FC236}">
                <a16:creationId xmlns:a16="http://schemas.microsoft.com/office/drawing/2014/main" id="{59B9F311-4DE1-41F4-91EE-D1DF06E54FB0}"/>
              </a:ext>
            </a:extLst>
          </p:cNvPr>
          <p:cNvSpPr>
            <a:spLocks noGrp="1"/>
          </p:cNvSpPr>
          <p:nvPr/>
        </p:nvSpPr>
        <p:spPr>
          <a:xfrm>
            <a:off x="7810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7" name="Oval 6">
            <a:extLst>
              <a:ext uri="{FF2B5EF4-FFF2-40B4-BE49-F238E27FC236}">
                <a16:creationId xmlns:a16="http://schemas.microsoft.com/office/drawing/2014/main" id="{F9DA28F5-23D0-4E5A-9759-20015A1D1595}"/>
              </a:ext>
            </a:extLst>
          </p:cNvPr>
          <p:cNvSpPr>
            <a:spLocks noGrp="1"/>
          </p:cNvSpPr>
          <p:nvPr/>
        </p:nvSpPr>
        <p:spPr>
          <a:xfrm>
            <a:off x="15049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8" name="Oval 7">
            <a:extLst>
              <a:ext uri="{FF2B5EF4-FFF2-40B4-BE49-F238E27FC236}">
                <a16:creationId xmlns:a16="http://schemas.microsoft.com/office/drawing/2014/main" id="{8379ECC2-76F0-4C85-9EF5-7010AC3D1101}"/>
              </a:ext>
            </a:extLst>
          </p:cNvPr>
          <p:cNvSpPr>
            <a:spLocks noGrp="1"/>
          </p:cNvSpPr>
          <p:nvPr/>
        </p:nvSpPr>
        <p:spPr>
          <a:xfrm>
            <a:off x="2228850" y="21431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9" name="Oval 8">
            <a:extLst>
              <a:ext uri="{FF2B5EF4-FFF2-40B4-BE49-F238E27FC236}">
                <a16:creationId xmlns:a16="http://schemas.microsoft.com/office/drawing/2014/main" id="{391A5650-9AC4-4DF2-B05B-863C0529C40E}"/>
              </a:ext>
            </a:extLst>
          </p:cNvPr>
          <p:cNvSpPr>
            <a:spLocks noGrp="1"/>
          </p:cNvSpPr>
          <p:nvPr/>
        </p:nvSpPr>
        <p:spPr>
          <a:xfrm>
            <a:off x="29527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0" name="Oval 9">
            <a:extLst>
              <a:ext uri="{FF2B5EF4-FFF2-40B4-BE49-F238E27FC236}">
                <a16:creationId xmlns:a16="http://schemas.microsoft.com/office/drawing/2014/main" id="{6EFEFD0B-10C8-4188-9C17-3FE386921650}"/>
              </a:ext>
            </a:extLst>
          </p:cNvPr>
          <p:cNvSpPr>
            <a:spLocks noGrp="1"/>
          </p:cNvSpPr>
          <p:nvPr/>
        </p:nvSpPr>
        <p:spPr>
          <a:xfrm>
            <a:off x="36766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1" name="Oval 10">
            <a:extLst>
              <a:ext uri="{FF2B5EF4-FFF2-40B4-BE49-F238E27FC236}">
                <a16:creationId xmlns:a16="http://schemas.microsoft.com/office/drawing/2014/main" id="{46B65E69-0398-4FD5-AF8C-50BF819D9F03}"/>
              </a:ext>
            </a:extLst>
          </p:cNvPr>
          <p:cNvSpPr>
            <a:spLocks noGrp="1"/>
          </p:cNvSpPr>
          <p:nvPr/>
        </p:nvSpPr>
        <p:spPr>
          <a:xfrm>
            <a:off x="44005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2" name="Rectangle 11">
            <a:extLst>
              <a:ext uri="{FF2B5EF4-FFF2-40B4-BE49-F238E27FC236}">
                <a16:creationId xmlns:a16="http://schemas.microsoft.com/office/drawing/2014/main" id="{28E2446B-75BD-490E-9F28-ECBCD9ADBFC6}"/>
              </a:ext>
            </a:extLst>
          </p:cNvPr>
          <p:cNvSpPr>
            <a:spLocks noGrp="1"/>
          </p:cNvSpPr>
          <p:nvPr/>
        </p:nvSpPr>
        <p:spPr>
          <a:xfrm>
            <a:off x="457200" y="29527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the orange bead early in the run</a:t>
            </a:r>
          </a:p>
        </p:txBody>
      </p:sp>
      <p:sp>
        <p:nvSpPr>
          <p:cNvPr id="13" name="Rectangle 12">
            <a:extLst>
              <a:ext uri="{FF2B5EF4-FFF2-40B4-BE49-F238E27FC236}">
                <a16:creationId xmlns:a16="http://schemas.microsoft.com/office/drawing/2014/main" id="{BAEFBBF5-E411-4F81-AF0F-D0CEC8B70CD1}"/>
              </a:ext>
            </a:extLst>
          </p:cNvPr>
          <p:cNvSpPr>
            <a:spLocks noGrp="1"/>
          </p:cNvSpPr>
          <p:nvPr/>
        </p:nvSpPr>
        <p:spPr>
          <a:xfrm>
            <a:off x="457200" y="3400425"/>
            <a:ext cx="5029200" cy="19050"/>
          </a:xfrm>
          <a:prstGeom prst="rect">
            <a:avLst/>
          </a:prstGeom>
          <a:solidFill>
            <a:srgbClr val="777777"/>
          </a:solidFill>
          <a:ln w="13335">
            <a:solidFill>
              <a:srgbClr val="777777"/>
            </a:solidFill>
            <a:prstDash val="solid"/>
          </a:ln>
        </p:spPr>
        <p:txBody>
          <a:bodyPr/>
          <a:lstStyle/>
          <a:p>
            <a:endParaRPr/>
          </a:p>
        </p:txBody>
      </p:sp>
      <p:sp>
        <p:nvSpPr>
          <p:cNvPr id="14" name="Rectangle 13">
            <a:extLst>
              <a:ext uri="{FF2B5EF4-FFF2-40B4-BE49-F238E27FC236}">
                <a16:creationId xmlns:a16="http://schemas.microsoft.com/office/drawing/2014/main" id="{615AB876-010E-4283-9E21-EC397A4697F6}"/>
              </a:ext>
            </a:extLst>
          </p:cNvPr>
          <p:cNvSpPr>
            <a:spLocks noGrp="1"/>
          </p:cNvSpPr>
          <p:nvPr/>
        </p:nvSpPr>
        <p:spPr>
          <a:xfrm>
            <a:off x="457200" y="3952875"/>
            <a:ext cx="5029200" cy="19050"/>
          </a:xfrm>
          <a:prstGeom prst="rect">
            <a:avLst/>
          </a:prstGeom>
          <a:solidFill>
            <a:srgbClr val="777777"/>
          </a:solidFill>
          <a:ln w="13335">
            <a:solidFill>
              <a:srgbClr val="777777"/>
            </a:solidFill>
            <a:prstDash val="solid"/>
          </a:ln>
        </p:spPr>
        <p:txBody>
          <a:bodyPr/>
          <a:lstStyle/>
          <a:p>
            <a:endParaRPr/>
          </a:p>
        </p:txBody>
      </p:sp>
      <p:sp>
        <p:nvSpPr>
          <p:cNvPr id="15" name="Oval 14">
            <a:extLst>
              <a:ext uri="{FF2B5EF4-FFF2-40B4-BE49-F238E27FC236}">
                <a16:creationId xmlns:a16="http://schemas.microsoft.com/office/drawing/2014/main" id="{E5A1B225-F3FF-4D9C-92D7-E40F1D5BCBCE}"/>
              </a:ext>
            </a:extLst>
          </p:cNvPr>
          <p:cNvSpPr>
            <a:spLocks noGrp="1"/>
          </p:cNvSpPr>
          <p:nvPr/>
        </p:nvSpPr>
        <p:spPr>
          <a:xfrm>
            <a:off x="70485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6" name="Oval 15">
            <a:extLst>
              <a:ext uri="{FF2B5EF4-FFF2-40B4-BE49-F238E27FC236}">
                <a16:creationId xmlns:a16="http://schemas.microsoft.com/office/drawing/2014/main" id="{9948075C-7CCB-41F8-BCA4-97DF2FD1515A}"/>
              </a:ext>
            </a:extLst>
          </p:cNvPr>
          <p:cNvSpPr>
            <a:spLocks noGrp="1"/>
          </p:cNvSpPr>
          <p:nvPr/>
        </p:nvSpPr>
        <p:spPr>
          <a:xfrm>
            <a:off x="14097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7" name="Oval 16">
            <a:extLst>
              <a:ext uri="{FF2B5EF4-FFF2-40B4-BE49-F238E27FC236}">
                <a16:creationId xmlns:a16="http://schemas.microsoft.com/office/drawing/2014/main" id="{B2F9B45D-0B24-4E86-BF50-D65EB69518C0}"/>
              </a:ext>
            </a:extLst>
          </p:cNvPr>
          <p:cNvSpPr>
            <a:spLocks noGrp="1"/>
          </p:cNvSpPr>
          <p:nvPr/>
        </p:nvSpPr>
        <p:spPr>
          <a:xfrm>
            <a:off x="2609850" y="35147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18" name="Oval 17">
            <a:extLst>
              <a:ext uri="{FF2B5EF4-FFF2-40B4-BE49-F238E27FC236}">
                <a16:creationId xmlns:a16="http://schemas.microsoft.com/office/drawing/2014/main" id="{AB1C0CEC-6762-440A-975C-D63168A89042}"/>
              </a:ext>
            </a:extLst>
          </p:cNvPr>
          <p:cNvSpPr>
            <a:spLocks noGrp="1"/>
          </p:cNvSpPr>
          <p:nvPr/>
        </p:nvSpPr>
        <p:spPr>
          <a:xfrm>
            <a:off x="3152775"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9" name="Oval 18">
            <a:extLst>
              <a:ext uri="{FF2B5EF4-FFF2-40B4-BE49-F238E27FC236}">
                <a16:creationId xmlns:a16="http://schemas.microsoft.com/office/drawing/2014/main" id="{B5AF0FC4-C53E-4C4D-9C04-31EC3AAB1406}"/>
              </a:ext>
            </a:extLst>
          </p:cNvPr>
          <p:cNvSpPr>
            <a:spLocks noGrp="1"/>
          </p:cNvSpPr>
          <p:nvPr/>
        </p:nvSpPr>
        <p:spPr>
          <a:xfrm>
            <a:off x="38862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0" name="Oval 19">
            <a:extLst>
              <a:ext uri="{FF2B5EF4-FFF2-40B4-BE49-F238E27FC236}">
                <a16:creationId xmlns:a16="http://schemas.microsoft.com/office/drawing/2014/main" id="{6B7E8D58-BDFF-479A-95C7-EE542F9EE661}"/>
              </a:ext>
            </a:extLst>
          </p:cNvPr>
          <p:cNvSpPr>
            <a:spLocks noGrp="1"/>
          </p:cNvSpPr>
          <p:nvPr/>
        </p:nvSpPr>
        <p:spPr>
          <a:xfrm>
            <a:off x="46101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1" name="Rectangle 20">
            <a:extLst>
              <a:ext uri="{FF2B5EF4-FFF2-40B4-BE49-F238E27FC236}">
                <a16:creationId xmlns:a16="http://schemas.microsoft.com/office/drawing/2014/main" id="{0CB0DDB6-D1AC-4C59-B68F-A6C8C1B7503D}"/>
              </a:ext>
            </a:extLst>
          </p:cNvPr>
          <p:cNvSpPr>
            <a:spLocks noGrp="1"/>
          </p:cNvSpPr>
          <p:nvPr/>
        </p:nvSpPr>
        <p:spPr>
          <a:xfrm>
            <a:off x="457200" y="43243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that same bead later in the run</a:t>
            </a:r>
          </a:p>
        </p:txBody>
      </p:sp>
      <p:sp>
        <p:nvSpPr>
          <p:cNvPr id="22" name="Rectangle 21">
            <a:extLst>
              <a:ext uri="{FF2B5EF4-FFF2-40B4-BE49-F238E27FC236}">
                <a16:creationId xmlns:a16="http://schemas.microsoft.com/office/drawing/2014/main" id="{962474D2-BD75-4462-A708-B5E038509DA5}"/>
              </a:ext>
            </a:extLst>
          </p:cNvPr>
          <p:cNvSpPr>
            <a:spLocks noGrp="1"/>
          </p:cNvSpPr>
          <p:nvPr/>
        </p:nvSpPr>
        <p:spPr>
          <a:xfrm>
            <a:off x="457200" y="4772025"/>
            <a:ext cx="5029200" cy="19050"/>
          </a:xfrm>
          <a:prstGeom prst="rect">
            <a:avLst/>
          </a:prstGeom>
          <a:solidFill>
            <a:srgbClr val="777777"/>
          </a:solidFill>
          <a:ln w="13335">
            <a:solidFill>
              <a:srgbClr val="777777"/>
            </a:solidFill>
            <a:prstDash val="solid"/>
          </a:ln>
        </p:spPr>
        <p:txBody>
          <a:bodyPr/>
          <a:lstStyle/>
          <a:p>
            <a:endParaRPr/>
          </a:p>
        </p:txBody>
      </p:sp>
      <p:sp>
        <p:nvSpPr>
          <p:cNvPr id="23" name="Rectangle 22">
            <a:extLst>
              <a:ext uri="{FF2B5EF4-FFF2-40B4-BE49-F238E27FC236}">
                <a16:creationId xmlns:a16="http://schemas.microsoft.com/office/drawing/2014/main" id="{A804FFB7-A505-4837-8A32-F2BC99ABA718}"/>
              </a:ext>
            </a:extLst>
          </p:cNvPr>
          <p:cNvSpPr>
            <a:spLocks noGrp="1"/>
          </p:cNvSpPr>
          <p:nvPr/>
        </p:nvSpPr>
        <p:spPr>
          <a:xfrm>
            <a:off x="457200" y="5324475"/>
            <a:ext cx="5029200" cy="19050"/>
          </a:xfrm>
          <a:prstGeom prst="rect">
            <a:avLst/>
          </a:prstGeom>
          <a:solidFill>
            <a:srgbClr val="777777"/>
          </a:solidFill>
          <a:ln w="13335">
            <a:solidFill>
              <a:srgbClr val="777777"/>
            </a:solidFill>
            <a:prstDash val="solid"/>
          </a:ln>
        </p:spPr>
        <p:txBody>
          <a:bodyPr/>
          <a:lstStyle/>
          <a:p>
            <a:endParaRPr/>
          </a:p>
        </p:txBody>
      </p:sp>
      <p:sp>
        <p:nvSpPr>
          <p:cNvPr id="24" name="Oval 23">
            <a:extLst>
              <a:ext uri="{FF2B5EF4-FFF2-40B4-BE49-F238E27FC236}">
                <a16:creationId xmlns:a16="http://schemas.microsoft.com/office/drawing/2014/main" id="{037F2927-4412-4402-945B-33194FE24E4C}"/>
              </a:ext>
            </a:extLst>
          </p:cNvPr>
          <p:cNvSpPr>
            <a:spLocks noGrp="1"/>
          </p:cNvSpPr>
          <p:nvPr/>
        </p:nvSpPr>
        <p:spPr>
          <a:xfrm>
            <a:off x="619125"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5" name="Oval 24">
            <a:extLst>
              <a:ext uri="{FF2B5EF4-FFF2-40B4-BE49-F238E27FC236}">
                <a16:creationId xmlns:a16="http://schemas.microsoft.com/office/drawing/2014/main" id="{68FBC403-934E-41E5-8C80-DE9DF183B5C5}"/>
              </a:ext>
            </a:extLst>
          </p:cNvPr>
          <p:cNvSpPr>
            <a:spLocks noGrp="1"/>
          </p:cNvSpPr>
          <p:nvPr/>
        </p:nvSpPr>
        <p:spPr>
          <a:xfrm>
            <a:off x="12001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6" name="Oval 25">
            <a:extLst>
              <a:ext uri="{FF2B5EF4-FFF2-40B4-BE49-F238E27FC236}">
                <a16:creationId xmlns:a16="http://schemas.microsoft.com/office/drawing/2014/main" id="{27E83168-75AC-4659-94BB-0865496E2000}"/>
              </a:ext>
            </a:extLst>
          </p:cNvPr>
          <p:cNvSpPr>
            <a:spLocks noGrp="1"/>
          </p:cNvSpPr>
          <p:nvPr/>
        </p:nvSpPr>
        <p:spPr>
          <a:xfrm>
            <a:off x="2914650" y="48863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27" name="Oval 26">
            <a:extLst>
              <a:ext uri="{FF2B5EF4-FFF2-40B4-BE49-F238E27FC236}">
                <a16:creationId xmlns:a16="http://schemas.microsoft.com/office/drawing/2014/main" id="{CCCC262F-3302-46A0-A01C-D4B3F8159971}"/>
              </a:ext>
            </a:extLst>
          </p:cNvPr>
          <p:cNvSpPr>
            <a:spLocks noGrp="1"/>
          </p:cNvSpPr>
          <p:nvPr/>
        </p:nvSpPr>
        <p:spPr>
          <a:xfrm>
            <a:off x="346710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8" name="Oval 27">
            <a:extLst>
              <a:ext uri="{FF2B5EF4-FFF2-40B4-BE49-F238E27FC236}">
                <a16:creationId xmlns:a16="http://schemas.microsoft.com/office/drawing/2014/main" id="{265E5809-D44E-48C4-B81F-908AF9B8EC90}"/>
              </a:ext>
            </a:extLst>
          </p:cNvPr>
          <p:cNvSpPr>
            <a:spLocks noGrp="1"/>
          </p:cNvSpPr>
          <p:nvPr/>
        </p:nvSpPr>
        <p:spPr>
          <a:xfrm>
            <a:off x="40195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9" name="Oval 28">
            <a:extLst>
              <a:ext uri="{FF2B5EF4-FFF2-40B4-BE49-F238E27FC236}">
                <a16:creationId xmlns:a16="http://schemas.microsoft.com/office/drawing/2014/main" id="{03EC835C-09E3-4CCA-AA9E-5F5E94C3BE48}"/>
              </a:ext>
            </a:extLst>
          </p:cNvPr>
          <p:cNvSpPr>
            <a:spLocks noGrp="1"/>
          </p:cNvSpPr>
          <p:nvPr/>
        </p:nvSpPr>
        <p:spPr>
          <a:xfrm>
            <a:off x="46672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31" name="Rectangle 30">
            <a:extLst>
              <a:ext uri="{FF2B5EF4-FFF2-40B4-BE49-F238E27FC236}">
                <a16:creationId xmlns:a16="http://schemas.microsoft.com/office/drawing/2014/main" id="{80CC5B1B-DE91-4841-A5BF-721EB21691BD}"/>
              </a:ext>
            </a:extLst>
          </p:cNvPr>
          <p:cNvSpPr>
            <a:spLocks noGrp="1"/>
          </p:cNvSpPr>
          <p:nvPr/>
        </p:nvSpPr>
        <p:spPr>
          <a:xfrm>
            <a:off x="6286500" y="1581150"/>
            <a:ext cx="54483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What the agent gets</a:t>
            </a:r>
          </a:p>
        </p:txBody>
      </p:sp>
      <p:sp>
        <p:nvSpPr>
          <p:cNvPr id="32" name="Rectangle 31">
            <a:extLst>
              <a:ext uri="{FF2B5EF4-FFF2-40B4-BE49-F238E27FC236}">
                <a16:creationId xmlns:a16="http://schemas.microsoft.com/office/drawing/2014/main" id="{05DCB7A6-18B5-424E-94B8-11149F2A1D49}"/>
              </a:ext>
            </a:extLst>
          </p:cNvPr>
          <p:cNvSpPr>
            <a:spLocks noGrp="1"/>
          </p:cNvSpPr>
          <p:nvPr/>
        </p:nvSpPr>
        <p:spPr>
          <a:xfrm>
            <a:off x="6286500" y="2057400"/>
            <a:ext cx="5448300" cy="9906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 setup description, starter code, and data</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on how far the bead typically moves</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at several observation times.</a:t>
            </a:r>
          </a:p>
        </p:txBody>
      </p:sp>
      <p:sp>
        <p:nvSpPr>
          <p:cNvPr id="33" name="Rectangle 32">
            <a:extLst>
              <a:ext uri="{FF2B5EF4-FFF2-40B4-BE49-F238E27FC236}">
                <a16:creationId xmlns:a16="http://schemas.microsoft.com/office/drawing/2014/main" id="{B0EA5148-8AD1-4370-B501-B24753F88571}"/>
              </a:ext>
            </a:extLst>
          </p:cNvPr>
          <p:cNvSpPr>
            <a:spLocks noGrp="1"/>
          </p:cNvSpPr>
          <p:nvPr/>
        </p:nvSpPr>
        <p:spPr>
          <a:xfrm>
            <a:off x="6286500" y="3295650"/>
            <a:ext cx="5448300" cy="352425"/>
          </a:xfrm>
          <a:prstGeom prst="rect">
            <a:avLst/>
          </a:prstGeom>
          <a:noFill/>
          <a:ln w="0">
            <a:noFill/>
          </a:ln>
        </p:spPr>
        <p:txBody>
          <a:bodyPr wrap="square" lIns="0" tIns="0" rIns="0" bIns="0" anchor="t"/>
          <a:lstStyle>
            <a:defPPr algn="l">
              <a:defRPr sz="2250" b="1">
                <a:solidFill>
                  <a:srgbClr val="1D4E89"/>
                </a:solidFill>
                <a:latin typeface="Times New Roman"/>
                <a:ea typeface="Times New Roman"/>
                <a:cs typeface="Times New Roman"/>
              </a:defRPr>
            </a:defPPr>
          </a:lstStyle>
          <a:p>
            <a:pPr algn="l">
              <a:buNone/>
              <a:defRPr sz="2250" b="1">
                <a:solidFill>
                  <a:srgbClr val="1D4E89"/>
                </a:solidFill>
                <a:latin typeface="Times New Roman"/>
                <a:ea typeface="Times New Roman"/>
                <a:cs typeface="Times New Roman"/>
              </a:defRPr>
            </a:pPr>
            <a:r>
              <a:rPr sz="2250" b="1">
                <a:solidFill>
                  <a:srgbClr val="1D4E89"/>
                </a:solidFill>
                <a:latin typeface="Times New Roman"/>
                <a:ea typeface="Times New Roman"/>
                <a:cs typeface="Times New Roman"/>
              </a:rPr>
              <a:t>What the agent must predict</a:t>
            </a:r>
          </a:p>
        </p:txBody>
      </p:sp>
      <p:sp>
        <p:nvSpPr>
          <p:cNvPr id="34" name="Rectangle 33">
            <a:extLst>
              <a:ext uri="{FF2B5EF4-FFF2-40B4-BE49-F238E27FC236}">
                <a16:creationId xmlns:a16="http://schemas.microsoft.com/office/drawing/2014/main" id="{C4209CE6-ACBA-4CB8-BAB6-2D1338E3E0D0}"/>
              </a:ext>
            </a:extLst>
          </p:cNvPr>
          <p:cNvSpPr>
            <a:spLocks noGrp="1"/>
          </p:cNvSpPr>
          <p:nvPr/>
        </p:nvSpPr>
        <p:spPr>
          <a:xfrm>
            <a:off x="6286500" y="3771900"/>
            <a:ext cx="5448300" cy="9906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Fit the spread of random motion (variance).</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Then predict how the bead’s early and later</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positions correlate across many runs (covariance).</a:t>
            </a:r>
          </a:p>
        </p:txBody>
      </p:sp>
      <p:sp>
        <p:nvSpPr>
          <p:cNvPr id="35" name="Rectangle 34">
            <a:extLst>
              <a:ext uri="{FF2B5EF4-FFF2-40B4-BE49-F238E27FC236}">
                <a16:creationId xmlns:a16="http://schemas.microsoft.com/office/drawing/2014/main" id="{87E47CA0-617F-4DEA-BF6A-8B00F933ADEB}"/>
              </a:ext>
            </a:extLst>
          </p:cNvPr>
          <p:cNvSpPr>
            <a:spLocks noGrp="1"/>
          </p:cNvSpPr>
          <p:nvPr/>
        </p:nvSpPr>
        <p:spPr>
          <a:xfrm>
            <a:off x="6286500" y="4895850"/>
            <a:ext cx="54483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Physics it must account for</a:t>
            </a:r>
          </a:p>
        </p:txBody>
      </p:sp>
      <p:sp>
        <p:nvSpPr>
          <p:cNvPr id="36" name="Rectangle 35">
            <a:extLst>
              <a:ext uri="{FF2B5EF4-FFF2-40B4-BE49-F238E27FC236}">
                <a16:creationId xmlns:a16="http://schemas.microsoft.com/office/drawing/2014/main" id="{0E992A19-E518-4A04-BDBE-E9742D222B5F}"/>
              </a:ext>
            </a:extLst>
          </p:cNvPr>
          <p:cNvSpPr>
            <a:spLocks noGrp="1"/>
          </p:cNvSpPr>
          <p:nvPr/>
        </p:nvSpPr>
        <p:spPr>
          <a:xfrm>
            <a:off x="6286500" y="5324474"/>
            <a:ext cx="5448300" cy="13891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 initial bead spacing can affect the correlation</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between early and later motion.</a:t>
            </a:r>
            <a:endParaRPr sz="2025">
              <a:solidFill>
                <a:srgbClr val="111111"/>
              </a:solidFill>
              <a:latin typeface="Times New Roman"/>
              <a:ea typeface="Times New Roman"/>
              <a:cs typeface="Times New Roman"/>
            </a:endParaRPr>
          </a:p>
          <a:p>
            <a:pPr>
              <a:buNone/>
              <a:defRPr sz="2025" b="0">
                <a:solidFill>
                  <a:srgbClr val="111111"/>
                </a:solidFill>
                <a:latin typeface="Times New Roman"/>
                <a:ea typeface="Times New Roman"/>
                <a:cs typeface="Times New Roman"/>
              </a:defRPr>
            </a:pPr>
            <a:r>
              <a:rPr sz="2025">
                <a:solidFill>
                  <a:srgbClr val="111111"/>
                </a:solidFill>
                <a:latin typeface="Times New Roman"/>
                <a:ea typeface="Times New Roman"/>
                <a:cs typeface="Times New Roman"/>
              </a:rPr>
              <a:t>The agent overestimates covariance between early and later bead positions.</a:t>
            </a:r>
            <a:endParaRPr sz="2025" b="0">
              <a:solidFill>
                <a:srgbClr val="111111"/>
              </a:solidFill>
              <a:latin typeface="Times New Roman"/>
              <a:ea typeface="Times New Roman"/>
              <a:cs typeface="Times New Roman"/>
            </a:endParaRPr>
          </a:p>
          <a:p>
            <a:pPr algn="l">
              <a:buNone/>
              <a:defRPr sz="2025" b="0">
                <a:solidFill>
                  <a:srgbClr val="111111"/>
                </a:solidFill>
                <a:latin typeface="Times New Roman"/>
                <a:ea typeface="Times New Roman"/>
                <a:cs typeface="Times New Roman"/>
              </a:defRPr>
            </a:pPr>
            <a:endParaRPr sz="2025" b="0">
              <a:solidFill>
                <a:srgbClr val="111111"/>
              </a:solidFill>
              <a:latin typeface="Times New Roman"/>
              <a:ea typeface="Times New Roman"/>
              <a:cs typeface="Times New Roman"/>
            </a:endParaRPr>
          </a:p>
        </p:txBody>
      </p:sp>
      <p:sp>
        <p:nvSpPr>
          <p:cNvPr id="38" name="Rectangle 37">
            <a:extLst>
              <a:ext uri="{FF2B5EF4-FFF2-40B4-BE49-F238E27FC236}">
                <a16:creationId xmlns:a16="http://schemas.microsoft.com/office/drawing/2014/main" id="{B5B2BFD1-9BD4-4B2A-804C-23D72BA3EF86}"/>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3</a:t>
            </a:r>
          </a:p>
        </p:txBody>
      </p:sp>
    </p:spTree>
    <p:extLst>
      <p:ext uri="{BB962C8B-B14F-4D97-AF65-F5344CB8AC3E}">
        <p14:creationId xmlns:p14="http://schemas.microsoft.com/office/powerpoint/2010/main" val="1374769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2E055D0-CB93-4BD7-8C34-D05A390641C9}"/>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Three prompt conditions</a:t>
            </a:r>
          </a:p>
        </p:txBody>
      </p:sp>
      <p:sp>
        <p:nvSpPr>
          <p:cNvPr id="2" name="Rectangle 1">
            <a:extLst>
              <a:ext uri="{FF2B5EF4-FFF2-40B4-BE49-F238E27FC236}">
                <a16:creationId xmlns:a16="http://schemas.microsoft.com/office/drawing/2014/main" id="{E3A2D2EB-BD64-42F5-A6A8-12EA53CBC6EA}"/>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task stays the same. Hints probe why the agent fails.</a:t>
            </a:r>
          </a:p>
        </p:txBody>
      </p:sp>
      <p:graphicFrame>
        <p:nvGraphicFramePr>
          <p:cNvPr id="3" name="Table 2">
            <a:extLst>
              <a:ext uri="{FF2B5EF4-FFF2-40B4-BE49-F238E27FC236}">
                <a16:creationId xmlns:a16="http://schemas.microsoft.com/office/drawing/2014/main" id="{CDB5A9AB-A039-4135-86AD-592C7D991837}"/>
              </a:ext>
            </a:extLst>
          </p:cNvPr>
          <p:cNvGraphicFramePr/>
          <p:nvPr/>
        </p:nvGraphicFramePr>
        <p:xfrm>
          <a:off x="457200" y="1571625"/>
          <a:ext cx="11277600" cy="2912745"/>
        </p:xfrm>
        <a:graphic>
          <a:graphicData uri="http://schemas.openxmlformats.org/drawingml/2006/table">
            <a:tbl>
              <a:tblPr/>
              <a:tblGrid>
                <a:gridCol w="2247900">
                  <a:extLst>
                    <a:ext uri="{9D8B030D-6E8A-4147-A177-3AD203B41FA5}">
                      <a16:colId xmlns:a16="http://schemas.microsoft.com/office/drawing/2014/main" val="20000"/>
                    </a:ext>
                  </a:extLst>
                </a:gridCol>
                <a:gridCol w="9029700">
                  <a:extLst>
                    <a:ext uri="{9D8B030D-6E8A-4147-A177-3AD203B41FA5}">
                      <a16:colId xmlns:a16="http://schemas.microsoft.com/office/drawing/2014/main" val="20001"/>
                    </a:ext>
                  </a:extLst>
                </a:gridCol>
              </a:tblGrid>
              <a:tr h="714375">
                <a:tc>
                  <a:txBody>
                    <a:bodyPr/>
                    <a:lstStyle/>
                    <a:p>
                      <a:r>
                        <a:rPr sz="2025" b="1">
                          <a:solidFill>
                            <a:srgbClr val="FFFFFF"/>
                          </a:solidFill>
                          <a:latin typeface="Times New Roman"/>
                          <a:ea typeface="Times New Roman"/>
                          <a:cs typeface="Times New Roman"/>
                        </a:rPr>
                        <a:t>Condition</a:t>
                      </a:r>
                    </a:p>
                  </a:txBody>
                  <a:tcPr marL="114300" marR="114300" marT="76200" marB="76200" anchor="ctr">
                    <a:lnL w="7620">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a:lstStyle/>
                    <a:p>
                      <a:r>
                        <a:rPr sz="2025" b="1">
                          <a:solidFill>
                            <a:srgbClr val="FFFFFF"/>
                          </a:solidFill>
                          <a:latin typeface="Times New Roman"/>
                          <a:ea typeface="Times New Roman"/>
                          <a:cs typeface="Times New Roman"/>
                        </a:rPr>
                        <a:t>Instruction or added guidance</a:t>
                      </a:r>
                    </a:p>
                  </a:txBody>
                  <a:tcPr marL="114300" marR="114300" marT="76200" marB="76200" anchor="ctr">
                    <a:lnL w="7620" cmpd="sng">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extLst>
                  <a:ext uri="{0D108BD9-81ED-4DB2-BD59-A6C34878D82A}">
                    <a16:rowId xmlns:a16="http://schemas.microsoft.com/office/drawing/2014/main" val="10000"/>
                  </a:ext>
                </a:extLst>
              </a:tr>
              <a:tr h="714375">
                <a:tc>
                  <a:txBody>
                    <a:bodyPr/>
                    <a:lstStyle/>
                    <a:p>
                      <a:r>
                        <a:rPr sz="2025" b="0">
                          <a:solidFill>
                            <a:srgbClr val="111111"/>
                          </a:solidFill>
                          <a:latin typeface="Times New Roman"/>
                          <a:ea typeface="Times New Roman"/>
                          <a:cs typeface="Times New Roman"/>
                        </a:rPr>
                        <a:t>No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Use the setup and supplied data to implement the model.</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extLst>
                  <a:ext uri="{0D108BD9-81ED-4DB2-BD59-A6C34878D82A}">
                    <a16:rowId xmlns:a16="http://schemas.microsoft.com/office/drawing/2014/main" val="10001"/>
                  </a:ext>
                </a:extLst>
              </a:tr>
              <a:tr h="714375">
                <a:tc>
                  <a:txBody>
                    <a:bodyPr/>
                    <a:lstStyle/>
                    <a:p>
                      <a:r>
                        <a:rPr sz="2025" b="0">
                          <a:solidFill>
                            <a:srgbClr val="111111"/>
                          </a:solidFill>
                          <a:latin typeface="Times New Roman"/>
                          <a:ea typeface="Times New Roman"/>
                          <a:cs typeface="Times New Roman"/>
                        </a:rPr>
                        <a:t>General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tc>
                  <a:txBody>
                    <a:bodyPr/>
                    <a:lstStyle/>
                    <a:p>
                      <a:r>
                        <a:rPr sz="2025" b="0">
                          <a:solidFill>
                            <a:srgbClr val="111111"/>
                          </a:solidFill>
                          <a:latin typeface="Times New Roman"/>
                          <a:ea typeface="Times New Roman"/>
                          <a:cs typeface="Times New Roman"/>
                        </a:rPr>
                        <a:t>“Check your implementation carefully and test its correctness before finishing.”</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extLst>
                  <a:ext uri="{0D108BD9-81ED-4DB2-BD59-A6C34878D82A}">
                    <a16:rowId xmlns:a16="http://schemas.microsoft.com/office/drawing/2014/main" val="10002"/>
                  </a:ext>
                </a:extLst>
              </a:tr>
              <a:tr h="714375">
                <a:tc>
                  <a:txBody>
                    <a:bodyPr/>
                    <a:lstStyle/>
                    <a:p>
                      <a:r>
                        <a:rPr sz="2025" b="0">
                          <a:solidFill>
                            <a:srgbClr val="111111"/>
                          </a:solidFill>
                          <a:latin typeface="Times New Roman"/>
                          <a:ea typeface="Times New Roman"/>
                          <a:cs typeface="Times New Roman"/>
                        </a:rPr>
                        <a:t>Physics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The starting arrangement affects how early and later motion are correlated. Account for that shared history.</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76C76A53-DEEC-454A-9753-1C69F3526FBC}"/>
              </a:ext>
            </a:extLst>
          </p:cNvPr>
          <p:cNvSpPr>
            <a:spLocks noGrp="1"/>
          </p:cNvSpPr>
          <p:nvPr/>
        </p:nvSpPr>
        <p:spPr>
          <a:xfrm>
            <a:off x="457200" y="4810125"/>
            <a:ext cx="112776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For the bead example</a:t>
            </a:r>
          </a:p>
        </p:txBody>
      </p:sp>
      <p:sp>
        <p:nvSpPr>
          <p:cNvPr id="5" name="Rectangle 4">
            <a:extLst>
              <a:ext uri="{FF2B5EF4-FFF2-40B4-BE49-F238E27FC236}">
                <a16:creationId xmlns:a16="http://schemas.microsoft.com/office/drawing/2014/main" id="{9BB0283D-1D38-4884-B8B4-61E3727BC95D}"/>
              </a:ext>
            </a:extLst>
          </p:cNvPr>
          <p:cNvSpPr>
            <a:spLocks noGrp="1"/>
          </p:cNvSpPr>
          <p:nvPr/>
        </p:nvSpPr>
        <p:spPr>
          <a:xfrm>
            <a:off x="457200" y="5314950"/>
            <a:ext cx="11277600" cy="685800"/>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general hint asks the agent to check its work.</a:t>
            </a: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physics hint points to something its formula may be missing.</a:t>
            </a:r>
          </a:p>
        </p:txBody>
      </p:sp>
      <p:sp>
        <p:nvSpPr>
          <p:cNvPr id="7" name="Rectangle 6">
            <a:extLst>
              <a:ext uri="{FF2B5EF4-FFF2-40B4-BE49-F238E27FC236}">
                <a16:creationId xmlns:a16="http://schemas.microsoft.com/office/drawing/2014/main" id="{6F7B7D6A-AEA7-4431-AB33-4CEEE44EF934}"/>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4</a:t>
            </a:r>
          </a:p>
        </p:txBody>
      </p:sp>
    </p:spTree>
    <p:extLst>
      <p:ext uri="{BB962C8B-B14F-4D97-AF65-F5344CB8AC3E}">
        <p14:creationId xmlns:p14="http://schemas.microsoft.com/office/powerpoint/2010/main" val="1697024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7324F2-5B2D-40B0-A9C9-E6CD9418AB7A}"/>
              </a:ext>
            </a:extLst>
          </p:cNvPr>
          <p:cNvSpPr>
            <a:spLocks noGrp="1"/>
          </p:cNvSpPr>
          <p:nvPr/>
        </p:nvSpPr>
        <p:spPr>
          <a:xfrm>
            <a:off x="457200" y="30480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Experiment and evaluation</a:t>
            </a:r>
          </a:p>
        </p:txBody>
      </p:sp>
      <p:sp>
        <p:nvSpPr>
          <p:cNvPr id="2" name="Rectangle 1">
            <a:extLst>
              <a:ext uri="{FF2B5EF4-FFF2-40B4-BE49-F238E27FC236}">
                <a16:creationId xmlns:a16="http://schemas.microsoft.com/office/drawing/2014/main" id="{B54B4D67-E035-47EF-9E0D-E9E7105557A7}"/>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13 frozen tasks. A pass requires completion within the time limit and all graded checks. 3 repeat for each config.</a:t>
            </a:r>
          </a:p>
        </p:txBody>
      </p:sp>
      <p:sp>
        <p:nvSpPr>
          <p:cNvPr id="3" name="Rectangle 2">
            <a:extLst>
              <a:ext uri="{FF2B5EF4-FFF2-40B4-BE49-F238E27FC236}">
                <a16:creationId xmlns:a16="http://schemas.microsoft.com/office/drawing/2014/main" id="{4625F7E8-2DA2-4C40-B871-DB3AA8D209FE}"/>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5</a:t>
            </a:r>
          </a:p>
        </p:txBody>
      </p:sp>
      <p:graphicFrame>
        <p:nvGraphicFramePr>
          <p:cNvPr id="4" name="Table 3">
            <a:extLst>
              <a:ext uri="{FF2B5EF4-FFF2-40B4-BE49-F238E27FC236}">
                <a16:creationId xmlns:a16="http://schemas.microsoft.com/office/drawing/2014/main" id="{040E4A3D-5BE8-46C3-8CDE-2A5A23155FB1}"/>
              </a:ext>
            </a:extLst>
          </p:cNvPr>
          <p:cNvGraphicFramePr/>
          <p:nvPr/>
        </p:nvGraphicFramePr>
        <p:xfrm>
          <a:off x="457200" y="1504950"/>
          <a:ext cx="11277600" cy="3962400"/>
        </p:xfrm>
        <a:graphic>
          <a:graphicData uri="http://schemas.openxmlformats.org/drawingml/2006/table">
            <a:tbl>
              <a:tblPr/>
              <a:tblGrid>
                <a:gridCol w="2428875">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2809875">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1847850">
                  <a:extLst>
                    <a:ext uri="{9D8B030D-6E8A-4147-A177-3AD203B41FA5}">
                      <a16:colId xmlns:a16="http://schemas.microsoft.com/office/drawing/2014/main" val="20004"/>
                    </a:ext>
                  </a:extLst>
                </a:gridCol>
              </a:tblGrid>
              <a:tr h="495300">
                <a:tc>
                  <a:txBody>
                    <a:bodyPr/>
                    <a:lstStyle/>
                    <a:p>
                      <a:r>
                        <a:rPr sz="1725" b="1">
                          <a:solidFill>
                            <a:srgbClr val="FFFFFF"/>
                          </a:solidFill>
                          <a:latin typeface="Times New Roman"/>
                          <a:ea typeface="Times New Roman"/>
                          <a:cs typeface="Times New Roman"/>
                        </a:rPr>
                        <a:t>Model</a:t>
                      </a:r>
                    </a:p>
                  </a:txBody>
                  <a:tcPr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No-hint efforts</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Hinted efforts</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Tasks</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Attempts</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extLst>
                  <a:ext uri="{0D108BD9-81ED-4DB2-BD59-A6C34878D82A}">
                    <a16:rowId xmlns:a16="http://schemas.microsoft.com/office/drawing/2014/main" val="10000"/>
                  </a:ext>
                </a:extLst>
              </a:tr>
              <a:tr h="495300">
                <a:tc>
                  <a:txBody>
                    <a:bodyPr/>
                    <a:lstStyle/>
                    <a:p>
                      <a:r>
                        <a:rPr sz="1725" b="0">
                          <a:solidFill>
                            <a:srgbClr val="111111"/>
                          </a:solidFill>
                          <a:latin typeface="Times New Roman"/>
                          <a:ea typeface="Times New Roman"/>
                          <a:cs typeface="Times New Roman"/>
                        </a:rPr>
                        <a:t>GPT-5.6 Luna</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None to Max (6 levels)</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None to Max (6 levels)</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781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1"/>
                  </a:ext>
                </a:extLst>
              </a:tr>
              <a:tr h="495300">
                <a:tc>
                  <a:txBody>
                    <a:bodyPr/>
                    <a:lstStyle/>
                    <a:p>
                      <a:r>
                        <a:rPr sz="1725" b="0">
                          <a:solidFill>
                            <a:srgbClr val="111111"/>
                          </a:solidFill>
                          <a:latin typeface="Times New Roman"/>
                          <a:ea typeface="Times New Roman"/>
                          <a:cs typeface="Times New Roman"/>
                        </a:rPr>
                        <a:t>GPT-5.6 Terra</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Medium, High, Extra High</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Medium, High</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468</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2"/>
                  </a:ext>
                </a:extLst>
              </a:tr>
              <a:tr h="495300">
                <a:tc>
                  <a:txBody>
                    <a:bodyPr/>
                    <a:lstStyle/>
                    <a:p>
                      <a:r>
                        <a:rPr sz="1725" b="0">
                          <a:solidFill>
                            <a:srgbClr val="111111"/>
                          </a:solidFill>
                          <a:latin typeface="Times New Roman"/>
                          <a:ea typeface="Times New Roman"/>
                          <a:cs typeface="Times New Roman"/>
                        </a:rPr>
                        <a:t>GPT-5.6 Sol</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Medium</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Medium</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234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3"/>
                  </a:ext>
                </a:extLst>
              </a:tr>
              <a:tr h="495300">
                <a:tc>
                  <a:txBody>
                    <a:bodyPr/>
                    <a:lstStyle/>
                    <a:p>
                      <a:r>
                        <a:rPr sz="1725" b="0">
                          <a:solidFill>
                            <a:srgbClr val="111111"/>
                          </a:solidFill>
                          <a:latin typeface="Times New Roman"/>
                          <a:ea typeface="Times New Roman"/>
                          <a:cs typeface="Times New Roman"/>
                        </a:rPr>
                        <a:t>GPT-6 Luna</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High, Extra High</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117</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4"/>
                  </a:ext>
                </a:extLst>
              </a:tr>
              <a:tr h="495300">
                <a:tc>
                  <a:txBody>
                    <a:bodyPr/>
                    <a:lstStyle/>
                    <a:p>
                      <a:r>
                        <a:rPr sz="1725" b="0">
                          <a:solidFill>
                            <a:srgbClr val="111111"/>
                          </a:solidFill>
                          <a:latin typeface="Times New Roman"/>
                          <a:ea typeface="Times New Roman"/>
                          <a:cs typeface="Times New Roman"/>
                        </a:rPr>
                        <a:t>GPT-6 Sol</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High, Extra High</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117</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5"/>
                  </a:ext>
                </a:extLst>
              </a:tr>
              <a:tr h="495300">
                <a:tc>
                  <a:txBody>
                    <a:bodyPr/>
                    <a:lstStyle/>
                    <a:p>
                      <a:r>
                        <a:rPr sz="1725" b="0">
                          <a:solidFill>
                            <a:srgbClr val="111111"/>
                          </a:solidFill>
                          <a:latin typeface="Times New Roman"/>
                          <a:ea typeface="Times New Roman"/>
                          <a:cs typeface="Times New Roman"/>
                        </a:rPr>
                        <a:t>GPT-6 Astra</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High, Extra High</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117</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6"/>
                  </a:ext>
                </a:extLst>
              </a:tr>
              <a:tr h="495300">
                <a:tc>
                  <a:txBody>
                    <a:bodyPr/>
                    <a:lstStyle/>
                    <a:p>
                      <a:r>
                        <a:rPr sz="1725" b="0">
                          <a:solidFill>
                            <a:srgbClr val="111111"/>
                          </a:solidFill>
                          <a:latin typeface="Times New Roman"/>
                          <a:ea typeface="Times New Roman"/>
                          <a:cs typeface="Times New Roman"/>
                        </a:rPr>
                        <a:t>DeepSeek V4.1 Flash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High, Max</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High</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234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81B102D8-C580-4666-BE72-0F06D59D92F7}"/>
              </a:ext>
            </a:extLst>
          </p:cNvPr>
          <p:cNvSpPr>
            <a:spLocks noGrp="1"/>
          </p:cNvSpPr>
          <p:nvPr/>
        </p:nvSpPr>
        <p:spPr>
          <a:xfrm>
            <a:off x="457200" y="5619750"/>
            <a:ext cx="11277600" cy="381000"/>
          </a:xfrm>
          <a:prstGeom prst="rect">
            <a:avLst/>
          </a:prstGeom>
          <a:noFill/>
          <a:ln w="0">
            <a:noFill/>
          </a:ln>
        </p:spPr>
        <p:txBody>
          <a:bodyPr wrap="square" lIns="0" tIns="0" rIns="0" bIns="0" anchor="t"/>
          <a:lstStyle>
            <a:defPPr>
              <a:defRPr sz="2025" b="0">
                <a:solidFill>
                  <a:srgbClr val="111111"/>
                </a:solidFill>
                <a:latin typeface="Times New Roman"/>
                <a:ea typeface="Times New Roman"/>
                <a:cs typeface="Times New Roman"/>
              </a:defRPr>
            </a:defPPr>
          </a:lstStyle>
          <a:p>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2,068 attempts across 48 model, effort and hint settings.</a:t>
            </a:r>
          </a:p>
        </p:txBody>
      </p:sp>
      <p:sp>
        <p:nvSpPr>
          <p:cNvPr id="6" name="Rectangle 5">
            <a:extLst>
              <a:ext uri="{FF2B5EF4-FFF2-40B4-BE49-F238E27FC236}">
                <a16:creationId xmlns:a16="http://schemas.microsoft.com/office/drawing/2014/main" id="{B6BD40B8-157E-475B-A1A6-73A9D3808EE9}"/>
              </a:ext>
            </a:extLst>
          </p:cNvPr>
          <p:cNvSpPr>
            <a:spLocks noGrp="1"/>
          </p:cNvSpPr>
          <p:nvPr/>
        </p:nvSpPr>
        <p:spPr>
          <a:xfrm>
            <a:off x="457200" y="6048375"/>
            <a:ext cx="11277600" cy="333375"/>
          </a:xfrm>
          <a:prstGeom prst="rect">
            <a:avLst/>
          </a:prstGeom>
          <a:noFill/>
          <a:ln w="0">
            <a:noFill/>
          </a:ln>
        </p:spPr>
        <p:txBody>
          <a:bodyPr wrap="square" lIns="0" tIns="0" rIns="0" bIns="0" anchor="t"/>
          <a:lstStyle>
            <a:defPPr>
              <a:defRPr sz="1800" b="0">
                <a:solidFill>
                  <a:srgbClr val="444444"/>
                </a:solidFill>
                <a:latin typeface="Times New Roman"/>
                <a:ea typeface="Times New Roman"/>
                <a:cs typeface="Times New Roman"/>
              </a:defRPr>
            </a:defPPr>
          </a:lstStyle>
          <a:p>
            <a:pP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Harbor with Codex agents. Time limits: 600 s for solving and 60 s for grading.</a:t>
            </a:r>
          </a:p>
        </p:txBody>
      </p:sp>
    </p:spTree>
    <p:extLst>
      <p:ext uri="{BB962C8B-B14F-4D97-AF65-F5344CB8AC3E}">
        <p14:creationId xmlns:p14="http://schemas.microsoft.com/office/powerpoint/2010/main" val="1104128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75362C3-E16C-40AA-A029-16633B943820}"/>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Cost and success without hints</a:t>
            </a:r>
          </a:p>
        </p:txBody>
      </p:sp>
      <p:sp>
        <p:nvSpPr>
          <p:cNvPr id="2" name="Rectangle 1">
            <a:extLst>
              <a:ext uri="{FF2B5EF4-FFF2-40B4-BE49-F238E27FC236}">
                <a16:creationId xmlns:a16="http://schemas.microsoft.com/office/drawing/2014/main" id="{2C5B2D1A-7360-4324-ACFF-A9BC0F3B6241}"/>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All 24 benchmark settings. Both cost axes use log scales.</a:t>
            </a:r>
          </a:p>
        </p:txBody>
      </p:sp>
      <p:sp>
        <p:nvSpPr>
          <p:cNvPr id="3" name="Rectangle 2">
            <a:extLst>
              <a:ext uri="{FF2B5EF4-FFF2-40B4-BE49-F238E27FC236}">
                <a16:creationId xmlns:a16="http://schemas.microsoft.com/office/drawing/2014/main" id="{2F1DD0E5-D745-4C1A-B0A4-70599B6D8BAC}"/>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6</a:t>
            </a:r>
          </a:p>
        </p:txBody>
      </p:sp>
      <p:pic>
        <p:nvPicPr>
          <p:cNvPr id="7" name="Picture 6">
            <a:extLst>
              <a:ext uri="{FF2B5EF4-FFF2-40B4-BE49-F238E27FC236}">
                <a16:creationId xmlns:a16="http://schemas.microsoft.com/office/drawing/2014/main" id="{A434B61D-CF5E-43D8-9D2C-F3A1E6D91859}"/>
              </a:ext>
            </a:extLst>
          </p:cNvPr>
          <p:cNvPicPr>
            <a:picLocks noChangeAspect="1"/>
          </p:cNvPicPr>
          <p:nvPr/>
        </p:nvPicPr>
        <p:blipFill>
          <a:blip r:embed="rId3"/>
          <a:stretch/>
        </p:blipFill>
        <p:spPr>
          <a:xfrm>
            <a:off x="383956" y="1400175"/>
            <a:ext cx="11424088" cy="5019675"/>
          </a:xfrm>
          <a:prstGeom prst="rect">
            <a:avLst/>
          </a:prstGeom>
        </p:spPr>
      </p:pic>
    </p:spTree>
    <p:extLst>
      <p:ext uri="{BB962C8B-B14F-4D97-AF65-F5344CB8AC3E}">
        <p14:creationId xmlns:p14="http://schemas.microsoft.com/office/powerpoint/2010/main" val="561225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26DFC98-4EEA-4DBF-B935-A165B973D315}"/>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Cost and success with hints</a:t>
            </a:r>
          </a:p>
        </p:txBody>
      </p:sp>
      <p:sp>
        <p:nvSpPr>
          <p:cNvPr id="2" name="Rectangle 1">
            <a:extLst>
              <a:ext uri="{FF2B5EF4-FFF2-40B4-BE49-F238E27FC236}">
                <a16:creationId xmlns:a16="http://schemas.microsoft.com/office/drawing/2014/main" id="{623779AE-31B5-450E-B7C2-137A836D3766}"/>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All 36 settings across the same 12 model–effort combinations. Both cost axes use log scales.</a:t>
            </a:r>
          </a:p>
        </p:txBody>
      </p:sp>
      <p:sp>
        <p:nvSpPr>
          <p:cNvPr id="3" name="Rectangle 2">
            <a:extLst>
              <a:ext uri="{FF2B5EF4-FFF2-40B4-BE49-F238E27FC236}">
                <a16:creationId xmlns:a16="http://schemas.microsoft.com/office/drawing/2014/main" id="{5F85D8CF-06FA-4496-858C-F58EF7172157}"/>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7</a:t>
            </a:r>
          </a:p>
        </p:txBody>
      </p:sp>
      <p:pic>
        <p:nvPicPr>
          <p:cNvPr id="7" name="Picture 6">
            <a:extLst>
              <a:ext uri="{FF2B5EF4-FFF2-40B4-BE49-F238E27FC236}">
                <a16:creationId xmlns:a16="http://schemas.microsoft.com/office/drawing/2014/main" id="{FE3B0FA7-F8F4-444F-986B-E75B73472EB7}"/>
              </a:ext>
            </a:extLst>
          </p:cNvPr>
          <p:cNvPicPr>
            <a:picLocks noChangeAspect="1"/>
          </p:cNvPicPr>
          <p:nvPr/>
        </p:nvPicPr>
        <p:blipFill>
          <a:blip r:embed="rId3"/>
          <a:stretch/>
        </p:blipFill>
        <p:spPr>
          <a:xfrm>
            <a:off x="383956" y="1400175"/>
            <a:ext cx="11424088" cy="5019675"/>
          </a:xfrm>
          <a:prstGeom prst="rect">
            <a:avLst/>
          </a:prstGeom>
        </p:spPr>
      </p:pic>
    </p:spTree>
    <p:extLst>
      <p:ext uri="{BB962C8B-B14F-4D97-AF65-F5344CB8AC3E}">
        <p14:creationId xmlns:p14="http://schemas.microsoft.com/office/powerpoint/2010/main" val="1129388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7CF5279-D8E9-4CE9-8986-47802DA68BE8}"/>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Luna: reasoning effort and hints</a:t>
            </a:r>
          </a:p>
        </p:txBody>
      </p:sp>
      <p:sp>
        <p:nvSpPr>
          <p:cNvPr id="2" name="Rectangle 1">
            <a:extLst>
              <a:ext uri="{FF2B5EF4-FFF2-40B4-BE49-F238E27FC236}">
                <a16:creationId xmlns:a16="http://schemas.microsoft.com/office/drawing/2014/main" id="{5753F515-E0DC-4630-8EF3-4CFECCB7156E}"/>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Luna. 13 tasks × 3 attempts for each effort and hint condition.</a:t>
            </a:r>
          </a:p>
        </p:txBody>
      </p:sp>
      <p:sp>
        <p:nvSpPr>
          <p:cNvPr id="3" name="Rectangle 2">
            <a:extLst>
              <a:ext uri="{FF2B5EF4-FFF2-40B4-BE49-F238E27FC236}">
                <a16:creationId xmlns:a16="http://schemas.microsoft.com/office/drawing/2014/main" id="{44CBCC7A-2B3E-4BB8-A17C-89503162166B}"/>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8</a:t>
            </a:r>
          </a:p>
        </p:txBody>
      </p:sp>
      <p:sp>
        <p:nvSpPr>
          <p:cNvPr id="5" name="Rectangle 4">
            <a:extLst>
              <a:ext uri="{FF2B5EF4-FFF2-40B4-BE49-F238E27FC236}">
                <a16:creationId xmlns:a16="http://schemas.microsoft.com/office/drawing/2014/main" id="{C503E373-5342-45CE-B7DA-D5478D3FADA8}"/>
              </a:ext>
            </a:extLst>
          </p:cNvPr>
          <p:cNvSpPr>
            <a:spLocks noGrp="1"/>
          </p:cNvSpPr>
          <p:nvPr/>
        </p:nvSpPr>
        <p:spPr>
          <a:xfrm>
            <a:off x="457200" y="5895975"/>
            <a:ext cx="11277600" cy="371475"/>
          </a:xfrm>
          <a:prstGeom prst="rect">
            <a:avLst/>
          </a:prstGeom>
          <a:noFill/>
          <a:ln w="0">
            <a:noFill/>
          </a:ln>
        </p:spPr>
        <p:txBody>
          <a:bodyPr wrap="square" lIns="0" tIns="0" rIns="0" bIns="0" anchor="t"/>
          <a:lstStyle>
            <a:defPPr>
              <a:defRPr sz="2175" b="1">
                <a:solidFill>
                  <a:srgbClr val="111111"/>
                </a:solidFill>
                <a:latin typeface="Times New Roman"/>
                <a:ea typeface="Times New Roman"/>
                <a:cs typeface="Times New Roman"/>
              </a:defRPr>
            </a:defPPr>
          </a:lstStyle>
          <a:p>
            <a:pPr>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General hints help at higher efforts. Physics hints help at every effort.</a:t>
            </a:r>
          </a:p>
        </p:txBody>
      </p:sp>
      <p:pic>
        <p:nvPicPr>
          <p:cNvPr id="8" name="Picture 7">
            <a:extLst>
              <a:ext uri="{FF2B5EF4-FFF2-40B4-BE49-F238E27FC236}">
                <a16:creationId xmlns:a16="http://schemas.microsoft.com/office/drawing/2014/main" id="{F755DAE7-4EB7-412C-BF8C-BF449FF195EC}"/>
              </a:ext>
            </a:extLst>
          </p:cNvPr>
          <p:cNvPicPr>
            <a:picLocks noChangeAspect="1"/>
          </p:cNvPicPr>
          <p:nvPr/>
        </p:nvPicPr>
        <p:blipFill>
          <a:blip r:embed="rId3"/>
          <a:stretch/>
        </p:blipFill>
        <p:spPr>
          <a:xfrm>
            <a:off x="457200" y="1400656"/>
            <a:ext cx="11277600" cy="4485409"/>
          </a:xfrm>
          <a:prstGeom prst="rect">
            <a:avLst/>
          </a:prstGeom>
        </p:spPr>
      </p:pic>
    </p:spTree>
    <p:extLst>
      <p:ext uri="{BB962C8B-B14F-4D97-AF65-F5344CB8AC3E}">
        <p14:creationId xmlns:p14="http://schemas.microsoft.com/office/powerpoint/2010/main" val="848171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90762CE-EC79-4E9D-A0B9-7F2922840F25}"/>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Fewer physics failures with hints</a:t>
            </a:r>
          </a:p>
        </p:txBody>
      </p:sp>
      <p:sp>
        <p:nvSpPr>
          <p:cNvPr id="2" name="Rectangle 1">
            <a:extLst>
              <a:ext uri="{FF2B5EF4-FFF2-40B4-BE49-F238E27FC236}">
                <a16:creationId xmlns:a16="http://schemas.microsoft.com/office/drawing/2014/main" id="{5A2EC988-0517-43A2-9E8F-13A71FA9F11F}"/>
              </a:ext>
            </a:extLst>
          </p:cNvPr>
          <p:cNvSpPr>
            <a:spLocks noGrp="1"/>
          </p:cNvSpPr>
          <p:nvPr/>
        </p:nvSpPr>
        <p:spPr>
          <a:xfrm>
            <a:off x="457200" y="942975"/>
            <a:ext cx="11277600" cy="647700"/>
          </a:xfrm>
          <a:prstGeom prst="rect">
            <a:avLst/>
          </a:prstGeom>
          <a:noFill/>
          <a:ln w="0">
            <a:noFill/>
          </a:ln>
        </p:spPr>
        <p:txBody>
          <a:bodyPr wrap="square" lIns="0" tIns="0" rIns="0" bIns="0" anchor="t"/>
          <a:lstStyle>
            <a:defPPr>
              <a:defRPr sz="1800" b="0">
                <a:solidFill>
                  <a:srgbClr val="444444"/>
                </a:solidFill>
                <a:latin typeface="Times New Roman"/>
                <a:ea typeface="Times New Roman"/>
                <a:cs typeface="Times New Roman"/>
              </a:defRPr>
            </a:defPPr>
          </a:lstStyle>
          <a:p>
            <a:pP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Physics failure: fits the supplied data, but uses the wrong model for new predictions.</a:t>
            </a:r>
          </a:p>
          <a:p>
            <a:pP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GPT-5.6 Luna, Terra and Sol. 390 attempts per condition across 10 model–effort settings.</a:t>
            </a:r>
          </a:p>
        </p:txBody>
      </p:sp>
      <p:sp>
        <p:nvSpPr>
          <p:cNvPr id="3" name="Rectangle 2">
            <a:extLst>
              <a:ext uri="{FF2B5EF4-FFF2-40B4-BE49-F238E27FC236}">
                <a16:creationId xmlns:a16="http://schemas.microsoft.com/office/drawing/2014/main" id="{1A2DDAE5-3EA7-48EF-8F36-D539012E9051}"/>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9</a:t>
            </a:r>
          </a:p>
        </p:txBody>
      </p:sp>
      <p:pic>
        <p:nvPicPr>
          <p:cNvPr id="4" name="Picture 3">
            <a:extLst>
              <a:ext uri="{FF2B5EF4-FFF2-40B4-BE49-F238E27FC236}">
                <a16:creationId xmlns:a16="http://schemas.microsoft.com/office/drawing/2014/main" id="{3F666FF3-70BD-48FF-9565-1239194C3AAF}"/>
              </a:ext>
            </a:extLst>
          </p:cNvPr>
          <p:cNvPicPr>
            <a:picLocks noChangeAspect="1"/>
          </p:cNvPicPr>
          <p:nvPr/>
        </p:nvPicPr>
        <p:blipFill>
          <a:blip r:embed="rId3"/>
          <a:stretch/>
        </p:blipFill>
        <p:spPr>
          <a:xfrm>
            <a:off x="304800" y="1706707"/>
            <a:ext cx="8134350" cy="4806661"/>
          </a:xfrm>
          <a:prstGeom prst="rect">
            <a:avLst/>
          </a:prstGeom>
        </p:spPr>
      </p:pic>
      <p:sp>
        <p:nvSpPr>
          <p:cNvPr id="5" name="Rectangle 4">
            <a:extLst>
              <a:ext uri="{FF2B5EF4-FFF2-40B4-BE49-F238E27FC236}">
                <a16:creationId xmlns:a16="http://schemas.microsoft.com/office/drawing/2014/main" id="{8918F09C-EFBE-4789-8732-D4311DC0995E}"/>
              </a:ext>
            </a:extLst>
          </p:cNvPr>
          <p:cNvSpPr>
            <a:spLocks noGrp="1"/>
          </p:cNvSpPr>
          <p:nvPr/>
        </p:nvSpPr>
        <p:spPr>
          <a:xfrm>
            <a:off x="8734425" y="1876425"/>
            <a:ext cx="3000375" cy="609600"/>
          </a:xfrm>
          <a:prstGeom prst="rect">
            <a:avLst/>
          </a:prstGeom>
          <a:noFill/>
          <a:ln w="0">
            <a:noFill/>
          </a:ln>
        </p:spPr>
        <p:txBody>
          <a:bodyPr wrap="square" lIns="0" tIns="0" rIns="0" bIns="0" anchor="t"/>
          <a:lstStyle>
            <a:defPPr>
              <a:defRPr sz="3675" b="1">
                <a:solidFill>
                  <a:srgbClr val="B00032"/>
                </a:solidFill>
                <a:latin typeface="Times New Roman"/>
                <a:ea typeface="Times New Roman"/>
                <a:cs typeface="Times New Roman"/>
              </a:defRPr>
            </a:defPPr>
          </a:lstStyle>
          <a:p>
            <a:pPr>
              <a:buNone/>
              <a:defRPr sz="3675" b="1">
                <a:solidFill>
                  <a:srgbClr val="B00032"/>
                </a:solidFill>
                <a:latin typeface="Times New Roman"/>
                <a:ea typeface="Times New Roman"/>
                <a:cs typeface="Times New Roman"/>
              </a:defRPr>
            </a:pPr>
            <a:r>
              <a:rPr sz="3675" b="1">
                <a:solidFill>
                  <a:srgbClr val="B00032"/>
                </a:solidFill>
                <a:latin typeface="Times New Roman"/>
                <a:ea typeface="Times New Roman"/>
                <a:cs typeface="Times New Roman"/>
              </a:rPr>
              <a:t>33 to 2</a:t>
            </a:r>
          </a:p>
        </p:txBody>
      </p:sp>
      <p:sp>
        <p:nvSpPr>
          <p:cNvPr id="6" name="Rectangle 5">
            <a:extLst>
              <a:ext uri="{FF2B5EF4-FFF2-40B4-BE49-F238E27FC236}">
                <a16:creationId xmlns:a16="http://schemas.microsoft.com/office/drawing/2014/main" id="{95CFE617-D69C-4E72-9AAA-0ED05F5A324E}"/>
              </a:ext>
            </a:extLst>
          </p:cNvPr>
          <p:cNvSpPr>
            <a:spLocks noGrp="1"/>
          </p:cNvSpPr>
          <p:nvPr/>
        </p:nvSpPr>
        <p:spPr>
          <a:xfrm>
            <a:off x="8734425" y="2581275"/>
            <a:ext cx="3000375" cy="1171575"/>
          </a:xfrm>
          <a:prstGeom prst="rect">
            <a:avLst/>
          </a:prstGeom>
          <a:noFill/>
          <a:ln w="0">
            <a:noFill/>
          </a:ln>
        </p:spPr>
        <p:txBody>
          <a:bodyPr wrap="square" lIns="0" tIns="0" rIns="0" bIns="0" anchor="t"/>
          <a:lstStyle>
            <a:defPPr>
              <a:defRPr sz="2025" b="0">
                <a:solidFill>
                  <a:srgbClr val="111111"/>
                </a:solidFill>
                <a:latin typeface="Times New Roman"/>
                <a:ea typeface="Times New Roman"/>
                <a:cs typeface="Times New Roman"/>
              </a:defRPr>
            </a:defPPr>
          </a:lstStyle>
          <a:p>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Luna High physics failures:</a:t>
            </a:r>
          </a:p>
          <a:p>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no hint versus physics hint,</a:t>
            </a:r>
          </a:p>
          <a:p>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each out of 39 attempts.</a:t>
            </a:r>
          </a:p>
        </p:txBody>
      </p:sp>
      <p:sp>
        <p:nvSpPr>
          <p:cNvPr id="7" name="Rectangle 6">
            <a:extLst>
              <a:ext uri="{FF2B5EF4-FFF2-40B4-BE49-F238E27FC236}">
                <a16:creationId xmlns:a16="http://schemas.microsoft.com/office/drawing/2014/main" id="{F426D7DE-20DD-4E45-9087-0ADFE41A1BA5}"/>
              </a:ext>
            </a:extLst>
          </p:cNvPr>
          <p:cNvSpPr>
            <a:spLocks noGrp="1"/>
          </p:cNvSpPr>
          <p:nvPr/>
        </p:nvSpPr>
        <p:spPr>
          <a:xfrm>
            <a:off x="8734425" y="4067175"/>
            <a:ext cx="3000375" cy="609600"/>
          </a:xfrm>
          <a:prstGeom prst="rect">
            <a:avLst/>
          </a:prstGeom>
          <a:noFill/>
          <a:ln w="0">
            <a:noFill/>
          </a:ln>
        </p:spPr>
        <p:txBody>
          <a:bodyPr wrap="square" lIns="0" tIns="0" rIns="0" bIns="0" anchor="t"/>
          <a:lstStyle>
            <a:defPPr>
              <a:defRPr sz="3675" b="1">
                <a:solidFill>
                  <a:srgbClr val="B00032"/>
                </a:solidFill>
                <a:latin typeface="Times New Roman"/>
                <a:ea typeface="Times New Roman"/>
                <a:cs typeface="Times New Roman"/>
              </a:defRPr>
            </a:defPPr>
          </a:lstStyle>
          <a:p>
            <a:pPr>
              <a:buNone/>
              <a:defRPr sz="3675" b="1">
                <a:solidFill>
                  <a:srgbClr val="B00032"/>
                </a:solidFill>
                <a:latin typeface="Times New Roman"/>
                <a:ea typeface="Times New Roman"/>
                <a:cs typeface="Times New Roman"/>
              </a:defRPr>
            </a:pPr>
            <a:r>
              <a:rPr sz="3675" b="1">
                <a:solidFill>
                  <a:srgbClr val="B00032"/>
                </a:solidFill>
                <a:latin typeface="Times New Roman"/>
                <a:ea typeface="Times New Roman"/>
                <a:cs typeface="Times New Roman"/>
              </a:rPr>
              <a:t>56 / 66</a:t>
            </a:r>
          </a:p>
        </p:txBody>
      </p:sp>
      <p:sp>
        <p:nvSpPr>
          <p:cNvPr id="8" name="Rectangle 7">
            <a:extLst>
              <a:ext uri="{FF2B5EF4-FFF2-40B4-BE49-F238E27FC236}">
                <a16:creationId xmlns:a16="http://schemas.microsoft.com/office/drawing/2014/main" id="{26E10509-D3B6-4AC9-B771-5A78042556A9}"/>
              </a:ext>
            </a:extLst>
          </p:cNvPr>
          <p:cNvSpPr>
            <a:spLocks noGrp="1"/>
          </p:cNvSpPr>
          <p:nvPr/>
        </p:nvSpPr>
        <p:spPr>
          <a:xfrm>
            <a:off x="8734425" y="4772025"/>
            <a:ext cx="3000375" cy="1247775"/>
          </a:xfrm>
          <a:prstGeom prst="rect">
            <a:avLst/>
          </a:prstGeom>
          <a:noFill/>
          <a:ln w="0">
            <a:noFill/>
          </a:ln>
        </p:spPr>
        <p:txBody>
          <a:bodyPr wrap="square" lIns="0" tIns="0" rIns="0" bIns="0" anchor="t"/>
          <a:lstStyle>
            <a:defPPr>
              <a:defRPr sz="1950" b="0">
                <a:solidFill>
                  <a:srgbClr val="111111"/>
                </a:solidFill>
                <a:latin typeface="Times New Roman"/>
                <a:ea typeface="Times New Roman"/>
                <a:cs typeface="Times New Roman"/>
              </a:defRPr>
            </a:defPPr>
          </a:lstStyle>
          <a:p>
            <a:pPr>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Remaining physics failures</a:t>
            </a:r>
          </a:p>
          <a:p>
            <a:pPr>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with physics hints are in Luna</a:t>
            </a:r>
          </a:p>
          <a:p>
            <a:pPr>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at None, Low or Medium effort.</a:t>
            </a:r>
          </a:p>
        </p:txBody>
      </p:sp>
    </p:spTree>
    <p:extLst>
      <p:ext uri="{BB962C8B-B14F-4D97-AF65-F5344CB8AC3E}">
        <p14:creationId xmlns:p14="http://schemas.microsoft.com/office/powerpoint/2010/main" val="59164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188BF787-8096-4C2A-88D4-72B59C3957F8}"/>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Why the agent failed on the bead task</a:t>
            </a:r>
          </a:p>
        </p:txBody>
      </p:sp>
      <p:sp>
        <p:nvSpPr>
          <p:cNvPr id="2" name="Rectangle 1">
            <a:extLst>
              <a:ext uri="{FF2B5EF4-FFF2-40B4-BE49-F238E27FC236}">
                <a16:creationId xmlns:a16="http://schemas.microsoft.com/office/drawing/2014/main" id="{90E0191D-DC24-4A27-8C1D-B6CD527F23A6}"/>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Terra High, no hint</a:t>
            </a:r>
          </a:p>
        </p:txBody>
      </p:sp>
      <p:sp>
        <p:nvSpPr>
          <p:cNvPr id="3" name="Rectangle 2">
            <a:extLst>
              <a:ext uri="{FF2B5EF4-FFF2-40B4-BE49-F238E27FC236}">
                <a16:creationId xmlns:a16="http://schemas.microsoft.com/office/drawing/2014/main" id="{AD1C196F-EF25-4184-B114-2530E3410410}"/>
              </a:ext>
            </a:extLst>
          </p:cNvPr>
          <p:cNvSpPr>
            <a:spLocks noGrp="1"/>
          </p:cNvSpPr>
          <p:nvPr/>
        </p:nvSpPr>
        <p:spPr>
          <a:xfrm>
            <a:off x="457200" y="1628775"/>
            <a:ext cx="5467350" cy="342900"/>
          </a:xfrm>
          <a:prstGeom prst="rect">
            <a:avLst/>
          </a:prstGeom>
          <a:noFill/>
          <a:ln w="0">
            <a:noFill/>
          </a:ln>
        </p:spPr>
        <p:txBody>
          <a:bodyPr wrap="square" lIns="0" tIns="0" rIns="0" bIns="0" anchor="t"/>
          <a:lstStyle>
            <a:defPPr algn="ctr">
              <a:defRPr sz="2100" b="1">
                <a:solidFill>
                  <a:srgbClr val="111111"/>
                </a:solidFill>
                <a:latin typeface="Times New Roman"/>
                <a:ea typeface="Times New Roman"/>
                <a:cs typeface="Times New Roman"/>
              </a:defRPr>
            </a:defPPr>
          </a:lstStyle>
          <a:p>
            <a:pPr algn="ctr">
              <a:buNone/>
              <a:defRPr sz="2100" b="1">
                <a:solidFill>
                  <a:srgbClr val="111111"/>
                </a:solidFill>
                <a:latin typeface="Times New Roman"/>
                <a:ea typeface="Times New Roman"/>
                <a:cs typeface="Times New Roman"/>
              </a:defRPr>
            </a:pPr>
            <a:r>
              <a:rPr sz="2100" b="1">
                <a:solidFill>
                  <a:srgbClr val="111111"/>
                </a:solidFill>
                <a:latin typeface="Times New Roman"/>
                <a:ea typeface="Times New Roman"/>
                <a:cs typeface="Times New Roman"/>
              </a:rPr>
              <a:t>Same evenly spaced start</a:t>
            </a:r>
          </a:p>
        </p:txBody>
      </p:sp>
      <p:sp>
        <p:nvSpPr>
          <p:cNvPr id="4" name="Rectangle 3">
            <a:extLst>
              <a:ext uri="{FF2B5EF4-FFF2-40B4-BE49-F238E27FC236}">
                <a16:creationId xmlns:a16="http://schemas.microsoft.com/office/drawing/2014/main" id="{6CB97F0B-14D1-45A5-8F9B-88A5CA265AC7}"/>
              </a:ext>
            </a:extLst>
          </p:cNvPr>
          <p:cNvSpPr>
            <a:spLocks noGrp="1"/>
          </p:cNvSpPr>
          <p:nvPr/>
        </p:nvSpPr>
        <p:spPr>
          <a:xfrm>
            <a:off x="2038350" y="2095500"/>
            <a:ext cx="2305050" cy="19050"/>
          </a:xfrm>
          <a:prstGeom prst="rect">
            <a:avLst/>
          </a:prstGeom>
          <a:solidFill>
            <a:srgbClr val="777777"/>
          </a:solidFill>
          <a:ln w="0">
            <a:noFill/>
          </a:ln>
        </p:spPr>
        <p:txBody>
          <a:bodyPr/>
          <a:lstStyle/>
          <a:p>
            <a:endParaRPr/>
          </a:p>
        </p:txBody>
      </p:sp>
      <p:sp>
        <p:nvSpPr>
          <p:cNvPr id="5" name="Rectangle 4">
            <a:extLst>
              <a:ext uri="{FF2B5EF4-FFF2-40B4-BE49-F238E27FC236}">
                <a16:creationId xmlns:a16="http://schemas.microsoft.com/office/drawing/2014/main" id="{A2592DAE-900F-479B-A890-400A518A5C35}"/>
              </a:ext>
            </a:extLst>
          </p:cNvPr>
          <p:cNvSpPr>
            <a:spLocks noGrp="1"/>
          </p:cNvSpPr>
          <p:nvPr/>
        </p:nvSpPr>
        <p:spPr>
          <a:xfrm>
            <a:off x="2038350" y="2609850"/>
            <a:ext cx="2305050" cy="19050"/>
          </a:xfrm>
          <a:prstGeom prst="rect">
            <a:avLst/>
          </a:prstGeom>
          <a:solidFill>
            <a:srgbClr val="777777"/>
          </a:solidFill>
          <a:ln w="0">
            <a:noFill/>
          </a:ln>
        </p:spPr>
        <p:txBody>
          <a:bodyPr/>
          <a:lstStyle/>
          <a:p>
            <a:endParaRPr/>
          </a:p>
        </p:txBody>
      </p:sp>
      <p:sp>
        <p:nvSpPr>
          <p:cNvPr id="6" name="Oval 5">
            <a:extLst>
              <a:ext uri="{FF2B5EF4-FFF2-40B4-BE49-F238E27FC236}">
                <a16:creationId xmlns:a16="http://schemas.microsoft.com/office/drawing/2014/main" id="{4AEFC1F5-B00A-442B-A9CB-59FA4BA6930E}"/>
              </a:ext>
            </a:extLst>
          </p:cNvPr>
          <p:cNvSpPr>
            <a:spLocks noGrp="1"/>
          </p:cNvSpPr>
          <p:nvPr/>
        </p:nvSpPr>
        <p:spPr>
          <a:xfrm>
            <a:off x="2133600" y="2238375"/>
            <a:ext cx="228600" cy="228600"/>
          </a:xfrm>
          <a:prstGeom prst="ellipse">
            <a:avLst/>
          </a:prstGeom>
          <a:solidFill>
            <a:srgbClr val="E8ECEF"/>
          </a:solidFill>
          <a:ln w="15240">
            <a:solidFill>
              <a:srgbClr val="777777"/>
            </a:solidFill>
            <a:prstDash val="solid"/>
          </a:ln>
        </p:spPr>
        <p:txBody>
          <a:bodyPr/>
          <a:lstStyle/>
          <a:p>
            <a:endParaRPr/>
          </a:p>
        </p:txBody>
      </p:sp>
      <p:sp>
        <p:nvSpPr>
          <p:cNvPr id="7" name="Oval 6">
            <a:extLst>
              <a:ext uri="{FF2B5EF4-FFF2-40B4-BE49-F238E27FC236}">
                <a16:creationId xmlns:a16="http://schemas.microsoft.com/office/drawing/2014/main" id="{C59E5C55-848C-42F8-8543-5E83EBE4790C}"/>
              </a:ext>
            </a:extLst>
          </p:cNvPr>
          <p:cNvSpPr>
            <a:spLocks noGrp="1"/>
          </p:cNvSpPr>
          <p:nvPr/>
        </p:nvSpPr>
        <p:spPr>
          <a:xfrm>
            <a:off x="2505075" y="2238375"/>
            <a:ext cx="228600" cy="228600"/>
          </a:xfrm>
          <a:prstGeom prst="ellipse">
            <a:avLst/>
          </a:prstGeom>
          <a:solidFill>
            <a:srgbClr val="E8ECEF"/>
          </a:solidFill>
          <a:ln w="15240">
            <a:solidFill>
              <a:srgbClr val="777777"/>
            </a:solidFill>
            <a:prstDash val="solid"/>
          </a:ln>
        </p:spPr>
        <p:txBody>
          <a:bodyPr/>
          <a:lstStyle/>
          <a:p>
            <a:endParaRPr/>
          </a:p>
        </p:txBody>
      </p:sp>
      <p:sp>
        <p:nvSpPr>
          <p:cNvPr id="8" name="Oval 7">
            <a:extLst>
              <a:ext uri="{FF2B5EF4-FFF2-40B4-BE49-F238E27FC236}">
                <a16:creationId xmlns:a16="http://schemas.microsoft.com/office/drawing/2014/main" id="{E14639FD-8428-44D2-9C15-7D66D756CAAA}"/>
              </a:ext>
            </a:extLst>
          </p:cNvPr>
          <p:cNvSpPr>
            <a:spLocks noGrp="1"/>
          </p:cNvSpPr>
          <p:nvPr/>
        </p:nvSpPr>
        <p:spPr>
          <a:xfrm>
            <a:off x="2876550" y="2238375"/>
            <a:ext cx="228600" cy="228600"/>
          </a:xfrm>
          <a:prstGeom prst="ellipse">
            <a:avLst/>
          </a:prstGeom>
          <a:solidFill>
            <a:srgbClr val="B45309"/>
          </a:solidFill>
          <a:ln w="15240">
            <a:solidFill>
              <a:srgbClr val="B45309"/>
            </a:solidFill>
            <a:prstDash val="solid"/>
          </a:ln>
        </p:spPr>
        <p:txBody>
          <a:bodyPr/>
          <a:lstStyle/>
          <a:p>
            <a:endParaRPr/>
          </a:p>
        </p:txBody>
      </p:sp>
      <p:sp>
        <p:nvSpPr>
          <p:cNvPr id="9" name="Oval 8">
            <a:extLst>
              <a:ext uri="{FF2B5EF4-FFF2-40B4-BE49-F238E27FC236}">
                <a16:creationId xmlns:a16="http://schemas.microsoft.com/office/drawing/2014/main" id="{D1467A71-ED3C-44C5-844C-EF34BB051944}"/>
              </a:ext>
            </a:extLst>
          </p:cNvPr>
          <p:cNvSpPr>
            <a:spLocks noGrp="1"/>
          </p:cNvSpPr>
          <p:nvPr/>
        </p:nvSpPr>
        <p:spPr>
          <a:xfrm>
            <a:off x="3248025" y="2238375"/>
            <a:ext cx="228600" cy="228600"/>
          </a:xfrm>
          <a:prstGeom prst="ellipse">
            <a:avLst/>
          </a:prstGeom>
          <a:solidFill>
            <a:srgbClr val="E8ECEF"/>
          </a:solidFill>
          <a:ln w="15240">
            <a:solidFill>
              <a:srgbClr val="777777"/>
            </a:solidFill>
            <a:prstDash val="solid"/>
          </a:ln>
        </p:spPr>
        <p:txBody>
          <a:bodyPr/>
          <a:lstStyle/>
          <a:p>
            <a:endParaRPr/>
          </a:p>
        </p:txBody>
      </p:sp>
      <p:sp>
        <p:nvSpPr>
          <p:cNvPr id="10" name="Oval 9">
            <a:extLst>
              <a:ext uri="{FF2B5EF4-FFF2-40B4-BE49-F238E27FC236}">
                <a16:creationId xmlns:a16="http://schemas.microsoft.com/office/drawing/2014/main" id="{22F03590-CD66-4324-9B45-D90E7670F2BC}"/>
              </a:ext>
            </a:extLst>
          </p:cNvPr>
          <p:cNvSpPr>
            <a:spLocks noGrp="1"/>
          </p:cNvSpPr>
          <p:nvPr/>
        </p:nvSpPr>
        <p:spPr>
          <a:xfrm>
            <a:off x="3619500" y="2238375"/>
            <a:ext cx="228600" cy="228600"/>
          </a:xfrm>
          <a:prstGeom prst="ellipse">
            <a:avLst/>
          </a:prstGeom>
          <a:solidFill>
            <a:srgbClr val="E8ECEF"/>
          </a:solidFill>
          <a:ln w="15240">
            <a:solidFill>
              <a:srgbClr val="777777"/>
            </a:solidFill>
            <a:prstDash val="solid"/>
          </a:ln>
        </p:spPr>
        <p:txBody>
          <a:bodyPr/>
          <a:lstStyle/>
          <a:p>
            <a:endParaRPr/>
          </a:p>
        </p:txBody>
      </p:sp>
      <p:sp>
        <p:nvSpPr>
          <p:cNvPr id="11" name="Oval 10">
            <a:extLst>
              <a:ext uri="{FF2B5EF4-FFF2-40B4-BE49-F238E27FC236}">
                <a16:creationId xmlns:a16="http://schemas.microsoft.com/office/drawing/2014/main" id="{514F4D2C-52B8-4904-9800-3B56EDDCABE1}"/>
              </a:ext>
            </a:extLst>
          </p:cNvPr>
          <p:cNvSpPr>
            <a:spLocks noGrp="1"/>
          </p:cNvSpPr>
          <p:nvPr/>
        </p:nvSpPr>
        <p:spPr>
          <a:xfrm>
            <a:off x="3990975" y="2238375"/>
            <a:ext cx="228600" cy="228600"/>
          </a:xfrm>
          <a:prstGeom prst="ellipse">
            <a:avLst/>
          </a:prstGeom>
          <a:solidFill>
            <a:srgbClr val="E8ECEF"/>
          </a:solidFill>
          <a:ln w="15240">
            <a:solidFill>
              <a:srgbClr val="777777"/>
            </a:solidFill>
            <a:prstDash val="solid"/>
          </a:ln>
        </p:spPr>
        <p:txBody>
          <a:bodyPr/>
          <a:lstStyle/>
          <a:p>
            <a:endParaRPr/>
          </a:p>
        </p:txBody>
      </p:sp>
      <p:sp>
        <p:nvSpPr>
          <p:cNvPr id="12" name="Down Arrow 11">
            <a:extLst>
              <a:ext uri="{FF2B5EF4-FFF2-40B4-BE49-F238E27FC236}">
                <a16:creationId xmlns:a16="http://schemas.microsoft.com/office/drawing/2014/main" id="{2B9547D1-0D56-40EB-A613-AD781B488373}"/>
              </a:ext>
            </a:extLst>
          </p:cNvPr>
          <p:cNvSpPr>
            <a:spLocks noGrp="1"/>
          </p:cNvSpPr>
          <p:nvPr/>
        </p:nvSpPr>
        <p:spPr>
          <a:xfrm>
            <a:off x="3048000" y="2762250"/>
            <a:ext cx="228600" cy="323850"/>
          </a:xfrm>
          <a:prstGeom prst="downArrow">
            <a:avLst/>
          </a:prstGeom>
          <a:solidFill>
            <a:srgbClr val="777777"/>
          </a:solidFill>
          <a:ln w="0">
            <a:noFill/>
          </a:ln>
        </p:spPr>
        <p:txBody>
          <a:bodyPr/>
          <a:lstStyle/>
          <a:p>
            <a:endParaRPr/>
          </a:p>
        </p:txBody>
      </p:sp>
      <p:sp>
        <p:nvSpPr>
          <p:cNvPr id="13" name="Rectangle 12">
            <a:extLst>
              <a:ext uri="{FF2B5EF4-FFF2-40B4-BE49-F238E27FC236}">
                <a16:creationId xmlns:a16="http://schemas.microsoft.com/office/drawing/2014/main" id="{B29D8764-60D2-480D-B980-A00088FC00FD}"/>
              </a:ext>
            </a:extLst>
          </p:cNvPr>
          <p:cNvSpPr>
            <a:spLocks noGrp="1"/>
          </p:cNvSpPr>
          <p:nvPr/>
        </p:nvSpPr>
        <p:spPr>
          <a:xfrm>
            <a:off x="457200" y="3324225"/>
            <a:ext cx="2305050" cy="314325"/>
          </a:xfrm>
          <a:prstGeom prst="rect">
            <a:avLst/>
          </a:prstGeom>
          <a:noFill/>
          <a:ln w="0">
            <a:noFill/>
          </a:ln>
        </p:spPr>
        <p:txBody>
          <a:bodyPr wrap="square" lIns="0" tIns="0" rIns="0" bIns="0" anchor="t"/>
          <a:lstStyle>
            <a:defPPr algn="ctr">
              <a:defRPr sz="2025" b="0">
                <a:solidFill>
                  <a:srgbClr val="111111"/>
                </a:solidFill>
                <a:latin typeface="Times New Roman"/>
                <a:ea typeface="Times New Roman"/>
                <a:cs typeface="Times New Roman"/>
              </a:defRPr>
            </a:defPPr>
          </a:lstStyle>
          <a:p>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Early position</a:t>
            </a:r>
          </a:p>
        </p:txBody>
      </p:sp>
      <p:sp>
        <p:nvSpPr>
          <p:cNvPr id="14" name="Rectangle 13">
            <a:extLst>
              <a:ext uri="{FF2B5EF4-FFF2-40B4-BE49-F238E27FC236}">
                <a16:creationId xmlns:a16="http://schemas.microsoft.com/office/drawing/2014/main" id="{8C762CA3-6389-42EF-9006-A1AD10A8C613}"/>
              </a:ext>
            </a:extLst>
          </p:cNvPr>
          <p:cNvSpPr>
            <a:spLocks noGrp="1"/>
          </p:cNvSpPr>
          <p:nvPr/>
        </p:nvSpPr>
        <p:spPr>
          <a:xfrm>
            <a:off x="3619500" y="3324225"/>
            <a:ext cx="2305050" cy="314325"/>
          </a:xfrm>
          <a:prstGeom prst="rect">
            <a:avLst/>
          </a:prstGeom>
          <a:noFill/>
          <a:ln w="0">
            <a:noFill/>
          </a:ln>
        </p:spPr>
        <p:txBody>
          <a:bodyPr wrap="square" lIns="0" tIns="0" rIns="0" bIns="0" anchor="t"/>
          <a:lstStyle>
            <a:defPPr algn="ctr">
              <a:defRPr sz="2025" b="0">
                <a:solidFill>
                  <a:srgbClr val="111111"/>
                </a:solidFill>
                <a:latin typeface="Times New Roman"/>
                <a:ea typeface="Times New Roman"/>
                <a:cs typeface="Times New Roman"/>
              </a:defRPr>
            </a:defPPr>
          </a:lstStyle>
          <a:p>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Later position</a:t>
            </a:r>
          </a:p>
        </p:txBody>
      </p:sp>
      <p:sp>
        <p:nvSpPr>
          <p:cNvPr id="15" name="Rectangle 14">
            <a:extLst>
              <a:ext uri="{FF2B5EF4-FFF2-40B4-BE49-F238E27FC236}">
                <a16:creationId xmlns:a16="http://schemas.microsoft.com/office/drawing/2014/main" id="{44E89158-6FEE-4279-A678-86EC80971E97}"/>
              </a:ext>
            </a:extLst>
          </p:cNvPr>
          <p:cNvSpPr>
            <a:spLocks noGrp="1"/>
          </p:cNvSpPr>
          <p:nvPr/>
        </p:nvSpPr>
        <p:spPr>
          <a:xfrm>
            <a:off x="457200" y="3752850"/>
            <a:ext cx="2305050" cy="19050"/>
          </a:xfrm>
          <a:prstGeom prst="rect">
            <a:avLst/>
          </a:prstGeom>
          <a:solidFill>
            <a:srgbClr val="777777"/>
          </a:solidFill>
          <a:ln w="0">
            <a:noFill/>
          </a:ln>
        </p:spPr>
        <p:txBody>
          <a:bodyPr/>
          <a:lstStyle/>
          <a:p>
            <a:endParaRPr/>
          </a:p>
        </p:txBody>
      </p:sp>
      <p:sp>
        <p:nvSpPr>
          <p:cNvPr id="16" name="Rectangle 15">
            <a:extLst>
              <a:ext uri="{FF2B5EF4-FFF2-40B4-BE49-F238E27FC236}">
                <a16:creationId xmlns:a16="http://schemas.microsoft.com/office/drawing/2014/main" id="{F5D70699-BAD5-4E1D-B932-83872919EF0A}"/>
              </a:ext>
            </a:extLst>
          </p:cNvPr>
          <p:cNvSpPr>
            <a:spLocks noGrp="1"/>
          </p:cNvSpPr>
          <p:nvPr/>
        </p:nvSpPr>
        <p:spPr>
          <a:xfrm>
            <a:off x="457200" y="4267200"/>
            <a:ext cx="2305050" cy="19050"/>
          </a:xfrm>
          <a:prstGeom prst="rect">
            <a:avLst/>
          </a:prstGeom>
          <a:solidFill>
            <a:srgbClr val="777777"/>
          </a:solidFill>
          <a:ln w="0">
            <a:noFill/>
          </a:ln>
        </p:spPr>
        <p:txBody>
          <a:bodyPr/>
          <a:lstStyle/>
          <a:p>
            <a:endParaRPr/>
          </a:p>
        </p:txBody>
      </p:sp>
      <p:sp>
        <p:nvSpPr>
          <p:cNvPr id="17" name="Oval 16">
            <a:extLst>
              <a:ext uri="{FF2B5EF4-FFF2-40B4-BE49-F238E27FC236}">
                <a16:creationId xmlns:a16="http://schemas.microsoft.com/office/drawing/2014/main" id="{E4800A52-7A43-4EE3-BFDE-4345E3917BBC}"/>
              </a:ext>
            </a:extLst>
          </p:cNvPr>
          <p:cNvSpPr>
            <a:spLocks noGrp="1"/>
          </p:cNvSpPr>
          <p:nvPr/>
        </p:nvSpPr>
        <p:spPr>
          <a:xfrm>
            <a:off x="552450" y="3895725"/>
            <a:ext cx="228600" cy="228600"/>
          </a:xfrm>
          <a:prstGeom prst="ellipse">
            <a:avLst/>
          </a:prstGeom>
          <a:solidFill>
            <a:srgbClr val="E8ECEF"/>
          </a:solidFill>
          <a:ln w="15240">
            <a:solidFill>
              <a:srgbClr val="777777"/>
            </a:solidFill>
            <a:prstDash val="solid"/>
          </a:ln>
        </p:spPr>
        <p:txBody>
          <a:bodyPr/>
          <a:lstStyle/>
          <a:p>
            <a:endParaRPr/>
          </a:p>
        </p:txBody>
      </p:sp>
      <p:sp>
        <p:nvSpPr>
          <p:cNvPr id="18" name="Oval 17">
            <a:extLst>
              <a:ext uri="{FF2B5EF4-FFF2-40B4-BE49-F238E27FC236}">
                <a16:creationId xmlns:a16="http://schemas.microsoft.com/office/drawing/2014/main" id="{62A308A1-DACE-4383-9C9F-56EC1ABE876B}"/>
              </a:ext>
            </a:extLst>
          </p:cNvPr>
          <p:cNvSpPr>
            <a:spLocks noGrp="1"/>
          </p:cNvSpPr>
          <p:nvPr/>
        </p:nvSpPr>
        <p:spPr>
          <a:xfrm>
            <a:off x="895350" y="3895725"/>
            <a:ext cx="228600" cy="228600"/>
          </a:xfrm>
          <a:prstGeom prst="ellipse">
            <a:avLst/>
          </a:prstGeom>
          <a:solidFill>
            <a:srgbClr val="E8ECEF"/>
          </a:solidFill>
          <a:ln w="15240">
            <a:solidFill>
              <a:srgbClr val="777777"/>
            </a:solidFill>
            <a:prstDash val="solid"/>
          </a:ln>
        </p:spPr>
        <p:txBody>
          <a:bodyPr/>
          <a:lstStyle/>
          <a:p>
            <a:endParaRPr/>
          </a:p>
        </p:txBody>
      </p:sp>
      <p:sp>
        <p:nvSpPr>
          <p:cNvPr id="19" name="Oval 18">
            <a:extLst>
              <a:ext uri="{FF2B5EF4-FFF2-40B4-BE49-F238E27FC236}">
                <a16:creationId xmlns:a16="http://schemas.microsoft.com/office/drawing/2014/main" id="{F532BC2B-393A-4988-9DB6-D5C1679E5992}"/>
              </a:ext>
            </a:extLst>
          </p:cNvPr>
          <p:cNvSpPr>
            <a:spLocks noGrp="1"/>
          </p:cNvSpPr>
          <p:nvPr/>
        </p:nvSpPr>
        <p:spPr>
          <a:xfrm>
            <a:off x="1333500" y="3895725"/>
            <a:ext cx="228600" cy="228600"/>
          </a:xfrm>
          <a:prstGeom prst="ellipse">
            <a:avLst/>
          </a:prstGeom>
          <a:solidFill>
            <a:srgbClr val="B45309"/>
          </a:solidFill>
          <a:ln w="15240">
            <a:solidFill>
              <a:srgbClr val="B45309"/>
            </a:solidFill>
            <a:prstDash val="solid"/>
          </a:ln>
        </p:spPr>
        <p:txBody>
          <a:bodyPr/>
          <a:lstStyle/>
          <a:p>
            <a:endParaRPr/>
          </a:p>
        </p:txBody>
      </p:sp>
      <p:sp>
        <p:nvSpPr>
          <p:cNvPr id="20" name="Oval 19">
            <a:extLst>
              <a:ext uri="{FF2B5EF4-FFF2-40B4-BE49-F238E27FC236}">
                <a16:creationId xmlns:a16="http://schemas.microsoft.com/office/drawing/2014/main" id="{3969F120-CB61-4C0C-BD8B-DA3147A0F5B3}"/>
              </a:ext>
            </a:extLst>
          </p:cNvPr>
          <p:cNvSpPr>
            <a:spLocks noGrp="1"/>
          </p:cNvSpPr>
          <p:nvPr/>
        </p:nvSpPr>
        <p:spPr>
          <a:xfrm>
            <a:off x="1628775" y="3895725"/>
            <a:ext cx="228600" cy="228600"/>
          </a:xfrm>
          <a:prstGeom prst="ellipse">
            <a:avLst/>
          </a:prstGeom>
          <a:solidFill>
            <a:srgbClr val="E8ECEF"/>
          </a:solidFill>
          <a:ln w="15240">
            <a:solidFill>
              <a:srgbClr val="777777"/>
            </a:solidFill>
            <a:prstDash val="solid"/>
          </a:ln>
        </p:spPr>
        <p:txBody>
          <a:bodyPr/>
          <a:lstStyle/>
          <a:p>
            <a:endParaRPr/>
          </a:p>
        </p:txBody>
      </p:sp>
      <p:sp>
        <p:nvSpPr>
          <p:cNvPr id="21" name="Oval 20">
            <a:extLst>
              <a:ext uri="{FF2B5EF4-FFF2-40B4-BE49-F238E27FC236}">
                <a16:creationId xmlns:a16="http://schemas.microsoft.com/office/drawing/2014/main" id="{A4C9A583-94F0-4BA9-A1F1-75C831BF51D7}"/>
              </a:ext>
            </a:extLst>
          </p:cNvPr>
          <p:cNvSpPr>
            <a:spLocks noGrp="1"/>
          </p:cNvSpPr>
          <p:nvPr/>
        </p:nvSpPr>
        <p:spPr>
          <a:xfrm>
            <a:off x="2066925" y="3895725"/>
            <a:ext cx="228600" cy="228600"/>
          </a:xfrm>
          <a:prstGeom prst="ellipse">
            <a:avLst/>
          </a:prstGeom>
          <a:solidFill>
            <a:srgbClr val="E8ECEF"/>
          </a:solidFill>
          <a:ln w="15240">
            <a:solidFill>
              <a:srgbClr val="777777"/>
            </a:solidFill>
            <a:prstDash val="solid"/>
          </a:ln>
        </p:spPr>
        <p:txBody>
          <a:bodyPr/>
          <a:lstStyle/>
          <a:p>
            <a:endParaRPr/>
          </a:p>
        </p:txBody>
      </p:sp>
      <p:sp>
        <p:nvSpPr>
          <p:cNvPr id="22" name="Oval 21">
            <a:extLst>
              <a:ext uri="{FF2B5EF4-FFF2-40B4-BE49-F238E27FC236}">
                <a16:creationId xmlns:a16="http://schemas.microsoft.com/office/drawing/2014/main" id="{58B0A4D4-3ED5-482F-8869-E22CB5184AB7}"/>
              </a:ext>
            </a:extLst>
          </p:cNvPr>
          <p:cNvSpPr>
            <a:spLocks noGrp="1"/>
          </p:cNvSpPr>
          <p:nvPr/>
        </p:nvSpPr>
        <p:spPr>
          <a:xfrm>
            <a:off x="2400300" y="3895725"/>
            <a:ext cx="228600" cy="228600"/>
          </a:xfrm>
          <a:prstGeom prst="ellipse">
            <a:avLst/>
          </a:prstGeom>
          <a:solidFill>
            <a:srgbClr val="E8ECEF"/>
          </a:solidFill>
          <a:ln w="15240">
            <a:solidFill>
              <a:srgbClr val="777777"/>
            </a:solidFill>
            <a:prstDash val="solid"/>
          </a:ln>
        </p:spPr>
        <p:txBody>
          <a:bodyPr/>
          <a:lstStyle/>
          <a:p>
            <a:endParaRPr/>
          </a:p>
        </p:txBody>
      </p:sp>
      <p:sp>
        <p:nvSpPr>
          <p:cNvPr id="23" name="Rectangle 22">
            <a:extLst>
              <a:ext uri="{FF2B5EF4-FFF2-40B4-BE49-F238E27FC236}">
                <a16:creationId xmlns:a16="http://schemas.microsoft.com/office/drawing/2014/main" id="{6BBAA5C2-F6E8-401D-A2D4-FF1AE8E4C308}"/>
              </a:ext>
            </a:extLst>
          </p:cNvPr>
          <p:cNvSpPr>
            <a:spLocks noGrp="1"/>
          </p:cNvSpPr>
          <p:nvPr/>
        </p:nvSpPr>
        <p:spPr>
          <a:xfrm>
            <a:off x="3619500" y="3752850"/>
            <a:ext cx="2305050" cy="19050"/>
          </a:xfrm>
          <a:prstGeom prst="rect">
            <a:avLst/>
          </a:prstGeom>
          <a:solidFill>
            <a:srgbClr val="777777"/>
          </a:solidFill>
          <a:ln w="0">
            <a:noFill/>
          </a:ln>
        </p:spPr>
        <p:txBody>
          <a:bodyPr/>
          <a:lstStyle/>
          <a:p>
            <a:endParaRPr/>
          </a:p>
        </p:txBody>
      </p:sp>
      <p:sp>
        <p:nvSpPr>
          <p:cNvPr id="24" name="Rectangle 23">
            <a:extLst>
              <a:ext uri="{FF2B5EF4-FFF2-40B4-BE49-F238E27FC236}">
                <a16:creationId xmlns:a16="http://schemas.microsoft.com/office/drawing/2014/main" id="{D413A0C3-BBFC-414E-B042-F4DB66E7B045}"/>
              </a:ext>
            </a:extLst>
          </p:cNvPr>
          <p:cNvSpPr>
            <a:spLocks noGrp="1"/>
          </p:cNvSpPr>
          <p:nvPr/>
        </p:nvSpPr>
        <p:spPr>
          <a:xfrm>
            <a:off x="3619500" y="4267200"/>
            <a:ext cx="2305050" cy="19050"/>
          </a:xfrm>
          <a:prstGeom prst="rect">
            <a:avLst/>
          </a:prstGeom>
          <a:solidFill>
            <a:srgbClr val="777777"/>
          </a:solidFill>
          <a:ln w="0">
            <a:noFill/>
          </a:ln>
        </p:spPr>
        <p:txBody>
          <a:bodyPr/>
          <a:lstStyle/>
          <a:p>
            <a:endParaRPr/>
          </a:p>
        </p:txBody>
      </p:sp>
      <p:sp>
        <p:nvSpPr>
          <p:cNvPr id="25" name="Oval 24">
            <a:extLst>
              <a:ext uri="{FF2B5EF4-FFF2-40B4-BE49-F238E27FC236}">
                <a16:creationId xmlns:a16="http://schemas.microsoft.com/office/drawing/2014/main" id="{5DDBCCB3-6174-452E-8287-941151DEF8D4}"/>
              </a:ext>
            </a:extLst>
          </p:cNvPr>
          <p:cNvSpPr>
            <a:spLocks noGrp="1"/>
          </p:cNvSpPr>
          <p:nvPr/>
        </p:nvSpPr>
        <p:spPr>
          <a:xfrm>
            <a:off x="3676650" y="3895725"/>
            <a:ext cx="228600" cy="228600"/>
          </a:xfrm>
          <a:prstGeom prst="ellipse">
            <a:avLst/>
          </a:prstGeom>
          <a:solidFill>
            <a:srgbClr val="E8ECEF"/>
          </a:solidFill>
          <a:ln w="15240">
            <a:solidFill>
              <a:srgbClr val="777777"/>
            </a:solidFill>
            <a:prstDash val="solid"/>
          </a:ln>
        </p:spPr>
        <p:txBody>
          <a:bodyPr/>
          <a:lstStyle/>
          <a:p>
            <a:endParaRPr/>
          </a:p>
        </p:txBody>
      </p:sp>
      <p:sp>
        <p:nvSpPr>
          <p:cNvPr id="26" name="Oval 25">
            <a:extLst>
              <a:ext uri="{FF2B5EF4-FFF2-40B4-BE49-F238E27FC236}">
                <a16:creationId xmlns:a16="http://schemas.microsoft.com/office/drawing/2014/main" id="{D83C408D-2753-4A93-B04E-B4BCB093519E}"/>
              </a:ext>
            </a:extLst>
          </p:cNvPr>
          <p:cNvSpPr>
            <a:spLocks noGrp="1"/>
          </p:cNvSpPr>
          <p:nvPr/>
        </p:nvSpPr>
        <p:spPr>
          <a:xfrm>
            <a:off x="3952875" y="3895725"/>
            <a:ext cx="228600" cy="228600"/>
          </a:xfrm>
          <a:prstGeom prst="ellipse">
            <a:avLst/>
          </a:prstGeom>
          <a:solidFill>
            <a:srgbClr val="E8ECEF"/>
          </a:solidFill>
          <a:ln w="15240">
            <a:solidFill>
              <a:srgbClr val="777777"/>
            </a:solidFill>
            <a:prstDash val="solid"/>
          </a:ln>
        </p:spPr>
        <p:txBody>
          <a:bodyPr/>
          <a:lstStyle/>
          <a:p>
            <a:endParaRPr/>
          </a:p>
        </p:txBody>
      </p:sp>
      <p:sp>
        <p:nvSpPr>
          <p:cNvPr id="27" name="Oval 26">
            <a:extLst>
              <a:ext uri="{FF2B5EF4-FFF2-40B4-BE49-F238E27FC236}">
                <a16:creationId xmlns:a16="http://schemas.microsoft.com/office/drawing/2014/main" id="{7E6E7AB3-854B-47DB-9A00-122279DD0A40}"/>
              </a:ext>
            </a:extLst>
          </p:cNvPr>
          <p:cNvSpPr>
            <a:spLocks noGrp="1"/>
          </p:cNvSpPr>
          <p:nvPr/>
        </p:nvSpPr>
        <p:spPr>
          <a:xfrm>
            <a:off x="4676775" y="3895725"/>
            <a:ext cx="228600" cy="228600"/>
          </a:xfrm>
          <a:prstGeom prst="ellipse">
            <a:avLst/>
          </a:prstGeom>
          <a:solidFill>
            <a:srgbClr val="B45309"/>
          </a:solidFill>
          <a:ln w="15240">
            <a:solidFill>
              <a:srgbClr val="B45309"/>
            </a:solidFill>
            <a:prstDash val="solid"/>
          </a:ln>
        </p:spPr>
        <p:txBody>
          <a:bodyPr/>
          <a:lstStyle/>
          <a:p>
            <a:endParaRPr/>
          </a:p>
        </p:txBody>
      </p:sp>
      <p:sp>
        <p:nvSpPr>
          <p:cNvPr id="28" name="Oval 27">
            <a:extLst>
              <a:ext uri="{FF2B5EF4-FFF2-40B4-BE49-F238E27FC236}">
                <a16:creationId xmlns:a16="http://schemas.microsoft.com/office/drawing/2014/main" id="{7C7A7103-E5BA-4F0E-AE18-5C2D9622CBA5}"/>
              </a:ext>
            </a:extLst>
          </p:cNvPr>
          <p:cNvSpPr>
            <a:spLocks noGrp="1"/>
          </p:cNvSpPr>
          <p:nvPr/>
        </p:nvSpPr>
        <p:spPr>
          <a:xfrm>
            <a:off x="4953000" y="3895725"/>
            <a:ext cx="228600" cy="228600"/>
          </a:xfrm>
          <a:prstGeom prst="ellipse">
            <a:avLst/>
          </a:prstGeom>
          <a:solidFill>
            <a:srgbClr val="E8ECEF"/>
          </a:solidFill>
          <a:ln w="15240">
            <a:solidFill>
              <a:srgbClr val="777777"/>
            </a:solidFill>
            <a:prstDash val="solid"/>
          </a:ln>
        </p:spPr>
        <p:txBody>
          <a:bodyPr/>
          <a:lstStyle/>
          <a:p>
            <a:endParaRPr/>
          </a:p>
        </p:txBody>
      </p:sp>
      <p:sp>
        <p:nvSpPr>
          <p:cNvPr id="29" name="Oval 28">
            <a:extLst>
              <a:ext uri="{FF2B5EF4-FFF2-40B4-BE49-F238E27FC236}">
                <a16:creationId xmlns:a16="http://schemas.microsoft.com/office/drawing/2014/main" id="{33DE8FFE-2024-4BA3-8ED3-293C46275BDE}"/>
              </a:ext>
            </a:extLst>
          </p:cNvPr>
          <p:cNvSpPr>
            <a:spLocks noGrp="1"/>
          </p:cNvSpPr>
          <p:nvPr/>
        </p:nvSpPr>
        <p:spPr>
          <a:xfrm>
            <a:off x="5267325" y="3895725"/>
            <a:ext cx="228600" cy="228600"/>
          </a:xfrm>
          <a:prstGeom prst="ellipse">
            <a:avLst/>
          </a:prstGeom>
          <a:solidFill>
            <a:srgbClr val="E8ECEF"/>
          </a:solidFill>
          <a:ln w="15240">
            <a:solidFill>
              <a:srgbClr val="777777"/>
            </a:solidFill>
            <a:prstDash val="solid"/>
          </a:ln>
        </p:spPr>
        <p:txBody>
          <a:bodyPr/>
          <a:lstStyle/>
          <a:p>
            <a:endParaRPr/>
          </a:p>
        </p:txBody>
      </p:sp>
      <p:sp>
        <p:nvSpPr>
          <p:cNvPr id="30" name="Oval 29">
            <a:extLst>
              <a:ext uri="{FF2B5EF4-FFF2-40B4-BE49-F238E27FC236}">
                <a16:creationId xmlns:a16="http://schemas.microsoft.com/office/drawing/2014/main" id="{92D95110-4FA3-45BD-A738-3F39256E8B6A}"/>
              </a:ext>
            </a:extLst>
          </p:cNvPr>
          <p:cNvSpPr>
            <a:spLocks noGrp="1"/>
          </p:cNvSpPr>
          <p:nvPr/>
        </p:nvSpPr>
        <p:spPr>
          <a:xfrm>
            <a:off x="5600700" y="3895725"/>
            <a:ext cx="228600" cy="228600"/>
          </a:xfrm>
          <a:prstGeom prst="ellipse">
            <a:avLst/>
          </a:prstGeom>
          <a:solidFill>
            <a:srgbClr val="E8ECEF"/>
          </a:solidFill>
          <a:ln w="15240">
            <a:solidFill>
              <a:srgbClr val="777777"/>
            </a:solidFill>
            <a:prstDash val="solid"/>
          </a:ln>
        </p:spPr>
        <p:txBody>
          <a:bodyPr/>
          <a:lstStyle/>
          <a:p>
            <a:endParaRPr/>
          </a:p>
        </p:txBody>
      </p:sp>
      <p:sp>
        <p:nvSpPr>
          <p:cNvPr id="31" name="Left-Right Arrow 30">
            <a:extLst>
              <a:ext uri="{FF2B5EF4-FFF2-40B4-BE49-F238E27FC236}">
                <a16:creationId xmlns:a16="http://schemas.microsoft.com/office/drawing/2014/main" id="{084A0D89-582D-44C4-98B7-B310C73D2595}"/>
              </a:ext>
            </a:extLst>
          </p:cNvPr>
          <p:cNvSpPr>
            <a:spLocks noGrp="1"/>
          </p:cNvSpPr>
          <p:nvPr/>
        </p:nvSpPr>
        <p:spPr>
          <a:xfrm>
            <a:off x="2905125" y="3914775"/>
            <a:ext cx="571500" cy="190500"/>
          </a:xfrm>
          <a:prstGeom prst="leftRightArrow">
            <a:avLst/>
          </a:prstGeom>
          <a:solidFill>
            <a:srgbClr val="A50026"/>
          </a:solidFill>
          <a:ln w="0">
            <a:noFill/>
          </a:ln>
        </p:spPr>
        <p:txBody>
          <a:bodyPr/>
          <a:lstStyle/>
          <a:p>
            <a:endParaRPr/>
          </a:p>
        </p:txBody>
      </p:sp>
      <p:sp>
        <p:nvSpPr>
          <p:cNvPr id="32" name="Rectangle 31">
            <a:extLst>
              <a:ext uri="{FF2B5EF4-FFF2-40B4-BE49-F238E27FC236}">
                <a16:creationId xmlns:a16="http://schemas.microsoft.com/office/drawing/2014/main" id="{80CFA7B7-556A-4AFA-A558-012B8CF83F09}"/>
              </a:ext>
            </a:extLst>
          </p:cNvPr>
          <p:cNvSpPr>
            <a:spLocks noGrp="1"/>
          </p:cNvSpPr>
          <p:nvPr/>
        </p:nvSpPr>
        <p:spPr>
          <a:xfrm>
            <a:off x="457200" y="4476750"/>
            <a:ext cx="5467350" cy="304800"/>
          </a:xfrm>
          <a:prstGeom prst="rect">
            <a:avLst/>
          </a:prstGeom>
          <a:noFill/>
          <a:ln w="0">
            <a:noFill/>
          </a:ln>
        </p:spPr>
        <p:txBody>
          <a:bodyPr wrap="square" lIns="0" tIns="0" rIns="0" bIns="0" anchor="t"/>
          <a:lstStyle>
            <a:defPPr algn="ctr">
              <a:defRPr sz="1800" b="0">
                <a:solidFill>
                  <a:srgbClr val="444444"/>
                </a:solidFill>
                <a:latin typeface="Times New Roman"/>
                <a:ea typeface="Times New Roman"/>
                <a:cs typeface="Times New Roman"/>
              </a:defRPr>
            </a:defPPr>
          </a:lstStyle>
          <a:p>
            <a:pPr algn="ct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Same bead in one run</a:t>
            </a:r>
          </a:p>
        </p:txBody>
      </p:sp>
      <p:sp>
        <p:nvSpPr>
          <p:cNvPr id="33" name="Rectangle 32">
            <a:extLst>
              <a:ext uri="{FF2B5EF4-FFF2-40B4-BE49-F238E27FC236}">
                <a16:creationId xmlns:a16="http://schemas.microsoft.com/office/drawing/2014/main" id="{737B63CA-D7D2-4215-912C-850F09E9709B}"/>
              </a:ext>
            </a:extLst>
          </p:cNvPr>
          <p:cNvSpPr>
            <a:spLocks noGrp="1"/>
          </p:cNvSpPr>
          <p:nvPr/>
        </p:nvSpPr>
        <p:spPr>
          <a:xfrm>
            <a:off x="457200" y="4886325"/>
            <a:ext cx="5467350" cy="352425"/>
          </a:xfrm>
          <a:prstGeom prst="rect">
            <a:avLst/>
          </a:prstGeom>
          <a:noFill/>
          <a:ln w="0">
            <a:noFill/>
          </a:ln>
        </p:spPr>
        <p:txBody>
          <a:bodyPr wrap="square" lIns="0" tIns="0" rIns="0" bIns="0" anchor="t"/>
          <a:lstStyle>
            <a:defPPr algn="ctr">
              <a:defRPr sz="2175" b="1">
                <a:solidFill>
                  <a:srgbClr val="A50026"/>
                </a:solidFill>
                <a:latin typeface="Times New Roman"/>
                <a:ea typeface="Times New Roman"/>
                <a:cs typeface="Times New Roman"/>
              </a:defRPr>
            </a:defPPr>
          </a:lstStyle>
          <a:p>
            <a:pPr algn="ctr">
              <a:buNone/>
              <a:defRPr sz="2175" b="1">
                <a:solidFill>
                  <a:srgbClr val="A50026"/>
                </a:solidFill>
                <a:latin typeface="Times New Roman"/>
                <a:ea typeface="Times New Roman"/>
                <a:cs typeface="Times New Roman"/>
              </a:defRPr>
            </a:pPr>
            <a:r>
              <a:rPr sz="2175" b="1" dirty="0">
                <a:solidFill>
                  <a:srgbClr val="A50026"/>
                </a:solidFill>
                <a:latin typeface="Times New Roman"/>
                <a:ea typeface="Times New Roman"/>
                <a:cs typeface="Times New Roman"/>
              </a:rPr>
              <a:t>The agent overestimates the covariance</a:t>
            </a:r>
          </a:p>
        </p:txBody>
      </p:sp>
      <p:sp>
        <p:nvSpPr>
          <p:cNvPr id="34" name="Rectangle 33">
            <a:extLst>
              <a:ext uri="{FF2B5EF4-FFF2-40B4-BE49-F238E27FC236}">
                <a16:creationId xmlns:a16="http://schemas.microsoft.com/office/drawing/2014/main" id="{9506109F-601E-49E5-BD20-77D45C23A0A6}"/>
              </a:ext>
            </a:extLst>
          </p:cNvPr>
          <p:cNvSpPr>
            <a:spLocks noGrp="1"/>
          </p:cNvSpPr>
          <p:nvPr/>
        </p:nvSpPr>
        <p:spPr>
          <a:xfrm>
            <a:off x="6610350" y="1628775"/>
            <a:ext cx="5124450" cy="371475"/>
          </a:xfrm>
          <a:prstGeom prst="rect">
            <a:avLst/>
          </a:prstGeom>
          <a:noFill/>
          <a:ln w="0">
            <a:noFill/>
          </a:ln>
        </p:spPr>
        <p:txBody>
          <a:bodyPr wrap="square" lIns="0" tIns="0" rIns="0" bIns="0" anchor="t"/>
          <a:lstStyle>
            <a:defPPr algn="l">
              <a:defRPr sz="2325" b="1">
                <a:solidFill>
                  <a:srgbClr val="0F766E"/>
                </a:solidFill>
                <a:latin typeface="Times New Roman"/>
                <a:ea typeface="Times New Roman"/>
                <a:cs typeface="Times New Roman"/>
              </a:defRPr>
            </a:defPPr>
          </a:lstStyle>
          <a:p>
            <a:pPr algn="l">
              <a:buNone/>
              <a:defRPr sz="2325" b="1">
                <a:solidFill>
                  <a:srgbClr val="0F766E"/>
                </a:solidFill>
                <a:latin typeface="Times New Roman"/>
                <a:ea typeface="Times New Roman"/>
                <a:cs typeface="Times New Roman"/>
              </a:defRPr>
            </a:pPr>
            <a:r>
              <a:rPr sz="2325" b="1">
                <a:solidFill>
                  <a:srgbClr val="0F766E"/>
                </a:solidFill>
                <a:latin typeface="Times New Roman"/>
                <a:ea typeface="Times New Roman"/>
                <a:cs typeface="Times New Roman"/>
              </a:rPr>
              <a:t>Fits the measured motion</a:t>
            </a:r>
          </a:p>
        </p:txBody>
      </p:sp>
      <p:sp>
        <p:nvSpPr>
          <p:cNvPr id="35" name="Rectangle 34">
            <a:extLst>
              <a:ext uri="{FF2B5EF4-FFF2-40B4-BE49-F238E27FC236}">
                <a16:creationId xmlns:a16="http://schemas.microsoft.com/office/drawing/2014/main" id="{941F02D7-5787-45E1-8F90-17FA1B625712}"/>
              </a:ext>
            </a:extLst>
          </p:cNvPr>
          <p:cNvSpPr>
            <a:spLocks noGrp="1"/>
          </p:cNvSpPr>
          <p:nvPr/>
        </p:nvSpPr>
        <p:spPr>
          <a:xfrm>
            <a:off x="6610350" y="2143125"/>
            <a:ext cx="5124450" cy="742950"/>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Adjusts how far the bead wanders</a:t>
            </a: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at each observation time.</a:t>
            </a:r>
          </a:p>
        </p:txBody>
      </p:sp>
      <p:sp>
        <p:nvSpPr>
          <p:cNvPr id="36" name="Rectangle 35">
            <a:extLst>
              <a:ext uri="{FF2B5EF4-FFF2-40B4-BE49-F238E27FC236}">
                <a16:creationId xmlns:a16="http://schemas.microsoft.com/office/drawing/2014/main" id="{BB95EC0A-29BC-48DF-8D71-281CA0886E16}"/>
              </a:ext>
            </a:extLst>
          </p:cNvPr>
          <p:cNvSpPr>
            <a:spLocks noGrp="1"/>
          </p:cNvSpPr>
          <p:nvPr/>
        </p:nvSpPr>
        <p:spPr>
          <a:xfrm>
            <a:off x="6610350" y="3286125"/>
            <a:ext cx="5124450" cy="400050"/>
          </a:xfrm>
          <a:prstGeom prst="rect">
            <a:avLst/>
          </a:prstGeom>
          <a:noFill/>
          <a:ln w="0">
            <a:noFill/>
          </a:ln>
        </p:spPr>
        <p:txBody>
          <a:bodyPr wrap="square" lIns="0" tIns="0" rIns="0" bIns="0" anchor="t"/>
          <a:lstStyle>
            <a:defPPr algn="l">
              <a:defRPr sz="2250" b="1">
                <a:solidFill>
                  <a:srgbClr val="A50026"/>
                </a:solidFill>
                <a:latin typeface="Times New Roman"/>
                <a:ea typeface="Times New Roman"/>
                <a:cs typeface="Times New Roman"/>
              </a:defRPr>
            </a:defPPr>
          </a:lstStyle>
          <a:p>
            <a:pPr>
              <a:defRPr sz="2250" b="1">
                <a:solidFill>
                  <a:srgbClr val="A50026"/>
                </a:solidFill>
                <a:latin typeface="Times New Roman"/>
                <a:ea typeface="Times New Roman"/>
                <a:cs typeface="Times New Roman"/>
              </a:defRPr>
            </a:pPr>
            <a:r>
              <a:rPr lang="en-US" sz="2250" b="1" dirty="0">
                <a:solidFill>
                  <a:srgbClr val="A50026"/>
                </a:solidFill>
                <a:latin typeface="Times New Roman"/>
              </a:rPr>
              <a:t>Overestimates early–late covariance</a:t>
            </a:r>
            <a:endParaRPr sz="2250" b="1" dirty="0">
              <a:solidFill>
                <a:srgbClr val="A50026"/>
              </a:solidFill>
              <a:latin typeface="Times New Roman"/>
              <a:ea typeface="Times New Roman"/>
              <a:cs typeface="Times New Roman"/>
            </a:endParaRPr>
          </a:p>
        </p:txBody>
      </p:sp>
      <p:sp>
        <p:nvSpPr>
          <p:cNvPr id="37" name="Rectangle 36">
            <a:extLst>
              <a:ext uri="{FF2B5EF4-FFF2-40B4-BE49-F238E27FC236}">
                <a16:creationId xmlns:a16="http://schemas.microsoft.com/office/drawing/2014/main" id="{EC6D5905-D6B4-4632-95EA-E52D9EB81E11}"/>
              </a:ext>
            </a:extLst>
          </p:cNvPr>
          <p:cNvSpPr>
            <a:spLocks noGrp="1"/>
          </p:cNvSpPr>
          <p:nvPr/>
        </p:nvSpPr>
        <p:spPr>
          <a:xfrm>
            <a:off x="6610350" y="3819525"/>
            <a:ext cx="5124450" cy="1657350"/>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defRPr sz="2175" b="0">
                <a:solidFill>
                  <a:srgbClr val="111111"/>
                </a:solidFill>
                <a:latin typeface="Times New Roman"/>
                <a:ea typeface="Times New Roman"/>
                <a:cs typeface="Times New Roman"/>
              </a:defRPr>
            </a:pPr>
            <a:r>
              <a:rPr lang="en-US" sz="2175" dirty="0">
                <a:solidFill>
                  <a:srgbClr val="111111"/>
                </a:solidFill>
                <a:latin typeface="Times New Roman"/>
              </a:rPr>
              <a:t>Keeps the starter’s covariance formula.</a:t>
            </a:r>
            <a:br>
              <a:rPr lang="en-US" sz="2175" dirty="0">
                <a:solidFill>
                  <a:srgbClr val="111111"/>
                </a:solidFill>
                <a:latin typeface="Times New Roman"/>
              </a:rPr>
            </a:br>
            <a:r>
              <a:rPr lang="en-US" sz="2175" dirty="0">
                <a:solidFill>
                  <a:srgbClr val="111111"/>
                </a:solidFill>
                <a:latin typeface="Times New Roman"/>
              </a:rPr>
              <a:t>Assumes equal-duration intervals have the same motion statistics, regardless of when they start.</a:t>
            </a:r>
            <a:endParaRPr sz="2175" b="0" dirty="0">
              <a:solidFill>
                <a:srgbClr val="111111"/>
              </a:solidFill>
              <a:latin typeface="Times New Roman"/>
              <a:ea typeface="Times New Roman"/>
              <a:cs typeface="Times New Roman"/>
            </a:endParaRPr>
          </a:p>
        </p:txBody>
      </p:sp>
      <p:sp>
        <p:nvSpPr>
          <p:cNvPr id="38" name="Rectangle 37">
            <a:extLst>
              <a:ext uri="{FF2B5EF4-FFF2-40B4-BE49-F238E27FC236}">
                <a16:creationId xmlns:a16="http://schemas.microsoft.com/office/drawing/2014/main" id="{B430F3E2-3BE0-4DA7-AFF9-D384305F98EB}"/>
              </a:ext>
            </a:extLst>
          </p:cNvPr>
          <p:cNvSpPr>
            <a:spLocks noGrp="1"/>
          </p:cNvSpPr>
          <p:nvPr/>
        </p:nvSpPr>
        <p:spPr>
          <a:xfrm>
            <a:off x="457200" y="5476875"/>
            <a:ext cx="11277600" cy="12383"/>
          </a:xfrm>
          <a:prstGeom prst="rect">
            <a:avLst/>
          </a:prstGeom>
          <a:solidFill>
            <a:srgbClr val="D1D5DB"/>
          </a:solidFill>
          <a:ln w="0">
            <a:noFill/>
          </a:ln>
        </p:spPr>
        <p:txBody>
          <a:bodyPr/>
          <a:lstStyle/>
          <a:p>
            <a:endParaRPr/>
          </a:p>
        </p:txBody>
      </p:sp>
      <p:sp>
        <p:nvSpPr>
          <p:cNvPr id="39" name="Rectangle 38">
            <a:extLst>
              <a:ext uri="{FF2B5EF4-FFF2-40B4-BE49-F238E27FC236}">
                <a16:creationId xmlns:a16="http://schemas.microsoft.com/office/drawing/2014/main" id="{66A75466-E52D-47F7-AC02-3EC78F3F82E0}"/>
              </a:ext>
            </a:extLst>
          </p:cNvPr>
          <p:cNvSpPr>
            <a:spLocks noGrp="1"/>
          </p:cNvSpPr>
          <p:nvPr/>
        </p:nvSpPr>
        <p:spPr>
          <a:xfrm>
            <a:off x="457200" y="5675792"/>
            <a:ext cx="11277600" cy="381000"/>
          </a:xfrm>
          <a:prstGeom prst="rect">
            <a:avLst/>
          </a:prstGeom>
          <a:noFill/>
          <a:ln w="0">
            <a:noFill/>
          </a:ln>
        </p:spPr>
        <p:txBody>
          <a:bodyPr wrap="square" lIns="0" tIns="0" rIns="0" bIns="0" anchor="t"/>
          <a:lstStyle>
            <a:defPPr algn="l">
              <a:defRPr sz="2325" b="1">
                <a:solidFill>
                  <a:srgbClr val="111111"/>
                </a:solidFill>
                <a:latin typeface="Times New Roman"/>
                <a:ea typeface="Times New Roman"/>
                <a:cs typeface="Times New Roman"/>
              </a:defRPr>
            </a:defPPr>
          </a:lstStyle>
          <a:p>
            <a:pPr algn="l">
              <a:buNone/>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Fits the supplied data. Covariance errors reach 136% (allowed tolerance: 4%).</a:t>
            </a:r>
          </a:p>
        </p:txBody>
      </p:sp>
      <p:sp>
        <p:nvSpPr>
          <p:cNvPr id="41" name="Rectangle 40">
            <a:extLst>
              <a:ext uri="{FF2B5EF4-FFF2-40B4-BE49-F238E27FC236}">
                <a16:creationId xmlns:a16="http://schemas.microsoft.com/office/drawing/2014/main" id="{72B33178-FBED-4B95-AC40-7C6C81162659}"/>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r">
              <a:defRPr sz="1200" b="0">
                <a:solidFill>
                  <a:srgbClr val="777777"/>
                </a:solidFill>
                <a:latin typeface="Times New Roman"/>
                <a:ea typeface="Times New Roman"/>
                <a:cs typeface="Times New Roman"/>
              </a:defRPr>
            </a:defPPr>
          </a:lstStyle>
          <a:p>
            <a:pPr algn="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10</a:t>
            </a:r>
          </a:p>
        </p:txBody>
      </p:sp>
    </p:spTree>
    <p:extLst>
      <p:ext uri="{BB962C8B-B14F-4D97-AF65-F5344CB8AC3E}">
        <p14:creationId xmlns:p14="http://schemas.microsoft.com/office/powerpoint/2010/main" val="787898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0E50B44-48E6-416C-9860-3C03878314C7}"/>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Conclusions</a:t>
            </a:r>
          </a:p>
        </p:txBody>
      </p:sp>
      <p:sp>
        <p:nvSpPr>
          <p:cNvPr id="2" name="Rectangle 1">
            <a:extLst>
              <a:ext uri="{FF2B5EF4-FFF2-40B4-BE49-F238E27FC236}">
                <a16:creationId xmlns:a16="http://schemas.microsoft.com/office/drawing/2014/main" id="{9AFB84F0-75DD-4F99-9444-0BF9DFCD2BEB}"/>
              </a:ext>
            </a:extLst>
          </p:cNvPr>
          <p:cNvSpPr>
            <a:spLocks noGrp="1"/>
          </p:cNvSpPr>
          <p:nvPr/>
        </p:nvSpPr>
        <p:spPr>
          <a:xfrm>
            <a:off x="609600" y="1609725"/>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Agents can fit observations and still miss the physics</a:t>
            </a:r>
          </a:p>
        </p:txBody>
      </p:sp>
      <p:sp>
        <p:nvSpPr>
          <p:cNvPr id="3" name="Rectangle 2">
            <a:extLst>
              <a:ext uri="{FF2B5EF4-FFF2-40B4-BE49-F238E27FC236}">
                <a16:creationId xmlns:a16="http://schemas.microsoft.com/office/drawing/2014/main" id="{0B2C7386-EAD4-4C99-88E7-41B295B555FC}"/>
              </a:ext>
            </a:extLst>
          </p:cNvPr>
          <p:cNvSpPr>
            <a:spLocks noGrp="1"/>
          </p:cNvSpPr>
          <p:nvPr/>
        </p:nvSpPr>
        <p:spPr>
          <a:xfrm>
            <a:off x="609600" y="2219325"/>
            <a:ext cx="11125200" cy="62865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The bead example fits the data but predicts the covariance incorrectly.</a:t>
            </a:r>
          </a:p>
        </p:txBody>
      </p:sp>
      <p:sp>
        <p:nvSpPr>
          <p:cNvPr id="4" name="Rectangle 3">
            <a:extLst>
              <a:ext uri="{FF2B5EF4-FFF2-40B4-BE49-F238E27FC236}">
                <a16:creationId xmlns:a16="http://schemas.microsoft.com/office/drawing/2014/main" id="{6ACA5743-0522-4422-A526-56BBA71F09D6}"/>
              </a:ext>
            </a:extLst>
          </p:cNvPr>
          <p:cNvSpPr>
            <a:spLocks noGrp="1"/>
          </p:cNvSpPr>
          <p:nvPr/>
        </p:nvSpPr>
        <p:spPr>
          <a:xfrm>
            <a:off x="609600" y="3257550"/>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Hints reduce observed physics failures</a:t>
            </a:r>
          </a:p>
        </p:txBody>
      </p:sp>
      <p:sp>
        <p:nvSpPr>
          <p:cNvPr id="5" name="Rectangle 4">
            <a:extLst>
              <a:ext uri="{FF2B5EF4-FFF2-40B4-BE49-F238E27FC236}">
                <a16:creationId xmlns:a16="http://schemas.microsoft.com/office/drawing/2014/main" id="{2B6D1906-A7F2-4178-AA65-A670BAAA2EE4}"/>
              </a:ext>
            </a:extLst>
          </p:cNvPr>
          <p:cNvSpPr>
            <a:spLocks noGrp="1"/>
          </p:cNvSpPr>
          <p:nvPr/>
        </p:nvSpPr>
        <p:spPr>
          <a:xfrm>
            <a:off x="609600" y="3867150"/>
            <a:ext cx="11125200" cy="62865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Luna High: 33/39 without hints, 12/39 with a general hint,</a:t>
            </a:r>
            <a:r>
              <a:rPr sz="2175">
                <a:solidFill>
                  <a:srgbClr val="444444"/>
                </a:solidFill>
                <a:latin typeface="Times New Roman"/>
                <a:ea typeface="Times New Roman"/>
                <a:cs typeface="Times New Roman"/>
              </a:rPr>
              <a:t> </a:t>
            </a:r>
            <a:r>
              <a:rPr sz="2175" b="0">
                <a:solidFill>
                  <a:srgbClr val="444444"/>
                </a:solidFill>
                <a:latin typeface="Times New Roman"/>
                <a:ea typeface="Times New Roman"/>
                <a:cs typeface="Times New Roman"/>
              </a:rPr>
              <a:t>and 2/39 with a physics hint.</a:t>
            </a:r>
          </a:p>
        </p:txBody>
      </p:sp>
      <p:sp>
        <p:nvSpPr>
          <p:cNvPr id="6" name="Rectangle 5">
            <a:extLst>
              <a:ext uri="{FF2B5EF4-FFF2-40B4-BE49-F238E27FC236}">
                <a16:creationId xmlns:a16="http://schemas.microsoft.com/office/drawing/2014/main" id="{5D605833-9C79-493D-84E5-16F6E9A05EBF}"/>
              </a:ext>
            </a:extLst>
          </p:cNvPr>
          <p:cNvSpPr>
            <a:spLocks noGrp="1"/>
          </p:cNvSpPr>
          <p:nvPr/>
        </p:nvSpPr>
        <p:spPr>
          <a:xfrm>
            <a:off x="609600" y="4905375"/>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The gains suggest a gap in physical reasoning</a:t>
            </a:r>
          </a:p>
        </p:txBody>
      </p:sp>
      <p:sp>
        <p:nvSpPr>
          <p:cNvPr id="7" name="Rectangle 6">
            <a:extLst>
              <a:ext uri="{FF2B5EF4-FFF2-40B4-BE49-F238E27FC236}">
                <a16:creationId xmlns:a16="http://schemas.microsoft.com/office/drawing/2014/main" id="{4FB740C6-2A78-43B4-94E0-F1DA4CC2609E}"/>
              </a:ext>
            </a:extLst>
          </p:cNvPr>
          <p:cNvSpPr>
            <a:spLocks noGrp="1"/>
          </p:cNvSpPr>
          <p:nvPr/>
        </p:nvSpPr>
        <p:spPr>
          <a:xfrm>
            <a:off x="609600" y="5514975"/>
            <a:ext cx="11125200" cy="45720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Agents often need guidance to identify and use relevant physics.</a:t>
            </a:r>
          </a:p>
        </p:txBody>
      </p:sp>
      <p:sp>
        <p:nvSpPr>
          <p:cNvPr id="10" name="Rectangle 9">
            <a:extLst>
              <a:ext uri="{FF2B5EF4-FFF2-40B4-BE49-F238E27FC236}">
                <a16:creationId xmlns:a16="http://schemas.microsoft.com/office/drawing/2014/main" id="{CE164575-2928-4D3E-956F-8803F36A47D9}"/>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11</a:t>
            </a:r>
          </a:p>
        </p:txBody>
      </p:sp>
    </p:spTree>
    <p:extLst>
      <p:ext uri="{BB962C8B-B14F-4D97-AF65-F5344CB8AC3E}">
        <p14:creationId xmlns:p14="http://schemas.microsoft.com/office/powerpoint/2010/main" val="549842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B0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9447901-9249-469C-A67F-257239997CC0}"/>
              </a:ext>
            </a:extLst>
          </p:cNvPr>
          <p:cNvSpPr>
            <a:spLocks noGrp="1"/>
          </p:cNvSpPr>
          <p:nvPr/>
        </p:nvSpPr>
        <p:spPr>
          <a:xfrm>
            <a:off x="609600" y="2333625"/>
            <a:ext cx="10477500" cy="952500"/>
          </a:xfrm>
          <a:prstGeom prst="rect">
            <a:avLst/>
          </a:prstGeom>
          <a:noFill/>
          <a:ln w="0">
            <a:noFill/>
          </a:ln>
        </p:spPr>
        <p:txBody>
          <a:bodyPr wrap="square" lIns="0" tIns="0" rIns="0" bIns="0" anchor="t"/>
          <a:lstStyle>
            <a:defPPr algn="l">
              <a:defRPr sz="5700" b="1" i="0">
                <a:solidFill>
                  <a:srgbClr val="FFFFFF"/>
                </a:solidFill>
                <a:latin typeface="Times New Roman"/>
                <a:ea typeface="Times New Roman"/>
                <a:cs typeface="Times New Roman"/>
              </a:defRPr>
            </a:defPPr>
          </a:lstStyle>
          <a:p>
            <a:pPr algn="l">
              <a:buNone/>
              <a:defRPr sz="5700" b="1" i="0">
                <a:solidFill>
                  <a:srgbClr val="FFFFFF"/>
                </a:solidFill>
                <a:latin typeface="Times New Roman"/>
                <a:ea typeface="Times New Roman"/>
                <a:cs typeface="Times New Roman"/>
              </a:defRPr>
            </a:pPr>
            <a:r>
              <a:rPr sz="5700" b="1" i="0">
                <a:solidFill>
                  <a:srgbClr val="FFFFFF"/>
                </a:solidFill>
                <a:latin typeface="Times New Roman"/>
                <a:ea typeface="Times New Roman"/>
                <a:cs typeface="Times New Roman"/>
              </a:rPr>
              <a:t>Questions</a:t>
            </a:r>
          </a:p>
        </p:txBody>
      </p:sp>
      <p:sp>
        <p:nvSpPr>
          <p:cNvPr id="2" name="Rectangle 1">
            <a:extLst>
              <a:ext uri="{FF2B5EF4-FFF2-40B4-BE49-F238E27FC236}">
                <a16:creationId xmlns:a16="http://schemas.microsoft.com/office/drawing/2014/main" id="{2AE705A4-0FC6-405B-B3A2-4281C7C3DE5F}"/>
              </a:ext>
            </a:extLst>
          </p:cNvPr>
          <p:cNvSpPr>
            <a:spLocks noGrp="1"/>
          </p:cNvSpPr>
          <p:nvPr/>
        </p:nvSpPr>
        <p:spPr>
          <a:xfrm>
            <a:off x="609600" y="3667125"/>
            <a:ext cx="7620000" cy="476250"/>
          </a:xfrm>
          <a:prstGeom prst="rect">
            <a:avLst/>
          </a:prstGeom>
          <a:noFill/>
          <a:ln w="0">
            <a:noFill/>
          </a:ln>
        </p:spPr>
        <p:txBody>
          <a:bodyPr wrap="square" lIns="0" tIns="0" rIns="0" bIns="0" anchor="t"/>
          <a:lstStyle>
            <a:defPPr algn="l">
              <a:defRPr sz="2400" b="0" i="0">
                <a:solidFill>
                  <a:srgbClr val="D1D5DB"/>
                </a:solidFill>
                <a:latin typeface="Times New Roman"/>
                <a:ea typeface="Times New Roman"/>
                <a:cs typeface="Times New Roman"/>
              </a:defRPr>
            </a:defPPr>
          </a:lstStyle>
          <a:p>
            <a:pPr algn="l">
              <a:buNone/>
              <a:defRPr sz="2400" b="0" i="0">
                <a:solidFill>
                  <a:srgbClr val="D1D5DB"/>
                </a:solidFill>
                <a:latin typeface="Times New Roman"/>
                <a:ea typeface="Times New Roman"/>
                <a:cs typeface="Times New Roman"/>
              </a:defRPr>
            </a:pPr>
            <a:r>
              <a:rPr sz="2400" b="0" i="0">
                <a:solidFill>
                  <a:srgbClr val="D1D5DB"/>
                </a:solidFill>
                <a:latin typeface="Times New Roman"/>
                <a:ea typeface="Times New Roman"/>
                <a:cs typeface="Times New Roman"/>
              </a:rPr>
              <a:t>3 minutes</a:t>
            </a:r>
          </a:p>
        </p:txBody>
      </p:sp>
    </p:spTree>
    <p:extLst>
      <p:ext uri="{BB962C8B-B14F-4D97-AF65-F5344CB8AC3E}">
        <p14:creationId xmlns:p14="http://schemas.microsoft.com/office/powerpoint/2010/main" val="471599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C4B44AF-C39B-480E-8294-BE118959A9F4}"/>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no-hint results by model and effort</a:t>
            </a:r>
          </a:p>
        </p:txBody>
      </p:sp>
      <p:sp>
        <p:nvSpPr>
          <p:cNvPr id="2" name="Rectangle 1">
            <a:extLst>
              <a:ext uri="{FF2B5EF4-FFF2-40B4-BE49-F238E27FC236}">
                <a16:creationId xmlns:a16="http://schemas.microsoft.com/office/drawing/2014/main" id="{3A8418D7-28B2-48E6-8C97-350F2EC2D7A5}"/>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Completed passes / attempts. Errors are retained. Mean cost is shown only when complete.</a:t>
            </a:r>
          </a:p>
        </p:txBody>
      </p:sp>
      <p:sp>
        <p:nvSpPr>
          <p:cNvPr id="3" name="Rectangle 2">
            <a:extLst>
              <a:ext uri="{FF2B5EF4-FFF2-40B4-BE49-F238E27FC236}">
                <a16:creationId xmlns:a16="http://schemas.microsoft.com/office/drawing/2014/main" id="{1B56C1CF-C64F-4769-A5BE-C66C3A2DADCD}"/>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13</a:t>
            </a:r>
          </a:p>
        </p:txBody>
      </p:sp>
      <p:graphicFrame>
        <p:nvGraphicFramePr>
          <p:cNvPr id="4" name="Table 3">
            <a:extLst>
              <a:ext uri="{FF2B5EF4-FFF2-40B4-BE49-F238E27FC236}">
                <a16:creationId xmlns:a16="http://schemas.microsoft.com/office/drawing/2014/main" id="{0B2E962E-1B80-4D70-A344-90969FCBCAC4}"/>
              </a:ext>
            </a:extLst>
          </p:cNvPr>
          <p:cNvGraphicFramePr/>
          <p:nvPr/>
        </p:nvGraphicFramePr>
        <p:xfrm>
          <a:off x="457200" y="1533525"/>
          <a:ext cx="5524500" cy="4309110"/>
        </p:xfrm>
        <a:graphic>
          <a:graphicData uri="http://schemas.openxmlformats.org/drawingml/2006/table">
            <a:tbl>
              <a:tblPr/>
              <a:tblGrid>
                <a:gridCol w="2362200">
                  <a:extLst>
                    <a:ext uri="{9D8B030D-6E8A-4147-A177-3AD203B41FA5}">
                      <a16:colId xmlns:a16="http://schemas.microsoft.com/office/drawing/2014/main" val="20000"/>
                    </a:ext>
                  </a:extLst>
                </a:gridCol>
                <a:gridCol w="1057275">
                  <a:extLst>
                    <a:ext uri="{9D8B030D-6E8A-4147-A177-3AD203B41FA5}">
                      <a16:colId xmlns:a16="http://schemas.microsoft.com/office/drawing/2014/main" val="20001"/>
                    </a:ext>
                  </a:extLst>
                </a:gridCol>
                <a:gridCol w="809625">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23850">
                <a:tc>
                  <a:txBody>
                    <a:bodyPr/>
                    <a:lstStyle/>
                    <a:p>
                      <a:r>
                        <a:rPr sz="1575" b="1">
                          <a:solidFill>
                            <a:srgbClr val="FFFFFF"/>
                          </a:solidFill>
                          <a:latin typeface="Times New Roman"/>
                          <a:ea typeface="Times New Roman"/>
                          <a:cs typeface="Times New Roman"/>
                        </a:rPr>
                        <a:t>Model and effort</a:t>
                      </a:r>
                    </a:p>
                  </a:txBody>
                  <a:tcPr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Passes / n</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Errors</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Mean cost</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extLst>
                  <a:ext uri="{0D108BD9-81ED-4DB2-BD59-A6C34878D82A}">
                    <a16:rowId xmlns:a16="http://schemas.microsoft.com/office/drawing/2014/main" val="10000"/>
                  </a:ext>
                </a:extLst>
              </a:tr>
              <a:tr h="323850">
                <a:tc>
                  <a:txBody>
                    <a:bodyPr/>
                    <a:lstStyle/>
                    <a:p>
                      <a:r>
                        <a:rPr sz="1575" b="0">
                          <a:solidFill>
                            <a:srgbClr val="111111"/>
                          </a:solidFill>
                          <a:latin typeface="Times New Roman"/>
                          <a:ea typeface="Times New Roman"/>
                          <a:cs typeface="Times New Roman"/>
                        </a:rPr>
                        <a:t>5.6 Luna None</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$0.0084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575" b="0">
                          <a:solidFill>
                            <a:srgbClr val="111111"/>
                          </a:solidFill>
                          <a:latin typeface="Times New Roman"/>
                          <a:ea typeface="Times New Roman"/>
                          <a:cs typeface="Times New Roman"/>
                        </a:rPr>
                        <a:t>5.6 Luna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$0.0074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2"/>
                  </a:ext>
                </a:extLst>
              </a:tr>
              <a:tr h="323850">
                <a:tc>
                  <a:txBody>
                    <a:bodyPr/>
                    <a:lstStyle/>
                    <a:p>
                      <a:r>
                        <a:rPr sz="1575" b="0">
                          <a:solidFill>
                            <a:srgbClr val="111111"/>
                          </a:solidFill>
                          <a:latin typeface="Times New Roman"/>
                          <a:ea typeface="Times New Roman"/>
                          <a:cs typeface="Times New Roman"/>
                        </a:rPr>
                        <a:t>5.6 Luna Medium</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$0.0135</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3"/>
                  </a:ext>
                </a:extLst>
              </a:tr>
              <a:tr h="323850">
                <a:tc>
                  <a:txBody>
                    <a:bodyPr/>
                    <a:lstStyle/>
                    <a:p>
                      <a:r>
                        <a:rPr sz="1575" b="0">
                          <a:solidFill>
                            <a:srgbClr val="111111"/>
                          </a:solidFill>
                          <a:latin typeface="Times New Roman"/>
                          <a:ea typeface="Times New Roman"/>
                          <a:cs typeface="Times New Roman"/>
                        </a:rPr>
                        <a:t>5.6 Luna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4/40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4"/>
                  </a:ext>
                </a:extLst>
              </a:tr>
              <a:tr h="323850">
                <a:tc>
                  <a:txBody>
                    <a:bodyPr/>
                    <a:lstStyle/>
                    <a:p>
                      <a:r>
                        <a:rPr sz="1575" b="0">
                          <a:solidFill>
                            <a:srgbClr val="111111"/>
                          </a:solidFill>
                          <a:latin typeface="Times New Roman"/>
                          <a:ea typeface="Times New Roman"/>
                          <a:cs typeface="Times New Roman"/>
                        </a:rPr>
                        <a:t>5.6 Luna Extra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6/39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Incomplete</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575" b="0">
                          <a:solidFill>
                            <a:srgbClr val="111111"/>
                          </a:solidFill>
                          <a:latin typeface="Times New Roman"/>
                          <a:ea typeface="Times New Roman"/>
                          <a:cs typeface="Times New Roman"/>
                        </a:rPr>
                        <a:t>5.6 Luna Max</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8/39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$0.0513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6"/>
                  </a:ext>
                </a:extLst>
              </a:tr>
              <a:tr h="323850">
                <a:tc>
                  <a:txBody>
                    <a:bodyPr/>
                    <a:lstStyle/>
                    <a:p>
                      <a:r>
                        <a:rPr sz="1575" b="0">
                          <a:solidFill>
                            <a:srgbClr val="111111"/>
                          </a:solidFill>
                          <a:latin typeface="Times New Roman"/>
                          <a:ea typeface="Times New Roman"/>
                          <a:cs typeface="Times New Roman"/>
                        </a:rPr>
                        <a:t>5.6 Terra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9/78</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$0.1145</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7"/>
                  </a:ext>
                </a:extLst>
              </a:tr>
              <a:tr h="323850">
                <a:tc>
                  <a:txBody>
                    <a:bodyPr/>
                    <a:lstStyle/>
                    <a:p>
                      <a:r>
                        <a:rPr sz="1575" b="0">
                          <a:solidFill>
                            <a:srgbClr val="111111"/>
                          </a:solidFill>
                          <a:latin typeface="Times New Roman"/>
                          <a:ea typeface="Times New Roman"/>
                          <a:cs typeface="Times New Roman"/>
                        </a:rPr>
                        <a:t>5.6 Terra Medium</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5/39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$0.1254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8"/>
                  </a:ext>
                </a:extLst>
              </a:tr>
              <a:tr h="323850">
                <a:tc>
                  <a:txBody>
                    <a:bodyPr/>
                    <a:lstStyle/>
                    <a:p>
                      <a:r>
                        <a:rPr sz="1575" b="0">
                          <a:solidFill>
                            <a:srgbClr val="111111"/>
                          </a:solidFill>
                          <a:latin typeface="Times New Roman"/>
                          <a:ea typeface="Times New Roman"/>
                          <a:cs typeface="Times New Roman"/>
                        </a:rPr>
                        <a:t>5.6 Terra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16/78</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$0.1905</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9"/>
                  </a:ext>
                </a:extLst>
              </a:tr>
              <a:tr h="323850">
                <a:tc>
                  <a:txBody>
                    <a:bodyPr/>
                    <a:lstStyle/>
                    <a:p>
                      <a:r>
                        <a:rPr sz="1575" b="0">
                          <a:solidFill>
                            <a:srgbClr val="111111"/>
                          </a:solidFill>
                          <a:latin typeface="Times New Roman"/>
                          <a:ea typeface="Times New Roman"/>
                          <a:cs typeface="Times New Roman"/>
                        </a:rPr>
                        <a:t>5.6 Terra Extra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19/39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$0.3196</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10"/>
                  </a:ext>
                </a:extLst>
              </a:tr>
              <a:tr h="323850">
                <a:tc>
                  <a:txBody>
                    <a:bodyPr/>
                    <a:lstStyle/>
                    <a:p>
                      <a:r>
                        <a:rPr sz="1575" b="0">
                          <a:solidFill>
                            <a:srgbClr val="111111"/>
                          </a:solidFill>
                          <a:latin typeface="Times New Roman"/>
                          <a:ea typeface="Times New Roman"/>
                          <a:cs typeface="Times New Roman"/>
                        </a:rPr>
                        <a:t>5.6 Sol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24/39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$0.1832</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11"/>
                  </a:ext>
                </a:extLst>
              </a:tr>
              <a:tr h="323850">
                <a:tc>
                  <a:txBody>
                    <a:bodyPr/>
                    <a:lstStyle/>
                    <a:p>
                      <a:r>
                        <a:rPr sz="1575" b="0">
                          <a:solidFill>
                            <a:srgbClr val="111111"/>
                          </a:solidFill>
                          <a:latin typeface="Times New Roman"/>
                          <a:ea typeface="Times New Roman"/>
                          <a:cs typeface="Times New Roman"/>
                        </a:rPr>
                        <a:t>5.6 Sol Medium</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31/39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$0.3178</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12"/>
                  </a:ext>
                </a:extLst>
              </a:tr>
            </a:tbl>
          </a:graphicData>
        </a:graphic>
      </p:graphicFrame>
      <p:graphicFrame>
        <p:nvGraphicFramePr>
          <p:cNvPr id="5" name="Table 4">
            <a:extLst>
              <a:ext uri="{FF2B5EF4-FFF2-40B4-BE49-F238E27FC236}">
                <a16:creationId xmlns:a16="http://schemas.microsoft.com/office/drawing/2014/main" id="{710DF5F0-4969-4740-94A2-A37DD0AA0AE9}"/>
              </a:ext>
            </a:extLst>
          </p:cNvPr>
          <p:cNvGraphicFramePr/>
          <p:nvPr/>
        </p:nvGraphicFramePr>
        <p:xfrm>
          <a:off x="6210300" y="1533525"/>
          <a:ext cx="5524500" cy="4309110"/>
        </p:xfrm>
        <a:graphic>
          <a:graphicData uri="http://schemas.openxmlformats.org/drawingml/2006/table">
            <a:tbl>
              <a:tblPr/>
              <a:tblGrid>
                <a:gridCol w="2362200">
                  <a:extLst>
                    <a:ext uri="{9D8B030D-6E8A-4147-A177-3AD203B41FA5}">
                      <a16:colId xmlns:a16="http://schemas.microsoft.com/office/drawing/2014/main" val="20000"/>
                    </a:ext>
                  </a:extLst>
                </a:gridCol>
                <a:gridCol w="1057275">
                  <a:extLst>
                    <a:ext uri="{9D8B030D-6E8A-4147-A177-3AD203B41FA5}">
                      <a16:colId xmlns:a16="http://schemas.microsoft.com/office/drawing/2014/main" val="20001"/>
                    </a:ext>
                  </a:extLst>
                </a:gridCol>
                <a:gridCol w="809625">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23850">
                <a:tc>
                  <a:txBody>
                    <a:bodyPr/>
                    <a:lstStyle/>
                    <a:p>
                      <a:r>
                        <a:rPr sz="1575" b="1">
                          <a:solidFill>
                            <a:srgbClr val="FFFFFF"/>
                          </a:solidFill>
                          <a:latin typeface="Times New Roman"/>
                          <a:ea typeface="Times New Roman"/>
                          <a:cs typeface="Times New Roman"/>
                        </a:rPr>
                        <a:t>Model and effort</a:t>
                      </a:r>
                    </a:p>
                  </a:txBody>
                  <a:tcPr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Passes / n</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Errors</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Mean cost</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extLst>
                  <a:ext uri="{0D108BD9-81ED-4DB2-BD59-A6C34878D82A}">
                    <a16:rowId xmlns:a16="http://schemas.microsoft.com/office/drawing/2014/main" val="10000"/>
                  </a:ext>
                </a:extLst>
              </a:tr>
              <a:tr h="323850">
                <a:tc>
                  <a:txBody>
                    <a:bodyPr/>
                    <a:lstStyle/>
                    <a:p>
                      <a:r>
                        <a:rPr sz="1575" b="0">
                          <a:solidFill>
                            <a:srgbClr val="111111"/>
                          </a:solidFill>
                          <a:latin typeface="Times New Roman"/>
                          <a:ea typeface="Times New Roman"/>
                          <a:cs typeface="Times New Roman"/>
                        </a:rPr>
                        <a:t>6 Luna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4/39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$0.0040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575" b="0">
                          <a:solidFill>
                            <a:srgbClr val="111111"/>
                          </a:solidFill>
                          <a:latin typeface="Times New Roman"/>
                          <a:ea typeface="Times New Roman"/>
                          <a:cs typeface="Times New Roman"/>
                        </a:rPr>
                        <a:t>6 Luna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$0.0052</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2"/>
                  </a:ext>
                </a:extLst>
              </a:tr>
              <a:tr h="323850">
                <a:tc>
                  <a:txBody>
                    <a:bodyPr/>
                    <a:lstStyle/>
                    <a:p>
                      <a:r>
                        <a:rPr sz="1575" b="0">
                          <a:solidFill>
                            <a:srgbClr val="111111"/>
                          </a:solidFill>
                          <a:latin typeface="Times New Roman"/>
                          <a:ea typeface="Times New Roman"/>
                          <a:cs typeface="Times New Roman"/>
                        </a:rPr>
                        <a:t>6 Luna Extra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12/39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$0.0126</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3"/>
                  </a:ext>
                </a:extLst>
              </a:tr>
              <a:tr h="323850">
                <a:tc>
                  <a:txBody>
                    <a:bodyPr/>
                    <a:lstStyle/>
                    <a:p>
                      <a:r>
                        <a:rPr sz="1575" b="0">
                          <a:solidFill>
                            <a:srgbClr val="111111"/>
                          </a:solidFill>
                          <a:latin typeface="Times New Roman"/>
                          <a:ea typeface="Times New Roman"/>
                          <a:cs typeface="Times New Roman"/>
                        </a:rPr>
                        <a:t>6 Sol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37/39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$0.0773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4"/>
                  </a:ext>
                </a:extLst>
              </a:tr>
              <a:tr h="323850">
                <a:tc>
                  <a:txBody>
                    <a:bodyPr/>
                    <a:lstStyle/>
                    <a:p>
                      <a:r>
                        <a:rPr sz="1575" b="0">
                          <a:solidFill>
                            <a:srgbClr val="111111"/>
                          </a:solidFill>
                          <a:latin typeface="Times New Roman"/>
                          <a:ea typeface="Times New Roman"/>
                          <a:cs typeface="Times New Roman"/>
                        </a:rPr>
                        <a:t>6 Sol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39/39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$0.1975</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575" b="0">
                          <a:solidFill>
                            <a:srgbClr val="111111"/>
                          </a:solidFill>
                          <a:latin typeface="Times New Roman"/>
                          <a:ea typeface="Times New Roman"/>
                          <a:cs typeface="Times New Roman"/>
                        </a:rPr>
                        <a:t>6 Sol Extra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39/39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$0.2306</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6"/>
                  </a:ext>
                </a:extLst>
              </a:tr>
              <a:tr h="323850">
                <a:tc>
                  <a:txBody>
                    <a:bodyPr/>
                    <a:lstStyle/>
                    <a:p>
                      <a:r>
                        <a:rPr sz="1575" b="0">
                          <a:solidFill>
                            <a:srgbClr val="111111"/>
                          </a:solidFill>
                          <a:latin typeface="Times New Roman"/>
                          <a:ea typeface="Times New Roman"/>
                          <a:cs typeface="Times New Roman"/>
                        </a:rPr>
                        <a:t>6 Astra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39/39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$0.4450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7"/>
                  </a:ext>
                </a:extLst>
              </a:tr>
              <a:tr h="323850">
                <a:tc>
                  <a:txBody>
                    <a:bodyPr/>
                    <a:lstStyle/>
                    <a:p>
                      <a:r>
                        <a:rPr sz="1575" b="0">
                          <a:solidFill>
                            <a:srgbClr val="111111"/>
                          </a:solidFill>
                          <a:latin typeface="Times New Roman"/>
                          <a:ea typeface="Times New Roman"/>
                          <a:cs typeface="Times New Roman"/>
                        </a:rPr>
                        <a:t>6 Astra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39/39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$0.7132</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8"/>
                  </a:ext>
                </a:extLst>
              </a:tr>
              <a:tr h="323850">
                <a:tc>
                  <a:txBody>
                    <a:bodyPr/>
                    <a:lstStyle/>
                    <a:p>
                      <a:r>
                        <a:rPr sz="1575" b="0">
                          <a:solidFill>
                            <a:srgbClr val="111111"/>
                          </a:solidFill>
                          <a:latin typeface="Times New Roman"/>
                          <a:ea typeface="Times New Roman"/>
                          <a:cs typeface="Times New Roman"/>
                        </a:rPr>
                        <a:t>6 Astra Extra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37/39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2</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$1.0801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9"/>
                  </a:ext>
                </a:extLst>
              </a:tr>
              <a:tr h="323850">
                <a:tc>
                  <a:txBody>
                    <a:bodyPr/>
                    <a:lstStyle/>
                    <a:p>
                      <a:r>
                        <a:rPr sz="1575" b="0">
                          <a:solidFill>
                            <a:srgbClr val="111111"/>
                          </a:solidFill>
                          <a:latin typeface="Times New Roman"/>
                          <a:ea typeface="Times New Roman"/>
                          <a:cs typeface="Times New Roman"/>
                        </a:rPr>
                        <a:t>DeepSeek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10"/>
                  </a:ext>
                </a:extLst>
              </a:tr>
              <a:tr h="323850">
                <a:tc>
                  <a:txBody>
                    <a:bodyPr/>
                    <a:lstStyle/>
                    <a:p>
                      <a:r>
                        <a:rPr sz="1575" b="0">
                          <a:solidFill>
                            <a:srgbClr val="111111"/>
                          </a:solidFill>
                          <a:latin typeface="Times New Roman"/>
                          <a:ea typeface="Times New Roman"/>
                          <a:cs typeface="Times New Roman"/>
                        </a:rPr>
                        <a:t>DeepSeek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0/78</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71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Incomplete</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11"/>
                  </a:ext>
                </a:extLst>
              </a:tr>
              <a:tr h="323850">
                <a:tc>
                  <a:txBody>
                    <a:bodyPr/>
                    <a:lstStyle/>
                    <a:p>
                      <a:r>
                        <a:rPr sz="1575" b="0">
                          <a:solidFill>
                            <a:srgbClr val="111111"/>
                          </a:solidFill>
                          <a:latin typeface="Times New Roman"/>
                          <a:ea typeface="Times New Roman"/>
                          <a:cs typeface="Times New Roman"/>
                        </a:rPr>
                        <a:t>DeepSeek Max</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38</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12"/>
                  </a:ext>
                </a:extLst>
              </a:tr>
            </a:tbl>
          </a:graphicData>
        </a:graphic>
      </p:graphicFrame>
      <p:sp>
        <p:nvSpPr>
          <p:cNvPr id="6" name="Rectangle 5">
            <a:extLst>
              <a:ext uri="{FF2B5EF4-FFF2-40B4-BE49-F238E27FC236}">
                <a16:creationId xmlns:a16="http://schemas.microsoft.com/office/drawing/2014/main" id="{0C10FABB-0C4C-4688-86EF-D33F291F34DF}"/>
              </a:ext>
            </a:extLst>
          </p:cNvPr>
          <p:cNvSpPr>
            <a:spLocks noGrp="1"/>
          </p:cNvSpPr>
          <p:nvPr/>
        </p:nvSpPr>
        <p:spPr>
          <a:xfrm>
            <a:off x="457200" y="6191250"/>
            <a:ext cx="11144250" cy="342900"/>
          </a:xfrm>
          <a:prstGeom prst="rect">
            <a:avLst/>
          </a:prstGeom>
          <a:noFill/>
          <a:ln w="0">
            <a:noFill/>
          </a:ln>
        </p:spPr>
        <p:txBody>
          <a:bodyPr wrap="square" lIns="0" tIns="0" rIns="0" bIns="0" anchor="t"/>
          <a:lstStyle>
            <a:defPPr>
              <a:defRPr sz="1425" b="0">
                <a:solidFill>
                  <a:srgbClr val="777777"/>
                </a:solidFill>
                <a:latin typeface="Times New Roman"/>
                <a:ea typeface="Times New Roman"/>
                <a:cs typeface="Times New Roman"/>
              </a:defRPr>
            </a:defPPr>
          </a:lstStyle>
          <a:p>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All 24 settings cover 13 tasks. DeepSeek None has only 3 attempts and is excluded. Costs are API-equivalent estimates.</a:t>
            </a:r>
          </a:p>
        </p:txBody>
      </p:sp>
    </p:spTree>
    <p:extLst>
      <p:ext uri="{BB962C8B-B14F-4D97-AF65-F5344CB8AC3E}">
        <p14:creationId xmlns:p14="http://schemas.microsoft.com/office/powerpoint/2010/main" val="1860972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46EAFF2-DF32-4821-A2AE-13D4AC0E04AC}"/>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results under all three prompt conditions</a:t>
            </a:r>
          </a:p>
        </p:txBody>
      </p:sp>
      <p:sp>
        <p:nvSpPr>
          <p:cNvPr id="2" name="Rectangle 1">
            <a:extLst>
              <a:ext uri="{FF2B5EF4-FFF2-40B4-BE49-F238E27FC236}">
                <a16:creationId xmlns:a16="http://schemas.microsoft.com/office/drawing/2014/main" id="{EA4DE82B-2412-479E-A5E7-5266E1032F2A}"/>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Each cell shows completed passes / attempts, followed by execution errors in parentheses.</a:t>
            </a:r>
          </a:p>
        </p:txBody>
      </p:sp>
      <p:sp>
        <p:nvSpPr>
          <p:cNvPr id="3" name="Rectangle 2">
            <a:extLst>
              <a:ext uri="{FF2B5EF4-FFF2-40B4-BE49-F238E27FC236}">
                <a16:creationId xmlns:a16="http://schemas.microsoft.com/office/drawing/2014/main" id="{B38A0E69-2856-4E3F-89B8-CA92EF53A95E}"/>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14</a:t>
            </a:r>
          </a:p>
        </p:txBody>
      </p:sp>
      <p:graphicFrame>
        <p:nvGraphicFramePr>
          <p:cNvPr id="4" name="Table 3">
            <a:extLst>
              <a:ext uri="{FF2B5EF4-FFF2-40B4-BE49-F238E27FC236}">
                <a16:creationId xmlns:a16="http://schemas.microsoft.com/office/drawing/2014/main" id="{1EECD23D-B351-421B-B8AF-5E32D19354CE}"/>
              </a:ext>
            </a:extLst>
          </p:cNvPr>
          <p:cNvGraphicFramePr/>
          <p:nvPr/>
        </p:nvGraphicFramePr>
        <p:xfrm>
          <a:off x="457200" y="1533525"/>
          <a:ext cx="11277600" cy="4333875"/>
        </p:xfrm>
        <a:graphic>
          <a:graphicData uri="http://schemas.openxmlformats.org/drawingml/2006/table">
            <a:tbl>
              <a:tblPr/>
              <a:tblGrid>
                <a:gridCol w="4419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33375">
                <a:tc>
                  <a:txBody>
                    <a:bodyPr/>
                    <a:lstStyle/>
                    <a:p>
                      <a:r>
                        <a:rPr sz="1650" b="1">
                          <a:solidFill>
                            <a:srgbClr val="FFFFFF"/>
                          </a:solidFill>
                          <a:latin typeface="Times New Roman"/>
                          <a:ea typeface="Times New Roman"/>
                          <a:cs typeface="Times New Roman"/>
                        </a:rPr>
                        <a:t>Model and effort</a:t>
                      </a:r>
                    </a:p>
                  </a:txBody>
                  <a:tcPr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No hint</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General hint</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Physics hint</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extLst>
                  <a:ext uri="{0D108BD9-81ED-4DB2-BD59-A6C34878D82A}">
                    <a16:rowId xmlns:a16="http://schemas.microsoft.com/office/drawing/2014/main" val="10000"/>
                  </a:ext>
                </a:extLst>
              </a:tr>
              <a:tr h="333375">
                <a:tc>
                  <a:txBody>
                    <a:bodyPr/>
                    <a:lstStyle/>
                    <a:p>
                      <a:r>
                        <a:rPr sz="1650" b="0">
                          <a:solidFill>
                            <a:srgbClr val="111111"/>
                          </a:solidFill>
                          <a:latin typeface="Times New Roman"/>
                          <a:ea typeface="Times New Roman"/>
                          <a:cs typeface="Times New Roman"/>
                        </a:rPr>
                        <a:t>GPT-5.6 Luna None</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3/39 (2)</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1"/>
                  </a:ext>
                </a:extLst>
              </a:tr>
              <a:tr h="333375">
                <a:tc>
                  <a:txBody>
                    <a:bodyPr/>
                    <a:lstStyle/>
                    <a:p>
                      <a:r>
                        <a:rPr sz="1650" b="0">
                          <a:solidFill>
                            <a:srgbClr val="111111"/>
                          </a:solidFill>
                          <a:latin typeface="Times New Roman"/>
                          <a:ea typeface="Times New Roman"/>
                          <a:cs typeface="Times New Roman"/>
                        </a:rPr>
                        <a:t>GPT-5.6 Luna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8/39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2"/>
                  </a:ext>
                </a:extLst>
              </a:tr>
              <a:tr h="333375">
                <a:tc>
                  <a:txBody>
                    <a:bodyPr/>
                    <a:lstStyle/>
                    <a:p>
                      <a:r>
                        <a:rPr sz="1650" b="0">
                          <a:solidFill>
                            <a:srgbClr val="111111"/>
                          </a:solidFill>
                          <a:latin typeface="Times New Roman"/>
                          <a:ea typeface="Times New Roman"/>
                          <a:cs typeface="Times New Roman"/>
                        </a:rPr>
                        <a:t>GPT-5.6 Luna Medium</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0/39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9/39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16/39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3"/>
                  </a:ext>
                </a:extLst>
              </a:tr>
              <a:tr h="333375">
                <a:tc>
                  <a:txBody>
                    <a:bodyPr/>
                    <a:lstStyle/>
                    <a:p>
                      <a:r>
                        <a:rPr sz="1650" b="0">
                          <a:solidFill>
                            <a:srgbClr val="111111"/>
                          </a:solidFill>
                          <a:latin typeface="Times New Roman"/>
                          <a:ea typeface="Times New Roman"/>
                          <a:cs typeface="Times New Roman"/>
                        </a:rPr>
                        <a:t>GPT-5.6 Luna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4/40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25/78 (3)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62/78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4"/>
                  </a:ext>
                </a:extLst>
              </a:tr>
              <a:tr h="333375">
                <a:tc>
                  <a:txBody>
                    <a:bodyPr/>
                    <a:lstStyle/>
                    <a:p>
                      <a:r>
                        <a:rPr sz="1650" b="0">
                          <a:solidFill>
                            <a:srgbClr val="111111"/>
                          </a:solidFill>
                          <a:latin typeface="Times New Roman"/>
                          <a:ea typeface="Times New Roman"/>
                          <a:cs typeface="Times New Roman"/>
                        </a:rPr>
                        <a:t>GPT-5.6 Luna Extra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6/39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22/39 (3)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33/39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5"/>
                  </a:ext>
                </a:extLst>
              </a:tr>
              <a:tr h="333375">
                <a:tc>
                  <a:txBody>
                    <a:bodyPr/>
                    <a:lstStyle/>
                    <a:p>
                      <a:r>
                        <a:rPr sz="1650" b="0">
                          <a:solidFill>
                            <a:srgbClr val="111111"/>
                          </a:solidFill>
                          <a:latin typeface="Times New Roman"/>
                          <a:ea typeface="Times New Roman"/>
                          <a:cs typeface="Times New Roman"/>
                        </a:rPr>
                        <a:t>GPT-5.6 Luna Max</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8/39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27/39 (5)</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35/39 (3)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6"/>
                  </a:ext>
                </a:extLst>
              </a:tr>
              <a:tr h="333375">
                <a:tc>
                  <a:txBody>
                    <a:bodyPr/>
                    <a:lstStyle/>
                    <a:p>
                      <a:r>
                        <a:rPr sz="1650" b="0">
                          <a:solidFill>
                            <a:srgbClr val="111111"/>
                          </a:solidFill>
                          <a:latin typeface="Times New Roman"/>
                          <a:ea typeface="Times New Roman"/>
                          <a:cs typeface="Times New Roman"/>
                        </a:rPr>
                        <a:t>GPT-5.6 Terra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9/78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12/39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25/39 (2)</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7"/>
                  </a:ext>
                </a:extLst>
              </a:tr>
              <a:tr h="333375">
                <a:tc>
                  <a:txBody>
                    <a:bodyPr/>
                    <a:lstStyle/>
                    <a:p>
                      <a:r>
                        <a:rPr sz="1650" b="0">
                          <a:solidFill>
                            <a:srgbClr val="111111"/>
                          </a:solidFill>
                          <a:latin typeface="Times New Roman"/>
                          <a:ea typeface="Times New Roman"/>
                          <a:cs typeface="Times New Roman"/>
                        </a:rPr>
                        <a:t>GPT-5.6 Terra Medium</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5/39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24/39 (3)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32/39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8"/>
                  </a:ext>
                </a:extLst>
              </a:tr>
              <a:tr h="333375">
                <a:tc>
                  <a:txBody>
                    <a:bodyPr/>
                    <a:lstStyle/>
                    <a:p>
                      <a:r>
                        <a:rPr sz="1650" b="0">
                          <a:solidFill>
                            <a:srgbClr val="111111"/>
                          </a:solidFill>
                          <a:latin typeface="Times New Roman"/>
                          <a:ea typeface="Times New Roman"/>
                          <a:cs typeface="Times New Roman"/>
                        </a:rPr>
                        <a:t>GPT-5.6 Terra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16/78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13/39 (6)</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36/39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9"/>
                  </a:ext>
                </a:extLst>
              </a:tr>
              <a:tr h="333375">
                <a:tc>
                  <a:txBody>
                    <a:bodyPr/>
                    <a:lstStyle/>
                    <a:p>
                      <a:r>
                        <a:rPr sz="1650" b="0">
                          <a:solidFill>
                            <a:srgbClr val="111111"/>
                          </a:solidFill>
                          <a:latin typeface="Times New Roman"/>
                          <a:ea typeface="Times New Roman"/>
                          <a:cs typeface="Times New Roman"/>
                        </a:rPr>
                        <a:t>GPT-5.6 Sol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24/39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32/39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37/39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10"/>
                  </a:ext>
                </a:extLst>
              </a:tr>
              <a:tr h="333375">
                <a:tc>
                  <a:txBody>
                    <a:bodyPr/>
                    <a:lstStyle/>
                    <a:p>
                      <a:r>
                        <a:rPr sz="1650" b="0">
                          <a:solidFill>
                            <a:srgbClr val="111111"/>
                          </a:solidFill>
                          <a:latin typeface="Times New Roman"/>
                          <a:ea typeface="Times New Roman"/>
                          <a:cs typeface="Times New Roman"/>
                        </a:rPr>
                        <a:t>GPT-5.6 Sol Medium</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31/39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38/39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38/39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11"/>
                  </a:ext>
                </a:extLst>
              </a:tr>
              <a:tr h="333375">
                <a:tc>
                  <a:txBody>
                    <a:bodyPr/>
                    <a:lstStyle/>
                    <a:p>
                      <a:r>
                        <a:rPr sz="1650" b="0">
                          <a:solidFill>
                            <a:srgbClr val="111111"/>
                          </a:solidFill>
                          <a:latin typeface="Times New Roman"/>
                          <a:ea typeface="Times New Roman"/>
                          <a:cs typeface="Times New Roman"/>
                        </a:rPr>
                        <a:t>DeepSeek V4.1 Flash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0/78 (71)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1/39 (38)</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12"/>
                  </a:ext>
                </a:extLst>
              </a:tr>
            </a:tbl>
          </a:graphicData>
        </a:graphic>
      </p:graphicFrame>
      <p:sp>
        <p:nvSpPr>
          <p:cNvPr id="5" name="Rectangle 4">
            <a:extLst>
              <a:ext uri="{FF2B5EF4-FFF2-40B4-BE49-F238E27FC236}">
                <a16:creationId xmlns:a16="http://schemas.microsoft.com/office/drawing/2014/main" id="{3007565F-8EDB-461A-AD1E-EA5E177192C0}"/>
              </a:ext>
            </a:extLst>
          </p:cNvPr>
          <p:cNvSpPr>
            <a:spLocks noGrp="1"/>
          </p:cNvSpPr>
          <p:nvPr/>
        </p:nvSpPr>
        <p:spPr>
          <a:xfrm>
            <a:off x="457200" y="6191250"/>
            <a:ext cx="11144250" cy="342900"/>
          </a:xfrm>
          <a:prstGeom prst="rect">
            <a:avLst/>
          </a:prstGeom>
          <a:noFill/>
          <a:ln w="0">
            <a:noFill/>
          </a:ln>
        </p:spPr>
        <p:txBody>
          <a:bodyPr wrap="square" lIns="0" tIns="0" rIns="0" bIns="0" anchor="t"/>
          <a:lstStyle>
            <a:defPPr>
              <a:defRPr sz="1425" b="0">
                <a:solidFill>
                  <a:srgbClr val="777777"/>
                </a:solidFill>
                <a:latin typeface="Times New Roman"/>
                <a:ea typeface="Times New Roman"/>
                <a:cs typeface="Times New Roman"/>
              </a:defRPr>
            </a:defPPr>
          </a:lstStyle>
          <a:p>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13 tasks per setting. Counts combine distinct attempts; repeated baseline records count once.</a:t>
            </a:r>
          </a:p>
        </p:txBody>
      </p:sp>
    </p:spTree>
    <p:extLst>
      <p:ext uri="{BB962C8B-B14F-4D97-AF65-F5344CB8AC3E}">
        <p14:creationId xmlns:p14="http://schemas.microsoft.com/office/powerpoint/2010/main" val="2026827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6BA0FF3-04EA-4212-BFD6-BA0891C308E1}"/>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the frozen 13-task roster</a:t>
            </a:r>
          </a:p>
        </p:txBody>
      </p:sp>
      <p:sp>
        <p:nvSpPr>
          <p:cNvPr id="3" name="Rectangle 2">
            <a:extLst>
              <a:ext uri="{FF2B5EF4-FFF2-40B4-BE49-F238E27FC236}">
                <a16:creationId xmlns:a16="http://schemas.microsoft.com/office/drawing/2014/main" id="{1B617954-181A-4A23-BF2D-053035054F7D}"/>
              </a:ext>
            </a:extLst>
          </p:cNvPr>
          <p:cNvSpPr>
            <a:spLocks noGrp="1"/>
          </p:cNvSpPr>
          <p:nvPr/>
        </p:nvSpPr>
        <p:spPr>
          <a:xfrm>
            <a:off x="457200" y="1419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entropy-anomaly</a:t>
            </a:r>
          </a:p>
        </p:txBody>
      </p:sp>
      <p:sp>
        <p:nvSpPr>
          <p:cNvPr id="4" name="Rectangle 3">
            <a:extLst>
              <a:ext uri="{FF2B5EF4-FFF2-40B4-BE49-F238E27FC236}">
                <a16:creationId xmlns:a16="http://schemas.microsoft.com/office/drawing/2014/main" id="{E184659C-ED43-48C5-9DD3-A617939BA21B}"/>
              </a:ext>
            </a:extLst>
          </p:cNvPr>
          <p:cNvSpPr>
            <a:spLocks noGrp="1"/>
          </p:cNvSpPr>
          <p:nvPr/>
        </p:nvSpPr>
        <p:spPr>
          <a:xfrm>
            <a:off x="457200" y="1952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finite-layer-phoresis</a:t>
            </a:r>
          </a:p>
        </p:txBody>
      </p:sp>
      <p:sp>
        <p:nvSpPr>
          <p:cNvPr id="5" name="Rectangle 4">
            <a:extLst>
              <a:ext uri="{FF2B5EF4-FFF2-40B4-BE49-F238E27FC236}">
                <a16:creationId xmlns:a16="http://schemas.microsoft.com/office/drawing/2014/main" id="{ACEAC897-E548-4A51-9467-D4512B3E482F}"/>
              </a:ext>
            </a:extLst>
          </p:cNvPr>
          <p:cNvSpPr>
            <a:spLocks noGrp="1"/>
          </p:cNvSpPr>
          <p:nvPr/>
        </p:nvSpPr>
        <p:spPr>
          <a:xfrm>
            <a:off x="457200" y="24860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hierarchical-glass-overlaps</a:t>
            </a:r>
          </a:p>
        </p:txBody>
      </p:sp>
      <p:sp>
        <p:nvSpPr>
          <p:cNvPr id="6" name="Rectangle 5">
            <a:extLst>
              <a:ext uri="{FF2B5EF4-FFF2-40B4-BE49-F238E27FC236}">
                <a16:creationId xmlns:a16="http://schemas.microsoft.com/office/drawing/2014/main" id="{8109EB7F-43D7-488D-8A62-D803A593F497}"/>
              </a:ext>
            </a:extLst>
          </p:cNvPr>
          <p:cNvSpPr>
            <a:spLocks noGrp="1"/>
          </p:cNvSpPr>
          <p:nvPr/>
        </p:nvSpPr>
        <p:spPr>
          <a:xfrm>
            <a:off x="457200" y="30194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insulating-mhd-duct</a:t>
            </a:r>
          </a:p>
        </p:txBody>
      </p:sp>
      <p:sp>
        <p:nvSpPr>
          <p:cNvPr id="7" name="Rectangle 6">
            <a:extLst>
              <a:ext uri="{FF2B5EF4-FFF2-40B4-BE49-F238E27FC236}">
                <a16:creationId xmlns:a16="http://schemas.microsoft.com/office/drawing/2014/main" id="{FFB1FA39-94CE-431E-9645-61A0CC786757}"/>
              </a:ext>
            </a:extLst>
          </p:cNvPr>
          <p:cNvSpPr>
            <a:spLocks noGrp="1"/>
          </p:cNvSpPr>
          <p:nvPr/>
        </p:nvSpPr>
        <p:spPr>
          <a:xfrm>
            <a:off x="457200" y="35528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magnetic-tracer</a:t>
            </a:r>
          </a:p>
        </p:txBody>
      </p:sp>
      <p:sp>
        <p:nvSpPr>
          <p:cNvPr id="8" name="Rectangle 7">
            <a:extLst>
              <a:ext uri="{FF2B5EF4-FFF2-40B4-BE49-F238E27FC236}">
                <a16:creationId xmlns:a16="http://schemas.microsoft.com/office/drawing/2014/main" id="{C417F617-88C4-4E5F-8408-0643D2B6A682}"/>
              </a:ext>
            </a:extLst>
          </p:cNvPr>
          <p:cNvSpPr>
            <a:spLocks noGrp="1"/>
          </p:cNvSpPr>
          <p:nvPr/>
        </p:nvSpPr>
        <p:spPr>
          <a:xfrm>
            <a:off x="457200" y="4086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reaction-diffusion</a:t>
            </a:r>
          </a:p>
        </p:txBody>
      </p:sp>
      <p:sp>
        <p:nvSpPr>
          <p:cNvPr id="9" name="Rectangle 8">
            <a:extLst>
              <a:ext uri="{FF2B5EF4-FFF2-40B4-BE49-F238E27FC236}">
                <a16:creationId xmlns:a16="http://schemas.microsoft.com/office/drawing/2014/main" id="{911F5FFF-8663-471A-98CE-29B1F1D9B568}"/>
              </a:ext>
            </a:extLst>
          </p:cNvPr>
          <p:cNvSpPr>
            <a:spLocks noGrp="1"/>
          </p:cNvSpPr>
          <p:nvPr/>
        </p:nvSpPr>
        <p:spPr>
          <a:xfrm>
            <a:off x="457200" y="4619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ring-current-fluctuations</a:t>
            </a:r>
          </a:p>
        </p:txBody>
      </p:sp>
      <p:sp>
        <p:nvSpPr>
          <p:cNvPr id="10" name="Rectangle 9">
            <a:extLst>
              <a:ext uri="{FF2B5EF4-FFF2-40B4-BE49-F238E27FC236}">
                <a16:creationId xmlns:a16="http://schemas.microsoft.com/office/drawing/2014/main" id="{B86DA223-D697-451A-A51A-91BE7366B2E3}"/>
              </a:ext>
            </a:extLst>
          </p:cNvPr>
          <p:cNvSpPr>
            <a:spLocks noGrp="1"/>
          </p:cNvSpPr>
          <p:nvPr/>
        </p:nvSpPr>
        <p:spPr>
          <a:xfrm>
            <a:off x="6362700" y="1419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rotating-reservoir</a:t>
            </a:r>
          </a:p>
        </p:txBody>
      </p:sp>
      <p:sp>
        <p:nvSpPr>
          <p:cNvPr id="11" name="Rectangle 10">
            <a:extLst>
              <a:ext uri="{FF2B5EF4-FFF2-40B4-BE49-F238E27FC236}">
                <a16:creationId xmlns:a16="http://schemas.microsoft.com/office/drawing/2014/main" id="{7808C839-AEFA-4D36-B29C-420F636341B5}"/>
              </a:ext>
            </a:extLst>
          </p:cNvPr>
          <p:cNvSpPr>
            <a:spLocks noGrp="1"/>
          </p:cNvSpPr>
          <p:nvPr/>
        </p:nvSpPr>
        <p:spPr>
          <a:xfrm>
            <a:off x="6362700" y="1952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single-file-memory</a:t>
            </a:r>
          </a:p>
        </p:txBody>
      </p:sp>
      <p:sp>
        <p:nvSpPr>
          <p:cNvPr id="12" name="Rectangle 11">
            <a:extLst>
              <a:ext uri="{FF2B5EF4-FFF2-40B4-BE49-F238E27FC236}">
                <a16:creationId xmlns:a16="http://schemas.microsoft.com/office/drawing/2014/main" id="{7A716844-98DE-4D97-BD8E-850B5CC8A603}"/>
              </a:ext>
            </a:extLst>
          </p:cNvPr>
          <p:cNvSpPr>
            <a:spLocks noGrp="1"/>
          </p:cNvSpPr>
          <p:nvPr/>
        </p:nvSpPr>
        <p:spPr>
          <a:xfrm>
            <a:off x="6362700" y="24860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superconducting-heat</a:t>
            </a:r>
          </a:p>
        </p:txBody>
      </p:sp>
      <p:sp>
        <p:nvSpPr>
          <p:cNvPr id="13" name="Rectangle 12">
            <a:extLst>
              <a:ext uri="{FF2B5EF4-FFF2-40B4-BE49-F238E27FC236}">
                <a16:creationId xmlns:a16="http://schemas.microsoft.com/office/drawing/2014/main" id="{8E313484-B01D-4662-9B77-A526F38FCA36}"/>
              </a:ext>
            </a:extLst>
          </p:cNvPr>
          <p:cNvSpPr>
            <a:spLocks noGrp="1"/>
          </p:cNvSpPr>
          <p:nvPr/>
        </p:nvSpPr>
        <p:spPr>
          <a:xfrm>
            <a:off x="6362700" y="30194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swirling-heat-tails</a:t>
            </a:r>
          </a:p>
        </p:txBody>
      </p:sp>
      <p:sp>
        <p:nvSpPr>
          <p:cNvPr id="14" name="Rectangle 13">
            <a:extLst>
              <a:ext uri="{FF2B5EF4-FFF2-40B4-BE49-F238E27FC236}">
                <a16:creationId xmlns:a16="http://schemas.microsoft.com/office/drawing/2014/main" id="{CB4180C1-0E47-4AC5-8EB7-942852E1E2D0}"/>
              </a:ext>
            </a:extLst>
          </p:cNvPr>
          <p:cNvSpPr>
            <a:spLocks noGrp="1"/>
          </p:cNvSpPr>
          <p:nvPr/>
        </p:nvSpPr>
        <p:spPr>
          <a:xfrm>
            <a:off x="6362700" y="35528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hard-rod-current</a:t>
            </a:r>
          </a:p>
        </p:txBody>
      </p:sp>
      <p:sp>
        <p:nvSpPr>
          <p:cNvPr id="15" name="Rectangle 14">
            <a:extLst>
              <a:ext uri="{FF2B5EF4-FFF2-40B4-BE49-F238E27FC236}">
                <a16:creationId xmlns:a16="http://schemas.microsoft.com/office/drawing/2014/main" id="{A97A6698-C261-42DF-A038-2BFF43D3125B}"/>
              </a:ext>
            </a:extLst>
          </p:cNvPr>
          <p:cNvSpPr>
            <a:spLocks noGrp="1"/>
          </p:cNvSpPr>
          <p:nvPr/>
        </p:nvSpPr>
        <p:spPr>
          <a:xfrm>
            <a:off x="6362700" y="4086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finite-ion-cloud</a:t>
            </a:r>
          </a:p>
        </p:txBody>
      </p:sp>
      <p:sp>
        <p:nvSpPr>
          <p:cNvPr id="16" name="Rectangle 15">
            <a:extLst>
              <a:ext uri="{FF2B5EF4-FFF2-40B4-BE49-F238E27FC236}">
                <a16:creationId xmlns:a16="http://schemas.microsoft.com/office/drawing/2014/main" id="{ABF92BC6-A106-4C0F-883D-9CF630DDC338}"/>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Frozen snapshot: 34dedfbbd8ff. Task selection against GPT-5.6 Luna limits generalization to a broader physics population.</a:t>
            </a:r>
          </a:p>
        </p:txBody>
      </p:sp>
      <p:sp>
        <p:nvSpPr>
          <p:cNvPr id="18" name="Rectangle 17">
            <a:extLst>
              <a:ext uri="{FF2B5EF4-FFF2-40B4-BE49-F238E27FC236}">
                <a16:creationId xmlns:a16="http://schemas.microsoft.com/office/drawing/2014/main" id="{7B5E6208-A8BB-4725-9921-6CA79EB21DD2}"/>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15</a:t>
            </a:r>
          </a:p>
        </p:txBody>
      </p:sp>
    </p:spTree>
    <p:extLst>
      <p:ext uri="{BB962C8B-B14F-4D97-AF65-F5344CB8AC3E}">
        <p14:creationId xmlns:p14="http://schemas.microsoft.com/office/powerpoint/2010/main" val="1828126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817B6CD4-DA5B-4A7F-A081-E2A2B31B441E}"/>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comparing the two prediction formulas</a:t>
            </a:r>
          </a:p>
        </p:txBody>
      </p:sp>
      <p:sp>
        <p:nvSpPr>
          <p:cNvPr id="2" name="Rectangle 1">
            <a:extLst>
              <a:ext uri="{FF2B5EF4-FFF2-40B4-BE49-F238E27FC236}">
                <a16:creationId xmlns:a16="http://schemas.microsoft.com/office/drawing/2014/main" id="{D5E4B9E4-4CB2-45E9-BE61-2A76387824CA}"/>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 narrow channel preserves particle order. Every experiment starts from the same positions.</a:t>
            </a:r>
          </a:p>
        </p:txBody>
      </p:sp>
      <p:sp>
        <p:nvSpPr>
          <p:cNvPr id="3" name="Rectangle 2">
            <a:extLst>
              <a:ext uri="{FF2B5EF4-FFF2-40B4-BE49-F238E27FC236}">
                <a16:creationId xmlns:a16="http://schemas.microsoft.com/office/drawing/2014/main" id="{D7084F74-4A77-424A-8676-E2C561AADB53}"/>
              </a:ext>
            </a:extLst>
          </p:cNvPr>
          <p:cNvSpPr>
            <a:spLocks noGrp="1"/>
          </p:cNvSpPr>
          <p:nvPr/>
        </p:nvSpPr>
        <p:spPr>
          <a:xfrm>
            <a:off x="457200" y="1533525"/>
            <a:ext cx="4905375" cy="323850"/>
          </a:xfrm>
          <a:prstGeom prst="rect">
            <a:avLst/>
          </a:prstGeom>
          <a:noFill/>
          <a:ln w="0">
            <a:noFill/>
          </a:ln>
        </p:spPr>
        <p:txBody>
          <a:bodyPr wrap="square" lIns="0" tIns="0" rIns="0" bIns="0" anchor="t"/>
          <a:lstStyle>
            <a:defPPr algn="l">
              <a:defRPr sz="2175" b="1">
                <a:solidFill>
                  <a:srgbClr val="111111"/>
                </a:solidFill>
                <a:latin typeface="Times New Roman"/>
                <a:ea typeface="Times New Roman"/>
                <a:cs typeface="Times New Roman"/>
              </a:defRPr>
            </a:defPPr>
          </a:lstStyle>
          <a:p>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Physical setup</a:t>
            </a:r>
          </a:p>
        </p:txBody>
      </p:sp>
      <p:sp>
        <p:nvSpPr>
          <p:cNvPr id="4" name="Rectangle 3">
            <a:extLst>
              <a:ext uri="{FF2B5EF4-FFF2-40B4-BE49-F238E27FC236}">
                <a16:creationId xmlns:a16="http://schemas.microsoft.com/office/drawing/2014/main" id="{6FA7336F-7C6A-4BCE-8251-D4E67C80EBA4}"/>
              </a:ext>
            </a:extLst>
          </p:cNvPr>
          <p:cNvSpPr>
            <a:spLocks noGrp="1"/>
          </p:cNvSpPr>
          <p:nvPr/>
        </p:nvSpPr>
        <p:spPr>
          <a:xfrm>
            <a:off x="457200" y="1971675"/>
            <a:ext cx="4905375" cy="3048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Reset to evenly spaced positions</a:t>
            </a:r>
          </a:p>
        </p:txBody>
      </p:sp>
      <p:sp>
        <p:nvSpPr>
          <p:cNvPr id="5" name="Rectangle 4">
            <a:extLst>
              <a:ext uri="{FF2B5EF4-FFF2-40B4-BE49-F238E27FC236}">
                <a16:creationId xmlns:a16="http://schemas.microsoft.com/office/drawing/2014/main" id="{87B85EBA-3D0E-4570-AB1C-A6DAAC2C6C19}"/>
              </a:ext>
            </a:extLst>
          </p:cNvPr>
          <p:cNvSpPr>
            <a:spLocks noGrp="1"/>
          </p:cNvSpPr>
          <p:nvPr/>
        </p:nvSpPr>
        <p:spPr>
          <a:xfrm>
            <a:off x="457200" y="2381250"/>
            <a:ext cx="4905375" cy="19050"/>
          </a:xfrm>
          <a:prstGeom prst="rect">
            <a:avLst/>
          </a:prstGeom>
          <a:solidFill>
            <a:srgbClr val="777777"/>
          </a:solidFill>
          <a:ln w="13335">
            <a:solidFill>
              <a:srgbClr val="777777"/>
            </a:solidFill>
            <a:prstDash val="solid"/>
          </a:ln>
        </p:spPr>
        <p:txBody>
          <a:bodyPr/>
          <a:lstStyle/>
          <a:p>
            <a:endParaRPr/>
          </a:p>
        </p:txBody>
      </p:sp>
      <p:sp>
        <p:nvSpPr>
          <p:cNvPr id="6" name="Rectangle 5">
            <a:extLst>
              <a:ext uri="{FF2B5EF4-FFF2-40B4-BE49-F238E27FC236}">
                <a16:creationId xmlns:a16="http://schemas.microsoft.com/office/drawing/2014/main" id="{24CC1E4B-DA4A-4952-9357-94695F024E82}"/>
              </a:ext>
            </a:extLst>
          </p:cNvPr>
          <p:cNvSpPr>
            <a:spLocks noGrp="1"/>
          </p:cNvSpPr>
          <p:nvPr/>
        </p:nvSpPr>
        <p:spPr>
          <a:xfrm>
            <a:off x="457200" y="2952750"/>
            <a:ext cx="4905375" cy="19050"/>
          </a:xfrm>
          <a:prstGeom prst="rect">
            <a:avLst/>
          </a:prstGeom>
          <a:solidFill>
            <a:srgbClr val="777777"/>
          </a:solidFill>
          <a:ln w="13335">
            <a:solidFill>
              <a:srgbClr val="777777"/>
            </a:solidFill>
            <a:prstDash val="solid"/>
          </a:ln>
        </p:spPr>
        <p:txBody>
          <a:bodyPr/>
          <a:lstStyle/>
          <a:p>
            <a:endParaRPr/>
          </a:p>
        </p:txBody>
      </p:sp>
      <p:sp>
        <p:nvSpPr>
          <p:cNvPr id="7" name="Oval 6">
            <a:extLst>
              <a:ext uri="{FF2B5EF4-FFF2-40B4-BE49-F238E27FC236}">
                <a16:creationId xmlns:a16="http://schemas.microsoft.com/office/drawing/2014/main" id="{C585912F-9C1E-4568-943F-CBE08EBBEEF3}"/>
              </a:ext>
            </a:extLst>
          </p:cNvPr>
          <p:cNvSpPr>
            <a:spLocks noGrp="1"/>
          </p:cNvSpPr>
          <p:nvPr/>
        </p:nvSpPr>
        <p:spPr>
          <a:xfrm>
            <a:off x="8191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8" name="Oval 7">
            <a:extLst>
              <a:ext uri="{FF2B5EF4-FFF2-40B4-BE49-F238E27FC236}">
                <a16:creationId xmlns:a16="http://schemas.microsoft.com/office/drawing/2014/main" id="{573E44D9-9C6E-4C68-B21F-0E97F4A722A1}"/>
              </a:ext>
            </a:extLst>
          </p:cNvPr>
          <p:cNvSpPr>
            <a:spLocks noGrp="1"/>
          </p:cNvSpPr>
          <p:nvPr/>
        </p:nvSpPr>
        <p:spPr>
          <a:xfrm>
            <a:off x="15430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9" name="Oval 8">
            <a:extLst>
              <a:ext uri="{FF2B5EF4-FFF2-40B4-BE49-F238E27FC236}">
                <a16:creationId xmlns:a16="http://schemas.microsoft.com/office/drawing/2014/main" id="{35222835-3645-4478-B478-7C25458AA3AD}"/>
              </a:ext>
            </a:extLst>
          </p:cNvPr>
          <p:cNvSpPr>
            <a:spLocks noGrp="1"/>
          </p:cNvSpPr>
          <p:nvPr/>
        </p:nvSpPr>
        <p:spPr>
          <a:xfrm>
            <a:off x="2266950" y="2505075"/>
            <a:ext cx="342900" cy="34290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0" name="Oval 9">
            <a:extLst>
              <a:ext uri="{FF2B5EF4-FFF2-40B4-BE49-F238E27FC236}">
                <a16:creationId xmlns:a16="http://schemas.microsoft.com/office/drawing/2014/main" id="{481EC8C4-2B3A-44A2-A2DF-D3B5BDC43513}"/>
              </a:ext>
            </a:extLst>
          </p:cNvPr>
          <p:cNvSpPr>
            <a:spLocks noGrp="1"/>
          </p:cNvSpPr>
          <p:nvPr/>
        </p:nvSpPr>
        <p:spPr>
          <a:xfrm>
            <a:off x="29908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1" name="Oval 10">
            <a:extLst>
              <a:ext uri="{FF2B5EF4-FFF2-40B4-BE49-F238E27FC236}">
                <a16:creationId xmlns:a16="http://schemas.microsoft.com/office/drawing/2014/main" id="{DA0C0A62-E4A3-467B-A311-2D83BDF1B9AF}"/>
              </a:ext>
            </a:extLst>
          </p:cNvPr>
          <p:cNvSpPr>
            <a:spLocks noGrp="1"/>
          </p:cNvSpPr>
          <p:nvPr/>
        </p:nvSpPr>
        <p:spPr>
          <a:xfrm>
            <a:off x="37147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2" name="Oval 11">
            <a:extLst>
              <a:ext uri="{FF2B5EF4-FFF2-40B4-BE49-F238E27FC236}">
                <a16:creationId xmlns:a16="http://schemas.microsoft.com/office/drawing/2014/main" id="{EACBA4F9-08AB-451A-A852-FD50A060CAF2}"/>
              </a:ext>
            </a:extLst>
          </p:cNvPr>
          <p:cNvSpPr>
            <a:spLocks noGrp="1"/>
          </p:cNvSpPr>
          <p:nvPr/>
        </p:nvSpPr>
        <p:spPr>
          <a:xfrm>
            <a:off x="44386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3" name="Rectangle 12">
            <a:extLst>
              <a:ext uri="{FF2B5EF4-FFF2-40B4-BE49-F238E27FC236}">
                <a16:creationId xmlns:a16="http://schemas.microsoft.com/office/drawing/2014/main" id="{93CE4E81-AFEA-4EAF-B896-3C060B8A4437}"/>
              </a:ext>
            </a:extLst>
          </p:cNvPr>
          <p:cNvSpPr>
            <a:spLocks noGrp="1"/>
          </p:cNvSpPr>
          <p:nvPr/>
        </p:nvSpPr>
        <p:spPr>
          <a:xfrm>
            <a:off x="457200" y="3333750"/>
            <a:ext cx="4905375" cy="3048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Let the particles move randomly</a:t>
            </a:r>
          </a:p>
        </p:txBody>
      </p:sp>
      <p:sp>
        <p:nvSpPr>
          <p:cNvPr id="14" name="Rectangle 13">
            <a:extLst>
              <a:ext uri="{FF2B5EF4-FFF2-40B4-BE49-F238E27FC236}">
                <a16:creationId xmlns:a16="http://schemas.microsoft.com/office/drawing/2014/main" id="{B847700A-C0A6-4E12-9D00-0EE5AE9846DC}"/>
              </a:ext>
            </a:extLst>
          </p:cNvPr>
          <p:cNvSpPr>
            <a:spLocks noGrp="1"/>
          </p:cNvSpPr>
          <p:nvPr/>
        </p:nvSpPr>
        <p:spPr>
          <a:xfrm>
            <a:off x="457200" y="3733800"/>
            <a:ext cx="4905375" cy="19050"/>
          </a:xfrm>
          <a:prstGeom prst="rect">
            <a:avLst/>
          </a:prstGeom>
          <a:solidFill>
            <a:srgbClr val="777777"/>
          </a:solidFill>
          <a:ln w="13335">
            <a:solidFill>
              <a:srgbClr val="777777"/>
            </a:solidFill>
            <a:prstDash val="solid"/>
          </a:ln>
        </p:spPr>
        <p:txBody>
          <a:bodyPr/>
          <a:lstStyle/>
          <a:p>
            <a:endParaRPr/>
          </a:p>
        </p:txBody>
      </p:sp>
      <p:sp>
        <p:nvSpPr>
          <p:cNvPr id="15" name="Rectangle 14">
            <a:extLst>
              <a:ext uri="{FF2B5EF4-FFF2-40B4-BE49-F238E27FC236}">
                <a16:creationId xmlns:a16="http://schemas.microsoft.com/office/drawing/2014/main" id="{AEEECDFF-1488-4898-89D7-95611235AE31}"/>
              </a:ext>
            </a:extLst>
          </p:cNvPr>
          <p:cNvSpPr>
            <a:spLocks noGrp="1"/>
          </p:cNvSpPr>
          <p:nvPr/>
        </p:nvSpPr>
        <p:spPr>
          <a:xfrm>
            <a:off x="457200" y="4305300"/>
            <a:ext cx="4905375" cy="19050"/>
          </a:xfrm>
          <a:prstGeom prst="rect">
            <a:avLst/>
          </a:prstGeom>
          <a:solidFill>
            <a:srgbClr val="777777"/>
          </a:solidFill>
          <a:ln w="13335">
            <a:solidFill>
              <a:srgbClr val="777777"/>
            </a:solidFill>
            <a:prstDash val="solid"/>
          </a:ln>
        </p:spPr>
        <p:txBody>
          <a:bodyPr/>
          <a:lstStyle/>
          <a:p>
            <a:endParaRPr/>
          </a:p>
        </p:txBody>
      </p:sp>
      <p:sp>
        <p:nvSpPr>
          <p:cNvPr id="16" name="Oval 15">
            <a:extLst>
              <a:ext uri="{FF2B5EF4-FFF2-40B4-BE49-F238E27FC236}">
                <a16:creationId xmlns:a16="http://schemas.microsoft.com/office/drawing/2014/main" id="{C3DD7281-A990-4437-A3F6-D1905D0C92FA}"/>
              </a:ext>
            </a:extLst>
          </p:cNvPr>
          <p:cNvSpPr>
            <a:spLocks noGrp="1"/>
          </p:cNvSpPr>
          <p:nvPr/>
        </p:nvSpPr>
        <p:spPr>
          <a:xfrm>
            <a:off x="70485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7" name="Oval 16">
            <a:extLst>
              <a:ext uri="{FF2B5EF4-FFF2-40B4-BE49-F238E27FC236}">
                <a16:creationId xmlns:a16="http://schemas.microsoft.com/office/drawing/2014/main" id="{E4B66C14-9B22-4218-BF4E-66A109931AE8}"/>
              </a:ext>
            </a:extLst>
          </p:cNvPr>
          <p:cNvSpPr>
            <a:spLocks noGrp="1"/>
          </p:cNvSpPr>
          <p:nvPr/>
        </p:nvSpPr>
        <p:spPr>
          <a:xfrm>
            <a:off x="1381125"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8" name="Oval 17">
            <a:extLst>
              <a:ext uri="{FF2B5EF4-FFF2-40B4-BE49-F238E27FC236}">
                <a16:creationId xmlns:a16="http://schemas.microsoft.com/office/drawing/2014/main" id="{8F84BEF1-1367-4E78-AA01-BC3889CEF4BC}"/>
              </a:ext>
            </a:extLst>
          </p:cNvPr>
          <p:cNvSpPr>
            <a:spLocks noGrp="1"/>
          </p:cNvSpPr>
          <p:nvPr/>
        </p:nvSpPr>
        <p:spPr>
          <a:xfrm>
            <a:off x="2657475" y="3857625"/>
            <a:ext cx="342900" cy="34290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9" name="Oval 18">
            <a:extLst>
              <a:ext uri="{FF2B5EF4-FFF2-40B4-BE49-F238E27FC236}">
                <a16:creationId xmlns:a16="http://schemas.microsoft.com/office/drawing/2014/main" id="{EA9A95CF-FC14-4BD4-BAC7-E113A1CEFD24}"/>
              </a:ext>
            </a:extLst>
          </p:cNvPr>
          <p:cNvSpPr>
            <a:spLocks noGrp="1"/>
          </p:cNvSpPr>
          <p:nvPr/>
        </p:nvSpPr>
        <p:spPr>
          <a:xfrm>
            <a:off x="318135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0" name="Oval 19">
            <a:extLst>
              <a:ext uri="{FF2B5EF4-FFF2-40B4-BE49-F238E27FC236}">
                <a16:creationId xmlns:a16="http://schemas.microsoft.com/office/drawing/2014/main" id="{1B62E78F-7E2D-4AF0-BA2D-8DF4AE712DA5}"/>
              </a:ext>
            </a:extLst>
          </p:cNvPr>
          <p:cNvSpPr>
            <a:spLocks noGrp="1"/>
          </p:cNvSpPr>
          <p:nvPr/>
        </p:nvSpPr>
        <p:spPr>
          <a:xfrm>
            <a:off x="388620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1" name="Oval 20">
            <a:extLst>
              <a:ext uri="{FF2B5EF4-FFF2-40B4-BE49-F238E27FC236}">
                <a16:creationId xmlns:a16="http://schemas.microsoft.com/office/drawing/2014/main" id="{49E266AB-BC36-4FB6-AC5A-38A91A3CB61C}"/>
              </a:ext>
            </a:extLst>
          </p:cNvPr>
          <p:cNvSpPr>
            <a:spLocks noGrp="1"/>
          </p:cNvSpPr>
          <p:nvPr/>
        </p:nvSpPr>
        <p:spPr>
          <a:xfrm>
            <a:off x="461010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2" name="Rectangle 21">
            <a:extLst>
              <a:ext uri="{FF2B5EF4-FFF2-40B4-BE49-F238E27FC236}">
                <a16:creationId xmlns:a16="http://schemas.microsoft.com/office/drawing/2014/main" id="{59D743A1-E3D9-4428-B67C-E58F47681335}"/>
              </a:ext>
            </a:extLst>
          </p:cNvPr>
          <p:cNvSpPr>
            <a:spLocks noGrp="1"/>
          </p:cNvSpPr>
          <p:nvPr/>
        </p:nvSpPr>
        <p:spPr>
          <a:xfrm>
            <a:off x="457200" y="4572000"/>
            <a:ext cx="4953000" cy="666750"/>
          </a:xfrm>
          <a:prstGeom prst="rect">
            <a:avLst/>
          </a:prstGeom>
          <a:noFill/>
          <a:ln w="0">
            <a:noFill/>
          </a:ln>
        </p:spPr>
        <p:txBody>
          <a:bodyPr wrap="square" lIns="0" tIns="0" rIns="0" bIns="0" anchor="t"/>
          <a:lstStyle>
            <a:defPPr algn="l">
              <a:defRPr sz="1950" b="0">
                <a:solidFill>
                  <a:srgbClr val="111111"/>
                </a:solidFill>
                <a:latin typeface="Times New Roman"/>
                <a:ea typeface="Times New Roman"/>
                <a:cs typeface="Times New Roman"/>
              </a:defRPr>
            </a:defPPr>
          </a:lstStyle>
          <a:p>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Track the orange particle in each repeat.</a:t>
            </a:r>
          </a:p>
          <a:p>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Particles collide but never overtake.</a:t>
            </a:r>
          </a:p>
        </p:txBody>
      </p:sp>
      <p:sp>
        <p:nvSpPr>
          <p:cNvPr id="23" name="Rectangle 22">
            <a:extLst>
              <a:ext uri="{FF2B5EF4-FFF2-40B4-BE49-F238E27FC236}">
                <a16:creationId xmlns:a16="http://schemas.microsoft.com/office/drawing/2014/main" id="{DBD48C7F-F0B6-4566-AD72-218593300322}"/>
              </a:ext>
            </a:extLst>
          </p:cNvPr>
          <p:cNvSpPr>
            <a:spLocks noGrp="1"/>
          </p:cNvSpPr>
          <p:nvPr/>
        </p:nvSpPr>
        <p:spPr>
          <a:xfrm>
            <a:off x="6191250" y="1533525"/>
            <a:ext cx="5543550" cy="323850"/>
          </a:xfrm>
          <a:prstGeom prst="rect">
            <a:avLst/>
          </a:prstGeom>
          <a:noFill/>
          <a:ln w="0">
            <a:noFill/>
          </a:ln>
        </p:spPr>
        <p:txBody>
          <a:bodyPr wrap="square" lIns="0" tIns="0" rIns="0" bIns="0" anchor="t"/>
          <a:lstStyle>
            <a:defPPr algn="l">
              <a:defRPr sz="2175" b="1">
                <a:solidFill>
                  <a:srgbClr val="111111"/>
                </a:solidFill>
                <a:latin typeface="Times New Roman"/>
                <a:ea typeface="Times New Roman"/>
                <a:cs typeface="Times New Roman"/>
              </a:defRPr>
            </a:defPPr>
          </a:lstStyle>
          <a:p>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Why fitting alone is insufficient</a:t>
            </a:r>
          </a:p>
        </p:txBody>
      </p:sp>
      <p:sp>
        <p:nvSpPr>
          <p:cNvPr id="25" name="Rectangle 24">
            <a:extLst>
              <a:ext uri="{FF2B5EF4-FFF2-40B4-BE49-F238E27FC236}">
                <a16:creationId xmlns:a16="http://schemas.microsoft.com/office/drawing/2014/main" id="{4B241E38-7C47-46F8-8966-8D5D630DCA39}"/>
              </a:ext>
            </a:extLst>
          </p:cNvPr>
          <p:cNvSpPr>
            <a:spLocks noGrp="1"/>
          </p:cNvSpPr>
          <p:nvPr/>
        </p:nvSpPr>
        <p:spPr>
          <a:xfrm>
            <a:off x="6191250" y="5248275"/>
            <a:ext cx="5543550" cy="647700"/>
          </a:xfrm>
          <a:prstGeom prst="rect">
            <a:avLst/>
          </a:prstGeom>
          <a:noFill/>
          <a:ln w="0">
            <a:noFill/>
          </a:ln>
        </p:spPr>
        <p:txBody>
          <a:bodyPr wrap="square" lIns="0" tIns="0" rIns="0" bIns="0" anchor="t"/>
          <a:lstStyle>
            <a:defPPr algn="l">
              <a:defRPr sz="1950" b="1">
                <a:solidFill>
                  <a:srgbClr val="111111"/>
                </a:solidFill>
                <a:latin typeface="Times New Roman"/>
                <a:ea typeface="Times New Roman"/>
                <a:cs typeface="Times New Roman"/>
              </a:defRPr>
            </a:defPPr>
          </a:lstStyle>
          <a:p>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Same time: both fit.</a:t>
            </a:r>
          </a:p>
          <a:p>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Different times: memory changes the prediction.</a:t>
            </a:r>
          </a:p>
        </p:txBody>
      </p:sp>
      <p:sp>
        <p:nvSpPr>
          <p:cNvPr id="26" name="Rectangle 25">
            <a:extLst>
              <a:ext uri="{FF2B5EF4-FFF2-40B4-BE49-F238E27FC236}">
                <a16:creationId xmlns:a16="http://schemas.microsoft.com/office/drawing/2014/main" id="{6D89FA9C-1AA0-4165-931E-D886C36E63EB}"/>
              </a:ext>
            </a:extLst>
          </p:cNvPr>
          <p:cNvSpPr>
            <a:spLocks noGrp="1"/>
          </p:cNvSpPr>
          <p:nvPr/>
        </p:nvSpPr>
        <p:spPr>
          <a:xfrm>
            <a:off x="457200" y="5362575"/>
            <a:ext cx="5162550" cy="581025"/>
          </a:xfrm>
          <a:prstGeom prst="rect">
            <a:avLst/>
          </a:prstGeom>
          <a:noFill/>
          <a:ln w="0">
            <a:noFill/>
          </a:ln>
        </p:spPr>
        <p:txBody>
          <a:bodyPr wrap="square" lIns="0" tIns="0" rIns="0" bIns="0" anchor="t"/>
          <a:lstStyle>
            <a:defPPr algn="l">
              <a:defRPr sz="1800" b="1">
                <a:solidFill>
                  <a:srgbClr val="1D4E89"/>
                </a:solidFill>
                <a:latin typeface="Times New Roman"/>
                <a:ea typeface="Times New Roman"/>
                <a:cs typeface="Times New Roman"/>
              </a:defRPr>
            </a:defPPr>
          </a:lstStyle>
          <a:p>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Agent task: fit the movement scale, then</a:t>
            </a:r>
          </a:p>
          <a:p>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predict how two measurement times are related.</a:t>
            </a:r>
          </a:p>
        </p:txBody>
      </p:sp>
      <p:sp>
        <p:nvSpPr>
          <p:cNvPr id="27" name="Rectangle 26">
            <a:extLst>
              <a:ext uri="{FF2B5EF4-FFF2-40B4-BE49-F238E27FC236}">
                <a16:creationId xmlns:a16="http://schemas.microsoft.com/office/drawing/2014/main" id="{451EDAC5-84AF-4886-ABB5-00F5489CD4A3}"/>
              </a:ext>
            </a:extLst>
          </p:cNvPr>
          <p:cNvSpPr>
            <a:spLocks noGrp="1"/>
          </p:cNvSpPr>
          <p:nvPr/>
        </p:nvSpPr>
        <p:spPr>
          <a:xfrm>
            <a:off x="457200" y="6076950"/>
            <a:ext cx="11277600" cy="381000"/>
          </a:xfrm>
          <a:prstGeom prst="rect">
            <a:avLst/>
          </a:prstGeom>
          <a:noFill/>
          <a:ln w="0">
            <a:noFill/>
          </a:ln>
        </p:spPr>
        <p:txBody>
          <a:bodyPr wrap="square" lIns="0" tIns="0" rIns="0" bIns="0" anchor="t"/>
          <a:lstStyle>
            <a:defPPr algn="l">
              <a:defRPr sz="1350" b="0">
                <a:solidFill>
                  <a:srgbClr val="777777"/>
                </a:solidFill>
                <a:latin typeface="Times New Roman"/>
                <a:ea typeface="Times New Roman"/>
                <a:cs typeface="Times New Roman"/>
              </a:defRPr>
            </a:defPPr>
          </a:lstStyle>
          <a:p>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Analytic covariance curves and schematic positions, not measured trajectories. The task asks for the long-time scaling coefficient.</a:t>
            </a:r>
          </a:p>
        </p:txBody>
      </p:sp>
      <p:sp>
        <p:nvSpPr>
          <p:cNvPr id="30" name="Rectangle 29">
            <a:extLst>
              <a:ext uri="{FF2B5EF4-FFF2-40B4-BE49-F238E27FC236}">
                <a16:creationId xmlns:a16="http://schemas.microsoft.com/office/drawing/2014/main" id="{F6A031A1-5617-41AC-B818-7E20F8A6707A}"/>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16</a:t>
            </a:r>
          </a:p>
        </p:txBody>
      </p:sp>
      <p:pic>
        <p:nvPicPr>
          <p:cNvPr id="31" name="Picture 30">
            <a:extLst>
              <a:ext uri="{FF2B5EF4-FFF2-40B4-BE49-F238E27FC236}">
                <a16:creationId xmlns:a16="http://schemas.microsoft.com/office/drawing/2014/main" id="{85945B4C-E8CB-49B3-92B4-A6034B86CB4F}"/>
              </a:ext>
            </a:extLst>
          </p:cNvPr>
          <p:cNvPicPr>
            <a:picLocks noChangeAspect="1"/>
          </p:cNvPicPr>
          <p:nvPr/>
        </p:nvPicPr>
        <p:blipFill>
          <a:blip r:embed="rId3"/>
          <a:stretch/>
        </p:blipFill>
        <p:spPr>
          <a:xfrm>
            <a:off x="6335316" y="1885950"/>
            <a:ext cx="5083969" cy="3333750"/>
          </a:xfrm>
          <a:prstGeom prst="rect">
            <a:avLst/>
          </a:prstGeom>
        </p:spPr>
      </p:pic>
    </p:spTree>
    <p:extLst>
      <p:ext uri="{BB962C8B-B14F-4D97-AF65-F5344CB8AC3E}">
        <p14:creationId xmlns:p14="http://schemas.microsoft.com/office/powerpoint/2010/main" val="524204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D7C7636-DBD0-4BC1-9687-EB40565DE5E4}"/>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reasoning effort without hints</a:t>
            </a:r>
          </a:p>
        </p:txBody>
      </p:sp>
      <p:sp>
        <p:nvSpPr>
          <p:cNvPr id="2" name="Rectangle 1">
            <a:extLst>
              <a:ext uri="{FF2B5EF4-FFF2-40B4-BE49-F238E27FC236}">
                <a16:creationId xmlns:a16="http://schemas.microsoft.com/office/drawing/2014/main" id="{77266C2A-F01F-4525-AB62-D3833EEC1AAF}"/>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Each line holds the model fixed. Only the observed effort settings are connected.</a:t>
            </a:r>
          </a:p>
        </p:txBody>
      </p:sp>
      <p:sp>
        <p:nvSpPr>
          <p:cNvPr id="3" name="Rectangle 2">
            <a:extLst>
              <a:ext uri="{FF2B5EF4-FFF2-40B4-BE49-F238E27FC236}">
                <a16:creationId xmlns:a16="http://schemas.microsoft.com/office/drawing/2014/main" id="{AAC1A2CB-697A-4082-B829-98096488BA20}"/>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17</a:t>
            </a:r>
          </a:p>
        </p:txBody>
      </p:sp>
      <p:pic>
        <p:nvPicPr>
          <p:cNvPr id="4" name="Picture 3">
            <a:extLst>
              <a:ext uri="{FF2B5EF4-FFF2-40B4-BE49-F238E27FC236}">
                <a16:creationId xmlns:a16="http://schemas.microsoft.com/office/drawing/2014/main" id="{E7645845-70FE-4904-9D11-38A8600300E2}"/>
              </a:ext>
            </a:extLst>
          </p:cNvPr>
          <p:cNvPicPr>
            <a:picLocks noChangeAspect="1"/>
          </p:cNvPicPr>
          <p:nvPr/>
        </p:nvPicPr>
        <p:blipFill>
          <a:blip r:embed="rId3"/>
          <a:stretch/>
        </p:blipFill>
        <p:spPr>
          <a:xfrm>
            <a:off x="457200" y="1438708"/>
            <a:ext cx="11277600" cy="4485409"/>
          </a:xfrm>
          <a:prstGeom prst="rect">
            <a:avLst/>
          </a:prstGeom>
        </p:spPr>
      </p:pic>
      <p:sp>
        <p:nvSpPr>
          <p:cNvPr id="5" name="Rectangle 4">
            <a:extLst>
              <a:ext uri="{FF2B5EF4-FFF2-40B4-BE49-F238E27FC236}">
                <a16:creationId xmlns:a16="http://schemas.microsoft.com/office/drawing/2014/main" id="{898C7526-E0AE-495E-80B4-0C202386A0AE}"/>
              </a:ext>
            </a:extLst>
          </p:cNvPr>
          <p:cNvSpPr>
            <a:spLocks noGrp="1"/>
          </p:cNvSpPr>
          <p:nvPr/>
        </p:nvSpPr>
        <p:spPr>
          <a:xfrm>
            <a:off x="457200" y="6191250"/>
            <a:ext cx="11144250" cy="342900"/>
          </a:xfrm>
          <a:prstGeom prst="rect">
            <a:avLst/>
          </a:prstGeom>
          <a:noFill/>
          <a:ln w="0">
            <a:noFill/>
          </a:ln>
        </p:spPr>
        <p:txBody>
          <a:bodyPr wrap="square" lIns="0" tIns="0" rIns="0" bIns="0" anchor="t"/>
          <a:lstStyle>
            <a:defPPr>
              <a:defRPr sz="1425" b="0">
                <a:solidFill>
                  <a:srgbClr val="777777"/>
                </a:solidFill>
                <a:latin typeface="Times New Roman"/>
                <a:ea typeface="Times New Roman"/>
                <a:cs typeface="Times New Roman"/>
              </a:defRPr>
            </a:defPPr>
          </a:lstStyle>
          <a:p>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Rates use each setting’s actual denominator. Model generations remain distinct. Historical and runtime differences apply.</a:t>
            </a:r>
          </a:p>
        </p:txBody>
      </p:sp>
    </p:spTree>
    <p:extLst>
      <p:ext uri="{BB962C8B-B14F-4D97-AF65-F5344CB8AC3E}">
        <p14:creationId xmlns:p14="http://schemas.microsoft.com/office/powerpoint/2010/main" val="848171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1487FBF-A956-4C24-97E8-DCD31397041E}"/>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physics failures by model and effort</a:t>
            </a:r>
          </a:p>
        </p:txBody>
      </p:sp>
      <p:sp>
        <p:nvSpPr>
          <p:cNvPr id="2" name="Rectangle 1">
            <a:extLst>
              <a:ext uri="{FF2B5EF4-FFF2-40B4-BE49-F238E27FC236}">
                <a16:creationId xmlns:a16="http://schemas.microsoft.com/office/drawing/2014/main" id="{C7A958A2-5F62-4D48-85DF-4476F9A66FB6}"/>
              </a:ext>
            </a:extLst>
          </p:cNvPr>
          <p:cNvSpPr>
            <a:spLocks noGrp="1"/>
          </p:cNvSpPr>
          <p:nvPr/>
        </p:nvSpPr>
        <p:spPr>
          <a:xfrm>
            <a:off x="457200" y="942975"/>
            <a:ext cx="11277600" cy="647700"/>
          </a:xfrm>
          <a:prstGeom prst="rect">
            <a:avLst/>
          </a:prstGeom>
          <a:noFill/>
          <a:ln w="0">
            <a:noFill/>
          </a:ln>
        </p:spPr>
        <p:txBody>
          <a:bodyPr wrap="square" lIns="0" tIns="0" rIns="0" bIns="0" anchor="t"/>
          <a:lstStyle>
            <a:defPPr>
              <a:defRPr sz="1800" b="0">
                <a:solidFill>
                  <a:srgbClr val="444444"/>
                </a:solidFill>
                <a:latin typeface="Times New Roman"/>
                <a:ea typeface="Times New Roman"/>
                <a:cs typeface="Times New Roman"/>
              </a:defRPr>
            </a:defPPr>
          </a:lstStyle>
          <a:p>
            <a:pP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GPT-5.6 models. Each cell counts physics failures among 39 attempts.</a:t>
            </a:r>
          </a:p>
        </p:txBody>
      </p:sp>
      <p:sp>
        <p:nvSpPr>
          <p:cNvPr id="3" name="Rectangle 2">
            <a:extLst>
              <a:ext uri="{FF2B5EF4-FFF2-40B4-BE49-F238E27FC236}">
                <a16:creationId xmlns:a16="http://schemas.microsoft.com/office/drawing/2014/main" id="{888FF70A-CEB3-4278-97DE-9D9F41FBFC52}"/>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18</a:t>
            </a:r>
          </a:p>
        </p:txBody>
      </p:sp>
      <p:pic>
        <p:nvPicPr>
          <p:cNvPr id="4" name="Picture 3">
            <a:extLst>
              <a:ext uri="{FF2B5EF4-FFF2-40B4-BE49-F238E27FC236}">
                <a16:creationId xmlns:a16="http://schemas.microsoft.com/office/drawing/2014/main" id="{F01AFF60-4E5C-4107-B7EA-4AC928D6AF13}"/>
              </a:ext>
            </a:extLst>
          </p:cNvPr>
          <p:cNvPicPr>
            <a:picLocks noChangeAspect="1"/>
          </p:cNvPicPr>
          <p:nvPr/>
        </p:nvPicPr>
        <p:blipFill>
          <a:blip r:embed="rId3"/>
          <a:stretch/>
        </p:blipFill>
        <p:spPr>
          <a:xfrm>
            <a:off x="457200" y="1629208"/>
            <a:ext cx="11277600" cy="4485409"/>
          </a:xfrm>
          <a:prstGeom prst="rect">
            <a:avLst/>
          </a:prstGeom>
        </p:spPr>
      </p:pic>
    </p:spTree>
    <p:extLst>
      <p:ext uri="{BB962C8B-B14F-4D97-AF65-F5344CB8AC3E}">
        <p14:creationId xmlns:p14="http://schemas.microsoft.com/office/powerpoint/2010/main" val="309320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A64A80-B71F-4E70-ACB6-58E731A09FCF}"/>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outcome definitions and counts</a:t>
            </a:r>
          </a:p>
        </p:txBody>
      </p:sp>
      <p:sp>
        <p:nvSpPr>
          <p:cNvPr id="2" name="Rectangle 1">
            <a:extLst>
              <a:ext uri="{FF2B5EF4-FFF2-40B4-BE49-F238E27FC236}">
                <a16:creationId xmlns:a16="http://schemas.microsoft.com/office/drawing/2014/main" id="{F8206C6C-F8EB-4E4E-A22B-8B99A9EB9A08}"/>
              </a:ext>
            </a:extLst>
          </p:cNvPr>
          <p:cNvSpPr>
            <a:spLocks noGrp="1"/>
          </p:cNvSpPr>
          <p:nvPr/>
        </p:nvSpPr>
        <p:spPr>
          <a:xfrm>
            <a:off x="457200" y="942975"/>
            <a:ext cx="11277600" cy="647700"/>
          </a:xfrm>
          <a:prstGeom prst="rect">
            <a:avLst/>
          </a:prstGeom>
          <a:noFill/>
          <a:ln w="0">
            <a:noFill/>
          </a:ln>
        </p:spPr>
        <p:txBody>
          <a:bodyPr wrap="square" lIns="0" tIns="0" rIns="0" bIns="0" anchor="t"/>
          <a:lstStyle>
            <a:defPPr>
              <a:defRPr sz="1800" b="0">
                <a:solidFill>
                  <a:srgbClr val="444444"/>
                </a:solidFill>
                <a:latin typeface="Times New Roman"/>
                <a:ea typeface="Times New Roman"/>
                <a:cs typeface="Times New Roman"/>
              </a:defRPr>
            </a:defPPr>
          </a:lstStyle>
          <a:p>
            <a:pP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Each attempt gets one outcome. Execution exceptions take priority over grades.</a:t>
            </a:r>
          </a:p>
        </p:txBody>
      </p:sp>
      <p:sp>
        <p:nvSpPr>
          <p:cNvPr id="3" name="Rectangle 2">
            <a:extLst>
              <a:ext uri="{FF2B5EF4-FFF2-40B4-BE49-F238E27FC236}">
                <a16:creationId xmlns:a16="http://schemas.microsoft.com/office/drawing/2014/main" id="{0386B726-E850-4BDD-9065-0ED28D803F4E}"/>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19</a:t>
            </a:r>
          </a:p>
        </p:txBody>
      </p:sp>
      <p:graphicFrame>
        <p:nvGraphicFramePr>
          <p:cNvPr id="4" name="Table 3">
            <a:extLst>
              <a:ext uri="{FF2B5EF4-FFF2-40B4-BE49-F238E27FC236}">
                <a16:creationId xmlns:a16="http://schemas.microsoft.com/office/drawing/2014/main" id="{BB3CC862-6F38-4DF1-87DC-F701221049C0}"/>
              </a:ext>
            </a:extLst>
          </p:cNvPr>
          <p:cNvGraphicFramePr/>
          <p:nvPr/>
        </p:nvGraphicFramePr>
        <p:xfrm>
          <a:off x="457200" y="1590675"/>
          <a:ext cx="11277600" cy="2926080"/>
        </p:xfrm>
        <a:graphic>
          <a:graphicData uri="http://schemas.openxmlformats.org/drawingml/2006/table">
            <a:tbl>
              <a:tblPr/>
              <a:tblGrid>
                <a:gridCol w="171450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gridCol w="1238250">
                  <a:extLst>
                    <a:ext uri="{9D8B030D-6E8A-4147-A177-3AD203B41FA5}">
                      <a16:colId xmlns:a16="http://schemas.microsoft.com/office/drawing/2014/main" val="20004"/>
                    </a:ext>
                  </a:extLst>
                </a:gridCol>
                <a:gridCol w="2095500">
                  <a:extLst>
                    <a:ext uri="{9D8B030D-6E8A-4147-A177-3AD203B41FA5}">
                      <a16:colId xmlns:a16="http://schemas.microsoft.com/office/drawing/2014/main" val="20005"/>
                    </a:ext>
                  </a:extLst>
                </a:gridCol>
                <a:gridCol w="1562100">
                  <a:extLst>
                    <a:ext uri="{9D8B030D-6E8A-4147-A177-3AD203B41FA5}">
                      <a16:colId xmlns:a16="http://schemas.microsoft.com/office/drawing/2014/main" val="20006"/>
                    </a:ext>
                  </a:extLst>
                </a:gridCol>
              </a:tblGrid>
              <a:tr h="571500">
                <a:tc>
                  <a:txBody>
                    <a:bodyPr/>
                    <a:lstStyle/>
                    <a:p>
                      <a:r>
                        <a:rPr sz="1800" b="1">
                          <a:solidFill>
                            <a:srgbClr val="FFFFFF"/>
                          </a:solidFill>
                          <a:latin typeface="Times New Roman"/>
                          <a:ea typeface="Times New Roman"/>
                          <a:cs typeface="Times New Roman"/>
                        </a:rPr>
                        <a:t>Hint</a:t>
                      </a:r>
                    </a:p>
                  </a:txBody>
                  <a:tcPr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Passed</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Physics</a:t>
                      </a:r>
                    </a:p>
                    <a:p>
                      <a:r>
                        <a:rPr sz="1800" b="1">
                          <a:solidFill>
                            <a:srgbClr val="FFFFFF"/>
                          </a:solidFill>
                          <a:latin typeface="Times New Roman"/>
                          <a:ea typeface="Times New Roman"/>
                          <a:cs typeface="Times New Roman"/>
                        </a:rPr>
                        <a:t>failure</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Other graded</a:t>
                      </a:r>
                    </a:p>
                    <a:p>
                      <a:r>
                        <a:rPr sz="1800" b="1">
                          <a:solidFill>
                            <a:srgbClr val="FFFFFF"/>
                          </a:solidFill>
                          <a:latin typeface="Times New Roman"/>
                          <a:ea typeface="Times New Roman"/>
                          <a:cs typeface="Times New Roman"/>
                        </a:rPr>
                        <a:t>failure</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Timeout</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Other execution</a:t>
                      </a:r>
                    </a:p>
                    <a:p>
                      <a:r>
                        <a:rPr sz="1800" b="1">
                          <a:solidFill>
                            <a:srgbClr val="FFFFFF"/>
                          </a:solidFill>
                          <a:latin typeface="Times New Roman"/>
                          <a:ea typeface="Times New Roman"/>
                          <a:cs typeface="Times New Roman"/>
                        </a:rPr>
                        <a:t>error</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Total</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extLst>
                  <a:ext uri="{0D108BD9-81ED-4DB2-BD59-A6C34878D82A}">
                    <a16:rowId xmlns:a16="http://schemas.microsoft.com/office/drawing/2014/main" val="10000"/>
                  </a:ext>
                </a:extLst>
              </a:tr>
              <a:tr h="571500">
                <a:tc>
                  <a:txBody>
                    <a:bodyPr/>
                    <a:lstStyle/>
                    <a:p>
                      <a:r>
                        <a:rPr sz="1800" b="0">
                          <a:solidFill>
                            <a:srgbClr val="111111"/>
                          </a:solidFill>
                          <a:latin typeface="Times New Roman"/>
                          <a:ea typeface="Times New Roman"/>
                          <a:cs typeface="Times New Roman"/>
                        </a:rPr>
                        <a:t>No hint</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84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296</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8</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390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800" b="0">
                          <a:solidFill>
                            <a:srgbClr val="111111"/>
                          </a:solidFill>
                          <a:latin typeface="Times New Roman"/>
                          <a:ea typeface="Times New Roman"/>
                          <a:cs typeface="Times New Roman"/>
                        </a:rPr>
                        <a:t>General</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183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158</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34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14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390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2"/>
                  </a:ext>
                </a:extLst>
              </a:tr>
              <a:tr h="571500">
                <a:tc>
                  <a:txBody>
                    <a:bodyPr/>
                    <a:lstStyle/>
                    <a:p>
                      <a:r>
                        <a:rPr sz="1800" b="0">
                          <a:solidFill>
                            <a:srgbClr val="111111"/>
                          </a:solidFill>
                          <a:latin typeface="Times New Roman"/>
                          <a:ea typeface="Times New Roman"/>
                          <a:cs typeface="Times New Roman"/>
                        </a:rPr>
                        <a:t>Physics</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257</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66</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57</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10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390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3"/>
                  </a:ext>
                </a:extLst>
              </a:tr>
              <a:tr h="571500">
                <a:tc>
                  <a:txBody>
                    <a:bodyPr/>
                    <a:lstStyle/>
                    <a:p>
                      <a:r>
                        <a:rPr sz="1800" b="0">
                          <a:solidFill>
                            <a:srgbClr val="111111"/>
                          </a:solidFill>
                          <a:latin typeface="Times New Roman"/>
                          <a:ea typeface="Times New Roman"/>
                          <a:cs typeface="Times New Roman"/>
                        </a:rPr>
                        <a:t>All</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524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520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99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25</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2</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1,170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C63E6A59-C6A1-4CB8-907F-589738C14ACF}"/>
              </a:ext>
            </a:extLst>
          </p:cNvPr>
          <p:cNvSpPr>
            <a:spLocks noGrp="1"/>
          </p:cNvSpPr>
          <p:nvPr/>
        </p:nvSpPr>
        <p:spPr>
          <a:xfrm>
            <a:off x="457200" y="4724400"/>
            <a:ext cx="11277600" cy="742950"/>
          </a:xfrm>
          <a:prstGeom prst="rect">
            <a:avLst/>
          </a:prstGeom>
          <a:noFill/>
          <a:ln w="0">
            <a:noFill/>
          </a:ln>
        </p:spPr>
        <p:txBody>
          <a:bodyPr wrap="square" lIns="0" tIns="0" rIns="0" bIns="0" anchor="t"/>
          <a:lstStyle>
            <a:defPPr>
              <a:defRPr sz="2175" b="1">
                <a:solidFill>
                  <a:srgbClr val="111111"/>
                </a:solidFill>
                <a:latin typeface="Times New Roman"/>
                <a:ea typeface="Times New Roman"/>
                <a:cs typeface="Times New Roman"/>
              </a:defRPr>
            </a:defPPr>
          </a:lstStyle>
          <a:p>
            <a:pPr>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A physics failure fits the supplied data and has a reviewed physical-model error</a:t>
            </a:r>
          </a:p>
          <a:p>
            <a:pPr>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that causes a wrong prediction under new conditions.</a:t>
            </a:r>
          </a:p>
        </p:txBody>
      </p:sp>
      <p:sp>
        <p:nvSpPr>
          <p:cNvPr id="6" name="Rectangle 5">
            <a:extLst>
              <a:ext uri="{FF2B5EF4-FFF2-40B4-BE49-F238E27FC236}">
                <a16:creationId xmlns:a16="http://schemas.microsoft.com/office/drawing/2014/main" id="{BFDBEF03-2412-4842-A9F6-76D4A4410BE7}"/>
              </a:ext>
            </a:extLst>
          </p:cNvPr>
          <p:cNvSpPr>
            <a:spLocks noGrp="1"/>
          </p:cNvSpPr>
          <p:nvPr/>
        </p:nvSpPr>
        <p:spPr>
          <a:xfrm>
            <a:off x="457200" y="5657850"/>
            <a:ext cx="11277600" cy="666750"/>
          </a:xfrm>
          <a:prstGeom prst="rect">
            <a:avLst/>
          </a:prstGeom>
          <a:noFill/>
          <a:ln w="0">
            <a:noFill/>
          </a:ln>
        </p:spPr>
        <p:txBody>
          <a:bodyPr wrap="square" lIns="0" tIns="0" rIns="0" bIns="0" anchor="t"/>
          <a:lstStyle>
            <a:defPPr>
              <a:defRPr sz="1950" b="0">
                <a:solidFill>
                  <a:srgbClr val="444444"/>
                </a:solidFill>
                <a:latin typeface="Times New Roman"/>
                <a:ea typeface="Times New Roman"/>
                <a:cs typeface="Times New Roman"/>
              </a:defRPr>
            </a:defPPr>
          </a:lstStyle>
          <a:p>
            <a:pPr>
              <a:buNone/>
              <a:defRPr sz="1950" b="0">
                <a:solidFill>
                  <a:srgbClr val="444444"/>
                </a:solidFill>
                <a:latin typeface="Times New Roman"/>
                <a:ea typeface="Times New Roman"/>
                <a:cs typeface="Times New Roman"/>
              </a:defRPr>
            </a:pPr>
            <a:r>
              <a:rPr sz="1950" b="0">
                <a:solidFill>
                  <a:srgbClr val="444444"/>
                </a:solidFill>
                <a:latin typeface="Times New Roman"/>
                <a:ea typeface="Times New Roman"/>
                <a:cs typeface="Times New Roman"/>
              </a:rPr>
              <a:t>84 of 604 failures that fit the supplied data had a mathematical or coding primary cause.</a:t>
            </a:r>
          </a:p>
          <a:p>
            <a:pPr>
              <a:buNone/>
              <a:defRPr sz="1950" b="0">
                <a:solidFill>
                  <a:srgbClr val="444444"/>
                </a:solidFill>
                <a:latin typeface="Times New Roman"/>
                <a:ea typeface="Times New Roman"/>
                <a:cs typeface="Times New Roman"/>
              </a:defRPr>
            </a:pPr>
            <a:r>
              <a:rPr sz="1950" b="0">
                <a:solidFill>
                  <a:srgbClr val="444444"/>
                </a:solidFill>
                <a:latin typeface="Times New Roman"/>
                <a:ea typeface="Times New Roman"/>
                <a:cs typeface="Times New Roman"/>
              </a:rPr>
              <a:t>Those attempts count as other graded failures.</a:t>
            </a:r>
          </a:p>
        </p:txBody>
      </p:sp>
    </p:spTree>
    <p:extLst>
      <p:ext uri="{BB962C8B-B14F-4D97-AF65-F5344CB8AC3E}">
        <p14:creationId xmlns:p14="http://schemas.microsoft.com/office/powerpoint/2010/main" val="129377066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TotalTime>
  <Words>9351</Words>
  <Application>Microsoft Macintosh PowerPoint</Application>
  <DocSecurity>0</DocSecurity>
  <PresentationFormat>Widescreen</PresentationFormat>
  <Paragraphs>667</Paragraphs>
  <Slides>19</Slides>
  <Notes>19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Yue Pan</cp:lastModifiedBy>
  <cp:revision>3</cp:revision>
  <dcterms:created xsi:type="dcterms:W3CDTF">2026-10-16T02:48:27Z</dcterms:created>
  <dcterms:modified xsi:type="dcterms:W3CDTF">2026-10-16T17:23:01Z</dcterms:modified>
</cp:coreProperties>
</file>