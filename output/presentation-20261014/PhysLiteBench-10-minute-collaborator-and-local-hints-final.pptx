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notesSlides/notesSlide7.xml" ContentType="application/vnd.openxmlformats-officedocument.presentationml.notesSlide+xml"/>
  <Override PartName="/ppt/charts/chart3.xml" ContentType="application/vnd.openxmlformats-officedocument.drawingml.chart+xml"/>
  <Override PartName="/ppt/notesSlides/notesSlide8.xml" ContentType="application/vnd.openxmlformats-officedocument.presentationml.notesSlide+xml"/>
  <Override PartName="/ppt/charts/chart4.xml" ContentType="application/vnd.openxmlformats-officedocument.drawingml.chart+xml"/>
  <Override PartName="/ppt/notesSlides/notesSlide9.xml" ContentType="application/vnd.openxmlformats-officedocument.presentationml.notesSlide+xml"/>
  <Override PartName="/ppt/charts/chart5.xml" ContentType="application/vnd.openxmlformats-officedocument.drawingml.chart+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rts/chart6.xml" ContentType="application/vnd.openxmlformats-officedocument.drawingml.chart+xml"/>
  <Override PartName="/ppt/notesSlides/notesSlide17.xml" ContentType="application/vnd.openxmlformats-officedocument.presentationml.notesSlide+xml"/>
  <Override PartName="/ppt/charts/chart7.xml" ContentType="application/vnd.openxmlformats-officedocument.drawingml.char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12192000" cy="6858000"/>
  <p:notesSz cx="6858000" cy="9144000"/>
  <p:defaultTextStyle>
    <a:defPPr>
      <a:buNone/>
    </a:defPPr>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50"/>
  </p:normalViewPr>
  <p:slideViewPr>
    <p:cSldViewPr snapToGrid="0">
      <p:cViewPr varScale="1">
        <p:scale>
          <a:sx n="120" d="100"/>
          <a:sy n="120" d="100"/>
        </p:scale>
        <p:origin x="448"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scatterChart>
        <c:scatterStyle val="lineMarker"/>
        <c:varyColors val="0"/>
        <c:ser>
          <c:idx val="0"/>
          <c:order val="0"/>
          <c:tx>
            <c:v>Observed frontier</c:v>
          </c:tx>
          <c:spPr>
            <a:ln w="19050">
              <a:solidFill>
                <a:srgbClr val="0F766E"/>
              </a:solidFill>
              <a:prstDash val="dash"/>
            </a:ln>
          </c:spPr>
          <c:marker>
            <c:symbol val="none"/>
          </c:marker>
          <c:xVal>
            <c:numRef>
              <c:f>'Chart Data'!$A$2:$A$5</c:f>
              <c:numCache>
                <c:formatCode>General</c:formatCode>
                <c:ptCount val="4"/>
                <c:pt idx="0">
                  <c:v>4.0174010000000003E-3</c:v>
                </c:pt>
                <c:pt idx="1">
                  <c:v>1.2608159000000001E-2</c:v>
                </c:pt>
                <c:pt idx="2">
                  <c:v>7.7331221000000006E-2</c:v>
                </c:pt>
                <c:pt idx="3">
                  <c:v>0.19754441</c:v>
                </c:pt>
              </c:numCache>
            </c:numRef>
          </c:xVal>
          <c:yVal>
            <c:numRef>
              <c:f>'Chart Data'!$B$2:$B$5</c:f>
              <c:numCache>
                <c:formatCode>0%</c:formatCode>
                <c:ptCount val="4"/>
                <c:pt idx="0">
                  <c:v>0.102564103</c:v>
                </c:pt>
                <c:pt idx="1">
                  <c:v>0.30769230800000003</c:v>
                </c:pt>
                <c:pt idx="2">
                  <c:v>0.94871794899999995</c:v>
                </c:pt>
                <c:pt idx="3">
                  <c:v>1</c:v>
                </c:pt>
              </c:numCache>
            </c:numRef>
          </c:yVal>
          <c:smooth val="1"/>
          <c:extLst>
            <c:ext xmlns:c16="http://schemas.microsoft.com/office/drawing/2014/chart" uri="{C3380CC4-5D6E-409C-BE32-E72D297353CC}">
              <c16:uniqueId val="{00000000-F431-6840-9F8F-00D0597E80D1}"/>
            </c:ext>
          </c:extLst>
        </c:ser>
        <c:ser>
          <c:idx val="1"/>
          <c:order val="1"/>
          <c:tx>
            <c:v>GPT-6 Luna Low</c:v>
          </c:tx>
          <c:spPr>
            <a:ln w="0">
              <a:noFill/>
            </a:ln>
          </c:spPr>
          <c:marker>
            <c:symbol val="circle"/>
            <c:size val="12"/>
            <c:spPr>
              <a:solidFill>
                <a:srgbClr val="1D4E89"/>
              </a:solidFill>
            </c:spPr>
          </c:marker>
          <c:xVal>
            <c:numRef>
              <c:f>'Chart Data'!$C$2:$C$2</c:f>
              <c:numCache>
                <c:formatCode>General</c:formatCode>
                <c:ptCount val="1"/>
                <c:pt idx="0">
                  <c:v>4.0174010000000003E-3</c:v>
                </c:pt>
              </c:numCache>
            </c:numRef>
          </c:xVal>
          <c:yVal>
            <c:numRef>
              <c:f>'Chart Data'!$D$2:$D$2</c:f>
              <c:numCache>
                <c:formatCode>0%</c:formatCode>
                <c:ptCount val="1"/>
                <c:pt idx="0">
                  <c:v>0.102564103</c:v>
                </c:pt>
              </c:numCache>
            </c:numRef>
          </c:yVal>
          <c:smooth val="1"/>
          <c:extLst>
            <c:ext xmlns:c16="http://schemas.microsoft.com/office/drawing/2014/chart" uri="{C3380CC4-5D6E-409C-BE32-E72D297353CC}">
              <c16:uniqueId val="{00000001-F431-6840-9F8F-00D0597E80D1}"/>
            </c:ext>
          </c:extLst>
        </c:ser>
        <c:ser>
          <c:idx val="2"/>
          <c:order val="2"/>
          <c:tx>
            <c:v>GPT-6 Luna High</c:v>
          </c:tx>
          <c:spPr>
            <a:ln w="0">
              <a:noFill/>
            </a:ln>
          </c:spPr>
          <c:marker>
            <c:symbol val="square"/>
            <c:size val="12"/>
            <c:spPr>
              <a:solidFill>
                <a:srgbClr val="1D4E89"/>
              </a:solidFill>
            </c:spPr>
          </c:marker>
          <c:xVal>
            <c:numRef>
              <c:f>'Chart Data'!$E$2:$E$2</c:f>
              <c:numCache>
                <c:formatCode>General</c:formatCode>
                <c:ptCount val="1"/>
                <c:pt idx="0">
                  <c:v>5.1744989999999999E-3</c:v>
                </c:pt>
              </c:numCache>
            </c:numRef>
          </c:xVal>
          <c:yVal>
            <c:numRef>
              <c:f>'Chart Data'!$F$2:$F$2</c:f>
              <c:numCache>
                <c:formatCode>0%</c:formatCode>
                <c:ptCount val="1"/>
                <c:pt idx="0">
                  <c:v>2.5641026000000001E-2</c:v>
                </c:pt>
              </c:numCache>
            </c:numRef>
          </c:yVal>
          <c:smooth val="1"/>
          <c:extLst>
            <c:ext xmlns:c16="http://schemas.microsoft.com/office/drawing/2014/chart" uri="{C3380CC4-5D6E-409C-BE32-E72D297353CC}">
              <c16:uniqueId val="{00000002-F431-6840-9F8F-00D0597E80D1}"/>
            </c:ext>
          </c:extLst>
        </c:ser>
        <c:ser>
          <c:idx val="3"/>
          <c:order val="3"/>
          <c:tx>
            <c:v>GPT-6 Luna Extra High</c:v>
          </c:tx>
          <c:spPr>
            <a:ln w="0">
              <a:noFill/>
            </a:ln>
          </c:spPr>
          <c:marker>
            <c:symbol val="triangle"/>
            <c:size val="12"/>
            <c:spPr>
              <a:solidFill>
                <a:srgbClr val="1D4E89"/>
              </a:solidFill>
            </c:spPr>
          </c:marker>
          <c:xVal>
            <c:numRef>
              <c:f>'Chart Data'!$G$2:$G$2</c:f>
              <c:numCache>
                <c:formatCode>General</c:formatCode>
                <c:ptCount val="1"/>
                <c:pt idx="0">
                  <c:v>1.2608159000000001E-2</c:v>
                </c:pt>
              </c:numCache>
            </c:numRef>
          </c:xVal>
          <c:yVal>
            <c:numRef>
              <c:f>'Chart Data'!$H$2:$H$2</c:f>
              <c:numCache>
                <c:formatCode>0%</c:formatCode>
                <c:ptCount val="1"/>
                <c:pt idx="0">
                  <c:v>0.30769230800000003</c:v>
                </c:pt>
              </c:numCache>
            </c:numRef>
          </c:yVal>
          <c:smooth val="1"/>
          <c:extLst>
            <c:ext xmlns:c16="http://schemas.microsoft.com/office/drawing/2014/chart" uri="{C3380CC4-5D6E-409C-BE32-E72D297353CC}">
              <c16:uniqueId val="{00000003-F431-6840-9F8F-00D0597E80D1}"/>
            </c:ext>
          </c:extLst>
        </c:ser>
        <c:ser>
          <c:idx val="4"/>
          <c:order val="4"/>
          <c:tx>
            <c:v>GPT-6 Sol Low</c:v>
          </c:tx>
          <c:spPr>
            <a:ln w="0">
              <a:noFill/>
            </a:ln>
          </c:spPr>
          <c:marker>
            <c:symbol val="circle"/>
            <c:size val="12"/>
            <c:spPr>
              <a:solidFill>
                <a:srgbClr val="0F766E"/>
              </a:solidFill>
            </c:spPr>
          </c:marker>
          <c:xVal>
            <c:numRef>
              <c:f>'Chart Data'!$I$2:$I$2</c:f>
              <c:numCache>
                <c:formatCode>General</c:formatCode>
                <c:ptCount val="1"/>
                <c:pt idx="0">
                  <c:v>7.7331221000000006E-2</c:v>
                </c:pt>
              </c:numCache>
            </c:numRef>
          </c:xVal>
          <c:yVal>
            <c:numRef>
              <c:f>'Chart Data'!$J$2:$J$2</c:f>
              <c:numCache>
                <c:formatCode>0%</c:formatCode>
                <c:ptCount val="1"/>
                <c:pt idx="0">
                  <c:v>0.94871794899999995</c:v>
                </c:pt>
              </c:numCache>
            </c:numRef>
          </c:yVal>
          <c:smooth val="1"/>
          <c:extLst>
            <c:ext xmlns:c16="http://schemas.microsoft.com/office/drawing/2014/chart" uri="{C3380CC4-5D6E-409C-BE32-E72D297353CC}">
              <c16:uniqueId val="{00000004-F431-6840-9F8F-00D0597E80D1}"/>
            </c:ext>
          </c:extLst>
        </c:ser>
        <c:ser>
          <c:idx val="5"/>
          <c:order val="5"/>
          <c:tx>
            <c:v>GPT-6 Sol High</c:v>
          </c:tx>
          <c:spPr>
            <a:ln w="0">
              <a:noFill/>
            </a:ln>
          </c:spPr>
          <c:marker>
            <c:symbol val="square"/>
            <c:size val="12"/>
            <c:spPr>
              <a:solidFill>
                <a:srgbClr val="0F766E"/>
              </a:solidFill>
            </c:spPr>
          </c:marker>
          <c:xVal>
            <c:numRef>
              <c:f>'Chart Data'!$K$2:$K$2</c:f>
              <c:numCache>
                <c:formatCode>General</c:formatCode>
                <c:ptCount val="1"/>
                <c:pt idx="0">
                  <c:v>0.19754441</c:v>
                </c:pt>
              </c:numCache>
            </c:numRef>
          </c:xVal>
          <c:yVal>
            <c:numRef>
              <c:f>'Chart Data'!$L$2:$L$2</c:f>
              <c:numCache>
                <c:formatCode>0%</c:formatCode>
                <c:ptCount val="1"/>
                <c:pt idx="0">
                  <c:v>1</c:v>
                </c:pt>
              </c:numCache>
            </c:numRef>
          </c:yVal>
          <c:smooth val="1"/>
          <c:extLst>
            <c:ext xmlns:c16="http://schemas.microsoft.com/office/drawing/2014/chart" uri="{C3380CC4-5D6E-409C-BE32-E72D297353CC}">
              <c16:uniqueId val="{00000005-F431-6840-9F8F-00D0597E80D1}"/>
            </c:ext>
          </c:extLst>
        </c:ser>
        <c:ser>
          <c:idx val="6"/>
          <c:order val="6"/>
          <c:tx>
            <c:v>GPT-6 Sol Extra High</c:v>
          </c:tx>
          <c:spPr>
            <a:ln w="0">
              <a:noFill/>
            </a:ln>
          </c:spPr>
          <c:marker>
            <c:symbol val="triangle"/>
            <c:size val="12"/>
            <c:spPr>
              <a:solidFill>
                <a:srgbClr val="0F766E"/>
              </a:solidFill>
            </c:spPr>
          </c:marker>
          <c:xVal>
            <c:numRef>
              <c:f>'Chart Data'!$M$2:$M$2</c:f>
              <c:numCache>
                <c:formatCode>General</c:formatCode>
                <c:ptCount val="1"/>
                <c:pt idx="0">
                  <c:v>0.230608174</c:v>
                </c:pt>
              </c:numCache>
            </c:numRef>
          </c:xVal>
          <c:yVal>
            <c:numRef>
              <c:f>'Chart Data'!$N$2:$N$2</c:f>
              <c:numCache>
                <c:formatCode>0%</c:formatCode>
                <c:ptCount val="1"/>
                <c:pt idx="0">
                  <c:v>1</c:v>
                </c:pt>
              </c:numCache>
            </c:numRef>
          </c:yVal>
          <c:smooth val="1"/>
          <c:extLst>
            <c:ext xmlns:c16="http://schemas.microsoft.com/office/drawing/2014/chart" uri="{C3380CC4-5D6E-409C-BE32-E72D297353CC}">
              <c16:uniqueId val="{00000006-F431-6840-9F8F-00D0597E80D1}"/>
            </c:ext>
          </c:extLst>
        </c:ser>
        <c:ser>
          <c:idx val="7"/>
          <c:order val="7"/>
          <c:tx>
            <c:v>GPT-5.6 Terra Low</c:v>
          </c:tx>
          <c:spPr>
            <a:ln w="0">
              <a:noFill/>
            </a:ln>
          </c:spPr>
          <c:marker>
            <c:symbol val="circle"/>
            <c:size val="12"/>
            <c:spPr>
              <a:solidFill>
                <a:srgbClr val="B45309"/>
              </a:solidFill>
            </c:spPr>
          </c:marker>
          <c:xVal>
            <c:numRef>
              <c:f>'Chart Data'!$O$2:$O$2</c:f>
              <c:numCache>
                <c:formatCode>General</c:formatCode>
                <c:ptCount val="1"/>
                <c:pt idx="0">
                  <c:v>0.11070587699999999</c:v>
                </c:pt>
              </c:numCache>
            </c:numRef>
          </c:xVal>
          <c:yVal>
            <c:numRef>
              <c:f>'Chart Data'!$P$2:$P$2</c:f>
              <c:numCache>
                <c:formatCode>0%</c:formatCode>
                <c:ptCount val="1"/>
                <c:pt idx="0">
                  <c:v>0.102564103</c:v>
                </c:pt>
              </c:numCache>
            </c:numRef>
          </c:yVal>
          <c:smooth val="1"/>
          <c:extLst>
            <c:ext xmlns:c16="http://schemas.microsoft.com/office/drawing/2014/chart" uri="{C3380CC4-5D6E-409C-BE32-E72D297353CC}">
              <c16:uniqueId val="{00000007-F431-6840-9F8F-00D0597E80D1}"/>
            </c:ext>
          </c:extLst>
        </c:ser>
        <c:ser>
          <c:idx val="8"/>
          <c:order val="8"/>
          <c:tx>
            <c:v>GPT-5.6 Terra High</c:v>
          </c:tx>
          <c:spPr>
            <a:ln w="0">
              <a:noFill/>
            </a:ln>
          </c:spPr>
          <c:marker>
            <c:symbol val="square"/>
            <c:size val="12"/>
            <c:spPr>
              <a:solidFill>
                <a:srgbClr val="B45309"/>
              </a:solidFill>
            </c:spPr>
          </c:marker>
          <c:xVal>
            <c:numRef>
              <c:f>'Chart Data'!$Q$2:$Q$2</c:f>
              <c:numCache>
                <c:formatCode>General</c:formatCode>
                <c:ptCount val="1"/>
                <c:pt idx="0">
                  <c:v>0.194193528</c:v>
                </c:pt>
              </c:numCache>
            </c:numRef>
          </c:xVal>
          <c:yVal>
            <c:numRef>
              <c:f>'Chart Data'!$R$2:$R$2</c:f>
              <c:numCache>
                <c:formatCode>0%</c:formatCode>
                <c:ptCount val="1"/>
                <c:pt idx="0">
                  <c:v>0.23076923099999999</c:v>
                </c:pt>
              </c:numCache>
            </c:numRef>
          </c:yVal>
          <c:smooth val="1"/>
          <c:extLst>
            <c:ext xmlns:c16="http://schemas.microsoft.com/office/drawing/2014/chart" uri="{C3380CC4-5D6E-409C-BE32-E72D297353CC}">
              <c16:uniqueId val="{00000008-F431-6840-9F8F-00D0597E80D1}"/>
            </c:ext>
          </c:extLst>
        </c:ser>
        <c:ser>
          <c:idx val="9"/>
          <c:order val="9"/>
          <c:tx>
            <c:v>GPT-5.6 Terra Extra High</c:v>
          </c:tx>
          <c:spPr>
            <a:ln w="0">
              <a:noFill/>
            </a:ln>
          </c:spPr>
          <c:marker>
            <c:symbol val="triangle"/>
            <c:size val="12"/>
            <c:spPr>
              <a:solidFill>
                <a:srgbClr val="B45309"/>
              </a:solidFill>
            </c:spPr>
          </c:marker>
          <c:xVal>
            <c:numRef>
              <c:f>'Chart Data'!$S$2:$S$2</c:f>
              <c:numCache>
                <c:formatCode>General</c:formatCode>
                <c:ptCount val="1"/>
                <c:pt idx="0">
                  <c:v>0.31962965100000001</c:v>
                </c:pt>
              </c:numCache>
            </c:numRef>
          </c:xVal>
          <c:yVal>
            <c:numRef>
              <c:f>'Chart Data'!$T$2:$T$2</c:f>
              <c:numCache>
                <c:formatCode>0%</c:formatCode>
                <c:ptCount val="1"/>
                <c:pt idx="0">
                  <c:v>0.48717948700000002</c:v>
                </c:pt>
              </c:numCache>
            </c:numRef>
          </c:yVal>
          <c:smooth val="1"/>
          <c:extLst>
            <c:ext xmlns:c16="http://schemas.microsoft.com/office/drawing/2014/chart" uri="{C3380CC4-5D6E-409C-BE32-E72D297353CC}">
              <c16:uniqueId val="{00000009-F431-6840-9F8F-00D0597E80D1}"/>
            </c:ext>
          </c:extLst>
        </c:ser>
        <c:ser>
          <c:idx val="10"/>
          <c:order val="10"/>
          <c:tx>
            <c:v>GPT-6 Astra Low</c:v>
          </c:tx>
          <c:spPr>
            <a:ln w="0">
              <a:noFill/>
            </a:ln>
          </c:spPr>
          <c:marker>
            <c:symbol val="circle"/>
            <c:size val="12"/>
            <c:spPr>
              <a:solidFill>
                <a:srgbClr val="5B4B7C"/>
              </a:solidFill>
            </c:spPr>
          </c:marker>
          <c:xVal>
            <c:numRef>
              <c:f>'Chart Data'!$U$2:$U$2</c:f>
              <c:numCache>
                <c:formatCode>General</c:formatCode>
                <c:ptCount val="1"/>
                <c:pt idx="0">
                  <c:v>0.44501015399999999</c:v>
                </c:pt>
              </c:numCache>
            </c:numRef>
          </c:xVal>
          <c:yVal>
            <c:numRef>
              <c:f>'Chart Data'!$V$2:$V$2</c:f>
              <c:numCache>
                <c:formatCode>0%</c:formatCode>
                <c:ptCount val="1"/>
                <c:pt idx="0">
                  <c:v>1</c:v>
                </c:pt>
              </c:numCache>
            </c:numRef>
          </c:yVal>
          <c:smooth val="1"/>
          <c:extLst>
            <c:ext xmlns:c16="http://schemas.microsoft.com/office/drawing/2014/chart" uri="{C3380CC4-5D6E-409C-BE32-E72D297353CC}">
              <c16:uniqueId val="{0000000A-F431-6840-9F8F-00D0597E80D1}"/>
            </c:ext>
          </c:extLst>
        </c:ser>
        <c:ser>
          <c:idx val="11"/>
          <c:order val="11"/>
          <c:tx>
            <c:v>GPT-6 Astra High</c:v>
          </c:tx>
          <c:spPr>
            <a:ln w="0">
              <a:noFill/>
            </a:ln>
          </c:spPr>
          <c:marker>
            <c:symbol val="square"/>
            <c:size val="12"/>
            <c:spPr>
              <a:solidFill>
                <a:srgbClr val="5B4B7C"/>
              </a:solidFill>
            </c:spPr>
          </c:marker>
          <c:xVal>
            <c:numRef>
              <c:f>'Chart Data'!$W$2:$W$2</c:f>
              <c:numCache>
                <c:formatCode>General</c:formatCode>
                <c:ptCount val="1"/>
                <c:pt idx="0">
                  <c:v>0.71322825599999995</c:v>
                </c:pt>
              </c:numCache>
            </c:numRef>
          </c:xVal>
          <c:yVal>
            <c:numRef>
              <c:f>'Chart Data'!$X$2:$X$2</c:f>
              <c:numCache>
                <c:formatCode>0%</c:formatCode>
                <c:ptCount val="1"/>
                <c:pt idx="0">
                  <c:v>1</c:v>
                </c:pt>
              </c:numCache>
            </c:numRef>
          </c:yVal>
          <c:smooth val="1"/>
          <c:extLst>
            <c:ext xmlns:c16="http://schemas.microsoft.com/office/drawing/2014/chart" uri="{C3380CC4-5D6E-409C-BE32-E72D297353CC}">
              <c16:uniqueId val="{0000000B-F431-6840-9F8F-00D0597E80D1}"/>
            </c:ext>
          </c:extLst>
        </c:ser>
        <c:ser>
          <c:idx val="12"/>
          <c:order val="12"/>
          <c:tx>
            <c:v>GPT-6 Astra Extra High</c:v>
          </c:tx>
          <c:spPr>
            <a:ln w="0">
              <a:noFill/>
            </a:ln>
          </c:spPr>
          <c:marker>
            <c:symbol val="triangle"/>
            <c:size val="12"/>
            <c:spPr>
              <a:solidFill>
                <a:srgbClr val="5B4B7C"/>
              </a:solidFill>
            </c:spPr>
          </c:marker>
          <c:xVal>
            <c:numRef>
              <c:f>'Chart Data'!$Y$2:$Y$2</c:f>
              <c:numCache>
                <c:formatCode>General</c:formatCode>
                <c:ptCount val="1"/>
                <c:pt idx="0">
                  <c:v>1.0801353849999999</c:v>
                </c:pt>
              </c:numCache>
            </c:numRef>
          </c:xVal>
          <c:yVal>
            <c:numRef>
              <c:f>'Chart Data'!$Z$2:$Z$2</c:f>
              <c:numCache>
                <c:formatCode>0%</c:formatCode>
                <c:ptCount val="1"/>
                <c:pt idx="0">
                  <c:v>0.94871794899999995</c:v>
                </c:pt>
              </c:numCache>
            </c:numRef>
          </c:yVal>
          <c:smooth val="1"/>
          <c:extLst>
            <c:ext xmlns:c16="http://schemas.microsoft.com/office/drawing/2014/chart" uri="{C3380CC4-5D6E-409C-BE32-E72D297353CC}">
              <c16:uniqueId val="{0000000C-F431-6840-9F8F-00D0597E80D1}"/>
            </c:ext>
          </c:extLst>
        </c:ser>
        <c:ser>
          <c:idx val="13"/>
          <c:order val="13"/>
          <c:tx>
            <c:v>DeepSeek V4.1 Flash High</c:v>
          </c:tx>
          <c:spPr>
            <a:ln w="0">
              <a:noFill/>
            </a:ln>
          </c:spPr>
          <c:marker>
            <c:symbol val="square"/>
            <c:size val="12"/>
            <c:spPr>
              <a:solidFill>
                <a:srgbClr val="A50026"/>
              </a:solidFill>
            </c:spPr>
          </c:marker>
          <c:xVal>
            <c:numRef>
              <c:f>'Chart Data'!$AA$2:$AA$2</c:f>
              <c:numCache>
                <c:formatCode>General</c:formatCode>
                <c:ptCount val="1"/>
                <c:pt idx="0">
                  <c:v>0.150040014</c:v>
                </c:pt>
              </c:numCache>
            </c:numRef>
          </c:xVal>
          <c:yVal>
            <c:numRef>
              <c:f>'Chart Data'!$AB$2:$AB$2</c:f>
              <c:numCache>
                <c:formatCode>0%</c:formatCode>
                <c:ptCount val="1"/>
                <c:pt idx="0">
                  <c:v>0</c:v>
                </c:pt>
              </c:numCache>
            </c:numRef>
          </c:yVal>
          <c:smooth val="1"/>
          <c:extLst>
            <c:ext xmlns:c16="http://schemas.microsoft.com/office/drawing/2014/chart" uri="{C3380CC4-5D6E-409C-BE32-E72D297353CC}">
              <c16:uniqueId val="{0000000D-F431-6840-9F8F-00D0597E80D1}"/>
            </c:ext>
          </c:extLst>
        </c:ser>
        <c:ser>
          <c:idx val="14"/>
          <c:order val="14"/>
          <c:tx>
            <c:v>DeepSeek V4.1 Flash Low</c:v>
          </c:tx>
          <c:spPr>
            <a:ln w="0">
              <a:noFill/>
            </a:ln>
          </c:spPr>
          <c:marker>
            <c:symbol val="circle"/>
            <c:size val="12"/>
            <c:spPr>
              <a:solidFill>
                <a:srgbClr val="A50026"/>
              </a:solidFill>
            </c:spPr>
          </c:marker>
          <c:xVal>
            <c:numRef>
              <c:f>'Chart Data'!$AC$2:$AC$2</c:f>
              <c:numCache>
                <c:formatCode>General</c:formatCode>
                <c:ptCount val="1"/>
                <c:pt idx="0">
                  <c:v>9.9535268999999996E-2</c:v>
                </c:pt>
              </c:numCache>
            </c:numRef>
          </c:xVal>
          <c:yVal>
            <c:numRef>
              <c:f>'Chart Data'!$AD$2:$AD$2</c:f>
              <c:numCache>
                <c:formatCode>0%</c:formatCode>
                <c:ptCount val="1"/>
                <c:pt idx="0">
                  <c:v>0</c:v>
                </c:pt>
              </c:numCache>
            </c:numRef>
          </c:yVal>
          <c:smooth val="1"/>
          <c:extLst>
            <c:ext xmlns:c16="http://schemas.microsoft.com/office/drawing/2014/chart" uri="{C3380CC4-5D6E-409C-BE32-E72D297353CC}">
              <c16:uniqueId val="{0000000E-F431-6840-9F8F-00D0597E80D1}"/>
            </c:ext>
          </c:extLst>
        </c:ser>
        <c:ser>
          <c:idx val="15"/>
          <c:order val="15"/>
          <c:tx>
            <c:v>DeepSeek V4.1 Flash Max</c:v>
          </c:tx>
          <c:spPr>
            <a:ln w="0">
              <a:noFill/>
            </a:ln>
          </c:spPr>
          <c:marker>
            <c:symbol val="diamond"/>
            <c:size val="12"/>
            <c:spPr>
              <a:solidFill>
                <a:srgbClr val="A50026"/>
              </a:solidFill>
            </c:spPr>
          </c:marker>
          <c:xVal>
            <c:numRef>
              <c:f>'Chart Data'!$AE$2:$AE$2</c:f>
              <c:numCache>
                <c:formatCode>General</c:formatCode>
                <c:ptCount val="1"/>
                <c:pt idx="0">
                  <c:v>0.24497286900000001</c:v>
                </c:pt>
              </c:numCache>
            </c:numRef>
          </c:xVal>
          <c:yVal>
            <c:numRef>
              <c:f>'Chart Data'!$AF$2:$AF$2</c:f>
              <c:numCache>
                <c:formatCode>0%</c:formatCode>
                <c:ptCount val="1"/>
                <c:pt idx="0">
                  <c:v>0</c:v>
                </c:pt>
              </c:numCache>
            </c:numRef>
          </c:yVal>
          <c:smooth val="1"/>
          <c:extLst>
            <c:ext xmlns:c16="http://schemas.microsoft.com/office/drawing/2014/chart" uri="{C3380CC4-5D6E-409C-BE32-E72D297353CC}">
              <c16:uniqueId val="{0000000F-F431-6840-9F8F-00D0597E80D1}"/>
            </c:ext>
          </c:extLst>
        </c:ser>
        <c:dLbls>
          <c:showLegendKey val="0"/>
          <c:showVal val="0"/>
          <c:showCatName val="0"/>
          <c:showSerName val="0"/>
          <c:showPercent val="0"/>
          <c:showBubbleSize val="0"/>
        </c:dLbls>
        <c:axId val="48650112"/>
        <c:axId val="48672768"/>
      </c:scatterChart>
      <c:valAx>
        <c:axId val="48672768"/>
        <c:scaling>
          <c:orientation val="minMax"/>
          <c:max val="1.06"/>
          <c:min val="0"/>
        </c:scaling>
        <c:delete val="0"/>
        <c:axPos val="l"/>
        <c:majorGridlines>
          <c:spPr>
            <a:ln w="6668">
              <a:solidFill>
                <a:srgbClr val="D1D5DB"/>
              </a:solidFill>
              <a:prstDash val="solid"/>
            </a:ln>
          </c:spPr>
        </c:majorGridlines>
        <c:title>
          <c:tx>
            <c:rich>
              <a:bodyPr/>
              <a:lstStyle/>
              <a:p>
                <a:r>
                  <a:rPr lang="en-US" sz="1575">
                    <a:solidFill>
                      <a:srgbClr val="444444"/>
                    </a:solidFill>
                    <a:latin typeface="Times New Roman"/>
                    <a:ea typeface="Times New Roman"/>
                    <a:cs typeface="Times New Roman"/>
                  </a:rPr>
                  <a:t>Completed pass rate</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500">
                <a:solidFill>
                  <a:srgbClr val="444444"/>
                </a:solidFill>
                <a:latin typeface="Times New Roman"/>
                <a:ea typeface="Times New Roman"/>
                <a:cs typeface="Times New Roman"/>
              </a:defRPr>
            </a:pPr>
            <a:endParaRPr lang="en-US"/>
          </a:p>
        </c:txPr>
        <c:crossAx val="48650112"/>
        <c:crosses val="autoZero"/>
        <c:crossBetween val="midCat"/>
        <c:majorUnit val="0.25"/>
      </c:valAx>
      <c:valAx>
        <c:axId val="48650112"/>
        <c:scaling>
          <c:orientation val="minMax"/>
          <c:max val="1.1499999999999999"/>
          <c:min val="0"/>
        </c:scaling>
        <c:delete val="0"/>
        <c:axPos val="b"/>
        <c:title>
          <c:tx>
            <c:rich>
              <a:bodyPr/>
              <a:lstStyle/>
              <a:p>
                <a:r>
                  <a:rPr lang="en-US" sz="1575">
                    <a:solidFill>
                      <a:srgbClr val="444444"/>
                    </a:solidFill>
                    <a:latin typeface="Times New Roman"/>
                    <a:ea typeface="Times New Roman"/>
                    <a:cs typeface="Times New Roman"/>
                  </a:rPr>
                  <a:t>Estimated API cost / attempt (USD)</a:t>
                </a:r>
              </a:p>
            </c:rich>
          </c:tx>
          <c:overlay val="0"/>
        </c:title>
        <c:numFmt formatCode="General" sourceLinked="1"/>
        <c:majorTickMark val="none"/>
        <c:minorTickMark val="none"/>
        <c:tickLblPos val="nextTo"/>
        <c:spPr>
          <a:ln w="9525">
            <a:solidFill>
              <a:srgbClr val="D4D4D4"/>
            </a:solidFill>
            <a:prstDash val="solid"/>
          </a:ln>
        </c:spPr>
        <c:txPr>
          <a:bodyPr anchorCtr="1"/>
          <a:lstStyle/>
          <a:p>
            <a:pPr>
              <a:defRPr sz="1500">
                <a:solidFill>
                  <a:srgbClr val="444444"/>
                </a:solidFill>
                <a:latin typeface="Times New Roman"/>
                <a:ea typeface="Times New Roman"/>
                <a:cs typeface="Times New Roman"/>
              </a:defRPr>
            </a:pPr>
            <a:endParaRPr lang="en-US"/>
          </a:p>
        </c:txPr>
        <c:crossAx val="48672768"/>
        <c:crosses val="autoZero"/>
        <c:crossBetween val="midCat"/>
        <c:majorUnit val="0.2"/>
      </c:valAx>
      <c:spPr>
        <a:solidFill>
          <a:srgbClr val="FFFFFF"/>
        </a:solidFill>
      </c:spPr>
    </c:plotArea>
    <c:plotVisOnly val="1"/>
    <c:dispBlanksAs val="zero"/>
    <c:showDLblsOverMax val="1"/>
  </c:chart>
  <c:spPr>
    <a:solidFill>
      <a:srgbClr val="FFFFFF"/>
    </a:solidFill>
    <a:ln w="0">
      <a:noFill/>
    </a:ln>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scatterChart>
        <c:scatterStyle val="lineMarker"/>
        <c:varyColors val="0"/>
        <c:ser>
          <c:idx val="0"/>
          <c:order val="0"/>
          <c:tx>
            <c:v>No hint</c:v>
          </c:tx>
          <c:spPr>
            <a:ln w="23813">
              <a:solidFill>
                <a:srgbClr val="1D4E89"/>
              </a:solidFill>
              <a:prstDash val="solid"/>
            </a:ln>
          </c:spPr>
          <c:marker>
            <c:symbol val="circle"/>
            <c:size val="8"/>
            <c:spPr>
              <a:solidFill>
                <a:srgbClr val="1D4E89"/>
              </a:solidFill>
            </c:spPr>
          </c:marker>
          <c:xVal>
            <c:numRef>
              <c:f>'Chart Data'!$A$2:$A$4</c:f>
              <c:numCache>
                <c:formatCode>General</c:formatCode>
                <c:ptCount val="3"/>
                <c:pt idx="0">
                  <c:v>7.4358749999999998E-3</c:v>
                </c:pt>
                <c:pt idx="1">
                  <c:v>8.3533510000000002E-3</c:v>
                </c:pt>
                <c:pt idx="2">
                  <c:v>5.1259722000000001E-2</c:v>
                </c:pt>
              </c:numCache>
            </c:numRef>
          </c:xVal>
          <c:yVal>
            <c:numRef>
              <c:f>'Chart Data'!$B$2:$B$4</c:f>
              <c:numCache>
                <c:formatCode>General</c:formatCode>
                <c:ptCount val="3"/>
                <c:pt idx="0">
                  <c:v>0</c:v>
                </c:pt>
                <c:pt idx="1">
                  <c:v>1</c:v>
                </c:pt>
                <c:pt idx="2">
                  <c:v>8</c:v>
                </c:pt>
              </c:numCache>
            </c:numRef>
          </c:yVal>
          <c:smooth val="1"/>
          <c:extLst>
            <c:ext xmlns:c16="http://schemas.microsoft.com/office/drawing/2014/chart" uri="{C3380CC4-5D6E-409C-BE32-E72D297353CC}">
              <c16:uniqueId val="{00000000-AFB4-7043-B803-29D514F27914}"/>
            </c:ext>
          </c:extLst>
        </c:ser>
        <c:ser>
          <c:idx val="1"/>
          <c:order val="1"/>
          <c:tx>
            <c:v>General hint</c:v>
          </c:tx>
          <c:spPr>
            <a:ln w="23813">
              <a:solidFill>
                <a:srgbClr val="B45309"/>
              </a:solidFill>
              <a:prstDash val="solid"/>
            </a:ln>
          </c:spPr>
          <c:marker>
            <c:symbol val="square"/>
            <c:size val="8"/>
            <c:spPr>
              <a:solidFill>
                <a:srgbClr val="B45309"/>
              </a:solidFill>
            </c:spPr>
          </c:marker>
          <c:xVal>
            <c:numRef>
              <c:f>'Chart Data'!$C$2:$C$4</c:f>
              <c:numCache>
                <c:formatCode>General</c:formatCode>
                <c:ptCount val="3"/>
                <c:pt idx="0">
                  <c:v>9.9039260000000004E-3</c:v>
                </c:pt>
                <c:pt idx="1">
                  <c:v>1.0303358E-2</c:v>
                </c:pt>
                <c:pt idx="2">
                  <c:v>1.8158369000000001E-2</c:v>
                </c:pt>
              </c:numCache>
            </c:numRef>
          </c:xVal>
          <c:yVal>
            <c:numRef>
              <c:f>'Chart Data'!$D$2:$D$4</c:f>
              <c:numCache>
                <c:formatCode>General</c:formatCode>
                <c:ptCount val="3"/>
                <c:pt idx="0">
                  <c:v>0</c:v>
                </c:pt>
                <c:pt idx="1">
                  <c:v>1</c:v>
                </c:pt>
                <c:pt idx="2">
                  <c:v>9</c:v>
                </c:pt>
              </c:numCache>
            </c:numRef>
          </c:yVal>
          <c:smooth val="1"/>
          <c:extLst>
            <c:ext xmlns:c16="http://schemas.microsoft.com/office/drawing/2014/chart" uri="{C3380CC4-5D6E-409C-BE32-E72D297353CC}">
              <c16:uniqueId val="{00000001-AFB4-7043-B803-29D514F27914}"/>
            </c:ext>
          </c:extLst>
        </c:ser>
        <c:ser>
          <c:idx val="2"/>
          <c:order val="2"/>
          <c:tx>
            <c:v>Physics hint</c:v>
          </c:tx>
          <c:spPr>
            <a:ln w="23813">
              <a:solidFill>
                <a:srgbClr val="0F766E"/>
              </a:solidFill>
              <a:prstDash val="solid"/>
            </a:ln>
          </c:spPr>
          <c:marker>
            <c:symbol val="triangle"/>
            <c:size val="8"/>
            <c:spPr>
              <a:solidFill>
                <a:srgbClr val="0F766E"/>
              </a:solidFill>
            </c:spPr>
          </c:marker>
          <c:xVal>
            <c:numRef>
              <c:f>'Chart Data'!$E$2:$E$5</c:f>
              <c:numCache>
                <c:formatCode>General</c:formatCode>
                <c:ptCount val="4"/>
                <c:pt idx="0">
                  <c:v>1.0673996E-2</c:v>
                </c:pt>
                <c:pt idx="1">
                  <c:v>1.0990428999999999E-2</c:v>
                </c:pt>
                <c:pt idx="2">
                  <c:v>2.1472143999999999E-2</c:v>
                </c:pt>
                <c:pt idx="3">
                  <c:v>4.5462435000000002E-2</c:v>
                </c:pt>
              </c:numCache>
            </c:numRef>
          </c:xVal>
          <c:yVal>
            <c:numRef>
              <c:f>'Chart Data'!$F$2:$F$5</c:f>
              <c:numCache>
                <c:formatCode>General</c:formatCode>
                <c:ptCount val="4"/>
                <c:pt idx="0">
                  <c:v>3</c:v>
                </c:pt>
                <c:pt idx="1">
                  <c:v>8</c:v>
                </c:pt>
                <c:pt idx="2">
                  <c:v>16</c:v>
                </c:pt>
                <c:pt idx="3">
                  <c:v>30</c:v>
                </c:pt>
              </c:numCache>
            </c:numRef>
          </c:yVal>
          <c:smooth val="1"/>
          <c:extLst>
            <c:ext xmlns:c16="http://schemas.microsoft.com/office/drawing/2014/chart" uri="{C3380CC4-5D6E-409C-BE32-E72D297353CC}">
              <c16:uniqueId val="{00000002-AFB4-7043-B803-29D514F27914}"/>
            </c:ext>
          </c:extLst>
        </c:ser>
        <c:dLbls>
          <c:showLegendKey val="0"/>
          <c:showVal val="0"/>
          <c:showCatName val="0"/>
          <c:showSerName val="0"/>
          <c:showPercent val="0"/>
          <c:showBubbleSize val="0"/>
        </c:dLbls>
        <c:axId val="48650112"/>
        <c:axId val="48672768"/>
      </c:scatterChart>
      <c:valAx>
        <c:axId val="48672768"/>
        <c:scaling>
          <c:orientation val="minMax"/>
          <c:max val="39"/>
          <c:min val="0"/>
        </c:scaling>
        <c:delete val="0"/>
        <c:axPos val="l"/>
        <c:majorGridlines>
          <c:spPr>
            <a:ln w="9525">
              <a:solidFill>
                <a:srgbClr val="D1D5DB"/>
              </a:solidFill>
              <a:prstDash val="solid"/>
            </a:ln>
          </c:spPr>
        </c:majorGridlines>
        <c:title>
          <c:tx>
            <c:rich>
              <a:bodyPr/>
              <a:lstStyle/>
              <a:p>
                <a:r>
                  <a:rPr lang="en-US">
                    <a:latin typeface="Times New Roman"/>
                    <a:ea typeface="Times New Roman"/>
                    <a:cs typeface="Times New Roman"/>
                  </a:rPr>
                  <a:t>Completed passes out of 39</a:t>
                </a:r>
              </a:p>
            </c:rich>
          </c:tx>
          <c:overlay val="0"/>
        </c:title>
        <c:numFmt formatCode="General" sourceLinked="1"/>
        <c:majorTickMark val="none"/>
        <c:minorTickMark val="none"/>
        <c:tickLblPos val="nextTo"/>
        <c:spPr>
          <a:ln w="9525">
            <a:solidFill>
              <a:srgbClr val="D4D4D4"/>
            </a:solidFill>
            <a:prstDash val="solid"/>
          </a:ln>
        </c:spPr>
        <c:txPr>
          <a:bodyPr anchorCtr="1"/>
          <a:lstStyle/>
          <a:p>
            <a:pPr>
              <a:defRPr sz="1500">
                <a:solidFill>
                  <a:srgbClr val="666666"/>
                </a:solidFill>
                <a:latin typeface="Times New Roman"/>
                <a:ea typeface="Times New Roman"/>
                <a:cs typeface="Times New Roman"/>
              </a:defRPr>
            </a:pPr>
            <a:endParaRPr lang="en-US"/>
          </a:p>
        </c:txPr>
        <c:crossAx val="48650112"/>
        <c:crosses val="autoZero"/>
        <c:crossBetween val="midCat"/>
        <c:majorUnit val="10"/>
      </c:valAx>
      <c:valAx>
        <c:axId val="48650112"/>
        <c:scaling>
          <c:orientation val="minMax"/>
          <c:max val="0.06"/>
          <c:min val="0"/>
        </c:scaling>
        <c:delete val="0"/>
        <c:axPos val="b"/>
        <c:title>
          <c:tx>
            <c:rich>
              <a:bodyPr/>
              <a:lstStyle/>
              <a:p>
                <a:r>
                  <a:rPr lang="en-US">
                    <a:latin typeface="Times New Roman"/>
                    <a:ea typeface="Times New Roman"/>
                    <a:cs typeface="Times New Roman"/>
                  </a:rPr>
                  <a:t>Estimated API cost / attempt (USD)</a:t>
                </a:r>
              </a:p>
            </c:rich>
          </c:tx>
          <c:overlay val="0"/>
        </c:title>
        <c:numFmt formatCode="General" sourceLinked="1"/>
        <c:majorTickMark val="none"/>
        <c:minorTickMark val="none"/>
        <c:tickLblPos val="nextTo"/>
        <c:spPr>
          <a:ln w="9525">
            <a:solidFill>
              <a:srgbClr val="D1D5DB"/>
            </a:solidFill>
          </a:ln>
        </c:spPr>
        <c:txPr>
          <a:bodyPr anchorCtr="1"/>
          <a:lstStyle/>
          <a:p>
            <a:pPr>
              <a:defRPr sz="1500">
                <a:solidFill>
                  <a:srgbClr val="666666"/>
                </a:solidFill>
                <a:latin typeface="Times New Roman"/>
                <a:ea typeface="Times New Roman"/>
                <a:cs typeface="Times New Roman"/>
              </a:defRPr>
            </a:pPr>
            <a:endParaRPr lang="en-US"/>
          </a:p>
        </c:txPr>
        <c:crossAx val="48672768"/>
        <c:crosses val="autoZero"/>
        <c:crossBetween val="midCat"/>
        <c:majorUnit val="0.02"/>
      </c:valAx>
      <c:spPr>
        <a:solidFill>
          <a:srgbClr val="FFFFFF"/>
        </a:solidFill>
      </c:spPr>
    </c:plotArea>
    <c:legend>
      <c:legendPos val="b"/>
      <c:overlay val="0"/>
      <c:txPr>
        <a:bodyPr anchorCtr="1"/>
        <a:lstStyle/>
        <a:p>
          <a:pPr>
            <a:defRPr sz="1575">
              <a:latin typeface="Times New Roman"/>
              <a:ea typeface="Times New Roman"/>
              <a:cs typeface="Times New Roman"/>
            </a:defRPr>
          </a:pPr>
          <a:endParaRPr lang="en-US"/>
        </a:p>
      </c:txPr>
    </c:legend>
    <c:plotVisOnly val="1"/>
    <c:dispBlanksAs val="zero"/>
    <c:showDLblsOverMax val="1"/>
  </c:chart>
  <c:spPr>
    <a:solidFill>
      <a:srgbClr val="FFFFFF"/>
    </a:solidFill>
    <a:ln w="0">
      <a:noFill/>
    </a:ln>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scatterChart>
        <c:scatterStyle val="lineMarker"/>
        <c:varyColors val="0"/>
        <c:ser>
          <c:idx val="0"/>
          <c:order val="0"/>
          <c:tx>
            <c:v>No hint</c:v>
          </c:tx>
          <c:spPr>
            <a:ln w="23813">
              <a:solidFill>
                <a:srgbClr val="1D4E89"/>
              </a:solidFill>
              <a:prstDash val="solid"/>
            </a:ln>
          </c:spPr>
          <c:marker>
            <c:symbol val="circle"/>
            <c:size val="9"/>
            <c:spPr>
              <a:solidFill>
                <a:srgbClr val="1D4E89"/>
              </a:solidFill>
            </c:spPr>
          </c:marker>
          <c:dLbls>
            <c:dLbl>
              <c:idx val="0"/>
              <c:tx>
                <c:rich>
                  <a:bodyPr/>
                  <a:lstStyle/>
                  <a:p>
                    <a:r>
                      <a:rPr lang="en-US" sz="1650" b="0">
                        <a:solidFill>
                          <a:srgbClr val="111111"/>
                        </a:solidFill>
                        <a:latin typeface="Times New Roman"/>
                        <a:ea typeface="Times New Roman"/>
                        <a:cs typeface="Times New Roman"/>
                      </a:rPr>
                      <a:t>Terra</a:t>
                    </a:r>
                  </a:p>
                </c:rich>
              </c:tx>
              <c:spPr/>
              <c:dLblPos val="t"/>
              <c:showLegendKey val="1"/>
              <c:showVal val="0"/>
              <c:showCatName val="1"/>
              <c:showSerName val="1"/>
              <c:showPercent val="1"/>
              <c:showBubbleSize val="1"/>
              <c:extLst>
                <c:ext xmlns:c15="http://schemas.microsoft.com/office/drawing/2012/chart" uri="{CE6537A1-D6FC-4f65-9D91-7224C49458BB}">
                  <c15:showDataLabelsRange val="0"/>
                </c:ext>
                <c:ext xmlns:c16="http://schemas.microsoft.com/office/drawing/2014/chart" uri="{C3380CC4-5D6E-409C-BE32-E72D297353CC}">
                  <c16:uniqueId val="{00000000-55E1-EE44-ACD5-D5DE89CC43BF}"/>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xVal>
            <c:numRef>
              <c:f>'Chart Data'!$A$2:$A$2</c:f>
              <c:numCache>
                <c:formatCode>General</c:formatCode>
                <c:ptCount val="1"/>
                <c:pt idx="0">
                  <c:v>0.18675000999999999</c:v>
                </c:pt>
              </c:numCache>
            </c:numRef>
          </c:xVal>
          <c:yVal>
            <c:numRef>
              <c:f>'Chart Data'!$B$2:$B$2</c:f>
              <c:numCache>
                <c:formatCode>General</c:formatCode>
                <c:ptCount val="1"/>
                <c:pt idx="0">
                  <c:v>7</c:v>
                </c:pt>
              </c:numCache>
            </c:numRef>
          </c:yVal>
          <c:smooth val="1"/>
          <c:extLst>
            <c:ext xmlns:c16="http://schemas.microsoft.com/office/drawing/2014/chart" uri="{C3380CC4-5D6E-409C-BE32-E72D297353CC}">
              <c16:uniqueId val="{00000001-55E1-EE44-ACD5-D5DE89CC43BF}"/>
            </c:ext>
          </c:extLst>
        </c:ser>
        <c:ser>
          <c:idx val="1"/>
          <c:order val="1"/>
          <c:tx>
            <c:v>General hint</c:v>
          </c:tx>
          <c:spPr>
            <a:ln w="23813">
              <a:solidFill>
                <a:srgbClr val="B45309"/>
              </a:solidFill>
              <a:prstDash val="solid"/>
            </a:ln>
          </c:spPr>
          <c:marker>
            <c:symbol val="square"/>
            <c:size val="9"/>
            <c:spPr>
              <a:solidFill>
                <a:srgbClr val="B45309"/>
              </a:solidFill>
            </c:spPr>
          </c:marker>
          <c:dLbls>
            <c:dLbl>
              <c:idx val="0"/>
              <c:tx>
                <c:rich>
                  <a:bodyPr/>
                  <a:lstStyle/>
                  <a:p>
                    <a:r>
                      <a:rPr lang="en-US" sz="1650" b="0">
                        <a:solidFill>
                          <a:srgbClr val="111111"/>
                        </a:solidFill>
                        <a:latin typeface="Times New Roman"/>
                        <a:ea typeface="Times New Roman"/>
                        <a:cs typeface="Times New Roman"/>
                      </a:rPr>
                      <a:t>Luna</a:t>
                    </a:r>
                  </a:p>
                </c:rich>
              </c:tx>
              <c:spPr/>
              <c:dLblPos val="t"/>
              <c:showLegendKey val="1"/>
              <c:showVal val="0"/>
              <c:showCatName val="1"/>
              <c:showSerName val="1"/>
              <c:showPercent val="1"/>
              <c:showBubbleSize val="1"/>
              <c:extLst>
                <c:ext xmlns:c15="http://schemas.microsoft.com/office/drawing/2012/chart" uri="{CE6537A1-D6FC-4f65-9D91-7224C49458BB}">
                  <c15:showDataLabelsRange val="0"/>
                </c:ext>
                <c:ext xmlns:c16="http://schemas.microsoft.com/office/drawing/2014/chart" uri="{C3380CC4-5D6E-409C-BE32-E72D297353CC}">
                  <c16:uniqueId val="{00000002-55E1-EE44-ACD5-D5DE89CC43BF}"/>
                </c:ext>
              </c:extLst>
            </c:dLbl>
            <c:dLbl>
              <c:idx val="1"/>
              <c:tx>
                <c:rich>
                  <a:bodyPr/>
                  <a:lstStyle/>
                  <a:p>
                    <a:r>
                      <a:rPr lang="en-US" sz="1650" b="0">
                        <a:solidFill>
                          <a:srgbClr val="111111"/>
                        </a:solidFill>
                        <a:latin typeface="Times New Roman"/>
                        <a:ea typeface="Times New Roman"/>
                        <a:cs typeface="Times New Roman"/>
                      </a:rPr>
                      <a:t>Terra</a:t>
                    </a:r>
                  </a:p>
                </c:rich>
              </c:tx>
              <c:spPr/>
              <c:dLblPos val="t"/>
              <c:showLegendKey val="1"/>
              <c:showVal val="0"/>
              <c:showCatName val="1"/>
              <c:showSerName val="1"/>
              <c:showPercent val="1"/>
              <c:showBubbleSize val="1"/>
              <c:extLst>
                <c:ext xmlns:c15="http://schemas.microsoft.com/office/drawing/2012/chart" uri="{CE6537A1-D6FC-4f65-9D91-7224C49458BB}">
                  <c15:showDataLabelsRange val="0"/>
                </c:ext>
                <c:ext xmlns:c16="http://schemas.microsoft.com/office/drawing/2014/chart" uri="{C3380CC4-5D6E-409C-BE32-E72D297353CC}">
                  <c16:uniqueId val="{00000003-55E1-EE44-ACD5-D5DE89CC43BF}"/>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xVal>
            <c:numRef>
              <c:f>'Chart Data'!$C$2:$C$3</c:f>
              <c:numCache>
                <c:formatCode>General</c:formatCode>
                <c:ptCount val="2"/>
                <c:pt idx="0">
                  <c:v>2.9077464000000001E-2</c:v>
                </c:pt>
                <c:pt idx="1">
                  <c:v>0.239176308</c:v>
                </c:pt>
              </c:numCache>
            </c:numRef>
          </c:xVal>
          <c:yVal>
            <c:numRef>
              <c:f>'Chart Data'!$D$2:$D$3</c:f>
              <c:numCache>
                <c:formatCode>General</c:formatCode>
                <c:ptCount val="2"/>
                <c:pt idx="0">
                  <c:v>7</c:v>
                </c:pt>
                <c:pt idx="1">
                  <c:v>13</c:v>
                </c:pt>
              </c:numCache>
            </c:numRef>
          </c:yVal>
          <c:smooth val="1"/>
          <c:extLst>
            <c:ext xmlns:c16="http://schemas.microsoft.com/office/drawing/2014/chart" uri="{C3380CC4-5D6E-409C-BE32-E72D297353CC}">
              <c16:uniqueId val="{00000004-55E1-EE44-ACD5-D5DE89CC43BF}"/>
            </c:ext>
          </c:extLst>
        </c:ser>
        <c:ser>
          <c:idx val="2"/>
          <c:order val="2"/>
          <c:tx>
            <c:v>Physics hint</c:v>
          </c:tx>
          <c:spPr>
            <a:ln w="23813">
              <a:solidFill>
                <a:srgbClr val="0F766E"/>
              </a:solidFill>
              <a:prstDash val="solid"/>
            </a:ln>
          </c:spPr>
          <c:marker>
            <c:symbol val="triangle"/>
            <c:size val="9"/>
            <c:spPr>
              <a:solidFill>
                <a:srgbClr val="0F766E"/>
              </a:solidFill>
            </c:spPr>
          </c:marker>
          <c:dLbls>
            <c:dLbl>
              <c:idx val="0"/>
              <c:tx>
                <c:rich>
                  <a:bodyPr/>
                  <a:lstStyle/>
                  <a:p>
                    <a:r>
                      <a:rPr lang="en-US" sz="1650" b="0">
                        <a:solidFill>
                          <a:srgbClr val="111111"/>
                        </a:solidFill>
                        <a:latin typeface="Times New Roman"/>
                        <a:ea typeface="Times New Roman"/>
                        <a:cs typeface="Times New Roman"/>
                      </a:rPr>
                      <a:t>Terra</a:t>
                    </a:r>
                  </a:p>
                </c:rich>
              </c:tx>
              <c:spPr/>
              <c:dLblPos val="l"/>
              <c:showLegendKey val="1"/>
              <c:showVal val="0"/>
              <c:showCatName val="1"/>
              <c:showSerName val="1"/>
              <c:showPercent val="1"/>
              <c:showBubbleSize val="1"/>
              <c:extLst>
                <c:ext xmlns:c15="http://schemas.microsoft.com/office/drawing/2012/chart" uri="{CE6537A1-D6FC-4f65-9D91-7224C49458BB}">
                  <c15:showDataLabelsRange val="0"/>
                </c:ext>
                <c:ext xmlns:c16="http://schemas.microsoft.com/office/drawing/2014/chart" uri="{C3380CC4-5D6E-409C-BE32-E72D297353CC}">
                  <c16:uniqueId val="{00000005-55E1-EE44-ACD5-D5DE89CC43BF}"/>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xVal>
            <c:numRef>
              <c:f>'Chart Data'!$E$2:$E$2</c:f>
              <c:numCache>
                <c:formatCode>General</c:formatCode>
                <c:ptCount val="1"/>
                <c:pt idx="0">
                  <c:v>0.26700234900000003</c:v>
                </c:pt>
              </c:numCache>
            </c:numRef>
          </c:xVal>
          <c:yVal>
            <c:numRef>
              <c:f>'Chart Data'!$F$2:$F$2</c:f>
              <c:numCache>
                <c:formatCode>General</c:formatCode>
                <c:ptCount val="1"/>
                <c:pt idx="0">
                  <c:v>36</c:v>
                </c:pt>
              </c:numCache>
            </c:numRef>
          </c:yVal>
          <c:smooth val="1"/>
          <c:extLst>
            <c:ext xmlns:c16="http://schemas.microsoft.com/office/drawing/2014/chart" uri="{C3380CC4-5D6E-409C-BE32-E72D297353CC}">
              <c16:uniqueId val="{00000006-55E1-EE44-ACD5-D5DE89CC43BF}"/>
            </c:ext>
          </c:extLst>
        </c:ser>
        <c:dLbls>
          <c:showLegendKey val="0"/>
          <c:showVal val="0"/>
          <c:showCatName val="0"/>
          <c:showSerName val="0"/>
          <c:showPercent val="0"/>
          <c:showBubbleSize val="0"/>
        </c:dLbls>
        <c:axId val="48650112"/>
        <c:axId val="48672768"/>
      </c:scatterChart>
      <c:valAx>
        <c:axId val="48672768"/>
        <c:scaling>
          <c:orientation val="minMax"/>
          <c:max val="39"/>
          <c:min val="0"/>
        </c:scaling>
        <c:delete val="0"/>
        <c:axPos val="l"/>
        <c:majorGridlines>
          <c:spPr>
            <a:ln w="9525">
              <a:solidFill>
                <a:srgbClr val="D1D5DB"/>
              </a:solidFill>
              <a:prstDash val="solid"/>
            </a:ln>
          </c:spPr>
        </c:majorGridlines>
        <c:title>
          <c:tx>
            <c:rich>
              <a:bodyPr/>
              <a:lstStyle/>
              <a:p>
                <a:r>
                  <a:rPr lang="en-US">
                    <a:latin typeface="Times New Roman"/>
                    <a:ea typeface="Times New Roman"/>
                    <a:cs typeface="Times New Roman"/>
                  </a:rPr>
                  <a:t>Completed passes out of 39</a:t>
                </a:r>
              </a:p>
            </c:rich>
          </c:tx>
          <c:overlay val="0"/>
        </c:title>
        <c:numFmt formatCode="General" sourceLinked="1"/>
        <c:majorTickMark val="none"/>
        <c:minorTickMark val="none"/>
        <c:tickLblPos val="nextTo"/>
        <c:spPr>
          <a:ln w="9525">
            <a:solidFill>
              <a:srgbClr val="D4D4D4"/>
            </a:solidFill>
            <a:prstDash val="solid"/>
          </a:ln>
        </c:spPr>
        <c:txPr>
          <a:bodyPr anchorCtr="1"/>
          <a:lstStyle/>
          <a:p>
            <a:pPr>
              <a:defRPr sz="1500">
                <a:solidFill>
                  <a:srgbClr val="666666"/>
                </a:solidFill>
                <a:latin typeface="Times New Roman"/>
                <a:ea typeface="Times New Roman"/>
                <a:cs typeface="Times New Roman"/>
              </a:defRPr>
            </a:pPr>
            <a:endParaRPr lang="en-US"/>
          </a:p>
        </c:txPr>
        <c:crossAx val="48650112"/>
        <c:crosses val="autoZero"/>
        <c:crossBetween val="midCat"/>
        <c:majorUnit val="10"/>
      </c:valAx>
      <c:valAx>
        <c:axId val="48650112"/>
        <c:scaling>
          <c:orientation val="minMax"/>
          <c:max val="0.32"/>
          <c:min val="0"/>
        </c:scaling>
        <c:delete val="0"/>
        <c:axPos val="b"/>
        <c:title>
          <c:tx>
            <c:rich>
              <a:bodyPr/>
              <a:lstStyle/>
              <a:p>
                <a:r>
                  <a:rPr lang="en-US">
                    <a:latin typeface="Times New Roman"/>
                    <a:ea typeface="Times New Roman"/>
                    <a:cs typeface="Times New Roman"/>
                  </a:rPr>
                  <a:t>Estimated API cost / attempt (USD)</a:t>
                </a:r>
              </a:p>
            </c:rich>
          </c:tx>
          <c:overlay val="0"/>
        </c:title>
        <c:numFmt formatCode="General" sourceLinked="1"/>
        <c:majorTickMark val="none"/>
        <c:minorTickMark val="none"/>
        <c:tickLblPos val="nextTo"/>
        <c:spPr>
          <a:ln w="9525">
            <a:solidFill>
              <a:srgbClr val="D1D5DB"/>
            </a:solidFill>
          </a:ln>
        </c:spPr>
        <c:txPr>
          <a:bodyPr anchorCtr="1"/>
          <a:lstStyle/>
          <a:p>
            <a:pPr>
              <a:defRPr sz="1500">
                <a:solidFill>
                  <a:srgbClr val="666666"/>
                </a:solidFill>
                <a:latin typeface="Times New Roman"/>
                <a:ea typeface="Times New Roman"/>
                <a:cs typeface="Times New Roman"/>
              </a:defRPr>
            </a:pPr>
            <a:endParaRPr lang="en-US"/>
          </a:p>
        </c:txPr>
        <c:crossAx val="48672768"/>
        <c:crosses val="autoZero"/>
        <c:crossBetween val="midCat"/>
        <c:majorUnit val="0.08"/>
      </c:valAx>
      <c:spPr>
        <a:solidFill>
          <a:srgbClr val="FFFFFF"/>
        </a:solidFill>
      </c:spPr>
    </c:plotArea>
    <c:legend>
      <c:legendPos val="b"/>
      <c:overlay val="0"/>
      <c:txPr>
        <a:bodyPr anchorCtr="1"/>
        <a:lstStyle/>
        <a:p>
          <a:pPr>
            <a:defRPr sz="1650">
              <a:latin typeface="Times New Roman"/>
              <a:ea typeface="Times New Roman"/>
              <a:cs typeface="Times New Roman"/>
            </a:defRPr>
          </a:pPr>
          <a:endParaRPr lang="en-US"/>
        </a:p>
      </c:txPr>
    </c:legend>
    <c:plotVisOnly val="1"/>
    <c:dispBlanksAs val="zero"/>
    <c:showDLblsOverMax val="1"/>
  </c:chart>
  <c:spPr>
    <a:solidFill>
      <a:srgbClr val="FFFFFF"/>
    </a:solidFill>
    <a:ln w="0">
      <a:noFill/>
    </a:ln>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barChart>
        <c:barDir val="col"/>
        <c:grouping val="clustered"/>
        <c:varyColors val="0"/>
        <c:ser>
          <c:idx val="0"/>
          <c:order val="0"/>
          <c:tx>
            <c:v>No hint</c:v>
          </c:tx>
          <c:spPr>
            <a:solidFill>
              <a:srgbClr val="1D4E89"/>
            </a:solidFill>
            <a:ln w="0">
              <a:noFill/>
            </a:ln>
          </c:spPr>
          <c:invertIfNegative val="0"/>
          <c:dLbls>
            <c:spPr>
              <a:noFill/>
              <a:ln>
                <a:noFill/>
              </a:ln>
              <a:effectLst/>
            </c:spPr>
            <c:txPr>
              <a:bodyPr anchorCtr="1"/>
              <a:lstStyle/>
              <a:p>
                <a:pPr>
                  <a:defRPr sz="1575" b="1">
                    <a:latin typeface="Times New Roman"/>
                    <a:ea typeface="Times New Roman"/>
                    <a:cs typeface="Times New Roman"/>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Data'!$A$2:$A$7</c:f>
              <c:strCache>
                <c:ptCount val="6"/>
                <c:pt idx="0">
                  <c:v>None</c:v>
                </c:pt>
                <c:pt idx="1">
                  <c:v>Low</c:v>
                </c:pt>
                <c:pt idx="2">
                  <c:v>Medium</c:v>
                </c:pt>
                <c:pt idx="3">
                  <c:v>High</c:v>
                </c:pt>
                <c:pt idx="4">
                  <c:v>Extra High</c:v>
                </c:pt>
                <c:pt idx="5">
                  <c:v>Max</c:v>
                </c:pt>
              </c:strCache>
            </c:strRef>
          </c:cat>
          <c:val>
            <c:numRef>
              <c:f>'Chart Data'!$B$2:$B$7</c:f>
              <c:numCache>
                <c:formatCode>General</c:formatCode>
                <c:ptCount val="6"/>
                <c:pt idx="0">
                  <c:v>1</c:v>
                </c:pt>
                <c:pt idx="1">
                  <c:v>0</c:v>
                </c:pt>
                <c:pt idx="2">
                  <c:v>0</c:v>
                </c:pt>
                <c:pt idx="3">
                  <c:v>4</c:v>
                </c:pt>
                <c:pt idx="4">
                  <c:v>6</c:v>
                </c:pt>
                <c:pt idx="5">
                  <c:v>8</c:v>
                </c:pt>
              </c:numCache>
            </c:numRef>
          </c:val>
          <c:extLst>
            <c:ext xmlns:c16="http://schemas.microsoft.com/office/drawing/2014/chart" uri="{C3380CC4-5D6E-409C-BE32-E72D297353CC}">
              <c16:uniqueId val="{00000000-0098-2641-9419-B1402CD51B9C}"/>
            </c:ext>
          </c:extLst>
        </c:ser>
        <c:ser>
          <c:idx val="1"/>
          <c:order val="1"/>
          <c:tx>
            <c:v>General hint</c:v>
          </c:tx>
          <c:spPr>
            <a:solidFill>
              <a:srgbClr val="B45309"/>
            </a:solidFill>
            <a:ln w="0">
              <a:noFill/>
            </a:ln>
          </c:spPr>
          <c:invertIfNegative val="0"/>
          <c:dLbls>
            <c:spPr>
              <a:noFill/>
              <a:ln>
                <a:noFill/>
              </a:ln>
              <a:effectLst/>
            </c:spPr>
            <c:txPr>
              <a:bodyPr anchorCtr="1"/>
              <a:lstStyle/>
              <a:p>
                <a:pPr>
                  <a:defRPr sz="1575" b="1">
                    <a:latin typeface="Times New Roman"/>
                    <a:ea typeface="Times New Roman"/>
                    <a:cs typeface="Times New Roman"/>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Data'!$C$2:$C$7</c:f>
              <c:strCache>
                <c:ptCount val="6"/>
                <c:pt idx="0">
                  <c:v>None</c:v>
                </c:pt>
                <c:pt idx="1">
                  <c:v>Low</c:v>
                </c:pt>
                <c:pt idx="2">
                  <c:v>Medium</c:v>
                </c:pt>
                <c:pt idx="3">
                  <c:v>High</c:v>
                </c:pt>
                <c:pt idx="4">
                  <c:v>Extra High</c:v>
                </c:pt>
                <c:pt idx="5">
                  <c:v>Max</c:v>
                </c:pt>
              </c:strCache>
            </c:strRef>
          </c:cat>
          <c:val>
            <c:numRef>
              <c:f>'Chart Data'!$D$2:$D$7</c:f>
              <c:numCache>
                <c:formatCode>General</c:formatCode>
                <c:ptCount val="6"/>
                <c:pt idx="0">
                  <c:v>1</c:v>
                </c:pt>
                <c:pt idx="1">
                  <c:v>0</c:v>
                </c:pt>
                <c:pt idx="2">
                  <c:v>9</c:v>
                </c:pt>
                <c:pt idx="3">
                  <c:v>18</c:v>
                </c:pt>
                <c:pt idx="4">
                  <c:v>22</c:v>
                </c:pt>
                <c:pt idx="5">
                  <c:v>27</c:v>
                </c:pt>
              </c:numCache>
            </c:numRef>
          </c:val>
          <c:extLst>
            <c:ext xmlns:c16="http://schemas.microsoft.com/office/drawing/2014/chart" uri="{C3380CC4-5D6E-409C-BE32-E72D297353CC}">
              <c16:uniqueId val="{00000001-0098-2641-9419-B1402CD51B9C}"/>
            </c:ext>
          </c:extLst>
        </c:ser>
        <c:ser>
          <c:idx val="2"/>
          <c:order val="2"/>
          <c:tx>
            <c:v>Physics hint</c:v>
          </c:tx>
          <c:spPr>
            <a:solidFill>
              <a:srgbClr val="0F766E"/>
            </a:solidFill>
            <a:ln w="0">
              <a:noFill/>
            </a:ln>
          </c:spPr>
          <c:invertIfNegative val="0"/>
          <c:dLbls>
            <c:spPr>
              <a:noFill/>
              <a:ln>
                <a:noFill/>
              </a:ln>
              <a:effectLst/>
            </c:spPr>
            <c:txPr>
              <a:bodyPr anchorCtr="1"/>
              <a:lstStyle/>
              <a:p>
                <a:pPr>
                  <a:defRPr sz="1575" b="1">
                    <a:latin typeface="Times New Roman"/>
                    <a:ea typeface="Times New Roman"/>
                    <a:cs typeface="Times New Roman"/>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Data'!$E$2:$E$7</c:f>
              <c:strCache>
                <c:ptCount val="6"/>
                <c:pt idx="0">
                  <c:v>None</c:v>
                </c:pt>
                <c:pt idx="1">
                  <c:v>Low</c:v>
                </c:pt>
                <c:pt idx="2">
                  <c:v>Medium</c:v>
                </c:pt>
                <c:pt idx="3">
                  <c:v>High</c:v>
                </c:pt>
                <c:pt idx="4">
                  <c:v>Extra High</c:v>
                </c:pt>
                <c:pt idx="5">
                  <c:v>Max</c:v>
                </c:pt>
              </c:strCache>
            </c:strRef>
          </c:cat>
          <c:val>
            <c:numRef>
              <c:f>'Chart Data'!$F$2:$F$7</c:f>
              <c:numCache>
                <c:formatCode>General</c:formatCode>
                <c:ptCount val="6"/>
                <c:pt idx="0">
                  <c:v>3</c:v>
                </c:pt>
                <c:pt idx="1">
                  <c:v>8</c:v>
                </c:pt>
                <c:pt idx="2">
                  <c:v>16</c:v>
                </c:pt>
                <c:pt idx="3">
                  <c:v>30</c:v>
                </c:pt>
                <c:pt idx="4">
                  <c:v>33</c:v>
                </c:pt>
                <c:pt idx="5">
                  <c:v>35</c:v>
                </c:pt>
              </c:numCache>
            </c:numRef>
          </c:val>
          <c:extLst>
            <c:ext xmlns:c16="http://schemas.microsoft.com/office/drawing/2014/chart" uri="{C3380CC4-5D6E-409C-BE32-E72D297353CC}">
              <c16:uniqueId val="{00000002-0098-2641-9419-B1402CD51B9C}"/>
            </c:ext>
          </c:extLst>
        </c:ser>
        <c:dLbls>
          <c:dLblPos val="outEnd"/>
          <c:showLegendKey val="0"/>
          <c:showVal val="1"/>
          <c:showCatName val="0"/>
          <c:showSerName val="0"/>
          <c:showPercent val="0"/>
          <c:showBubbleSize val="0"/>
        </c:dLbls>
        <c:gapWidth val="65"/>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D1D5DB"/>
            </a:solidFill>
          </a:ln>
        </c:spPr>
        <c:txPr>
          <a:bodyPr anchorCtr="1"/>
          <a:lstStyle/>
          <a:p>
            <a:pPr>
              <a:defRPr sz="1725">
                <a:solidFill>
                  <a:srgbClr val="666666"/>
                </a:solidFill>
                <a:latin typeface="Times New Roman"/>
                <a:ea typeface="Times New Roman"/>
                <a:cs typeface="Times New Roman"/>
              </a:defRPr>
            </a:pPr>
            <a:endParaRPr lang="en-US"/>
          </a:p>
        </c:txPr>
        <c:crossAx val="48672768"/>
        <c:crosses val="autoZero"/>
        <c:auto val="1"/>
        <c:lblAlgn val="ctr"/>
        <c:lblOffset val="100"/>
        <c:noMultiLvlLbl val="1"/>
      </c:catAx>
      <c:valAx>
        <c:axId val="48672768"/>
        <c:scaling>
          <c:orientation val="minMax"/>
          <c:max val="39"/>
          <c:min val="0"/>
        </c:scaling>
        <c:delete val="0"/>
        <c:axPos val="l"/>
        <c:majorGridlines>
          <c:spPr>
            <a:ln w="9525">
              <a:solidFill>
                <a:srgbClr val="D1D5DB"/>
              </a:solidFill>
              <a:prstDash val="solid"/>
            </a:ln>
          </c:spPr>
        </c:majorGridlines>
        <c:title>
          <c:tx>
            <c:rich>
              <a:bodyPr/>
              <a:lstStyle/>
              <a:p>
                <a:r>
                  <a:rPr lang="en-US">
                    <a:latin typeface="Times New Roman"/>
                    <a:ea typeface="Times New Roman"/>
                    <a:cs typeface="Times New Roman"/>
                  </a:rPr>
                  <a:t>Completed passes out of 39</a:t>
                </a:r>
              </a:p>
            </c:rich>
          </c:tx>
          <c:overlay val="0"/>
        </c:title>
        <c:numFmt formatCode="General" sourceLinked="1"/>
        <c:majorTickMark val="none"/>
        <c:minorTickMark val="none"/>
        <c:tickLblPos val="nextTo"/>
        <c:spPr>
          <a:ln w="9525">
            <a:solidFill>
              <a:srgbClr val="D4D4D4"/>
            </a:solidFill>
            <a:prstDash val="solid"/>
          </a:ln>
        </c:spPr>
        <c:txPr>
          <a:bodyPr anchorCtr="1"/>
          <a:lstStyle/>
          <a:p>
            <a:pPr>
              <a:defRPr sz="1575">
                <a:solidFill>
                  <a:srgbClr val="666666"/>
                </a:solidFill>
                <a:latin typeface="Times New Roman"/>
                <a:ea typeface="Times New Roman"/>
                <a:cs typeface="Times New Roman"/>
              </a:defRPr>
            </a:pPr>
            <a:endParaRPr lang="en-US"/>
          </a:p>
        </c:txPr>
        <c:crossAx val="48650112"/>
        <c:crosses val="autoZero"/>
        <c:crossBetween val="between"/>
        <c:majorUnit val="10"/>
      </c:valAx>
      <c:spPr>
        <a:solidFill>
          <a:srgbClr val="FFFFFF"/>
        </a:solidFill>
      </c:spPr>
    </c:plotArea>
    <c:legend>
      <c:legendPos val="b"/>
      <c:overlay val="0"/>
      <c:txPr>
        <a:bodyPr anchorCtr="1"/>
        <a:lstStyle/>
        <a:p>
          <a:pPr>
            <a:defRPr sz="1725">
              <a:latin typeface="Times New Roman"/>
              <a:ea typeface="Times New Roman"/>
              <a:cs typeface="Times New Roman"/>
            </a:defRPr>
          </a:pPr>
          <a:endParaRPr lang="en-US"/>
        </a:p>
      </c:txPr>
    </c:legend>
    <c:plotVisOnly val="1"/>
    <c:dispBlanksAs val="zero"/>
    <c:showDLblsOverMax val="1"/>
  </c:chart>
  <c:spPr>
    <a:solidFill>
      <a:srgbClr val="FFFFFF"/>
    </a:solidFill>
    <a:ln w="0">
      <a:noFill/>
    </a:ln>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barChart>
        <c:barDir val="bar"/>
        <c:grouping val="stacked"/>
        <c:varyColors val="0"/>
        <c:ser>
          <c:idx val="0"/>
          <c:order val="0"/>
          <c:tx>
            <c:v>Completed pass</c:v>
          </c:tx>
          <c:spPr>
            <a:solidFill>
              <a:srgbClr val="0F766E"/>
            </a:solidFill>
          </c:spPr>
          <c:invertIfNegative val="0"/>
          <c:cat>
            <c:strRef>
              <c:f>'Chart Data'!$A$2:$A$6</c:f>
              <c:strCache>
                <c:ptCount val="5"/>
                <c:pt idx="0">
                  <c:v>Luna 6</c:v>
                </c:pt>
                <c:pt idx="1">
                  <c:v>Terra 5.6</c:v>
                </c:pt>
                <c:pt idx="2">
                  <c:v>DeepSeek</c:v>
                </c:pt>
                <c:pt idx="3">
                  <c:v>Sol 6</c:v>
                </c:pt>
                <c:pt idx="4">
                  <c:v>Astra 6</c:v>
                </c:pt>
              </c:strCache>
            </c:strRef>
          </c:cat>
          <c:val>
            <c:numRef>
              <c:f>'Chart Data'!$B$2:$B$6</c:f>
              <c:numCache>
                <c:formatCode>General</c:formatCode>
                <c:ptCount val="5"/>
                <c:pt idx="0">
                  <c:v>17</c:v>
                </c:pt>
                <c:pt idx="1">
                  <c:v>32</c:v>
                </c:pt>
                <c:pt idx="2">
                  <c:v>0</c:v>
                </c:pt>
                <c:pt idx="3">
                  <c:v>115</c:v>
                </c:pt>
                <c:pt idx="4">
                  <c:v>115</c:v>
                </c:pt>
              </c:numCache>
            </c:numRef>
          </c:val>
          <c:extLst>
            <c:ext xmlns:c16="http://schemas.microsoft.com/office/drawing/2014/chart" uri="{C3380CC4-5D6E-409C-BE32-E72D297353CC}">
              <c16:uniqueId val="{00000000-A255-8C42-A7E6-EB4EFD00657E}"/>
            </c:ext>
          </c:extLst>
        </c:ser>
        <c:ser>
          <c:idx val="1"/>
          <c:order val="1"/>
          <c:tx>
            <c:v>Prediction only</c:v>
          </c:tx>
          <c:spPr>
            <a:solidFill>
              <a:srgbClr val="B45309"/>
            </a:solidFill>
          </c:spPr>
          <c:invertIfNegative val="0"/>
          <c:cat>
            <c:strRef>
              <c:f>'Chart Data'!$C$2:$C$6</c:f>
              <c:strCache>
                <c:ptCount val="5"/>
                <c:pt idx="0">
                  <c:v>Luna 6</c:v>
                </c:pt>
                <c:pt idx="1">
                  <c:v>Terra 5.6</c:v>
                </c:pt>
                <c:pt idx="2">
                  <c:v>DeepSeek</c:v>
                </c:pt>
                <c:pt idx="3">
                  <c:v>Sol 6</c:v>
                </c:pt>
                <c:pt idx="4">
                  <c:v>Astra 6</c:v>
                </c:pt>
              </c:strCache>
            </c:strRef>
          </c:cat>
          <c:val>
            <c:numRef>
              <c:f>'Chart Data'!$D$2:$D$6</c:f>
              <c:numCache>
                <c:formatCode>General</c:formatCode>
                <c:ptCount val="5"/>
                <c:pt idx="0">
                  <c:v>91</c:v>
                </c:pt>
                <c:pt idx="1">
                  <c:v>81</c:v>
                </c:pt>
                <c:pt idx="2">
                  <c:v>12</c:v>
                </c:pt>
                <c:pt idx="3">
                  <c:v>2</c:v>
                </c:pt>
                <c:pt idx="4">
                  <c:v>0</c:v>
                </c:pt>
              </c:numCache>
            </c:numRef>
          </c:val>
          <c:extLst>
            <c:ext xmlns:c16="http://schemas.microsoft.com/office/drawing/2014/chart" uri="{C3380CC4-5D6E-409C-BE32-E72D297353CC}">
              <c16:uniqueId val="{00000001-A255-8C42-A7E6-EB4EFD00657E}"/>
            </c:ext>
          </c:extLst>
        </c:ser>
        <c:ser>
          <c:idx val="2"/>
          <c:order val="2"/>
          <c:tx>
            <c:v>Other grading</c:v>
          </c:tx>
          <c:spPr>
            <a:solidFill>
              <a:srgbClr val="5B4B7C"/>
            </a:solidFill>
          </c:spPr>
          <c:invertIfNegative val="0"/>
          <c:cat>
            <c:strRef>
              <c:f>'Chart Data'!$E$2:$E$6</c:f>
              <c:strCache>
                <c:ptCount val="5"/>
                <c:pt idx="0">
                  <c:v>Luna 6</c:v>
                </c:pt>
                <c:pt idx="1">
                  <c:v>Terra 5.6</c:v>
                </c:pt>
                <c:pt idx="2">
                  <c:v>DeepSeek</c:v>
                </c:pt>
                <c:pt idx="3">
                  <c:v>Sol 6</c:v>
                </c:pt>
                <c:pt idx="4">
                  <c:v>Astra 6</c:v>
                </c:pt>
              </c:strCache>
            </c:strRef>
          </c:cat>
          <c:val>
            <c:numRef>
              <c:f>'Chart Data'!$F$2:$F$6</c:f>
              <c:numCache>
                <c:formatCode>General</c:formatCode>
                <c:ptCount val="5"/>
                <c:pt idx="0">
                  <c:v>5</c:v>
                </c:pt>
                <c:pt idx="1">
                  <c:v>0</c:v>
                </c:pt>
                <c:pt idx="2">
                  <c:v>0</c:v>
                </c:pt>
                <c:pt idx="3">
                  <c:v>0</c:v>
                </c:pt>
                <c:pt idx="4">
                  <c:v>0</c:v>
                </c:pt>
              </c:numCache>
            </c:numRef>
          </c:val>
          <c:extLst>
            <c:ext xmlns:c16="http://schemas.microsoft.com/office/drawing/2014/chart" uri="{C3380CC4-5D6E-409C-BE32-E72D297353CC}">
              <c16:uniqueId val="{00000002-A255-8C42-A7E6-EB4EFD00657E}"/>
            </c:ext>
          </c:extLst>
        </c:ser>
        <c:ser>
          <c:idx val="3"/>
          <c:order val="3"/>
          <c:tx>
            <c:v>Timeout</c:v>
          </c:tx>
          <c:spPr>
            <a:solidFill>
              <a:srgbClr val="A50026"/>
            </a:solidFill>
          </c:spPr>
          <c:invertIfNegative val="0"/>
          <c:cat>
            <c:strRef>
              <c:f>'Chart Data'!$G$2:$G$6</c:f>
              <c:strCache>
                <c:ptCount val="5"/>
                <c:pt idx="0">
                  <c:v>Luna 6</c:v>
                </c:pt>
                <c:pt idx="1">
                  <c:v>Terra 5.6</c:v>
                </c:pt>
                <c:pt idx="2">
                  <c:v>DeepSeek</c:v>
                </c:pt>
                <c:pt idx="3">
                  <c:v>Sol 6</c:v>
                </c:pt>
                <c:pt idx="4">
                  <c:v>Astra 6</c:v>
                </c:pt>
              </c:strCache>
            </c:strRef>
          </c:cat>
          <c:val>
            <c:numRef>
              <c:f>'Chart Data'!$H$2:$H$6</c:f>
              <c:numCache>
                <c:formatCode>General</c:formatCode>
                <c:ptCount val="5"/>
                <c:pt idx="0">
                  <c:v>2</c:v>
                </c:pt>
                <c:pt idx="1">
                  <c:v>4</c:v>
                </c:pt>
                <c:pt idx="2">
                  <c:v>83</c:v>
                </c:pt>
                <c:pt idx="3">
                  <c:v>0</c:v>
                </c:pt>
                <c:pt idx="4">
                  <c:v>2</c:v>
                </c:pt>
              </c:numCache>
            </c:numRef>
          </c:val>
          <c:extLst>
            <c:ext xmlns:c16="http://schemas.microsoft.com/office/drawing/2014/chart" uri="{C3380CC4-5D6E-409C-BE32-E72D297353CC}">
              <c16:uniqueId val="{00000003-A255-8C42-A7E6-EB4EFD00657E}"/>
            </c:ext>
          </c:extLst>
        </c:ser>
        <c:ser>
          <c:idx val="4"/>
          <c:order val="4"/>
          <c:tx>
            <c:v>Other execution</c:v>
          </c:tx>
          <c:spPr>
            <a:solidFill>
              <a:srgbClr val="AFB6BC"/>
            </a:solidFill>
          </c:spPr>
          <c:invertIfNegative val="0"/>
          <c:cat>
            <c:strRef>
              <c:f>'Chart Data'!$I$2:$I$6</c:f>
              <c:strCache>
                <c:ptCount val="5"/>
                <c:pt idx="0">
                  <c:v>Luna 6</c:v>
                </c:pt>
                <c:pt idx="1">
                  <c:v>Terra 5.6</c:v>
                </c:pt>
                <c:pt idx="2">
                  <c:v>DeepSeek</c:v>
                </c:pt>
                <c:pt idx="3">
                  <c:v>Sol 6</c:v>
                </c:pt>
                <c:pt idx="4">
                  <c:v>Astra 6</c:v>
                </c:pt>
              </c:strCache>
            </c:strRef>
          </c:cat>
          <c:val>
            <c:numRef>
              <c:f>'Chart Data'!$J$2:$J$6</c:f>
              <c:numCache>
                <c:formatCode>General</c:formatCode>
                <c:ptCount val="5"/>
                <c:pt idx="0">
                  <c:v>2</c:v>
                </c:pt>
                <c:pt idx="1">
                  <c:v>0</c:v>
                </c:pt>
                <c:pt idx="2">
                  <c:v>22</c:v>
                </c:pt>
                <c:pt idx="3">
                  <c:v>0</c:v>
                </c:pt>
                <c:pt idx="4">
                  <c:v>0</c:v>
                </c:pt>
              </c:numCache>
            </c:numRef>
          </c:val>
          <c:extLst>
            <c:ext xmlns:c16="http://schemas.microsoft.com/office/drawing/2014/chart" uri="{C3380CC4-5D6E-409C-BE32-E72D297353CC}">
              <c16:uniqueId val="{00000004-A255-8C42-A7E6-EB4EFD00657E}"/>
            </c:ext>
          </c:extLst>
        </c:ser>
        <c:dLbls>
          <c:showLegendKey val="0"/>
          <c:showVal val="0"/>
          <c:showCatName val="0"/>
          <c:showSerName val="0"/>
          <c:showPercent val="0"/>
          <c:showBubbleSize val="0"/>
        </c:dLbls>
        <c:gapWidth val="55"/>
        <c:overlap val="100"/>
        <c:axId val="48650112"/>
        <c:axId val="48672768"/>
      </c:barChart>
      <c:catAx>
        <c:axId val="48650112"/>
        <c:scaling>
          <c:orientation val="minMax"/>
        </c:scaling>
        <c:delete val="0"/>
        <c:axPos val="l"/>
        <c:numFmt formatCode="General" sourceLinked="1"/>
        <c:majorTickMark val="none"/>
        <c:minorTickMark val="none"/>
        <c:tickLblPos val="nextTo"/>
        <c:spPr>
          <a:ln w="9525">
            <a:solidFill>
              <a:srgbClr val="D4D4D4"/>
            </a:solidFill>
            <a:prstDash val="solid"/>
          </a:ln>
        </c:spPr>
        <c:txPr>
          <a:bodyPr anchorCtr="1"/>
          <a:lstStyle/>
          <a:p>
            <a:pPr>
              <a:defRPr sz="1575">
                <a:solidFill>
                  <a:srgbClr val="444444"/>
                </a:solidFill>
                <a:latin typeface="Times New Roman"/>
                <a:ea typeface="Times New Roman"/>
                <a:cs typeface="Times New Roman"/>
              </a:defRPr>
            </a:pPr>
            <a:endParaRPr lang="en-US"/>
          </a:p>
        </c:txPr>
        <c:crossAx val="48672768"/>
        <c:crosses val="autoZero"/>
        <c:auto val="1"/>
        <c:lblAlgn val="ctr"/>
        <c:lblOffset val="100"/>
        <c:noMultiLvlLbl val="1"/>
      </c:catAx>
      <c:valAx>
        <c:axId val="48672768"/>
        <c:scaling>
          <c:orientation val="minMax"/>
          <c:max val="117"/>
          <c:min val="0"/>
        </c:scaling>
        <c:delete val="0"/>
        <c:axPos val="b"/>
        <c:majorGridlines>
          <c:spPr>
            <a:ln w="6668">
              <a:solidFill>
                <a:srgbClr val="D1D5DB"/>
              </a:solidFill>
              <a:prstDash val="solid"/>
            </a:ln>
          </c:spPr>
        </c:majorGridlines>
        <c:title>
          <c:tx>
            <c:rich>
              <a:bodyPr/>
              <a:lstStyle/>
              <a:p>
                <a:r>
                  <a:rPr lang="en-US" sz="1575">
                    <a:solidFill>
                      <a:srgbClr val="444444"/>
                    </a:solidFill>
                    <a:latin typeface="Times New Roman"/>
                    <a:ea typeface="Times New Roman"/>
                    <a:cs typeface="Times New Roman"/>
                  </a:rPr>
                  <a:t>Attempts across three effort settings</a:t>
                </a:r>
              </a:p>
            </c:rich>
          </c:tx>
          <c:overlay val="0"/>
        </c:title>
        <c:numFmt formatCode="General" sourceLinked="1"/>
        <c:majorTickMark val="none"/>
        <c:minorTickMark val="none"/>
        <c:tickLblPos val="nextTo"/>
        <c:spPr>
          <a:ln w="9525">
            <a:solidFill>
              <a:srgbClr val="D4D4D4"/>
            </a:solidFill>
            <a:prstDash val="solid"/>
          </a:ln>
        </c:spPr>
        <c:txPr>
          <a:bodyPr anchorCtr="1"/>
          <a:lstStyle/>
          <a:p>
            <a:pPr>
              <a:defRPr sz="1575">
                <a:solidFill>
                  <a:srgbClr val="444444"/>
                </a:solidFill>
                <a:latin typeface="Times New Roman"/>
                <a:ea typeface="Times New Roman"/>
                <a:cs typeface="Times New Roman"/>
              </a:defRPr>
            </a:pPr>
            <a:endParaRPr lang="en-US"/>
          </a:p>
        </c:txPr>
        <c:crossAx val="48650112"/>
        <c:crosses val="autoZero"/>
        <c:crossBetween val="between"/>
        <c:majorUnit val="39"/>
      </c:valAx>
      <c:spPr>
        <a:solidFill>
          <a:srgbClr val="FFFFFF"/>
        </a:solidFill>
      </c:spPr>
    </c:plotArea>
    <c:legend>
      <c:legendPos val="b"/>
      <c:overlay val="0"/>
      <c:txPr>
        <a:bodyPr anchorCtr="1"/>
        <a:lstStyle/>
        <a:p>
          <a:pPr>
            <a:defRPr sz="1425">
              <a:solidFill>
                <a:srgbClr val="111111"/>
              </a:solidFill>
              <a:latin typeface="Times New Roman"/>
              <a:ea typeface="Times New Roman"/>
              <a:cs typeface="Times New Roman"/>
            </a:defRPr>
          </a:pPr>
          <a:endParaRPr lang="en-US"/>
        </a:p>
      </c:txPr>
    </c:legend>
    <c:plotVisOnly val="1"/>
    <c:dispBlanksAs val="zero"/>
    <c:showDLblsOverMax val="1"/>
  </c:chart>
  <c:spPr>
    <a:solidFill>
      <a:srgbClr val="FFFFFF"/>
    </a:solidFill>
    <a:ln w="0">
      <a:noFill/>
    </a:ln>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scatterChart>
        <c:scatterStyle val="lineMarker"/>
        <c:varyColors val="0"/>
        <c:ser>
          <c:idx val="0"/>
          <c:order val="0"/>
          <c:tx>
            <c:v>Starter formula</c:v>
          </c:tx>
          <c:spPr>
            <a:ln w="25718">
              <a:solidFill>
                <a:srgbClr val="A50026"/>
              </a:solidFill>
            </a:ln>
          </c:spPr>
          <c:marker>
            <c:symbol val="none"/>
          </c:marker>
          <c:xVal>
            <c:numRef>
              <c:f>'Chart Data'!$A$2:$A$58</c:f>
              <c:numCache>
                <c:formatCode>General</c:formatCode>
                <c:ptCount val="57"/>
                <c:pt idx="0">
                  <c:v>1</c:v>
                </c:pt>
                <c:pt idx="1">
                  <c:v>1.125</c:v>
                </c:pt>
                <c:pt idx="2">
                  <c:v>1.25</c:v>
                </c:pt>
                <c:pt idx="3">
                  <c:v>1.375</c:v>
                </c:pt>
                <c:pt idx="4">
                  <c:v>1.5</c:v>
                </c:pt>
                <c:pt idx="5">
                  <c:v>1.625</c:v>
                </c:pt>
                <c:pt idx="6">
                  <c:v>1.75</c:v>
                </c:pt>
                <c:pt idx="7">
                  <c:v>1.875</c:v>
                </c:pt>
                <c:pt idx="8">
                  <c:v>2</c:v>
                </c:pt>
                <c:pt idx="9">
                  <c:v>2.125</c:v>
                </c:pt>
                <c:pt idx="10">
                  <c:v>2.25</c:v>
                </c:pt>
                <c:pt idx="11">
                  <c:v>2.375</c:v>
                </c:pt>
                <c:pt idx="12">
                  <c:v>2.5</c:v>
                </c:pt>
                <c:pt idx="13">
                  <c:v>2.625</c:v>
                </c:pt>
                <c:pt idx="14">
                  <c:v>2.75</c:v>
                </c:pt>
                <c:pt idx="15">
                  <c:v>2.875</c:v>
                </c:pt>
                <c:pt idx="16">
                  <c:v>3</c:v>
                </c:pt>
                <c:pt idx="17">
                  <c:v>3.125</c:v>
                </c:pt>
                <c:pt idx="18">
                  <c:v>3.25</c:v>
                </c:pt>
                <c:pt idx="19">
                  <c:v>3.375</c:v>
                </c:pt>
                <c:pt idx="20">
                  <c:v>3.5</c:v>
                </c:pt>
                <c:pt idx="21">
                  <c:v>3.625</c:v>
                </c:pt>
                <c:pt idx="22">
                  <c:v>3.75</c:v>
                </c:pt>
                <c:pt idx="23">
                  <c:v>3.875</c:v>
                </c:pt>
                <c:pt idx="24">
                  <c:v>4</c:v>
                </c:pt>
                <c:pt idx="25">
                  <c:v>4.125</c:v>
                </c:pt>
                <c:pt idx="26">
                  <c:v>4.25</c:v>
                </c:pt>
                <c:pt idx="27">
                  <c:v>4.375</c:v>
                </c:pt>
                <c:pt idx="28">
                  <c:v>4.5</c:v>
                </c:pt>
                <c:pt idx="29">
                  <c:v>4.625</c:v>
                </c:pt>
                <c:pt idx="30">
                  <c:v>4.75</c:v>
                </c:pt>
                <c:pt idx="31">
                  <c:v>4.875</c:v>
                </c:pt>
                <c:pt idx="32">
                  <c:v>5</c:v>
                </c:pt>
                <c:pt idx="33">
                  <c:v>5.125</c:v>
                </c:pt>
                <c:pt idx="34">
                  <c:v>5.25</c:v>
                </c:pt>
                <c:pt idx="35">
                  <c:v>5.375</c:v>
                </c:pt>
                <c:pt idx="36">
                  <c:v>5.5</c:v>
                </c:pt>
                <c:pt idx="37">
                  <c:v>5.625</c:v>
                </c:pt>
                <c:pt idx="38">
                  <c:v>5.75</c:v>
                </c:pt>
                <c:pt idx="39">
                  <c:v>5.875</c:v>
                </c:pt>
                <c:pt idx="40">
                  <c:v>6</c:v>
                </c:pt>
                <c:pt idx="41">
                  <c:v>6.125</c:v>
                </c:pt>
                <c:pt idx="42">
                  <c:v>6.25</c:v>
                </c:pt>
                <c:pt idx="43">
                  <c:v>6.375</c:v>
                </c:pt>
                <c:pt idx="44">
                  <c:v>6.5</c:v>
                </c:pt>
                <c:pt idx="45">
                  <c:v>6.625</c:v>
                </c:pt>
                <c:pt idx="46">
                  <c:v>6.75</c:v>
                </c:pt>
                <c:pt idx="47">
                  <c:v>6.875</c:v>
                </c:pt>
                <c:pt idx="48">
                  <c:v>7</c:v>
                </c:pt>
                <c:pt idx="49">
                  <c:v>7.125</c:v>
                </c:pt>
                <c:pt idx="50">
                  <c:v>7.25</c:v>
                </c:pt>
                <c:pt idx="51">
                  <c:v>7.375</c:v>
                </c:pt>
                <c:pt idx="52">
                  <c:v>7.5</c:v>
                </c:pt>
                <c:pt idx="53">
                  <c:v>7.625</c:v>
                </c:pt>
                <c:pt idx="54">
                  <c:v>7.75</c:v>
                </c:pt>
                <c:pt idx="55">
                  <c:v>7.875</c:v>
                </c:pt>
                <c:pt idx="56">
                  <c:v>8</c:v>
                </c:pt>
              </c:numCache>
            </c:numRef>
          </c:xVal>
          <c:yVal>
            <c:numRef>
              <c:f>'Chart Data'!$B$2:$B$58</c:f>
              <c:numCache>
                <c:formatCode>0.00</c:formatCode>
                <c:ptCount val="57"/>
                <c:pt idx="0">
                  <c:v>1</c:v>
                </c:pt>
                <c:pt idx="1">
                  <c:v>0.85355339100000005</c:v>
                </c:pt>
                <c:pt idx="2">
                  <c:v>0.80901699400000004</c:v>
                </c:pt>
                <c:pt idx="3">
                  <c:v>0.78011575200000005</c:v>
                </c:pt>
                <c:pt idx="4">
                  <c:v>0.75881904499999997</c:v>
                </c:pt>
                <c:pt idx="5">
                  <c:v>0.74209273200000003</c:v>
                </c:pt>
                <c:pt idx="6">
                  <c:v>0.72842512599999998</c:v>
                </c:pt>
                <c:pt idx="7">
                  <c:v>0.71694602399999996</c:v>
                </c:pt>
                <c:pt idx="8">
                  <c:v>0.70710678100000002</c:v>
                </c:pt>
                <c:pt idx="9">
                  <c:v>0.69853890100000005</c:v>
                </c:pt>
                <c:pt idx="10">
                  <c:v>0.69098300599999996</c:v>
                </c:pt>
                <c:pt idx="11">
                  <c:v>0.68424978000000003</c:v>
                </c:pt>
                <c:pt idx="12">
                  <c:v>0.67819697899999998</c:v>
                </c:pt>
                <c:pt idx="13">
                  <c:v>0.67271514799999999</c:v>
                </c:pt>
                <c:pt idx="14">
                  <c:v>0.66771837000000001</c:v>
                </c:pt>
                <c:pt idx="15">
                  <c:v>0.66313805100000001</c:v>
                </c:pt>
                <c:pt idx="16">
                  <c:v>0.65891862300000004</c:v>
                </c:pt>
                <c:pt idx="17">
                  <c:v>0.65501449</c:v>
                </c:pt>
                <c:pt idx="18">
                  <c:v>0.65138781899999998</c:v>
                </c:pt>
                <c:pt idx="19">
                  <c:v>0.64800690299999997</c:v>
                </c:pt>
                <c:pt idx="20">
                  <c:v>0.64484493200000004</c:v>
                </c:pt>
                <c:pt idx="21">
                  <c:v>0.64187905099999998</c:v>
                </c:pt>
                <c:pt idx="22">
                  <c:v>0.63908963900000004</c:v>
                </c:pt>
                <c:pt idx="23">
                  <c:v>0.63645973600000005</c:v>
                </c:pt>
                <c:pt idx="24">
                  <c:v>0.63397459599999995</c:v>
                </c:pt>
                <c:pt idx="25">
                  <c:v>0.63162132400000004</c:v>
                </c:pt>
                <c:pt idx="26">
                  <c:v>0.62938858799999997</c:v>
                </c:pt>
                <c:pt idx="27">
                  <c:v>0.62726638000000001</c:v>
                </c:pt>
                <c:pt idx="28">
                  <c:v>0.62524582500000003</c:v>
                </c:pt>
                <c:pt idx="29">
                  <c:v>0.62331901999999995</c:v>
                </c:pt>
                <c:pt idx="30">
                  <c:v>0.62147889899999997</c:v>
                </c:pt>
                <c:pt idx="31">
                  <c:v>0.61971912399999995</c:v>
                </c:pt>
                <c:pt idx="32">
                  <c:v>0.61803398899999995</c:v>
                </c:pt>
                <c:pt idx="33">
                  <c:v>0.61641834200000001</c:v>
                </c:pt>
                <c:pt idx="34">
                  <c:v>0.61486751699999997</c:v>
                </c:pt>
                <c:pt idx="35">
                  <c:v>0.61337727900000005</c:v>
                </c:pt>
                <c:pt idx="36">
                  <c:v>0.61194376800000005</c:v>
                </c:pt>
                <c:pt idx="37">
                  <c:v>0.61056346399999994</c:v>
                </c:pt>
                <c:pt idx="38">
                  <c:v>0.60923314500000003</c:v>
                </c:pt>
                <c:pt idx="39">
                  <c:v>0.60794985599999996</c:v>
                </c:pt>
                <c:pt idx="40">
                  <c:v>0.60671088299999998</c:v>
                </c:pt>
                <c:pt idx="41">
                  <c:v>0.605513725</c:v>
                </c:pt>
                <c:pt idx="42">
                  <c:v>0.60435607599999996</c:v>
                </c:pt>
                <c:pt idx="43">
                  <c:v>0.60323580499999996</c:v>
                </c:pt>
                <c:pt idx="44">
                  <c:v>0.60215093799999997</c:v>
                </c:pt>
                <c:pt idx="45">
                  <c:v>0.60109964500000002</c:v>
                </c:pt>
                <c:pt idx="46">
                  <c:v>0.60008022500000002</c:v>
                </c:pt>
                <c:pt idx="47">
                  <c:v>0.59909109599999999</c:v>
                </c:pt>
                <c:pt idx="48">
                  <c:v>0.59813078399999997</c:v>
                </c:pt>
                <c:pt idx="49">
                  <c:v>0.597197914</c:v>
                </c:pt>
                <c:pt idx="50">
                  <c:v>0.59629120199999996</c:v>
                </c:pt>
                <c:pt idx="51">
                  <c:v>0.59540944399999995</c:v>
                </c:pt>
                <c:pt idx="52">
                  <c:v>0.59455151500000003</c:v>
                </c:pt>
                <c:pt idx="53">
                  <c:v>0.59371636000000005</c:v>
                </c:pt>
                <c:pt idx="54">
                  <c:v>0.59290298500000005</c:v>
                </c:pt>
                <c:pt idx="55">
                  <c:v>0.59211046000000001</c:v>
                </c:pt>
                <c:pt idx="56">
                  <c:v>0.591337907</c:v>
                </c:pt>
              </c:numCache>
            </c:numRef>
          </c:yVal>
          <c:smooth val="1"/>
          <c:extLst>
            <c:ext xmlns:c16="http://schemas.microsoft.com/office/drawing/2014/chart" uri="{C3380CC4-5D6E-409C-BE32-E72D297353CC}">
              <c16:uniqueId val="{00000000-0F49-9D47-8A17-CB318DA887FA}"/>
            </c:ext>
          </c:extLst>
        </c:ser>
        <c:ser>
          <c:idx val="1"/>
          <c:order val="1"/>
          <c:tx>
            <c:v>Correct physics</c:v>
          </c:tx>
          <c:spPr>
            <a:ln w="25718">
              <a:solidFill>
                <a:srgbClr val="0F766E"/>
              </a:solidFill>
            </a:ln>
          </c:spPr>
          <c:marker>
            <c:symbol val="none"/>
          </c:marker>
          <c:xVal>
            <c:numRef>
              <c:f>'Chart Data'!$C$2:$C$58</c:f>
              <c:numCache>
                <c:formatCode>General</c:formatCode>
                <c:ptCount val="57"/>
                <c:pt idx="0">
                  <c:v>1</c:v>
                </c:pt>
                <c:pt idx="1">
                  <c:v>1.125</c:v>
                </c:pt>
                <c:pt idx="2">
                  <c:v>1.25</c:v>
                </c:pt>
                <c:pt idx="3">
                  <c:v>1.375</c:v>
                </c:pt>
                <c:pt idx="4">
                  <c:v>1.5</c:v>
                </c:pt>
                <c:pt idx="5">
                  <c:v>1.625</c:v>
                </c:pt>
                <c:pt idx="6">
                  <c:v>1.75</c:v>
                </c:pt>
                <c:pt idx="7">
                  <c:v>1.875</c:v>
                </c:pt>
                <c:pt idx="8">
                  <c:v>2</c:v>
                </c:pt>
                <c:pt idx="9">
                  <c:v>2.125</c:v>
                </c:pt>
                <c:pt idx="10">
                  <c:v>2.25</c:v>
                </c:pt>
                <c:pt idx="11">
                  <c:v>2.375</c:v>
                </c:pt>
                <c:pt idx="12">
                  <c:v>2.5</c:v>
                </c:pt>
                <c:pt idx="13">
                  <c:v>2.625</c:v>
                </c:pt>
                <c:pt idx="14">
                  <c:v>2.75</c:v>
                </c:pt>
                <c:pt idx="15">
                  <c:v>2.875</c:v>
                </c:pt>
                <c:pt idx="16">
                  <c:v>3</c:v>
                </c:pt>
                <c:pt idx="17">
                  <c:v>3.125</c:v>
                </c:pt>
                <c:pt idx="18">
                  <c:v>3.25</c:v>
                </c:pt>
                <c:pt idx="19">
                  <c:v>3.375</c:v>
                </c:pt>
                <c:pt idx="20">
                  <c:v>3.5</c:v>
                </c:pt>
                <c:pt idx="21">
                  <c:v>3.625</c:v>
                </c:pt>
                <c:pt idx="22">
                  <c:v>3.75</c:v>
                </c:pt>
                <c:pt idx="23">
                  <c:v>3.875</c:v>
                </c:pt>
                <c:pt idx="24">
                  <c:v>4</c:v>
                </c:pt>
                <c:pt idx="25">
                  <c:v>4.125</c:v>
                </c:pt>
                <c:pt idx="26">
                  <c:v>4.25</c:v>
                </c:pt>
                <c:pt idx="27">
                  <c:v>4.375</c:v>
                </c:pt>
                <c:pt idx="28">
                  <c:v>4.5</c:v>
                </c:pt>
                <c:pt idx="29">
                  <c:v>4.625</c:v>
                </c:pt>
                <c:pt idx="30">
                  <c:v>4.75</c:v>
                </c:pt>
                <c:pt idx="31">
                  <c:v>4.875</c:v>
                </c:pt>
                <c:pt idx="32">
                  <c:v>5</c:v>
                </c:pt>
                <c:pt idx="33">
                  <c:v>5.125</c:v>
                </c:pt>
                <c:pt idx="34">
                  <c:v>5.25</c:v>
                </c:pt>
                <c:pt idx="35">
                  <c:v>5.375</c:v>
                </c:pt>
                <c:pt idx="36">
                  <c:v>5.5</c:v>
                </c:pt>
                <c:pt idx="37">
                  <c:v>5.625</c:v>
                </c:pt>
                <c:pt idx="38">
                  <c:v>5.75</c:v>
                </c:pt>
                <c:pt idx="39">
                  <c:v>5.875</c:v>
                </c:pt>
                <c:pt idx="40">
                  <c:v>6</c:v>
                </c:pt>
                <c:pt idx="41">
                  <c:v>6.125</c:v>
                </c:pt>
                <c:pt idx="42">
                  <c:v>6.25</c:v>
                </c:pt>
                <c:pt idx="43">
                  <c:v>6.375</c:v>
                </c:pt>
                <c:pt idx="44">
                  <c:v>6.5</c:v>
                </c:pt>
                <c:pt idx="45">
                  <c:v>6.625</c:v>
                </c:pt>
                <c:pt idx="46">
                  <c:v>6.75</c:v>
                </c:pt>
                <c:pt idx="47">
                  <c:v>6.875</c:v>
                </c:pt>
                <c:pt idx="48">
                  <c:v>7</c:v>
                </c:pt>
                <c:pt idx="49">
                  <c:v>7.125</c:v>
                </c:pt>
                <c:pt idx="50">
                  <c:v>7.25</c:v>
                </c:pt>
                <c:pt idx="51">
                  <c:v>7.375</c:v>
                </c:pt>
                <c:pt idx="52">
                  <c:v>7.5</c:v>
                </c:pt>
                <c:pt idx="53">
                  <c:v>7.625</c:v>
                </c:pt>
                <c:pt idx="54">
                  <c:v>7.75</c:v>
                </c:pt>
                <c:pt idx="55">
                  <c:v>7.875</c:v>
                </c:pt>
                <c:pt idx="56">
                  <c:v>8</c:v>
                </c:pt>
              </c:numCache>
            </c:numRef>
          </c:xVal>
          <c:yVal>
            <c:numRef>
              <c:f>'Chart Data'!$D$2:$D$58</c:f>
              <c:numCache>
                <c:formatCode>0.00</c:formatCode>
                <c:ptCount val="57"/>
                <c:pt idx="0">
                  <c:v>1</c:v>
                </c:pt>
                <c:pt idx="1">
                  <c:v>0.78077640599999998</c:v>
                </c:pt>
                <c:pt idx="2">
                  <c:v>0.70710678100000002</c:v>
                </c:pt>
                <c:pt idx="3">
                  <c:v>0.656712034</c:v>
                </c:pt>
                <c:pt idx="4">
                  <c:v>0.61803398899999995</c:v>
                </c:pt>
                <c:pt idx="5">
                  <c:v>0.58662692900000002</c:v>
                </c:pt>
                <c:pt idx="6">
                  <c:v>0.56023150399999999</c:v>
                </c:pt>
                <c:pt idx="7">
                  <c:v>0.53752005300000005</c:v>
                </c:pt>
                <c:pt idx="8">
                  <c:v>0.51763809000000005</c:v>
                </c:pt>
                <c:pt idx="9">
                  <c:v>0.5</c:v>
                </c:pt>
                <c:pt idx="10">
                  <c:v>0.48418546299999998</c:v>
                </c:pt>
                <c:pt idx="11">
                  <c:v>0.46988190800000001</c:v>
                </c:pt>
                <c:pt idx="12">
                  <c:v>0.45685025200000001</c:v>
                </c:pt>
                <c:pt idx="13">
                  <c:v>0.44490338299999999</c:v>
                </c:pt>
                <c:pt idx="14">
                  <c:v>0.433892047</c:v>
                </c:pt>
                <c:pt idx="15">
                  <c:v>0.42369525400000002</c:v>
                </c:pt>
                <c:pt idx="16">
                  <c:v>0.41421356199999998</c:v>
                </c:pt>
                <c:pt idx="17">
                  <c:v>0.40536425500000001</c:v>
                </c:pt>
                <c:pt idx="18">
                  <c:v>0.39707780199999998</c:v>
                </c:pt>
                <c:pt idx="19">
                  <c:v>0.38929521</c:v>
                </c:pt>
                <c:pt idx="20">
                  <c:v>0.38196601099999999</c:v>
                </c:pt>
                <c:pt idx="21">
                  <c:v>0.37504670899999998</c:v>
                </c:pt>
                <c:pt idx="22">
                  <c:v>0.36849956099999998</c:v>
                </c:pt>
                <c:pt idx="23">
                  <c:v>0.36229161900000001</c:v>
                </c:pt>
                <c:pt idx="24">
                  <c:v>0.35639395899999998</c:v>
                </c:pt>
                <c:pt idx="25">
                  <c:v>0.35078105900000001</c:v>
                </c:pt>
                <c:pt idx="26">
                  <c:v>0.34543029600000003</c:v>
                </c:pt>
                <c:pt idx="27">
                  <c:v>0.34032152500000001</c:v>
                </c:pt>
                <c:pt idx="28">
                  <c:v>0.33543674000000001</c:v>
                </c:pt>
                <c:pt idx="29">
                  <c:v>0.33075978099999997</c:v>
                </c:pt>
                <c:pt idx="30">
                  <c:v>0.32627610200000001</c:v>
                </c:pt>
                <c:pt idx="31">
                  <c:v>0.32197255899999999</c:v>
                </c:pt>
                <c:pt idx="32">
                  <c:v>0.31783724499999999</c:v>
                </c:pt>
                <c:pt idx="33">
                  <c:v>0.31385933799999999</c:v>
                </c:pt>
                <c:pt idx="34">
                  <c:v>0.31002897899999998</c:v>
                </c:pt>
                <c:pt idx="35">
                  <c:v>0.30633716100000002</c:v>
                </c:pt>
                <c:pt idx="36">
                  <c:v>0.30277563800000001</c:v>
                </c:pt>
                <c:pt idx="37">
                  <c:v>0.29933683999999999</c:v>
                </c:pt>
                <c:pt idx="38">
                  <c:v>0.29601380599999999</c:v>
                </c:pt>
                <c:pt idx="39">
                  <c:v>0.292800122</c:v>
                </c:pt>
                <c:pt idx="40">
                  <c:v>0.28968986299999999</c:v>
                </c:pt>
                <c:pt idx="41">
                  <c:v>0.28667754899999998</c:v>
                </c:pt>
                <c:pt idx="42">
                  <c:v>0.28375810200000001</c:v>
                </c:pt>
                <c:pt idx="43">
                  <c:v>0.28092680599999997</c:v>
                </c:pt>
                <c:pt idx="44">
                  <c:v>0.27817927799999997</c:v>
                </c:pt>
                <c:pt idx="45">
                  <c:v>0.275511436</c:v>
                </c:pt>
                <c:pt idx="46">
                  <c:v>0.27291947300000002</c:v>
                </c:pt>
                <c:pt idx="47">
                  <c:v>0.27039983299999998</c:v>
                </c:pt>
                <c:pt idx="48">
                  <c:v>0.267949192</c:v>
                </c:pt>
                <c:pt idx="49">
                  <c:v>0.26556443699999999</c:v>
                </c:pt>
                <c:pt idx="50">
                  <c:v>0.26324264800000002</c:v>
                </c:pt>
                <c:pt idx="51">
                  <c:v>0.26098108599999997</c:v>
                </c:pt>
                <c:pt idx="52">
                  <c:v>0.25877717500000003</c:v>
                </c:pt>
                <c:pt idx="53">
                  <c:v>0.25662849300000001</c:v>
                </c:pt>
                <c:pt idx="54">
                  <c:v>0.254532759</c:v>
                </c:pt>
                <c:pt idx="55">
                  <c:v>0.25248782199999997</c:v>
                </c:pt>
                <c:pt idx="56">
                  <c:v>0.25049165000000001</c:v>
                </c:pt>
              </c:numCache>
            </c:numRef>
          </c:yVal>
          <c:smooth val="1"/>
          <c:extLst>
            <c:ext xmlns:c16="http://schemas.microsoft.com/office/drawing/2014/chart" uri="{C3380CC4-5D6E-409C-BE32-E72D297353CC}">
              <c16:uniqueId val="{00000001-0F49-9D47-8A17-CB318DA887FA}"/>
            </c:ext>
          </c:extLst>
        </c:ser>
        <c:dLbls>
          <c:showLegendKey val="0"/>
          <c:showVal val="0"/>
          <c:showCatName val="0"/>
          <c:showSerName val="0"/>
          <c:showPercent val="0"/>
          <c:showBubbleSize val="0"/>
        </c:dLbls>
        <c:axId val="48650112"/>
        <c:axId val="48672768"/>
      </c:scatterChart>
      <c:valAx>
        <c:axId val="48672768"/>
        <c:scaling>
          <c:orientation val="minMax"/>
          <c:max val="1"/>
          <c:min val="0"/>
        </c:scaling>
        <c:delete val="0"/>
        <c:axPos val="l"/>
        <c:majorGridlines>
          <c:spPr>
            <a:ln w="7620">
              <a:solidFill>
                <a:srgbClr val="D1D5DB"/>
              </a:solidFill>
              <a:prstDash val="solid"/>
            </a:ln>
          </c:spPr>
        </c:majorGridlines>
        <c:title>
          <c:tx>
            <c:rich>
              <a:bodyPr/>
              <a:lstStyle/>
              <a:p>
                <a:r>
                  <a:rPr>
                    <a:latin typeface="Times New Roman"/>
                    <a:ea typeface="Times New Roman"/>
                    <a:cs typeface="Times New Roman"/>
                  </a:rPr>
                  <a:t>Shared motion (normalized)</a:t>
                </a:r>
              </a:p>
            </c:rich>
          </c:tx>
          <c:overlay val="0"/>
        </c:title>
        <c:numFmt formatCode="0.00" sourceLinked="1"/>
        <c:majorTickMark val="none"/>
        <c:minorTickMark val="none"/>
        <c:tickLblPos val="nextTo"/>
        <c:spPr>
          <a:ln w="9525">
            <a:solidFill>
              <a:srgbClr val="D4D4D4"/>
            </a:solidFill>
            <a:prstDash val="solid"/>
          </a:ln>
        </c:spPr>
        <c:txPr>
          <a:bodyPr anchorCtr="1"/>
          <a:lstStyle/>
          <a:p>
            <a:pPr>
              <a:defRPr sz="1500">
                <a:solidFill>
                  <a:srgbClr val="666666"/>
                </a:solidFill>
                <a:latin typeface="Times New Roman"/>
                <a:ea typeface="Times New Roman"/>
                <a:cs typeface="Times New Roman"/>
              </a:defRPr>
            </a:pPr>
            <a:endParaRPr lang="en-US"/>
          </a:p>
        </c:txPr>
        <c:crossAx val="48650112"/>
        <c:crosses val="autoZero"/>
        <c:crossBetween val="midCat"/>
        <c:majorUnit val="0.25"/>
      </c:valAx>
      <c:valAx>
        <c:axId val="48650112"/>
        <c:scaling>
          <c:orientation val="minMax"/>
          <c:max val="8"/>
          <c:min val="1"/>
        </c:scaling>
        <c:delete val="0"/>
        <c:axPos val="b"/>
        <c:title>
          <c:tx>
            <c:rich>
              <a:bodyPr/>
              <a:lstStyle/>
              <a:p>
                <a:r>
                  <a:rPr>
                    <a:latin typeface="Times New Roman"/>
                    <a:ea typeface="Times New Roman"/>
                    <a:cs typeface="Times New Roman"/>
                  </a:rPr>
                  <a:t>Later time / earlier time</a:t>
                </a:r>
              </a:p>
            </c:rich>
          </c:tx>
          <c:overlay val="0"/>
        </c:title>
        <c:numFmt formatCode="General" sourceLinked="1"/>
        <c:majorTickMark val="none"/>
        <c:minorTickMark val="none"/>
        <c:tickLblPos val="nextTo"/>
        <c:spPr>
          <a:ln w="9525">
            <a:solidFill>
              <a:srgbClr val="D4D4D4"/>
            </a:solidFill>
            <a:prstDash val="solid"/>
          </a:ln>
        </c:spPr>
        <c:txPr>
          <a:bodyPr anchorCtr="1"/>
          <a:lstStyle/>
          <a:p>
            <a:pPr>
              <a:defRPr sz="1500">
                <a:solidFill>
                  <a:srgbClr val="666666"/>
                </a:solidFill>
                <a:latin typeface="Times New Roman"/>
                <a:ea typeface="Times New Roman"/>
                <a:cs typeface="Times New Roman"/>
              </a:defRPr>
            </a:pPr>
            <a:endParaRPr lang="en-US"/>
          </a:p>
        </c:txPr>
        <c:crossAx val="48672768"/>
        <c:crosses val="autoZero"/>
        <c:crossBetween val="midCat"/>
        <c:majorUnit val="1"/>
      </c:valAx>
      <c:spPr>
        <a:solidFill>
          <a:srgbClr val="FFFFFF"/>
        </a:solidFill>
      </c:spPr>
    </c:plotArea>
    <c:legend>
      <c:legendPos val="b"/>
      <c:overlay val="0"/>
      <c:txPr>
        <a:bodyPr anchorCtr="1"/>
        <a:lstStyle/>
        <a:p>
          <a:pPr>
            <a:defRPr sz="1575">
              <a:latin typeface="Times New Roman"/>
              <a:ea typeface="Times New Roman"/>
              <a:cs typeface="Times New Roman"/>
            </a:defRPr>
          </a:pPr>
          <a:endParaRPr lang="en-US"/>
        </a:p>
      </c:txPr>
    </c:legend>
    <c:plotVisOnly val="1"/>
    <c:dispBlanksAs val="zero"/>
    <c:showDLblsOverMax val="1"/>
  </c:chart>
  <c:spPr>
    <a:solidFill>
      <a:srgbClr val="FFFFFF"/>
    </a:solidFill>
    <a:ln w="0">
      <a:noFill/>
    </a:ln>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lineChart>
        <c:grouping val="standard"/>
        <c:varyColors val="0"/>
        <c:ser>
          <c:idx val="0"/>
          <c:order val="0"/>
          <c:tx>
            <c:v>GPT-6 Luna</c:v>
          </c:tx>
          <c:spPr>
            <a:ln w="28575">
              <a:solidFill>
                <a:srgbClr val="1D4E89"/>
              </a:solidFill>
            </a:ln>
          </c:spPr>
          <c:marker>
            <c:symbol val="circle"/>
            <c:size val="9"/>
            <c:spPr>
              <a:solidFill>
                <a:srgbClr val="1D4E89"/>
              </a:solidFill>
            </c:spPr>
          </c:marker>
          <c:dLbls>
            <c:spPr>
              <a:noFill/>
              <a:ln>
                <a:noFill/>
              </a:ln>
            </c:spPr>
            <c:txPr>
              <a:bodyPr anchorCtr="1"/>
              <a:lstStyle/>
              <a:p>
                <a:pPr>
                  <a:defRPr sz="1575">
                    <a:solidFill>
                      <a:srgbClr val="111111"/>
                    </a:solidFill>
                    <a:latin typeface="Times New Roman"/>
                    <a:ea typeface="Times New Roman"/>
                    <a:cs typeface="Times New Roman"/>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Data'!$A$2:$A$4</c:f>
              <c:strCache>
                <c:ptCount val="3"/>
                <c:pt idx="0">
                  <c:v>Low</c:v>
                </c:pt>
                <c:pt idx="1">
                  <c:v>High</c:v>
                </c:pt>
                <c:pt idx="2">
                  <c:v>Extra High</c:v>
                </c:pt>
              </c:strCache>
            </c:strRef>
          </c:cat>
          <c:val>
            <c:numRef>
              <c:f>'Chart Data'!$B$2:$B$4</c:f>
              <c:numCache>
                <c:formatCode>General</c:formatCode>
                <c:ptCount val="3"/>
                <c:pt idx="0">
                  <c:v>4</c:v>
                </c:pt>
                <c:pt idx="1">
                  <c:v>1</c:v>
                </c:pt>
                <c:pt idx="2">
                  <c:v>12</c:v>
                </c:pt>
              </c:numCache>
            </c:numRef>
          </c:val>
          <c:smooth val="0"/>
          <c:extLst>
            <c:ext xmlns:c16="http://schemas.microsoft.com/office/drawing/2014/chart" uri="{C3380CC4-5D6E-409C-BE32-E72D297353CC}">
              <c16:uniqueId val="{00000000-8DEF-4C48-AD61-23834AE538F0}"/>
            </c:ext>
          </c:extLst>
        </c:ser>
        <c:ser>
          <c:idx val="1"/>
          <c:order val="1"/>
          <c:tx>
            <c:v>GPT-5.6 Terra</c:v>
          </c:tx>
          <c:spPr>
            <a:ln w="28575">
              <a:solidFill>
                <a:srgbClr val="B45309"/>
              </a:solidFill>
            </a:ln>
          </c:spPr>
          <c:marker>
            <c:symbol val="circle"/>
            <c:size val="9"/>
            <c:spPr>
              <a:solidFill>
                <a:srgbClr val="B45309"/>
              </a:solidFill>
            </c:spPr>
          </c:marker>
          <c:dLbls>
            <c:spPr>
              <a:noFill/>
              <a:ln>
                <a:noFill/>
              </a:ln>
            </c:spPr>
            <c:txPr>
              <a:bodyPr anchorCtr="1"/>
              <a:lstStyle/>
              <a:p>
                <a:pPr>
                  <a:defRPr sz="1575">
                    <a:solidFill>
                      <a:srgbClr val="111111"/>
                    </a:solidFill>
                    <a:latin typeface="Times New Roman"/>
                    <a:ea typeface="Times New Roman"/>
                    <a:cs typeface="Times New Roman"/>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Data'!$C$2:$C$4</c:f>
              <c:strCache>
                <c:ptCount val="3"/>
                <c:pt idx="0">
                  <c:v>Low</c:v>
                </c:pt>
                <c:pt idx="1">
                  <c:v>High</c:v>
                </c:pt>
                <c:pt idx="2">
                  <c:v>Extra High</c:v>
                </c:pt>
              </c:strCache>
            </c:strRef>
          </c:cat>
          <c:val>
            <c:numRef>
              <c:f>'Chart Data'!$D$2:$D$4</c:f>
              <c:numCache>
                <c:formatCode>General</c:formatCode>
                <c:ptCount val="3"/>
                <c:pt idx="0">
                  <c:v>4</c:v>
                </c:pt>
                <c:pt idx="1">
                  <c:v>9</c:v>
                </c:pt>
                <c:pt idx="2">
                  <c:v>19</c:v>
                </c:pt>
              </c:numCache>
            </c:numRef>
          </c:val>
          <c:smooth val="0"/>
          <c:extLst>
            <c:ext xmlns:c16="http://schemas.microsoft.com/office/drawing/2014/chart" uri="{C3380CC4-5D6E-409C-BE32-E72D297353CC}">
              <c16:uniqueId val="{00000001-8DEF-4C48-AD61-23834AE538F0}"/>
            </c:ext>
          </c:extLst>
        </c:ser>
        <c:ser>
          <c:idx val="2"/>
          <c:order val="2"/>
          <c:tx>
            <c:v>GPT-6 Sol</c:v>
          </c:tx>
          <c:spPr>
            <a:ln w="28575">
              <a:solidFill>
                <a:srgbClr val="0F766E"/>
              </a:solidFill>
            </a:ln>
          </c:spPr>
          <c:marker>
            <c:symbol val="circle"/>
            <c:size val="9"/>
            <c:spPr>
              <a:solidFill>
                <a:srgbClr val="0F766E"/>
              </a:solidFill>
            </c:spPr>
          </c:marker>
          <c:cat>
            <c:strRef>
              <c:f>'Chart Data'!$E$2:$E$4</c:f>
              <c:strCache>
                <c:ptCount val="3"/>
                <c:pt idx="0">
                  <c:v>Low</c:v>
                </c:pt>
                <c:pt idx="1">
                  <c:v>High</c:v>
                </c:pt>
                <c:pt idx="2">
                  <c:v>Extra High</c:v>
                </c:pt>
              </c:strCache>
            </c:strRef>
          </c:cat>
          <c:val>
            <c:numRef>
              <c:f>'Chart Data'!$F$2:$F$4</c:f>
              <c:numCache>
                <c:formatCode>General</c:formatCode>
                <c:ptCount val="3"/>
                <c:pt idx="0">
                  <c:v>37</c:v>
                </c:pt>
                <c:pt idx="1">
                  <c:v>39</c:v>
                </c:pt>
                <c:pt idx="2">
                  <c:v>39</c:v>
                </c:pt>
              </c:numCache>
            </c:numRef>
          </c:val>
          <c:smooth val="0"/>
          <c:extLst>
            <c:ext xmlns:c16="http://schemas.microsoft.com/office/drawing/2014/chart" uri="{C3380CC4-5D6E-409C-BE32-E72D297353CC}">
              <c16:uniqueId val="{00000002-8DEF-4C48-AD61-23834AE538F0}"/>
            </c:ext>
          </c:extLst>
        </c:ser>
        <c:ser>
          <c:idx val="3"/>
          <c:order val="3"/>
          <c:tx>
            <c:v>GPT-6 Astra</c:v>
          </c:tx>
          <c:spPr>
            <a:ln w="28575">
              <a:solidFill>
                <a:srgbClr val="5B4B7C"/>
              </a:solidFill>
            </a:ln>
          </c:spPr>
          <c:marker>
            <c:symbol val="circle"/>
            <c:size val="9"/>
            <c:spPr>
              <a:solidFill>
                <a:srgbClr val="5B4B7C"/>
              </a:solidFill>
            </c:spPr>
          </c:marker>
          <c:cat>
            <c:strRef>
              <c:f>'Chart Data'!$G$2:$G$4</c:f>
              <c:strCache>
                <c:ptCount val="3"/>
                <c:pt idx="0">
                  <c:v>Low</c:v>
                </c:pt>
                <c:pt idx="1">
                  <c:v>High</c:v>
                </c:pt>
                <c:pt idx="2">
                  <c:v>Extra High</c:v>
                </c:pt>
              </c:strCache>
            </c:strRef>
          </c:cat>
          <c:val>
            <c:numRef>
              <c:f>'Chart Data'!$H$2:$H$4</c:f>
              <c:numCache>
                <c:formatCode>General</c:formatCode>
                <c:ptCount val="3"/>
                <c:pt idx="0">
                  <c:v>39</c:v>
                </c:pt>
                <c:pt idx="1">
                  <c:v>39</c:v>
                </c:pt>
                <c:pt idx="2">
                  <c:v>37</c:v>
                </c:pt>
              </c:numCache>
            </c:numRef>
          </c:val>
          <c:smooth val="0"/>
          <c:extLst>
            <c:ext xmlns:c16="http://schemas.microsoft.com/office/drawing/2014/chart" uri="{C3380CC4-5D6E-409C-BE32-E72D297353CC}">
              <c16:uniqueId val="{00000003-8DEF-4C48-AD61-23834AE538F0}"/>
            </c:ext>
          </c:extLst>
        </c:ser>
        <c:dLbls>
          <c:showLegendKey val="0"/>
          <c:showVal val="0"/>
          <c:showCatName val="0"/>
          <c:showSerName val="0"/>
          <c:showPercent val="0"/>
          <c:showBubbleSize val="0"/>
        </c:dLbls>
        <c:marker val="1"/>
        <c:smooth val="0"/>
        <c:axId val="48650112"/>
        <c:axId val="48672768"/>
      </c:lineChart>
      <c:catAx>
        <c:axId val="48650112"/>
        <c:scaling>
          <c:orientation val="minMax"/>
        </c:scaling>
        <c:delete val="0"/>
        <c:axPos val="b"/>
        <c:numFmt formatCode="General" sourceLinked="1"/>
        <c:majorTickMark val="none"/>
        <c:minorTickMark val="none"/>
        <c:tickLblPos val="nextTo"/>
        <c:spPr>
          <a:ln w="9525">
            <a:solidFill>
              <a:srgbClr val="D4D4D4"/>
            </a:solidFill>
            <a:prstDash val="solid"/>
          </a:ln>
        </c:spPr>
        <c:txPr>
          <a:bodyPr anchorCtr="1"/>
          <a:lstStyle/>
          <a:p>
            <a:pPr>
              <a:defRPr sz="1575">
                <a:solidFill>
                  <a:srgbClr val="444444"/>
                </a:solidFill>
                <a:latin typeface="Times New Roman"/>
                <a:ea typeface="Times New Roman"/>
                <a:cs typeface="Times New Roman"/>
              </a:defRPr>
            </a:pPr>
            <a:endParaRPr lang="en-US"/>
          </a:p>
        </c:txPr>
        <c:crossAx val="48672768"/>
        <c:crosses val="autoZero"/>
        <c:auto val="1"/>
        <c:lblAlgn val="ctr"/>
        <c:lblOffset val="100"/>
        <c:noMultiLvlLbl val="1"/>
      </c:catAx>
      <c:valAx>
        <c:axId val="48672768"/>
        <c:scaling>
          <c:orientation val="minMax"/>
          <c:max val="40"/>
          <c:min val="0"/>
        </c:scaling>
        <c:delete val="0"/>
        <c:axPos val="l"/>
        <c:majorGridlines>
          <c:spPr>
            <a:ln w="6668">
              <a:solidFill>
                <a:srgbClr val="D1D5DB"/>
              </a:solidFill>
              <a:prstDash val="solid"/>
            </a:ln>
          </c:spPr>
        </c:majorGridlines>
        <c:title>
          <c:tx>
            <c:rich>
              <a:bodyPr/>
              <a:lstStyle/>
              <a:p>
                <a:r>
                  <a:rPr sz="1575">
                    <a:solidFill>
                      <a:srgbClr val="444444"/>
                    </a:solidFill>
                    <a:latin typeface="Times New Roman"/>
                    <a:ea typeface="Times New Roman"/>
                    <a:cs typeface="Times New Roman"/>
                  </a:rPr>
                  <a:t>Completed passes</a:t>
                </a:r>
              </a:p>
            </c:rich>
          </c:tx>
          <c:overlay val="0"/>
        </c:title>
        <c:numFmt formatCode="General" sourceLinked="1"/>
        <c:majorTickMark val="none"/>
        <c:minorTickMark val="none"/>
        <c:tickLblPos val="nextTo"/>
        <c:spPr>
          <a:ln w="9525">
            <a:solidFill>
              <a:srgbClr val="D4D4D4"/>
            </a:solidFill>
            <a:prstDash val="solid"/>
          </a:ln>
        </c:spPr>
        <c:txPr>
          <a:bodyPr anchorCtr="1"/>
          <a:lstStyle/>
          <a:p>
            <a:pPr>
              <a:defRPr sz="1575">
                <a:solidFill>
                  <a:srgbClr val="444444"/>
                </a:solidFill>
                <a:latin typeface="Times New Roman"/>
                <a:ea typeface="Times New Roman"/>
                <a:cs typeface="Times New Roman"/>
              </a:defRPr>
            </a:pPr>
            <a:endParaRPr lang="en-US"/>
          </a:p>
        </c:txPr>
        <c:crossAx val="48650112"/>
        <c:crosses val="autoZero"/>
        <c:crossBetween val="between"/>
        <c:majorUnit val="10"/>
      </c:valAx>
      <c:spPr>
        <a:solidFill>
          <a:srgbClr val="FFFFFF"/>
        </a:solidFill>
      </c:spPr>
    </c:plotArea>
    <c:legend>
      <c:legendPos val="b"/>
      <c:overlay val="0"/>
      <c:txPr>
        <a:bodyPr anchorCtr="1"/>
        <a:lstStyle/>
        <a:p>
          <a:pPr>
            <a:defRPr sz="1500">
              <a:solidFill>
                <a:srgbClr val="111111"/>
              </a:solidFill>
              <a:latin typeface="Times New Roman"/>
              <a:ea typeface="Times New Roman"/>
              <a:cs typeface="Times New Roman"/>
            </a:defRPr>
          </a:pPr>
          <a:endParaRPr lang="en-US"/>
        </a:p>
      </c:txPr>
    </c:legend>
    <c:plotVisOnly val="1"/>
    <c:dispBlanksAs val="zero"/>
    <c:showDLblsOverMax val="1"/>
  </c:chart>
  <c:spPr>
    <a:solidFill>
      <a:srgbClr val="FFFFFF"/>
    </a:solidFill>
    <a:ln w="0">
      <a:noFill/>
    </a:ln>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Target time: 10 seconds.</a:t>
            </a:r>
          </a:p>
          <a:p>
            <a:endParaRPr/>
          </a:p>
          <a:p>
            <a:r>
              <a:t>We study how well coding agents can turn a physical setup and limited measurements into predictions.</a:t>
            </a:r>
          </a:p>
          <a:p>
            <a:endParaRPr/>
          </a:p>
          <a:p>
            <a:r>
              <a:t>Sources:</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Target time: 45 seconds.</a:t>
            </a:r>
          </a:p>
          <a:p>
            <a:endParaRPr/>
          </a:p>
          <a:p>
            <a:r>
              <a:t>PhysLiteBench asks whether a coding agent can turn a physical description and limited measurements into reliable predictions. Think of the supplied measurements as training data. They cover only some settings of the experiment. The agent receives the setup, starter code and public tests. It can change the entire model. The evaluator then checks whether the program fits the measurements and makes correct predictions at other settings, within a fixed time budget. Our suite has thirteen tasks. They were selected using GPT-5.6 Luna, so this is a deliberately challenging sample. I will explain one example using beads moving inside a narrow tube.</a:t>
            </a:r>
          </a:p>
          <a:p>
            <a:endParaRPr/>
          </a:p>
          <a:p>
            <a:r>
              <a:t>Sources:</a:t>
            </a:r>
          </a:p>
          <a:p>
            <a:r>
              <a:t>/Users/yp9846/Desktop/PhysLiteBench/README.md</a:t>
            </a:r>
          </a:p>
          <a:p>
            <a:r>
              <a:t>/Users/yp9846/Desktop/PhysLiteBench/docs/BENCHMARK.md</a:t>
            </a:r>
          </a:p>
          <a:p>
            <a:r>
              <a:t>/Users/yp9846/Desktop/PhysLiteBench/results/task-roster.json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Target time: 85 seconds.</a:t>
            </a:r>
          </a:p>
          <a:p>
            <a:endParaRPr/>
          </a:p>
          <a:p>
            <a:r>
              <a:t>Imagine a long tube containing a row of beads. Random motion makes them bump around, but the tube is too narrow for one bead to pass another. We mark one bead orange and observe it. Every repeat starts with all the beads in exactly the same evenly spaced positions. We release them, then record the orange bead's position early and later in the same run. The next run starts from the original row but has different random motion. The pictures illustrate one possible run, not measured data. What does the agent know? It has this description, starter code, and measurements of how far the orange bead typically moves at several chosen times. These data let it estimate how strong the random motion is. What must it predict? Across many repeats, how strongly are the orange bead's early and later positions connected? For example, in runs where it is farther right early, does it also tend to be farther right later, and how strong is that relationship? The agent must write a numerical prediction for this relationship. The important physical detail is how we start the experiment. The beads begin in a regular row and cannot pass one another. That arrangement can still influence how motion at one time relates to motion later. Fitting the movement strength alone does not settle that question.</a:t>
            </a:r>
          </a:p>
          <a:p>
            <a:endParaRPr/>
          </a:p>
          <a:p>
            <a:r>
              <a:t>Sources:</a:t>
            </a:r>
          </a:p>
          <a:p>
            <a:r>
              <a:t>/Users/yp9846/Desktop/PhysLiteBench/tasks/single-file-memory/environment/README.md</a:t>
            </a:r>
          </a:p>
          <a:p>
            <a:r>
              <a:t>/Users/yp9846/Desktop/PhysLiteBench/tasks/single-file-memory/instruction.md</a:t>
            </a:r>
          </a:p>
          <a:p>
            <a:r>
              <a:t>/Users/yp9846/Desktop/PhysLiteBench/tasks/single-file-memory/environment/model.py</a:t>
            </a:r>
          </a:p>
          <a:p>
            <a:r>
              <a:t>/Users/yp9846/Desktop/PhysLiteBench/tasks/single-file-memory/solution/model.py</a:t>
            </a:r>
          </a:p>
          <a:p>
            <a:r>
              <a:t>/Users/yp9846/Desktop/PhysLiteBench/tasks/single-file-memory/AUTHOR.md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Target time: 60 seconds.</a:t>
            </a:r>
          </a:p>
          <a:p>
            <a:endParaRPr/>
          </a:p>
          <a:p>
            <a:r>
              <a:t>There are three prompt conditions. The baseline gives the original task and public files. The general hint asks the agent to check its implementation and test correctness. It does not identify which assumption might need attention. The physics hint points to a specific feature of the experiment. For the beads, it emphasizes that the same starting arrangement can affect the relationship between positions measured at two times. The full hint also suggests how to calculate this relationship. The slide summarizes its physical idea in everyday language. The hint supplies a direction for thinking, not the final formula. We keep the task files and grading the same across these conditions.</a:t>
            </a:r>
          </a:p>
          <a:p>
            <a:endParaRPr/>
          </a:p>
          <a:p>
            <a:r>
              <a:t>Sources:</a:t>
            </a:r>
          </a:p>
          <a:p>
            <a:r>
              <a:t>/Users/yp9846/Desktop/PhysLiteBench/results/hint-comparison-20261014/plan.json</a:t>
            </a:r>
          </a:p>
          <a:p>
            <a:r>
              <a:t>/Users/yp9846/Desktop/PhysLiteBench/tasks/single-file-memory/hint.md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Target time: 55 seconds.</a:t>
            </a:r>
          </a:p>
          <a:p>
            <a:endParaRPr/>
          </a:p>
          <a:p>
            <a:r>
              <a:t>We now have three experiment cohorts. The original no-hint sweep contains 585 attempts and includes GPT-6 models. The collaborator has completed 780 hinted trials, with 390 historical no-hint controls. Its Luna model is GPT-5.6, with six reasoning settings. It also includes Terra and Sol at Low and Medium. Slide 6 combines the two completed cost comparisons. Slide 7 shows our completed local study. Slide 8 shows the completed collaborator Luna effort results. Our separate three-model High-effort study has all 351 observations, comprising 313 local attempts and 38 imported historical Luna baselines. These cohorts stay separate. We use the same 600-second agent and 60-second verifier limits. A timeout cannot be called a physical modeling failure. Historical control batches differ in concurrency and CPU quotas, which matters for timing-sensitive comparisons.</a:t>
            </a:r>
          </a:p>
          <a:p>
            <a:endParaRPr/>
          </a:p>
          <a:p>
            <a:r>
              <a:t>Sources:</a:t>
            </a:r>
          </a:p>
          <a:p>
            <a:r>
              <a:t>https://github.com/liuyiqiandrew/PhysLiteBench/blob/c925ddf30d7729a629125f942bab67d9edc53f1f/results/hint-comparison-20261015-005800/summary.md</a:t>
            </a:r>
          </a:p>
          <a:p>
            <a:r>
              <a:t>https://github.com/liuyiqiandrew/PhysLiteBench/blob/c925ddf30d7729a629125f942bab67d9edc53f1f/results/hint-comparison-20261015-005800/summary.csv</a:t>
            </a:r>
          </a:p>
          <a:p>
            <a:r>
              <a:t>https://github.com/liuyiqiandrew/PhysLiteBench/blob/c925ddf30d7729a629125f942bab67d9edc53f1f/results/hint-comparison-20261015-005800/verification.json</a:t>
            </a:r>
          </a:p>
          <a:p>
            <a:r>
              <a:t>/Users/yp9846/Desktop/PhysLiteBench/results/reasoning-sweep-20261011/README.md</a:t>
            </a:r>
          </a:p>
          <a:p>
            <a:r>
              <a:t>/Users/yp9846/Desktop/PhysLiteBench/results/hint-comparison-20261014/plan.json</a:t>
            </a:r>
          </a:p>
          <a:p>
            <a:endParaRPr/>
          </a:p>
          <a:p>
            <a:r>
              <a:t>Provenance: published aggregates and verification metadata checked locally. Raw collaborator trajectories were not available for independent local review. Historical no-hint runs used four workers without the new per-container CPU quotas. Hint runs used up to eight workers with CPU quotas. These are independent batches, not matched-seed pairs. Costs are frozen API-equivalent estimates, not subscription charges.</a:t>
            </a:r>
          </a:p>
          <a:p>
            <a:endParaRPr/>
          </a:p>
          <a:p>
            <a:r>
              <a:t>Local-study runtime: imported Luna CLI 0.154.0/concurrency four versus local CLI 0.160.0, initially up to three trials then up to six sharing eight Docker CPUs. Tasks, prompts, grading and 600/60-second limits stayed frozen. Historical controls and the resource change prevent a clean causal interpretation. Sources: /Users/yp9846/Desktop/PhysLiteBench/results/hint-comparison-20261014/plan.json and /Users/yp9846/Desktop/PhysLiteBench/results/hint-comparison-20261014/final-audit-20261015.json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Target time: 75 seconds.</a:t>
            </a:r>
          </a:p>
          <a:p>
            <a:endParaRPr/>
          </a:p>
          <a:p>
            <a:r>
              <a:t>Two separate completed studies share this slide. The left panel compares the original no-hint model and effort settings. The right panel compares the collaborator GPT-5.6 Luna prompt conditions. Read upper left as better in each panel, but note the different cost scales and model generations. Do not pool the two cohorts. The right frontier excludes settings with incomplete costs. Slide 8 gives every completed Luna success count, including those with missing costs.</a:t>
            </a:r>
          </a:p>
          <a:p>
            <a:endParaRPr/>
          </a:p>
          <a:p>
            <a:r>
              <a:t>Original no-hint source notes:</a:t>
            </a:r>
          </a:p>
          <a:p>
            <a:endParaRPr/>
          </a:p>
          <a:p>
            <a:endParaRPr/>
          </a:p>
          <a:p>
            <a:r>
              <a:t>This is the observed no-hint cost-success frontier. Every point contains thirty-nine attempts. Higher is better success, and left is lower estimated cost. A Pareto point is one that no other eligible setting beats on both quantities. The dashed line connects those non-dominated settings. GPT-6 Luna Low passes four of thirty-nine at about four tenths of a cent per attempt. Luna Extra High passes twelve at about one point three cents. GPT-6 Sol Low passes thirty-seven at about seven point seven cents. Sol High passes all thirty-nine at about nineteen point eight cents. The exact coordinates in the table help distinguish the low-cost points clustered near the origin. More expensive settings do not exceed that maximum observed score. DeepSeek costs are lower bounds because interrupted requests can have incomplete accounting, so those points do not determine the exact-cost frontier. This comparison describes the selected tasks and fixed runtime budget. Three repeats per task are too few to infer a universal model ranking.</a:t>
            </a:r>
          </a:p>
          <a:p>
            <a:endParaRPr/>
          </a:p>
          <a:p>
            <a:r>
              <a:t>Sources:</a:t>
            </a:r>
          </a:p>
          <a:p>
            <a:r>
              <a:t>/Users/yp9846/Desktop/PhysLiteBench/results/reasoning-sweep-20261011/summary.csv</a:t>
            </a:r>
          </a:p>
          <a:p>
            <a:r>
              <a:t>/Users/yp9846/Desktop/PhysLiteBench/output/reasoning-sweep-20261011/pareto-frontier.json</a:t>
            </a:r>
          </a:p>
          <a:p>
            <a:endParaRPr/>
          </a:p>
          <a:p>
            <a:r>
              <a:t>Collaborator source notes:</a:t>
            </a:r>
          </a:p>
          <a:p>
            <a:endParaRPr/>
          </a:p>
          <a:p>
            <a:endParaRPr/>
          </a:p>
          <a:p>
            <a:r>
              <a:t>These are three separate cost-success frontiers for GPT-5.6 Luna, one for each prompt condition. Each point represents a reasoning-effort setting on all thirteen tasks with three trials each. Upper left is better. To avoid treating missing costs as zero, the curves use only the eleven settings with complete cost records. Seven settings remain outside this cost plot, and the next slide includes their success rates. The clearest High-effort comparison is four passes without hints, eighteen with a general hint, and thirty with a physics hint, all out of thirty-nine. The physics High point costs about 4.55 cents per attempt at the frozen API prices. The two other High costs are incomplete. Because the no-hint controls come from earlier batches with different concurrency and CPU quotas, these results are descriptive rather than an isolated causal estimate.</a:t>
            </a:r>
          </a:p>
          <a:p>
            <a:endParaRPr/>
          </a:p>
          <a:p>
            <a:r>
              <a:t>Sources:</a:t>
            </a:r>
          </a:p>
          <a:p>
            <a:r>
              <a:t>https://github.com/liuyiqiandrew/PhysLiteBench/blob/c925ddf30d7729a629125f942bab67d9edc53f1f/results/hint-comparison-20261015-005800/summary.md</a:t>
            </a:r>
          </a:p>
          <a:p>
            <a:r>
              <a:t>https://github.com/liuyiqiandrew/PhysLiteBench/blob/c925ddf30d7729a629125f942bab67d9edc53f1f/results/hint-comparison-20261015-005800/summary.csv</a:t>
            </a:r>
          </a:p>
          <a:p>
            <a:r>
              <a:t>https://github.com/liuyiqiandrew/PhysLiteBench/blob/c925ddf30d7729a629125f942bab67d9edc53f1f/results/hint-comparison-20261015-005800/verification.json</a:t>
            </a:r>
          </a:p>
          <a:p>
            <a:r>
              <a:t>Historical baseline: https://github.com/liuyiqiandrew/PhysLiteBench/blob/c925ddf30d7729a629125f942bab67d9edc53f1f/results/luna-all-efforts-20261011-205240/report.md</a:t>
            </a:r>
          </a:p>
          <a:p>
            <a:r>
              <a:t>Known-cost curve construction: retain nondominated points separately within each prompt condition, among cost-complete panels only. Missing costs do not participate in dominance comparisons.</a:t>
            </a:r>
          </a:p>
          <a:p>
            <a:endParaRPr/>
          </a:p>
          <a:p>
            <a:r>
              <a:t>Provenance: published aggregates and verification metadata checked locally. Raw collaborator trajectories were not available for independent local review. Historical no-hint runs used four workers without the new per-container CPU quotas. Hint runs used up to eight workers with CPU quotas. These are independent batches, not matched-seed pairs. Costs are frozen API-equivalent estimates, not subscription charges.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Target time: 50 seconds.</a:t>
            </a:r>
          </a:p>
          <a:p>
            <a:endParaRPr/>
          </a:p>
          <a:p>
            <a:r>
              <a:t>All 351 observations are recorded: 313 local attempts and 38 imported Luna baselines. Physics hints produced 32 completed passes for Luna and 36 for Terra out of 39 each. General hints produced seven and thirteen. DeepSeek had 114 execution errors across its 117 attempts, mostly timeouts. These outcomes measure completion under our limits and do not establish a physics reasoning failure.</a:t>
            </a:r>
          </a:p>
          <a:p>
            <a:endParaRPr/>
          </a:p>
          <a:p>
            <a:r>
              <a:t>The left plot shows a separate observed frontier for each prompt condition among settings with complete costs. The blue and teal frontiers contain only Terra. General hints have two points, Luna and Terra. Five settings have missing or uncertain costs and cannot enter exact frontiers. The right table retains all results. Unknown cost is never zero. Upper provider reserves are not confirmed charges.</a:t>
            </a:r>
          </a:p>
          <a:p>
            <a:endParaRPr/>
          </a:p>
          <a:p>
            <a:r>
              <a:t>Luna's 38 historical controls used Codex CLI 0.154.0 and concurrency four. Local trials used CLI 0.160.0, up to three concurrent trials initially, then up to six sharing Docker CPUs 0-7 after the user-authorized amendment. Resources, client and date differ, so the comparison does not isolate a causal hint effect. Hint length is not matched. All frozen task, prompt, grading and model/effort provenance checks passed. Published historical source metadata was checked locally, but raw remote transcripts were not independently verified. These local observations remain separate from the collaborator matrix and original GPT-6 sweep.</a:t>
            </a:r>
          </a:p>
          <a:p>
            <a:endParaRPr/>
          </a:p>
          <a:p>
            <a:r>
              <a:t>Sources:</a:t>
            </a:r>
          </a:p>
          <a:p>
            <a:r>
              <a:t>/Users/yp9846/Desktop/PhysLiteBench/results/hint-comparison-20261014/results.json</a:t>
            </a:r>
          </a:p>
          <a:p>
            <a:r>
              <a:t>/Users/yp9846/Desktop/PhysLiteBench/results/hint-comparison-20261014/final-audit-20261015.json</a:t>
            </a:r>
          </a:p>
          <a:p>
            <a:r>
              <a:t>/Users/yp9846/Desktop/PhysLiteBench/results/hint-comparison-20261014/pricing.json</a:t>
            </a:r>
          </a:p>
          <a:p>
            <a:r>
              <a:t>/Users/yp9846/Desktop/PhysLiteBench/results/hint-comparison-20261014/parallel-eight-cpus-amendment-20261015.json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Target time: 55 seconds.</a:t>
            </a:r>
          </a:p>
          <a:p>
            <a:endParaRPr/>
          </a:p>
          <a:p>
            <a:r>
              <a:t>Now hold the model fixed and compare all six reasoning settings. The three bars at each setting correspond to no hint, general hint, and physics hint. Physics hints have the highest observed success at every effort setting. At High the counts are four, eighteen, and thirty out of thirty-nine. At Max they are eight, twenty-seven, and thirty-five. More reasoning alone does not show a monotonic trend without hints, but the hinted results improve substantially from Low to Max. A physics hint also does not guarantee success, especially with little reasoning. Every panel is complete, including timeouts and the capacity rejection where applicable. The historical controls and small task-level samples limit causal interpretation and precision. The original multi-model no-hint effort comparison is preserved in backup slide seventeen.</a:t>
            </a:r>
          </a:p>
          <a:p>
            <a:endParaRPr/>
          </a:p>
          <a:p>
            <a:r>
              <a:t>Sources:</a:t>
            </a:r>
          </a:p>
          <a:p>
            <a:r>
              <a:t>https://github.com/liuyiqiandrew/PhysLiteBench/blob/c925ddf30d7729a629125f942bab67d9edc53f1f/results/hint-comparison-20261015-005800/summary.md</a:t>
            </a:r>
          </a:p>
          <a:p>
            <a:r>
              <a:t>https://github.com/liuyiqiandrew/PhysLiteBench/blob/c925ddf30d7729a629125f942bab67d9edc53f1f/results/hint-comparison-20261015-005800/summary.csv</a:t>
            </a:r>
          </a:p>
          <a:p>
            <a:r>
              <a:t>https://github.com/liuyiqiandrew/PhysLiteBench/blob/c925ddf30d7729a629125f942bab67d9edc53f1f/results/hint-comparison-20261015-005800/verification.json</a:t>
            </a:r>
          </a:p>
          <a:p>
            <a:endParaRPr/>
          </a:p>
          <a:p>
            <a:endParaRPr/>
          </a:p>
          <a:p>
            <a:r>
              <a:t>Provenance: published aggregates and verification metadata checked locally. Raw collaborator trajectories were not available for independent local review. Historical no-hint runs used four workers without the new per-container CPU quotas. Hint runs used up to eight workers with CPU quotas. These are independent batches, not matched-seed pairs. Costs are frozen API-equivalent estimates, not subscription charges.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Target time: 55 seconds.</a:t>
            </a:r>
          </a:p>
          <a:p>
            <a:endParaRPr/>
          </a:p>
          <a:p>
            <a:r>
              <a:t>The trajectory analysis combines recorded tool actions, final programs, and verifier outcomes. It does not expose private reasoning. Each bar contains one hundred seventeen attempts across three efforts for that model. Of one hundred ninety-one normally completed failures, one hundred eighty-six fail only hidden prediction checks. At least one hundred forty-one of those also show public-test passes in the recorded actions. This is the calibration-to-prediction gap illustrated by the particle task. DeepSeek has a different dominant bottleneck: one hundred five of its one hundred seventeen attempts end with execution errors, including eighty-three timeouts. A zero overall pass rate therefore cannot be interpreted as one hundred seventeen physics mistakes. The aggregate categories tell us where failures appear. A saved program and a targeted intervention are needed to diagnose a particular physical mistake.</a:t>
            </a:r>
          </a:p>
          <a:p>
            <a:endParaRPr/>
          </a:p>
          <a:p>
            <a:r>
              <a:t>Sources:</a:t>
            </a:r>
          </a:p>
          <a:p>
            <a:r>
              <a:t>/Users/yp9846/Desktop/PhysLiteBench/results/trajectory-analysis-20261014/analysis.json</a:t>
            </a:r>
          </a:p>
          <a:p>
            <a:r>
              <a:t>/Users/yp9846/Desktop/PhysLiteBench/output/trajectory-analysis-20261014/report.html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Target time: 80 seconds.</a:t>
            </a:r>
          </a:p>
          <a:p>
            <a:endParaRPr/>
          </a:p>
          <a:p>
            <a:r>
              <a:t>Here is the same bead example, now using a saved Terra run. Every repeat starts with the neighbors evenly spaced. We record the orange bead early and again later. The red arrow means a statistical link across repeats, not a force between two beads.</a:t>
            </a:r>
          </a:p>
          <a:p>
            <a:endParaRPr/>
          </a:p>
          <a:p>
            <a:r>
              <a:t>The agent adjusted one number controlling the amount of random motion. Its code matched the supplied measurements of how far the bead wanders at each time, and the public test passed.</a:t>
            </a:r>
          </a:p>
          <a:p>
            <a:endParaRPr/>
          </a:p>
          <a:p>
            <a:r>
              <a:t>But it kept the starter's rule for connecting the two observations. In plain terms, that rule made an early displacement count too much when predicting the later motion. The evenly spaced starting row affects this connection, and its formula did not account for that effect correctly. Matching the spread at each time could not reveal this mistake.</a:t>
            </a:r>
          </a:p>
          <a:p>
            <a:endParaRPr/>
          </a:p>
          <a:p>
            <a:r>
              <a:t>The hidden predictions were wrong by as much as 136%, against a 4% allowance. We checked the diagnosis by keeping its fitted motion strength and replacing only the rule connecting two times. The largest error fell to about 0.003%. That is our diagnostic correction, not a new agent pass or a hint result. The conclusion comes from the saved code, tool actions and tests.</a:t>
            </a:r>
          </a:p>
          <a:p>
            <a:endParaRPr/>
          </a:p>
          <a:p>
            <a:r>
              <a:t>Sources:</a:t>
            </a:r>
          </a:p>
          <a:p>
            <a:r>
              <a:t>/Users/yp9846/Desktop/PhysLiteBench/tasks/single-file-memory/environment/README.md</a:t>
            </a:r>
          </a:p>
          <a:p>
            <a:r>
              <a:t>/Users/yp9846/Desktop/PhysLiteBench/tasks/single-file-memory/environment/model.py</a:t>
            </a:r>
          </a:p>
          <a:p>
            <a:r>
              <a:t>/Users/yp9846/Desktop/PhysLiteBench/tasks/single-file-memory/solution/model.py</a:t>
            </a:r>
          </a:p>
          <a:p>
            <a:r>
              <a:t>/Users/yp9846/Desktop/PhysLiteBench/results/trajectory-analysis-20261014/cases/single-file-memory__PC6LumP/review.json</a:t>
            </a:r>
          </a:p>
          <a:p>
            <a:r>
              <a:t>/Users/yp9846/Desktop/PhysLiteBench/results/trajectory-analysis-20261014/cases/single-file-memory__PC6LumP/model.diff</a:t>
            </a:r>
          </a:p>
          <a:p>
            <a:r>
              <a:t>/Users/yp9846/Desktop/PhysLiteBench/results/trajectory-analysis-20261014/cases/single-file-memory__PC6LumP/metrics.json</a:t>
            </a:r>
          </a:p>
          <a:p>
            <a:r>
              <a:t>/Users/yp9846/Desktop/PhysLiteBench/results/trajectory-analysis-20261014/diagnostic-repairs.json</a:t>
            </a:r>
          </a:p>
          <a:p>
            <a:endParaRPr/>
          </a:p>
          <a:p>
            <a:r>
              <a:t>Technical clarification for questions: both formulas have correlated motion and agree at equal times. The saved formula overestimates the two-time covariance. It incorrectly treats increments as depending only on the time gap. The benchmark uses a joint long-time coefficient, not the finite-time positions drawn in this schematic. Equations and exact metrics remain in backup slide 16.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Target time: 30 seconds.</a:t>
            </a:r>
          </a:p>
          <a:p>
            <a:endParaRPr/>
          </a:p>
          <a:p>
            <a:r>
              <a:t>A good calibration fit can hide the wrong physical model, as the bead example shows. Cost and completing within the time limit matter alongside reasoning effort. Physics hints have the highest observed success in our local High study, with 32 of 39 completed passes for Luna and 36 for Terra. The separate collaborator study also shows higher observed success with physics hints. Historical controls and runtime differences limit causal claims. DeepSeek results mainly reflect execution problems under this harness.</a:t>
            </a:r>
          </a:p>
          <a:p>
            <a:endParaRPr/>
          </a:p>
          <a:p>
            <a:r>
              <a:t>Sources:</a:t>
            </a:r>
          </a:p>
          <a:p>
            <a:r>
              <a:t>/Users/yp9846/Desktop/PhysLiteBench/results/hint-comparison-20261014/results.json</a:t>
            </a:r>
          </a:p>
          <a:p>
            <a:r>
              <a:t>/Users/yp9846/Desktop/PhysLiteBench/results/hint-comparison-20261014/final-audit-20261015.json</a:t>
            </a:r>
          </a:p>
          <a:p>
            <a:r>
              <a:t>https://github.com/liuyiqiandrew/PhysLiteBench/blob/c925ddf30d7729a629125f942bab67d9edc53f1f/results/hint-comparison-20261015-005800/summary.md</a:t>
            </a:r>
          </a:p>
          <a:p>
            <a:r>
              <a:t>The collaborator and local cohorts remain separate. Raw remote transcripts were not independently verified locally.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Target time: 180 seconds.</a:t>
            </a:r>
          </a:p>
          <a:p>
            <a:endParaRPr/>
          </a:p>
          <a:p>
            <a:r>
              <a:t>Suggested discussion prompts: How much does selecting tasks against Luna affect the ranking? How should timeout checkpoints enter a benchmark score? What evidence would isolate a causal hint effect? The backup slides give the full no-hint counts, the collaborator cohort and the task roster. Answer with the specific scope limits: selected tasks, three repeats per task, preserved failures, historical baselines and the time budget.</a:t>
            </a:r>
          </a:p>
          <a:p>
            <a:endParaRPr/>
          </a:p>
          <a:p>
            <a:r>
              <a:t>Sources:</a:t>
            </a:r>
          </a:p>
          <a:p>
            <a:r>
              <a:t>/Users/yp9846/Desktop/PhysLiteBench/results/reasoning-sweep-20261011/README.md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Target time: skip in current talk.</a:t>
            </a:r>
          </a:p>
          <a:p>
            <a:endParaRPr/>
          </a:p>
          <a:p>
            <a:r>
              <a:t>Use this slide for exact-count questions. Astra Extra High has thirty-seven completed passes but thirty-nine passing checkpoints. Terra Extra High has nineteen completed passes and twenty passing checkpoints. Luna Extra High has twelve completed passes and thirteen passing checkpoints. DeepSeek Low, High and Max costs remain lower bounds because of interrupted-response accounting. Four historical Terra High attempts were affected by host sleep, and three started DeepSeek High connection failures overlapped host sleep. Those outcomes are preserved in the primary data.</a:t>
            </a:r>
          </a:p>
          <a:p>
            <a:endParaRPr/>
          </a:p>
          <a:p>
            <a:r>
              <a:t>Sources:</a:t>
            </a:r>
          </a:p>
          <a:p>
            <a:r>
              <a:t>/Users/yp9846/Desktop/PhysLiteBench/results/reasoning-sweep-20261011/summary.csv</a:t>
            </a:r>
          </a:p>
          <a:p>
            <a:r>
              <a:t>/Users/yp9846/Desktop/PhysLiteBench/results/reasoning-sweep-20261011/README.md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Target time: skip in current talk.</a:t>
            </a:r>
          </a:p>
          <a:p>
            <a:endParaRPr/>
          </a:p>
          <a:p>
            <a:r>
              <a:t>The collaborator completed twenty hinted panels of thirty-nine model attempts, or 780 attempts. Its ten historical no-hint panels contribute another 390 controls. There are 440 clean hinted passes, 315 graded failures, 24 timeouts, and one API-capacity rejection. Five additional pre-agent setup failures are retained outside those matrix denominators, giving 785 orchestration records. The collaborator filled only those five setup slots, and reports that no model-phase failure was resampled. Our ongoing local study follows its own frozen retention rule and remains separate. Nineteen hinted attempts have unknown full cost. We checked aggregate arithmetic and published metadata locally, not raw remote sessions.</a:t>
            </a:r>
          </a:p>
          <a:p>
            <a:endParaRPr/>
          </a:p>
          <a:p>
            <a:r>
              <a:t>Sources:</a:t>
            </a:r>
          </a:p>
          <a:p>
            <a:r>
              <a:t>https://github.com/liuyiqiandrew/PhysLiteBench/blob/c925ddf30d7729a629125f942bab67d9edc53f1f/results/hint-comparison-20261015-005800/summary.md</a:t>
            </a:r>
          </a:p>
          <a:p>
            <a:r>
              <a:t>https://github.com/liuyiqiandrew/PhysLiteBench/blob/c925ddf30d7729a629125f942bab67d9edc53f1f/results/hint-comparison-20261015-005800/summary.csv</a:t>
            </a:r>
          </a:p>
          <a:p>
            <a:r>
              <a:t>https://github.com/liuyiqiandrew/PhysLiteBench/blob/c925ddf30d7729a629125f942bab67d9edc53f1f/results/hint-comparison-20261015-005800/verification.json</a:t>
            </a:r>
          </a:p>
          <a:p>
            <a:endParaRPr/>
          </a:p>
          <a:p>
            <a:endParaRPr/>
          </a:p>
          <a:p>
            <a:r>
              <a:t>Provenance: published aggregates and verification metadata checked locally. Raw collaborator trajectories were not available for independent local review. Historical no-hint runs used four workers without the new per-container CPU quotas. Hint runs used up to eight workers with CPU quotas. These are independent batches, not matched-seed pairs. Costs are frozen API-equivalent estimates, not subscription charges.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Target time: skip in current talk.</a:t>
            </a:r>
          </a:p>
          <a:p>
            <a:endParaRPr/>
          </a:p>
          <a:p>
            <a:r>
              <a:t>This is the complete thirteen-task roster used in the current comparison. The inherited hydrodynamic-heating and thermoelastic-rod folders are outside the roster. The main experiment keeps task files, public instructions, grading and time limits fixed. The results describe this selected suite, and they do not establish population-wide success rates. A zero out of three observation also leaves substantial uncertainty about a task’s underlying pass probability.</a:t>
            </a:r>
          </a:p>
          <a:p>
            <a:endParaRPr/>
          </a:p>
          <a:p>
            <a:r>
              <a:t>Sources:</a:t>
            </a:r>
          </a:p>
          <a:p>
            <a:r>
              <a:t>/Users/yp9846/Desktop/PhysLiteBench/results/task-roster.json</a:t>
            </a:r>
          </a:p>
          <a:p>
            <a:r>
              <a:t>/Users/yp9846/Desktop/PhysLiteBench/results/hint-comparison-20261014/plan.json</a:t>
            </a:r>
          </a:p>
          <a:p>
            <a:r>
              <a:t>/Users/yp9846/Desktop/PhysLiteBench/AGENTS.md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Target time: skip in current talk.</a:t>
            </a:r>
          </a:p>
          <a:p>
            <a:endParaRPr/>
          </a:p>
          <a:p>
            <a:r>
              <a:t>Technical detail for questions. The channel represents an infinite line of identical Brownian point particles with reflecting collisions and fixed initial positions j/rho in each independent repeat. The task predicts the joint long-time covariance coefficient, not finite-time trajectories or the exact position in one realization. With A = sqrt(D/pi)/rho, the correct coefficient is A[sqrt(t+s)-sqrt(abs(t-s))]. The starter uses A/sqrt(2)[sqrt(t)+sqrt(s)-sqrt(abs(t-s))]. Both agree on every equal-time setting. The plotted curves use the same D and density, normalized to the equal-time value, with earlier time multiplier 0.5 and later multiplier from 0.5 to 4. They therefore isolate the time-dependence difference. This plot is analytic, not a measured trial result. The apparent memory comes from the fixed preparation and no-passing constraint, even though the random forcing on different particles is independent. The saved Terra fit is 0.949947415037877. Its parameter error is 0.005535%, and its prediction-group errors at later/earlier ratios 2, 4 and 8 are 36.60%, 77.88% and 136.06%. Replacing only the covariance expression at the fixed fitted D reduces all tested group errors to 0.002768%.</a:t>
            </a:r>
          </a:p>
          <a:p>
            <a:endParaRPr/>
          </a:p>
          <a:p>
            <a:r>
              <a:t>Sources:</a:t>
            </a:r>
          </a:p>
          <a:p>
            <a:r>
              <a:t>/Users/yp9846/Desktop/PhysLiteBench/tasks/single-file-memory/environment/README.md</a:t>
            </a:r>
          </a:p>
          <a:p>
            <a:r>
              <a:t>/Users/yp9846/Desktop/PhysLiteBench/tasks/single-file-memory/instruction.md</a:t>
            </a:r>
          </a:p>
          <a:p>
            <a:r>
              <a:t>/Users/yp9846/Desktop/PhysLiteBench/tasks/single-file-memory/environment/model.py</a:t>
            </a:r>
          </a:p>
          <a:p>
            <a:r>
              <a:t>/Users/yp9846/Desktop/PhysLiteBench/tasks/single-file-memory/solution/model.py</a:t>
            </a:r>
          </a:p>
          <a:p>
            <a:r>
              <a:t>/Users/yp9846/Desktop/PhysLiteBench/tasks/single-file-memory/AUTHOR.md</a:t>
            </a:r>
          </a:p>
          <a:p>
            <a:r>
              <a:t>/Users/yp9846/Desktop/PhysLiteBench/results/trajectory-analysis-20261014/cases/single-file-memory__PC6LumP/metrics.json</a:t>
            </a:r>
          </a:p>
          <a:p>
            <a:r>
              <a:t>/Users/yp9846/Desktop/PhysLiteBench/results/trajectory-analysis-20261014/diagnostic-repairs.json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Target time: skip in current talk.</a:t>
            </a:r>
          </a:p>
          <a:p>
            <a:endParaRPr/>
          </a:p>
          <a:p>
            <a:r>
              <a:t>Here we hold each model fixed and compare its effort settings on the same task suite. Terra increases from four to nine to nineteen completed passes. Luna rises substantially at Extra High, although its Low-to-High change goes the other way. Sol already succeeds on almost every attempt at Low. The Astra Extra High setting loses two completed passes because of timeouts. Both saved checkpoints pass the verifier afterward, but completion within the allowed budget is part of the score. These are descriptive comparisons: each point has only three repeats per task, and the High settings include earlier matching observations. Configuring more reasoning can improve a model's predictions, but it can also consume its execution budget, so completed success need not increase monotonically.</a:t>
            </a:r>
          </a:p>
          <a:p>
            <a:endParaRPr/>
          </a:p>
          <a:p>
            <a:r>
              <a:t>Sources:</a:t>
            </a:r>
          </a:p>
          <a:p>
            <a:r>
              <a:t>/Users/yp9846/Desktop/PhysLiteBench/results/reasoning-sweep-20261011/summary.csv</a:t>
            </a:r>
          </a:p>
          <a:p>
            <a:r>
              <a:t>/Users/yp9846/Desktop/PhysLiteBench/results/trajectory-analysis-20261014/analysis.json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33DAF00F-B395-4BB8-A439-9AA89BEDDAAB}"/>
              </a:ext>
            </a:extLst>
          </p:cNvPr>
          <p:cNvSpPr>
            <a:spLocks noGrp="1"/>
          </p:cNvSpPr>
          <p:nvPr>
            <p:ph type="title"/>
          </p:nvPr>
        </p:nvSpPr>
        <p:spPr>
          <a:xfrm>
            <a:off x="1219200" y="2590800"/>
            <a:ext cx="9753600" cy="990600"/>
          </a:xfrm>
          <a:prstGeom prst="rect">
            <a:avLst/>
          </a:prstGeom>
          <a:noFill/>
          <a:ln>
            <a:noFill/>
            <a:prstDash val="solid"/>
          </a:ln>
        </p:spPr>
        <p:txBody>
          <a:bodyPr wrap="square" lIns="0" tIns="0" rIns="0" bIns="0" anchor="ctr">
            <a:normAutofit/>
          </a:bodyPr>
          <a:lstStyle>
            <a:defPPr algn="ctr">
              <a:defRPr sz="48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a:endParaRPr/>
          </a:p>
        </p:txBody>
      </p:sp>
      <p:sp>
        <p:nvSpPr>
          <p:cNvPr id="2" name="Subtitle">
            <a:extLst>
              <a:ext uri="{FF2B5EF4-FFF2-40B4-BE49-F238E27FC236}">
                <a16:creationId xmlns:a16="http://schemas.microsoft.com/office/drawing/2014/main" id="{B816860D-B2BB-4679-95BC-EC17130D2CD2}"/>
              </a:ext>
            </a:extLst>
          </p:cNvPr>
          <p:cNvSpPr>
            <a:spLocks noGrp="1"/>
          </p:cNvSpPr>
          <p:nvPr>
            <p:ph type="subTitle" idx="1"/>
          </p:nvPr>
        </p:nvSpPr>
        <p:spPr>
          <a:xfrm>
            <a:off x="1828800" y="3771900"/>
            <a:ext cx="8534400" cy="762000"/>
          </a:xfrm>
          <a:prstGeom prst="rect">
            <a:avLst/>
          </a:prstGeom>
          <a:noFill/>
          <a:ln>
            <a:noFill/>
            <a:prstDash val="solid"/>
          </a:ln>
        </p:spPr>
        <p:txBody>
          <a:bodyPr wrap="square" lIns="0" tIns="0" rIns="0" bIns="0" anchor="ctr">
            <a:normAutofit/>
          </a:bodyPr>
          <a:lstStyle>
            <a:defPPr algn="ctr">
              <a:defRPr sz="2100" b="0">
                <a:solidFill>
                  <a:schemeClr val="tx1"/>
                </a:solidFill>
                <a:latin typeface="+mn-lt"/>
                <a:ea typeface="+mn-lt"/>
                <a:cs typeface="+mn-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2" name="Section title">
            <a:extLst>
              <a:ext uri="{FF2B5EF4-FFF2-40B4-BE49-F238E27FC236}">
                <a16:creationId xmlns:a16="http://schemas.microsoft.com/office/drawing/2014/main" id="{5C6704A9-9853-44A6-8B4A-4DC4DB9A4715}"/>
              </a:ext>
            </a:extLst>
          </p:cNvPr>
          <p:cNvSpPr>
            <a:spLocks noGrp="1"/>
          </p:cNvSpPr>
          <p:nvPr>
            <p:ph type="title"/>
          </p:nvPr>
        </p:nvSpPr>
        <p:spPr>
          <a:xfrm>
            <a:off x="1219200" y="2857500"/>
            <a:ext cx="9753600" cy="1143000"/>
          </a:xfrm>
          <a:prstGeom prst="rect">
            <a:avLst/>
          </a:prstGeom>
          <a:noFill/>
          <a:ln>
            <a:noFill/>
            <a:prstDash val="solid"/>
          </a:ln>
        </p:spPr>
        <p:txBody>
          <a:bodyPr wrap="square" lIns="0" tIns="0" rIns="0" bIns="0" anchor="ctr">
            <a:normAutofit/>
          </a:bodyPr>
          <a:lstStyle>
            <a:defPPr algn="ctr">
              <a:defRPr sz="42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D0E75D2A-E789-411F-A213-993328928F9B}"/>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a:endParaRPr/>
          </a:p>
        </p:txBody>
      </p:sp>
      <p:sp>
        <p:nvSpPr>
          <p:cNvPr id="2" name="Body">
            <a:extLst>
              <a:ext uri="{FF2B5EF4-FFF2-40B4-BE49-F238E27FC236}">
                <a16:creationId xmlns:a16="http://schemas.microsoft.com/office/drawing/2014/main" id="{EEEACEAE-9A1D-4507-A60D-2AE6FC7CF3FD}"/>
              </a:ext>
            </a:extLst>
          </p:cNvPr>
          <p:cNvSpPr>
            <a:spLocks noGrp="1"/>
          </p:cNvSpPr>
          <p:nvPr>
            <p:ph type="body" idx="1"/>
          </p:nvPr>
        </p:nvSpPr>
        <p:spPr>
          <a:xfrm>
            <a:off x="685800" y="1905000"/>
            <a:ext cx="108204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27CEFAC2-A0C9-4F70-B012-77B95FAB7D22}"/>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a:endParaRPr/>
          </a:p>
        </p:txBody>
      </p:sp>
      <p:sp>
        <p:nvSpPr>
          <p:cNvPr id="2" name="Left column">
            <a:extLst>
              <a:ext uri="{FF2B5EF4-FFF2-40B4-BE49-F238E27FC236}">
                <a16:creationId xmlns:a16="http://schemas.microsoft.com/office/drawing/2014/main" id="{FE9C7553-1AB5-446B-B4C5-ABBCB0AC29FA}"/>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a:endParaRPr/>
          </a:p>
        </p:txBody>
      </p:sp>
      <p:sp>
        <p:nvSpPr>
          <p:cNvPr id="3" name="Right column">
            <a:extLst>
              <a:ext uri="{FF2B5EF4-FFF2-40B4-BE49-F238E27FC236}">
                <a16:creationId xmlns:a16="http://schemas.microsoft.com/office/drawing/2014/main" id="{B0184D06-C74C-4068-BE3F-45139A68C7ED}"/>
              </a:ext>
            </a:extLst>
          </p:cNvPr>
          <p:cNvSpPr>
            <a:spLocks noGrp="1"/>
          </p:cNvSpPr>
          <p:nvPr>
            <p:ph type="body" idx="2"/>
          </p:nvPr>
        </p:nvSpPr>
        <p:spPr>
          <a:xfrm>
            <a:off x="64770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457D4CBD-570B-4FE0-8AC2-C6CC842A2CE4}"/>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a:endParaRPr/>
          </a:p>
        </p:txBody>
      </p:sp>
      <p:sp>
        <p:nvSpPr>
          <p:cNvPr id="2" name="Left column">
            <a:extLst>
              <a:ext uri="{FF2B5EF4-FFF2-40B4-BE49-F238E27FC236}">
                <a16:creationId xmlns:a16="http://schemas.microsoft.com/office/drawing/2014/main" id="{2ACBB10A-755C-4118-A48F-8124498F7F46}"/>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6.xml"/><Relationship Id="rId1" Type="http://schemas.openxmlformats.org/officeDocument/2006/relationships/slideLayout" Target="../slideLayouts/slideLayout6.xml"/><Relationship Id="rId4" Type="http://schemas.openxmlformats.org/officeDocument/2006/relationships/chart" Target="../charts/chart2.xml"/></Relationships>
</file>

<file path=ppt/slides/_rels/slide7.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chart" Target="../charts/chart7.xml"/><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B0B0F"/>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9305941-EC9E-4DF1-85D9-9C688DEBF0BA}"/>
              </a:ext>
            </a:extLst>
          </p:cNvPr>
          <p:cNvSpPr>
            <a:spLocks noGrp="1"/>
          </p:cNvSpPr>
          <p:nvPr/>
        </p:nvSpPr>
        <p:spPr>
          <a:xfrm>
            <a:off x="609600" y="2266950"/>
            <a:ext cx="10972800" cy="990600"/>
          </a:xfrm>
          <a:prstGeom prst="rect">
            <a:avLst/>
          </a:prstGeom>
          <a:noFill/>
          <a:ln w="0">
            <a:noFill/>
          </a:ln>
        </p:spPr>
        <p:txBody>
          <a:bodyPr wrap="square" lIns="0" tIns="0" rIns="0" bIns="0" anchor="t"/>
          <a:lstStyle>
            <a:defPPr algn="l">
              <a:defRPr sz="5700" b="1">
                <a:solidFill>
                  <a:srgbClr val="FFFFFF"/>
                </a:solidFill>
                <a:latin typeface="Times New Roman"/>
                <a:ea typeface="Times New Roman"/>
                <a:cs typeface="Times New Roman"/>
              </a:defRPr>
            </a:defPPr>
          </a:lstStyle>
          <a:p>
            <a:pPr algn="l">
              <a:buNone/>
              <a:defRPr sz="5700" b="1">
                <a:solidFill>
                  <a:srgbClr val="FFFFFF"/>
                </a:solidFill>
                <a:latin typeface="Times New Roman"/>
                <a:ea typeface="Times New Roman"/>
                <a:cs typeface="Times New Roman"/>
              </a:defRPr>
            </a:pPr>
            <a:r>
              <a:rPr sz="5700" b="1">
                <a:solidFill>
                  <a:srgbClr val="FFFFFF"/>
                </a:solidFill>
                <a:latin typeface="Times New Roman"/>
                <a:ea typeface="Times New Roman"/>
                <a:cs typeface="Times New Roman"/>
              </a:rPr>
              <a:t>PhysLiteBench</a:t>
            </a:r>
          </a:p>
        </p:txBody>
      </p:sp>
      <p:sp>
        <p:nvSpPr>
          <p:cNvPr id="2" name="Rectangle 1">
            <a:extLst>
              <a:ext uri="{FF2B5EF4-FFF2-40B4-BE49-F238E27FC236}">
                <a16:creationId xmlns:a16="http://schemas.microsoft.com/office/drawing/2014/main" id="{A66653FB-D27E-4B22-AFF4-475D4255B342}"/>
              </a:ext>
            </a:extLst>
          </p:cNvPr>
          <p:cNvSpPr>
            <a:spLocks noGrp="1"/>
          </p:cNvSpPr>
          <p:nvPr/>
        </p:nvSpPr>
        <p:spPr>
          <a:xfrm>
            <a:off x="647700" y="3695700"/>
            <a:ext cx="10668000" cy="552450"/>
          </a:xfrm>
          <a:prstGeom prst="rect">
            <a:avLst/>
          </a:prstGeom>
          <a:noFill/>
          <a:ln w="0">
            <a:noFill/>
          </a:ln>
        </p:spPr>
        <p:txBody>
          <a:bodyPr wrap="square" lIns="0" tIns="0" rIns="0" bIns="0" anchor="t"/>
          <a:lstStyle>
            <a:defPPr algn="l">
              <a:defRPr sz="2700" b="0">
                <a:solidFill>
                  <a:srgbClr val="D1D5DB"/>
                </a:solidFill>
                <a:latin typeface="Times New Roman"/>
                <a:ea typeface="Times New Roman"/>
                <a:cs typeface="Times New Roman"/>
              </a:defRPr>
            </a:defPPr>
          </a:lstStyle>
          <a:p>
            <a:pPr algn="l">
              <a:buNone/>
              <a:defRPr sz="2700" b="0">
                <a:solidFill>
                  <a:srgbClr val="D1D5DB"/>
                </a:solidFill>
                <a:latin typeface="Times New Roman"/>
                <a:ea typeface="Times New Roman"/>
                <a:cs typeface="Times New Roman"/>
              </a:defRPr>
            </a:pPr>
            <a:r>
              <a:rPr sz="2700" b="0">
                <a:solidFill>
                  <a:srgbClr val="D1D5DB"/>
                </a:solidFill>
                <a:latin typeface="Times New Roman"/>
                <a:ea typeface="Times New Roman"/>
                <a:cs typeface="Times New Roman"/>
              </a:rPr>
              <a:t>Yue Pan and Andrew Liu</a:t>
            </a:r>
          </a:p>
        </p:txBody>
      </p:sp>
    </p:spTree>
    <p:extLst>
      <p:ext uri="{BB962C8B-B14F-4D97-AF65-F5344CB8AC3E}">
        <p14:creationId xmlns:p14="http://schemas.microsoft.com/office/powerpoint/2010/main" val="7398851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EBC09820-22BB-4372-A10F-CB42F1E32FBB}"/>
              </a:ext>
            </a:extLst>
          </p:cNvPr>
          <p:cNvSpPr>
            <a:spLocks noGrp="1"/>
          </p:cNvSpPr>
          <p:nvPr/>
        </p:nvSpPr>
        <p:spPr>
          <a:xfrm>
            <a:off x="457200" y="209550"/>
            <a:ext cx="11277600" cy="638175"/>
          </a:xfrm>
          <a:prstGeom prst="rect">
            <a:avLst/>
          </a:prstGeom>
          <a:noFill/>
          <a:ln w="0">
            <a:noFill/>
          </a:ln>
        </p:spPr>
        <p:txBody>
          <a:bodyPr wrap="square" lIns="0" tIns="0" rIns="0" bIns="0" anchor="t"/>
          <a:lstStyle>
            <a:defPPr algn="l">
              <a:defRPr sz="3600" b="1" i="0">
                <a:solidFill>
                  <a:srgbClr val="111111"/>
                </a:solidFill>
                <a:latin typeface="Times New Roman"/>
                <a:ea typeface="Times New Roman"/>
                <a:cs typeface="Times New Roman"/>
              </a:defRPr>
            </a:defPPr>
          </a:lstStyle>
          <a:p>
            <a:pPr algn="l">
              <a:buNone/>
              <a:defRPr sz="3600" b="1" i="0">
                <a:solidFill>
                  <a:srgbClr val="111111"/>
                </a:solidFill>
                <a:latin typeface="Times New Roman"/>
                <a:ea typeface="Times New Roman"/>
                <a:cs typeface="Times New Roman"/>
              </a:defRPr>
            </a:pPr>
            <a:r>
              <a:rPr sz="3600" b="1" i="0">
                <a:solidFill>
                  <a:srgbClr val="111111"/>
                </a:solidFill>
                <a:latin typeface="Times New Roman"/>
                <a:ea typeface="Times New Roman"/>
                <a:cs typeface="Times New Roman"/>
              </a:rPr>
              <a:t>Physics beyond a good fit</a:t>
            </a:r>
          </a:p>
        </p:txBody>
      </p:sp>
      <p:sp>
        <p:nvSpPr>
          <p:cNvPr id="2" name="Rectangle 1">
            <a:extLst>
              <a:ext uri="{FF2B5EF4-FFF2-40B4-BE49-F238E27FC236}">
                <a16:creationId xmlns:a16="http://schemas.microsoft.com/office/drawing/2014/main" id="{C4A9DD3B-B3F9-48AA-BE20-495804BE1615}"/>
              </a:ext>
            </a:extLst>
          </p:cNvPr>
          <p:cNvSpPr>
            <a:spLocks noGrp="1"/>
          </p:cNvSpPr>
          <p:nvPr/>
        </p:nvSpPr>
        <p:spPr>
          <a:xfrm>
            <a:off x="457200" y="914400"/>
            <a:ext cx="11277600" cy="457200"/>
          </a:xfrm>
          <a:prstGeom prst="rect">
            <a:avLst/>
          </a:prstGeom>
          <a:noFill/>
          <a:ln w="0">
            <a:noFill/>
          </a:ln>
        </p:spPr>
        <p:txBody>
          <a:bodyPr wrap="square" lIns="0" tIns="0" rIns="0" bIns="0" anchor="t"/>
          <a:lstStyle>
            <a:defPPr algn="l">
              <a:defRPr sz="1875" b="0" i="0">
                <a:solidFill>
                  <a:srgbClr val="444444"/>
                </a:solidFill>
                <a:latin typeface="Times New Roman"/>
                <a:ea typeface="Times New Roman"/>
                <a:cs typeface="Times New Roman"/>
              </a:defRPr>
            </a:defPPr>
          </a:lstStyle>
          <a:p>
            <a:pPr algn="l">
              <a:buNone/>
              <a:defRPr sz="1875" b="0" i="0">
                <a:solidFill>
                  <a:srgbClr val="444444"/>
                </a:solidFill>
                <a:latin typeface="Times New Roman"/>
                <a:ea typeface="Times New Roman"/>
                <a:cs typeface="Times New Roman"/>
              </a:defRPr>
            </a:pPr>
            <a:r>
              <a:rPr sz="1875" b="0" i="0" dirty="0">
                <a:solidFill>
                  <a:srgbClr val="444444"/>
                </a:solidFill>
                <a:latin typeface="Times New Roman"/>
                <a:ea typeface="Times New Roman"/>
                <a:cs typeface="Times New Roman"/>
              </a:rPr>
              <a:t>Can a coding agent infer the right physical model from a description and limited </a:t>
            </a:r>
            <a:r>
              <a:rPr lang="en-US" sz="1875" dirty="0">
                <a:solidFill>
                  <a:srgbClr val="444444"/>
                </a:solidFill>
                <a:latin typeface="Times New Roman"/>
                <a:ea typeface="Times New Roman"/>
                <a:cs typeface="Times New Roman"/>
              </a:rPr>
              <a:t>observations</a:t>
            </a:r>
            <a:r>
              <a:rPr sz="1875" b="0" i="0" dirty="0">
                <a:solidFill>
                  <a:srgbClr val="444444"/>
                </a:solidFill>
                <a:latin typeface="Times New Roman"/>
                <a:ea typeface="Times New Roman"/>
                <a:cs typeface="Times New Roman"/>
              </a:rPr>
              <a:t>?</a:t>
            </a:r>
          </a:p>
        </p:txBody>
      </p:sp>
      <p:graphicFrame>
        <p:nvGraphicFramePr>
          <p:cNvPr id="4" name="Table 3">
            <a:extLst>
              <a:ext uri="{FF2B5EF4-FFF2-40B4-BE49-F238E27FC236}">
                <a16:creationId xmlns:a16="http://schemas.microsoft.com/office/drawing/2014/main" id="{1A66BF76-E2D5-417C-8BC6-D9F595403002}"/>
              </a:ext>
            </a:extLst>
          </p:cNvPr>
          <p:cNvGraphicFramePr/>
          <p:nvPr>
            <p:extLst>
              <p:ext uri="{D42A27DB-BD31-4B8C-83A1-F6EECF244321}">
                <p14:modId xmlns:p14="http://schemas.microsoft.com/office/powerpoint/2010/main" val="208361013"/>
              </p:ext>
            </p:extLst>
          </p:nvPr>
        </p:nvGraphicFramePr>
        <p:xfrm>
          <a:off x="457200" y="1819275"/>
          <a:ext cx="11277600" cy="2714624"/>
        </p:xfrm>
        <a:graphic>
          <a:graphicData uri="http://schemas.openxmlformats.org/drawingml/2006/table">
            <a:tbl>
              <a:tblPr/>
              <a:tblGrid>
                <a:gridCol w="5510869">
                  <a:extLst>
                    <a:ext uri="{9D8B030D-6E8A-4147-A177-3AD203B41FA5}">
                      <a16:colId xmlns:a16="http://schemas.microsoft.com/office/drawing/2014/main" val="20000"/>
                    </a:ext>
                  </a:extLst>
                </a:gridCol>
                <a:gridCol w="5766731">
                  <a:extLst>
                    <a:ext uri="{9D8B030D-6E8A-4147-A177-3AD203B41FA5}">
                      <a16:colId xmlns:a16="http://schemas.microsoft.com/office/drawing/2014/main" val="20001"/>
                    </a:ext>
                  </a:extLst>
                </a:gridCol>
              </a:tblGrid>
              <a:tr h="678656">
                <a:tc>
                  <a:txBody>
                    <a:bodyPr/>
                    <a:lstStyle/>
                    <a:p>
                      <a:r>
                        <a:rPr sz="2025" b="1">
                          <a:solidFill>
                            <a:srgbClr val="FFFFFF"/>
                          </a:solidFill>
                          <a:latin typeface="Times New Roman"/>
                          <a:ea typeface="Times New Roman"/>
                          <a:cs typeface="Times New Roman"/>
                        </a:rPr>
                        <a:t>Available to the agent</a:t>
                      </a:r>
                    </a:p>
                  </a:txBody>
                  <a:tcPr marL="114300" marR="114300" marT="66675" marB="66675" anchor="ctr">
                    <a:lnL w="5715">
                      <a:solidFill>
                        <a:srgbClr val="C7CBD1"/>
                      </a:solidFill>
                      <a:prstDash val="solid"/>
                    </a:lnL>
                    <a:lnR w="5715">
                      <a:solidFill>
                        <a:srgbClr val="C7CBD1"/>
                      </a:solidFill>
                      <a:prstDash val="solid"/>
                    </a:lnR>
                    <a:lnT w="5715">
                      <a:solidFill>
                        <a:srgbClr val="C7CBD1"/>
                      </a:solidFill>
                      <a:prstDash val="solid"/>
                    </a:lnT>
                    <a:lnB w="5715">
                      <a:solidFill>
                        <a:srgbClr val="C7CBD1"/>
                      </a:solidFill>
                      <a:prstDash val="solid"/>
                    </a:lnB>
                    <a:solidFill>
                      <a:srgbClr val="374151"/>
                    </a:solidFill>
                  </a:tcPr>
                </a:tc>
                <a:tc>
                  <a:txBody>
                    <a:bodyPr/>
                    <a:lstStyle/>
                    <a:p>
                      <a:r>
                        <a:rPr sz="2025" b="1">
                          <a:solidFill>
                            <a:srgbClr val="FFFFFF"/>
                          </a:solidFill>
                          <a:latin typeface="Times New Roman"/>
                          <a:ea typeface="Times New Roman"/>
                          <a:cs typeface="Times New Roman"/>
                        </a:rPr>
                        <a:t>What the evaluator checks</a:t>
                      </a:r>
                    </a:p>
                  </a:txBody>
                  <a:tcPr marL="114300" marR="114300" marT="66675" marB="66675" anchor="ctr">
                    <a:lnL w="5715" cmpd="sng">
                      <a:solidFill>
                        <a:srgbClr val="C7CBD1"/>
                      </a:solidFill>
                      <a:prstDash val="solid"/>
                    </a:lnL>
                    <a:lnR w="5715">
                      <a:solidFill>
                        <a:srgbClr val="C7CBD1"/>
                      </a:solidFill>
                      <a:prstDash val="solid"/>
                    </a:lnR>
                    <a:lnT w="5715">
                      <a:solidFill>
                        <a:srgbClr val="C7CBD1"/>
                      </a:solidFill>
                      <a:prstDash val="solid"/>
                    </a:lnT>
                    <a:lnB w="5715">
                      <a:solidFill>
                        <a:srgbClr val="C7CBD1"/>
                      </a:solidFill>
                      <a:prstDash val="solid"/>
                    </a:lnB>
                    <a:solidFill>
                      <a:srgbClr val="374151"/>
                    </a:solidFill>
                  </a:tcPr>
                </a:tc>
                <a:extLst>
                  <a:ext uri="{0D108BD9-81ED-4DB2-BD59-A6C34878D82A}">
                    <a16:rowId xmlns:a16="http://schemas.microsoft.com/office/drawing/2014/main" val="10000"/>
                  </a:ext>
                </a:extLst>
              </a:tr>
              <a:tr h="678656">
                <a:tc>
                  <a:txBody>
                    <a:bodyPr/>
                    <a:lstStyle/>
                    <a:p>
                      <a:r>
                        <a:rPr sz="2025" b="0" dirty="0">
                          <a:solidFill>
                            <a:srgbClr val="111111"/>
                          </a:solidFill>
                          <a:latin typeface="Times New Roman"/>
                          <a:ea typeface="Times New Roman"/>
                          <a:cs typeface="Times New Roman"/>
                        </a:rPr>
                        <a:t>Physical </a:t>
                      </a:r>
                      <a:r>
                        <a:rPr lang="en-US" sz="2025" b="0" dirty="0">
                          <a:solidFill>
                            <a:srgbClr val="111111"/>
                          </a:solidFill>
                          <a:latin typeface="Times New Roman"/>
                          <a:ea typeface="Times New Roman"/>
                          <a:cs typeface="Times New Roman"/>
                        </a:rPr>
                        <a:t>description</a:t>
                      </a:r>
                      <a:r>
                        <a:rPr sz="2025" b="0" dirty="0">
                          <a:solidFill>
                            <a:srgbClr val="111111"/>
                          </a:solidFill>
                          <a:latin typeface="Times New Roman"/>
                          <a:ea typeface="Times New Roman"/>
                          <a:cs typeface="Times New Roman"/>
                        </a:rPr>
                        <a:t> and starter code</a:t>
                      </a:r>
                    </a:p>
                  </a:txBody>
                  <a:tcPr marL="114300" marR="114300" marT="66675" marB="66675" anchor="ctr">
                    <a:lnL w="5715">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FFFFF"/>
                    </a:solidFill>
                  </a:tcPr>
                </a:tc>
                <a:tc>
                  <a:txBody>
                    <a:bodyPr/>
                    <a:lstStyle/>
                    <a:p>
                      <a:r>
                        <a:rPr sz="2025" b="0">
                          <a:solidFill>
                            <a:srgbClr val="111111"/>
                          </a:solidFill>
                          <a:latin typeface="Times New Roman"/>
                          <a:ea typeface="Times New Roman"/>
                          <a:cs typeface="Times New Roman"/>
                        </a:rPr>
                        <a:t>Fit to observed data and model parameters</a:t>
                      </a:r>
                    </a:p>
                  </a:txBody>
                  <a:tcPr marL="114300" marR="114300" marT="66675" marB="66675" anchor="ctr">
                    <a:lnL w="5715" cmpd="sng">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FFFFF"/>
                    </a:solidFill>
                  </a:tcPr>
                </a:tc>
                <a:extLst>
                  <a:ext uri="{0D108BD9-81ED-4DB2-BD59-A6C34878D82A}">
                    <a16:rowId xmlns:a16="http://schemas.microsoft.com/office/drawing/2014/main" val="10001"/>
                  </a:ext>
                </a:extLst>
              </a:tr>
              <a:tr h="678656">
                <a:tc>
                  <a:txBody>
                    <a:bodyPr/>
                    <a:lstStyle/>
                    <a:p>
                      <a:r>
                        <a:rPr sz="2025" b="0">
                          <a:solidFill>
                            <a:srgbClr val="111111"/>
                          </a:solidFill>
                          <a:latin typeface="Times New Roman"/>
                          <a:ea typeface="Times New Roman"/>
                          <a:cs typeface="Times New Roman"/>
                        </a:rPr>
                        <a:t>Calibration data and public tests</a:t>
                      </a:r>
                    </a:p>
                  </a:txBody>
                  <a:tcPr marL="114300" marR="114300" marT="66675" marB="66675" anchor="ctr">
                    <a:lnL w="5715">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3F4F6"/>
                    </a:solidFill>
                  </a:tcPr>
                </a:tc>
                <a:tc>
                  <a:txBody>
                    <a:bodyPr/>
                    <a:lstStyle/>
                    <a:p>
                      <a:r>
                        <a:rPr sz="2025" b="0" dirty="0">
                          <a:solidFill>
                            <a:srgbClr val="111111"/>
                          </a:solidFill>
                          <a:latin typeface="Times New Roman"/>
                          <a:ea typeface="Times New Roman"/>
                          <a:cs typeface="Times New Roman"/>
                        </a:rPr>
                        <a:t>Predictions beyond the </a:t>
                      </a:r>
                      <a:r>
                        <a:rPr lang="en-US" sz="2025" b="0" dirty="0">
                          <a:solidFill>
                            <a:srgbClr val="111111"/>
                          </a:solidFill>
                          <a:latin typeface="Times New Roman"/>
                          <a:ea typeface="Times New Roman"/>
                          <a:cs typeface="Times New Roman"/>
                        </a:rPr>
                        <a:t>observed</a:t>
                      </a:r>
                      <a:r>
                        <a:rPr sz="2025" b="0" dirty="0">
                          <a:solidFill>
                            <a:srgbClr val="111111"/>
                          </a:solidFill>
                          <a:latin typeface="Times New Roman"/>
                          <a:ea typeface="Times New Roman"/>
                          <a:cs typeface="Times New Roman"/>
                        </a:rPr>
                        <a:t> settings</a:t>
                      </a:r>
                    </a:p>
                  </a:txBody>
                  <a:tcPr marL="114300" marR="114300" marT="66675" marB="66675" anchor="ctr">
                    <a:lnL w="5715" cmpd="sng">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3F4F6"/>
                    </a:solidFill>
                  </a:tcPr>
                </a:tc>
                <a:extLst>
                  <a:ext uri="{0D108BD9-81ED-4DB2-BD59-A6C34878D82A}">
                    <a16:rowId xmlns:a16="http://schemas.microsoft.com/office/drawing/2014/main" val="10002"/>
                  </a:ext>
                </a:extLst>
              </a:tr>
              <a:tr h="678656">
                <a:tc>
                  <a:txBody>
                    <a:bodyPr/>
                    <a:lstStyle/>
                    <a:p>
                      <a:r>
                        <a:rPr sz="2025" b="0">
                          <a:solidFill>
                            <a:srgbClr val="111111"/>
                          </a:solidFill>
                          <a:latin typeface="Times New Roman"/>
                          <a:ea typeface="Times New Roman"/>
                          <a:cs typeface="Times New Roman"/>
                        </a:rPr>
                        <a:t>A fixed software interface</a:t>
                      </a:r>
                    </a:p>
                  </a:txBody>
                  <a:tcPr marL="114300" marR="114300" marT="66675" marB="66675" anchor="ctr">
                    <a:lnL w="5715">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FFFFF"/>
                    </a:solidFill>
                  </a:tcPr>
                </a:tc>
                <a:tc>
                  <a:txBody>
                    <a:bodyPr/>
                    <a:lstStyle/>
                    <a:p>
                      <a:r>
                        <a:rPr sz="2025" b="0" dirty="0">
                          <a:solidFill>
                            <a:srgbClr val="111111"/>
                          </a:solidFill>
                          <a:latin typeface="Times New Roman"/>
                          <a:ea typeface="Times New Roman"/>
                          <a:cs typeface="Times New Roman"/>
                        </a:rPr>
                        <a:t>Completion within the time budget</a:t>
                      </a:r>
                    </a:p>
                  </a:txBody>
                  <a:tcPr marL="114300" marR="114300" marT="66675" marB="66675" anchor="ctr">
                    <a:lnL w="5715" cmpd="sng">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FFFFF"/>
                    </a:solidFill>
                  </a:tcPr>
                </a:tc>
                <a:extLst>
                  <a:ext uri="{0D108BD9-81ED-4DB2-BD59-A6C34878D82A}">
                    <a16:rowId xmlns:a16="http://schemas.microsoft.com/office/drawing/2014/main" val="10003"/>
                  </a:ext>
                </a:extLst>
              </a:tr>
            </a:tbl>
          </a:graphicData>
        </a:graphic>
      </p:graphicFrame>
      <p:sp>
        <p:nvSpPr>
          <p:cNvPr id="5" name="Rectangle 4">
            <a:extLst>
              <a:ext uri="{FF2B5EF4-FFF2-40B4-BE49-F238E27FC236}">
                <a16:creationId xmlns:a16="http://schemas.microsoft.com/office/drawing/2014/main" id="{CB8521B4-CF08-403D-8F9A-418747D0A182}"/>
              </a:ext>
            </a:extLst>
          </p:cNvPr>
          <p:cNvSpPr>
            <a:spLocks noGrp="1"/>
          </p:cNvSpPr>
          <p:nvPr/>
        </p:nvSpPr>
        <p:spPr>
          <a:xfrm>
            <a:off x="457200" y="4857750"/>
            <a:ext cx="1143000" cy="714375"/>
          </a:xfrm>
          <a:prstGeom prst="rect">
            <a:avLst/>
          </a:prstGeom>
          <a:noFill/>
          <a:ln w="0">
            <a:noFill/>
          </a:ln>
        </p:spPr>
        <p:txBody>
          <a:bodyPr wrap="square" lIns="0" tIns="0" rIns="0" bIns="0" anchor="t"/>
          <a:lstStyle>
            <a:defPPr algn="l">
              <a:defRPr sz="4350" b="1" i="0">
                <a:solidFill>
                  <a:srgbClr val="0F766E"/>
                </a:solidFill>
                <a:latin typeface="Times New Roman"/>
                <a:ea typeface="Times New Roman"/>
                <a:cs typeface="Times New Roman"/>
              </a:defRPr>
            </a:defPPr>
          </a:lstStyle>
          <a:p>
            <a:pPr algn="l">
              <a:buNone/>
              <a:defRPr sz="4350" b="1" i="0">
                <a:solidFill>
                  <a:srgbClr val="0F766E"/>
                </a:solidFill>
                <a:latin typeface="Times New Roman"/>
                <a:ea typeface="Times New Roman"/>
                <a:cs typeface="Times New Roman"/>
              </a:defRPr>
            </a:pPr>
            <a:r>
              <a:rPr sz="4350" b="1" i="0">
                <a:solidFill>
                  <a:srgbClr val="0F766E"/>
                </a:solidFill>
                <a:latin typeface="Times New Roman"/>
                <a:ea typeface="Times New Roman"/>
                <a:cs typeface="Times New Roman"/>
              </a:rPr>
              <a:t>13</a:t>
            </a:r>
          </a:p>
        </p:txBody>
      </p:sp>
      <p:sp>
        <p:nvSpPr>
          <p:cNvPr id="6" name="Rectangle 5">
            <a:extLst>
              <a:ext uri="{FF2B5EF4-FFF2-40B4-BE49-F238E27FC236}">
                <a16:creationId xmlns:a16="http://schemas.microsoft.com/office/drawing/2014/main" id="{FC56EB49-9538-451F-AFC3-9BECA96A74F8}"/>
              </a:ext>
            </a:extLst>
          </p:cNvPr>
          <p:cNvSpPr>
            <a:spLocks noGrp="1"/>
          </p:cNvSpPr>
          <p:nvPr/>
        </p:nvSpPr>
        <p:spPr>
          <a:xfrm>
            <a:off x="2009775" y="4943475"/>
            <a:ext cx="8953500" cy="714375"/>
          </a:xfrm>
          <a:prstGeom prst="rect">
            <a:avLst/>
          </a:prstGeom>
          <a:noFill/>
          <a:ln w="0">
            <a:noFill/>
          </a:ln>
        </p:spPr>
        <p:txBody>
          <a:bodyPr wrap="square" lIns="0" tIns="0" rIns="0" bIns="0" anchor="t"/>
          <a:lstStyle>
            <a:defPPr algn="l">
              <a:defRPr sz="2025" b="0" i="0">
                <a:solidFill>
                  <a:srgbClr val="111111"/>
                </a:solidFill>
                <a:latin typeface="Times New Roman"/>
                <a:ea typeface="Times New Roman"/>
                <a:cs typeface="Times New Roman"/>
              </a:defRPr>
            </a:defPPr>
          </a:lstStyle>
          <a:p>
            <a:pPr algn="l">
              <a:buNone/>
              <a:defRPr sz="2025" b="0" i="0">
                <a:solidFill>
                  <a:srgbClr val="111111"/>
                </a:solidFill>
                <a:latin typeface="Times New Roman"/>
                <a:ea typeface="Times New Roman"/>
                <a:cs typeface="Times New Roman"/>
              </a:defRPr>
            </a:pPr>
            <a:r>
              <a:rPr lang="en-US" sz="2025" b="0" i="0" dirty="0">
                <a:solidFill>
                  <a:srgbClr val="111111"/>
                </a:solidFill>
                <a:latin typeface="Times New Roman"/>
                <a:ea typeface="Times New Roman"/>
                <a:cs typeface="Times New Roman"/>
              </a:rPr>
              <a:t>T</a:t>
            </a:r>
            <a:r>
              <a:rPr sz="2025" b="0" i="0" dirty="0">
                <a:solidFill>
                  <a:srgbClr val="111111"/>
                </a:solidFill>
                <a:latin typeface="Times New Roman"/>
                <a:ea typeface="Times New Roman"/>
                <a:cs typeface="Times New Roman"/>
              </a:rPr>
              <a:t>asks</a:t>
            </a:r>
            <a:r>
              <a:rPr lang="en-US" sz="2025" b="0" i="0" dirty="0">
                <a:solidFill>
                  <a:srgbClr val="111111"/>
                </a:solidFill>
                <a:latin typeface="Times New Roman"/>
                <a:ea typeface="Times New Roman"/>
                <a:cs typeface="Times New Roman"/>
              </a:rPr>
              <a:t>, all achieved 0/3 GPT-5.6 Luna failure with Codex harness.</a:t>
            </a:r>
          </a:p>
          <a:p>
            <a:pPr algn="l">
              <a:buNone/>
              <a:defRPr sz="2025" b="0" i="0">
                <a:solidFill>
                  <a:srgbClr val="111111"/>
                </a:solidFill>
                <a:latin typeface="Times New Roman"/>
                <a:ea typeface="Times New Roman"/>
                <a:cs typeface="Times New Roman"/>
              </a:defRPr>
            </a:pPr>
            <a:r>
              <a:rPr lang="en-US" sz="2025" b="0" i="0" dirty="0">
                <a:solidFill>
                  <a:srgbClr val="111111"/>
                </a:solidFill>
                <a:latin typeface="Times New Roman"/>
                <a:ea typeface="Times New Roman"/>
                <a:cs typeface="Times New Roman"/>
              </a:rPr>
              <a:t>Implemented following </a:t>
            </a:r>
            <a:r>
              <a:rPr lang="en-US" sz="2025" dirty="0">
                <a:solidFill>
                  <a:srgbClr val="111111"/>
                </a:solidFill>
                <a:latin typeface="Times New Roman"/>
                <a:ea typeface="Times New Roman"/>
                <a:cs typeface="Times New Roman"/>
              </a:rPr>
              <a:t>Harbor framework.</a:t>
            </a:r>
            <a:endParaRPr sz="2025" b="0" i="0" dirty="0">
              <a:solidFill>
                <a:srgbClr val="111111"/>
              </a:solidFill>
              <a:latin typeface="Times New Roman"/>
              <a:ea typeface="Times New Roman"/>
              <a:cs typeface="Times New Roman"/>
            </a:endParaRPr>
          </a:p>
        </p:txBody>
      </p:sp>
      <p:sp>
        <p:nvSpPr>
          <p:cNvPr id="7" name="Rectangle 6">
            <a:extLst>
              <a:ext uri="{FF2B5EF4-FFF2-40B4-BE49-F238E27FC236}">
                <a16:creationId xmlns:a16="http://schemas.microsoft.com/office/drawing/2014/main" id="{6F3BA975-F7F4-4E43-B8D0-56A627FC5D11}"/>
              </a:ext>
            </a:extLst>
          </p:cNvPr>
          <p:cNvSpPr>
            <a:spLocks noGrp="1"/>
          </p:cNvSpPr>
          <p:nvPr/>
        </p:nvSpPr>
        <p:spPr>
          <a:xfrm>
            <a:off x="457200" y="6067425"/>
            <a:ext cx="11277600" cy="381000"/>
          </a:xfrm>
          <a:prstGeom prst="rect">
            <a:avLst/>
          </a:prstGeom>
          <a:noFill/>
          <a:ln w="0">
            <a:noFill/>
          </a:ln>
        </p:spPr>
        <p:txBody>
          <a:bodyPr wrap="square" lIns="0" tIns="0" rIns="0" bIns="0" anchor="t"/>
          <a:lstStyle>
            <a:defPPr algn="l">
              <a:defRPr sz="1350" b="0" i="0">
                <a:solidFill>
                  <a:srgbClr val="777777"/>
                </a:solidFill>
                <a:latin typeface="Times New Roman"/>
                <a:ea typeface="Times New Roman"/>
                <a:cs typeface="Times New Roman"/>
              </a:defRPr>
            </a:defPPr>
          </a:lstStyle>
          <a:p>
            <a:pPr algn="l">
              <a:buNone/>
              <a:defRPr sz="1350" b="0" i="0">
                <a:solidFill>
                  <a:srgbClr val="777777"/>
                </a:solidFill>
                <a:latin typeface="Times New Roman"/>
                <a:ea typeface="Times New Roman"/>
                <a:cs typeface="Times New Roman"/>
              </a:defRPr>
            </a:pPr>
            <a:r>
              <a:rPr sz="1350" b="0" i="0">
                <a:solidFill>
                  <a:srgbClr val="777777"/>
                </a:solidFill>
                <a:latin typeface="Times New Roman"/>
                <a:ea typeface="Times New Roman"/>
                <a:cs typeface="Times New Roman"/>
              </a:rPr>
              <a:t>Tasks were selected using GPT-5.6 Luna, so this is a deliberately challenging suite.</a:t>
            </a:r>
          </a:p>
        </p:txBody>
      </p:sp>
      <p:sp>
        <p:nvSpPr>
          <p:cNvPr id="9" name="Rectangle 8">
            <a:extLst>
              <a:ext uri="{FF2B5EF4-FFF2-40B4-BE49-F238E27FC236}">
                <a16:creationId xmlns:a16="http://schemas.microsoft.com/office/drawing/2014/main" id="{1355ACDC-5475-4330-937A-52DCD24B3300}"/>
              </a:ext>
            </a:extLst>
          </p:cNvPr>
          <p:cNvSpPr>
            <a:spLocks noGrp="1"/>
          </p:cNvSpPr>
          <p:nvPr/>
        </p:nvSpPr>
        <p:spPr>
          <a:xfrm>
            <a:off x="11201400" y="6477000"/>
            <a:ext cx="533400" cy="190500"/>
          </a:xfrm>
          <a:prstGeom prst="rect">
            <a:avLst/>
          </a:prstGeom>
          <a:noFill/>
          <a:ln w="0">
            <a:noFill/>
          </a:ln>
        </p:spPr>
        <p:txBody>
          <a:bodyPr wrap="square" lIns="0" tIns="0" rIns="0" bIns="0" anchor="t"/>
          <a:lstStyle>
            <a:defPPr algn="l">
              <a:defRPr sz="1200" b="0">
                <a:solidFill>
                  <a:srgbClr val="777777"/>
                </a:solidFill>
                <a:latin typeface="Times New Roman"/>
                <a:ea typeface="Times New Roman"/>
                <a:cs typeface="Times New Roman"/>
              </a:defRPr>
            </a:defPPr>
          </a:lstStyle>
          <a:p>
            <a:pPr algn="l">
              <a:buNone/>
              <a:defRPr sz="1200" b="0">
                <a:solidFill>
                  <a:srgbClr val="777777"/>
                </a:solidFill>
                <a:latin typeface="Times New Roman"/>
                <a:ea typeface="Times New Roman"/>
                <a:cs typeface="Times New Roman"/>
              </a:defRPr>
            </a:pPr>
            <a:r>
              <a:rPr sz="1200" b="0">
                <a:solidFill>
                  <a:srgbClr val="777777"/>
                </a:solidFill>
                <a:latin typeface="Times New Roman"/>
                <a:ea typeface="Times New Roman"/>
                <a:cs typeface="Times New Roman"/>
              </a:rPr>
              <a:t>2</a:t>
            </a:r>
          </a:p>
        </p:txBody>
      </p:sp>
    </p:spTree>
    <p:extLst>
      <p:ext uri="{BB962C8B-B14F-4D97-AF65-F5344CB8AC3E}">
        <p14:creationId xmlns:p14="http://schemas.microsoft.com/office/powerpoint/2010/main" val="4607685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9" name="Rectangle 38">
            <a:extLst>
              <a:ext uri="{FF2B5EF4-FFF2-40B4-BE49-F238E27FC236}">
                <a16:creationId xmlns:a16="http://schemas.microsoft.com/office/drawing/2014/main" id="{A1D93F41-C257-4C97-81AC-53D8D3F98DDE}"/>
              </a:ext>
            </a:extLst>
          </p:cNvPr>
          <p:cNvSpPr>
            <a:spLocks noGrp="1"/>
          </p:cNvSpPr>
          <p:nvPr/>
        </p:nvSpPr>
        <p:spPr>
          <a:xfrm>
            <a:off x="457200" y="209550"/>
            <a:ext cx="11277600" cy="638175"/>
          </a:xfrm>
          <a:prstGeom prst="rect">
            <a:avLst/>
          </a:prstGeom>
          <a:noFill/>
          <a:ln w="0">
            <a:noFill/>
          </a:ln>
        </p:spPr>
        <p:txBody>
          <a:bodyPr wrap="square" lIns="0" tIns="0" rIns="0" bIns="0" anchor="t"/>
          <a:lstStyle>
            <a:defPPr algn="l">
              <a:defRPr sz="3600" b="1">
                <a:solidFill>
                  <a:srgbClr val="111111"/>
                </a:solidFill>
                <a:latin typeface="Times New Roman"/>
                <a:ea typeface="Times New Roman"/>
                <a:cs typeface="Times New Roman"/>
              </a:defRPr>
            </a:defPPr>
          </a:lstStyle>
          <a:p>
            <a:pPr algn="l">
              <a:buNone/>
              <a:defRPr sz="3600" b="1">
                <a:solidFill>
                  <a:srgbClr val="111111"/>
                </a:solidFill>
                <a:latin typeface="Times New Roman"/>
                <a:ea typeface="Times New Roman"/>
                <a:cs typeface="Times New Roman"/>
              </a:defRPr>
            </a:pPr>
            <a:r>
              <a:rPr sz="3600" b="1" dirty="0">
                <a:solidFill>
                  <a:srgbClr val="111111"/>
                </a:solidFill>
                <a:latin typeface="Times New Roman"/>
                <a:ea typeface="Times New Roman"/>
                <a:cs typeface="Times New Roman"/>
              </a:rPr>
              <a:t>Example</a:t>
            </a:r>
            <a:r>
              <a:rPr lang="en-US" sz="3600" b="1" dirty="0">
                <a:solidFill>
                  <a:srgbClr val="111111"/>
                </a:solidFill>
                <a:latin typeface="Times New Roman"/>
                <a:ea typeface="Times New Roman"/>
                <a:cs typeface="Times New Roman"/>
              </a:rPr>
              <a:t> Task</a:t>
            </a:r>
            <a:r>
              <a:rPr sz="3600" b="1" dirty="0">
                <a:solidFill>
                  <a:srgbClr val="111111"/>
                </a:solidFill>
                <a:latin typeface="Times New Roman"/>
                <a:ea typeface="Times New Roman"/>
                <a:cs typeface="Times New Roman"/>
              </a:rPr>
              <a:t>: tracking one bead in a narrow tube</a:t>
            </a:r>
          </a:p>
        </p:txBody>
      </p:sp>
      <p:sp>
        <p:nvSpPr>
          <p:cNvPr id="2" name="Rectangle 1">
            <a:extLst>
              <a:ext uri="{FF2B5EF4-FFF2-40B4-BE49-F238E27FC236}">
                <a16:creationId xmlns:a16="http://schemas.microsoft.com/office/drawing/2014/main" id="{B2662629-35F5-4EF9-AC84-78AB4DCFFF26}"/>
              </a:ext>
            </a:extLst>
          </p:cNvPr>
          <p:cNvSpPr>
            <a:spLocks noGrp="1"/>
          </p:cNvSpPr>
          <p:nvPr/>
        </p:nvSpPr>
        <p:spPr>
          <a:xfrm>
            <a:off x="457200" y="914400"/>
            <a:ext cx="11277600" cy="476250"/>
          </a:xfrm>
          <a:prstGeom prst="rect">
            <a:avLst/>
          </a:prstGeom>
          <a:noFill/>
          <a:ln w="0">
            <a:noFill/>
          </a:ln>
        </p:spPr>
        <p:txBody>
          <a:bodyPr wrap="square" lIns="0" tIns="0" rIns="0" bIns="0" anchor="t"/>
          <a:lstStyle>
            <a:defPPr algn="l">
              <a:defRPr sz="1875" b="0">
                <a:solidFill>
                  <a:srgbClr val="444444"/>
                </a:solidFill>
                <a:latin typeface="Times New Roman"/>
                <a:ea typeface="Times New Roman"/>
                <a:cs typeface="Times New Roman"/>
              </a:defRPr>
            </a:defPPr>
          </a:lstStyle>
          <a:p>
            <a:pPr algn="l">
              <a:buNone/>
              <a:defRPr sz="1875" b="0">
                <a:solidFill>
                  <a:srgbClr val="444444"/>
                </a:solidFill>
                <a:latin typeface="Times New Roman"/>
                <a:ea typeface="Times New Roman"/>
                <a:cs typeface="Times New Roman"/>
              </a:defRPr>
            </a:pPr>
            <a:r>
              <a:rPr sz="1875" b="0" dirty="0">
                <a:solidFill>
                  <a:srgbClr val="444444"/>
                </a:solidFill>
                <a:latin typeface="Times New Roman"/>
                <a:ea typeface="Times New Roman"/>
                <a:cs typeface="Times New Roman"/>
              </a:rPr>
              <a:t>The beads move randomly and bump into each other, but cannot pass one another.</a:t>
            </a:r>
          </a:p>
        </p:txBody>
      </p:sp>
      <p:sp>
        <p:nvSpPr>
          <p:cNvPr id="3" name="Rectangle 2">
            <a:extLst>
              <a:ext uri="{FF2B5EF4-FFF2-40B4-BE49-F238E27FC236}">
                <a16:creationId xmlns:a16="http://schemas.microsoft.com/office/drawing/2014/main" id="{B72C789D-5DDF-4D29-8C76-5B173C9E8F4F}"/>
              </a:ext>
            </a:extLst>
          </p:cNvPr>
          <p:cNvSpPr>
            <a:spLocks noGrp="1"/>
          </p:cNvSpPr>
          <p:nvPr/>
        </p:nvSpPr>
        <p:spPr>
          <a:xfrm>
            <a:off x="457200" y="1581150"/>
            <a:ext cx="5029200" cy="342900"/>
          </a:xfrm>
          <a:prstGeom prst="rect">
            <a:avLst/>
          </a:prstGeom>
          <a:noFill/>
          <a:ln w="0">
            <a:noFill/>
          </a:ln>
        </p:spPr>
        <p:txBody>
          <a:bodyPr wrap="square" lIns="0" tIns="0" rIns="0" bIns="0" anchor="t"/>
          <a:lstStyle>
            <a:defPPr algn="l">
              <a:defRPr sz="1875" b="0">
                <a:solidFill>
                  <a:srgbClr val="444444"/>
                </a:solidFill>
                <a:latin typeface="Times New Roman"/>
                <a:ea typeface="Times New Roman"/>
                <a:cs typeface="Times New Roman"/>
              </a:defRPr>
            </a:defPPr>
          </a:lstStyle>
          <a:p>
            <a:pPr algn="l">
              <a:buNone/>
              <a:defRPr sz="1875" b="0">
                <a:solidFill>
                  <a:srgbClr val="444444"/>
                </a:solidFill>
                <a:latin typeface="Times New Roman"/>
                <a:ea typeface="Times New Roman"/>
                <a:cs typeface="Times New Roman"/>
              </a:defRPr>
            </a:pPr>
            <a:r>
              <a:rPr sz="1875" b="0">
                <a:solidFill>
                  <a:srgbClr val="444444"/>
                </a:solidFill>
                <a:latin typeface="Times New Roman"/>
                <a:ea typeface="Times New Roman"/>
                <a:cs typeface="Times New Roman"/>
              </a:rPr>
              <a:t>Start every run with the same spacing</a:t>
            </a:r>
          </a:p>
        </p:txBody>
      </p:sp>
      <p:sp>
        <p:nvSpPr>
          <p:cNvPr id="4" name="Rectangle 3">
            <a:extLst>
              <a:ext uri="{FF2B5EF4-FFF2-40B4-BE49-F238E27FC236}">
                <a16:creationId xmlns:a16="http://schemas.microsoft.com/office/drawing/2014/main" id="{FA3A07CF-D11F-4622-856C-3CBFF16C57ED}"/>
              </a:ext>
            </a:extLst>
          </p:cNvPr>
          <p:cNvSpPr>
            <a:spLocks noGrp="1"/>
          </p:cNvSpPr>
          <p:nvPr/>
        </p:nvSpPr>
        <p:spPr>
          <a:xfrm>
            <a:off x="457200" y="2028825"/>
            <a:ext cx="5029200" cy="19050"/>
          </a:xfrm>
          <a:prstGeom prst="rect">
            <a:avLst/>
          </a:prstGeom>
          <a:solidFill>
            <a:srgbClr val="777777"/>
          </a:solidFill>
          <a:ln w="13335">
            <a:solidFill>
              <a:srgbClr val="777777"/>
            </a:solidFill>
            <a:prstDash val="solid"/>
          </a:ln>
        </p:spPr>
        <p:txBody>
          <a:bodyPr/>
          <a:lstStyle/>
          <a:p>
            <a:endParaRPr/>
          </a:p>
        </p:txBody>
      </p:sp>
      <p:sp>
        <p:nvSpPr>
          <p:cNvPr id="5" name="Rectangle 4">
            <a:extLst>
              <a:ext uri="{FF2B5EF4-FFF2-40B4-BE49-F238E27FC236}">
                <a16:creationId xmlns:a16="http://schemas.microsoft.com/office/drawing/2014/main" id="{3FFFF243-D917-44D5-8B4E-AEF19A84DF20}"/>
              </a:ext>
            </a:extLst>
          </p:cNvPr>
          <p:cNvSpPr>
            <a:spLocks noGrp="1"/>
          </p:cNvSpPr>
          <p:nvPr/>
        </p:nvSpPr>
        <p:spPr>
          <a:xfrm>
            <a:off x="457200" y="2581275"/>
            <a:ext cx="5029200" cy="19050"/>
          </a:xfrm>
          <a:prstGeom prst="rect">
            <a:avLst/>
          </a:prstGeom>
          <a:solidFill>
            <a:srgbClr val="777777"/>
          </a:solidFill>
          <a:ln w="13335">
            <a:solidFill>
              <a:srgbClr val="777777"/>
            </a:solidFill>
            <a:prstDash val="solid"/>
          </a:ln>
        </p:spPr>
        <p:txBody>
          <a:bodyPr/>
          <a:lstStyle/>
          <a:p>
            <a:endParaRPr/>
          </a:p>
        </p:txBody>
      </p:sp>
      <p:sp>
        <p:nvSpPr>
          <p:cNvPr id="6" name="Oval 5">
            <a:extLst>
              <a:ext uri="{FF2B5EF4-FFF2-40B4-BE49-F238E27FC236}">
                <a16:creationId xmlns:a16="http://schemas.microsoft.com/office/drawing/2014/main" id="{59B9F311-4DE1-41F4-91EE-D1DF06E54FB0}"/>
              </a:ext>
            </a:extLst>
          </p:cNvPr>
          <p:cNvSpPr>
            <a:spLocks noGrp="1"/>
          </p:cNvSpPr>
          <p:nvPr/>
        </p:nvSpPr>
        <p:spPr>
          <a:xfrm>
            <a:off x="781050" y="2143125"/>
            <a:ext cx="323850" cy="323850"/>
          </a:xfrm>
          <a:prstGeom prst="ellipse">
            <a:avLst/>
          </a:prstGeom>
          <a:solidFill>
            <a:srgbClr val="E8ECEF"/>
          </a:solidFill>
          <a:ln w="15240">
            <a:solidFill>
              <a:srgbClr val="777777"/>
            </a:solidFill>
            <a:prstDash val="solid"/>
          </a:ln>
        </p:spPr>
        <p:txBody>
          <a:bodyPr lIns="0" tIns="0" rIns="0" bIns="0" anchor="ctr"/>
          <a:lstStyle>
            <a:defPPr algn="ctr">
              <a:defRPr sz="2025" b="1">
                <a:solidFill>
                  <a:srgbClr val="777777"/>
                </a:solidFill>
                <a:latin typeface="Times New Roman"/>
                <a:ea typeface="Times New Roman"/>
                <a:cs typeface="Times New Roman"/>
              </a:defRPr>
            </a:defPPr>
          </a:lstStyle>
          <a:p>
            <a:endParaRPr/>
          </a:p>
        </p:txBody>
      </p:sp>
      <p:sp>
        <p:nvSpPr>
          <p:cNvPr id="7" name="Oval 6">
            <a:extLst>
              <a:ext uri="{FF2B5EF4-FFF2-40B4-BE49-F238E27FC236}">
                <a16:creationId xmlns:a16="http://schemas.microsoft.com/office/drawing/2014/main" id="{F9DA28F5-23D0-4E5A-9759-20015A1D1595}"/>
              </a:ext>
            </a:extLst>
          </p:cNvPr>
          <p:cNvSpPr>
            <a:spLocks noGrp="1"/>
          </p:cNvSpPr>
          <p:nvPr/>
        </p:nvSpPr>
        <p:spPr>
          <a:xfrm>
            <a:off x="1504950" y="2143125"/>
            <a:ext cx="323850" cy="323850"/>
          </a:xfrm>
          <a:prstGeom prst="ellipse">
            <a:avLst/>
          </a:prstGeom>
          <a:solidFill>
            <a:srgbClr val="E8ECEF"/>
          </a:solidFill>
          <a:ln w="15240">
            <a:solidFill>
              <a:srgbClr val="777777"/>
            </a:solidFill>
            <a:prstDash val="solid"/>
          </a:ln>
        </p:spPr>
        <p:txBody>
          <a:bodyPr lIns="0" tIns="0" rIns="0" bIns="0" anchor="ctr"/>
          <a:lstStyle>
            <a:defPPr algn="ctr">
              <a:defRPr sz="2025" b="1">
                <a:solidFill>
                  <a:srgbClr val="777777"/>
                </a:solidFill>
                <a:latin typeface="Times New Roman"/>
                <a:ea typeface="Times New Roman"/>
                <a:cs typeface="Times New Roman"/>
              </a:defRPr>
            </a:defPPr>
          </a:lstStyle>
          <a:p>
            <a:endParaRPr/>
          </a:p>
        </p:txBody>
      </p:sp>
      <p:sp>
        <p:nvSpPr>
          <p:cNvPr id="8" name="Oval 7">
            <a:extLst>
              <a:ext uri="{FF2B5EF4-FFF2-40B4-BE49-F238E27FC236}">
                <a16:creationId xmlns:a16="http://schemas.microsoft.com/office/drawing/2014/main" id="{8379ECC2-76F0-4C85-9EF5-7010AC3D1101}"/>
              </a:ext>
            </a:extLst>
          </p:cNvPr>
          <p:cNvSpPr>
            <a:spLocks noGrp="1"/>
          </p:cNvSpPr>
          <p:nvPr/>
        </p:nvSpPr>
        <p:spPr>
          <a:xfrm>
            <a:off x="2228850" y="2143125"/>
            <a:ext cx="323850" cy="323850"/>
          </a:xfrm>
          <a:prstGeom prst="ellipse">
            <a:avLst/>
          </a:prstGeom>
          <a:solidFill>
            <a:srgbClr val="B45309"/>
          </a:solidFill>
          <a:ln w="15240">
            <a:solidFill>
              <a:srgbClr val="B45309"/>
            </a:solidFill>
            <a:prstDash val="solid"/>
          </a:ln>
        </p:spPr>
        <p:txBody>
          <a:bodyPr lIns="0" tIns="0" rIns="0" bIns="0" anchor="ctr"/>
          <a:lstStyle>
            <a:defPPr algn="ctr">
              <a:defRPr sz="2025" b="1">
                <a:solidFill>
                  <a:srgbClr val="B45309"/>
                </a:solidFill>
                <a:latin typeface="Times New Roman"/>
                <a:ea typeface="Times New Roman"/>
                <a:cs typeface="Times New Roman"/>
              </a:defRPr>
            </a:defPPr>
          </a:lstStyle>
          <a:p>
            <a:endParaRPr/>
          </a:p>
        </p:txBody>
      </p:sp>
      <p:sp>
        <p:nvSpPr>
          <p:cNvPr id="9" name="Oval 8">
            <a:extLst>
              <a:ext uri="{FF2B5EF4-FFF2-40B4-BE49-F238E27FC236}">
                <a16:creationId xmlns:a16="http://schemas.microsoft.com/office/drawing/2014/main" id="{391A5650-9AC4-4DF2-B05B-863C0529C40E}"/>
              </a:ext>
            </a:extLst>
          </p:cNvPr>
          <p:cNvSpPr>
            <a:spLocks noGrp="1"/>
          </p:cNvSpPr>
          <p:nvPr/>
        </p:nvSpPr>
        <p:spPr>
          <a:xfrm>
            <a:off x="2952750" y="2143125"/>
            <a:ext cx="323850" cy="323850"/>
          </a:xfrm>
          <a:prstGeom prst="ellipse">
            <a:avLst/>
          </a:prstGeom>
          <a:solidFill>
            <a:srgbClr val="E8ECEF"/>
          </a:solidFill>
          <a:ln w="15240">
            <a:solidFill>
              <a:srgbClr val="777777"/>
            </a:solidFill>
            <a:prstDash val="solid"/>
          </a:ln>
        </p:spPr>
        <p:txBody>
          <a:bodyPr lIns="0" tIns="0" rIns="0" bIns="0" anchor="ctr"/>
          <a:lstStyle>
            <a:defPPr algn="ctr">
              <a:defRPr sz="2025" b="1">
                <a:solidFill>
                  <a:srgbClr val="777777"/>
                </a:solidFill>
                <a:latin typeface="Times New Roman"/>
                <a:ea typeface="Times New Roman"/>
                <a:cs typeface="Times New Roman"/>
              </a:defRPr>
            </a:defPPr>
          </a:lstStyle>
          <a:p>
            <a:endParaRPr/>
          </a:p>
        </p:txBody>
      </p:sp>
      <p:sp>
        <p:nvSpPr>
          <p:cNvPr id="10" name="Oval 9">
            <a:extLst>
              <a:ext uri="{FF2B5EF4-FFF2-40B4-BE49-F238E27FC236}">
                <a16:creationId xmlns:a16="http://schemas.microsoft.com/office/drawing/2014/main" id="{6EFEFD0B-10C8-4188-9C17-3FE386921650}"/>
              </a:ext>
            </a:extLst>
          </p:cNvPr>
          <p:cNvSpPr>
            <a:spLocks noGrp="1"/>
          </p:cNvSpPr>
          <p:nvPr/>
        </p:nvSpPr>
        <p:spPr>
          <a:xfrm>
            <a:off x="3676650" y="2143125"/>
            <a:ext cx="323850" cy="323850"/>
          </a:xfrm>
          <a:prstGeom prst="ellipse">
            <a:avLst/>
          </a:prstGeom>
          <a:solidFill>
            <a:srgbClr val="E8ECEF"/>
          </a:solidFill>
          <a:ln w="15240">
            <a:solidFill>
              <a:srgbClr val="777777"/>
            </a:solidFill>
            <a:prstDash val="solid"/>
          </a:ln>
        </p:spPr>
        <p:txBody>
          <a:bodyPr lIns="0" tIns="0" rIns="0" bIns="0" anchor="ctr"/>
          <a:lstStyle>
            <a:defPPr algn="ctr">
              <a:defRPr sz="2025" b="1">
                <a:solidFill>
                  <a:srgbClr val="777777"/>
                </a:solidFill>
                <a:latin typeface="Times New Roman"/>
                <a:ea typeface="Times New Roman"/>
                <a:cs typeface="Times New Roman"/>
              </a:defRPr>
            </a:defPPr>
          </a:lstStyle>
          <a:p>
            <a:endParaRPr/>
          </a:p>
        </p:txBody>
      </p:sp>
      <p:sp>
        <p:nvSpPr>
          <p:cNvPr id="11" name="Oval 10">
            <a:extLst>
              <a:ext uri="{FF2B5EF4-FFF2-40B4-BE49-F238E27FC236}">
                <a16:creationId xmlns:a16="http://schemas.microsoft.com/office/drawing/2014/main" id="{46B65E69-0398-4FD5-AF8C-50BF819D9F03}"/>
              </a:ext>
            </a:extLst>
          </p:cNvPr>
          <p:cNvSpPr>
            <a:spLocks noGrp="1"/>
          </p:cNvSpPr>
          <p:nvPr/>
        </p:nvSpPr>
        <p:spPr>
          <a:xfrm>
            <a:off x="4400550" y="2143125"/>
            <a:ext cx="323850" cy="323850"/>
          </a:xfrm>
          <a:prstGeom prst="ellipse">
            <a:avLst/>
          </a:prstGeom>
          <a:solidFill>
            <a:srgbClr val="E8ECEF"/>
          </a:solidFill>
          <a:ln w="15240">
            <a:solidFill>
              <a:srgbClr val="777777"/>
            </a:solidFill>
            <a:prstDash val="solid"/>
          </a:ln>
        </p:spPr>
        <p:txBody>
          <a:bodyPr lIns="0" tIns="0" rIns="0" bIns="0" anchor="ctr"/>
          <a:lstStyle>
            <a:defPPr algn="ctr">
              <a:defRPr sz="2025" b="1">
                <a:solidFill>
                  <a:srgbClr val="777777"/>
                </a:solidFill>
                <a:latin typeface="Times New Roman"/>
                <a:ea typeface="Times New Roman"/>
                <a:cs typeface="Times New Roman"/>
              </a:defRPr>
            </a:defPPr>
          </a:lstStyle>
          <a:p>
            <a:endParaRPr/>
          </a:p>
        </p:txBody>
      </p:sp>
      <p:sp>
        <p:nvSpPr>
          <p:cNvPr id="12" name="Rectangle 11">
            <a:extLst>
              <a:ext uri="{FF2B5EF4-FFF2-40B4-BE49-F238E27FC236}">
                <a16:creationId xmlns:a16="http://schemas.microsoft.com/office/drawing/2014/main" id="{28E2446B-75BD-490E-9F28-ECBCD9ADBFC6}"/>
              </a:ext>
            </a:extLst>
          </p:cNvPr>
          <p:cNvSpPr>
            <a:spLocks noGrp="1"/>
          </p:cNvSpPr>
          <p:nvPr/>
        </p:nvSpPr>
        <p:spPr>
          <a:xfrm>
            <a:off x="457200" y="2952750"/>
            <a:ext cx="5029200" cy="342900"/>
          </a:xfrm>
          <a:prstGeom prst="rect">
            <a:avLst/>
          </a:prstGeom>
          <a:noFill/>
          <a:ln w="0">
            <a:noFill/>
          </a:ln>
        </p:spPr>
        <p:txBody>
          <a:bodyPr wrap="square" lIns="0" tIns="0" rIns="0" bIns="0" anchor="t"/>
          <a:lstStyle>
            <a:defPPr algn="l">
              <a:defRPr sz="1875" b="0">
                <a:solidFill>
                  <a:srgbClr val="444444"/>
                </a:solidFill>
                <a:latin typeface="Times New Roman"/>
                <a:ea typeface="Times New Roman"/>
                <a:cs typeface="Times New Roman"/>
              </a:defRPr>
            </a:defPPr>
          </a:lstStyle>
          <a:p>
            <a:pPr algn="l">
              <a:buNone/>
              <a:defRPr sz="1875" b="0">
                <a:solidFill>
                  <a:srgbClr val="444444"/>
                </a:solidFill>
                <a:latin typeface="Times New Roman"/>
                <a:ea typeface="Times New Roman"/>
                <a:cs typeface="Times New Roman"/>
              </a:defRPr>
            </a:pPr>
            <a:r>
              <a:rPr sz="1875" b="0">
                <a:solidFill>
                  <a:srgbClr val="444444"/>
                </a:solidFill>
                <a:latin typeface="Times New Roman"/>
                <a:ea typeface="Times New Roman"/>
                <a:cs typeface="Times New Roman"/>
              </a:rPr>
              <a:t>Observe the orange bead early in the run</a:t>
            </a:r>
          </a:p>
        </p:txBody>
      </p:sp>
      <p:sp>
        <p:nvSpPr>
          <p:cNvPr id="13" name="Rectangle 12">
            <a:extLst>
              <a:ext uri="{FF2B5EF4-FFF2-40B4-BE49-F238E27FC236}">
                <a16:creationId xmlns:a16="http://schemas.microsoft.com/office/drawing/2014/main" id="{BAEFBBF5-E411-4F81-AF0F-D0CEC8B70CD1}"/>
              </a:ext>
            </a:extLst>
          </p:cNvPr>
          <p:cNvSpPr>
            <a:spLocks noGrp="1"/>
          </p:cNvSpPr>
          <p:nvPr/>
        </p:nvSpPr>
        <p:spPr>
          <a:xfrm>
            <a:off x="457200" y="3400425"/>
            <a:ext cx="5029200" cy="19050"/>
          </a:xfrm>
          <a:prstGeom prst="rect">
            <a:avLst/>
          </a:prstGeom>
          <a:solidFill>
            <a:srgbClr val="777777"/>
          </a:solidFill>
          <a:ln w="13335">
            <a:solidFill>
              <a:srgbClr val="777777"/>
            </a:solidFill>
            <a:prstDash val="solid"/>
          </a:ln>
        </p:spPr>
        <p:txBody>
          <a:bodyPr/>
          <a:lstStyle/>
          <a:p>
            <a:endParaRPr/>
          </a:p>
        </p:txBody>
      </p:sp>
      <p:sp>
        <p:nvSpPr>
          <p:cNvPr id="14" name="Rectangle 13">
            <a:extLst>
              <a:ext uri="{FF2B5EF4-FFF2-40B4-BE49-F238E27FC236}">
                <a16:creationId xmlns:a16="http://schemas.microsoft.com/office/drawing/2014/main" id="{615AB876-010E-4283-9E21-EC397A4697F6}"/>
              </a:ext>
            </a:extLst>
          </p:cNvPr>
          <p:cNvSpPr>
            <a:spLocks noGrp="1"/>
          </p:cNvSpPr>
          <p:nvPr/>
        </p:nvSpPr>
        <p:spPr>
          <a:xfrm>
            <a:off x="457200" y="3952875"/>
            <a:ext cx="5029200" cy="19050"/>
          </a:xfrm>
          <a:prstGeom prst="rect">
            <a:avLst/>
          </a:prstGeom>
          <a:solidFill>
            <a:srgbClr val="777777"/>
          </a:solidFill>
          <a:ln w="13335">
            <a:solidFill>
              <a:srgbClr val="777777"/>
            </a:solidFill>
            <a:prstDash val="solid"/>
          </a:ln>
        </p:spPr>
        <p:txBody>
          <a:bodyPr/>
          <a:lstStyle/>
          <a:p>
            <a:endParaRPr/>
          </a:p>
        </p:txBody>
      </p:sp>
      <p:sp>
        <p:nvSpPr>
          <p:cNvPr id="15" name="Oval 14">
            <a:extLst>
              <a:ext uri="{FF2B5EF4-FFF2-40B4-BE49-F238E27FC236}">
                <a16:creationId xmlns:a16="http://schemas.microsoft.com/office/drawing/2014/main" id="{E5A1B225-F3FF-4D9C-92D7-E40F1D5BCBCE}"/>
              </a:ext>
            </a:extLst>
          </p:cNvPr>
          <p:cNvSpPr>
            <a:spLocks noGrp="1"/>
          </p:cNvSpPr>
          <p:nvPr/>
        </p:nvSpPr>
        <p:spPr>
          <a:xfrm>
            <a:off x="704850" y="3514725"/>
            <a:ext cx="323850" cy="323850"/>
          </a:xfrm>
          <a:prstGeom prst="ellipse">
            <a:avLst/>
          </a:prstGeom>
          <a:solidFill>
            <a:srgbClr val="E8ECEF"/>
          </a:solidFill>
          <a:ln w="15240">
            <a:solidFill>
              <a:srgbClr val="777777"/>
            </a:solidFill>
            <a:prstDash val="solid"/>
          </a:ln>
        </p:spPr>
        <p:txBody>
          <a:bodyPr lIns="0" tIns="0" rIns="0" bIns="0" anchor="ctr"/>
          <a:lstStyle>
            <a:defPPr algn="ctr">
              <a:defRPr sz="2025" b="1">
                <a:solidFill>
                  <a:srgbClr val="777777"/>
                </a:solidFill>
                <a:latin typeface="Times New Roman"/>
                <a:ea typeface="Times New Roman"/>
                <a:cs typeface="Times New Roman"/>
              </a:defRPr>
            </a:defPPr>
          </a:lstStyle>
          <a:p>
            <a:endParaRPr/>
          </a:p>
        </p:txBody>
      </p:sp>
      <p:sp>
        <p:nvSpPr>
          <p:cNvPr id="16" name="Oval 15">
            <a:extLst>
              <a:ext uri="{FF2B5EF4-FFF2-40B4-BE49-F238E27FC236}">
                <a16:creationId xmlns:a16="http://schemas.microsoft.com/office/drawing/2014/main" id="{9948075C-7CCB-41F8-BCA4-97DF2FD1515A}"/>
              </a:ext>
            </a:extLst>
          </p:cNvPr>
          <p:cNvSpPr>
            <a:spLocks noGrp="1"/>
          </p:cNvSpPr>
          <p:nvPr/>
        </p:nvSpPr>
        <p:spPr>
          <a:xfrm>
            <a:off x="1409700" y="3514725"/>
            <a:ext cx="323850" cy="323850"/>
          </a:xfrm>
          <a:prstGeom prst="ellipse">
            <a:avLst/>
          </a:prstGeom>
          <a:solidFill>
            <a:srgbClr val="E8ECEF"/>
          </a:solidFill>
          <a:ln w="15240">
            <a:solidFill>
              <a:srgbClr val="777777"/>
            </a:solidFill>
            <a:prstDash val="solid"/>
          </a:ln>
        </p:spPr>
        <p:txBody>
          <a:bodyPr lIns="0" tIns="0" rIns="0" bIns="0" anchor="ctr"/>
          <a:lstStyle>
            <a:defPPr algn="ctr">
              <a:defRPr sz="2025" b="1">
                <a:solidFill>
                  <a:srgbClr val="777777"/>
                </a:solidFill>
                <a:latin typeface="Times New Roman"/>
                <a:ea typeface="Times New Roman"/>
                <a:cs typeface="Times New Roman"/>
              </a:defRPr>
            </a:defPPr>
          </a:lstStyle>
          <a:p>
            <a:endParaRPr/>
          </a:p>
        </p:txBody>
      </p:sp>
      <p:sp>
        <p:nvSpPr>
          <p:cNvPr id="17" name="Oval 16">
            <a:extLst>
              <a:ext uri="{FF2B5EF4-FFF2-40B4-BE49-F238E27FC236}">
                <a16:creationId xmlns:a16="http://schemas.microsoft.com/office/drawing/2014/main" id="{B2F9B45D-0B24-4E86-BF50-D65EB69518C0}"/>
              </a:ext>
            </a:extLst>
          </p:cNvPr>
          <p:cNvSpPr>
            <a:spLocks noGrp="1"/>
          </p:cNvSpPr>
          <p:nvPr/>
        </p:nvSpPr>
        <p:spPr>
          <a:xfrm>
            <a:off x="2609850" y="3514725"/>
            <a:ext cx="323850" cy="323850"/>
          </a:xfrm>
          <a:prstGeom prst="ellipse">
            <a:avLst/>
          </a:prstGeom>
          <a:solidFill>
            <a:srgbClr val="B45309"/>
          </a:solidFill>
          <a:ln w="15240">
            <a:solidFill>
              <a:srgbClr val="B45309"/>
            </a:solidFill>
            <a:prstDash val="solid"/>
          </a:ln>
        </p:spPr>
        <p:txBody>
          <a:bodyPr lIns="0" tIns="0" rIns="0" bIns="0" anchor="ctr"/>
          <a:lstStyle>
            <a:defPPr algn="ctr">
              <a:defRPr sz="2025" b="1">
                <a:solidFill>
                  <a:srgbClr val="B45309"/>
                </a:solidFill>
                <a:latin typeface="Times New Roman"/>
                <a:ea typeface="Times New Roman"/>
                <a:cs typeface="Times New Roman"/>
              </a:defRPr>
            </a:defPPr>
          </a:lstStyle>
          <a:p>
            <a:endParaRPr/>
          </a:p>
        </p:txBody>
      </p:sp>
      <p:sp>
        <p:nvSpPr>
          <p:cNvPr id="18" name="Oval 17">
            <a:extLst>
              <a:ext uri="{FF2B5EF4-FFF2-40B4-BE49-F238E27FC236}">
                <a16:creationId xmlns:a16="http://schemas.microsoft.com/office/drawing/2014/main" id="{AB1C0CEC-6762-440A-975C-D63168A89042}"/>
              </a:ext>
            </a:extLst>
          </p:cNvPr>
          <p:cNvSpPr>
            <a:spLocks noGrp="1"/>
          </p:cNvSpPr>
          <p:nvPr/>
        </p:nvSpPr>
        <p:spPr>
          <a:xfrm>
            <a:off x="3152775" y="3514725"/>
            <a:ext cx="323850" cy="323850"/>
          </a:xfrm>
          <a:prstGeom prst="ellipse">
            <a:avLst/>
          </a:prstGeom>
          <a:solidFill>
            <a:srgbClr val="E8ECEF"/>
          </a:solidFill>
          <a:ln w="15240">
            <a:solidFill>
              <a:srgbClr val="777777"/>
            </a:solidFill>
            <a:prstDash val="solid"/>
          </a:ln>
        </p:spPr>
        <p:txBody>
          <a:bodyPr lIns="0" tIns="0" rIns="0" bIns="0" anchor="ctr"/>
          <a:lstStyle>
            <a:defPPr algn="ctr">
              <a:defRPr sz="2025" b="1">
                <a:solidFill>
                  <a:srgbClr val="777777"/>
                </a:solidFill>
                <a:latin typeface="Times New Roman"/>
                <a:ea typeface="Times New Roman"/>
                <a:cs typeface="Times New Roman"/>
              </a:defRPr>
            </a:defPPr>
          </a:lstStyle>
          <a:p>
            <a:endParaRPr/>
          </a:p>
        </p:txBody>
      </p:sp>
      <p:sp>
        <p:nvSpPr>
          <p:cNvPr id="19" name="Oval 18">
            <a:extLst>
              <a:ext uri="{FF2B5EF4-FFF2-40B4-BE49-F238E27FC236}">
                <a16:creationId xmlns:a16="http://schemas.microsoft.com/office/drawing/2014/main" id="{B5AF0FC4-C53E-4C4D-9C04-31EC3AAB1406}"/>
              </a:ext>
            </a:extLst>
          </p:cNvPr>
          <p:cNvSpPr>
            <a:spLocks noGrp="1"/>
          </p:cNvSpPr>
          <p:nvPr/>
        </p:nvSpPr>
        <p:spPr>
          <a:xfrm>
            <a:off x="3886200" y="3514725"/>
            <a:ext cx="323850" cy="323850"/>
          </a:xfrm>
          <a:prstGeom prst="ellipse">
            <a:avLst/>
          </a:prstGeom>
          <a:solidFill>
            <a:srgbClr val="E8ECEF"/>
          </a:solidFill>
          <a:ln w="15240">
            <a:solidFill>
              <a:srgbClr val="777777"/>
            </a:solidFill>
            <a:prstDash val="solid"/>
          </a:ln>
        </p:spPr>
        <p:txBody>
          <a:bodyPr lIns="0" tIns="0" rIns="0" bIns="0" anchor="ctr"/>
          <a:lstStyle>
            <a:defPPr algn="ctr">
              <a:defRPr sz="2025" b="1">
                <a:solidFill>
                  <a:srgbClr val="777777"/>
                </a:solidFill>
                <a:latin typeface="Times New Roman"/>
                <a:ea typeface="Times New Roman"/>
                <a:cs typeface="Times New Roman"/>
              </a:defRPr>
            </a:defPPr>
          </a:lstStyle>
          <a:p>
            <a:endParaRPr/>
          </a:p>
        </p:txBody>
      </p:sp>
      <p:sp>
        <p:nvSpPr>
          <p:cNvPr id="20" name="Oval 19">
            <a:extLst>
              <a:ext uri="{FF2B5EF4-FFF2-40B4-BE49-F238E27FC236}">
                <a16:creationId xmlns:a16="http://schemas.microsoft.com/office/drawing/2014/main" id="{6B7E8D58-BDFF-479A-95C7-EE542F9EE661}"/>
              </a:ext>
            </a:extLst>
          </p:cNvPr>
          <p:cNvSpPr>
            <a:spLocks noGrp="1"/>
          </p:cNvSpPr>
          <p:nvPr/>
        </p:nvSpPr>
        <p:spPr>
          <a:xfrm>
            <a:off x="4610100" y="3514725"/>
            <a:ext cx="323850" cy="323850"/>
          </a:xfrm>
          <a:prstGeom prst="ellipse">
            <a:avLst/>
          </a:prstGeom>
          <a:solidFill>
            <a:srgbClr val="E8ECEF"/>
          </a:solidFill>
          <a:ln w="15240">
            <a:solidFill>
              <a:srgbClr val="777777"/>
            </a:solidFill>
            <a:prstDash val="solid"/>
          </a:ln>
        </p:spPr>
        <p:txBody>
          <a:bodyPr lIns="0" tIns="0" rIns="0" bIns="0" anchor="ctr"/>
          <a:lstStyle>
            <a:defPPr algn="ctr">
              <a:defRPr sz="2025" b="1">
                <a:solidFill>
                  <a:srgbClr val="777777"/>
                </a:solidFill>
                <a:latin typeface="Times New Roman"/>
                <a:ea typeface="Times New Roman"/>
                <a:cs typeface="Times New Roman"/>
              </a:defRPr>
            </a:defPPr>
          </a:lstStyle>
          <a:p>
            <a:endParaRPr/>
          </a:p>
        </p:txBody>
      </p:sp>
      <p:sp>
        <p:nvSpPr>
          <p:cNvPr id="21" name="Rectangle 20">
            <a:extLst>
              <a:ext uri="{FF2B5EF4-FFF2-40B4-BE49-F238E27FC236}">
                <a16:creationId xmlns:a16="http://schemas.microsoft.com/office/drawing/2014/main" id="{0CB0DDB6-D1AC-4C59-B68F-A6C8C1B7503D}"/>
              </a:ext>
            </a:extLst>
          </p:cNvPr>
          <p:cNvSpPr>
            <a:spLocks noGrp="1"/>
          </p:cNvSpPr>
          <p:nvPr/>
        </p:nvSpPr>
        <p:spPr>
          <a:xfrm>
            <a:off x="457200" y="4324350"/>
            <a:ext cx="5029200" cy="342900"/>
          </a:xfrm>
          <a:prstGeom prst="rect">
            <a:avLst/>
          </a:prstGeom>
          <a:noFill/>
          <a:ln w="0">
            <a:noFill/>
          </a:ln>
        </p:spPr>
        <p:txBody>
          <a:bodyPr wrap="square" lIns="0" tIns="0" rIns="0" bIns="0" anchor="t"/>
          <a:lstStyle>
            <a:defPPr algn="l">
              <a:defRPr sz="1875" b="0">
                <a:solidFill>
                  <a:srgbClr val="444444"/>
                </a:solidFill>
                <a:latin typeface="Times New Roman"/>
                <a:ea typeface="Times New Roman"/>
                <a:cs typeface="Times New Roman"/>
              </a:defRPr>
            </a:defPPr>
          </a:lstStyle>
          <a:p>
            <a:pPr algn="l">
              <a:buNone/>
              <a:defRPr sz="1875" b="0">
                <a:solidFill>
                  <a:srgbClr val="444444"/>
                </a:solidFill>
                <a:latin typeface="Times New Roman"/>
                <a:ea typeface="Times New Roman"/>
                <a:cs typeface="Times New Roman"/>
              </a:defRPr>
            </a:pPr>
            <a:r>
              <a:rPr sz="1875" b="0">
                <a:solidFill>
                  <a:srgbClr val="444444"/>
                </a:solidFill>
                <a:latin typeface="Times New Roman"/>
                <a:ea typeface="Times New Roman"/>
                <a:cs typeface="Times New Roman"/>
              </a:rPr>
              <a:t>Observe that same bead later in the run</a:t>
            </a:r>
          </a:p>
        </p:txBody>
      </p:sp>
      <p:sp>
        <p:nvSpPr>
          <p:cNvPr id="22" name="Rectangle 21">
            <a:extLst>
              <a:ext uri="{FF2B5EF4-FFF2-40B4-BE49-F238E27FC236}">
                <a16:creationId xmlns:a16="http://schemas.microsoft.com/office/drawing/2014/main" id="{962474D2-BD75-4462-A708-B5E038509DA5}"/>
              </a:ext>
            </a:extLst>
          </p:cNvPr>
          <p:cNvSpPr>
            <a:spLocks noGrp="1"/>
          </p:cNvSpPr>
          <p:nvPr/>
        </p:nvSpPr>
        <p:spPr>
          <a:xfrm>
            <a:off x="457200" y="4772025"/>
            <a:ext cx="5029200" cy="19050"/>
          </a:xfrm>
          <a:prstGeom prst="rect">
            <a:avLst/>
          </a:prstGeom>
          <a:solidFill>
            <a:srgbClr val="777777"/>
          </a:solidFill>
          <a:ln w="13335">
            <a:solidFill>
              <a:srgbClr val="777777"/>
            </a:solidFill>
            <a:prstDash val="solid"/>
          </a:ln>
        </p:spPr>
        <p:txBody>
          <a:bodyPr/>
          <a:lstStyle/>
          <a:p>
            <a:endParaRPr/>
          </a:p>
        </p:txBody>
      </p:sp>
      <p:sp>
        <p:nvSpPr>
          <p:cNvPr id="23" name="Rectangle 22">
            <a:extLst>
              <a:ext uri="{FF2B5EF4-FFF2-40B4-BE49-F238E27FC236}">
                <a16:creationId xmlns:a16="http://schemas.microsoft.com/office/drawing/2014/main" id="{A804FFB7-A505-4837-8A32-F2BC99ABA718}"/>
              </a:ext>
            </a:extLst>
          </p:cNvPr>
          <p:cNvSpPr>
            <a:spLocks noGrp="1"/>
          </p:cNvSpPr>
          <p:nvPr/>
        </p:nvSpPr>
        <p:spPr>
          <a:xfrm>
            <a:off x="457200" y="5324475"/>
            <a:ext cx="5029200" cy="19050"/>
          </a:xfrm>
          <a:prstGeom prst="rect">
            <a:avLst/>
          </a:prstGeom>
          <a:solidFill>
            <a:srgbClr val="777777"/>
          </a:solidFill>
          <a:ln w="13335">
            <a:solidFill>
              <a:srgbClr val="777777"/>
            </a:solidFill>
            <a:prstDash val="solid"/>
          </a:ln>
        </p:spPr>
        <p:txBody>
          <a:bodyPr/>
          <a:lstStyle/>
          <a:p>
            <a:endParaRPr/>
          </a:p>
        </p:txBody>
      </p:sp>
      <p:sp>
        <p:nvSpPr>
          <p:cNvPr id="24" name="Oval 23">
            <a:extLst>
              <a:ext uri="{FF2B5EF4-FFF2-40B4-BE49-F238E27FC236}">
                <a16:creationId xmlns:a16="http://schemas.microsoft.com/office/drawing/2014/main" id="{037F2927-4412-4402-945B-33194FE24E4C}"/>
              </a:ext>
            </a:extLst>
          </p:cNvPr>
          <p:cNvSpPr>
            <a:spLocks noGrp="1"/>
          </p:cNvSpPr>
          <p:nvPr/>
        </p:nvSpPr>
        <p:spPr>
          <a:xfrm>
            <a:off x="619125" y="4886325"/>
            <a:ext cx="323850" cy="323850"/>
          </a:xfrm>
          <a:prstGeom prst="ellipse">
            <a:avLst/>
          </a:prstGeom>
          <a:solidFill>
            <a:srgbClr val="E8ECEF"/>
          </a:solidFill>
          <a:ln w="15240">
            <a:solidFill>
              <a:srgbClr val="777777"/>
            </a:solidFill>
            <a:prstDash val="solid"/>
          </a:ln>
        </p:spPr>
        <p:txBody>
          <a:bodyPr lIns="0" tIns="0" rIns="0" bIns="0" anchor="ctr"/>
          <a:lstStyle>
            <a:defPPr algn="ctr">
              <a:defRPr sz="2025" b="1">
                <a:solidFill>
                  <a:srgbClr val="777777"/>
                </a:solidFill>
                <a:latin typeface="Times New Roman"/>
                <a:ea typeface="Times New Roman"/>
                <a:cs typeface="Times New Roman"/>
              </a:defRPr>
            </a:defPPr>
          </a:lstStyle>
          <a:p>
            <a:endParaRPr/>
          </a:p>
        </p:txBody>
      </p:sp>
      <p:sp>
        <p:nvSpPr>
          <p:cNvPr id="25" name="Oval 24">
            <a:extLst>
              <a:ext uri="{FF2B5EF4-FFF2-40B4-BE49-F238E27FC236}">
                <a16:creationId xmlns:a16="http://schemas.microsoft.com/office/drawing/2014/main" id="{68FBC403-934E-41E5-8C80-DE9DF183B5C5}"/>
              </a:ext>
            </a:extLst>
          </p:cNvPr>
          <p:cNvSpPr>
            <a:spLocks noGrp="1"/>
          </p:cNvSpPr>
          <p:nvPr/>
        </p:nvSpPr>
        <p:spPr>
          <a:xfrm>
            <a:off x="1200150" y="4886325"/>
            <a:ext cx="323850" cy="323850"/>
          </a:xfrm>
          <a:prstGeom prst="ellipse">
            <a:avLst/>
          </a:prstGeom>
          <a:solidFill>
            <a:srgbClr val="E8ECEF"/>
          </a:solidFill>
          <a:ln w="15240">
            <a:solidFill>
              <a:srgbClr val="777777"/>
            </a:solidFill>
            <a:prstDash val="solid"/>
          </a:ln>
        </p:spPr>
        <p:txBody>
          <a:bodyPr lIns="0" tIns="0" rIns="0" bIns="0" anchor="ctr"/>
          <a:lstStyle>
            <a:defPPr algn="ctr">
              <a:defRPr sz="2025" b="1">
                <a:solidFill>
                  <a:srgbClr val="777777"/>
                </a:solidFill>
                <a:latin typeface="Times New Roman"/>
                <a:ea typeface="Times New Roman"/>
                <a:cs typeface="Times New Roman"/>
              </a:defRPr>
            </a:defPPr>
          </a:lstStyle>
          <a:p>
            <a:endParaRPr/>
          </a:p>
        </p:txBody>
      </p:sp>
      <p:sp>
        <p:nvSpPr>
          <p:cNvPr id="26" name="Oval 25">
            <a:extLst>
              <a:ext uri="{FF2B5EF4-FFF2-40B4-BE49-F238E27FC236}">
                <a16:creationId xmlns:a16="http://schemas.microsoft.com/office/drawing/2014/main" id="{27E83168-75AC-4659-94BB-0865496E2000}"/>
              </a:ext>
            </a:extLst>
          </p:cNvPr>
          <p:cNvSpPr>
            <a:spLocks noGrp="1"/>
          </p:cNvSpPr>
          <p:nvPr/>
        </p:nvSpPr>
        <p:spPr>
          <a:xfrm>
            <a:off x="2914650" y="4886325"/>
            <a:ext cx="323850" cy="323850"/>
          </a:xfrm>
          <a:prstGeom prst="ellipse">
            <a:avLst/>
          </a:prstGeom>
          <a:solidFill>
            <a:srgbClr val="B45309"/>
          </a:solidFill>
          <a:ln w="15240">
            <a:solidFill>
              <a:srgbClr val="B45309"/>
            </a:solidFill>
            <a:prstDash val="solid"/>
          </a:ln>
        </p:spPr>
        <p:txBody>
          <a:bodyPr lIns="0" tIns="0" rIns="0" bIns="0" anchor="ctr"/>
          <a:lstStyle>
            <a:defPPr algn="ctr">
              <a:defRPr sz="2025" b="1">
                <a:solidFill>
                  <a:srgbClr val="B45309"/>
                </a:solidFill>
                <a:latin typeface="Times New Roman"/>
                <a:ea typeface="Times New Roman"/>
                <a:cs typeface="Times New Roman"/>
              </a:defRPr>
            </a:defPPr>
          </a:lstStyle>
          <a:p>
            <a:endParaRPr/>
          </a:p>
        </p:txBody>
      </p:sp>
      <p:sp>
        <p:nvSpPr>
          <p:cNvPr id="27" name="Oval 26">
            <a:extLst>
              <a:ext uri="{FF2B5EF4-FFF2-40B4-BE49-F238E27FC236}">
                <a16:creationId xmlns:a16="http://schemas.microsoft.com/office/drawing/2014/main" id="{CCCC262F-3302-46A0-A01C-D4B3F8159971}"/>
              </a:ext>
            </a:extLst>
          </p:cNvPr>
          <p:cNvSpPr>
            <a:spLocks noGrp="1"/>
          </p:cNvSpPr>
          <p:nvPr/>
        </p:nvSpPr>
        <p:spPr>
          <a:xfrm>
            <a:off x="3467100" y="4886325"/>
            <a:ext cx="323850" cy="323850"/>
          </a:xfrm>
          <a:prstGeom prst="ellipse">
            <a:avLst/>
          </a:prstGeom>
          <a:solidFill>
            <a:srgbClr val="E8ECEF"/>
          </a:solidFill>
          <a:ln w="15240">
            <a:solidFill>
              <a:srgbClr val="777777"/>
            </a:solidFill>
            <a:prstDash val="solid"/>
          </a:ln>
        </p:spPr>
        <p:txBody>
          <a:bodyPr lIns="0" tIns="0" rIns="0" bIns="0" anchor="ctr"/>
          <a:lstStyle>
            <a:defPPr algn="ctr">
              <a:defRPr sz="2025" b="1">
                <a:solidFill>
                  <a:srgbClr val="777777"/>
                </a:solidFill>
                <a:latin typeface="Times New Roman"/>
                <a:ea typeface="Times New Roman"/>
                <a:cs typeface="Times New Roman"/>
              </a:defRPr>
            </a:defPPr>
          </a:lstStyle>
          <a:p>
            <a:endParaRPr/>
          </a:p>
        </p:txBody>
      </p:sp>
      <p:sp>
        <p:nvSpPr>
          <p:cNvPr id="28" name="Oval 27">
            <a:extLst>
              <a:ext uri="{FF2B5EF4-FFF2-40B4-BE49-F238E27FC236}">
                <a16:creationId xmlns:a16="http://schemas.microsoft.com/office/drawing/2014/main" id="{265E5809-D44E-48C4-B81F-908AF9B8EC90}"/>
              </a:ext>
            </a:extLst>
          </p:cNvPr>
          <p:cNvSpPr>
            <a:spLocks noGrp="1"/>
          </p:cNvSpPr>
          <p:nvPr/>
        </p:nvSpPr>
        <p:spPr>
          <a:xfrm>
            <a:off x="4019550" y="4886325"/>
            <a:ext cx="323850" cy="323850"/>
          </a:xfrm>
          <a:prstGeom prst="ellipse">
            <a:avLst/>
          </a:prstGeom>
          <a:solidFill>
            <a:srgbClr val="E8ECEF"/>
          </a:solidFill>
          <a:ln w="15240">
            <a:solidFill>
              <a:srgbClr val="777777"/>
            </a:solidFill>
            <a:prstDash val="solid"/>
          </a:ln>
        </p:spPr>
        <p:txBody>
          <a:bodyPr lIns="0" tIns="0" rIns="0" bIns="0" anchor="ctr"/>
          <a:lstStyle>
            <a:defPPr algn="ctr">
              <a:defRPr sz="2025" b="1">
                <a:solidFill>
                  <a:srgbClr val="777777"/>
                </a:solidFill>
                <a:latin typeface="Times New Roman"/>
                <a:ea typeface="Times New Roman"/>
                <a:cs typeface="Times New Roman"/>
              </a:defRPr>
            </a:defPPr>
          </a:lstStyle>
          <a:p>
            <a:endParaRPr/>
          </a:p>
        </p:txBody>
      </p:sp>
      <p:sp>
        <p:nvSpPr>
          <p:cNvPr id="29" name="Oval 28">
            <a:extLst>
              <a:ext uri="{FF2B5EF4-FFF2-40B4-BE49-F238E27FC236}">
                <a16:creationId xmlns:a16="http://schemas.microsoft.com/office/drawing/2014/main" id="{03EC835C-09E3-4CCA-AA9E-5F5E94C3BE48}"/>
              </a:ext>
            </a:extLst>
          </p:cNvPr>
          <p:cNvSpPr>
            <a:spLocks noGrp="1"/>
          </p:cNvSpPr>
          <p:nvPr/>
        </p:nvSpPr>
        <p:spPr>
          <a:xfrm>
            <a:off x="4667250" y="4886325"/>
            <a:ext cx="323850" cy="323850"/>
          </a:xfrm>
          <a:prstGeom prst="ellipse">
            <a:avLst/>
          </a:prstGeom>
          <a:solidFill>
            <a:srgbClr val="E8ECEF"/>
          </a:solidFill>
          <a:ln w="15240">
            <a:solidFill>
              <a:srgbClr val="777777"/>
            </a:solidFill>
            <a:prstDash val="solid"/>
          </a:ln>
        </p:spPr>
        <p:txBody>
          <a:bodyPr lIns="0" tIns="0" rIns="0" bIns="0" anchor="ctr"/>
          <a:lstStyle>
            <a:defPPr algn="ctr">
              <a:defRPr sz="2025" b="1">
                <a:solidFill>
                  <a:srgbClr val="777777"/>
                </a:solidFill>
                <a:latin typeface="Times New Roman"/>
                <a:ea typeface="Times New Roman"/>
                <a:cs typeface="Times New Roman"/>
              </a:defRPr>
            </a:defPPr>
          </a:lstStyle>
          <a:p>
            <a:endParaRPr/>
          </a:p>
        </p:txBody>
      </p:sp>
      <p:sp>
        <p:nvSpPr>
          <p:cNvPr id="30" name="Rectangle 29">
            <a:extLst>
              <a:ext uri="{FF2B5EF4-FFF2-40B4-BE49-F238E27FC236}">
                <a16:creationId xmlns:a16="http://schemas.microsoft.com/office/drawing/2014/main" id="{8612F575-4277-4BBE-91AB-80A8143AAEB7}"/>
              </a:ext>
            </a:extLst>
          </p:cNvPr>
          <p:cNvSpPr>
            <a:spLocks noGrp="1"/>
          </p:cNvSpPr>
          <p:nvPr/>
        </p:nvSpPr>
        <p:spPr>
          <a:xfrm>
            <a:off x="457200" y="5591175"/>
            <a:ext cx="5200650" cy="333375"/>
          </a:xfrm>
          <a:prstGeom prst="rect">
            <a:avLst/>
          </a:prstGeom>
          <a:noFill/>
          <a:ln w="0">
            <a:noFill/>
          </a:ln>
        </p:spPr>
        <p:txBody>
          <a:bodyPr wrap="square" lIns="0" tIns="0" rIns="0" bIns="0" anchor="t"/>
          <a:lstStyle>
            <a:defPPr algn="l">
              <a:defRPr sz="1575" b="0">
                <a:solidFill>
                  <a:srgbClr val="777777"/>
                </a:solidFill>
                <a:latin typeface="Times New Roman"/>
                <a:ea typeface="Times New Roman"/>
                <a:cs typeface="Times New Roman"/>
              </a:defRPr>
            </a:defPPr>
          </a:lstStyle>
          <a:p>
            <a:pPr algn="l">
              <a:buNone/>
              <a:defRPr sz="1575" b="0">
                <a:solidFill>
                  <a:srgbClr val="777777"/>
                </a:solidFill>
                <a:latin typeface="Times New Roman"/>
                <a:ea typeface="Times New Roman"/>
                <a:cs typeface="Times New Roman"/>
              </a:defRPr>
            </a:pPr>
            <a:r>
              <a:rPr sz="1575" b="0">
                <a:solidFill>
                  <a:srgbClr val="777777"/>
                </a:solidFill>
                <a:latin typeface="Times New Roman"/>
                <a:ea typeface="Times New Roman"/>
                <a:cs typeface="Times New Roman"/>
              </a:rPr>
              <a:t>One run shown. Each repeat resets the starting row.</a:t>
            </a:r>
          </a:p>
        </p:txBody>
      </p:sp>
      <p:sp>
        <p:nvSpPr>
          <p:cNvPr id="31" name="Rectangle 30">
            <a:extLst>
              <a:ext uri="{FF2B5EF4-FFF2-40B4-BE49-F238E27FC236}">
                <a16:creationId xmlns:a16="http://schemas.microsoft.com/office/drawing/2014/main" id="{80CC5B1B-DE91-4841-A5BF-721EB21691BD}"/>
              </a:ext>
            </a:extLst>
          </p:cNvPr>
          <p:cNvSpPr>
            <a:spLocks noGrp="1"/>
          </p:cNvSpPr>
          <p:nvPr/>
        </p:nvSpPr>
        <p:spPr>
          <a:xfrm>
            <a:off x="6286500" y="1581150"/>
            <a:ext cx="5448300" cy="352425"/>
          </a:xfrm>
          <a:prstGeom prst="rect">
            <a:avLst/>
          </a:prstGeom>
          <a:noFill/>
          <a:ln w="0">
            <a:noFill/>
          </a:ln>
        </p:spPr>
        <p:txBody>
          <a:bodyPr wrap="square" lIns="0" tIns="0" rIns="0" bIns="0" anchor="t"/>
          <a:lstStyle>
            <a:defPPr algn="l">
              <a:defRPr sz="2250" b="1">
                <a:solidFill>
                  <a:srgbClr val="111111"/>
                </a:solidFill>
                <a:latin typeface="Times New Roman"/>
                <a:ea typeface="Times New Roman"/>
                <a:cs typeface="Times New Roman"/>
              </a:defRPr>
            </a:defPPr>
          </a:lstStyle>
          <a:p>
            <a:pPr algn="l">
              <a:buNone/>
              <a:defRPr sz="2250" b="1">
                <a:solidFill>
                  <a:srgbClr val="111111"/>
                </a:solidFill>
                <a:latin typeface="Times New Roman"/>
                <a:ea typeface="Times New Roman"/>
                <a:cs typeface="Times New Roman"/>
              </a:defRPr>
            </a:pPr>
            <a:r>
              <a:rPr sz="2250" b="1">
                <a:solidFill>
                  <a:srgbClr val="111111"/>
                </a:solidFill>
                <a:latin typeface="Times New Roman"/>
                <a:ea typeface="Times New Roman"/>
                <a:cs typeface="Times New Roman"/>
              </a:rPr>
              <a:t>What the agent gets</a:t>
            </a:r>
          </a:p>
        </p:txBody>
      </p:sp>
      <p:sp>
        <p:nvSpPr>
          <p:cNvPr id="32" name="Rectangle 31">
            <a:extLst>
              <a:ext uri="{FF2B5EF4-FFF2-40B4-BE49-F238E27FC236}">
                <a16:creationId xmlns:a16="http://schemas.microsoft.com/office/drawing/2014/main" id="{05DCB7A6-18B5-424E-94B8-11149F2A1D49}"/>
              </a:ext>
            </a:extLst>
          </p:cNvPr>
          <p:cNvSpPr>
            <a:spLocks noGrp="1"/>
          </p:cNvSpPr>
          <p:nvPr/>
        </p:nvSpPr>
        <p:spPr>
          <a:xfrm>
            <a:off x="6286500" y="2057400"/>
            <a:ext cx="5448300" cy="990600"/>
          </a:xfrm>
          <a:prstGeom prst="rect">
            <a:avLst/>
          </a:prstGeom>
          <a:noFill/>
          <a:ln w="0">
            <a:noFill/>
          </a:ln>
        </p:spPr>
        <p:txBody>
          <a:bodyPr wrap="square" lIns="0" tIns="0" rIns="0" bIns="0" anchor="t"/>
          <a:lstStyle>
            <a:defPPr algn="l">
              <a:defRPr sz="2025" b="0">
                <a:solidFill>
                  <a:srgbClr val="111111"/>
                </a:solidFill>
                <a:latin typeface="Times New Roman"/>
                <a:ea typeface="Times New Roman"/>
                <a:cs typeface="Times New Roman"/>
              </a:defRPr>
            </a:defPPr>
          </a:lstStyle>
          <a:p>
            <a:pPr algn="l">
              <a:buNone/>
              <a:defRPr sz="2025" b="0">
                <a:solidFill>
                  <a:srgbClr val="111111"/>
                </a:solidFill>
                <a:latin typeface="Times New Roman"/>
                <a:ea typeface="Times New Roman"/>
                <a:cs typeface="Times New Roman"/>
              </a:defRPr>
            </a:pPr>
            <a:r>
              <a:rPr sz="2025" b="0">
                <a:solidFill>
                  <a:srgbClr val="111111"/>
                </a:solidFill>
                <a:latin typeface="Times New Roman"/>
                <a:ea typeface="Times New Roman"/>
                <a:cs typeface="Times New Roman"/>
              </a:rPr>
              <a:t>A setup description, starter code, and data</a:t>
            </a:r>
          </a:p>
          <a:p>
            <a:pPr algn="l">
              <a:buNone/>
              <a:defRPr sz="2025" b="0">
                <a:solidFill>
                  <a:srgbClr val="111111"/>
                </a:solidFill>
                <a:latin typeface="Times New Roman"/>
                <a:ea typeface="Times New Roman"/>
                <a:cs typeface="Times New Roman"/>
              </a:defRPr>
            </a:pPr>
            <a:r>
              <a:rPr sz="2025" b="0">
                <a:solidFill>
                  <a:srgbClr val="111111"/>
                </a:solidFill>
                <a:latin typeface="Times New Roman"/>
                <a:ea typeface="Times New Roman"/>
                <a:cs typeface="Times New Roman"/>
              </a:rPr>
              <a:t>on how far the bead typically moves</a:t>
            </a:r>
          </a:p>
          <a:p>
            <a:pPr algn="l">
              <a:buNone/>
              <a:defRPr sz="2025" b="0">
                <a:solidFill>
                  <a:srgbClr val="111111"/>
                </a:solidFill>
                <a:latin typeface="Times New Roman"/>
                <a:ea typeface="Times New Roman"/>
                <a:cs typeface="Times New Roman"/>
              </a:defRPr>
            </a:pPr>
            <a:r>
              <a:rPr sz="2025" b="0">
                <a:solidFill>
                  <a:srgbClr val="111111"/>
                </a:solidFill>
                <a:latin typeface="Times New Roman"/>
                <a:ea typeface="Times New Roman"/>
                <a:cs typeface="Times New Roman"/>
              </a:rPr>
              <a:t>at several observation times.</a:t>
            </a:r>
          </a:p>
        </p:txBody>
      </p:sp>
      <p:sp>
        <p:nvSpPr>
          <p:cNvPr id="33" name="Rectangle 32">
            <a:extLst>
              <a:ext uri="{FF2B5EF4-FFF2-40B4-BE49-F238E27FC236}">
                <a16:creationId xmlns:a16="http://schemas.microsoft.com/office/drawing/2014/main" id="{B0EA5148-8AD1-4370-B501-B24753F88571}"/>
              </a:ext>
            </a:extLst>
          </p:cNvPr>
          <p:cNvSpPr>
            <a:spLocks noGrp="1"/>
          </p:cNvSpPr>
          <p:nvPr/>
        </p:nvSpPr>
        <p:spPr>
          <a:xfrm>
            <a:off x="6286500" y="3295650"/>
            <a:ext cx="5448300" cy="352425"/>
          </a:xfrm>
          <a:prstGeom prst="rect">
            <a:avLst/>
          </a:prstGeom>
          <a:noFill/>
          <a:ln w="0">
            <a:noFill/>
          </a:ln>
        </p:spPr>
        <p:txBody>
          <a:bodyPr wrap="square" lIns="0" tIns="0" rIns="0" bIns="0" anchor="t"/>
          <a:lstStyle>
            <a:defPPr algn="l">
              <a:defRPr sz="2250" b="1">
                <a:solidFill>
                  <a:srgbClr val="1D4E89"/>
                </a:solidFill>
                <a:latin typeface="Times New Roman"/>
                <a:ea typeface="Times New Roman"/>
                <a:cs typeface="Times New Roman"/>
              </a:defRPr>
            </a:defPPr>
          </a:lstStyle>
          <a:p>
            <a:pPr algn="l">
              <a:buNone/>
              <a:defRPr sz="2250" b="1">
                <a:solidFill>
                  <a:srgbClr val="1D4E89"/>
                </a:solidFill>
                <a:latin typeface="Times New Roman"/>
                <a:ea typeface="Times New Roman"/>
                <a:cs typeface="Times New Roman"/>
              </a:defRPr>
            </a:pPr>
            <a:r>
              <a:rPr sz="2250" b="1">
                <a:solidFill>
                  <a:srgbClr val="1D4E89"/>
                </a:solidFill>
                <a:latin typeface="Times New Roman"/>
                <a:ea typeface="Times New Roman"/>
                <a:cs typeface="Times New Roman"/>
              </a:rPr>
              <a:t>What the agent must predict</a:t>
            </a:r>
          </a:p>
        </p:txBody>
      </p:sp>
      <p:sp>
        <p:nvSpPr>
          <p:cNvPr id="34" name="Rectangle 33">
            <a:extLst>
              <a:ext uri="{FF2B5EF4-FFF2-40B4-BE49-F238E27FC236}">
                <a16:creationId xmlns:a16="http://schemas.microsoft.com/office/drawing/2014/main" id="{C4209CE6-ACBA-4CB8-BAB6-2D1338E3E0D0}"/>
              </a:ext>
            </a:extLst>
          </p:cNvPr>
          <p:cNvSpPr>
            <a:spLocks noGrp="1"/>
          </p:cNvSpPr>
          <p:nvPr/>
        </p:nvSpPr>
        <p:spPr>
          <a:xfrm>
            <a:off x="6286500" y="3771900"/>
            <a:ext cx="5448300" cy="990600"/>
          </a:xfrm>
          <a:prstGeom prst="rect">
            <a:avLst/>
          </a:prstGeom>
          <a:noFill/>
          <a:ln w="0">
            <a:noFill/>
          </a:ln>
        </p:spPr>
        <p:txBody>
          <a:bodyPr wrap="square" lIns="0" tIns="0" rIns="0" bIns="0" anchor="t"/>
          <a:lstStyle>
            <a:defPPr algn="l">
              <a:defRPr sz="2025" b="0">
                <a:solidFill>
                  <a:srgbClr val="111111"/>
                </a:solidFill>
                <a:latin typeface="Times New Roman"/>
                <a:ea typeface="Times New Roman"/>
                <a:cs typeface="Times New Roman"/>
              </a:defRPr>
            </a:defPPr>
          </a:lstStyle>
          <a:p>
            <a:pPr algn="l">
              <a:buNone/>
              <a:defRPr sz="2025" b="0">
                <a:solidFill>
                  <a:srgbClr val="111111"/>
                </a:solidFill>
                <a:latin typeface="Times New Roman"/>
                <a:ea typeface="Times New Roman"/>
                <a:cs typeface="Times New Roman"/>
              </a:defRPr>
            </a:pPr>
            <a:r>
              <a:rPr sz="2025" b="0">
                <a:solidFill>
                  <a:srgbClr val="111111"/>
                </a:solidFill>
                <a:latin typeface="Times New Roman"/>
                <a:ea typeface="Times New Roman"/>
                <a:cs typeface="Times New Roman"/>
              </a:rPr>
              <a:t>Fit the strength of random motion.</a:t>
            </a:r>
          </a:p>
          <a:p>
            <a:pPr algn="l">
              <a:buNone/>
              <a:defRPr sz="2025" b="0">
                <a:solidFill>
                  <a:srgbClr val="111111"/>
                </a:solidFill>
                <a:latin typeface="Times New Roman"/>
                <a:ea typeface="Times New Roman"/>
                <a:cs typeface="Times New Roman"/>
              </a:defRPr>
            </a:pPr>
            <a:r>
              <a:rPr sz="2025" b="0">
                <a:solidFill>
                  <a:srgbClr val="111111"/>
                </a:solidFill>
                <a:latin typeface="Times New Roman"/>
                <a:ea typeface="Times New Roman"/>
                <a:cs typeface="Times New Roman"/>
              </a:rPr>
              <a:t>Then predict how the bead’s early and later</a:t>
            </a:r>
          </a:p>
          <a:p>
            <a:pPr algn="l">
              <a:buNone/>
              <a:defRPr sz="2025" b="0">
                <a:solidFill>
                  <a:srgbClr val="111111"/>
                </a:solidFill>
                <a:latin typeface="Times New Roman"/>
                <a:ea typeface="Times New Roman"/>
                <a:cs typeface="Times New Roman"/>
              </a:defRPr>
            </a:pPr>
            <a:r>
              <a:rPr sz="2025" b="0">
                <a:solidFill>
                  <a:srgbClr val="111111"/>
                </a:solidFill>
                <a:latin typeface="Times New Roman"/>
                <a:ea typeface="Times New Roman"/>
                <a:cs typeface="Times New Roman"/>
              </a:rPr>
              <a:t>positions correlate across many runs.</a:t>
            </a:r>
          </a:p>
        </p:txBody>
      </p:sp>
      <p:sp>
        <p:nvSpPr>
          <p:cNvPr id="35" name="Rectangle 34">
            <a:extLst>
              <a:ext uri="{FF2B5EF4-FFF2-40B4-BE49-F238E27FC236}">
                <a16:creationId xmlns:a16="http://schemas.microsoft.com/office/drawing/2014/main" id="{87E47CA0-617F-4DEA-BF6A-8B00F933ADEB}"/>
              </a:ext>
            </a:extLst>
          </p:cNvPr>
          <p:cNvSpPr>
            <a:spLocks noGrp="1"/>
          </p:cNvSpPr>
          <p:nvPr/>
        </p:nvSpPr>
        <p:spPr>
          <a:xfrm>
            <a:off x="6286500" y="4895850"/>
            <a:ext cx="5448300" cy="352425"/>
          </a:xfrm>
          <a:prstGeom prst="rect">
            <a:avLst/>
          </a:prstGeom>
          <a:noFill/>
          <a:ln w="0">
            <a:noFill/>
          </a:ln>
        </p:spPr>
        <p:txBody>
          <a:bodyPr wrap="square" lIns="0" tIns="0" rIns="0" bIns="0" anchor="t"/>
          <a:lstStyle>
            <a:defPPr algn="l">
              <a:defRPr sz="2250" b="1">
                <a:solidFill>
                  <a:srgbClr val="111111"/>
                </a:solidFill>
                <a:latin typeface="Times New Roman"/>
                <a:ea typeface="Times New Roman"/>
                <a:cs typeface="Times New Roman"/>
              </a:defRPr>
            </a:defPPr>
          </a:lstStyle>
          <a:p>
            <a:pPr algn="l">
              <a:buNone/>
              <a:defRPr sz="2250" b="1">
                <a:solidFill>
                  <a:srgbClr val="111111"/>
                </a:solidFill>
                <a:latin typeface="Times New Roman"/>
                <a:ea typeface="Times New Roman"/>
                <a:cs typeface="Times New Roman"/>
              </a:defRPr>
            </a:pPr>
            <a:r>
              <a:rPr sz="2250" b="1">
                <a:solidFill>
                  <a:srgbClr val="111111"/>
                </a:solidFill>
                <a:latin typeface="Times New Roman"/>
                <a:ea typeface="Times New Roman"/>
                <a:cs typeface="Times New Roman"/>
              </a:rPr>
              <a:t>Physics it must account for</a:t>
            </a:r>
          </a:p>
        </p:txBody>
      </p:sp>
      <p:sp>
        <p:nvSpPr>
          <p:cNvPr id="36" name="Rectangle 35">
            <a:extLst>
              <a:ext uri="{FF2B5EF4-FFF2-40B4-BE49-F238E27FC236}">
                <a16:creationId xmlns:a16="http://schemas.microsoft.com/office/drawing/2014/main" id="{0E992A19-E518-4A04-BDBE-E9742D222B5F}"/>
              </a:ext>
            </a:extLst>
          </p:cNvPr>
          <p:cNvSpPr>
            <a:spLocks noGrp="1"/>
          </p:cNvSpPr>
          <p:nvPr/>
        </p:nvSpPr>
        <p:spPr>
          <a:xfrm>
            <a:off x="6286500" y="5324475"/>
            <a:ext cx="5448300" cy="609600"/>
          </a:xfrm>
          <a:prstGeom prst="rect">
            <a:avLst/>
          </a:prstGeom>
          <a:noFill/>
          <a:ln w="0">
            <a:noFill/>
          </a:ln>
        </p:spPr>
        <p:txBody>
          <a:bodyPr wrap="square" lIns="0" tIns="0" rIns="0" bIns="0" anchor="t"/>
          <a:lstStyle>
            <a:defPPr algn="l">
              <a:defRPr sz="2025" b="0">
                <a:solidFill>
                  <a:srgbClr val="111111"/>
                </a:solidFill>
                <a:latin typeface="Times New Roman"/>
                <a:ea typeface="Times New Roman"/>
                <a:cs typeface="Times New Roman"/>
              </a:defRPr>
            </a:defPPr>
          </a:lstStyle>
          <a:p>
            <a:pPr algn="l">
              <a:buNone/>
              <a:defRPr sz="2025" b="0">
                <a:solidFill>
                  <a:srgbClr val="111111"/>
                </a:solidFill>
                <a:latin typeface="Times New Roman"/>
                <a:ea typeface="Times New Roman"/>
                <a:cs typeface="Times New Roman"/>
              </a:defRPr>
            </a:pPr>
            <a:r>
              <a:rPr sz="2025" b="0">
                <a:solidFill>
                  <a:srgbClr val="111111"/>
                </a:solidFill>
                <a:latin typeface="Times New Roman"/>
                <a:ea typeface="Times New Roman"/>
                <a:cs typeface="Times New Roman"/>
              </a:rPr>
              <a:t>The initial bead spacing can affect the correlation</a:t>
            </a:r>
          </a:p>
          <a:p>
            <a:pPr algn="l">
              <a:buNone/>
              <a:defRPr sz="2025" b="0">
                <a:solidFill>
                  <a:srgbClr val="111111"/>
                </a:solidFill>
                <a:latin typeface="Times New Roman"/>
                <a:ea typeface="Times New Roman"/>
                <a:cs typeface="Times New Roman"/>
              </a:defRPr>
            </a:pPr>
            <a:r>
              <a:rPr sz="2025" b="0">
                <a:solidFill>
                  <a:srgbClr val="111111"/>
                </a:solidFill>
                <a:latin typeface="Times New Roman"/>
                <a:ea typeface="Times New Roman"/>
                <a:cs typeface="Times New Roman"/>
              </a:rPr>
              <a:t>between early and later motion.</a:t>
            </a:r>
          </a:p>
        </p:txBody>
      </p:sp>
      <p:sp>
        <p:nvSpPr>
          <p:cNvPr id="37" name="Rectangle 36">
            <a:extLst>
              <a:ext uri="{FF2B5EF4-FFF2-40B4-BE49-F238E27FC236}">
                <a16:creationId xmlns:a16="http://schemas.microsoft.com/office/drawing/2014/main" id="{09EE6FC6-A10B-42CB-8A2D-C1E5B125AE17}"/>
              </a:ext>
            </a:extLst>
          </p:cNvPr>
          <p:cNvSpPr>
            <a:spLocks noGrp="1"/>
          </p:cNvSpPr>
          <p:nvPr/>
        </p:nvSpPr>
        <p:spPr>
          <a:xfrm>
            <a:off x="457200" y="6076950"/>
            <a:ext cx="11277600" cy="381000"/>
          </a:xfrm>
          <a:prstGeom prst="rect">
            <a:avLst/>
          </a:prstGeom>
          <a:noFill/>
          <a:ln w="0">
            <a:noFill/>
          </a:ln>
        </p:spPr>
        <p:txBody>
          <a:bodyPr wrap="square" lIns="0" tIns="0" rIns="0" bIns="0" anchor="t"/>
          <a:lstStyle>
            <a:defPPr algn="l">
              <a:defRPr sz="1350" b="0">
                <a:solidFill>
                  <a:srgbClr val="777777"/>
                </a:solidFill>
                <a:latin typeface="Times New Roman"/>
                <a:ea typeface="Times New Roman"/>
                <a:cs typeface="Times New Roman"/>
              </a:defRPr>
            </a:defPPr>
          </a:lstStyle>
          <a:p>
            <a:pPr algn="l">
              <a:buNone/>
              <a:defRPr sz="1350" b="0">
                <a:solidFill>
                  <a:srgbClr val="777777"/>
                </a:solidFill>
                <a:latin typeface="Times New Roman"/>
                <a:ea typeface="Times New Roman"/>
                <a:cs typeface="Times New Roman"/>
              </a:defRPr>
            </a:pPr>
            <a:r>
              <a:rPr sz="1350" b="0">
                <a:solidFill>
                  <a:srgbClr val="777777"/>
                </a:solidFill>
                <a:latin typeface="Times New Roman"/>
                <a:ea typeface="Times New Roman"/>
                <a:cs typeface="Times New Roman"/>
              </a:rPr>
              <a:t>Illustrative setup. The benchmark asks for the statistical trend after long observation times, rather than one bead’s exact path.</a:t>
            </a:r>
          </a:p>
        </p:txBody>
      </p:sp>
      <p:sp>
        <p:nvSpPr>
          <p:cNvPr id="38" name="Rectangle 37">
            <a:extLst>
              <a:ext uri="{FF2B5EF4-FFF2-40B4-BE49-F238E27FC236}">
                <a16:creationId xmlns:a16="http://schemas.microsoft.com/office/drawing/2014/main" id="{B5B2BFD1-9BD4-4B2A-804C-23D72BA3EF86}"/>
              </a:ext>
            </a:extLst>
          </p:cNvPr>
          <p:cNvSpPr>
            <a:spLocks noGrp="1"/>
          </p:cNvSpPr>
          <p:nvPr/>
        </p:nvSpPr>
        <p:spPr>
          <a:xfrm>
            <a:off x="11201400" y="6477000"/>
            <a:ext cx="533400" cy="190500"/>
          </a:xfrm>
          <a:prstGeom prst="rect">
            <a:avLst/>
          </a:prstGeom>
          <a:noFill/>
          <a:ln w="0">
            <a:noFill/>
          </a:ln>
        </p:spPr>
        <p:txBody>
          <a:bodyPr wrap="square" lIns="0" tIns="0" rIns="0" bIns="0" anchor="t"/>
          <a:lstStyle>
            <a:defPPr algn="l">
              <a:defRPr sz="1200" b="0">
                <a:solidFill>
                  <a:srgbClr val="777777"/>
                </a:solidFill>
                <a:latin typeface="Times New Roman"/>
                <a:ea typeface="Times New Roman"/>
                <a:cs typeface="Times New Roman"/>
              </a:defRPr>
            </a:defPPr>
          </a:lstStyle>
          <a:p>
            <a:pPr algn="l">
              <a:buNone/>
              <a:defRPr sz="1200" b="0">
                <a:solidFill>
                  <a:srgbClr val="777777"/>
                </a:solidFill>
                <a:latin typeface="Times New Roman"/>
                <a:ea typeface="Times New Roman"/>
                <a:cs typeface="Times New Roman"/>
              </a:defRPr>
            </a:pPr>
            <a:r>
              <a:rPr sz="1200" b="0">
                <a:solidFill>
                  <a:srgbClr val="777777"/>
                </a:solidFill>
                <a:latin typeface="Times New Roman"/>
                <a:ea typeface="Times New Roman"/>
                <a:cs typeface="Times New Roman"/>
              </a:rPr>
              <a:t>3</a:t>
            </a:r>
          </a:p>
        </p:txBody>
      </p:sp>
    </p:spTree>
    <p:extLst>
      <p:ext uri="{BB962C8B-B14F-4D97-AF65-F5344CB8AC3E}">
        <p14:creationId xmlns:p14="http://schemas.microsoft.com/office/powerpoint/2010/main" val="13747693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A2E055D0-CB93-4BD7-8C34-D05A390641C9}"/>
              </a:ext>
            </a:extLst>
          </p:cNvPr>
          <p:cNvSpPr>
            <a:spLocks noGrp="1"/>
          </p:cNvSpPr>
          <p:nvPr/>
        </p:nvSpPr>
        <p:spPr>
          <a:xfrm>
            <a:off x="457200" y="209550"/>
            <a:ext cx="11277600" cy="638175"/>
          </a:xfrm>
          <a:prstGeom prst="rect">
            <a:avLst/>
          </a:prstGeom>
          <a:noFill/>
          <a:ln w="0">
            <a:noFill/>
          </a:ln>
        </p:spPr>
        <p:txBody>
          <a:bodyPr wrap="square" lIns="0" tIns="0" rIns="0" bIns="0" anchor="t"/>
          <a:lstStyle>
            <a:defPPr algn="l">
              <a:defRPr sz="3600" b="1">
                <a:solidFill>
                  <a:srgbClr val="111111"/>
                </a:solidFill>
                <a:latin typeface="Times New Roman"/>
                <a:ea typeface="Times New Roman"/>
                <a:cs typeface="Times New Roman"/>
              </a:defRPr>
            </a:defPPr>
          </a:lstStyle>
          <a:p>
            <a:pPr algn="l">
              <a:buNone/>
              <a:defRPr sz="3600" b="1">
                <a:solidFill>
                  <a:srgbClr val="111111"/>
                </a:solidFill>
                <a:latin typeface="Times New Roman"/>
                <a:ea typeface="Times New Roman"/>
                <a:cs typeface="Times New Roman"/>
              </a:defRPr>
            </a:pPr>
            <a:r>
              <a:rPr sz="3600" b="1">
                <a:solidFill>
                  <a:srgbClr val="111111"/>
                </a:solidFill>
                <a:latin typeface="Times New Roman"/>
                <a:ea typeface="Times New Roman"/>
                <a:cs typeface="Times New Roman"/>
              </a:rPr>
              <a:t>Three prompt conditions</a:t>
            </a:r>
          </a:p>
        </p:txBody>
      </p:sp>
      <p:sp>
        <p:nvSpPr>
          <p:cNvPr id="2" name="Rectangle 1">
            <a:extLst>
              <a:ext uri="{FF2B5EF4-FFF2-40B4-BE49-F238E27FC236}">
                <a16:creationId xmlns:a16="http://schemas.microsoft.com/office/drawing/2014/main" id="{E3A2D2EB-BD64-42F5-A6A8-12EA53CBC6EA}"/>
              </a:ext>
            </a:extLst>
          </p:cNvPr>
          <p:cNvSpPr>
            <a:spLocks noGrp="1"/>
          </p:cNvSpPr>
          <p:nvPr/>
        </p:nvSpPr>
        <p:spPr>
          <a:xfrm>
            <a:off x="457200" y="914400"/>
            <a:ext cx="11277600" cy="476250"/>
          </a:xfrm>
          <a:prstGeom prst="rect">
            <a:avLst/>
          </a:prstGeom>
          <a:noFill/>
          <a:ln w="0">
            <a:noFill/>
          </a:ln>
        </p:spPr>
        <p:txBody>
          <a:bodyPr wrap="square" lIns="0" tIns="0" rIns="0" bIns="0" anchor="t"/>
          <a:lstStyle>
            <a:defPPr algn="l">
              <a:defRPr sz="1875" b="0">
                <a:solidFill>
                  <a:srgbClr val="444444"/>
                </a:solidFill>
                <a:latin typeface="Times New Roman"/>
                <a:ea typeface="Times New Roman"/>
                <a:cs typeface="Times New Roman"/>
              </a:defRPr>
            </a:defPPr>
          </a:lstStyle>
          <a:p>
            <a:pPr algn="l">
              <a:buNone/>
              <a:defRPr sz="1875" b="0">
                <a:solidFill>
                  <a:srgbClr val="444444"/>
                </a:solidFill>
                <a:latin typeface="Times New Roman"/>
                <a:ea typeface="Times New Roman"/>
                <a:cs typeface="Times New Roman"/>
              </a:defRPr>
            </a:pPr>
            <a:r>
              <a:rPr sz="1875" b="0" dirty="0">
                <a:solidFill>
                  <a:srgbClr val="444444"/>
                </a:solidFill>
                <a:latin typeface="Times New Roman"/>
                <a:ea typeface="Times New Roman"/>
                <a:cs typeface="Times New Roman"/>
              </a:rPr>
              <a:t>The task stays the same. </a:t>
            </a:r>
            <a:r>
              <a:rPr lang="en-US" sz="1875" b="0" dirty="0">
                <a:solidFill>
                  <a:srgbClr val="444444"/>
                </a:solidFill>
                <a:latin typeface="Times New Roman"/>
                <a:ea typeface="Times New Roman"/>
                <a:cs typeface="Times New Roman"/>
              </a:rPr>
              <a:t>Extra prompt </a:t>
            </a:r>
            <a:r>
              <a:rPr lang="en-US" sz="1875" dirty="0">
                <a:solidFill>
                  <a:srgbClr val="444444"/>
                </a:solidFill>
                <a:latin typeface="Times New Roman"/>
                <a:ea typeface="Times New Roman"/>
                <a:cs typeface="Times New Roman"/>
              </a:rPr>
              <a:t>for confirming failure modes.</a:t>
            </a:r>
            <a:endParaRPr sz="1875" b="0" dirty="0">
              <a:solidFill>
                <a:srgbClr val="444444"/>
              </a:solidFill>
              <a:latin typeface="Times New Roman"/>
              <a:ea typeface="Times New Roman"/>
              <a:cs typeface="Times New Roman"/>
            </a:endParaRPr>
          </a:p>
        </p:txBody>
      </p:sp>
      <p:graphicFrame>
        <p:nvGraphicFramePr>
          <p:cNvPr id="3" name="Table 2">
            <a:extLst>
              <a:ext uri="{FF2B5EF4-FFF2-40B4-BE49-F238E27FC236}">
                <a16:creationId xmlns:a16="http://schemas.microsoft.com/office/drawing/2014/main" id="{3F02F0FE-6DB7-417F-A602-E58A757FCF00}"/>
              </a:ext>
            </a:extLst>
          </p:cNvPr>
          <p:cNvGraphicFramePr/>
          <p:nvPr/>
        </p:nvGraphicFramePr>
        <p:xfrm>
          <a:off x="457200" y="1571625"/>
          <a:ext cx="11277600" cy="2967990"/>
        </p:xfrm>
        <a:graphic>
          <a:graphicData uri="http://schemas.openxmlformats.org/drawingml/2006/table">
            <a:tbl>
              <a:tblPr/>
              <a:tblGrid>
                <a:gridCol w="2247900">
                  <a:extLst>
                    <a:ext uri="{9D8B030D-6E8A-4147-A177-3AD203B41FA5}">
                      <a16:colId xmlns:a16="http://schemas.microsoft.com/office/drawing/2014/main" val="20000"/>
                    </a:ext>
                  </a:extLst>
                </a:gridCol>
                <a:gridCol w="9029700">
                  <a:extLst>
                    <a:ext uri="{9D8B030D-6E8A-4147-A177-3AD203B41FA5}">
                      <a16:colId xmlns:a16="http://schemas.microsoft.com/office/drawing/2014/main" val="20001"/>
                    </a:ext>
                  </a:extLst>
                </a:gridCol>
              </a:tblGrid>
              <a:tr h="714375">
                <a:tc>
                  <a:txBody>
                    <a:bodyPr/>
                    <a:lstStyle/>
                    <a:p>
                      <a:r>
                        <a:rPr sz="2025" b="1">
                          <a:solidFill>
                            <a:srgbClr val="FFFFFF"/>
                          </a:solidFill>
                          <a:latin typeface="Times New Roman"/>
                          <a:ea typeface="Times New Roman"/>
                          <a:cs typeface="Times New Roman"/>
                        </a:rPr>
                        <a:t>Condition</a:t>
                      </a:r>
                    </a:p>
                  </a:txBody>
                  <a:tcPr marL="114300" marR="114300" marT="76200" marB="76200" anchor="ctr">
                    <a:lnL w="7620">
                      <a:solidFill>
                        <a:srgbClr val="D1D5DB"/>
                      </a:solidFill>
                      <a:prstDash val="solid"/>
                    </a:lnL>
                    <a:lnR w="7620">
                      <a:solidFill>
                        <a:srgbClr val="D1D5DB"/>
                      </a:solidFill>
                      <a:prstDash val="solid"/>
                    </a:lnR>
                    <a:lnT w="7620">
                      <a:solidFill>
                        <a:srgbClr val="D1D5DB"/>
                      </a:solidFill>
                      <a:prstDash val="solid"/>
                    </a:lnT>
                    <a:lnB w="7620">
                      <a:solidFill>
                        <a:srgbClr val="D1D5DB"/>
                      </a:solidFill>
                      <a:prstDash val="solid"/>
                    </a:lnB>
                    <a:solidFill>
                      <a:srgbClr val="374151"/>
                    </a:solidFill>
                  </a:tcPr>
                </a:tc>
                <a:tc>
                  <a:txBody>
                    <a:bodyPr/>
                    <a:lstStyle/>
                    <a:p>
                      <a:r>
                        <a:rPr sz="2025" b="1">
                          <a:solidFill>
                            <a:srgbClr val="FFFFFF"/>
                          </a:solidFill>
                          <a:latin typeface="Times New Roman"/>
                          <a:ea typeface="Times New Roman"/>
                          <a:cs typeface="Times New Roman"/>
                        </a:rPr>
                        <a:t>Instruction or added guidance</a:t>
                      </a:r>
                    </a:p>
                  </a:txBody>
                  <a:tcPr marL="114300" marR="114300" marT="76200" marB="76200" anchor="ctr">
                    <a:lnL w="7620" cmpd="sng">
                      <a:solidFill>
                        <a:srgbClr val="D1D5DB"/>
                      </a:solidFill>
                      <a:prstDash val="solid"/>
                    </a:lnL>
                    <a:lnR w="7620">
                      <a:solidFill>
                        <a:srgbClr val="D1D5DB"/>
                      </a:solidFill>
                      <a:prstDash val="solid"/>
                    </a:lnR>
                    <a:lnT w="7620">
                      <a:solidFill>
                        <a:srgbClr val="D1D5DB"/>
                      </a:solidFill>
                      <a:prstDash val="solid"/>
                    </a:lnT>
                    <a:lnB w="7620">
                      <a:solidFill>
                        <a:srgbClr val="D1D5DB"/>
                      </a:solidFill>
                      <a:prstDash val="solid"/>
                    </a:lnB>
                    <a:solidFill>
                      <a:srgbClr val="374151"/>
                    </a:solidFill>
                  </a:tcPr>
                </a:tc>
                <a:extLst>
                  <a:ext uri="{0D108BD9-81ED-4DB2-BD59-A6C34878D82A}">
                    <a16:rowId xmlns:a16="http://schemas.microsoft.com/office/drawing/2014/main" val="10000"/>
                  </a:ext>
                </a:extLst>
              </a:tr>
              <a:tr h="714375">
                <a:tc>
                  <a:txBody>
                    <a:bodyPr/>
                    <a:lstStyle/>
                    <a:p>
                      <a:r>
                        <a:rPr sz="2025" b="0">
                          <a:solidFill>
                            <a:srgbClr val="111111"/>
                          </a:solidFill>
                          <a:latin typeface="Times New Roman"/>
                          <a:ea typeface="Times New Roman"/>
                          <a:cs typeface="Times New Roman"/>
                        </a:rPr>
                        <a:t>No hint</a:t>
                      </a:r>
                    </a:p>
                  </a:txBody>
                  <a:tcPr marL="114300" marR="114300" marT="76200" marB="76200" anchor="ctr">
                    <a:lnL w="7620">
                      <a:solidFill>
                        <a:srgbClr val="D1D5DB"/>
                      </a:solidFill>
                      <a:prstDash val="solid"/>
                    </a:lnL>
                    <a:lnR w="7620">
                      <a:solidFill>
                        <a:srgbClr val="D1D5DB"/>
                      </a:solidFill>
                      <a:prstDash val="solid"/>
                    </a:lnR>
                    <a:lnT w="7620" cmpd="sng">
                      <a:solidFill>
                        <a:srgbClr val="D1D5DB"/>
                      </a:solidFill>
                      <a:prstDash val="solid"/>
                    </a:lnT>
                    <a:lnB w="7620">
                      <a:solidFill>
                        <a:srgbClr val="D1D5DB"/>
                      </a:solidFill>
                      <a:prstDash val="solid"/>
                    </a:lnB>
                    <a:solidFill>
                      <a:srgbClr val="FFFFFF"/>
                    </a:solidFill>
                  </a:tcPr>
                </a:tc>
                <a:tc>
                  <a:txBody>
                    <a:bodyPr/>
                    <a:lstStyle/>
                    <a:p>
                      <a:r>
                        <a:rPr sz="2025" b="0">
                          <a:solidFill>
                            <a:srgbClr val="111111"/>
                          </a:solidFill>
                          <a:latin typeface="Times New Roman"/>
                          <a:ea typeface="Times New Roman"/>
                          <a:cs typeface="Times New Roman"/>
                        </a:rPr>
                        <a:t>Use the setup and supplied data to implement the model.</a:t>
                      </a:r>
                    </a:p>
                  </a:txBody>
                  <a:tcPr marL="114300" marR="114300" marT="76200" marB="76200" anchor="ctr">
                    <a:lnL w="7620" cmpd="sng">
                      <a:solidFill>
                        <a:srgbClr val="D1D5DB"/>
                      </a:solidFill>
                      <a:prstDash val="solid"/>
                    </a:lnL>
                    <a:lnR w="7620">
                      <a:solidFill>
                        <a:srgbClr val="D1D5DB"/>
                      </a:solidFill>
                      <a:prstDash val="solid"/>
                    </a:lnR>
                    <a:lnT w="7620" cmpd="sng">
                      <a:solidFill>
                        <a:srgbClr val="D1D5DB"/>
                      </a:solidFill>
                      <a:prstDash val="solid"/>
                    </a:lnT>
                    <a:lnB w="7620">
                      <a:solidFill>
                        <a:srgbClr val="D1D5DB"/>
                      </a:solidFill>
                      <a:prstDash val="solid"/>
                    </a:lnB>
                    <a:solidFill>
                      <a:srgbClr val="FFFFFF"/>
                    </a:solidFill>
                  </a:tcPr>
                </a:tc>
                <a:extLst>
                  <a:ext uri="{0D108BD9-81ED-4DB2-BD59-A6C34878D82A}">
                    <a16:rowId xmlns:a16="http://schemas.microsoft.com/office/drawing/2014/main" val="10001"/>
                  </a:ext>
                </a:extLst>
              </a:tr>
              <a:tr h="714375">
                <a:tc>
                  <a:txBody>
                    <a:bodyPr/>
                    <a:lstStyle/>
                    <a:p>
                      <a:r>
                        <a:rPr sz="2025" b="0">
                          <a:solidFill>
                            <a:srgbClr val="111111"/>
                          </a:solidFill>
                          <a:latin typeface="Times New Roman"/>
                          <a:ea typeface="Times New Roman"/>
                          <a:cs typeface="Times New Roman"/>
                        </a:rPr>
                        <a:t>General hint</a:t>
                      </a:r>
                    </a:p>
                  </a:txBody>
                  <a:tcPr marL="114300" marR="114300" marT="76200" marB="76200" anchor="ctr">
                    <a:lnL w="7620">
                      <a:solidFill>
                        <a:srgbClr val="D1D5DB"/>
                      </a:solidFill>
                      <a:prstDash val="solid"/>
                    </a:lnL>
                    <a:lnR w="7620">
                      <a:solidFill>
                        <a:srgbClr val="D1D5DB"/>
                      </a:solidFill>
                      <a:prstDash val="solid"/>
                    </a:lnR>
                    <a:lnT w="7620" cmpd="sng">
                      <a:solidFill>
                        <a:srgbClr val="D1D5DB"/>
                      </a:solidFill>
                      <a:prstDash val="solid"/>
                    </a:lnT>
                    <a:lnB w="7620">
                      <a:solidFill>
                        <a:srgbClr val="D1D5DB"/>
                      </a:solidFill>
                      <a:prstDash val="solid"/>
                    </a:lnB>
                    <a:solidFill>
                      <a:srgbClr val="F3F4F6"/>
                    </a:solidFill>
                  </a:tcPr>
                </a:tc>
                <a:tc>
                  <a:txBody>
                    <a:bodyPr/>
                    <a:lstStyle/>
                    <a:p>
                      <a:r>
                        <a:rPr sz="2025" b="0">
                          <a:solidFill>
                            <a:srgbClr val="111111"/>
                          </a:solidFill>
                          <a:latin typeface="Times New Roman"/>
                          <a:ea typeface="Times New Roman"/>
                          <a:cs typeface="Times New Roman"/>
                        </a:rPr>
                        <a:t>“Check your implementation carefully and test its correctness</a:t>
                      </a:r>
                    </a:p>
                    <a:p>
                      <a:r>
                        <a:rPr sz="2025" b="0">
                          <a:solidFill>
                            <a:srgbClr val="111111"/>
                          </a:solidFill>
                          <a:latin typeface="Times New Roman"/>
                          <a:ea typeface="Times New Roman"/>
                          <a:cs typeface="Times New Roman"/>
                        </a:rPr>
                        <a:t>before finishing.”</a:t>
                      </a:r>
                    </a:p>
                  </a:txBody>
                  <a:tcPr marL="114300" marR="114300" marT="76200" marB="76200" anchor="ctr">
                    <a:lnL w="7620" cmpd="sng">
                      <a:solidFill>
                        <a:srgbClr val="D1D5DB"/>
                      </a:solidFill>
                      <a:prstDash val="solid"/>
                    </a:lnL>
                    <a:lnR w="7620">
                      <a:solidFill>
                        <a:srgbClr val="D1D5DB"/>
                      </a:solidFill>
                      <a:prstDash val="solid"/>
                    </a:lnR>
                    <a:lnT w="7620" cmpd="sng">
                      <a:solidFill>
                        <a:srgbClr val="D1D5DB"/>
                      </a:solidFill>
                      <a:prstDash val="solid"/>
                    </a:lnT>
                    <a:lnB w="7620">
                      <a:solidFill>
                        <a:srgbClr val="D1D5DB"/>
                      </a:solidFill>
                      <a:prstDash val="solid"/>
                    </a:lnB>
                    <a:solidFill>
                      <a:srgbClr val="F3F4F6"/>
                    </a:solidFill>
                  </a:tcPr>
                </a:tc>
                <a:extLst>
                  <a:ext uri="{0D108BD9-81ED-4DB2-BD59-A6C34878D82A}">
                    <a16:rowId xmlns:a16="http://schemas.microsoft.com/office/drawing/2014/main" val="10002"/>
                  </a:ext>
                </a:extLst>
              </a:tr>
              <a:tr h="714375">
                <a:tc>
                  <a:txBody>
                    <a:bodyPr/>
                    <a:lstStyle/>
                    <a:p>
                      <a:r>
                        <a:rPr sz="2025" b="0">
                          <a:solidFill>
                            <a:srgbClr val="111111"/>
                          </a:solidFill>
                          <a:latin typeface="Times New Roman"/>
                          <a:ea typeface="Times New Roman"/>
                          <a:cs typeface="Times New Roman"/>
                        </a:rPr>
                        <a:t>Physics hint</a:t>
                      </a:r>
                    </a:p>
                  </a:txBody>
                  <a:tcPr marL="114300" marR="114300" marT="76200" marB="76200" anchor="ctr">
                    <a:lnL w="7620">
                      <a:solidFill>
                        <a:srgbClr val="D1D5DB"/>
                      </a:solidFill>
                      <a:prstDash val="solid"/>
                    </a:lnL>
                    <a:lnR w="7620">
                      <a:solidFill>
                        <a:srgbClr val="D1D5DB"/>
                      </a:solidFill>
                      <a:prstDash val="solid"/>
                    </a:lnR>
                    <a:lnT w="7620" cmpd="sng">
                      <a:solidFill>
                        <a:srgbClr val="D1D5DB"/>
                      </a:solidFill>
                      <a:prstDash val="solid"/>
                    </a:lnT>
                    <a:lnB w="7620">
                      <a:solidFill>
                        <a:srgbClr val="D1D5DB"/>
                      </a:solidFill>
                      <a:prstDash val="solid"/>
                    </a:lnB>
                    <a:solidFill>
                      <a:srgbClr val="FFFFFF"/>
                    </a:solidFill>
                  </a:tcPr>
                </a:tc>
                <a:tc>
                  <a:txBody>
                    <a:bodyPr/>
                    <a:lstStyle/>
                    <a:p>
                      <a:r>
                        <a:rPr sz="2025" b="0">
                          <a:solidFill>
                            <a:srgbClr val="111111"/>
                          </a:solidFill>
                          <a:latin typeface="Times New Roman"/>
                          <a:ea typeface="Times New Roman"/>
                          <a:cs typeface="Times New Roman"/>
                        </a:rPr>
                        <a:t>The starting arrangement affects how early and later motion</a:t>
                      </a:r>
                    </a:p>
                    <a:p>
                      <a:r>
                        <a:rPr sz="2025" b="0">
                          <a:solidFill>
                            <a:srgbClr val="111111"/>
                          </a:solidFill>
                          <a:latin typeface="Times New Roman"/>
                          <a:ea typeface="Times New Roman"/>
                          <a:cs typeface="Times New Roman"/>
                        </a:rPr>
                        <a:t>are connected. Account for that shared history.</a:t>
                      </a:r>
                    </a:p>
                  </a:txBody>
                  <a:tcPr marL="114300" marR="114300" marT="76200" marB="76200" anchor="ctr">
                    <a:lnL w="7620" cmpd="sng">
                      <a:solidFill>
                        <a:srgbClr val="D1D5DB"/>
                      </a:solidFill>
                      <a:prstDash val="solid"/>
                    </a:lnL>
                    <a:lnR w="7620">
                      <a:solidFill>
                        <a:srgbClr val="D1D5DB"/>
                      </a:solidFill>
                      <a:prstDash val="solid"/>
                    </a:lnR>
                    <a:lnT w="7620" cmpd="sng">
                      <a:solidFill>
                        <a:srgbClr val="D1D5DB"/>
                      </a:solidFill>
                      <a:prstDash val="solid"/>
                    </a:lnT>
                    <a:lnB w="7620">
                      <a:solidFill>
                        <a:srgbClr val="D1D5DB"/>
                      </a:solidFill>
                      <a:prstDash val="solid"/>
                    </a:lnB>
                    <a:solidFill>
                      <a:srgbClr val="FFFFFF"/>
                    </a:solidFill>
                  </a:tcPr>
                </a:tc>
                <a:extLst>
                  <a:ext uri="{0D108BD9-81ED-4DB2-BD59-A6C34878D82A}">
                    <a16:rowId xmlns:a16="http://schemas.microsoft.com/office/drawing/2014/main" val="10003"/>
                  </a:ext>
                </a:extLst>
              </a:tr>
            </a:tbl>
          </a:graphicData>
        </a:graphic>
      </p:graphicFrame>
      <p:sp>
        <p:nvSpPr>
          <p:cNvPr id="4" name="Rectangle 3">
            <a:extLst>
              <a:ext uri="{FF2B5EF4-FFF2-40B4-BE49-F238E27FC236}">
                <a16:creationId xmlns:a16="http://schemas.microsoft.com/office/drawing/2014/main" id="{76C76A53-DEEC-454A-9753-1C69F3526FBC}"/>
              </a:ext>
            </a:extLst>
          </p:cNvPr>
          <p:cNvSpPr>
            <a:spLocks noGrp="1"/>
          </p:cNvSpPr>
          <p:nvPr/>
        </p:nvSpPr>
        <p:spPr>
          <a:xfrm>
            <a:off x="457200" y="4810125"/>
            <a:ext cx="11277600" cy="352425"/>
          </a:xfrm>
          <a:prstGeom prst="rect">
            <a:avLst/>
          </a:prstGeom>
          <a:noFill/>
          <a:ln w="0">
            <a:noFill/>
          </a:ln>
        </p:spPr>
        <p:txBody>
          <a:bodyPr wrap="square" lIns="0" tIns="0" rIns="0" bIns="0" anchor="t"/>
          <a:lstStyle>
            <a:defPPr algn="l">
              <a:defRPr sz="2250" b="1">
                <a:solidFill>
                  <a:srgbClr val="111111"/>
                </a:solidFill>
                <a:latin typeface="Times New Roman"/>
                <a:ea typeface="Times New Roman"/>
                <a:cs typeface="Times New Roman"/>
              </a:defRPr>
            </a:defPPr>
          </a:lstStyle>
          <a:p>
            <a:pPr algn="l">
              <a:buNone/>
              <a:defRPr sz="2250" b="1">
                <a:solidFill>
                  <a:srgbClr val="111111"/>
                </a:solidFill>
                <a:latin typeface="Times New Roman"/>
                <a:ea typeface="Times New Roman"/>
                <a:cs typeface="Times New Roman"/>
              </a:defRPr>
            </a:pPr>
            <a:r>
              <a:rPr sz="2250" b="1">
                <a:solidFill>
                  <a:srgbClr val="111111"/>
                </a:solidFill>
                <a:latin typeface="Times New Roman"/>
                <a:ea typeface="Times New Roman"/>
                <a:cs typeface="Times New Roman"/>
              </a:rPr>
              <a:t>For the bead example</a:t>
            </a:r>
          </a:p>
        </p:txBody>
      </p:sp>
      <p:sp>
        <p:nvSpPr>
          <p:cNvPr id="5" name="Rectangle 4">
            <a:extLst>
              <a:ext uri="{FF2B5EF4-FFF2-40B4-BE49-F238E27FC236}">
                <a16:creationId xmlns:a16="http://schemas.microsoft.com/office/drawing/2014/main" id="{9BB0283D-1D38-4884-B8B4-61E3727BC95D}"/>
              </a:ext>
            </a:extLst>
          </p:cNvPr>
          <p:cNvSpPr>
            <a:spLocks noGrp="1"/>
          </p:cNvSpPr>
          <p:nvPr/>
        </p:nvSpPr>
        <p:spPr>
          <a:xfrm>
            <a:off x="457200" y="5314950"/>
            <a:ext cx="11277600" cy="685800"/>
          </a:xfrm>
          <a:prstGeom prst="rect">
            <a:avLst/>
          </a:prstGeom>
          <a:noFill/>
          <a:ln w="0">
            <a:noFill/>
          </a:ln>
        </p:spPr>
        <p:txBody>
          <a:bodyPr wrap="square" lIns="0" tIns="0" rIns="0" bIns="0" anchor="t"/>
          <a:lstStyle>
            <a:defPPr algn="l">
              <a:defRPr sz="2175" b="0">
                <a:solidFill>
                  <a:srgbClr val="111111"/>
                </a:solidFill>
                <a:latin typeface="Times New Roman"/>
                <a:ea typeface="Times New Roman"/>
                <a:cs typeface="Times New Roman"/>
              </a:defRPr>
            </a:defPPr>
          </a:lstStyle>
          <a:p>
            <a:pPr algn="l">
              <a:buNone/>
              <a:defRPr sz="2175" b="0">
                <a:solidFill>
                  <a:srgbClr val="111111"/>
                </a:solidFill>
                <a:latin typeface="Times New Roman"/>
                <a:ea typeface="Times New Roman"/>
                <a:cs typeface="Times New Roman"/>
              </a:defRPr>
            </a:pPr>
            <a:r>
              <a:rPr sz="2175" b="0">
                <a:solidFill>
                  <a:srgbClr val="111111"/>
                </a:solidFill>
                <a:latin typeface="Times New Roman"/>
                <a:ea typeface="Times New Roman"/>
                <a:cs typeface="Times New Roman"/>
              </a:rPr>
              <a:t>The general hint asks the agent to check its work.</a:t>
            </a:r>
          </a:p>
          <a:p>
            <a:pPr algn="l">
              <a:buNone/>
              <a:defRPr sz="2175" b="0">
                <a:solidFill>
                  <a:srgbClr val="111111"/>
                </a:solidFill>
                <a:latin typeface="Times New Roman"/>
                <a:ea typeface="Times New Roman"/>
                <a:cs typeface="Times New Roman"/>
              </a:defRPr>
            </a:pPr>
            <a:r>
              <a:rPr sz="2175" b="0">
                <a:solidFill>
                  <a:srgbClr val="111111"/>
                </a:solidFill>
                <a:latin typeface="Times New Roman"/>
                <a:ea typeface="Times New Roman"/>
                <a:cs typeface="Times New Roman"/>
              </a:rPr>
              <a:t>The physics hint points to something its formula may be missing.</a:t>
            </a:r>
          </a:p>
        </p:txBody>
      </p:sp>
      <p:sp>
        <p:nvSpPr>
          <p:cNvPr id="6" name="Rectangle 5">
            <a:extLst>
              <a:ext uri="{FF2B5EF4-FFF2-40B4-BE49-F238E27FC236}">
                <a16:creationId xmlns:a16="http://schemas.microsoft.com/office/drawing/2014/main" id="{0052D048-AD03-400E-B7B2-F16D3D3D559D}"/>
              </a:ext>
            </a:extLst>
          </p:cNvPr>
          <p:cNvSpPr>
            <a:spLocks noGrp="1"/>
          </p:cNvSpPr>
          <p:nvPr/>
        </p:nvSpPr>
        <p:spPr>
          <a:xfrm>
            <a:off x="457200" y="6076950"/>
            <a:ext cx="11277600" cy="381000"/>
          </a:xfrm>
          <a:prstGeom prst="rect">
            <a:avLst/>
          </a:prstGeom>
          <a:noFill/>
          <a:ln w="0">
            <a:noFill/>
          </a:ln>
        </p:spPr>
        <p:txBody>
          <a:bodyPr wrap="square" lIns="0" tIns="0" rIns="0" bIns="0" anchor="t"/>
          <a:lstStyle>
            <a:defPPr algn="l">
              <a:defRPr sz="1350" b="0">
                <a:solidFill>
                  <a:srgbClr val="777777"/>
                </a:solidFill>
                <a:latin typeface="Times New Roman"/>
                <a:ea typeface="Times New Roman"/>
                <a:cs typeface="Times New Roman"/>
              </a:defRPr>
            </a:defPPr>
          </a:lstStyle>
          <a:p>
            <a:pPr algn="l">
              <a:buNone/>
              <a:defRPr sz="1350" b="0">
                <a:solidFill>
                  <a:srgbClr val="777777"/>
                </a:solidFill>
                <a:latin typeface="Times New Roman"/>
                <a:ea typeface="Times New Roman"/>
                <a:cs typeface="Times New Roman"/>
              </a:defRPr>
            </a:pPr>
            <a:r>
              <a:rPr sz="1350" b="0">
                <a:solidFill>
                  <a:srgbClr val="777777"/>
                </a:solidFill>
                <a:latin typeface="Times New Roman"/>
                <a:ea typeface="Times New Roman"/>
                <a:cs typeface="Times New Roman"/>
              </a:rPr>
              <a:t>No-hint instruction shortened. General hint quoted exactly. Physics hint summarized in plain language from the actual task hint.</a:t>
            </a:r>
          </a:p>
        </p:txBody>
      </p:sp>
      <p:sp>
        <p:nvSpPr>
          <p:cNvPr id="7" name="Rectangle 6">
            <a:extLst>
              <a:ext uri="{FF2B5EF4-FFF2-40B4-BE49-F238E27FC236}">
                <a16:creationId xmlns:a16="http://schemas.microsoft.com/office/drawing/2014/main" id="{6F7B7D6A-AEA7-4431-AB33-4CEEE44EF934}"/>
              </a:ext>
            </a:extLst>
          </p:cNvPr>
          <p:cNvSpPr>
            <a:spLocks noGrp="1"/>
          </p:cNvSpPr>
          <p:nvPr/>
        </p:nvSpPr>
        <p:spPr>
          <a:xfrm>
            <a:off x="11201400" y="6477000"/>
            <a:ext cx="533400" cy="190500"/>
          </a:xfrm>
          <a:prstGeom prst="rect">
            <a:avLst/>
          </a:prstGeom>
          <a:noFill/>
          <a:ln w="0">
            <a:noFill/>
          </a:ln>
        </p:spPr>
        <p:txBody>
          <a:bodyPr wrap="square" lIns="0" tIns="0" rIns="0" bIns="0" anchor="t"/>
          <a:lstStyle>
            <a:defPPr algn="l">
              <a:defRPr sz="1200" b="0">
                <a:solidFill>
                  <a:srgbClr val="777777"/>
                </a:solidFill>
                <a:latin typeface="Times New Roman"/>
                <a:ea typeface="Times New Roman"/>
                <a:cs typeface="Times New Roman"/>
              </a:defRPr>
            </a:defPPr>
          </a:lstStyle>
          <a:p>
            <a:pPr algn="l">
              <a:buNone/>
              <a:defRPr sz="1200" b="0">
                <a:solidFill>
                  <a:srgbClr val="777777"/>
                </a:solidFill>
                <a:latin typeface="Times New Roman"/>
                <a:ea typeface="Times New Roman"/>
                <a:cs typeface="Times New Roman"/>
              </a:defRPr>
            </a:pPr>
            <a:r>
              <a:rPr sz="1200" b="0">
                <a:solidFill>
                  <a:srgbClr val="777777"/>
                </a:solidFill>
                <a:latin typeface="Times New Roman"/>
                <a:ea typeface="Times New Roman"/>
                <a:cs typeface="Times New Roman"/>
              </a:rPr>
              <a:t>4</a:t>
            </a:r>
          </a:p>
        </p:txBody>
      </p:sp>
    </p:spTree>
    <p:extLst>
      <p:ext uri="{BB962C8B-B14F-4D97-AF65-F5344CB8AC3E}">
        <p14:creationId xmlns:p14="http://schemas.microsoft.com/office/powerpoint/2010/main" val="16970246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8E3E2753-6C3B-4865-8F73-D926BD05E874}"/>
              </a:ext>
            </a:extLst>
          </p:cNvPr>
          <p:cNvSpPr>
            <a:spLocks noGrp="1"/>
          </p:cNvSpPr>
          <p:nvPr/>
        </p:nvSpPr>
        <p:spPr>
          <a:xfrm>
            <a:off x="457200" y="209550"/>
            <a:ext cx="11277600" cy="638175"/>
          </a:xfrm>
          <a:prstGeom prst="rect">
            <a:avLst/>
          </a:prstGeom>
          <a:noFill/>
          <a:ln w="0">
            <a:noFill/>
          </a:ln>
        </p:spPr>
        <p:txBody>
          <a:bodyPr wrap="square" lIns="0" tIns="0" rIns="0" bIns="0" anchor="t"/>
          <a:lstStyle>
            <a:defPPr>
              <a:defRPr sz="3600" b="1">
                <a:solidFill>
                  <a:srgbClr val="111111"/>
                </a:solidFill>
                <a:latin typeface="Times New Roman"/>
                <a:ea typeface="Times New Roman"/>
                <a:cs typeface="Times New Roman"/>
              </a:defRPr>
            </a:defPPr>
          </a:lstStyle>
          <a:p>
            <a:pPr>
              <a:buNone/>
              <a:defRPr sz="3600" b="1">
                <a:solidFill>
                  <a:srgbClr val="111111"/>
                </a:solidFill>
                <a:latin typeface="Times New Roman"/>
                <a:ea typeface="Times New Roman"/>
                <a:cs typeface="Times New Roman"/>
              </a:defRPr>
            </a:pPr>
            <a:r>
              <a:rPr sz="3600" b="1">
                <a:solidFill>
                  <a:srgbClr val="111111"/>
                </a:solidFill>
                <a:latin typeface="Times New Roman"/>
                <a:ea typeface="Times New Roman"/>
                <a:cs typeface="Times New Roman"/>
              </a:rPr>
              <a:t>Experiment and evaluation</a:t>
            </a:r>
          </a:p>
        </p:txBody>
      </p:sp>
      <p:sp>
        <p:nvSpPr>
          <p:cNvPr id="2" name="Rectangle 1">
            <a:extLst>
              <a:ext uri="{FF2B5EF4-FFF2-40B4-BE49-F238E27FC236}">
                <a16:creationId xmlns:a16="http://schemas.microsoft.com/office/drawing/2014/main" id="{B199295B-69DE-4238-8D9A-9AA79ED6645E}"/>
              </a:ext>
            </a:extLst>
          </p:cNvPr>
          <p:cNvSpPr>
            <a:spLocks noGrp="1"/>
          </p:cNvSpPr>
          <p:nvPr/>
        </p:nvSpPr>
        <p:spPr>
          <a:xfrm>
            <a:off x="457200" y="942975"/>
            <a:ext cx="11277600" cy="457200"/>
          </a:xfrm>
          <a:prstGeom prst="rect">
            <a:avLst/>
          </a:prstGeom>
          <a:noFill/>
          <a:ln w="0">
            <a:noFill/>
          </a:ln>
        </p:spPr>
        <p:txBody>
          <a:bodyPr wrap="square" lIns="0" tIns="0" rIns="0" bIns="0" anchor="t"/>
          <a:lstStyle>
            <a:defPPr>
              <a:defRPr sz="1875" b="0">
                <a:solidFill>
                  <a:srgbClr val="444444"/>
                </a:solidFill>
                <a:latin typeface="Times New Roman"/>
                <a:ea typeface="Times New Roman"/>
                <a:cs typeface="Times New Roman"/>
              </a:defRPr>
            </a:defPPr>
          </a:lstStyle>
          <a:p>
            <a:pPr>
              <a:buNone/>
              <a:defRPr sz="1875" b="0">
                <a:solidFill>
                  <a:srgbClr val="444444"/>
                </a:solidFill>
                <a:latin typeface="Times New Roman"/>
                <a:ea typeface="Times New Roman"/>
                <a:cs typeface="Times New Roman"/>
              </a:defRPr>
            </a:pPr>
            <a:r>
              <a:rPr sz="1875" b="0">
                <a:solidFill>
                  <a:srgbClr val="444444"/>
                </a:solidFill>
                <a:latin typeface="Times New Roman"/>
                <a:ea typeface="Times New Roman"/>
                <a:cs typeface="Times New Roman"/>
              </a:rPr>
              <a:t>13 frozen tasks, 3 trials per setting. A pass requires timely completion and all grading gates.</a:t>
            </a:r>
          </a:p>
        </p:txBody>
      </p:sp>
      <p:sp>
        <p:nvSpPr>
          <p:cNvPr id="3" name="Rectangle 2">
            <a:extLst>
              <a:ext uri="{FF2B5EF4-FFF2-40B4-BE49-F238E27FC236}">
                <a16:creationId xmlns:a16="http://schemas.microsoft.com/office/drawing/2014/main" id="{B89F7FD6-3615-4835-8005-D582C0D1794D}"/>
              </a:ext>
            </a:extLst>
          </p:cNvPr>
          <p:cNvSpPr>
            <a:spLocks noGrp="1"/>
          </p:cNvSpPr>
          <p:nvPr/>
        </p:nvSpPr>
        <p:spPr>
          <a:xfrm>
            <a:off x="11201400" y="6477000"/>
            <a:ext cx="533400" cy="190500"/>
          </a:xfrm>
          <a:prstGeom prst="rect">
            <a:avLst/>
          </a:prstGeom>
          <a:noFill/>
          <a:ln w="0">
            <a:noFill/>
          </a:ln>
        </p:spPr>
        <p:txBody>
          <a:bodyPr wrap="square" lIns="0" tIns="0" rIns="0" bIns="0" anchor="t"/>
          <a:lstStyle>
            <a:defPPr>
              <a:defRPr sz="1200" b="0">
                <a:solidFill>
                  <a:srgbClr val="777777"/>
                </a:solidFill>
                <a:latin typeface="Times New Roman"/>
                <a:ea typeface="Times New Roman"/>
                <a:cs typeface="Times New Roman"/>
              </a:defRPr>
            </a:defPPr>
          </a:lstStyle>
          <a:p>
            <a:pPr>
              <a:buNone/>
              <a:defRPr sz="1200" b="0">
                <a:solidFill>
                  <a:srgbClr val="777777"/>
                </a:solidFill>
                <a:latin typeface="Times New Roman"/>
                <a:ea typeface="Times New Roman"/>
                <a:cs typeface="Times New Roman"/>
              </a:defRPr>
            </a:pPr>
            <a:r>
              <a:rPr sz="1200" b="0">
                <a:solidFill>
                  <a:srgbClr val="777777"/>
                </a:solidFill>
                <a:latin typeface="Times New Roman"/>
                <a:ea typeface="Times New Roman"/>
                <a:cs typeface="Times New Roman"/>
              </a:rPr>
              <a:t>5</a:t>
            </a:r>
          </a:p>
        </p:txBody>
      </p:sp>
      <p:graphicFrame>
        <p:nvGraphicFramePr>
          <p:cNvPr id="4" name="Table 3">
            <a:extLst>
              <a:ext uri="{FF2B5EF4-FFF2-40B4-BE49-F238E27FC236}">
                <a16:creationId xmlns:a16="http://schemas.microsoft.com/office/drawing/2014/main" id="{CE818974-C8A0-4CDB-9162-59BA14810DB4}"/>
              </a:ext>
            </a:extLst>
          </p:cNvPr>
          <p:cNvGraphicFramePr/>
          <p:nvPr/>
        </p:nvGraphicFramePr>
        <p:xfrm>
          <a:off x="457200" y="1590675"/>
          <a:ext cx="11277600" cy="3333752"/>
        </p:xfrm>
        <a:graphic>
          <a:graphicData uri="http://schemas.openxmlformats.org/drawingml/2006/table">
            <a:tbl>
              <a:tblPr/>
              <a:tblGrid>
                <a:gridCol w="2238375">
                  <a:extLst>
                    <a:ext uri="{9D8B030D-6E8A-4147-A177-3AD203B41FA5}">
                      <a16:colId xmlns:a16="http://schemas.microsoft.com/office/drawing/2014/main" val="20000"/>
                    </a:ext>
                  </a:extLst>
                </a:gridCol>
                <a:gridCol w="6096000">
                  <a:extLst>
                    <a:ext uri="{9D8B030D-6E8A-4147-A177-3AD203B41FA5}">
                      <a16:colId xmlns:a16="http://schemas.microsoft.com/office/drawing/2014/main" val="20001"/>
                    </a:ext>
                  </a:extLst>
                </a:gridCol>
                <a:gridCol w="2943225">
                  <a:extLst>
                    <a:ext uri="{9D8B030D-6E8A-4147-A177-3AD203B41FA5}">
                      <a16:colId xmlns:a16="http://schemas.microsoft.com/office/drawing/2014/main" val="20002"/>
                    </a:ext>
                  </a:extLst>
                </a:gridCol>
              </a:tblGrid>
              <a:tr h="833438">
                <a:tc>
                  <a:txBody>
                    <a:bodyPr/>
                    <a:lstStyle/>
                    <a:p>
                      <a:r>
                        <a:rPr sz="1800" b="1">
                          <a:solidFill>
                            <a:srgbClr val="FFFFFF"/>
                          </a:solidFill>
                          <a:latin typeface="Times New Roman"/>
                          <a:ea typeface="Times New Roman"/>
                          <a:cs typeface="Times New Roman"/>
                        </a:rPr>
                        <a:t>Study</a:t>
                      </a:r>
                    </a:p>
                  </a:txBody>
                  <a:tcPr>
                    <a:lnL w="6668">
                      <a:solidFill>
                        <a:srgbClr val="D1D5DB"/>
                      </a:solidFill>
                      <a:prstDash val="solid"/>
                    </a:lnL>
                    <a:lnR w="6668">
                      <a:solidFill>
                        <a:srgbClr val="D1D5DB"/>
                      </a:solidFill>
                      <a:prstDash val="solid"/>
                    </a:lnR>
                    <a:lnT w="6668">
                      <a:solidFill>
                        <a:srgbClr val="D1D5DB"/>
                      </a:solidFill>
                      <a:prstDash val="solid"/>
                    </a:lnT>
                    <a:lnB w="6668">
                      <a:solidFill>
                        <a:srgbClr val="D1D5DB"/>
                      </a:solidFill>
                      <a:prstDash val="solid"/>
                    </a:lnB>
                    <a:solidFill>
                      <a:srgbClr val="374151"/>
                    </a:solidFill>
                  </a:tcPr>
                </a:tc>
                <a:tc>
                  <a:txBody>
                    <a:bodyPr/>
                    <a:lstStyle/>
                    <a:p>
                      <a:r>
                        <a:rPr sz="1800" b="1">
                          <a:solidFill>
                            <a:srgbClr val="FFFFFF"/>
                          </a:solidFill>
                          <a:latin typeface="Times New Roman"/>
                          <a:ea typeface="Times New Roman"/>
                          <a:cs typeface="Times New Roman"/>
                        </a:rPr>
                        <a:t>Models and reasoning settings</a:t>
                      </a:r>
                    </a:p>
                  </a:txBody>
                  <a:tcPr>
                    <a:lnL w="6668" cap="flat" cmpd="sng" algn="ctr">
                      <a:solidFill>
                        <a:srgbClr val="D1D5DB"/>
                      </a:solidFill>
                      <a:prstDash val="solid"/>
                      <a:round/>
                      <a:headEnd type="none" w="med" len="med"/>
                      <a:tailEnd type="none" w="med" len="med"/>
                    </a:lnL>
                    <a:lnR w="6668">
                      <a:solidFill>
                        <a:srgbClr val="D1D5DB"/>
                      </a:solidFill>
                      <a:prstDash val="solid"/>
                    </a:lnR>
                    <a:lnT w="6668">
                      <a:solidFill>
                        <a:srgbClr val="D1D5DB"/>
                      </a:solidFill>
                      <a:prstDash val="solid"/>
                    </a:lnT>
                    <a:lnB w="6668">
                      <a:solidFill>
                        <a:srgbClr val="D1D5DB"/>
                      </a:solidFill>
                      <a:prstDash val="solid"/>
                    </a:lnB>
                    <a:solidFill>
                      <a:srgbClr val="374151"/>
                    </a:solidFill>
                  </a:tcPr>
                </a:tc>
                <a:tc>
                  <a:txBody>
                    <a:bodyPr/>
                    <a:lstStyle/>
                    <a:p>
                      <a:r>
                        <a:rPr sz="1800" b="1">
                          <a:solidFill>
                            <a:srgbClr val="FFFFFF"/>
                          </a:solidFill>
                          <a:latin typeface="Times New Roman"/>
                          <a:ea typeface="Times New Roman"/>
                          <a:cs typeface="Times New Roman"/>
                        </a:rPr>
                        <a:t>Observations</a:t>
                      </a:r>
                    </a:p>
                  </a:txBody>
                  <a:tcPr>
                    <a:lnL w="6668" cap="flat" cmpd="sng" algn="ctr">
                      <a:solidFill>
                        <a:srgbClr val="D1D5DB"/>
                      </a:solidFill>
                      <a:prstDash val="solid"/>
                      <a:round/>
                      <a:headEnd type="none" w="med" len="med"/>
                      <a:tailEnd type="none" w="med" len="med"/>
                    </a:lnL>
                    <a:lnR w="6668">
                      <a:solidFill>
                        <a:srgbClr val="D1D5DB"/>
                      </a:solidFill>
                      <a:prstDash val="solid"/>
                    </a:lnR>
                    <a:lnT w="6668">
                      <a:solidFill>
                        <a:srgbClr val="D1D5DB"/>
                      </a:solidFill>
                      <a:prstDash val="solid"/>
                    </a:lnT>
                    <a:lnB w="6668">
                      <a:solidFill>
                        <a:srgbClr val="D1D5DB"/>
                      </a:solidFill>
                      <a:prstDash val="solid"/>
                    </a:lnB>
                    <a:solidFill>
                      <a:srgbClr val="374151"/>
                    </a:solidFill>
                  </a:tcPr>
                </a:tc>
                <a:extLst>
                  <a:ext uri="{0D108BD9-81ED-4DB2-BD59-A6C34878D82A}">
                    <a16:rowId xmlns:a16="http://schemas.microsoft.com/office/drawing/2014/main" val="10000"/>
                  </a:ext>
                </a:extLst>
              </a:tr>
              <a:tr h="833438">
                <a:tc>
                  <a:txBody>
                    <a:bodyPr/>
                    <a:lstStyle/>
                    <a:p>
                      <a:r>
                        <a:rPr sz="1800" b="0">
                          <a:solidFill>
                            <a:srgbClr val="111111"/>
                          </a:solidFill>
                          <a:latin typeface="Times New Roman"/>
                          <a:ea typeface="Times New Roman"/>
                          <a:cs typeface="Times New Roman"/>
                        </a:rPr>
                        <a:t>Original no-hint sweep</a:t>
                      </a:r>
                    </a:p>
                  </a:txBody>
                  <a:tcPr>
                    <a:lnL w="6668">
                      <a:solidFill>
                        <a:srgbClr val="D1D5DB"/>
                      </a:solidFill>
                      <a:prstDash val="solid"/>
                    </a:lnL>
                    <a:lnR w="6668">
                      <a:solidFill>
                        <a:srgbClr val="D1D5DB"/>
                      </a:solidFill>
                      <a:prstDash val="solid"/>
                    </a:lnR>
                    <a:lnT w="6668" cap="flat" cmpd="sng" algn="ctr">
                      <a:solidFill>
                        <a:srgbClr val="D1D5DB"/>
                      </a:solidFill>
                      <a:prstDash val="solid"/>
                      <a:round/>
                      <a:headEnd type="none" w="med" len="med"/>
                      <a:tailEnd type="none" w="med" len="med"/>
                    </a:lnT>
                    <a:lnB w="6668">
                      <a:solidFill>
                        <a:srgbClr val="D1D5DB"/>
                      </a:solidFill>
                      <a:prstDash val="solid"/>
                    </a:lnB>
                    <a:solidFill>
                      <a:srgbClr val="FFFFFF"/>
                    </a:solidFill>
                  </a:tcPr>
                </a:tc>
                <a:tc>
                  <a:txBody>
                    <a:bodyPr/>
                    <a:lstStyle/>
                    <a:p>
                      <a:r>
                        <a:rPr sz="1800" b="0">
                          <a:solidFill>
                            <a:srgbClr val="111111"/>
                          </a:solidFill>
                          <a:latin typeface="Times New Roman"/>
                          <a:ea typeface="Times New Roman"/>
                          <a:cs typeface="Times New Roman"/>
                        </a:rPr>
                        <a:t>GPT-6 Luna, Sol, Astra; GPT-5.6 Terra</a:t>
                      </a:r>
                    </a:p>
                    <a:p>
                      <a:r>
                        <a:rPr sz="1800" b="0">
                          <a:solidFill>
                            <a:srgbClr val="111111"/>
                          </a:solidFill>
                          <a:latin typeface="Times New Roman"/>
                          <a:ea typeface="Times New Roman"/>
                          <a:cs typeface="Times New Roman"/>
                        </a:rPr>
                        <a:t>DeepSeek V4.1 Flash, multiple efforts</a:t>
                      </a:r>
                    </a:p>
                  </a:txBody>
                  <a:tcPr>
                    <a:lnL w="6668" cap="flat" cmpd="sng" algn="ctr">
                      <a:solidFill>
                        <a:srgbClr val="D1D5DB"/>
                      </a:solidFill>
                      <a:prstDash val="solid"/>
                      <a:round/>
                      <a:headEnd type="none" w="med" len="med"/>
                      <a:tailEnd type="none" w="med" len="med"/>
                    </a:lnL>
                    <a:lnR w="6668">
                      <a:solidFill>
                        <a:srgbClr val="D1D5DB"/>
                      </a:solidFill>
                      <a:prstDash val="solid"/>
                    </a:lnR>
                    <a:lnT w="6668" cap="flat" cmpd="sng" algn="ctr">
                      <a:solidFill>
                        <a:srgbClr val="D1D5DB"/>
                      </a:solidFill>
                      <a:prstDash val="solid"/>
                      <a:round/>
                      <a:headEnd type="none" w="med" len="med"/>
                      <a:tailEnd type="none" w="med" len="med"/>
                    </a:lnT>
                    <a:lnB w="6668">
                      <a:solidFill>
                        <a:srgbClr val="D1D5DB"/>
                      </a:solidFill>
                      <a:prstDash val="solid"/>
                    </a:lnB>
                    <a:solidFill>
                      <a:srgbClr val="FFFFFF"/>
                    </a:solidFill>
                  </a:tcPr>
                </a:tc>
                <a:tc>
                  <a:txBody>
                    <a:bodyPr/>
                    <a:lstStyle/>
                    <a:p>
                      <a:r>
                        <a:rPr sz="1800" b="0">
                          <a:solidFill>
                            <a:srgbClr val="111111"/>
                          </a:solidFill>
                          <a:latin typeface="Times New Roman"/>
                          <a:ea typeface="Times New Roman"/>
                          <a:cs typeface="Times New Roman"/>
                        </a:rPr>
                        <a:t>585 completed</a:t>
                      </a:r>
                    </a:p>
                  </a:txBody>
                  <a:tcPr>
                    <a:lnL w="6668" cap="flat" cmpd="sng" algn="ctr">
                      <a:solidFill>
                        <a:srgbClr val="D1D5DB"/>
                      </a:solidFill>
                      <a:prstDash val="solid"/>
                      <a:round/>
                      <a:headEnd type="none" w="med" len="med"/>
                      <a:tailEnd type="none" w="med" len="med"/>
                    </a:lnL>
                    <a:lnR w="6668">
                      <a:solidFill>
                        <a:srgbClr val="D1D5DB"/>
                      </a:solidFill>
                      <a:prstDash val="solid"/>
                    </a:lnR>
                    <a:lnT w="6668" cap="flat" cmpd="sng" algn="ctr">
                      <a:solidFill>
                        <a:srgbClr val="D1D5DB"/>
                      </a:solidFill>
                      <a:prstDash val="solid"/>
                      <a:round/>
                      <a:headEnd type="none" w="med" len="med"/>
                      <a:tailEnd type="none" w="med" len="med"/>
                    </a:lnT>
                    <a:lnB w="6668">
                      <a:solidFill>
                        <a:srgbClr val="D1D5DB"/>
                      </a:solidFill>
                      <a:prstDash val="solid"/>
                    </a:lnB>
                    <a:solidFill>
                      <a:srgbClr val="FFFFFF"/>
                    </a:solidFill>
                  </a:tcPr>
                </a:tc>
                <a:extLst>
                  <a:ext uri="{0D108BD9-81ED-4DB2-BD59-A6C34878D82A}">
                    <a16:rowId xmlns:a16="http://schemas.microsoft.com/office/drawing/2014/main" val="10001"/>
                  </a:ext>
                </a:extLst>
              </a:tr>
              <a:tr h="833438">
                <a:tc>
                  <a:txBody>
                    <a:bodyPr/>
                    <a:lstStyle/>
                    <a:p>
                      <a:r>
                        <a:rPr sz="1800" b="0">
                          <a:solidFill>
                            <a:srgbClr val="111111"/>
                          </a:solidFill>
                          <a:latin typeface="Times New Roman"/>
                          <a:ea typeface="Times New Roman"/>
                          <a:cs typeface="Times New Roman"/>
                        </a:rPr>
                        <a:t>Completed collaborator study</a:t>
                      </a:r>
                    </a:p>
                  </a:txBody>
                  <a:tcPr>
                    <a:lnL w="6668">
                      <a:solidFill>
                        <a:srgbClr val="D1D5DB"/>
                      </a:solidFill>
                      <a:prstDash val="solid"/>
                    </a:lnL>
                    <a:lnR w="6668">
                      <a:solidFill>
                        <a:srgbClr val="D1D5DB"/>
                      </a:solidFill>
                      <a:prstDash val="solid"/>
                    </a:lnR>
                    <a:lnT w="6668" cap="flat" cmpd="sng" algn="ctr">
                      <a:solidFill>
                        <a:srgbClr val="D1D5DB"/>
                      </a:solidFill>
                      <a:prstDash val="solid"/>
                      <a:round/>
                      <a:headEnd type="none" w="med" len="med"/>
                      <a:tailEnd type="none" w="med" len="med"/>
                    </a:lnT>
                    <a:lnB w="6668">
                      <a:solidFill>
                        <a:srgbClr val="D1D5DB"/>
                      </a:solidFill>
                      <a:prstDash val="solid"/>
                    </a:lnB>
                    <a:solidFill>
                      <a:srgbClr val="F3F4F6"/>
                    </a:solidFill>
                  </a:tcPr>
                </a:tc>
                <a:tc>
                  <a:txBody>
                    <a:bodyPr/>
                    <a:lstStyle/>
                    <a:p>
                      <a:r>
                        <a:rPr sz="1800" b="0">
                          <a:solidFill>
                            <a:srgbClr val="111111"/>
                          </a:solidFill>
                          <a:latin typeface="Times New Roman"/>
                          <a:ea typeface="Times New Roman"/>
                          <a:cs typeface="Times New Roman"/>
                        </a:rPr>
                        <a:t>GPT-5.6 Luna: None through Max</a:t>
                      </a:r>
                    </a:p>
                    <a:p>
                      <a:r>
                        <a:rPr sz="1800" b="0">
                          <a:solidFill>
                            <a:srgbClr val="111111"/>
                          </a:solidFill>
                          <a:latin typeface="Times New Roman"/>
                          <a:ea typeface="Times New Roman"/>
                          <a:cs typeface="Times New Roman"/>
                        </a:rPr>
                        <a:t>GPT-5.6 Terra and Sol: Low, Medium</a:t>
                      </a:r>
                    </a:p>
                  </a:txBody>
                  <a:tcPr>
                    <a:lnL w="6668" cap="flat" cmpd="sng" algn="ctr">
                      <a:solidFill>
                        <a:srgbClr val="D1D5DB"/>
                      </a:solidFill>
                      <a:prstDash val="solid"/>
                      <a:round/>
                      <a:headEnd type="none" w="med" len="med"/>
                      <a:tailEnd type="none" w="med" len="med"/>
                    </a:lnL>
                    <a:lnR w="6668">
                      <a:solidFill>
                        <a:srgbClr val="D1D5DB"/>
                      </a:solidFill>
                      <a:prstDash val="solid"/>
                    </a:lnR>
                    <a:lnT w="6668" cap="flat" cmpd="sng" algn="ctr">
                      <a:solidFill>
                        <a:srgbClr val="D1D5DB"/>
                      </a:solidFill>
                      <a:prstDash val="solid"/>
                      <a:round/>
                      <a:headEnd type="none" w="med" len="med"/>
                      <a:tailEnd type="none" w="med" len="med"/>
                    </a:lnT>
                    <a:lnB w="6668">
                      <a:solidFill>
                        <a:srgbClr val="D1D5DB"/>
                      </a:solidFill>
                      <a:prstDash val="solid"/>
                    </a:lnB>
                    <a:solidFill>
                      <a:srgbClr val="F3F4F6"/>
                    </a:solidFill>
                  </a:tcPr>
                </a:tc>
                <a:tc>
                  <a:txBody>
                    <a:bodyPr/>
                    <a:lstStyle/>
                    <a:p>
                      <a:r>
                        <a:rPr sz="1800" b="0">
                          <a:solidFill>
                            <a:srgbClr val="111111"/>
                          </a:solidFill>
                          <a:latin typeface="Times New Roman"/>
                          <a:ea typeface="Times New Roman"/>
                          <a:cs typeface="Times New Roman"/>
                        </a:rPr>
                        <a:t>780 hinted trials</a:t>
                      </a:r>
                    </a:p>
                    <a:p>
                      <a:r>
                        <a:rPr sz="1800" b="0">
                          <a:solidFill>
                            <a:srgbClr val="111111"/>
                          </a:solidFill>
                          <a:latin typeface="Times New Roman"/>
                          <a:ea typeface="Times New Roman"/>
                          <a:cs typeface="Times New Roman"/>
                        </a:rPr>
                        <a:t>390 historical controls</a:t>
                      </a:r>
                    </a:p>
                  </a:txBody>
                  <a:tcPr>
                    <a:lnL w="6668" cap="flat" cmpd="sng" algn="ctr">
                      <a:solidFill>
                        <a:srgbClr val="D1D5DB"/>
                      </a:solidFill>
                      <a:prstDash val="solid"/>
                      <a:round/>
                      <a:headEnd type="none" w="med" len="med"/>
                      <a:tailEnd type="none" w="med" len="med"/>
                    </a:lnL>
                    <a:lnR w="6668">
                      <a:solidFill>
                        <a:srgbClr val="D1D5DB"/>
                      </a:solidFill>
                      <a:prstDash val="solid"/>
                    </a:lnR>
                    <a:lnT w="6668" cap="flat" cmpd="sng" algn="ctr">
                      <a:solidFill>
                        <a:srgbClr val="D1D5DB"/>
                      </a:solidFill>
                      <a:prstDash val="solid"/>
                      <a:round/>
                      <a:headEnd type="none" w="med" len="med"/>
                      <a:tailEnd type="none" w="med" len="med"/>
                    </a:lnT>
                    <a:lnB w="6668">
                      <a:solidFill>
                        <a:srgbClr val="D1D5DB"/>
                      </a:solidFill>
                      <a:prstDash val="solid"/>
                    </a:lnB>
                    <a:solidFill>
                      <a:srgbClr val="F3F4F6"/>
                    </a:solidFill>
                  </a:tcPr>
                </a:tc>
                <a:extLst>
                  <a:ext uri="{0D108BD9-81ED-4DB2-BD59-A6C34878D82A}">
                    <a16:rowId xmlns:a16="http://schemas.microsoft.com/office/drawing/2014/main" val="10002"/>
                  </a:ext>
                </a:extLst>
              </a:tr>
              <a:tr h="833438">
                <a:tc>
                  <a:txBody>
                    <a:bodyPr/>
                    <a:lstStyle/>
                    <a:p>
                      <a:r>
                        <a:rPr sz="1800" b="0">
                          <a:solidFill>
                            <a:srgbClr val="111111"/>
                          </a:solidFill>
                          <a:latin typeface="Times New Roman"/>
                          <a:ea typeface="Times New Roman"/>
                          <a:cs typeface="Times New Roman"/>
                        </a:rPr>
                        <a:t>Local hint study</a:t>
                      </a:r>
                    </a:p>
                  </a:txBody>
                  <a:tcPr>
                    <a:lnL w="6668">
                      <a:solidFill>
                        <a:srgbClr val="D1D5DB"/>
                      </a:solidFill>
                      <a:prstDash val="solid"/>
                    </a:lnL>
                    <a:lnR w="6668">
                      <a:solidFill>
                        <a:srgbClr val="D1D5DB"/>
                      </a:solidFill>
                      <a:prstDash val="solid"/>
                    </a:lnR>
                    <a:lnT w="6668" cap="flat" cmpd="sng" algn="ctr">
                      <a:solidFill>
                        <a:srgbClr val="D1D5DB"/>
                      </a:solidFill>
                      <a:prstDash val="solid"/>
                      <a:round/>
                      <a:headEnd type="none" w="med" len="med"/>
                      <a:tailEnd type="none" w="med" len="med"/>
                    </a:lnT>
                    <a:lnB w="6668">
                      <a:solidFill>
                        <a:srgbClr val="D1D5DB"/>
                      </a:solidFill>
                      <a:prstDash val="solid"/>
                    </a:lnB>
                    <a:solidFill>
                      <a:srgbClr val="FFFFFF"/>
                    </a:solidFill>
                  </a:tcPr>
                </a:tc>
                <a:tc>
                  <a:txBody>
                    <a:bodyPr/>
                    <a:lstStyle/>
                    <a:p>
                      <a:r>
                        <a:rPr sz="1800" b="0">
                          <a:solidFill>
                            <a:srgbClr val="111111"/>
                          </a:solidFill>
                          <a:latin typeface="Times New Roman"/>
                          <a:ea typeface="Times New Roman"/>
                          <a:cs typeface="Times New Roman"/>
                        </a:rPr>
                        <a:t>GPT-5.6 Luna, Terra; DeepSeek V4.1 Flash</a:t>
                      </a:r>
                    </a:p>
                    <a:p>
                      <a:r>
                        <a:rPr sz="1800" b="0">
                          <a:solidFill>
                            <a:srgbClr val="111111"/>
                          </a:solidFill>
                          <a:latin typeface="Times New Roman"/>
                          <a:ea typeface="Times New Roman"/>
                          <a:cs typeface="Times New Roman"/>
                        </a:rPr>
                        <a:t>High effort, all 3 prompt conditions</a:t>
                      </a:r>
                    </a:p>
                  </a:txBody>
                  <a:tcPr>
                    <a:lnL w="6668" cap="flat" cmpd="sng" algn="ctr">
                      <a:solidFill>
                        <a:srgbClr val="D1D5DB"/>
                      </a:solidFill>
                      <a:prstDash val="solid"/>
                      <a:round/>
                      <a:headEnd type="none" w="med" len="med"/>
                      <a:tailEnd type="none" w="med" len="med"/>
                    </a:lnL>
                    <a:lnR w="6668">
                      <a:solidFill>
                        <a:srgbClr val="D1D5DB"/>
                      </a:solidFill>
                      <a:prstDash val="solid"/>
                    </a:lnR>
                    <a:lnT w="6668" cap="flat" cmpd="sng" algn="ctr">
                      <a:solidFill>
                        <a:srgbClr val="D1D5DB"/>
                      </a:solidFill>
                      <a:prstDash val="solid"/>
                      <a:round/>
                      <a:headEnd type="none" w="med" len="med"/>
                      <a:tailEnd type="none" w="med" len="med"/>
                    </a:lnT>
                    <a:lnB w="6668">
                      <a:solidFill>
                        <a:srgbClr val="D1D5DB"/>
                      </a:solidFill>
                      <a:prstDash val="solid"/>
                    </a:lnB>
                    <a:solidFill>
                      <a:srgbClr val="FFFFFF"/>
                    </a:solidFill>
                  </a:tcPr>
                </a:tc>
                <a:tc>
                  <a:txBody>
                    <a:bodyPr/>
                    <a:lstStyle/>
                    <a:p>
                      <a:r>
                        <a:rPr sz="1800" b="0">
                          <a:solidFill>
                            <a:srgbClr val="111111"/>
                          </a:solidFill>
                          <a:latin typeface="Times New Roman"/>
                          <a:ea typeface="Times New Roman"/>
                          <a:cs typeface="Times New Roman"/>
                        </a:rPr>
                        <a:t>313 local attempts</a:t>
                      </a:r>
                    </a:p>
                    <a:p>
                      <a:r>
                        <a:rPr sz="1800" b="0">
                          <a:solidFill>
                            <a:srgbClr val="111111"/>
                          </a:solidFill>
                          <a:latin typeface="Times New Roman"/>
                          <a:ea typeface="Times New Roman"/>
                          <a:cs typeface="Times New Roman"/>
                        </a:rPr>
                        <a:t>38 historical controls</a:t>
                      </a:r>
                    </a:p>
                  </a:txBody>
                  <a:tcPr>
                    <a:lnL w="6668" cap="flat" cmpd="sng" algn="ctr">
                      <a:solidFill>
                        <a:srgbClr val="D1D5DB"/>
                      </a:solidFill>
                      <a:prstDash val="solid"/>
                      <a:round/>
                      <a:headEnd type="none" w="med" len="med"/>
                      <a:tailEnd type="none" w="med" len="med"/>
                    </a:lnL>
                    <a:lnR w="6668">
                      <a:solidFill>
                        <a:srgbClr val="D1D5DB"/>
                      </a:solidFill>
                      <a:prstDash val="solid"/>
                    </a:lnR>
                    <a:lnT w="6668" cap="flat" cmpd="sng" algn="ctr">
                      <a:solidFill>
                        <a:srgbClr val="D1D5DB"/>
                      </a:solidFill>
                      <a:prstDash val="solid"/>
                      <a:round/>
                      <a:headEnd type="none" w="med" len="med"/>
                      <a:tailEnd type="none" w="med" len="med"/>
                    </a:lnT>
                    <a:lnB w="6668">
                      <a:solidFill>
                        <a:srgbClr val="D1D5DB"/>
                      </a:solidFill>
                      <a:prstDash val="solid"/>
                    </a:lnB>
                    <a:solidFill>
                      <a:srgbClr val="FFFFFF"/>
                    </a:solidFill>
                  </a:tcPr>
                </a:tc>
                <a:extLst>
                  <a:ext uri="{0D108BD9-81ED-4DB2-BD59-A6C34878D82A}">
                    <a16:rowId xmlns:a16="http://schemas.microsoft.com/office/drawing/2014/main" val="10003"/>
                  </a:ext>
                </a:extLst>
              </a:tr>
            </a:tbl>
          </a:graphicData>
        </a:graphic>
      </p:graphicFrame>
      <p:sp>
        <p:nvSpPr>
          <p:cNvPr id="5" name="Rectangle 4">
            <a:extLst>
              <a:ext uri="{FF2B5EF4-FFF2-40B4-BE49-F238E27FC236}">
                <a16:creationId xmlns:a16="http://schemas.microsoft.com/office/drawing/2014/main" id="{CDA5127E-765B-491B-B18B-39A1C7CB39E3}"/>
              </a:ext>
            </a:extLst>
          </p:cNvPr>
          <p:cNvSpPr>
            <a:spLocks noGrp="1"/>
          </p:cNvSpPr>
          <p:nvPr/>
        </p:nvSpPr>
        <p:spPr>
          <a:xfrm>
            <a:off x="457200" y="5238750"/>
            <a:ext cx="11277600" cy="361950"/>
          </a:xfrm>
          <a:prstGeom prst="rect">
            <a:avLst/>
          </a:prstGeom>
          <a:noFill/>
          <a:ln w="0">
            <a:noFill/>
          </a:ln>
        </p:spPr>
        <p:txBody>
          <a:bodyPr wrap="square" lIns="0" tIns="0" rIns="0" bIns="0" anchor="t"/>
          <a:lstStyle>
            <a:defPPr>
              <a:defRPr sz="2025" b="0">
                <a:solidFill>
                  <a:srgbClr val="111111"/>
                </a:solidFill>
                <a:latin typeface="Times New Roman"/>
                <a:ea typeface="Times New Roman"/>
                <a:cs typeface="Times New Roman"/>
              </a:defRPr>
            </a:defPPr>
          </a:lstStyle>
          <a:p>
            <a:pPr>
              <a:buNone/>
              <a:defRPr sz="2025" b="0">
                <a:solidFill>
                  <a:srgbClr val="111111"/>
                </a:solidFill>
                <a:latin typeface="Times New Roman"/>
                <a:ea typeface="Times New Roman"/>
                <a:cs typeface="Times New Roman"/>
              </a:defRPr>
            </a:pPr>
            <a:r>
              <a:rPr sz="2025" b="0">
                <a:solidFill>
                  <a:srgbClr val="111111"/>
                </a:solidFill>
                <a:latin typeface="Times New Roman"/>
                <a:ea typeface="Times New Roman"/>
                <a:cs typeface="Times New Roman"/>
              </a:rPr>
              <a:t>Harbor 0.21.0 + Codex agent     600 s agent     60 s verifier</a:t>
            </a:r>
          </a:p>
        </p:txBody>
      </p:sp>
      <p:sp>
        <p:nvSpPr>
          <p:cNvPr id="6" name="Rectangle 5">
            <a:extLst>
              <a:ext uri="{FF2B5EF4-FFF2-40B4-BE49-F238E27FC236}">
                <a16:creationId xmlns:a16="http://schemas.microsoft.com/office/drawing/2014/main" id="{D8D3CF12-31AC-4FA8-B621-9035FEF2ED60}"/>
              </a:ext>
            </a:extLst>
          </p:cNvPr>
          <p:cNvSpPr>
            <a:spLocks noGrp="1"/>
          </p:cNvSpPr>
          <p:nvPr/>
        </p:nvSpPr>
        <p:spPr>
          <a:xfrm>
            <a:off x="457200" y="5715000"/>
            <a:ext cx="11277600" cy="400050"/>
          </a:xfrm>
          <a:prstGeom prst="rect">
            <a:avLst/>
          </a:prstGeom>
          <a:noFill/>
          <a:ln w="0">
            <a:noFill/>
          </a:ln>
        </p:spPr>
        <p:txBody>
          <a:bodyPr wrap="square" lIns="0" tIns="0" rIns="0" bIns="0" anchor="t"/>
          <a:lstStyle>
            <a:defPPr>
              <a:defRPr sz="1725" b="0">
                <a:solidFill>
                  <a:srgbClr val="444444"/>
                </a:solidFill>
                <a:latin typeface="Times New Roman"/>
                <a:ea typeface="Times New Roman"/>
                <a:cs typeface="Times New Roman"/>
              </a:defRPr>
            </a:defPPr>
          </a:lstStyle>
          <a:p>
            <a:pPr>
              <a:buNone/>
              <a:defRPr sz="1725" b="0">
                <a:solidFill>
                  <a:srgbClr val="444444"/>
                </a:solidFill>
                <a:latin typeface="Times New Roman"/>
                <a:ea typeface="Times New Roman"/>
                <a:cs typeface="Times New Roman"/>
              </a:defRPr>
            </a:pPr>
            <a:r>
              <a:rPr sz="1725" b="0">
                <a:solidFill>
                  <a:srgbClr val="444444"/>
                </a:solidFill>
                <a:latin typeface="Times New Roman"/>
                <a:ea typeface="Times New Roman"/>
                <a:cs typeface="Times New Roman"/>
              </a:rPr>
              <a:t>Costs are API-equivalent estimates. Setup errors and timeouts stay separate from physics failures.</a:t>
            </a:r>
          </a:p>
        </p:txBody>
      </p:sp>
      <p:sp>
        <p:nvSpPr>
          <p:cNvPr id="7" name="Rectangle 6">
            <a:extLst>
              <a:ext uri="{FF2B5EF4-FFF2-40B4-BE49-F238E27FC236}">
                <a16:creationId xmlns:a16="http://schemas.microsoft.com/office/drawing/2014/main" id="{C0552E0F-CB9D-4FAC-8CD4-C52B645D4022}"/>
              </a:ext>
            </a:extLst>
          </p:cNvPr>
          <p:cNvSpPr>
            <a:spLocks noGrp="1"/>
          </p:cNvSpPr>
          <p:nvPr/>
        </p:nvSpPr>
        <p:spPr>
          <a:xfrm>
            <a:off x="457200" y="6191250"/>
            <a:ext cx="11277600" cy="247650"/>
          </a:xfrm>
          <a:prstGeom prst="rect">
            <a:avLst/>
          </a:prstGeom>
          <a:noFill/>
          <a:ln w="0">
            <a:noFill/>
          </a:ln>
        </p:spPr>
        <p:txBody>
          <a:bodyPr wrap="square" lIns="0" tIns="0" rIns="0" bIns="0" anchor="t"/>
          <a:lstStyle>
            <a:defPPr>
              <a:defRPr sz="1425" b="0">
                <a:solidFill>
                  <a:srgbClr val="777777"/>
                </a:solidFill>
                <a:latin typeface="Times New Roman"/>
                <a:ea typeface="Times New Roman"/>
                <a:cs typeface="Times New Roman"/>
              </a:defRPr>
            </a:defPPr>
          </a:lstStyle>
          <a:p>
            <a:pPr>
              <a:buNone/>
              <a:defRPr sz="1425" b="0">
                <a:solidFill>
                  <a:srgbClr val="777777"/>
                </a:solidFill>
                <a:latin typeface="Times New Roman"/>
                <a:ea typeface="Times New Roman"/>
                <a:cs typeface="Times New Roman"/>
              </a:defRPr>
            </a:pPr>
            <a:r>
              <a:rPr sz="1425" b="0">
                <a:solidFill>
                  <a:srgbClr val="777777"/>
                </a:solidFill>
                <a:latin typeface="Times New Roman"/>
                <a:ea typeface="Times New Roman"/>
                <a:cs typeface="Times New Roman"/>
              </a:rPr>
              <a:t>Historical controls and changing runtime resources qualify the comparisons.</a:t>
            </a:r>
          </a:p>
        </p:txBody>
      </p:sp>
    </p:spTree>
    <p:extLst>
      <p:ext uri="{BB962C8B-B14F-4D97-AF65-F5344CB8AC3E}">
        <p14:creationId xmlns:p14="http://schemas.microsoft.com/office/powerpoint/2010/main" val="11041282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aphicFrame>
        <p:nvGraphicFramePr>
          <p:cNvPr id="4" name="Chart">
            <a:extLst>
              <a:ext uri="{FF2B5EF4-FFF2-40B4-BE49-F238E27FC236}">
                <a16:creationId xmlns:a16="http://schemas.microsoft.com/office/drawing/2014/main" id="{990A6603-0A1F-4545-8BD8-B3678A42D6E4}"/>
              </a:ext>
            </a:extLst>
          </p:cNvPr>
          <p:cNvGraphicFramePr/>
          <p:nvPr/>
        </p:nvGraphicFramePr>
        <p:xfrm>
          <a:off x="457200" y="1943100"/>
          <a:ext cx="5391150" cy="3600450"/>
        </p:xfrm>
        <a:graphic>
          <a:graphicData uri="http://schemas.openxmlformats.org/drawingml/2006/chart">
            <c:chart xmlns:c="http://schemas.openxmlformats.org/drawingml/2006/chart" xmlns:r="http://schemas.openxmlformats.org/officeDocument/2006/relationships" r:id="rId3"/>
          </a:graphicData>
        </a:graphic>
      </p:graphicFrame>
      <p:sp>
        <p:nvSpPr>
          <p:cNvPr id="5" name="Rectangle 4">
            <a:extLst>
              <a:ext uri="{FF2B5EF4-FFF2-40B4-BE49-F238E27FC236}">
                <a16:creationId xmlns:a16="http://schemas.microsoft.com/office/drawing/2014/main" id="{A54AC2A5-DFDE-4275-83D4-D8B4AD58A808}"/>
              </a:ext>
            </a:extLst>
          </p:cNvPr>
          <p:cNvSpPr>
            <a:spLocks noGrp="1"/>
          </p:cNvSpPr>
          <p:nvPr/>
        </p:nvSpPr>
        <p:spPr>
          <a:xfrm>
            <a:off x="457200" y="209550"/>
            <a:ext cx="11277600" cy="638175"/>
          </a:xfrm>
          <a:prstGeom prst="rect">
            <a:avLst/>
          </a:prstGeom>
          <a:noFill/>
          <a:ln w="0">
            <a:noFill/>
          </a:ln>
        </p:spPr>
        <p:txBody>
          <a:bodyPr wrap="square" lIns="0" tIns="0" rIns="0" bIns="0" anchor="t"/>
          <a:lstStyle>
            <a:defPPr>
              <a:defRPr sz="3600" b="1">
                <a:solidFill>
                  <a:srgbClr val="111111"/>
                </a:solidFill>
                <a:latin typeface="Times New Roman"/>
                <a:ea typeface="Times New Roman"/>
                <a:cs typeface="Times New Roman"/>
              </a:defRPr>
            </a:defPPr>
          </a:lstStyle>
          <a:p>
            <a:pPr>
              <a:buNone/>
              <a:defRPr sz="3600" b="1">
                <a:solidFill>
                  <a:srgbClr val="111111"/>
                </a:solidFill>
                <a:latin typeface="Times New Roman"/>
                <a:ea typeface="Times New Roman"/>
                <a:cs typeface="Times New Roman"/>
              </a:defRPr>
            </a:pPr>
            <a:r>
              <a:rPr sz="3600" b="1">
                <a:solidFill>
                  <a:srgbClr val="111111"/>
                </a:solidFill>
                <a:latin typeface="Times New Roman"/>
                <a:ea typeface="Times New Roman"/>
                <a:cs typeface="Times New Roman"/>
              </a:rPr>
              <a:t>Cost and success: two completed studies</a:t>
            </a:r>
          </a:p>
        </p:txBody>
      </p:sp>
      <p:sp>
        <p:nvSpPr>
          <p:cNvPr id="6" name="Rectangle 5">
            <a:extLst>
              <a:ext uri="{FF2B5EF4-FFF2-40B4-BE49-F238E27FC236}">
                <a16:creationId xmlns:a16="http://schemas.microsoft.com/office/drawing/2014/main" id="{9296BB01-443A-44FC-8009-06021DBB68D8}"/>
              </a:ext>
            </a:extLst>
          </p:cNvPr>
          <p:cNvSpPr>
            <a:spLocks noGrp="1"/>
          </p:cNvSpPr>
          <p:nvPr/>
        </p:nvSpPr>
        <p:spPr>
          <a:xfrm>
            <a:off x="457200" y="942975"/>
            <a:ext cx="11277600" cy="400050"/>
          </a:xfrm>
          <a:prstGeom prst="rect">
            <a:avLst/>
          </a:prstGeom>
          <a:noFill/>
          <a:ln w="0">
            <a:noFill/>
          </a:ln>
        </p:spPr>
        <p:txBody>
          <a:bodyPr wrap="square" lIns="0" tIns="0" rIns="0" bIns="0" anchor="t"/>
          <a:lstStyle>
            <a:defPPr>
              <a:defRPr sz="1875" b="0">
                <a:solidFill>
                  <a:srgbClr val="444444"/>
                </a:solidFill>
                <a:latin typeface="Times New Roman"/>
                <a:ea typeface="Times New Roman"/>
                <a:cs typeface="Times New Roman"/>
              </a:defRPr>
            </a:defPPr>
          </a:lstStyle>
          <a:p>
            <a:pPr>
              <a:buNone/>
              <a:defRPr sz="1875" b="0">
                <a:solidFill>
                  <a:srgbClr val="444444"/>
                </a:solidFill>
                <a:latin typeface="Times New Roman"/>
                <a:ea typeface="Times New Roman"/>
                <a:cs typeface="Times New Roman"/>
              </a:defRPr>
            </a:pPr>
            <a:r>
              <a:rPr sz="1875" b="0">
                <a:solidFill>
                  <a:srgbClr val="444444"/>
                </a:solidFill>
                <a:latin typeface="Times New Roman"/>
                <a:ea typeface="Times New Roman"/>
                <a:cs typeface="Times New Roman"/>
              </a:rPr>
              <a:t>Upper left is better. Each setting has 39 attempts. The panels use different cost scales.</a:t>
            </a:r>
          </a:p>
        </p:txBody>
      </p:sp>
      <p:sp>
        <p:nvSpPr>
          <p:cNvPr id="7" name="Rectangle 6">
            <a:extLst>
              <a:ext uri="{FF2B5EF4-FFF2-40B4-BE49-F238E27FC236}">
                <a16:creationId xmlns:a16="http://schemas.microsoft.com/office/drawing/2014/main" id="{265AB5A5-AC0F-4080-AB25-568A33689259}"/>
              </a:ext>
            </a:extLst>
          </p:cNvPr>
          <p:cNvSpPr>
            <a:spLocks noGrp="1"/>
          </p:cNvSpPr>
          <p:nvPr/>
        </p:nvSpPr>
        <p:spPr>
          <a:xfrm>
            <a:off x="457200" y="1447800"/>
            <a:ext cx="5467350" cy="400050"/>
          </a:xfrm>
          <a:prstGeom prst="rect">
            <a:avLst/>
          </a:prstGeom>
          <a:noFill/>
          <a:ln w="0">
            <a:noFill/>
          </a:ln>
        </p:spPr>
        <p:txBody>
          <a:bodyPr wrap="square" lIns="0" tIns="0" rIns="0" bIns="0" anchor="t"/>
          <a:lstStyle>
            <a:defPPr>
              <a:defRPr sz="2325" b="1">
                <a:solidFill>
                  <a:srgbClr val="111111"/>
                </a:solidFill>
                <a:latin typeface="Times New Roman"/>
                <a:ea typeface="Times New Roman"/>
                <a:cs typeface="Times New Roman"/>
              </a:defRPr>
            </a:defPPr>
          </a:lstStyle>
          <a:p>
            <a:pPr>
              <a:buNone/>
              <a:defRPr sz="2325" b="1">
                <a:solidFill>
                  <a:srgbClr val="111111"/>
                </a:solidFill>
                <a:latin typeface="Times New Roman"/>
                <a:ea typeface="Times New Roman"/>
                <a:cs typeface="Times New Roman"/>
              </a:defRPr>
            </a:pPr>
            <a:r>
              <a:rPr sz="2325" b="1">
                <a:solidFill>
                  <a:srgbClr val="111111"/>
                </a:solidFill>
                <a:latin typeface="Times New Roman"/>
                <a:ea typeface="Times New Roman"/>
                <a:cs typeface="Times New Roman"/>
              </a:rPr>
              <a:t>Original sweep: no hints</a:t>
            </a:r>
          </a:p>
        </p:txBody>
      </p:sp>
      <p:sp>
        <p:nvSpPr>
          <p:cNvPr id="8" name="Rectangle 7">
            <a:extLst>
              <a:ext uri="{FF2B5EF4-FFF2-40B4-BE49-F238E27FC236}">
                <a16:creationId xmlns:a16="http://schemas.microsoft.com/office/drawing/2014/main" id="{BC94ED50-8C80-4DA4-ABD9-DEADD3FED71B}"/>
              </a:ext>
            </a:extLst>
          </p:cNvPr>
          <p:cNvSpPr>
            <a:spLocks noGrp="1"/>
          </p:cNvSpPr>
          <p:nvPr/>
        </p:nvSpPr>
        <p:spPr>
          <a:xfrm>
            <a:off x="6286500" y="1447800"/>
            <a:ext cx="5448300" cy="400050"/>
          </a:xfrm>
          <a:prstGeom prst="rect">
            <a:avLst/>
          </a:prstGeom>
          <a:noFill/>
          <a:ln w="0">
            <a:noFill/>
          </a:ln>
        </p:spPr>
        <p:txBody>
          <a:bodyPr wrap="square" lIns="0" tIns="0" rIns="0" bIns="0" anchor="t"/>
          <a:lstStyle>
            <a:defPPr>
              <a:defRPr sz="2250" b="1">
                <a:solidFill>
                  <a:srgbClr val="111111"/>
                </a:solidFill>
                <a:latin typeface="Times New Roman"/>
                <a:ea typeface="Times New Roman"/>
                <a:cs typeface="Times New Roman"/>
              </a:defRPr>
            </a:defPPr>
          </a:lstStyle>
          <a:p>
            <a:pPr>
              <a:buNone/>
              <a:defRPr sz="2250" b="1">
                <a:solidFill>
                  <a:srgbClr val="111111"/>
                </a:solidFill>
                <a:latin typeface="Times New Roman"/>
                <a:ea typeface="Times New Roman"/>
                <a:cs typeface="Times New Roman"/>
              </a:defRPr>
            </a:pPr>
            <a:r>
              <a:rPr sz="2250" b="1">
                <a:solidFill>
                  <a:srgbClr val="111111"/>
                </a:solidFill>
                <a:latin typeface="Times New Roman"/>
                <a:ea typeface="Times New Roman"/>
                <a:cs typeface="Times New Roman"/>
              </a:rPr>
              <a:t>GPT-5.6 Luna: three prompt conditions</a:t>
            </a:r>
          </a:p>
        </p:txBody>
      </p:sp>
      <p:graphicFrame>
        <p:nvGraphicFramePr>
          <p:cNvPr id="9" name="Chart">
            <a:extLst>
              <a:ext uri="{FF2B5EF4-FFF2-40B4-BE49-F238E27FC236}">
                <a16:creationId xmlns:a16="http://schemas.microsoft.com/office/drawing/2014/main" id="{508ECD0D-2088-4AA1-AECF-D369A975982D}"/>
              </a:ext>
            </a:extLst>
          </p:cNvPr>
          <p:cNvGraphicFramePr/>
          <p:nvPr/>
        </p:nvGraphicFramePr>
        <p:xfrm>
          <a:off x="6286500" y="1943100"/>
          <a:ext cx="5448300" cy="3981450"/>
        </p:xfrm>
        <a:graphic>
          <a:graphicData uri="http://schemas.openxmlformats.org/drawingml/2006/chart">
            <c:chart xmlns:c="http://schemas.openxmlformats.org/drawingml/2006/chart" xmlns:r="http://schemas.openxmlformats.org/officeDocument/2006/relationships" r:id="rId4"/>
          </a:graphicData>
        </a:graphic>
      </p:graphicFrame>
      <p:sp>
        <p:nvSpPr>
          <p:cNvPr id="10" name="Rectangle 9">
            <a:extLst>
              <a:ext uri="{FF2B5EF4-FFF2-40B4-BE49-F238E27FC236}">
                <a16:creationId xmlns:a16="http://schemas.microsoft.com/office/drawing/2014/main" id="{22EDF0DF-0F91-4D03-B941-DCBE485F284B}"/>
              </a:ext>
            </a:extLst>
          </p:cNvPr>
          <p:cNvSpPr>
            <a:spLocks noGrp="1"/>
          </p:cNvSpPr>
          <p:nvPr/>
        </p:nvSpPr>
        <p:spPr>
          <a:xfrm>
            <a:off x="619125" y="5572125"/>
            <a:ext cx="1714500" cy="266700"/>
          </a:xfrm>
          <a:prstGeom prst="rect">
            <a:avLst/>
          </a:prstGeom>
          <a:noFill/>
          <a:ln w="0">
            <a:noFill/>
          </a:ln>
        </p:spPr>
        <p:txBody>
          <a:bodyPr wrap="square" lIns="0" tIns="0" rIns="0" bIns="0" anchor="t"/>
          <a:lstStyle>
            <a:defPPr>
              <a:defRPr sz="1500" b="1">
                <a:solidFill>
                  <a:srgbClr val="1D4E89"/>
                </a:solidFill>
                <a:latin typeface="Times New Roman"/>
                <a:ea typeface="Times New Roman"/>
                <a:cs typeface="Times New Roman"/>
              </a:defRPr>
            </a:defPPr>
          </a:lstStyle>
          <a:p>
            <a:pPr>
              <a:buNone/>
              <a:defRPr sz="1500" b="1">
                <a:solidFill>
                  <a:srgbClr val="1D4E89"/>
                </a:solidFill>
                <a:latin typeface="Times New Roman"/>
                <a:ea typeface="Times New Roman"/>
                <a:cs typeface="Times New Roman"/>
              </a:defRPr>
            </a:pPr>
            <a:r>
              <a:rPr sz="1500" b="1">
                <a:solidFill>
                  <a:srgbClr val="1D4E89"/>
                </a:solidFill>
                <a:latin typeface="Times New Roman"/>
                <a:ea typeface="Times New Roman"/>
                <a:cs typeface="Times New Roman"/>
              </a:rPr>
              <a:t>GPT-6 Luna</a:t>
            </a:r>
          </a:p>
        </p:txBody>
      </p:sp>
      <p:sp>
        <p:nvSpPr>
          <p:cNvPr id="11" name="Rectangle 10">
            <a:extLst>
              <a:ext uri="{FF2B5EF4-FFF2-40B4-BE49-F238E27FC236}">
                <a16:creationId xmlns:a16="http://schemas.microsoft.com/office/drawing/2014/main" id="{70E26DB0-6FFB-43EF-BE15-E153A13D2BAF}"/>
              </a:ext>
            </a:extLst>
          </p:cNvPr>
          <p:cNvSpPr>
            <a:spLocks noGrp="1"/>
          </p:cNvSpPr>
          <p:nvPr/>
        </p:nvSpPr>
        <p:spPr>
          <a:xfrm>
            <a:off x="2381250" y="5572125"/>
            <a:ext cx="1524000" cy="266700"/>
          </a:xfrm>
          <a:prstGeom prst="rect">
            <a:avLst/>
          </a:prstGeom>
          <a:noFill/>
          <a:ln w="0">
            <a:noFill/>
          </a:ln>
        </p:spPr>
        <p:txBody>
          <a:bodyPr wrap="square" lIns="0" tIns="0" rIns="0" bIns="0" anchor="t"/>
          <a:lstStyle>
            <a:defPPr>
              <a:defRPr sz="1500" b="1">
                <a:solidFill>
                  <a:srgbClr val="0F766E"/>
                </a:solidFill>
                <a:latin typeface="Times New Roman"/>
                <a:ea typeface="Times New Roman"/>
                <a:cs typeface="Times New Roman"/>
              </a:defRPr>
            </a:defPPr>
          </a:lstStyle>
          <a:p>
            <a:pPr>
              <a:buNone/>
              <a:defRPr sz="1500" b="1">
                <a:solidFill>
                  <a:srgbClr val="0F766E"/>
                </a:solidFill>
                <a:latin typeface="Times New Roman"/>
                <a:ea typeface="Times New Roman"/>
                <a:cs typeface="Times New Roman"/>
              </a:defRPr>
            </a:pPr>
            <a:r>
              <a:rPr sz="1500" b="1">
                <a:solidFill>
                  <a:srgbClr val="0F766E"/>
                </a:solidFill>
                <a:latin typeface="Times New Roman"/>
                <a:ea typeface="Times New Roman"/>
                <a:cs typeface="Times New Roman"/>
              </a:rPr>
              <a:t>GPT-6 Sol</a:t>
            </a:r>
          </a:p>
        </p:txBody>
      </p:sp>
      <p:sp>
        <p:nvSpPr>
          <p:cNvPr id="12" name="Rectangle 11">
            <a:extLst>
              <a:ext uri="{FF2B5EF4-FFF2-40B4-BE49-F238E27FC236}">
                <a16:creationId xmlns:a16="http://schemas.microsoft.com/office/drawing/2014/main" id="{2620711E-F12A-420B-B1DC-2938AE6EC5E3}"/>
              </a:ext>
            </a:extLst>
          </p:cNvPr>
          <p:cNvSpPr>
            <a:spLocks noGrp="1"/>
          </p:cNvSpPr>
          <p:nvPr/>
        </p:nvSpPr>
        <p:spPr>
          <a:xfrm>
            <a:off x="3952875" y="5572125"/>
            <a:ext cx="1943100" cy="266700"/>
          </a:xfrm>
          <a:prstGeom prst="rect">
            <a:avLst/>
          </a:prstGeom>
          <a:noFill/>
          <a:ln w="0">
            <a:noFill/>
          </a:ln>
        </p:spPr>
        <p:txBody>
          <a:bodyPr wrap="square" lIns="0" tIns="0" rIns="0" bIns="0" anchor="t"/>
          <a:lstStyle>
            <a:defPPr>
              <a:defRPr sz="1500" b="1">
                <a:solidFill>
                  <a:srgbClr val="B45309"/>
                </a:solidFill>
                <a:latin typeface="Times New Roman"/>
                <a:ea typeface="Times New Roman"/>
                <a:cs typeface="Times New Roman"/>
              </a:defRPr>
            </a:defPPr>
          </a:lstStyle>
          <a:p>
            <a:pPr>
              <a:buNone/>
              <a:defRPr sz="1500" b="1">
                <a:solidFill>
                  <a:srgbClr val="B45309"/>
                </a:solidFill>
                <a:latin typeface="Times New Roman"/>
                <a:ea typeface="Times New Roman"/>
                <a:cs typeface="Times New Roman"/>
              </a:defRPr>
            </a:pPr>
            <a:r>
              <a:rPr sz="1500" b="1">
                <a:solidFill>
                  <a:srgbClr val="B45309"/>
                </a:solidFill>
                <a:latin typeface="Times New Roman"/>
                <a:ea typeface="Times New Roman"/>
                <a:cs typeface="Times New Roman"/>
              </a:rPr>
              <a:t>GPT-5.6 Terra</a:t>
            </a:r>
          </a:p>
        </p:txBody>
      </p:sp>
      <p:sp>
        <p:nvSpPr>
          <p:cNvPr id="13" name="Rectangle 12">
            <a:extLst>
              <a:ext uri="{FF2B5EF4-FFF2-40B4-BE49-F238E27FC236}">
                <a16:creationId xmlns:a16="http://schemas.microsoft.com/office/drawing/2014/main" id="{D6C5ED7A-0B90-4C5D-9419-BFFC6A6AA834}"/>
              </a:ext>
            </a:extLst>
          </p:cNvPr>
          <p:cNvSpPr>
            <a:spLocks noGrp="1"/>
          </p:cNvSpPr>
          <p:nvPr/>
        </p:nvSpPr>
        <p:spPr>
          <a:xfrm>
            <a:off x="1162050" y="5829300"/>
            <a:ext cx="1619250" cy="266700"/>
          </a:xfrm>
          <a:prstGeom prst="rect">
            <a:avLst/>
          </a:prstGeom>
          <a:noFill/>
          <a:ln w="0">
            <a:noFill/>
          </a:ln>
        </p:spPr>
        <p:txBody>
          <a:bodyPr wrap="square" lIns="0" tIns="0" rIns="0" bIns="0" anchor="t"/>
          <a:lstStyle>
            <a:defPPr>
              <a:defRPr sz="1500" b="1">
                <a:solidFill>
                  <a:srgbClr val="5B4B7C"/>
                </a:solidFill>
                <a:latin typeface="Times New Roman"/>
                <a:ea typeface="Times New Roman"/>
                <a:cs typeface="Times New Roman"/>
              </a:defRPr>
            </a:defPPr>
          </a:lstStyle>
          <a:p>
            <a:pPr>
              <a:buNone/>
              <a:defRPr sz="1500" b="1">
                <a:solidFill>
                  <a:srgbClr val="5B4B7C"/>
                </a:solidFill>
                <a:latin typeface="Times New Roman"/>
                <a:ea typeface="Times New Roman"/>
                <a:cs typeface="Times New Roman"/>
              </a:defRPr>
            </a:pPr>
            <a:r>
              <a:rPr sz="1500" b="1">
                <a:solidFill>
                  <a:srgbClr val="5B4B7C"/>
                </a:solidFill>
                <a:latin typeface="Times New Roman"/>
                <a:ea typeface="Times New Roman"/>
                <a:cs typeface="Times New Roman"/>
              </a:rPr>
              <a:t>GPT-6 Astra</a:t>
            </a:r>
          </a:p>
        </p:txBody>
      </p:sp>
      <p:sp>
        <p:nvSpPr>
          <p:cNvPr id="14" name="Rectangle 13">
            <a:extLst>
              <a:ext uri="{FF2B5EF4-FFF2-40B4-BE49-F238E27FC236}">
                <a16:creationId xmlns:a16="http://schemas.microsoft.com/office/drawing/2014/main" id="{63776CE4-093B-4FD2-85A5-036096AF9EB4}"/>
              </a:ext>
            </a:extLst>
          </p:cNvPr>
          <p:cNvSpPr>
            <a:spLocks noGrp="1"/>
          </p:cNvSpPr>
          <p:nvPr/>
        </p:nvSpPr>
        <p:spPr>
          <a:xfrm>
            <a:off x="2952750" y="5829300"/>
            <a:ext cx="2762250" cy="266700"/>
          </a:xfrm>
          <a:prstGeom prst="rect">
            <a:avLst/>
          </a:prstGeom>
          <a:noFill/>
          <a:ln w="0">
            <a:noFill/>
          </a:ln>
        </p:spPr>
        <p:txBody>
          <a:bodyPr wrap="square" lIns="0" tIns="0" rIns="0" bIns="0" anchor="t"/>
          <a:lstStyle>
            <a:defPPr>
              <a:defRPr sz="1500" b="1">
                <a:solidFill>
                  <a:srgbClr val="A50026"/>
                </a:solidFill>
                <a:latin typeface="Times New Roman"/>
                <a:ea typeface="Times New Roman"/>
                <a:cs typeface="Times New Roman"/>
              </a:defRPr>
            </a:defPPr>
          </a:lstStyle>
          <a:p>
            <a:pPr>
              <a:buNone/>
              <a:defRPr sz="1500" b="1">
                <a:solidFill>
                  <a:srgbClr val="A50026"/>
                </a:solidFill>
                <a:latin typeface="Times New Roman"/>
                <a:ea typeface="Times New Roman"/>
                <a:cs typeface="Times New Roman"/>
              </a:defRPr>
            </a:pPr>
            <a:r>
              <a:rPr sz="1500" b="1">
                <a:solidFill>
                  <a:srgbClr val="A50026"/>
                </a:solidFill>
                <a:latin typeface="Times New Roman"/>
                <a:ea typeface="Times New Roman"/>
                <a:cs typeface="Times New Roman"/>
              </a:rPr>
              <a:t>DeepSeek V4.1 Flash</a:t>
            </a:r>
          </a:p>
        </p:txBody>
      </p:sp>
      <p:sp>
        <p:nvSpPr>
          <p:cNvPr id="15" name="Rectangle 14">
            <a:extLst>
              <a:ext uri="{FF2B5EF4-FFF2-40B4-BE49-F238E27FC236}">
                <a16:creationId xmlns:a16="http://schemas.microsoft.com/office/drawing/2014/main" id="{9A0A0EB9-DEF3-4D78-B2C0-5D56CA3262F3}"/>
              </a:ext>
            </a:extLst>
          </p:cNvPr>
          <p:cNvSpPr>
            <a:spLocks noGrp="1"/>
          </p:cNvSpPr>
          <p:nvPr/>
        </p:nvSpPr>
        <p:spPr>
          <a:xfrm>
            <a:off x="457200" y="6210300"/>
            <a:ext cx="5467350" cy="457200"/>
          </a:xfrm>
          <a:prstGeom prst="rect">
            <a:avLst/>
          </a:prstGeom>
          <a:noFill/>
          <a:ln w="0">
            <a:noFill/>
          </a:ln>
        </p:spPr>
        <p:txBody>
          <a:bodyPr wrap="square" lIns="0" tIns="0" rIns="0" bIns="0" anchor="t"/>
          <a:lstStyle>
            <a:defPPr>
              <a:defRPr sz="1275" b="0">
                <a:solidFill>
                  <a:srgbClr val="777777"/>
                </a:solidFill>
                <a:latin typeface="Times New Roman"/>
                <a:ea typeface="Times New Roman"/>
                <a:cs typeface="Times New Roman"/>
              </a:defRPr>
            </a:defPPr>
          </a:lstStyle>
          <a:p>
            <a:pPr>
              <a:buNone/>
              <a:defRPr sz="1275" b="0">
                <a:solidFill>
                  <a:srgbClr val="777777"/>
                </a:solidFill>
                <a:latin typeface="Times New Roman"/>
                <a:ea typeface="Times New Roman"/>
                <a:cs typeface="Times New Roman"/>
              </a:defRPr>
            </a:pPr>
            <a:r>
              <a:rPr sz="1275" b="0">
                <a:solidFill>
                  <a:srgbClr val="777777"/>
                </a:solidFill>
                <a:latin typeface="Times New Roman"/>
                <a:ea typeface="Times New Roman"/>
                <a:cs typeface="Times New Roman"/>
              </a:rPr>
              <a:t>Markers: circle Low, square High, triangle Extra High, diamond Max.</a:t>
            </a:r>
          </a:p>
          <a:p>
            <a:pPr>
              <a:buNone/>
              <a:defRPr sz="1275" b="0">
                <a:solidFill>
                  <a:srgbClr val="777777"/>
                </a:solidFill>
                <a:latin typeface="Times New Roman"/>
                <a:ea typeface="Times New Roman"/>
                <a:cs typeface="Times New Roman"/>
              </a:defRPr>
            </a:pPr>
            <a:r>
              <a:rPr sz="1275" b="0">
                <a:solidFill>
                  <a:srgbClr val="777777"/>
                </a:solidFill>
                <a:latin typeface="Times New Roman"/>
                <a:ea typeface="Times New Roman"/>
                <a:cs typeface="Times New Roman"/>
              </a:rPr>
              <a:t>DeepSeek costs are lower bounds. Full values are in the backup.</a:t>
            </a:r>
          </a:p>
        </p:txBody>
      </p:sp>
      <p:sp>
        <p:nvSpPr>
          <p:cNvPr id="16" name="Rectangle 15">
            <a:extLst>
              <a:ext uri="{FF2B5EF4-FFF2-40B4-BE49-F238E27FC236}">
                <a16:creationId xmlns:a16="http://schemas.microsoft.com/office/drawing/2014/main" id="{0E8EC217-188A-4681-A387-A30E257CB5F7}"/>
              </a:ext>
            </a:extLst>
          </p:cNvPr>
          <p:cNvSpPr>
            <a:spLocks noGrp="1"/>
          </p:cNvSpPr>
          <p:nvPr/>
        </p:nvSpPr>
        <p:spPr>
          <a:xfrm>
            <a:off x="6286500" y="6210300"/>
            <a:ext cx="5448300" cy="457200"/>
          </a:xfrm>
          <a:prstGeom prst="rect">
            <a:avLst/>
          </a:prstGeom>
          <a:noFill/>
          <a:ln w="0">
            <a:noFill/>
          </a:ln>
        </p:spPr>
        <p:txBody>
          <a:bodyPr wrap="square" lIns="0" tIns="0" rIns="0" bIns="0" anchor="t"/>
          <a:lstStyle>
            <a:defPPr>
              <a:defRPr sz="1275" b="0">
                <a:solidFill>
                  <a:srgbClr val="777777"/>
                </a:solidFill>
                <a:latin typeface="Times New Roman"/>
                <a:ea typeface="Times New Roman"/>
                <a:cs typeface="Times New Roman"/>
              </a:defRPr>
            </a:defPPr>
          </a:lstStyle>
          <a:p>
            <a:pPr>
              <a:buNone/>
              <a:defRPr sz="1275" b="0">
                <a:solidFill>
                  <a:srgbClr val="777777"/>
                </a:solidFill>
                <a:latin typeface="Times New Roman"/>
                <a:ea typeface="Times New Roman"/>
                <a:cs typeface="Times New Roman"/>
              </a:defRPr>
            </a:pPr>
            <a:r>
              <a:rPr sz="1275" b="0">
                <a:solidFill>
                  <a:srgbClr val="777777"/>
                </a:solidFill>
                <a:latin typeface="Times New Roman"/>
                <a:ea typeface="Times New Roman"/>
                <a:cs typeface="Times New Roman"/>
              </a:rPr>
              <a:t>11 of 18 settings have complete costs. Historical controls differ</a:t>
            </a:r>
          </a:p>
          <a:p>
            <a:pPr>
              <a:buNone/>
              <a:defRPr sz="1275" b="0">
                <a:solidFill>
                  <a:srgbClr val="777777"/>
                </a:solidFill>
                <a:latin typeface="Times New Roman"/>
                <a:ea typeface="Times New Roman"/>
                <a:cs typeface="Times New Roman"/>
              </a:defRPr>
            </a:pPr>
            <a:r>
              <a:rPr sz="1275" b="0">
                <a:solidFill>
                  <a:srgbClr val="777777"/>
                </a:solidFill>
                <a:latin typeface="Times New Roman"/>
                <a:ea typeface="Times New Roman"/>
                <a:cs typeface="Times New Roman"/>
              </a:rPr>
              <a:t>in concurrency and CPU limits. All success rates are on slide 8.</a:t>
            </a:r>
          </a:p>
        </p:txBody>
      </p:sp>
      <p:sp>
        <p:nvSpPr>
          <p:cNvPr id="17" name="Rectangle 16">
            <a:extLst>
              <a:ext uri="{FF2B5EF4-FFF2-40B4-BE49-F238E27FC236}">
                <a16:creationId xmlns:a16="http://schemas.microsoft.com/office/drawing/2014/main" id="{98DCD6F3-E227-41C0-B8F5-0ECC8FA8CCA4}"/>
              </a:ext>
            </a:extLst>
          </p:cNvPr>
          <p:cNvSpPr>
            <a:spLocks noGrp="1"/>
          </p:cNvSpPr>
          <p:nvPr/>
        </p:nvSpPr>
        <p:spPr>
          <a:xfrm>
            <a:off x="11201400" y="6477000"/>
            <a:ext cx="533400" cy="190500"/>
          </a:xfrm>
          <a:prstGeom prst="rect">
            <a:avLst/>
          </a:prstGeom>
          <a:noFill/>
          <a:ln w="0">
            <a:noFill/>
          </a:ln>
        </p:spPr>
        <p:txBody>
          <a:bodyPr wrap="square" lIns="0" tIns="0" rIns="0" bIns="0" anchor="t"/>
          <a:lstStyle>
            <a:defPPr>
              <a:defRPr sz="1200" b="0">
                <a:solidFill>
                  <a:srgbClr val="777777"/>
                </a:solidFill>
                <a:latin typeface="Times New Roman"/>
                <a:ea typeface="Times New Roman"/>
                <a:cs typeface="Times New Roman"/>
              </a:defRPr>
            </a:defPPr>
          </a:lstStyle>
          <a:p>
            <a:pPr>
              <a:buNone/>
              <a:defRPr sz="1200" b="0">
                <a:solidFill>
                  <a:srgbClr val="777777"/>
                </a:solidFill>
                <a:latin typeface="Times New Roman"/>
                <a:ea typeface="Times New Roman"/>
                <a:cs typeface="Times New Roman"/>
              </a:defRPr>
            </a:pPr>
            <a:r>
              <a:rPr sz="1200" b="0">
                <a:solidFill>
                  <a:srgbClr val="777777"/>
                </a:solidFill>
                <a:latin typeface="Times New Roman"/>
                <a:ea typeface="Times New Roman"/>
                <a:cs typeface="Times New Roman"/>
              </a:rPr>
              <a:t>6</a:t>
            </a:r>
          </a:p>
        </p:txBody>
      </p:sp>
    </p:spTree>
    <p:extLst>
      <p:ext uri="{BB962C8B-B14F-4D97-AF65-F5344CB8AC3E}">
        <p14:creationId xmlns:p14="http://schemas.microsoft.com/office/powerpoint/2010/main" val="5612252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88FD794B-011F-4D24-A460-C2E5E6A3C632}"/>
              </a:ext>
            </a:extLst>
          </p:cNvPr>
          <p:cNvSpPr>
            <a:spLocks noGrp="1"/>
          </p:cNvSpPr>
          <p:nvPr/>
        </p:nvSpPr>
        <p:spPr>
          <a:xfrm>
            <a:off x="457200" y="209550"/>
            <a:ext cx="11277600" cy="638175"/>
          </a:xfrm>
          <a:prstGeom prst="rect">
            <a:avLst/>
          </a:prstGeom>
          <a:noFill/>
          <a:ln w="0">
            <a:noFill/>
          </a:ln>
        </p:spPr>
        <p:txBody>
          <a:bodyPr wrap="square" lIns="0" tIns="0" rIns="0" bIns="0" anchor="t"/>
          <a:lstStyle>
            <a:defPPr>
              <a:defRPr sz="3600" b="1">
                <a:solidFill>
                  <a:srgbClr val="111111"/>
                </a:solidFill>
                <a:latin typeface="Times New Roman"/>
                <a:ea typeface="Times New Roman"/>
                <a:cs typeface="Times New Roman"/>
              </a:defRPr>
            </a:defPPr>
          </a:lstStyle>
          <a:p>
            <a:pPr>
              <a:defRPr sz="3600" b="1">
                <a:solidFill>
                  <a:srgbClr val="111111"/>
                </a:solidFill>
                <a:latin typeface="Times New Roman"/>
                <a:ea typeface="Times New Roman"/>
                <a:cs typeface="Times New Roman"/>
              </a:defRPr>
            </a:pPr>
            <a:r>
              <a:rPr sz="3600" b="1">
                <a:solidFill>
                  <a:srgbClr val="111111"/>
                </a:solidFill>
                <a:latin typeface="Times New Roman"/>
                <a:ea typeface="Times New Roman"/>
                <a:cs typeface="Times New Roman"/>
              </a:rPr>
              <a:t>Hint comparison across models</a:t>
            </a:r>
          </a:p>
        </p:txBody>
      </p:sp>
      <p:sp>
        <p:nvSpPr>
          <p:cNvPr id="2" name="Rectangle 1">
            <a:extLst>
              <a:ext uri="{FF2B5EF4-FFF2-40B4-BE49-F238E27FC236}">
                <a16:creationId xmlns:a16="http://schemas.microsoft.com/office/drawing/2014/main" id="{BB012ACE-4AB0-49BA-88C7-62DCA6007989}"/>
              </a:ext>
            </a:extLst>
          </p:cNvPr>
          <p:cNvSpPr>
            <a:spLocks noGrp="1"/>
          </p:cNvSpPr>
          <p:nvPr/>
        </p:nvSpPr>
        <p:spPr>
          <a:xfrm>
            <a:off x="457200" y="942975"/>
            <a:ext cx="11277600" cy="457200"/>
          </a:xfrm>
          <a:prstGeom prst="rect">
            <a:avLst/>
          </a:prstGeom>
          <a:noFill/>
          <a:ln w="0">
            <a:noFill/>
          </a:ln>
        </p:spPr>
        <p:txBody>
          <a:bodyPr wrap="square" lIns="0" tIns="0" rIns="0" bIns="0" anchor="t"/>
          <a:lstStyle>
            <a:defPPr>
              <a:defRPr sz="1875" b="0">
                <a:solidFill>
                  <a:srgbClr val="444444"/>
                </a:solidFill>
                <a:latin typeface="Times New Roman"/>
                <a:ea typeface="Times New Roman"/>
                <a:cs typeface="Times New Roman"/>
              </a:defRPr>
            </a:defPPr>
          </a:lstStyle>
          <a:p>
            <a:pPr>
              <a:defRPr sz="1875" b="0">
                <a:solidFill>
                  <a:srgbClr val="444444"/>
                </a:solidFill>
                <a:latin typeface="Times New Roman"/>
                <a:ea typeface="Times New Roman"/>
                <a:cs typeface="Times New Roman"/>
              </a:defRPr>
            </a:pPr>
            <a:r>
              <a:rPr sz="1875" b="0">
                <a:solidFill>
                  <a:srgbClr val="444444"/>
                </a:solidFill>
                <a:latin typeface="Times New Roman"/>
                <a:ea typeface="Times New Roman"/>
                <a:cs typeface="Times New Roman"/>
              </a:rPr>
              <a:t>Local study: GPT-5.6 Luna, GPT-5.6 Terra and DeepSeek V4.1 Flash, all at High effort.</a:t>
            </a:r>
          </a:p>
        </p:txBody>
      </p:sp>
      <p:sp>
        <p:nvSpPr>
          <p:cNvPr id="3" name="Rectangle 2">
            <a:extLst>
              <a:ext uri="{FF2B5EF4-FFF2-40B4-BE49-F238E27FC236}">
                <a16:creationId xmlns:a16="http://schemas.microsoft.com/office/drawing/2014/main" id="{97580DCE-AA68-4BC8-9C76-B2BCCF9FA919}"/>
              </a:ext>
            </a:extLst>
          </p:cNvPr>
          <p:cNvSpPr>
            <a:spLocks noGrp="1"/>
          </p:cNvSpPr>
          <p:nvPr/>
        </p:nvSpPr>
        <p:spPr>
          <a:xfrm>
            <a:off x="457200" y="1533525"/>
            <a:ext cx="5829300" cy="419100"/>
          </a:xfrm>
          <a:prstGeom prst="rect">
            <a:avLst/>
          </a:prstGeom>
          <a:noFill/>
          <a:ln w="0">
            <a:noFill/>
          </a:ln>
        </p:spPr>
        <p:txBody>
          <a:bodyPr wrap="square" lIns="0" tIns="0" rIns="0" bIns="0" anchor="t"/>
          <a:lstStyle>
            <a:defPPr>
              <a:defRPr sz="2325" b="1">
                <a:solidFill>
                  <a:srgbClr val="111111"/>
                </a:solidFill>
                <a:latin typeface="Times New Roman"/>
                <a:ea typeface="Times New Roman"/>
                <a:cs typeface="Times New Roman"/>
              </a:defRPr>
            </a:defPPr>
          </a:lstStyle>
          <a:p>
            <a:pPr>
              <a:defRPr sz="2325" b="1">
                <a:solidFill>
                  <a:srgbClr val="111111"/>
                </a:solidFill>
                <a:latin typeface="Times New Roman"/>
                <a:ea typeface="Times New Roman"/>
                <a:cs typeface="Times New Roman"/>
              </a:defRPr>
            </a:pPr>
            <a:r>
              <a:rPr sz="2325" b="1">
                <a:solidFill>
                  <a:srgbClr val="111111"/>
                </a:solidFill>
                <a:latin typeface="Times New Roman"/>
                <a:ea typeface="Times New Roman"/>
                <a:cs typeface="Times New Roman"/>
              </a:rPr>
              <a:t>Cost and completed passes</a:t>
            </a:r>
          </a:p>
        </p:txBody>
      </p:sp>
      <p:sp>
        <p:nvSpPr>
          <p:cNvPr id="4" name="Rectangle 3">
            <a:extLst>
              <a:ext uri="{FF2B5EF4-FFF2-40B4-BE49-F238E27FC236}">
                <a16:creationId xmlns:a16="http://schemas.microsoft.com/office/drawing/2014/main" id="{FC675ED2-4692-4967-94AC-A3BEBBF9FCF4}"/>
              </a:ext>
            </a:extLst>
          </p:cNvPr>
          <p:cNvSpPr>
            <a:spLocks noGrp="1"/>
          </p:cNvSpPr>
          <p:nvPr/>
        </p:nvSpPr>
        <p:spPr>
          <a:xfrm>
            <a:off x="6667500" y="1533525"/>
            <a:ext cx="5067300" cy="419100"/>
          </a:xfrm>
          <a:prstGeom prst="rect">
            <a:avLst/>
          </a:prstGeom>
          <a:noFill/>
          <a:ln w="0">
            <a:noFill/>
          </a:ln>
        </p:spPr>
        <p:txBody>
          <a:bodyPr wrap="square" lIns="0" tIns="0" rIns="0" bIns="0" anchor="t"/>
          <a:lstStyle>
            <a:defPPr>
              <a:defRPr sz="2325" b="1">
                <a:solidFill>
                  <a:srgbClr val="111111"/>
                </a:solidFill>
                <a:latin typeface="Times New Roman"/>
                <a:ea typeface="Times New Roman"/>
                <a:cs typeface="Times New Roman"/>
              </a:defRPr>
            </a:defPPr>
          </a:lstStyle>
          <a:p>
            <a:pPr>
              <a:defRPr sz="2325" b="1">
                <a:solidFill>
                  <a:srgbClr val="111111"/>
                </a:solidFill>
                <a:latin typeface="Times New Roman"/>
                <a:ea typeface="Times New Roman"/>
                <a:cs typeface="Times New Roman"/>
              </a:defRPr>
            </a:pPr>
            <a:r>
              <a:rPr sz="2325" b="1">
                <a:solidFill>
                  <a:srgbClr val="111111"/>
                </a:solidFill>
                <a:latin typeface="Times New Roman"/>
                <a:ea typeface="Times New Roman"/>
                <a:cs typeface="Times New Roman"/>
              </a:rPr>
              <a:t>All outcomes</a:t>
            </a:r>
          </a:p>
        </p:txBody>
      </p:sp>
      <p:graphicFrame>
        <p:nvGraphicFramePr>
          <p:cNvPr id="5" name="Chart">
            <a:extLst>
              <a:ext uri="{FF2B5EF4-FFF2-40B4-BE49-F238E27FC236}">
                <a16:creationId xmlns:a16="http://schemas.microsoft.com/office/drawing/2014/main" id="{7998A047-43C5-4AD8-B332-06852DF661F2}"/>
              </a:ext>
            </a:extLst>
          </p:cNvPr>
          <p:cNvGraphicFramePr/>
          <p:nvPr/>
        </p:nvGraphicFramePr>
        <p:xfrm>
          <a:off x="457200" y="2076450"/>
          <a:ext cx="5829300" cy="35814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6" name="Table 5">
            <a:extLst>
              <a:ext uri="{FF2B5EF4-FFF2-40B4-BE49-F238E27FC236}">
                <a16:creationId xmlns:a16="http://schemas.microsoft.com/office/drawing/2014/main" id="{75A7493E-4709-436F-B0E0-9FE27A715CE8}"/>
              </a:ext>
            </a:extLst>
          </p:cNvPr>
          <p:cNvGraphicFramePr/>
          <p:nvPr/>
        </p:nvGraphicFramePr>
        <p:xfrm>
          <a:off x="6667500" y="2076450"/>
          <a:ext cx="5067300" cy="2667000"/>
        </p:xfrm>
        <a:graphic>
          <a:graphicData uri="http://schemas.openxmlformats.org/drawingml/2006/table">
            <a:tbl>
              <a:tblPr/>
              <a:tblGrid>
                <a:gridCol w="1638300">
                  <a:extLst>
                    <a:ext uri="{9D8B030D-6E8A-4147-A177-3AD203B41FA5}">
                      <a16:colId xmlns:a16="http://schemas.microsoft.com/office/drawing/2014/main" val="20000"/>
                    </a:ext>
                  </a:extLst>
                </a:gridCol>
                <a:gridCol w="1143000">
                  <a:extLst>
                    <a:ext uri="{9D8B030D-6E8A-4147-A177-3AD203B41FA5}">
                      <a16:colId xmlns:a16="http://schemas.microsoft.com/office/drawing/2014/main" val="20001"/>
                    </a:ext>
                  </a:extLst>
                </a:gridCol>
                <a:gridCol w="1143000">
                  <a:extLst>
                    <a:ext uri="{9D8B030D-6E8A-4147-A177-3AD203B41FA5}">
                      <a16:colId xmlns:a16="http://schemas.microsoft.com/office/drawing/2014/main" val="20002"/>
                    </a:ext>
                  </a:extLst>
                </a:gridCol>
                <a:gridCol w="1143000">
                  <a:extLst>
                    <a:ext uri="{9D8B030D-6E8A-4147-A177-3AD203B41FA5}">
                      <a16:colId xmlns:a16="http://schemas.microsoft.com/office/drawing/2014/main" val="20003"/>
                    </a:ext>
                  </a:extLst>
                </a:gridCol>
              </a:tblGrid>
              <a:tr h="666750">
                <a:tc>
                  <a:txBody>
                    <a:bodyPr/>
                    <a:lstStyle/>
                    <a:p>
                      <a:r>
                        <a:rPr sz="1800" b="1">
                          <a:solidFill>
                            <a:srgbClr val="FFFFFF"/>
                          </a:solidFill>
                          <a:latin typeface="Times New Roman"/>
                          <a:ea typeface="Times New Roman"/>
                          <a:cs typeface="Times New Roman"/>
                        </a:rPr>
                        <a:t>Model</a:t>
                      </a:r>
                    </a:p>
                  </a:txBody>
                  <a:tcPr>
                    <a:lnL w="6668">
                      <a:solidFill>
                        <a:srgbClr val="D1D5DB"/>
                      </a:solidFill>
                      <a:prstDash val="solid"/>
                    </a:lnL>
                    <a:lnR w="6668">
                      <a:solidFill>
                        <a:srgbClr val="D1D5DB"/>
                      </a:solidFill>
                      <a:prstDash val="solid"/>
                    </a:lnR>
                    <a:lnT w="6668">
                      <a:solidFill>
                        <a:srgbClr val="D1D5DB"/>
                      </a:solidFill>
                      <a:prstDash val="solid"/>
                    </a:lnT>
                    <a:lnB w="6668">
                      <a:solidFill>
                        <a:srgbClr val="D1D5DB"/>
                      </a:solidFill>
                      <a:prstDash val="solid"/>
                    </a:lnB>
                    <a:solidFill>
                      <a:srgbClr val="374151"/>
                    </a:solidFill>
                  </a:tcPr>
                </a:tc>
                <a:tc>
                  <a:txBody>
                    <a:bodyPr/>
                    <a:lstStyle/>
                    <a:p>
                      <a:r>
                        <a:rPr sz="1800" b="1">
                          <a:solidFill>
                            <a:srgbClr val="FFFFFF"/>
                          </a:solidFill>
                          <a:latin typeface="Times New Roman"/>
                          <a:ea typeface="Times New Roman"/>
                          <a:cs typeface="Times New Roman"/>
                        </a:rPr>
                        <a:t>No hint</a:t>
                      </a:r>
                    </a:p>
                  </a:txBody>
                  <a:tcPr>
                    <a:lnL w="6668" cap="flat" cmpd="sng" algn="ctr">
                      <a:solidFill>
                        <a:srgbClr val="D1D5DB"/>
                      </a:solidFill>
                      <a:prstDash val="solid"/>
                      <a:round/>
                      <a:headEnd type="none" w="med" len="med"/>
                      <a:tailEnd type="none" w="med" len="med"/>
                    </a:lnL>
                    <a:lnR w="6668">
                      <a:solidFill>
                        <a:srgbClr val="D1D5DB"/>
                      </a:solidFill>
                      <a:prstDash val="solid"/>
                    </a:lnR>
                    <a:lnT w="6668">
                      <a:solidFill>
                        <a:srgbClr val="D1D5DB"/>
                      </a:solidFill>
                      <a:prstDash val="solid"/>
                    </a:lnT>
                    <a:lnB w="6668">
                      <a:solidFill>
                        <a:srgbClr val="D1D5DB"/>
                      </a:solidFill>
                      <a:prstDash val="solid"/>
                    </a:lnB>
                    <a:solidFill>
                      <a:srgbClr val="374151"/>
                    </a:solidFill>
                  </a:tcPr>
                </a:tc>
                <a:tc>
                  <a:txBody>
                    <a:bodyPr/>
                    <a:lstStyle/>
                    <a:p>
                      <a:r>
                        <a:rPr sz="1800" b="1">
                          <a:solidFill>
                            <a:srgbClr val="FFFFFF"/>
                          </a:solidFill>
                          <a:latin typeface="Times New Roman"/>
                          <a:ea typeface="Times New Roman"/>
                          <a:cs typeface="Times New Roman"/>
                        </a:rPr>
                        <a:t>General</a:t>
                      </a:r>
                    </a:p>
                  </a:txBody>
                  <a:tcPr>
                    <a:lnL w="6668" cap="flat" cmpd="sng" algn="ctr">
                      <a:solidFill>
                        <a:srgbClr val="D1D5DB"/>
                      </a:solidFill>
                      <a:prstDash val="solid"/>
                      <a:round/>
                      <a:headEnd type="none" w="med" len="med"/>
                      <a:tailEnd type="none" w="med" len="med"/>
                    </a:lnL>
                    <a:lnR w="6668">
                      <a:solidFill>
                        <a:srgbClr val="D1D5DB"/>
                      </a:solidFill>
                      <a:prstDash val="solid"/>
                    </a:lnR>
                    <a:lnT w="6668">
                      <a:solidFill>
                        <a:srgbClr val="D1D5DB"/>
                      </a:solidFill>
                      <a:prstDash val="solid"/>
                    </a:lnT>
                    <a:lnB w="6668">
                      <a:solidFill>
                        <a:srgbClr val="D1D5DB"/>
                      </a:solidFill>
                      <a:prstDash val="solid"/>
                    </a:lnB>
                    <a:solidFill>
                      <a:srgbClr val="374151"/>
                    </a:solidFill>
                  </a:tcPr>
                </a:tc>
                <a:tc>
                  <a:txBody>
                    <a:bodyPr/>
                    <a:lstStyle/>
                    <a:p>
                      <a:r>
                        <a:rPr sz="1800" b="1">
                          <a:solidFill>
                            <a:srgbClr val="FFFFFF"/>
                          </a:solidFill>
                          <a:latin typeface="Times New Roman"/>
                          <a:ea typeface="Times New Roman"/>
                          <a:cs typeface="Times New Roman"/>
                        </a:rPr>
                        <a:t>Physics</a:t>
                      </a:r>
                    </a:p>
                  </a:txBody>
                  <a:tcPr>
                    <a:lnL w="6668" cap="flat" cmpd="sng" algn="ctr">
                      <a:solidFill>
                        <a:srgbClr val="D1D5DB"/>
                      </a:solidFill>
                      <a:prstDash val="solid"/>
                      <a:round/>
                      <a:headEnd type="none" w="med" len="med"/>
                      <a:tailEnd type="none" w="med" len="med"/>
                    </a:lnL>
                    <a:lnR w="6668">
                      <a:solidFill>
                        <a:srgbClr val="D1D5DB"/>
                      </a:solidFill>
                      <a:prstDash val="solid"/>
                    </a:lnR>
                    <a:lnT w="6668">
                      <a:solidFill>
                        <a:srgbClr val="D1D5DB"/>
                      </a:solidFill>
                      <a:prstDash val="solid"/>
                    </a:lnT>
                    <a:lnB w="6668">
                      <a:solidFill>
                        <a:srgbClr val="D1D5DB"/>
                      </a:solidFill>
                      <a:prstDash val="solid"/>
                    </a:lnB>
                    <a:solidFill>
                      <a:srgbClr val="374151"/>
                    </a:solidFill>
                  </a:tcPr>
                </a:tc>
                <a:extLst>
                  <a:ext uri="{0D108BD9-81ED-4DB2-BD59-A6C34878D82A}">
                    <a16:rowId xmlns:a16="http://schemas.microsoft.com/office/drawing/2014/main" val="10000"/>
                  </a:ext>
                </a:extLst>
              </a:tr>
              <a:tr h="666750">
                <a:tc>
                  <a:txBody>
                    <a:bodyPr/>
                    <a:lstStyle/>
                    <a:p>
                      <a:r>
                        <a:rPr sz="1800" b="0">
                          <a:solidFill>
                            <a:srgbClr val="111111"/>
                          </a:solidFill>
                          <a:latin typeface="Times New Roman"/>
                          <a:ea typeface="Times New Roman"/>
                          <a:cs typeface="Times New Roman"/>
                        </a:rPr>
                        <a:t>Luna</a:t>
                      </a:r>
                    </a:p>
                  </a:txBody>
                  <a:tcPr>
                    <a:lnL w="6668">
                      <a:solidFill>
                        <a:srgbClr val="D1D5DB"/>
                      </a:solidFill>
                      <a:prstDash val="solid"/>
                    </a:lnL>
                    <a:lnR w="6668">
                      <a:solidFill>
                        <a:srgbClr val="D1D5DB"/>
                      </a:solidFill>
                      <a:prstDash val="solid"/>
                    </a:lnR>
                    <a:lnT w="6668" cap="flat" cmpd="sng" algn="ctr">
                      <a:solidFill>
                        <a:srgbClr val="D1D5DB"/>
                      </a:solidFill>
                      <a:prstDash val="solid"/>
                      <a:round/>
                      <a:headEnd type="none" w="med" len="med"/>
                      <a:tailEnd type="none" w="med" len="med"/>
                    </a:lnT>
                    <a:lnB w="6668">
                      <a:solidFill>
                        <a:srgbClr val="D1D5DB"/>
                      </a:solidFill>
                      <a:prstDash val="solid"/>
                    </a:lnB>
                    <a:solidFill>
                      <a:srgbClr val="FFFFFF"/>
                    </a:solidFill>
                  </a:tcPr>
                </a:tc>
                <a:tc>
                  <a:txBody>
                    <a:bodyPr/>
                    <a:lstStyle/>
                    <a:p>
                      <a:r>
                        <a:rPr sz="1800" b="0">
                          <a:solidFill>
                            <a:srgbClr val="111111"/>
                          </a:solidFill>
                          <a:latin typeface="Times New Roman"/>
                          <a:ea typeface="Times New Roman"/>
                          <a:cs typeface="Times New Roman"/>
                        </a:rPr>
                        <a:t>4/39</a:t>
                      </a:r>
                    </a:p>
                    <a:p>
                      <a:r>
                        <a:rPr sz="1800" b="0">
                          <a:solidFill>
                            <a:srgbClr val="111111"/>
                          </a:solidFill>
                          <a:latin typeface="Times New Roman"/>
                          <a:ea typeface="Times New Roman"/>
                          <a:cs typeface="Times New Roman"/>
                        </a:rPr>
                        <a:t>1 error</a:t>
                      </a:r>
                    </a:p>
                  </a:txBody>
                  <a:tcPr>
                    <a:lnL w="6668" cap="flat" cmpd="sng" algn="ctr">
                      <a:solidFill>
                        <a:srgbClr val="D1D5DB"/>
                      </a:solidFill>
                      <a:prstDash val="solid"/>
                      <a:round/>
                      <a:headEnd type="none" w="med" len="med"/>
                      <a:tailEnd type="none" w="med" len="med"/>
                    </a:lnL>
                    <a:lnR w="6668">
                      <a:solidFill>
                        <a:srgbClr val="D1D5DB"/>
                      </a:solidFill>
                      <a:prstDash val="solid"/>
                    </a:lnR>
                    <a:lnT w="6668" cap="flat" cmpd="sng" algn="ctr">
                      <a:solidFill>
                        <a:srgbClr val="D1D5DB"/>
                      </a:solidFill>
                      <a:prstDash val="solid"/>
                      <a:round/>
                      <a:headEnd type="none" w="med" len="med"/>
                      <a:tailEnd type="none" w="med" len="med"/>
                    </a:lnT>
                    <a:lnB w="6668">
                      <a:solidFill>
                        <a:srgbClr val="D1D5DB"/>
                      </a:solidFill>
                      <a:prstDash val="solid"/>
                    </a:lnB>
                    <a:solidFill>
                      <a:srgbClr val="FFFFFF"/>
                    </a:solidFill>
                  </a:tcPr>
                </a:tc>
                <a:tc>
                  <a:txBody>
                    <a:bodyPr/>
                    <a:lstStyle/>
                    <a:p>
                      <a:r>
                        <a:rPr sz="1800" b="0">
                          <a:solidFill>
                            <a:srgbClr val="111111"/>
                          </a:solidFill>
                          <a:latin typeface="Times New Roman"/>
                          <a:ea typeface="Times New Roman"/>
                          <a:cs typeface="Times New Roman"/>
                        </a:rPr>
                        <a:t>7/39</a:t>
                      </a:r>
                    </a:p>
                    <a:p>
                      <a:r>
                        <a:rPr sz="1800" b="0">
                          <a:solidFill>
                            <a:srgbClr val="111111"/>
                          </a:solidFill>
                          <a:latin typeface="Times New Roman"/>
                          <a:ea typeface="Times New Roman"/>
                          <a:cs typeface="Times New Roman"/>
                        </a:rPr>
                        <a:t>0 errors</a:t>
                      </a:r>
                    </a:p>
                  </a:txBody>
                  <a:tcPr>
                    <a:lnL w="6668" cap="flat" cmpd="sng" algn="ctr">
                      <a:solidFill>
                        <a:srgbClr val="D1D5DB"/>
                      </a:solidFill>
                      <a:prstDash val="solid"/>
                      <a:round/>
                      <a:headEnd type="none" w="med" len="med"/>
                      <a:tailEnd type="none" w="med" len="med"/>
                    </a:lnL>
                    <a:lnR w="6668">
                      <a:solidFill>
                        <a:srgbClr val="D1D5DB"/>
                      </a:solidFill>
                      <a:prstDash val="solid"/>
                    </a:lnR>
                    <a:lnT w="6668" cap="flat" cmpd="sng" algn="ctr">
                      <a:solidFill>
                        <a:srgbClr val="D1D5DB"/>
                      </a:solidFill>
                      <a:prstDash val="solid"/>
                      <a:round/>
                      <a:headEnd type="none" w="med" len="med"/>
                      <a:tailEnd type="none" w="med" len="med"/>
                    </a:lnT>
                    <a:lnB w="6668">
                      <a:solidFill>
                        <a:srgbClr val="D1D5DB"/>
                      </a:solidFill>
                      <a:prstDash val="solid"/>
                    </a:lnB>
                    <a:solidFill>
                      <a:srgbClr val="FFFFFF"/>
                    </a:solidFill>
                  </a:tcPr>
                </a:tc>
                <a:tc>
                  <a:txBody>
                    <a:bodyPr/>
                    <a:lstStyle/>
                    <a:p>
                      <a:r>
                        <a:rPr sz="1800" b="0">
                          <a:solidFill>
                            <a:srgbClr val="111111"/>
                          </a:solidFill>
                          <a:latin typeface="Times New Roman"/>
                          <a:ea typeface="Times New Roman"/>
                          <a:cs typeface="Times New Roman"/>
                        </a:rPr>
                        <a:t>32/39</a:t>
                      </a:r>
                    </a:p>
                    <a:p>
                      <a:r>
                        <a:rPr sz="1800" b="0">
                          <a:solidFill>
                            <a:srgbClr val="111111"/>
                          </a:solidFill>
                          <a:latin typeface="Times New Roman"/>
                          <a:ea typeface="Times New Roman"/>
                          <a:cs typeface="Times New Roman"/>
                        </a:rPr>
                        <a:t>1 error</a:t>
                      </a:r>
                    </a:p>
                  </a:txBody>
                  <a:tcPr>
                    <a:lnL w="6668" cap="flat" cmpd="sng" algn="ctr">
                      <a:solidFill>
                        <a:srgbClr val="D1D5DB"/>
                      </a:solidFill>
                      <a:prstDash val="solid"/>
                      <a:round/>
                      <a:headEnd type="none" w="med" len="med"/>
                      <a:tailEnd type="none" w="med" len="med"/>
                    </a:lnL>
                    <a:lnR w="6668">
                      <a:solidFill>
                        <a:srgbClr val="D1D5DB"/>
                      </a:solidFill>
                      <a:prstDash val="solid"/>
                    </a:lnR>
                    <a:lnT w="6668" cap="flat" cmpd="sng" algn="ctr">
                      <a:solidFill>
                        <a:srgbClr val="D1D5DB"/>
                      </a:solidFill>
                      <a:prstDash val="solid"/>
                      <a:round/>
                      <a:headEnd type="none" w="med" len="med"/>
                      <a:tailEnd type="none" w="med" len="med"/>
                    </a:lnT>
                    <a:lnB w="6668">
                      <a:solidFill>
                        <a:srgbClr val="D1D5DB"/>
                      </a:solidFill>
                      <a:prstDash val="solid"/>
                    </a:lnB>
                    <a:solidFill>
                      <a:srgbClr val="FFFFFF"/>
                    </a:solidFill>
                  </a:tcPr>
                </a:tc>
                <a:extLst>
                  <a:ext uri="{0D108BD9-81ED-4DB2-BD59-A6C34878D82A}">
                    <a16:rowId xmlns:a16="http://schemas.microsoft.com/office/drawing/2014/main" val="10001"/>
                  </a:ext>
                </a:extLst>
              </a:tr>
              <a:tr h="666750">
                <a:tc>
                  <a:txBody>
                    <a:bodyPr/>
                    <a:lstStyle/>
                    <a:p>
                      <a:r>
                        <a:rPr sz="1800" b="0">
                          <a:solidFill>
                            <a:srgbClr val="111111"/>
                          </a:solidFill>
                          <a:latin typeface="Times New Roman"/>
                          <a:ea typeface="Times New Roman"/>
                          <a:cs typeface="Times New Roman"/>
                        </a:rPr>
                        <a:t>Terra</a:t>
                      </a:r>
                    </a:p>
                  </a:txBody>
                  <a:tcPr>
                    <a:lnL w="6668">
                      <a:solidFill>
                        <a:srgbClr val="D1D5DB"/>
                      </a:solidFill>
                      <a:prstDash val="solid"/>
                    </a:lnL>
                    <a:lnR w="6668">
                      <a:solidFill>
                        <a:srgbClr val="D1D5DB"/>
                      </a:solidFill>
                      <a:prstDash val="solid"/>
                    </a:lnR>
                    <a:lnT w="6668" cap="flat" cmpd="sng" algn="ctr">
                      <a:solidFill>
                        <a:srgbClr val="D1D5DB"/>
                      </a:solidFill>
                      <a:prstDash val="solid"/>
                      <a:round/>
                      <a:headEnd type="none" w="med" len="med"/>
                      <a:tailEnd type="none" w="med" len="med"/>
                    </a:lnT>
                    <a:lnB w="6668">
                      <a:solidFill>
                        <a:srgbClr val="D1D5DB"/>
                      </a:solidFill>
                      <a:prstDash val="solid"/>
                    </a:lnB>
                    <a:solidFill>
                      <a:srgbClr val="F3F4F6"/>
                    </a:solidFill>
                  </a:tcPr>
                </a:tc>
                <a:tc>
                  <a:txBody>
                    <a:bodyPr/>
                    <a:lstStyle/>
                    <a:p>
                      <a:r>
                        <a:rPr sz="1800" b="0">
                          <a:solidFill>
                            <a:srgbClr val="111111"/>
                          </a:solidFill>
                          <a:latin typeface="Times New Roman"/>
                          <a:ea typeface="Times New Roman"/>
                          <a:cs typeface="Times New Roman"/>
                        </a:rPr>
                        <a:t>7/39</a:t>
                      </a:r>
                    </a:p>
                    <a:p>
                      <a:r>
                        <a:rPr sz="1800" b="0">
                          <a:solidFill>
                            <a:srgbClr val="111111"/>
                          </a:solidFill>
                          <a:latin typeface="Times New Roman"/>
                          <a:ea typeface="Times New Roman"/>
                          <a:cs typeface="Times New Roman"/>
                        </a:rPr>
                        <a:t>1 error</a:t>
                      </a:r>
                    </a:p>
                  </a:txBody>
                  <a:tcPr>
                    <a:lnL w="6668" cap="flat" cmpd="sng" algn="ctr">
                      <a:solidFill>
                        <a:srgbClr val="D1D5DB"/>
                      </a:solidFill>
                      <a:prstDash val="solid"/>
                      <a:round/>
                      <a:headEnd type="none" w="med" len="med"/>
                      <a:tailEnd type="none" w="med" len="med"/>
                    </a:lnL>
                    <a:lnR w="6668">
                      <a:solidFill>
                        <a:srgbClr val="D1D5DB"/>
                      </a:solidFill>
                      <a:prstDash val="solid"/>
                    </a:lnR>
                    <a:lnT w="6668" cap="flat" cmpd="sng" algn="ctr">
                      <a:solidFill>
                        <a:srgbClr val="D1D5DB"/>
                      </a:solidFill>
                      <a:prstDash val="solid"/>
                      <a:round/>
                      <a:headEnd type="none" w="med" len="med"/>
                      <a:tailEnd type="none" w="med" len="med"/>
                    </a:lnT>
                    <a:lnB w="6668">
                      <a:solidFill>
                        <a:srgbClr val="D1D5DB"/>
                      </a:solidFill>
                      <a:prstDash val="solid"/>
                    </a:lnB>
                    <a:solidFill>
                      <a:srgbClr val="F3F4F6"/>
                    </a:solidFill>
                  </a:tcPr>
                </a:tc>
                <a:tc>
                  <a:txBody>
                    <a:bodyPr/>
                    <a:lstStyle/>
                    <a:p>
                      <a:r>
                        <a:rPr sz="1800" b="0">
                          <a:solidFill>
                            <a:srgbClr val="111111"/>
                          </a:solidFill>
                          <a:latin typeface="Times New Roman"/>
                          <a:ea typeface="Times New Roman"/>
                          <a:cs typeface="Times New Roman"/>
                        </a:rPr>
                        <a:t>13/39</a:t>
                      </a:r>
                    </a:p>
                    <a:p>
                      <a:r>
                        <a:rPr sz="1800" b="0">
                          <a:solidFill>
                            <a:srgbClr val="111111"/>
                          </a:solidFill>
                          <a:latin typeface="Times New Roman"/>
                          <a:ea typeface="Times New Roman"/>
                          <a:cs typeface="Times New Roman"/>
                        </a:rPr>
                        <a:t>6 errors</a:t>
                      </a:r>
                    </a:p>
                  </a:txBody>
                  <a:tcPr>
                    <a:lnL w="6668" cap="flat" cmpd="sng" algn="ctr">
                      <a:solidFill>
                        <a:srgbClr val="D1D5DB"/>
                      </a:solidFill>
                      <a:prstDash val="solid"/>
                      <a:round/>
                      <a:headEnd type="none" w="med" len="med"/>
                      <a:tailEnd type="none" w="med" len="med"/>
                    </a:lnL>
                    <a:lnR w="6668">
                      <a:solidFill>
                        <a:srgbClr val="D1D5DB"/>
                      </a:solidFill>
                      <a:prstDash val="solid"/>
                    </a:lnR>
                    <a:lnT w="6668" cap="flat" cmpd="sng" algn="ctr">
                      <a:solidFill>
                        <a:srgbClr val="D1D5DB"/>
                      </a:solidFill>
                      <a:prstDash val="solid"/>
                      <a:round/>
                      <a:headEnd type="none" w="med" len="med"/>
                      <a:tailEnd type="none" w="med" len="med"/>
                    </a:lnT>
                    <a:lnB w="6668">
                      <a:solidFill>
                        <a:srgbClr val="D1D5DB"/>
                      </a:solidFill>
                      <a:prstDash val="solid"/>
                    </a:lnB>
                    <a:solidFill>
                      <a:srgbClr val="F3F4F6"/>
                    </a:solidFill>
                  </a:tcPr>
                </a:tc>
                <a:tc>
                  <a:txBody>
                    <a:bodyPr/>
                    <a:lstStyle/>
                    <a:p>
                      <a:r>
                        <a:rPr sz="1800" b="0">
                          <a:solidFill>
                            <a:srgbClr val="111111"/>
                          </a:solidFill>
                          <a:latin typeface="Times New Roman"/>
                          <a:ea typeface="Times New Roman"/>
                          <a:cs typeface="Times New Roman"/>
                        </a:rPr>
                        <a:t>36/39</a:t>
                      </a:r>
                    </a:p>
                    <a:p>
                      <a:r>
                        <a:rPr sz="1800" b="0">
                          <a:solidFill>
                            <a:srgbClr val="111111"/>
                          </a:solidFill>
                          <a:latin typeface="Times New Roman"/>
                          <a:ea typeface="Times New Roman"/>
                          <a:cs typeface="Times New Roman"/>
                        </a:rPr>
                        <a:t>1 error</a:t>
                      </a:r>
                    </a:p>
                  </a:txBody>
                  <a:tcPr>
                    <a:lnL w="6668" cap="flat" cmpd="sng" algn="ctr">
                      <a:solidFill>
                        <a:srgbClr val="D1D5DB"/>
                      </a:solidFill>
                      <a:prstDash val="solid"/>
                      <a:round/>
                      <a:headEnd type="none" w="med" len="med"/>
                      <a:tailEnd type="none" w="med" len="med"/>
                    </a:lnL>
                    <a:lnR w="6668">
                      <a:solidFill>
                        <a:srgbClr val="D1D5DB"/>
                      </a:solidFill>
                      <a:prstDash val="solid"/>
                    </a:lnR>
                    <a:lnT w="6668" cap="flat" cmpd="sng" algn="ctr">
                      <a:solidFill>
                        <a:srgbClr val="D1D5DB"/>
                      </a:solidFill>
                      <a:prstDash val="solid"/>
                      <a:round/>
                      <a:headEnd type="none" w="med" len="med"/>
                      <a:tailEnd type="none" w="med" len="med"/>
                    </a:lnT>
                    <a:lnB w="6668">
                      <a:solidFill>
                        <a:srgbClr val="D1D5DB"/>
                      </a:solidFill>
                      <a:prstDash val="solid"/>
                    </a:lnB>
                    <a:solidFill>
                      <a:srgbClr val="F3F4F6"/>
                    </a:solidFill>
                  </a:tcPr>
                </a:tc>
                <a:extLst>
                  <a:ext uri="{0D108BD9-81ED-4DB2-BD59-A6C34878D82A}">
                    <a16:rowId xmlns:a16="http://schemas.microsoft.com/office/drawing/2014/main" val="10002"/>
                  </a:ext>
                </a:extLst>
              </a:tr>
              <a:tr h="666750">
                <a:tc>
                  <a:txBody>
                    <a:bodyPr/>
                    <a:lstStyle/>
                    <a:p>
                      <a:r>
                        <a:rPr sz="1800" b="0">
                          <a:solidFill>
                            <a:srgbClr val="111111"/>
                          </a:solidFill>
                          <a:latin typeface="Times New Roman"/>
                          <a:ea typeface="Times New Roman"/>
                          <a:cs typeface="Times New Roman"/>
                        </a:rPr>
                        <a:t>DeepSeek</a:t>
                      </a:r>
                    </a:p>
                    <a:p>
                      <a:r>
                        <a:rPr sz="1800" b="0">
                          <a:solidFill>
                            <a:srgbClr val="111111"/>
                          </a:solidFill>
                          <a:latin typeface="Times New Roman"/>
                          <a:ea typeface="Times New Roman"/>
                          <a:cs typeface="Times New Roman"/>
                        </a:rPr>
                        <a:t>V4.1 Flash</a:t>
                      </a:r>
                    </a:p>
                  </a:txBody>
                  <a:tcPr>
                    <a:lnL w="6668">
                      <a:solidFill>
                        <a:srgbClr val="D1D5DB"/>
                      </a:solidFill>
                      <a:prstDash val="solid"/>
                    </a:lnL>
                    <a:lnR w="6668">
                      <a:solidFill>
                        <a:srgbClr val="D1D5DB"/>
                      </a:solidFill>
                      <a:prstDash val="solid"/>
                    </a:lnR>
                    <a:lnT w="6668" cap="flat" cmpd="sng" algn="ctr">
                      <a:solidFill>
                        <a:srgbClr val="D1D5DB"/>
                      </a:solidFill>
                      <a:prstDash val="solid"/>
                      <a:round/>
                      <a:headEnd type="none" w="med" len="med"/>
                      <a:tailEnd type="none" w="med" len="med"/>
                    </a:lnT>
                    <a:lnB w="6668">
                      <a:solidFill>
                        <a:srgbClr val="D1D5DB"/>
                      </a:solidFill>
                      <a:prstDash val="solid"/>
                    </a:lnB>
                    <a:solidFill>
                      <a:srgbClr val="FFFFFF"/>
                    </a:solidFill>
                  </a:tcPr>
                </a:tc>
                <a:tc>
                  <a:txBody>
                    <a:bodyPr/>
                    <a:lstStyle/>
                    <a:p>
                      <a:r>
                        <a:rPr sz="1800" b="0">
                          <a:solidFill>
                            <a:srgbClr val="111111"/>
                          </a:solidFill>
                          <a:latin typeface="Times New Roman"/>
                          <a:ea typeface="Times New Roman"/>
                          <a:cs typeface="Times New Roman"/>
                        </a:rPr>
                        <a:t>0/39</a:t>
                      </a:r>
                    </a:p>
                    <a:p>
                      <a:r>
                        <a:rPr sz="1800" b="0">
                          <a:solidFill>
                            <a:srgbClr val="111111"/>
                          </a:solidFill>
                          <a:latin typeface="Times New Roman"/>
                          <a:ea typeface="Times New Roman"/>
                          <a:cs typeface="Times New Roman"/>
                        </a:rPr>
                        <a:t>37 errors</a:t>
                      </a:r>
                    </a:p>
                  </a:txBody>
                  <a:tcPr>
                    <a:lnL w="6668" cap="flat" cmpd="sng" algn="ctr">
                      <a:solidFill>
                        <a:srgbClr val="D1D5DB"/>
                      </a:solidFill>
                      <a:prstDash val="solid"/>
                      <a:round/>
                      <a:headEnd type="none" w="med" len="med"/>
                      <a:tailEnd type="none" w="med" len="med"/>
                    </a:lnL>
                    <a:lnR w="6668">
                      <a:solidFill>
                        <a:srgbClr val="D1D5DB"/>
                      </a:solidFill>
                      <a:prstDash val="solid"/>
                    </a:lnR>
                    <a:lnT w="6668" cap="flat" cmpd="sng" algn="ctr">
                      <a:solidFill>
                        <a:srgbClr val="D1D5DB"/>
                      </a:solidFill>
                      <a:prstDash val="solid"/>
                      <a:round/>
                      <a:headEnd type="none" w="med" len="med"/>
                      <a:tailEnd type="none" w="med" len="med"/>
                    </a:lnT>
                    <a:lnB w="6668">
                      <a:solidFill>
                        <a:srgbClr val="D1D5DB"/>
                      </a:solidFill>
                      <a:prstDash val="solid"/>
                    </a:lnB>
                    <a:solidFill>
                      <a:srgbClr val="FFFFFF"/>
                    </a:solidFill>
                  </a:tcPr>
                </a:tc>
                <a:tc>
                  <a:txBody>
                    <a:bodyPr/>
                    <a:lstStyle/>
                    <a:p>
                      <a:r>
                        <a:rPr sz="1800" b="0">
                          <a:solidFill>
                            <a:srgbClr val="111111"/>
                          </a:solidFill>
                          <a:latin typeface="Times New Roman"/>
                          <a:ea typeface="Times New Roman"/>
                          <a:cs typeface="Times New Roman"/>
                        </a:rPr>
                        <a:t>0/39</a:t>
                      </a:r>
                    </a:p>
                    <a:p>
                      <a:r>
                        <a:rPr sz="1800" b="0">
                          <a:solidFill>
                            <a:srgbClr val="111111"/>
                          </a:solidFill>
                          <a:latin typeface="Times New Roman"/>
                          <a:ea typeface="Times New Roman"/>
                          <a:cs typeface="Times New Roman"/>
                        </a:rPr>
                        <a:t>39 errors</a:t>
                      </a:r>
                    </a:p>
                  </a:txBody>
                  <a:tcPr>
                    <a:lnL w="6668" cap="flat" cmpd="sng" algn="ctr">
                      <a:solidFill>
                        <a:srgbClr val="D1D5DB"/>
                      </a:solidFill>
                      <a:prstDash val="solid"/>
                      <a:round/>
                      <a:headEnd type="none" w="med" len="med"/>
                      <a:tailEnd type="none" w="med" len="med"/>
                    </a:lnL>
                    <a:lnR w="6668">
                      <a:solidFill>
                        <a:srgbClr val="D1D5DB"/>
                      </a:solidFill>
                      <a:prstDash val="solid"/>
                    </a:lnR>
                    <a:lnT w="6668" cap="flat" cmpd="sng" algn="ctr">
                      <a:solidFill>
                        <a:srgbClr val="D1D5DB"/>
                      </a:solidFill>
                      <a:prstDash val="solid"/>
                      <a:round/>
                      <a:headEnd type="none" w="med" len="med"/>
                      <a:tailEnd type="none" w="med" len="med"/>
                    </a:lnT>
                    <a:lnB w="6668">
                      <a:solidFill>
                        <a:srgbClr val="D1D5DB"/>
                      </a:solidFill>
                      <a:prstDash val="solid"/>
                    </a:lnB>
                    <a:solidFill>
                      <a:srgbClr val="FFFFFF"/>
                    </a:solidFill>
                  </a:tcPr>
                </a:tc>
                <a:tc>
                  <a:txBody>
                    <a:bodyPr/>
                    <a:lstStyle/>
                    <a:p>
                      <a:r>
                        <a:rPr sz="1800" b="0">
                          <a:solidFill>
                            <a:srgbClr val="111111"/>
                          </a:solidFill>
                          <a:latin typeface="Times New Roman"/>
                          <a:ea typeface="Times New Roman"/>
                          <a:cs typeface="Times New Roman"/>
                        </a:rPr>
                        <a:t>1/39</a:t>
                      </a:r>
                    </a:p>
                    <a:p>
                      <a:r>
                        <a:rPr sz="1800" b="0">
                          <a:solidFill>
                            <a:srgbClr val="111111"/>
                          </a:solidFill>
                          <a:latin typeface="Times New Roman"/>
                          <a:ea typeface="Times New Roman"/>
                          <a:cs typeface="Times New Roman"/>
                        </a:rPr>
                        <a:t>38 errors</a:t>
                      </a:r>
                    </a:p>
                  </a:txBody>
                  <a:tcPr>
                    <a:lnL w="6668" cap="flat" cmpd="sng" algn="ctr">
                      <a:solidFill>
                        <a:srgbClr val="D1D5DB"/>
                      </a:solidFill>
                      <a:prstDash val="solid"/>
                      <a:round/>
                      <a:headEnd type="none" w="med" len="med"/>
                      <a:tailEnd type="none" w="med" len="med"/>
                    </a:lnL>
                    <a:lnR w="6668">
                      <a:solidFill>
                        <a:srgbClr val="D1D5DB"/>
                      </a:solidFill>
                      <a:prstDash val="solid"/>
                    </a:lnR>
                    <a:lnT w="6668" cap="flat" cmpd="sng" algn="ctr">
                      <a:solidFill>
                        <a:srgbClr val="D1D5DB"/>
                      </a:solidFill>
                      <a:prstDash val="solid"/>
                      <a:round/>
                      <a:headEnd type="none" w="med" len="med"/>
                      <a:tailEnd type="none" w="med" len="med"/>
                    </a:lnT>
                    <a:lnB w="6668">
                      <a:solidFill>
                        <a:srgbClr val="D1D5DB"/>
                      </a:solidFill>
                      <a:prstDash val="solid"/>
                    </a:lnB>
                    <a:solidFill>
                      <a:srgbClr val="FFFFFF"/>
                    </a:solidFill>
                  </a:tcPr>
                </a:tc>
                <a:extLst>
                  <a:ext uri="{0D108BD9-81ED-4DB2-BD59-A6C34878D82A}">
                    <a16:rowId xmlns:a16="http://schemas.microsoft.com/office/drawing/2014/main" val="10003"/>
                  </a:ext>
                </a:extLst>
              </a:tr>
            </a:tbl>
          </a:graphicData>
        </a:graphic>
      </p:graphicFrame>
      <p:sp>
        <p:nvSpPr>
          <p:cNvPr id="7" name="Rectangle 6">
            <a:extLst>
              <a:ext uri="{FF2B5EF4-FFF2-40B4-BE49-F238E27FC236}">
                <a16:creationId xmlns:a16="http://schemas.microsoft.com/office/drawing/2014/main" id="{118F7E9C-7533-4FA2-8853-B149882D3621}"/>
              </a:ext>
            </a:extLst>
          </p:cNvPr>
          <p:cNvSpPr>
            <a:spLocks noGrp="1"/>
          </p:cNvSpPr>
          <p:nvPr/>
        </p:nvSpPr>
        <p:spPr>
          <a:xfrm>
            <a:off x="457200" y="5791200"/>
            <a:ext cx="5829300" cy="533400"/>
          </a:xfrm>
          <a:prstGeom prst="rect">
            <a:avLst/>
          </a:prstGeom>
          <a:noFill/>
          <a:ln w="0">
            <a:noFill/>
          </a:ln>
        </p:spPr>
        <p:txBody>
          <a:bodyPr wrap="square" lIns="0" tIns="0" rIns="0" bIns="0" anchor="t"/>
          <a:lstStyle>
            <a:defPPr>
              <a:defRPr sz="1650" b="0">
                <a:solidFill>
                  <a:srgbClr val="666666"/>
                </a:solidFill>
                <a:latin typeface="Times New Roman"/>
                <a:ea typeface="Times New Roman"/>
                <a:cs typeface="Times New Roman"/>
              </a:defRPr>
            </a:defPPr>
          </a:lstStyle>
          <a:p>
            <a:pPr>
              <a:defRPr sz="1650" b="0">
                <a:solidFill>
                  <a:srgbClr val="666666"/>
                </a:solidFill>
                <a:latin typeface="Times New Roman"/>
                <a:ea typeface="Times New Roman"/>
                <a:cs typeface="Times New Roman"/>
              </a:defRPr>
            </a:pPr>
            <a:r>
              <a:rPr sz="1650" b="0">
                <a:solidFill>
                  <a:srgbClr val="666666"/>
                </a:solidFill>
                <a:latin typeface="Times New Roman"/>
                <a:ea typeface="Times New Roman"/>
                <a:cs typeface="Times New Roman"/>
              </a:rPr>
              <a:t>Four settings have complete costs.</a:t>
            </a:r>
          </a:p>
          <a:p>
            <a:pPr>
              <a:defRPr sz="1650" b="0">
                <a:solidFill>
                  <a:srgbClr val="666666"/>
                </a:solidFill>
                <a:latin typeface="Times New Roman"/>
                <a:ea typeface="Times New Roman"/>
                <a:cs typeface="Times New Roman"/>
              </a:defRPr>
            </a:pPr>
            <a:r>
              <a:rPr sz="1650" b="0">
                <a:solidFill>
                  <a:srgbClr val="666666"/>
                </a:solidFill>
                <a:latin typeface="Times New Roman"/>
                <a:ea typeface="Times New Roman"/>
                <a:cs typeface="Times New Roman"/>
              </a:rPr>
              <a:t>Five settings are excluded from these frontiers.</a:t>
            </a:r>
          </a:p>
        </p:txBody>
      </p:sp>
      <p:sp>
        <p:nvSpPr>
          <p:cNvPr id="8" name="Rectangle 7">
            <a:extLst>
              <a:ext uri="{FF2B5EF4-FFF2-40B4-BE49-F238E27FC236}">
                <a16:creationId xmlns:a16="http://schemas.microsoft.com/office/drawing/2014/main" id="{1B645188-0B9E-4521-9E91-A868071C26E7}"/>
              </a:ext>
            </a:extLst>
          </p:cNvPr>
          <p:cNvSpPr>
            <a:spLocks noGrp="1"/>
          </p:cNvSpPr>
          <p:nvPr/>
        </p:nvSpPr>
        <p:spPr>
          <a:xfrm>
            <a:off x="6667500" y="4991100"/>
            <a:ext cx="5067300" cy="666750"/>
          </a:xfrm>
          <a:prstGeom prst="rect">
            <a:avLst/>
          </a:prstGeom>
          <a:noFill/>
          <a:ln w="0">
            <a:noFill/>
          </a:ln>
        </p:spPr>
        <p:txBody>
          <a:bodyPr wrap="square" lIns="0" tIns="0" rIns="0" bIns="0" anchor="t"/>
          <a:lstStyle>
            <a:defPPr>
              <a:defRPr sz="1800" b="0">
                <a:solidFill>
                  <a:srgbClr val="444444"/>
                </a:solidFill>
                <a:latin typeface="Times New Roman"/>
                <a:ea typeface="Times New Roman"/>
                <a:cs typeface="Times New Roman"/>
              </a:defRPr>
            </a:defPPr>
          </a:lstStyle>
          <a:p>
            <a:pPr>
              <a:defRPr sz="1800" b="0">
                <a:solidFill>
                  <a:srgbClr val="444444"/>
                </a:solidFill>
                <a:latin typeface="Times New Roman"/>
                <a:ea typeface="Times New Roman"/>
                <a:cs typeface="Times New Roman"/>
              </a:defRPr>
            </a:pPr>
            <a:r>
              <a:rPr sz="1800" b="0">
                <a:solidFill>
                  <a:srgbClr val="444444"/>
                </a:solidFill>
                <a:latin typeface="Times New Roman"/>
                <a:ea typeface="Times New Roman"/>
                <a:cs typeface="Times New Roman"/>
              </a:rPr>
              <a:t>Passes / 39, with execution errors below.</a:t>
            </a:r>
          </a:p>
          <a:p>
            <a:pPr>
              <a:defRPr sz="1800" b="0">
                <a:solidFill>
                  <a:srgbClr val="444444"/>
                </a:solidFill>
                <a:latin typeface="Times New Roman"/>
                <a:ea typeface="Times New Roman"/>
                <a:cs typeface="Times New Roman"/>
              </a:defRPr>
            </a:pPr>
            <a:r>
              <a:rPr sz="1800" b="0">
                <a:solidFill>
                  <a:srgbClr val="444444"/>
                </a:solidFill>
                <a:latin typeface="Times New Roman"/>
                <a:ea typeface="Times New Roman"/>
                <a:cs typeface="Times New Roman"/>
              </a:rPr>
              <a:t>DeepSeek errors are mostly timeouts.</a:t>
            </a:r>
          </a:p>
        </p:txBody>
      </p:sp>
      <p:sp>
        <p:nvSpPr>
          <p:cNvPr id="9" name="Rectangle 8">
            <a:extLst>
              <a:ext uri="{FF2B5EF4-FFF2-40B4-BE49-F238E27FC236}">
                <a16:creationId xmlns:a16="http://schemas.microsoft.com/office/drawing/2014/main" id="{4BCF7E1E-D5AD-4942-8BA7-F44F1816FA48}"/>
              </a:ext>
            </a:extLst>
          </p:cNvPr>
          <p:cNvSpPr>
            <a:spLocks noGrp="1"/>
          </p:cNvSpPr>
          <p:nvPr/>
        </p:nvSpPr>
        <p:spPr>
          <a:xfrm>
            <a:off x="457200" y="6419850"/>
            <a:ext cx="10668000" cy="266700"/>
          </a:xfrm>
          <a:prstGeom prst="rect">
            <a:avLst/>
          </a:prstGeom>
          <a:noFill/>
          <a:ln w="0">
            <a:noFill/>
          </a:ln>
        </p:spPr>
        <p:txBody>
          <a:bodyPr wrap="square" lIns="0" tIns="0" rIns="0" bIns="0" anchor="t"/>
          <a:lstStyle>
            <a:defPPr>
              <a:defRPr sz="1425" b="0">
                <a:solidFill>
                  <a:srgbClr val="666666"/>
                </a:solidFill>
                <a:latin typeface="Times New Roman"/>
                <a:ea typeface="Times New Roman"/>
                <a:cs typeface="Times New Roman"/>
              </a:defRPr>
            </a:defPPr>
          </a:lstStyle>
          <a:p>
            <a:pPr>
              <a:defRPr sz="1425" b="0">
                <a:solidFill>
                  <a:srgbClr val="666666"/>
                </a:solidFill>
                <a:latin typeface="Times New Roman"/>
                <a:ea typeface="Times New Roman"/>
                <a:cs typeface="Times New Roman"/>
              </a:defRPr>
            </a:pPr>
            <a:r>
              <a:rPr sz="1425" b="0">
                <a:solidFill>
                  <a:srgbClr val="666666"/>
                </a:solidFill>
                <a:latin typeface="Times New Roman"/>
                <a:ea typeface="Times New Roman"/>
                <a:cs typeface="Times New Roman"/>
              </a:rPr>
              <a:t>Luna uses historical controls. Local concurrency changed from 3 trials to 6 sharing 8 CPUs.</a:t>
            </a:r>
          </a:p>
        </p:txBody>
      </p:sp>
      <p:sp>
        <p:nvSpPr>
          <p:cNvPr id="10" name="Rectangle 9">
            <a:extLst>
              <a:ext uri="{FF2B5EF4-FFF2-40B4-BE49-F238E27FC236}">
                <a16:creationId xmlns:a16="http://schemas.microsoft.com/office/drawing/2014/main" id="{6E577C71-54DF-4F66-ADB3-8EA322D648B1}"/>
              </a:ext>
            </a:extLst>
          </p:cNvPr>
          <p:cNvSpPr>
            <a:spLocks noGrp="1"/>
          </p:cNvSpPr>
          <p:nvPr/>
        </p:nvSpPr>
        <p:spPr>
          <a:xfrm>
            <a:off x="11201400" y="6477000"/>
            <a:ext cx="533400" cy="190500"/>
          </a:xfrm>
          <a:prstGeom prst="rect">
            <a:avLst/>
          </a:prstGeom>
          <a:noFill/>
          <a:ln w="0">
            <a:noFill/>
          </a:ln>
        </p:spPr>
        <p:txBody>
          <a:bodyPr wrap="square" lIns="0" tIns="0" rIns="0" bIns="0" anchor="t"/>
          <a:lstStyle>
            <a:defPPr>
              <a:defRPr sz="1200" b="0">
                <a:solidFill>
                  <a:srgbClr val="666666"/>
                </a:solidFill>
                <a:latin typeface="Times New Roman"/>
                <a:ea typeface="Times New Roman"/>
                <a:cs typeface="Times New Roman"/>
              </a:defRPr>
            </a:defPPr>
          </a:lstStyle>
          <a:p>
            <a:pPr>
              <a:defRPr sz="1200" b="0">
                <a:solidFill>
                  <a:srgbClr val="666666"/>
                </a:solidFill>
                <a:latin typeface="Times New Roman"/>
                <a:ea typeface="Times New Roman"/>
                <a:cs typeface="Times New Roman"/>
              </a:defRPr>
            </a:pPr>
            <a:r>
              <a:rPr sz="1200" b="0">
                <a:solidFill>
                  <a:srgbClr val="666666"/>
                </a:solidFill>
                <a:latin typeface="Times New Roman"/>
                <a:ea typeface="Times New Roman"/>
                <a:cs typeface="Times New Roman"/>
              </a:rPr>
              <a:t>7</a:t>
            </a:r>
          </a:p>
        </p:txBody>
      </p:sp>
    </p:spTree>
    <p:extLst>
      <p:ext uri="{BB962C8B-B14F-4D97-AF65-F5344CB8AC3E}">
        <p14:creationId xmlns:p14="http://schemas.microsoft.com/office/powerpoint/2010/main" val="11293886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DF903DD8-AA9F-4E57-B9E5-B08FDA7A405E}"/>
              </a:ext>
            </a:extLst>
          </p:cNvPr>
          <p:cNvSpPr>
            <a:spLocks noGrp="1"/>
          </p:cNvSpPr>
          <p:nvPr/>
        </p:nvSpPr>
        <p:spPr>
          <a:xfrm>
            <a:off x="457200" y="209550"/>
            <a:ext cx="11277600" cy="638175"/>
          </a:xfrm>
          <a:prstGeom prst="rect">
            <a:avLst/>
          </a:prstGeom>
          <a:noFill/>
          <a:ln w="0">
            <a:noFill/>
          </a:ln>
        </p:spPr>
        <p:txBody>
          <a:bodyPr wrap="square" lIns="0" tIns="0" rIns="0" bIns="0" anchor="t"/>
          <a:lstStyle>
            <a:defPPr>
              <a:defRPr sz="3600" b="1">
                <a:solidFill>
                  <a:srgbClr val="111111"/>
                </a:solidFill>
                <a:latin typeface="Times New Roman"/>
                <a:ea typeface="Times New Roman"/>
                <a:cs typeface="Times New Roman"/>
              </a:defRPr>
            </a:defPPr>
          </a:lstStyle>
          <a:p>
            <a:pPr>
              <a:buNone/>
              <a:defRPr sz="3600" b="1">
                <a:solidFill>
                  <a:srgbClr val="111111"/>
                </a:solidFill>
                <a:latin typeface="Times New Roman"/>
                <a:ea typeface="Times New Roman"/>
                <a:cs typeface="Times New Roman"/>
              </a:defRPr>
            </a:pPr>
            <a:r>
              <a:rPr sz="3600" b="1">
                <a:solidFill>
                  <a:srgbClr val="111111"/>
                </a:solidFill>
                <a:latin typeface="Times New Roman"/>
                <a:ea typeface="Times New Roman"/>
                <a:cs typeface="Times New Roman"/>
              </a:rPr>
              <a:t>Luna: reasoning effort and hints</a:t>
            </a:r>
          </a:p>
        </p:txBody>
      </p:sp>
      <p:sp>
        <p:nvSpPr>
          <p:cNvPr id="2" name="Rectangle 1">
            <a:extLst>
              <a:ext uri="{FF2B5EF4-FFF2-40B4-BE49-F238E27FC236}">
                <a16:creationId xmlns:a16="http://schemas.microsoft.com/office/drawing/2014/main" id="{0B5698D6-4C55-461B-AC0C-431730CBA894}"/>
              </a:ext>
            </a:extLst>
          </p:cNvPr>
          <p:cNvSpPr>
            <a:spLocks noGrp="1"/>
          </p:cNvSpPr>
          <p:nvPr/>
        </p:nvSpPr>
        <p:spPr>
          <a:xfrm>
            <a:off x="457200" y="942975"/>
            <a:ext cx="11277600" cy="457200"/>
          </a:xfrm>
          <a:prstGeom prst="rect">
            <a:avLst/>
          </a:prstGeom>
          <a:noFill/>
          <a:ln w="0">
            <a:noFill/>
          </a:ln>
        </p:spPr>
        <p:txBody>
          <a:bodyPr wrap="square" lIns="0" tIns="0" rIns="0" bIns="0" anchor="t"/>
          <a:lstStyle>
            <a:defPPr>
              <a:defRPr sz="1875" b="0">
                <a:solidFill>
                  <a:srgbClr val="444444"/>
                </a:solidFill>
                <a:latin typeface="Times New Roman"/>
                <a:ea typeface="Times New Roman"/>
                <a:cs typeface="Times New Roman"/>
              </a:defRPr>
            </a:defPPr>
          </a:lstStyle>
          <a:p>
            <a:pPr>
              <a:buNone/>
              <a:defRPr sz="1875" b="0">
                <a:solidFill>
                  <a:srgbClr val="444444"/>
                </a:solidFill>
                <a:latin typeface="Times New Roman"/>
                <a:ea typeface="Times New Roman"/>
                <a:cs typeface="Times New Roman"/>
              </a:defRPr>
            </a:pPr>
            <a:r>
              <a:rPr sz="1875" b="0">
                <a:solidFill>
                  <a:srgbClr val="444444"/>
                </a:solidFill>
                <a:latin typeface="Times New Roman"/>
                <a:ea typeface="Times New Roman"/>
                <a:cs typeface="Times New Roman"/>
              </a:rPr>
              <a:t>GPT-5.6 Luna, completed passes out of 39. All six effort settings are complete.</a:t>
            </a:r>
          </a:p>
        </p:txBody>
      </p:sp>
      <p:sp>
        <p:nvSpPr>
          <p:cNvPr id="3" name="Rectangle 2">
            <a:extLst>
              <a:ext uri="{FF2B5EF4-FFF2-40B4-BE49-F238E27FC236}">
                <a16:creationId xmlns:a16="http://schemas.microsoft.com/office/drawing/2014/main" id="{52B07ACF-7AD2-43D3-A0F9-616A3FBDB424}"/>
              </a:ext>
            </a:extLst>
          </p:cNvPr>
          <p:cNvSpPr>
            <a:spLocks noGrp="1"/>
          </p:cNvSpPr>
          <p:nvPr/>
        </p:nvSpPr>
        <p:spPr>
          <a:xfrm>
            <a:off x="11201400" y="6477000"/>
            <a:ext cx="533400" cy="190500"/>
          </a:xfrm>
          <a:prstGeom prst="rect">
            <a:avLst/>
          </a:prstGeom>
          <a:noFill/>
          <a:ln w="0">
            <a:noFill/>
          </a:ln>
        </p:spPr>
        <p:txBody>
          <a:bodyPr wrap="square" lIns="0" tIns="0" rIns="0" bIns="0" anchor="t"/>
          <a:lstStyle>
            <a:defPPr>
              <a:defRPr sz="1200" b="0">
                <a:solidFill>
                  <a:srgbClr val="777777"/>
                </a:solidFill>
                <a:latin typeface="Times New Roman"/>
                <a:ea typeface="Times New Roman"/>
                <a:cs typeface="Times New Roman"/>
              </a:defRPr>
            </a:defPPr>
          </a:lstStyle>
          <a:p>
            <a:pPr>
              <a:buNone/>
              <a:defRPr sz="1200" b="0">
                <a:solidFill>
                  <a:srgbClr val="777777"/>
                </a:solidFill>
                <a:latin typeface="Times New Roman"/>
                <a:ea typeface="Times New Roman"/>
                <a:cs typeface="Times New Roman"/>
              </a:defRPr>
            </a:pPr>
            <a:r>
              <a:rPr sz="1200" b="0">
                <a:solidFill>
                  <a:srgbClr val="777777"/>
                </a:solidFill>
                <a:latin typeface="Times New Roman"/>
                <a:ea typeface="Times New Roman"/>
                <a:cs typeface="Times New Roman"/>
              </a:rPr>
              <a:t>8</a:t>
            </a:r>
          </a:p>
        </p:txBody>
      </p:sp>
      <p:graphicFrame>
        <p:nvGraphicFramePr>
          <p:cNvPr id="4" name="Chart">
            <a:extLst>
              <a:ext uri="{FF2B5EF4-FFF2-40B4-BE49-F238E27FC236}">
                <a16:creationId xmlns:a16="http://schemas.microsoft.com/office/drawing/2014/main" id="{6F2A75BB-6FA1-44C8-8643-91B1A5A17A9C}"/>
              </a:ext>
            </a:extLst>
          </p:cNvPr>
          <p:cNvGraphicFramePr/>
          <p:nvPr/>
        </p:nvGraphicFramePr>
        <p:xfrm>
          <a:off x="457200" y="1581150"/>
          <a:ext cx="11277600" cy="4067175"/>
        </p:xfrm>
        <a:graphic>
          <a:graphicData uri="http://schemas.openxmlformats.org/drawingml/2006/chart">
            <c:chart xmlns:c="http://schemas.openxmlformats.org/drawingml/2006/chart" xmlns:r="http://schemas.openxmlformats.org/officeDocument/2006/relationships" r:id="rId3"/>
          </a:graphicData>
        </a:graphic>
      </p:graphicFrame>
      <p:sp>
        <p:nvSpPr>
          <p:cNvPr id="5" name="Rectangle 4">
            <a:extLst>
              <a:ext uri="{FF2B5EF4-FFF2-40B4-BE49-F238E27FC236}">
                <a16:creationId xmlns:a16="http://schemas.microsoft.com/office/drawing/2014/main" id="{0E4AD79D-AE8B-4BF2-902D-C238D5D8BFEF}"/>
              </a:ext>
            </a:extLst>
          </p:cNvPr>
          <p:cNvSpPr>
            <a:spLocks noGrp="1"/>
          </p:cNvSpPr>
          <p:nvPr/>
        </p:nvSpPr>
        <p:spPr>
          <a:xfrm>
            <a:off x="457200" y="5800725"/>
            <a:ext cx="11277600" cy="371475"/>
          </a:xfrm>
          <a:prstGeom prst="rect">
            <a:avLst/>
          </a:prstGeom>
          <a:noFill/>
          <a:ln w="0">
            <a:noFill/>
          </a:ln>
        </p:spPr>
        <p:txBody>
          <a:bodyPr wrap="square" lIns="0" tIns="0" rIns="0" bIns="0" anchor="t"/>
          <a:lstStyle>
            <a:defPPr>
              <a:defRPr sz="2175" b="1">
                <a:solidFill>
                  <a:srgbClr val="111111"/>
                </a:solidFill>
                <a:latin typeface="Times New Roman"/>
                <a:ea typeface="Times New Roman"/>
                <a:cs typeface="Times New Roman"/>
              </a:defRPr>
            </a:defPPr>
          </a:lstStyle>
          <a:p>
            <a:pPr>
              <a:buNone/>
              <a:defRPr sz="2175" b="1">
                <a:solidFill>
                  <a:srgbClr val="111111"/>
                </a:solidFill>
                <a:latin typeface="Times New Roman"/>
                <a:ea typeface="Times New Roman"/>
                <a:cs typeface="Times New Roman"/>
              </a:defRPr>
            </a:pPr>
            <a:r>
              <a:rPr sz="2175" b="1">
                <a:solidFill>
                  <a:srgbClr val="111111"/>
                </a:solidFill>
                <a:latin typeface="Times New Roman"/>
                <a:ea typeface="Times New Roman"/>
                <a:cs typeface="Times New Roman"/>
              </a:rPr>
              <a:t>Physics hints have the highest observed success at every effort setting.</a:t>
            </a:r>
          </a:p>
        </p:txBody>
      </p:sp>
      <p:sp>
        <p:nvSpPr>
          <p:cNvPr id="6" name="Rectangle 5">
            <a:extLst>
              <a:ext uri="{FF2B5EF4-FFF2-40B4-BE49-F238E27FC236}">
                <a16:creationId xmlns:a16="http://schemas.microsoft.com/office/drawing/2014/main" id="{6CCF3C54-16C1-4C7E-933E-0257916BBFE9}"/>
              </a:ext>
            </a:extLst>
          </p:cNvPr>
          <p:cNvSpPr>
            <a:spLocks noGrp="1"/>
          </p:cNvSpPr>
          <p:nvPr/>
        </p:nvSpPr>
        <p:spPr>
          <a:xfrm>
            <a:off x="457200" y="6191250"/>
            <a:ext cx="11277600" cy="247650"/>
          </a:xfrm>
          <a:prstGeom prst="rect">
            <a:avLst/>
          </a:prstGeom>
          <a:noFill/>
          <a:ln w="0">
            <a:noFill/>
          </a:ln>
        </p:spPr>
        <p:txBody>
          <a:bodyPr wrap="square" lIns="0" tIns="0" rIns="0" bIns="0" anchor="t"/>
          <a:lstStyle>
            <a:defPPr>
              <a:defRPr sz="1425" b="0">
                <a:solidFill>
                  <a:srgbClr val="777777"/>
                </a:solidFill>
                <a:latin typeface="Times New Roman"/>
                <a:ea typeface="Times New Roman"/>
                <a:cs typeface="Times New Roman"/>
              </a:defRPr>
            </a:defPPr>
          </a:lstStyle>
          <a:p>
            <a:pPr>
              <a:buNone/>
              <a:defRPr sz="1425" b="0">
                <a:solidFill>
                  <a:srgbClr val="777777"/>
                </a:solidFill>
                <a:latin typeface="Times New Roman"/>
                <a:ea typeface="Times New Roman"/>
                <a:cs typeface="Times New Roman"/>
              </a:defRPr>
            </a:pPr>
            <a:r>
              <a:rPr sz="1425" b="0">
                <a:solidFill>
                  <a:srgbClr val="777777"/>
                </a:solidFill>
                <a:latin typeface="Times New Roman"/>
                <a:ea typeface="Times New Roman"/>
                <a:cs typeface="Times New Roman"/>
              </a:rPr>
              <a:t>No-hint controls are historical. Errors remain in denominators. Three trials per task limit precision.</a:t>
            </a:r>
          </a:p>
        </p:txBody>
      </p:sp>
    </p:spTree>
    <p:extLst>
      <p:ext uri="{BB962C8B-B14F-4D97-AF65-F5344CB8AC3E}">
        <p14:creationId xmlns:p14="http://schemas.microsoft.com/office/powerpoint/2010/main" val="8481716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5C3A8EB5-DDCE-49F7-85D1-7223D386B087}"/>
              </a:ext>
            </a:extLst>
          </p:cNvPr>
          <p:cNvSpPr>
            <a:spLocks noGrp="1"/>
          </p:cNvSpPr>
          <p:nvPr/>
        </p:nvSpPr>
        <p:spPr>
          <a:xfrm>
            <a:off x="457200" y="209550"/>
            <a:ext cx="11277600" cy="638175"/>
          </a:xfrm>
          <a:prstGeom prst="rect">
            <a:avLst/>
          </a:prstGeom>
          <a:noFill/>
          <a:ln w="0">
            <a:noFill/>
          </a:ln>
        </p:spPr>
        <p:txBody>
          <a:bodyPr wrap="square" lIns="0" tIns="0" rIns="0" bIns="0" anchor="t"/>
          <a:lstStyle>
            <a:defPPr algn="l">
              <a:defRPr sz="3600" b="1" i="0">
                <a:solidFill>
                  <a:srgbClr val="111111"/>
                </a:solidFill>
                <a:latin typeface="Times New Roman"/>
                <a:ea typeface="Times New Roman"/>
                <a:cs typeface="Times New Roman"/>
              </a:defRPr>
            </a:defPPr>
          </a:lstStyle>
          <a:p>
            <a:pPr algn="l">
              <a:buNone/>
              <a:defRPr sz="3600" b="1" i="0">
                <a:solidFill>
                  <a:srgbClr val="111111"/>
                </a:solidFill>
                <a:latin typeface="Times New Roman"/>
                <a:ea typeface="Times New Roman"/>
                <a:cs typeface="Times New Roman"/>
              </a:defRPr>
            </a:pPr>
            <a:r>
              <a:rPr sz="3600" b="1" i="0">
                <a:solidFill>
                  <a:srgbClr val="111111"/>
                </a:solidFill>
                <a:latin typeface="Times New Roman"/>
                <a:ea typeface="Times New Roman"/>
                <a:cs typeface="Times New Roman"/>
              </a:rPr>
              <a:t>Where the agents fail</a:t>
            </a:r>
          </a:p>
        </p:txBody>
      </p:sp>
      <p:sp>
        <p:nvSpPr>
          <p:cNvPr id="2" name="Rectangle 1">
            <a:extLst>
              <a:ext uri="{FF2B5EF4-FFF2-40B4-BE49-F238E27FC236}">
                <a16:creationId xmlns:a16="http://schemas.microsoft.com/office/drawing/2014/main" id="{B49328EB-D8A5-451B-869F-8FD13B246D88}"/>
              </a:ext>
            </a:extLst>
          </p:cNvPr>
          <p:cNvSpPr>
            <a:spLocks noGrp="1"/>
          </p:cNvSpPr>
          <p:nvPr/>
        </p:nvSpPr>
        <p:spPr>
          <a:xfrm>
            <a:off x="457200" y="914400"/>
            <a:ext cx="11277600" cy="457200"/>
          </a:xfrm>
          <a:prstGeom prst="rect">
            <a:avLst/>
          </a:prstGeom>
          <a:noFill/>
          <a:ln w="0">
            <a:noFill/>
          </a:ln>
        </p:spPr>
        <p:txBody>
          <a:bodyPr wrap="square" lIns="0" tIns="0" rIns="0" bIns="0" anchor="t"/>
          <a:lstStyle>
            <a:defPPr algn="l">
              <a:defRPr sz="1875" b="0" i="0">
                <a:solidFill>
                  <a:srgbClr val="444444"/>
                </a:solidFill>
                <a:latin typeface="Times New Roman"/>
                <a:ea typeface="Times New Roman"/>
                <a:cs typeface="Times New Roman"/>
              </a:defRPr>
            </a:defPPr>
          </a:lstStyle>
          <a:p>
            <a:pPr algn="l">
              <a:buNone/>
              <a:defRPr sz="1875" b="0" i="0">
                <a:solidFill>
                  <a:srgbClr val="444444"/>
                </a:solidFill>
                <a:latin typeface="Times New Roman"/>
                <a:ea typeface="Times New Roman"/>
                <a:cs typeface="Times New Roman"/>
              </a:defRPr>
            </a:pPr>
            <a:r>
              <a:rPr sz="1875" b="0" i="0">
                <a:solidFill>
                  <a:srgbClr val="444444"/>
                </a:solidFill>
                <a:latin typeface="Times New Roman"/>
                <a:ea typeface="Times New Roman"/>
                <a:cs typeface="Times New Roman"/>
              </a:rPr>
              <a:t>585 no-hint attempts. Saved actions, submitted code, and verifier results separate the failure types.</a:t>
            </a:r>
          </a:p>
        </p:txBody>
      </p:sp>
      <p:graphicFrame>
        <p:nvGraphicFramePr>
          <p:cNvPr id="4" name="Chart">
            <a:extLst>
              <a:ext uri="{FF2B5EF4-FFF2-40B4-BE49-F238E27FC236}">
                <a16:creationId xmlns:a16="http://schemas.microsoft.com/office/drawing/2014/main" id="{8B68AFBA-BE66-440B-81BF-15CD9629B964}"/>
              </a:ext>
            </a:extLst>
          </p:cNvPr>
          <p:cNvGraphicFramePr/>
          <p:nvPr/>
        </p:nvGraphicFramePr>
        <p:xfrm>
          <a:off x="457200" y="1581150"/>
          <a:ext cx="7810500" cy="4171950"/>
        </p:xfrm>
        <a:graphic>
          <a:graphicData uri="http://schemas.openxmlformats.org/drawingml/2006/chart">
            <c:chart xmlns:c="http://schemas.openxmlformats.org/drawingml/2006/chart" xmlns:r="http://schemas.openxmlformats.org/officeDocument/2006/relationships" r:id="rId3"/>
          </a:graphicData>
        </a:graphic>
      </p:graphicFrame>
      <p:sp>
        <p:nvSpPr>
          <p:cNvPr id="5" name="Rectangle 4">
            <a:extLst>
              <a:ext uri="{FF2B5EF4-FFF2-40B4-BE49-F238E27FC236}">
                <a16:creationId xmlns:a16="http://schemas.microsoft.com/office/drawing/2014/main" id="{F2D96288-71B3-4E25-9F6C-1BB5F3E6CB1A}"/>
              </a:ext>
            </a:extLst>
          </p:cNvPr>
          <p:cNvSpPr>
            <a:spLocks noGrp="1"/>
          </p:cNvSpPr>
          <p:nvPr/>
        </p:nvSpPr>
        <p:spPr>
          <a:xfrm>
            <a:off x="8648700" y="1943100"/>
            <a:ext cx="3086100" cy="619125"/>
          </a:xfrm>
          <a:prstGeom prst="rect">
            <a:avLst/>
          </a:prstGeom>
          <a:noFill/>
          <a:ln w="0">
            <a:noFill/>
          </a:ln>
        </p:spPr>
        <p:txBody>
          <a:bodyPr wrap="square" lIns="0" tIns="0" rIns="0" bIns="0" anchor="t"/>
          <a:lstStyle>
            <a:defPPr algn="l">
              <a:defRPr sz="3750" b="1" i="0">
                <a:solidFill>
                  <a:srgbClr val="B45309"/>
                </a:solidFill>
                <a:latin typeface="Times New Roman"/>
                <a:ea typeface="Times New Roman"/>
                <a:cs typeface="Times New Roman"/>
              </a:defRPr>
            </a:defPPr>
          </a:lstStyle>
          <a:p>
            <a:pPr algn="l">
              <a:buNone/>
              <a:defRPr sz="3750" b="1" i="0">
                <a:solidFill>
                  <a:srgbClr val="B45309"/>
                </a:solidFill>
                <a:latin typeface="Times New Roman"/>
                <a:ea typeface="Times New Roman"/>
                <a:cs typeface="Times New Roman"/>
              </a:defRPr>
            </a:pPr>
            <a:r>
              <a:rPr sz="3750" b="1" i="0">
                <a:solidFill>
                  <a:srgbClr val="B45309"/>
                </a:solidFill>
                <a:latin typeface="Times New Roman"/>
                <a:ea typeface="Times New Roman"/>
                <a:cs typeface="Times New Roman"/>
              </a:rPr>
              <a:t>186 / 191</a:t>
            </a:r>
          </a:p>
        </p:txBody>
      </p:sp>
      <p:sp>
        <p:nvSpPr>
          <p:cNvPr id="6" name="Rectangle 5">
            <a:extLst>
              <a:ext uri="{FF2B5EF4-FFF2-40B4-BE49-F238E27FC236}">
                <a16:creationId xmlns:a16="http://schemas.microsoft.com/office/drawing/2014/main" id="{332E1CDF-1E53-48FC-875C-1D23408D90FF}"/>
              </a:ext>
            </a:extLst>
          </p:cNvPr>
          <p:cNvSpPr>
            <a:spLocks noGrp="1"/>
          </p:cNvSpPr>
          <p:nvPr/>
        </p:nvSpPr>
        <p:spPr>
          <a:xfrm>
            <a:off x="8648700" y="2638425"/>
            <a:ext cx="3086100" cy="857250"/>
          </a:xfrm>
          <a:prstGeom prst="rect">
            <a:avLst/>
          </a:prstGeom>
          <a:noFill/>
          <a:ln w="0">
            <a:noFill/>
          </a:ln>
        </p:spPr>
        <p:txBody>
          <a:bodyPr wrap="square" lIns="0" tIns="0" rIns="0" bIns="0" anchor="t"/>
          <a:lstStyle>
            <a:defPPr algn="l">
              <a:defRPr sz="2025" b="0" i="0">
                <a:solidFill>
                  <a:srgbClr val="111111"/>
                </a:solidFill>
                <a:latin typeface="Times New Roman"/>
                <a:ea typeface="Times New Roman"/>
                <a:cs typeface="Times New Roman"/>
              </a:defRPr>
            </a:defPPr>
          </a:lstStyle>
          <a:p>
            <a:pPr algn="l">
              <a:buNone/>
              <a:defRPr sz="2025" b="0" i="0">
                <a:solidFill>
                  <a:srgbClr val="111111"/>
                </a:solidFill>
                <a:latin typeface="Times New Roman"/>
                <a:ea typeface="Times New Roman"/>
                <a:cs typeface="Times New Roman"/>
              </a:defRPr>
            </a:pPr>
            <a:r>
              <a:rPr sz="2025" b="0" i="0" dirty="0">
                <a:solidFill>
                  <a:srgbClr val="111111"/>
                </a:solidFill>
                <a:latin typeface="Times New Roman"/>
                <a:ea typeface="Times New Roman"/>
                <a:cs typeface="Times New Roman"/>
              </a:rPr>
              <a:t>Normally completed failures</a:t>
            </a:r>
          </a:p>
          <a:p>
            <a:pPr algn="l">
              <a:buNone/>
              <a:defRPr sz="2025" b="0" i="0">
                <a:solidFill>
                  <a:srgbClr val="111111"/>
                </a:solidFill>
                <a:latin typeface="Times New Roman"/>
                <a:ea typeface="Times New Roman"/>
                <a:cs typeface="Times New Roman"/>
              </a:defRPr>
            </a:pPr>
            <a:r>
              <a:rPr sz="2025" b="0" i="0">
                <a:solidFill>
                  <a:srgbClr val="111111"/>
                </a:solidFill>
                <a:latin typeface="Times New Roman"/>
                <a:ea typeface="Times New Roman"/>
                <a:cs typeface="Times New Roman"/>
              </a:rPr>
              <a:t>failed </a:t>
            </a:r>
            <a:r>
              <a:rPr lang="en-US" sz="2025">
                <a:solidFill>
                  <a:srgbClr val="111111"/>
                </a:solidFill>
                <a:latin typeface="Times New Roman"/>
                <a:ea typeface="Times New Roman"/>
                <a:cs typeface="Times New Roman"/>
              </a:rPr>
              <a:t>generalizing physics</a:t>
            </a:r>
            <a:endParaRPr sz="2025" b="0" i="0">
              <a:solidFill>
                <a:srgbClr val="111111"/>
              </a:solidFill>
              <a:latin typeface="Times New Roman"/>
              <a:ea typeface="Times New Roman"/>
              <a:cs typeface="Times New Roman"/>
            </a:endParaRPr>
          </a:p>
        </p:txBody>
      </p:sp>
      <p:sp>
        <p:nvSpPr>
          <p:cNvPr id="7" name="Rectangle 6">
            <a:extLst>
              <a:ext uri="{FF2B5EF4-FFF2-40B4-BE49-F238E27FC236}">
                <a16:creationId xmlns:a16="http://schemas.microsoft.com/office/drawing/2014/main" id="{12C4D2AB-7951-41B3-8FE2-A2005C68A079}"/>
              </a:ext>
            </a:extLst>
          </p:cNvPr>
          <p:cNvSpPr>
            <a:spLocks noGrp="1"/>
          </p:cNvSpPr>
          <p:nvPr/>
        </p:nvSpPr>
        <p:spPr>
          <a:xfrm>
            <a:off x="8648700" y="3848100"/>
            <a:ext cx="3086100" cy="619125"/>
          </a:xfrm>
          <a:prstGeom prst="rect">
            <a:avLst/>
          </a:prstGeom>
          <a:noFill/>
          <a:ln w="0">
            <a:noFill/>
          </a:ln>
        </p:spPr>
        <p:txBody>
          <a:bodyPr wrap="square" lIns="0" tIns="0" rIns="0" bIns="0" anchor="t"/>
          <a:lstStyle>
            <a:defPPr algn="l">
              <a:defRPr sz="3750" b="1" i="0">
                <a:solidFill>
                  <a:srgbClr val="A50026"/>
                </a:solidFill>
                <a:latin typeface="Times New Roman"/>
                <a:ea typeface="Times New Roman"/>
                <a:cs typeface="Times New Roman"/>
              </a:defRPr>
            </a:defPPr>
          </a:lstStyle>
          <a:p>
            <a:pPr algn="l">
              <a:buNone/>
              <a:defRPr sz="3750" b="1" i="0">
                <a:solidFill>
                  <a:srgbClr val="A50026"/>
                </a:solidFill>
                <a:latin typeface="Times New Roman"/>
                <a:ea typeface="Times New Roman"/>
                <a:cs typeface="Times New Roman"/>
              </a:defRPr>
            </a:pPr>
            <a:r>
              <a:rPr sz="3750" b="1" i="0">
                <a:solidFill>
                  <a:srgbClr val="A50026"/>
                </a:solidFill>
                <a:latin typeface="Times New Roman"/>
                <a:ea typeface="Times New Roman"/>
                <a:cs typeface="Times New Roman"/>
              </a:rPr>
              <a:t>105 / 117</a:t>
            </a:r>
          </a:p>
        </p:txBody>
      </p:sp>
      <p:sp>
        <p:nvSpPr>
          <p:cNvPr id="8" name="Rectangle 7">
            <a:extLst>
              <a:ext uri="{FF2B5EF4-FFF2-40B4-BE49-F238E27FC236}">
                <a16:creationId xmlns:a16="http://schemas.microsoft.com/office/drawing/2014/main" id="{1BC68402-3368-46B8-ADCC-4D87B60E3C86}"/>
              </a:ext>
            </a:extLst>
          </p:cNvPr>
          <p:cNvSpPr>
            <a:spLocks noGrp="1"/>
          </p:cNvSpPr>
          <p:nvPr/>
        </p:nvSpPr>
        <p:spPr>
          <a:xfrm>
            <a:off x="8648700" y="4543425"/>
            <a:ext cx="3086100" cy="762000"/>
          </a:xfrm>
          <a:prstGeom prst="rect">
            <a:avLst/>
          </a:prstGeom>
          <a:noFill/>
          <a:ln w="0">
            <a:noFill/>
          </a:ln>
        </p:spPr>
        <p:txBody>
          <a:bodyPr wrap="square" lIns="0" tIns="0" rIns="0" bIns="0" anchor="t"/>
          <a:lstStyle>
            <a:defPPr algn="l">
              <a:defRPr sz="2025" b="0" i="0">
                <a:solidFill>
                  <a:srgbClr val="111111"/>
                </a:solidFill>
                <a:latin typeface="Times New Roman"/>
                <a:ea typeface="Times New Roman"/>
                <a:cs typeface="Times New Roman"/>
              </a:defRPr>
            </a:defPPr>
          </a:lstStyle>
          <a:p>
            <a:pPr algn="l">
              <a:buNone/>
              <a:defRPr sz="2025" b="0" i="0">
                <a:solidFill>
                  <a:srgbClr val="111111"/>
                </a:solidFill>
                <a:latin typeface="Times New Roman"/>
                <a:ea typeface="Times New Roman"/>
                <a:cs typeface="Times New Roman"/>
              </a:defRPr>
            </a:pPr>
            <a:r>
              <a:rPr sz="2025" b="0" i="0">
                <a:solidFill>
                  <a:srgbClr val="111111"/>
                </a:solidFill>
                <a:latin typeface="Times New Roman"/>
                <a:ea typeface="Times New Roman"/>
                <a:cs typeface="Times New Roman"/>
              </a:rPr>
              <a:t>DeepSeek attempts ended</a:t>
            </a:r>
          </a:p>
          <a:p>
            <a:pPr algn="l">
              <a:buNone/>
              <a:defRPr sz="2025" b="0" i="0">
                <a:solidFill>
                  <a:srgbClr val="111111"/>
                </a:solidFill>
                <a:latin typeface="Times New Roman"/>
                <a:ea typeface="Times New Roman"/>
                <a:cs typeface="Times New Roman"/>
              </a:defRPr>
            </a:pPr>
            <a:r>
              <a:rPr sz="2025" b="0" i="0">
                <a:solidFill>
                  <a:srgbClr val="111111"/>
                </a:solidFill>
                <a:latin typeface="Times New Roman"/>
                <a:ea typeface="Times New Roman"/>
                <a:cs typeface="Times New Roman"/>
              </a:rPr>
              <a:t>with execution errors</a:t>
            </a:r>
          </a:p>
        </p:txBody>
      </p:sp>
      <p:sp>
        <p:nvSpPr>
          <p:cNvPr id="9" name="Rectangle 8">
            <a:extLst>
              <a:ext uri="{FF2B5EF4-FFF2-40B4-BE49-F238E27FC236}">
                <a16:creationId xmlns:a16="http://schemas.microsoft.com/office/drawing/2014/main" id="{F966C5D2-2C0D-49CA-82C3-5166CF87B915}"/>
              </a:ext>
            </a:extLst>
          </p:cNvPr>
          <p:cNvSpPr>
            <a:spLocks noGrp="1"/>
          </p:cNvSpPr>
          <p:nvPr/>
        </p:nvSpPr>
        <p:spPr>
          <a:xfrm>
            <a:off x="457200" y="6067425"/>
            <a:ext cx="11277600" cy="381000"/>
          </a:xfrm>
          <a:prstGeom prst="rect">
            <a:avLst/>
          </a:prstGeom>
          <a:noFill/>
          <a:ln w="0">
            <a:noFill/>
          </a:ln>
        </p:spPr>
        <p:txBody>
          <a:bodyPr wrap="square" lIns="0" tIns="0" rIns="0" bIns="0" anchor="t"/>
          <a:lstStyle>
            <a:defPPr algn="l">
              <a:defRPr sz="1350" b="0" i="0">
                <a:solidFill>
                  <a:srgbClr val="777777"/>
                </a:solidFill>
                <a:latin typeface="Times New Roman"/>
                <a:ea typeface="Times New Roman"/>
                <a:cs typeface="Times New Roman"/>
              </a:defRPr>
            </a:defPPr>
          </a:lstStyle>
          <a:p>
            <a:pPr algn="l">
              <a:buNone/>
              <a:defRPr sz="1350" b="0" i="0">
                <a:solidFill>
                  <a:srgbClr val="777777"/>
                </a:solidFill>
                <a:latin typeface="Times New Roman"/>
                <a:ea typeface="Times New Roman"/>
                <a:cs typeface="Times New Roman"/>
              </a:defRPr>
            </a:pPr>
            <a:r>
              <a:rPr sz="1350" b="0" i="0">
                <a:solidFill>
                  <a:srgbClr val="777777"/>
                </a:solidFill>
                <a:latin typeface="Times New Roman"/>
                <a:ea typeface="Times New Roman"/>
                <a:cs typeface="Times New Roman"/>
              </a:rPr>
              <a:t>At least 141 of the 186 prediction-only failures show public-test passes. Errors alone do not establish a physics mistake.</a:t>
            </a:r>
          </a:p>
        </p:txBody>
      </p:sp>
      <p:sp>
        <p:nvSpPr>
          <p:cNvPr id="11" name="Rectangle 10">
            <a:extLst>
              <a:ext uri="{FF2B5EF4-FFF2-40B4-BE49-F238E27FC236}">
                <a16:creationId xmlns:a16="http://schemas.microsoft.com/office/drawing/2014/main" id="{3979B510-2B14-4E4E-9F9A-06C4CBB61403}"/>
              </a:ext>
            </a:extLst>
          </p:cNvPr>
          <p:cNvSpPr>
            <a:spLocks noGrp="1"/>
          </p:cNvSpPr>
          <p:nvPr/>
        </p:nvSpPr>
        <p:spPr>
          <a:xfrm>
            <a:off x="11201400" y="6477000"/>
            <a:ext cx="533400" cy="190500"/>
          </a:xfrm>
          <a:prstGeom prst="rect">
            <a:avLst/>
          </a:prstGeom>
          <a:noFill/>
          <a:ln w="0">
            <a:noFill/>
          </a:ln>
        </p:spPr>
        <p:txBody>
          <a:bodyPr wrap="square" lIns="0" tIns="0" rIns="0" bIns="0" anchor="t"/>
          <a:lstStyle>
            <a:defPPr algn="l">
              <a:defRPr sz="1200" b="0">
                <a:solidFill>
                  <a:srgbClr val="777777"/>
                </a:solidFill>
                <a:latin typeface="Times New Roman"/>
                <a:ea typeface="Times New Roman"/>
                <a:cs typeface="Times New Roman"/>
              </a:defRPr>
            </a:defPPr>
          </a:lstStyle>
          <a:p>
            <a:pPr algn="l">
              <a:buNone/>
              <a:defRPr sz="1200" b="0">
                <a:solidFill>
                  <a:srgbClr val="777777"/>
                </a:solidFill>
                <a:latin typeface="Times New Roman"/>
                <a:ea typeface="Times New Roman"/>
                <a:cs typeface="Times New Roman"/>
              </a:defRPr>
            </a:pPr>
            <a:r>
              <a:rPr sz="1200" b="0">
                <a:solidFill>
                  <a:srgbClr val="777777"/>
                </a:solidFill>
                <a:latin typeface="Times New Roman"/>
                <a:ea typeface="Times New Roman"/>
                <a:cs typeface="Times New Roman"/>
              </a:rPr>
              <a:t>9</a:t>
            </a:r>
          </a:p>
        </p:txBody>
      </p:sp>
    </p:spTree>
    <p:extLst>
      <p:ext uri="{BB962C8B-B14F-4D97-AF65-F5344CB8AC3E}">
        <p14:creationId xmlns:p14="http://schemas.microsoft.com/office/powerpoint/2010/main" val="591641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2" name="Rectangle 41">
            <a:extLst>
              <a:ext uri="{FF2B5EF4-FFF2-40B4-BE49-F238E27FC236}">
                <a16:creationId xmlns:a16="http://schemas.microsoft.com/office/drawing/2014/main" id="{188BF787-8096-4C2A-88D4-72B59C3957F8}"/>
              </a:ext>
            </a:extLst>
          </p:cNvPr>
          <p:cNvSpPr>
            <a:spLocks noGrp="1"/>
          </p:cNvSpPr>
          <p:nvPr/>
        </p:nvSpPr>
        <p:spPr>
          <a:xfrm>
            <a:off x="457200" y="209550"/>
            <a:ext cx="11277600" cy="638175"/>
          </a:xfrm>
          <a:prstGeom prst="rect">
            <a:avLst/>
          </a:prstGeom>
          <a:noFill/>
          <a:ln w="0">
            <a:noFill/>
          </a:ln>
        </p:spPr>
        <p:txBody>
          <a:bodyPr wrap="square" lIns="0" tIns="0" rIns="0" bIns="0" anchor="t"/>
          <a:lstStyle>
            <a:defPPr algn="l">
              <a:defRPr sz="3600" b="1">
                <a:solidFill>
                  <a:srgbClr val="111111"/>
                </a:solidFill>
                <a:latin typeface="Times New Roman"/>
                <a:ea typeface="Times New Roman"/>
                <a:cs typeface="Times New Roman"/>
              </a:defRPr>
            </a:defPPr>
          </a:lstStyle>
          <a:p>
            <a:pPr algn="l">
              <a:buNone/>
              <a:defRPr sz="3600" b="1">
                <a:solidFill>
                  <a:srgbClr val="111111"/>
                </a:solidFill>
                <a:latin typeface="Times New Roman"/>
                <a:ea typeface="Times New Roman"/>
                <a:cs typeface="Times New Roman"/>
              </a:defRPr>
            </a:pPr>
            <a:r>
              <a:rPr sz="3600" b="1">
                <a:solidFill>
                  <a:srgbClr val="111111"/>
                </a:solidFill>
                <a:latin typeface="Times New Roman"/>
                <a:ea typeface="Times New Roman"/>
                <a:cs typeface="Times New Roman"/>
              </a:rPr>
              <a:t>Why the agent failed on the bead task</a:t>
            </a:r>
          </a:p>
        </p:txBody>
      </p:sp>
      <p:sp>
        <p:nvSpPr>
          <p:cNvPr id="2" name="Rectangle 1">
            <a:extLst>
              <a:ext uri="{FF2B5EF4-FFF2-40B4-BE49-F238E27FC236}">
                <a16:creationId xmlns:a16="http://schemas.microsoft.com/office/drawing/2014/main" id="{90E0191D-DC24-4A27-8C1D-B6CD527F23A6}"/>
              </a:ext>
            </a:extLst>
          </p:cNvPr>
          <p:cNvSpPr>
            <a:spLocks noGrp="1"/>
          </p:cNvSpPr>
          <p:nvPr/>
        </p:nvSpPr>
        <p:spPr>
          <a:xfrm>
            <a:off x="457200" y="914400"/>
            <a:ext cx="11277600" cy="476250"/>
          </a:xfrm>
          <a:prstGeom prst="rect">
            <a:avLst/>
          </a:prstGeom>
          <a:noFill/>
          <a:ln w="0">
            <a:noFill/>
          </a:ln>
        </p:spPr>
        <p:txBody>
          <a:bodyPr wrap="square" lIns="0" tIns="0" rIns="0" bIns="0" anchor="t"/>
          <a:lstStyle>
            <a:defPPr algn="l">
              <a:defRPr sz="1875" b="0">
                <a:solidFill>
                  <a:srgbClr val="444444"/>
                </a:solidFill>
                <a:latin typeface="Times New Roman"/>
                <a:ea typeface="Times New Roman"/>
                <a:cs typeface="Times New Roman"/>
              </a:defRPr>
            </a:defPPr>
          </a:lstStyle>
          <a:p>
            <a:pPr algn="l">
              <a:buNone/>
              <a:defRPr sz="1875" b="0">
                <a:solidFill>
                  <a:srgbClr val="444444"/>
                </a:solidFill>
                <a:latin typeface="Times New Roman"/>
                <a:ea typeface="Times New Roman"/>
                <a:cs typeface="Times New Roman"/>
              </a:defRPr>
            </a:pPr>
            <a:r>
              <a:rPr sz="1875" b="0">
                <a:solidFill>
                  <a:srgbClr val="444444"/>
                </a:solidFill>
                <a:latin typeface="Times New Roman"/>
                <a:ea typeface="Times New Roman"/>
                <a:cs typeface="Times New Roman"/>
              </a:rPr>
              <a:t>GPT-5.6 Terra High, no hint</a:t>
            </a:r>
          </a:p>
        </p:txBody>
      </p:sp>
      <p:sp>
        <p:nvSpPr>
          <p:cNvPr id="3" name="Rectangle 2">
            <a:extLst>
              <a:ext uri="{FF2B5EF4-FFF2-40B4-BE49-F238E27FC236}">
                <a16:creationId xmlns:a16="http://schemas.microsoft.com/office/drawing/2014/main" id="{AD1C196F-EF25-4184-B114-2530E3410410}"/>
              </a:ext>
            </a:extLst>
          </p:cNvPr>
          <p:cNvSpPr>
            <a:spLocks noGrp="1"/>
          </p:cNvSpPr>
          <p:nvPr/>
        </p:nvSpPr>
        <p:spPr>
          <a:xfrm>
            <a:off x="457200" y="1628775"/>
            <a:ext cx="5467350" cy="342900"/>
          </a:xfrm>
          <a:prstGeom prst="rect">
            <a:avLst/>
          </a:prstGeom>
          <a:noFill/>
          <a:ln w="0">
            <a:noFill/>
          </a:ln>
        </p:spPr>
        <p:txBody>
          <a:bodyPr wrap="square" lIns="0" tIns="0" rIns="0" bIns="0" anchor="t"/>
          <a:lstStyle>
            <a:defPPr algn="ctr">
              <a:defRPr sz="2100" b="1">
                <a:solidFill>
                  <a:srgbClr val="111111"/>
                </a:solidFill>
                <a:latin typeface="Times New Roman"/>
                <a:ea typeface="Times New Roman"/>
                <a:cs typeface="Times New Roman"/>
              </a:defRPr>
            </a:defPPr>
          </a:lstStyle>
          <a:p>
            <a:pPr algn="ctr">
              <a:buNone/>
              <a:defRPr sz="2100" b="1">
                <a:solidFill>
                  <a:srgbClr val="111111"/>
                </a:solidFill>
                <a:latin typeface="Times New Roman"/>
                <a:ea typeface="Times New Roman"/>
                <a:cs typeface="Times New Roman"/>
              </a:defRPr>
            </a:pPr>
            <a:r>
              <a:rPr sz="2100" b="1">
                <a:solidFill>
                  <a:srgbClr val="111111"/>
                </a:solidFill>
                <a:latin typeface="Times New Roman"/>
                <a:ea typeface="Times New Roman"/>
                <a:cs typeface="Times New Roman"/>
              </a:rPr>
              <a:t>Same evenly spaced start</a:t>
            </a:r>
          </a:p>
        </p:txBody>
      </p:sp>
      <p:sp>
        <p:nvSpPr>
          <p:cNvPr id="4" name="Rectangle 3">
            <a:extLst>
              <a:ext uri="{FF2B5EF4-FFF2-40B4-BE49-F238E27FC236}">
                <a16:creationId xmlns:a16="http://schemas.microsoft.com/office/drawing/2014/main" id="{6CB97F0B-14D1-45A5-8F9B-88A5CA265AC7}"/>
              </a:ext>
            </a:extLst>
          </p:cNvPr>
          <p:cNvSpPr>
            <a:spLocks noGrp="1"/>
          </p:cNvSpPr>
          <p:nvPr/>
        </p:nvSpPr>
        <p:spPr>
          <a:xfrm>
            <a:off x="2038350" y="2095500"/>
            <a:ext cx="2305050" cy="19050"/>
          </a:xfrm>
          <a:prstGeom prst="rect">
            <a:avLst/>
          </a:prstGeom>
          <a:solidFill>
            <a:srgbClr val="777777"/>
          </a:solidFill>
          <a:ln w="0">
            <a:noFill/>
          </a:ln>
        </p:spPr>
        <p:txBody>
          <a:bodyPr/>
          <a:lstStyle/>
          <a:p>
            <a:endParaRPr/>
          </a:p>
        </p:txBody>
      </p:sp>
      <p:sp>
        <p:nvSpPr>
          <p:cNvPr id="5" name="Rectangle 4">
            <a:extLst>
              <a:ext uri="{FF2B5EF4-FFF2-40B4-BE49-F238E27FC236}">
                <a16:creationId xmlns:a16="http://schemas.microsoft.com/office/drawing/2014/main" id="{A2592DAE-900F-479B-A890-400A518A5C35}"/>
              </a:ext>
            </a:extLst>
          </p:cNvPr>
          <p:cNvSpPr>
            <a:spLocks noGrp="1"/>
          </p:cNvSpPr>
          <p:nvPr/>
        </p:nvSpPr>
        <p:spPr>
          <a:xfrm>
            <a:off x="2038350" y="2609850"/>
            <a:ext cx="2305050" cy="19050"/>
          </a:xfrm>
          <a:prstGeom prst="rect">
            <a:avLst/>
          </a:prstGeom>
          <a:solidFill>
            <a:srgbClr val="777777"/>
          </a:solidFill>
          <a:ln w="0">
            <a:noFill/>
          </a:ln>
        </p:spPr>
        <p:txBody>
          <a:bodyPr/>
          <a:lstStyle/>
          <a:p>
            <a:endParaRPr/>
          </a:p>
        </p:txBody>
      </p:sp>
      <p:sp>
        <p:nvSpPr>
          <p:cNvPr id="6" name="Oval 5">
            <a:extLst>
              <a:ext uri="{FF2B5EF4-FFF2-40B4-BE49-F238E27FC236}">
                <a16:creationId xmlns:a16="http://schemas.microsoft.com/office/drawing/2014/main" id="{4AEFC1F5-B00A-442B-A9CB-59FA4BA6930E}"/>
              </a:ext>
            </a:extLst>
          </p:cNvPr>
          <p:cNvSpPr>
            <a:spLocks noGrp="1"/>
          </p:cNvSpPr>
          <p:nvPr/>
        </p:nvSpPr>
        <p:spPr>
          <a:xfrm>
            <a:off x="2133600" y="2238375"/>
            <a:ext cx="228600" cy="228600"/>
          </a:xfrm>
          <a:prstGeom prst="ellipse">
            <a:avLst/>
          </a:prstGeom>
          <a:solidFill>
            <a:srgbClr val="E8ECEF"/>
          </a:solidFill>
          <a:ln w="15240">
            <a:solidFill>
              <a:srgbClr val="777777"/>
            </a:solidFill>
            <a:prstDash val="solid"/>
          </a:ln>
        </p:spPr>
        <p:txBody>
          <a:bodyPr/>
          <a:lstStyle/>
          <a:p>
            <a:endParaRPr/>
          </a:p>
        </p:txBody>
      </p:sp>
      <p:sp>
        <p:nvSpPr>
          <p:cNvPr id="7" name="Oval 6">
            <a:extLst>
              <a:ext uri="{FF2B5EF4-FFF2-40B4-BE49-F238E27FC236}">
                <a16:creationId xmlns:a16="http://schemas.microsoft.com/office/drawing/2014/main" id="{C59E5C55-848C-42F8-8543-5E83EBE4790C}"/>
              </a:ext>
            </a:extLst>
          </p:cNvPr>
          <p:cNvSpPr>
            <a:spLocks noGrp="1"/>
          </p:cNvSpPr>
          <p:nvPr/>
        </p:nvSpPr>
        <p:spPr>
          <a:xfrm>
            <a:off x="2505075" y="2238375"/>
            <a:ext cx="228600" cy="228600"/>
          </a:xfrm>
          <a:prstGeom prst="ellipse">
            <a:avLst/>
          </a:prstGeom>
          <a:solidFill>
            <a:srgbClr val="E8ECEF"/>
          </a:solidFill>
          <a:ln w="15240">
            <a:solidFill>
              <a:srgbClr val="777777"/>
            </a:solidFill>
            <a:prstDash val="solid"/>
          </a:ln>
        </p:spPr>
        <p:txBody>
          <a:bodyPr/>
          <a:lstStyle/>
          <a:p>
            <a:endParaRPr/>
          </a:p>
        </p:txBody>
      </p:sp>
      <p:sp>
        <p:nvSpPr>
          <p:cNvPr id="8" name="Oval 7">
            <a:extLst>
              <a:ext uri="{FF2B5EF4-FFF2-40B4-BE49-F238E27FC236}">
                <a16:creationId xmlns:a16="http://schemas.microsoft.com/office/drawing/2014/main" id="{E14639FD-8428-44D2-9C15-7D66D756CAAA}"/>
              </a:ext>
            </a:extLst>
          </p:cNvPr>
          <p:cNvSpPr>
            <a:spLocks noGrp="1"/>
          </p:cNvSpPr>
          <p:nvPr/>
        </p:nvSpPr>
        <p:spPr>
          <a:xfrm>
            <a:off x="2876550" y="2238375"/>
            <a:ext cx="228600" cy="228600"/>
          </a:xfrm>
          <a:prstGeom prst="ellipse">
            <a:avLst/>
          </a:prstGeom>
          <a:solidFill>
            <a:srgbClr val="B45309"/>
          </a:solidFill>
          <a:ln w="15240">
            <a:solidFill>
              <a:srgbClr val="B45309"/>
            </a:solidFill>
            <a:prstDash val="solid"/>
          </a:ln>
        </p:spPr>
        <p:txBody>
          <a:bodyPr/>
          <a:lstStyle/>
          <a:p>
            <a:endParaRPr/>
          </a:p>
        </p:txBody>
      </p:sp>
      <p:sp>
        <p:nvSpPr>
          <p:cNvPr id="9" name="Oval 8">
            <a:extLst>
              <a:ext uri="{FF2B5EF4-FFF2-40B4-BE49-F238E27FC236}">
                <a16:creationId xmlns:a16="http://schemas.microsoft.com/office/drawing/2014/main" id="{D1467A71-ED3C-44C5-844C-EF34BB051944}"/>
              </a:ext>
            </a:extLst>
          </p:cNvPr>
          <p:cNvSpPr>
            <a:spLocks noGrp="1"/>
          </p:cNvSpPr>
          <p:nvPr/>
        </p:nvSpPr>
        <p:spPr>
          <a:xfrm>
            <a:off x="3248025" y="2238375"/>
            <a:ext cx="228600" cy="228600"/>
          </a:xfrm>
          <a:prstGeom prst="ellipse">
            <a:avLst/>
          </a:prstGeom>
          <a:solidFill>
            <a:srgbClr val="E8ECEF"/>
          </a:solidFill>
          <a:ln w="15240">
            <a:solidFill>
              <a:srgbClr val="777777"/>
            </a:solidFill>
            <a:prstDash val="solid"/>
          </a:ln>
        </p:spPr>
        <p:txBody>
          <a:bodyPr/>
          <a:lstStyle/>
          <a:p>
            <a:endParaRPr/>
          </a:p>
        </p:txBody>
      </p:sp>
      <p:sp>
        <p:nvSpPr>
          <p:cNvPr id="10" name="Oval 9">
            <a:extLst>
              <a:ext uri="{FF2B5EF4-FFF2-40B4-BE49-F238E27FC236}">
                <a16:creationId xmlns:a16="http://schemas.microsoft.com/office/drawing/2014/main" id="{22F03590-CD66-4324-9B45-D90E7670F2BC}"/>
              </a:ext>
            </a:extLst>
          </p:cNvPr>
          <p:cNvSpPr>
            <a:spLocks noGrp="1"/>
          </p:cNvSpPr>
          <p:nvPr/>
        </p:nvSpPr>
        <p:spPr>
          <a:xfrm>
            <a:off x="3619500" y="2238375"/>
            <a:ext cx="228600" cy="228600"/>
          </a:xfrm>
          <a:prstGeom prst="ellipse">
            <a:avLst/>
          </a:prstGeom>
          <a:solidFill>
            <a:srgbClr val="E8ECEF"/>
          </a:solidFill>
          <a:ln w="15240">
            <a:solidFill>
              <a:srgbClr val="777777"/>
            </a:solidFill>
            <a:prstDash val="solid"/>
          </a:ln>
        </p:spPr>
        <p:txBody>
          <a:bodyPr/>
          <a:lstStyle/>
          <a:p>
            <a:endParaRPr/>
          </a:p>
        </p:txBody>
      </p:sp>
      <p:sp>
        <p:nvSpPr>
          <p:cNvPr id="11" name="Oval 10">
            <a:extLst>
              <a:ext uri="{FF2B5EF4-FFF2-40B4-BE49-F238E27FC236}">
                <a16:creationId xmlns:a16="http://schemas.microsoft.com/office/drawing/2014/main" id="{514F4D2C-52B8-4904-9800-3B56EDDCABE1}"/>
              </a:ext>
            </a:extLst>
          </p:cNvPr>
          <p:cNvSpPr>
            <a:spLocks noGrp="1"/>
          </p:cNvSpPr>
          <p:nvPr/>
        </p:nvSpPr>
        <p:spPr>
          <a:xfrm>
            <a:off x="3990975" y="2238375"/>
            <a:ext cx="228600" cy="228600"/>
          </a:xfrm>
          <a:prstGeom prst="ellipse">
            <a:avLst/>
          </a:prstGeom>
          <a:solidFill>
            <a:srgbClr val="E8ECEF"/>
          </a:solidFill>
          <a:ln w="15240">
            <a:solidFill>
              <a:srgbClr val="777777"/>
            </a:solidFill>
            <a:prstDash val="solid"/>
          </a:ln>
        </p:spPr>
        <p:txBody>
          <a:bodyPr/>
          <a:lstStyle/>
          <a:p>
            <a:endParaRPr/>
          </a:p>
        </p:txBody>
      </p:sp>
      <p:sp>
        <p:nvSpPr>
          <p:cNvPr id="12" name="Down Arrow 11">
            <a:extLst>
              <a:ext uri="{FF2B5EF4-FFF2-40B4-BE49-F238E27FC236}">
                <a16:creationId xmlns:a16="http://schemas.microsoft.com/office/drawing/2014/main" id="{2B9547D1-0D56-40EB-A613-AD781B488373}"/>
              </a:ext>
            </a:extLst>
          </p:cNvPr>
          <p:cNvSpPr>
            <a:spLocks noGrp="1"/>
          </p:cNvSpPr>
          <p:nvPr/>
        </p:nvSpPr>
        <p:spPr>
          <a:xfrm>
            <a:off x="3048000" y="2762250"/>
            <a:ext cx="228600" cy="323850"/>
          </a:xfrm>
          <a:prstGeom prst="downArrow">
            <a:avLst/>
          </a:prstGeom>
          <a:solidFill>
            <a:srgbClr val="777777"/>
          </a:solidFill>
          <a:ln w="0">
            <a:noFill/>
          </a:ln>
        </p:spPr>
        <p:txBody>
          <a:bodyPr/>
          <a:lstStyle/>
          <a:p>
            <a:endParaRPr/>
          </a:p>
        </p:txBody>
      </p:sp>
      <p:sp>
        <p:nvSpPr>
          <p:cNvPr id="13" name="Rectangle 12">
            <a:extLst>
              <a:ext uri="{FF2B5EF4-FFF2-40B4-BE49-F238E27FC236}">
                <a16:creationId xmlns:a16="http://schemas.microsoft.com/office/drawing/2014/main" id="{B29D8764-60D2-480D-B980-A00088FC00FD}"/>
              </a:ext>
            </a:extLst>
          </p:cNvPr>
          <p:cNvSpPr>
            <a:spLocks noGrp="1"/>
          </p:cNvSpPr>
          <p:nvPr/>
        </p:nvSpPr>
        <p:spPr>
          <a:xfrm>
            <a:off x="457200" y="3324225"/>
            <a:ext cx="2305050" cy="314325"/>
          </a:xfrm>
          <a:prstGeom prst="rect">
            <a:avLst/>
          </a:prstGeom>
          <a:noFill/>
          <a:ln w="0">
            <a:noFill/>
          </a:ln>
        </p:spPr>
        <p:txBody>
          <a:bodyPr wrap="square" lIns="0" tIns="0" rIns="0" bIns="0" anchor="t"/>
          <a:lstStyle>
            <a:defPPr algn="ctr">
              <a:defRPr sz="2025" b="0">
                <a:solidFill>
                  <a:srgbClr val="111111"/>
                </a:solidFill>
                <a:latin typeface="Times New Roman"/>
                <a:ea typeface="Times New Roman"/>
                <a:cs typeface="Times New Roman"/>
              </a:defRPr>
            </a:defPPr>
          </a:lstStyle>
          <a:p>
            <a:pPr algn="ctr">
              <a:buNone/>
              <a:defRPr sz="2025" b="0">
                <a:solidFill>
                  <a:srgbClr val="111111"/>
                </a:solidFill>
                <a:latin typeface="Times New Roman"/>
                <a:ea typeface="Times New Roman"/>
                <a:cs typeface="Times New Roman"/>
              </a:defRPr>
            </a:pPr>
            <a:r>
              <a:rPr sz="2025" b="0">
                <a:solidFill>
                  <a:srgbClr val="111111"/>
                </a:solidFill>
                <a:latin typeface="Times New Roman"/>
                <a:ea typeface="Times New Roman"/>
                <a:cs typeface="Times New Roman"/>
              </a:rPr>
              <a:t>Early position</a:t>
            </a:r>
          </a:p>
        </p:txBody>
      </p:sp>
      <p:sp>
        <p:nvSpPr>
          <p:cNvPr id="14" name="Rectangle 13">
            <a:extLst>
              <a:ext uri="{FF2B5EF4-FFF2-40B4-BE49-F238E27FC236}">
                <a16:creationId xmlns:a16="http://schemas.microsoft.com/office/drawing/2014/main" id="{8C762CA3-6389-42EF-9006-A1AD10A8C613}"/>
              </a:ext>
            </a:extLst>
          </p:cNvPr>
          <p:cNvSpPr>
            <a:spLocks noGrp="1"/>
          </p:cNvSpPr>
          <p:nvPr/>
        </p:nvSpPr>
        <p:spPr>
          <a:xfrm>
            <a:off x="3619500" y="3324225"/>
            <a:ext cx="2305050" cy="314325"/>
          </a:xfrm>
          <a:prstGeom prst="rect">
            <a:avLst/>
          </a:prstGeom>
          <a:noFill/>
          <a:ln w="0">
            <a:noFill/>
          </a:ln>
        </p:spPr>
        <p:txBody>
          <a:bodyPr wrap="square" lIns="0" tIns="0" rIns="0" bIns="0" anchor="t"/>
          <a:lstStyle>
            <a:defPPr algn="ctr">
              <a:defRPr sz="2025" b="0">
                <a:solidFill>
                  <a:srgbClr val="111111"/>
                </a:solidFill>
                <a:latin typeface="Times New Roman"/>
                <a:ea typeface="Times New Roman"/>
                <a:cs typeface="Times New Roman"/>
              </a:defRPr>
            </a:defPPr>
          </a:lstStyle>
          <a:p>
            <a:pPr algn="ctr">
              <a:buNone/>
              <a:defRPr sz="2025" b="0">
                <a:solidFill>
                  <a:srgbClr val="111111"/>
                </a:solidFill>
                <a:latin typeface="Times New Roman"/>
                <a:ea typeface="Times New Roman"/>
                <a:cs typeface="Times New Roman"/>
              </a:defRPr>
            </a:pPr>
            <a:r>
              <a:rPr sz="2025" b="0">
                <a:solidFill>
                  <a:srgbClr val="111111"/>
                </a:solidFill>
                <a:latin typeface="Times New Roman"/>
                <a:ea typeface="Times New Roman"/>
                <a:cs typeface="Times New Roman"/>
              </a:rPr>
              <a:t>Later position</a:t>
            </a:r>
          </a:p>
        </p:txBody>
      </p:sp>
      <p:sp>
        <p:nvSpPr>
          <p:cNvPr id="15" name="Rectangle 14">
            <a:extLst>
              <a:ext uri="{FF2B5EF4-FFF2-40B4-BE49-F238E27FC236}">
                <a16:creationId xmlns:a16="http://schemas.microsoft.com/office/drawing/2014/main" id="{44E89158-6FEE-4279-A678-86EC80971E97}"/>
              </a:ext>
            </a:extLst>
          </p:cNvPr>
          <p:cNvSpPr>
            <a:spLocks noGrp="1"/>
          </p:cNvSpPr>
          <p:nvPr/>
        </p:nvSpPr>
        <p:spPr>
          <a:xfrm>
            <a:off x="457200" y="3752850"/>
            <a:ext cx="2305050" cy="19050"/>
          </a:xfrm>
          <a:prstGeom prst="rect">
            <a:avLst/>
          </a:prstGeom>
          <a:solidFill>
            <a:srgbClr val="777777"/>
          </a:solidFill>
          <a:ln w="0">
            <a:noFill/>
          </a:ln>
        </p:spPr>
        <p:txBody>
          <a:bodyPr/>
          <a:lstStyle/>
          <a:p>
            <a:endParaRPr/>
          </a:p>
        </p:txBody>
      </p:sp>
      <p:sp>
        <p:nvSpPr>
          <p:cNvPr id="16" name="Rectangle 15">
            <a:extLst>
              <a:ext uri="{FF2B5EF4-FFF2-40B4-BE49-F238E27FC236}">
                <a16:creationId xmlns:a16="http://schemas.microsoft.com/office/drawing/2014/main" id="{F5D70699-BAD5-4E1D-B932-83872919EF0A}"/>
              </a:ext>
            </a:extLst>
          </p:cNvPr>
          <p:cNvSpPr>
            <a:spLocks noGrp="1"/>
          </p:cNvSpPr>
          <p:nvPr/>
        </p:nvSpPr>
        <p:spPr>
          <a:xfrm>
            <a:off x="457200" y="4267200"/>
            <a:ext cx="2305050" cy="19050"/>
          </a:xfrm>
          <a:prstGeom prst="rect">
            <a:avLst/>
          </a:prstGeom>
          <a:solidFill>
            <a:srgbClr val="777777"/>
          </a:solidFill>
          <a:ln w="0">
            <a:noFill/>
          </a:ln>
        </p:spPr>
        <p:txBody>
          <a:bodyPr/>
          <a:lstStyle/>
          <a:p>
            <a:endParaRPr/>
          </a:p>
        </p:txBody>
      </p:sp>
      <p:sp>
        <p:nvSpPr>
          <p:cNvPr id="17" name="Oval 16">
            <a:extLst>
              <a:ext uri="{FF2B5EF4-FFF2-40B4-BE49-F238E27FC236}">
                <a16:creationId xmlns:a16="http://schemas.microsoft.com/office/drawing/2014/main" id="{E4800A52-7A43-4EE3-BFDE-4345E3917BBC}"/>
              </a:ext>
            </a:extLst>
          </p:cNvPr>
          <p:cNvSpPr>
            <a:spLocks noGrp="1"/>
          </p:cNvSpPr>
          <p:nvPr/>
        </p:nvSpPr>
        <p:spPr>
          <a:xfrm>
            <a:off x="552450" y="3895725"/>
            <a:ext cx="228600" cy="228600"/>
          </a:xfrm>
          <a:prstGeom prst="ellipse">
            <a:avLst/>
          </a:prstGeom>
          <a:solidFill>
            <a:srgbClr val="E8ECEF"/>
          </a:solidFill>
          <a:ln w="15240">
            <a:solidFill>
              <a:srgbClr val="777777"/>
            </a:solidFill>
            <a:prstDash val="solid"/>
          </a:ln>
        </p:spPr>
        <p:txBody>
          <a:bodyPr/>
          <a:lstStyle/>
          <a:p>
            <a:endParaRPr/>
          </a:p>
        </p:txBody>
      </p:sp>
      <p:sp>
        <p:nvSpPr>
          <p:cNvPr id="18" name="Oval 17">
            <a:extLst>
              <a:ext uri="{FF2B5EF4-FFF2-40B4-BE49-F238E27FC236}">
                <a16:creationId xmlns:a16="http://schemas.microsoft.com/office/drawing/2014/main" id="{62A308A1-DACE-4383-9C9F-56EC1ABE876B}"/>
              </a:ext>
            </a:extLst>
          </p:cNvPr>
          <p:cNvSpPr>
            <a:spLocks noGrp="1"/>
          </p:cNvSpPr>
          <p:nvPr/>
        </p:nvSpPr>
        <p:spPr>
          <a:xfrm>
            <a:off x="895350" y="3895725"/>
            <a:ext cx="228600" cy="228600"/>
          </a:xfrm>
          <a:prstGeom prst="ellipse">
            <a:avLst/>
          </a:prstGeom>
          <a:solidFill>
            <a:srgbClr val="E8ECEF"/>
          </a:solidFill>
          <a:ln w="15240">
            <a:solidFill>
              <a:srgbClr val="777777"/>
            </a:solidFill>
            <a:prstDash val="solid"/>
          </a:ln>
        </p:spPr>
        <p:txBody>
          <a:bodyPr/>
          <a:lstStyle/>
          <a:p>
            <a:endParaRPr/>
          </a:p>
        </p:txBody>
      </p:sp>
      <p:sp>
        <p:nvSpPr>
          <p:cNvPr id="19" name="Oval 18">
            <a:extLst>
              <a:ext uri="{FF2B5EF4-FFF2-40B4-BE49-F238E27FC236}">
                <a16:creationId xmlns:a16="http://schemas.microsoft.com/office/drawing/2014/main" id="{F532BC2B-393A-4988-9DB6-D5C1679E5992}"/>
              </a:ext>
            </a:extLst>
          </p:cNvPr>
          <p:cNvSpPr>
            <a:spLocks noGrp="1"/>
          </p:cNvSpPr>
          <p:nvPr/>
        </p:nvSpPr>
        <p:spPr>
          <a:xfrm>
            <a:off x="1333500" y="3895725"/>
            <a:ext cx="228600" cy="228600"/>
          </a:xfrm>
          <a:prstGeom prst="ellipse">
            <a:avLst/>
          </a:prstGeom>
          <a:solidFill>
            <a:srgbClr val="B45309"/>
          </a:solidFill>
          <a:ln w="15240">
            <a:solidFill>
              <a:srgbClr val="B45309"/>
            </a:solidFill>
            <a:prstDash val="solid"/>
          </a:ln>
        </p:spPr>
        <p:txBody>
          <a:bodyPr/>
          <a:lstStyle/>
          <a:p>
            <a:endParaRPr/>
          </a:p>
        </p:txBody>
      </p:sp>
      <p:sp>
        <p:nvSpPr>
          <p:cNvPr id="20" name="Oval 19">
            <a:extLst>
              <a:ext uri="{FF2B5EF4-FFF2-40B4-BE49-F238E27FC236}">
                <a16:creationId xmlns:a16="http://schemas.microsoft.com/office/drawing/2014/main" id="{3969F120-CB61-4C0C-BD8B-DA3147A0F5B3}"/>
              </a:ext>
            </a:extLst>
          </p:cNvPr>
          <p:cNvSpPr>
            <a:spLocks noGrp="1"/>
          </p:cNvSpPr>
          <p:nvPr/>
        </p:nvSpPr>
        <p:spPr>
          <a:xfrm>
            <a:off x="1628775" y="3895725"/>
            <a:ext cx="228600" cy="228600"/>
          </a:xfrm>
          <a:prstGeom prst="ellipse">
            <a:avLst/>
          </a:prstGeom>
          <a:solidFill>
            <a:srgbClr val="E8ECEF"/>
          </a:solidFill>
          <a:ln w="15240">
            <a:solidFill>
              <a:srgbClr val="777777"/>
            </a:solidFill>
            <a:prstDash val="solid"/>
          </a:ln>
        </p:spPr>
        <p:txBody>
          <a:bodyPr/>
          <a:lstStyle/>
          <a:p>
            <a:endParaRPr/>
          </a:p>
        </p:txBody>
      </p:sp>
      <p:sp>
        <p:nvSpPr>
          <p:cNvPr id="21" name="Oval 20">
            <a:extLst>
              <a:ext uri="{FF2B5EF4-FFF2-40B4-BE49-F238E27FC236}">
                <a16:creationId xmlns:a16="http://schemas.microsoft.com/office/drawing/2014/main" id="{A4C9A583-94F0-4BA9-A1F1-75C831BF51D7}"/>
              </a:ext>
            </a:extLst>
          </p:cNvPr>
          <p:cNvSpPr>
            <a:spLocks noGrp="1"/>
          </p:cNvSpPr>
          <p:nvPr/>
        </p:nvSpPr>
        <p:spPr>
          <a:xfrm>
            <a:off x="2066925" y="3895725"/>
            <a:ext cx="228600" cy="228600"/>
          </a:xfrm>
          <a:prstGeom prst="ellipse">
            <a:avLst/>
          </a:prstGeom>
          <a:solidFill>
            <a:srgbClr val="E8ECEF"/>
          </a:solidFill>
          <a:ln w="15240">
            <a:solidFill>
              <a:srgbClr val="777777"/>
            </a:solidFill>
            <a:prstDash val="solid"/>
          </a:ln>
        </p:spPr>
        <p:txBody>
          <a:bodyPr/>
          <a:lstStyle/>
          <a:p>
            <a:endParaRPr/>
          </a:p>
        </p:txBody>
      </p:sp>
      <p:sp>
        <p:nvSpPr>
          <p:cNvPr id="22" name="Oval 21">
            <a:extLst>
              <a:ext uri="{FF2B5EF4-FFF2-40B4-BE49-F238E27FC236}">
                <a16:creationId xmlns:a16="http://schemas.microsoft.com/office/drawing/2014/main" id="{58B0A4D4-3ED5-482F-8869-E22CB5184AB7}"/>
              </a:ext>
            </a:extLst>
          </p:cNvPr>
          <p:cNvSpPr>
            <a:spLocks noGrp="1"/>
          </p:cNvSpPr>
          <p:nvPr/>
        </p:nvSpPr>
        <p:spPr>
          <a:xfrm>
            <a:off x="2400300" y="3895725"/>
            <a:ext cx="228600" cy="228600"/>
          </a:xfrm>
          <a:prstGeom prst="ellipse">
            <a:avLst/>
          </a:prstGeom>
          <a:solidFill>
            <a:srgbClr val="E8ECEF"/>
          </a:solidFill>
          <a:ln w="15240">
            <a:solidFill>
              <a:srgbClr val="777777"/>
            </a:solidFill>
            <a:prstDash val="solid"/>
          </a:ln>
        </p:spPr>
        <p:txBody>
          <a:bodyPr/>
          <a:lstStyle/>
          <a:p>
            <a:endParaRPr/>
          </a:p>
        </p:txBody>
      </p:sp>
      <p:sp>
        <p:nvSpPr>
          <p:cNvPr id="23" name="Rectangle 22">
            <a:extLst>
              <a:ext uri="{FF2B5EF4-FFF2-40B4-BE49-F238E27FC236}">
                <a16:creationId xmlns:a16="http://schemas.microsoft.com/office/drawing/2014/main" id="{6BBAA5C2-F6E8-401D-A2D4-FF1AE8E4C308}"/>
              </a:ext>
            </a:extLst>
          </p:cNvPr>
          <p:cNvSpPr>
            <a:spLocks noGrp="1"/>
          </p:cNvSpPr>
          <p:nvPr/>
        </p:nvSpPr>
        <p:spPr>
          <a:xfrm>
            <a:off x="3619500" y="3752850"/>
            <a:ext cx="2305050" cy="19050"/>
          </a:xfrm>
          <a:prstGeom prst="rect">
            <a:avLst/>
          </a:prstGeom>
          <a:solidFill>
            <a:srgbClr val="777777"/>
          </a:solidFill>
          <a:ln w="0">
            <a:noFill/>
          </a:ln>
        </p:spPr>
        <p:txBody>
          <a:bodyPr/>
          <a:lstStyle/>
          <a:p>
            <a:endParaRPr/>
          </a:p>
        </p:txBody>
      </p:sp>
      <p:sp>
        <p:nvSpPr>
          <p:cNvPr id="24" name="Rectangle 23">
            <a:extLst>
              <a:ext uri="{FF2B5EF4-FFF2-40B4-BE49-F238E27FC236}">
                <a16:creationId xmlns:a16="http://schemas.microsoft.com/office/drawing/2014/main" id="{D413A0C3-BBFC-414E-B042-F4DB66E7B045}"/>
              </a:ext>
            </a:extLst>
          </p:cNvPr>
          <p:cNvSpPr>
            <a:spLocks noGrp="1"/>
          </p:cNvSpPr>
          <p:nvPr/>
        </p:nvSpPr>
        <p:spPr>
          <a:xfrm>
            <a:off x="3619500" y="4267200"/>
            <a:ext cx="2305050" cy="19050"/>
          </a:xfrm>
          <a:prstGeom prst="rect">
            <a:avLst/>
          </a:prstGeom>
          <a:solidFill>
            <a:srgbClr val="777777"/>
          </a:solidFill>
          <a:ln w="0">
            <a:noFill/>
          </a:ln>
        </p:spPr>
        <p:txBody>
          <a:bodyPr/>
          <a:lstStyle/>
          <a:p>
            <a:endParaRPr/>
          </a:p>
        </p:txBody>
      </p:sp>
      <p:sp>
        <p:nvSpPr>
          <p:cNvPr id="25" name="Oval 24">
            <a:extLst>
              <a:ext uri="{FF2B5EF4-FFF2-40B4-BE49-F238E27FC236}">
                <a16:creationId xmlns:a16="http://schemas.microsoft.com/office/drawing/2014/main" id="{5DDBCCB3-6174-452E-8287-941151DEF8D4}"/>
              </a:ext>
            </a:extLst>
          </p:cNvPr>
          <p:cNvSpPr>
            <a:spLocks noGrp="1"/>
          </p:cNvSpPr>
          <p:nvPr/>
        </p:nvSpPr>
        <p:spPr>
          <a:xfrm>
            <a:off x="3676650" y="3895725"/>
            <a:ext cx="228600" cy="228600"/>
          </a:xfrm>
          <a:prstGeom prst="ellipse">
            <a:avLst/>
          </a:prstGeom>
          <a:solidFill>
            <a:srgbClr val="E8ECEF"/>
          </a:solidFill>
          <a:ln w="15240">
            <a:solidFill>
              <a:srgbClr val="777777"/>
            </a:solidFill>
            <a:prstDash val="solid"/>
          </a:ln>
        </p:spPr>
        <p:txBody>
          <a:bodyPr/>
          <a:lstStyle/>
          <a:p>
            <a:endParaRPr/>
          </a:p>
        </p:txBody>
      </p:sp>
      <p:sp>
        <p:nvSpPr>
          <p:cNvPr id="26" name="Oval 25">
            <a:extLst>
              <a:ext uri="{FF2B5EF4-FFF2-40B4-BE49-F238E27FC236}">
                <a16:creationId xmlns:a16="http://schemas.microsoft.com/office/drawing/2014/main" id="{D83C408D-2753-4A93-B04E-B4BCB093519E}"/>
              </a:ext>
            </a:extLst>
          </p:cNvPr>
          <p:cNvSpPr>
            <a:spLocks noGrp="1"/>
          </p:cNvSpPr>
          <p:nvPr/>
        </p:nvSpPr>
        <p:spPr>
          <a:xfrm>
            <a:off x="3952875" y="3895725"/>
            <a:ext cx="228600" cy="228600"/>
          </a:xfrm>
          <a:prstGeom prst="ellipse">
            <a:avLst/>
          </a:prstGeom>
          <a:solidFill>
            <a:srgbClr val="E8ECEF"/>
          </a:solidFill>
          <a:ln w="15240">
            <a:solidFill>
              <a:srgbClr val="777777"/>
            </a:solidFill>
            <a:prstDash val="solid"/>
          </a:ln>
        </p:spPr>
        <p:txBody>
          <a:bodyPr/>
          <a:lstStyle/>
          <a:p>
            <a:endParaRPr/>
          </a:p>
        </p:txBody>
      </p:sp>
      <p:sp>
        <p:nvSpPr>
          <p:cNvPr id="27" name="Oval 26">
            <a:extLst>
              <a:ext uri="{FF2B5EF4-FFF2-40B4-BE49-F238E27FC236}">
                <a16:creationId xmlns:a16="http://schemas.microsoft.com/office/drawing/2014/main" id="{7E6E7AB3-854B-47DB-9A00-122279DD0A40}"/>
              </a:ext>
            </a:extLst>
          </p:cNvPr>
          <p:cNvSpPr>
            <a:spLocks noGrp="1"/>
          </p:cNvSpPr>
          <p:nvPr/>
        </p:nvSpPr>
        <p:spPr>
          <a:xfrm>
            <a:off x="4676775" y="3895725"/>
            <a:ext cx="228600" cy="228600"/>
          </a:xfrm>
          <a:prstGeom prst="ellipse">
            <a:avLst/>
          </a:prstGeom>
          <a:solidFill>
            <a:srgbClr val="B45309"/>
          </a:solidFill>
          <a:ln w="15240">
            <a:solidFill>
              <a:srgbClr val="B45309"/>
            </a:solidFill>
            <a:prstDash val="solid"/>
          </a:ln>
        </p:spPr>
        <p:txBody>
          <a:bodyPr/>
          <a:lstStyle/>
          <a:p>
            <a:endParaRPr/>
          </a:p>
        </p:txBody>
      </p:sp>
      <p:sp>
        <p:nvSpPr>
          <p:cNvPr id="28" name="Oval 27">
            <a:extLst>
              <a:ext uri="{FF2B5EF4-FFF2-40B4-BE49-F238E27FC236}">
                <a16:creationId xmlns:a16="http://schemas.microsoft.com/office/drawing/2014/main" id="{7C7A7103-E5BA-4F0E-AE18-5C2D9622CBA5}"/>
              </a:ext>
            </a:extLst>
          </p:cNvPr>
          <p:cNvSpPr>
            <a:spLocks noGrp="1"/>
          </p:cNvSpPr>
          <p:nvPr/>
        </p:nvSpPr>
        <p:spPr>
          <a:xfrm>
            <a:off x="4953000" y="3895725"/>
            <a:ext cx="228600" cy="228600"/>
          </a:xfrm>
          <a:prstGeom prst="ellipse">
            <a:avLst/>
          </a:prstGeom>
          <a:solidFill>
            <a:srgbClr val="E8ECEF"/>
          </a:solidFill>
          <a:ln w="15240">
            <a:solidFill>
              <a:srgbClr val="777777"/>
            </a:solidFill>
            <a:prstDash val="solid"/>
          </a:ln>
        </p:spPr>
        <p:txBody>
          <a:bodyPr/>
          <a:lstStyle/>
          <a:p>
            <a:endParaRPr/>
          </a:p>
        </p:txBody>
      </p:sp>
      <p:sp>
        <p:nvSpPr>
          <p:cNvPr id="29" name="Oval 28">
            <a:extLst>
              <a:ext uri="{FF2B5EF4-FFF2-40B4-BE49-F238E27FC236}">
                <a16:creationId xmlns:a16="http://schemas.microsoft.com/office/drawing/2014/main" id="{33DE8FFE-2024-4BA3-8ED3-293C46275BDE}"/>
              </a:ext>
            </a:extLst>
          </p:cNvPr>
          <p:cNvSpPr>
            <a:spLocks noGrp="1"/>
          </p:cNvSpPr>
          <p:nvPr/>
        </p:nvSpPr>
        <p:spPr>
          <a:xfrm>
            <a:off x="5267325" y="3895725"/>
            <a:ext cx="228600" cy="228600"/>
          </a:xfrm>
          <a:prstGeom prst="ellipse">
            <a:avLst/>
          </a:prstGeom>
          <a:solidFill>
            <a:srgbClr val="E8ECEF"/>
          </a:solidFill>
          <a:ln w="15240">
            <a:solidFill>
              <a:srgbClr val="777777"/>
            </a:solidFill>
            <a:prstDash val="solid"/>
          </a:ln>
        </p:spPr>
        <p:txBody>
          <a:bodyPr/>
          <a:lstStyle/>
          <a:p>
            <a:endParaRPr/>
          </a:p>
        </p:txBody>
      </p:sp>
      <p:sp>
        <p:nvSpPr>
          <p:cNvPr id="30" name="Oval 29">
            <a:extLst>
              <a:ext uri="{FF2B5EF4-FFF2-40B4-BE49-F238E27FC236}">
                <a16:creationId xmlns:a16="http://schemas.microsoft.com/office/drawing/2014/main" id="{92D95110-4FA3-45BD-A738-3F39256E8B6A}"/>
              </a:ext>
            </a:extLst>
          </p:cNvPr>
          <p:cNvSpPr>
            <a:spLocks noGrp="1"/>
          </p:cNvSpPr>
          <p:nvPr/>
        </p:nvSpPr>
        <p:spPr>
          <a:xfrm>
            <a:off x="5600700" y="3895725"/>
            <a:ext cx="228600" cy="228600"/>
          </a:xfrm>
          <a:prstGeom prst="ellipse">
            <a:avLst/>
          </a:prstGeom>
          <a:solidFill>
            <a:srgbClr val="E8ECEF"/>
          </a:solidFill>
          <a:ln w="15240">
            <a:solidFill>
              <a:srgbClr val="777777"/>
            </a:solidFill>
            <a:prstDash val="solid"/>
          </a:ln>
        </p:spPr>
        <p:txBody>
          <a:bodyPr/>
          <a:lstStyle/>
          <a:p>
            <a:endParaRPr/>
          </a:p>
        </p:txBody>
      </p:sp>
      <p:sp>
        <p:nvSpPr>
          <p:cNvPr id="31" name="Left-Right Arrow 30">
            <a:extLst>
              <a:ext uri="{FF2B5EF4-FFF2-40B4-BE49-F238E27FC236}">
                <a16:creationId xmlns:a16="http://schemas.microsoft.com/office/drawing/2014/main" id="{084A0D89-582D-44C4-98B7-B310C73D2595}"/>
              </a:ext>
            </a:extLst>
          </p:cNvPr>
          <p:cNvSpPr>
            <a:spLocks noGrp="1"/>
          </p:cNvSpPr>
          <p:nvPr/>
        </p:nvSpPr>
        <p:spPr>
          <a:xfrm>
            <a:off x="2905125" y="3914775"/>
            <a:ext cx="571500" cy="190500"/>
          </a:xfrm>
          <a:prstGeom prst="leftRightArrow">
            <a:avLst/>
          </a:prstGeom>
          <a:solidFill>
            <a:srgbClr val="A50026"/>
          </a:solidFill>
          <a:ln w="0">
            <a:noFill/>
          </a:ln>
        </p:spPr>
        <p:txBody>
          <a:bodyPr/>
          <a:lstStyle/>
          <a:p>
            <a:endParaRPr/>
          </a:p>
        </p:txBody>
      </p:sp>
      <p:sp>
        <p:nvSpPr>
          <p:cNvPr id="32" name="Rectangle 31">
            <a:extLst>
              <a:ext uri="{FF2B5EF4-FFF2-40B4-BE49-F238E27FC236}">
                <a16:creationId xmlns:a16="http://schemas.microsoft.com/office/drawing/2014/main" id="{80CFA7B7-556A-4AFA-A558-012B8CF83F09}"/>
              </a:ext>
            </a:extLst>
          </p:cNvPr>
          <p:cNvSpPr>
            <a:spLocks noGrp="1"/>
          </p:cNvSpPr>
          <p:nvPr/>
        </p:nvSpPr>
        <p:spPr>
          <a:xfrm>
            <a:off x="457200" y="4476750"/>
            <a:ext cx="5467350" cy="304800"/>
          </a:xfrm>
          <a:prstGeom prst="rect">
            <a:avLst/>
          </a:prstGeom>
          <a:noFill/>
          <a:ln w="0">
            <a:noFill/>
          </a:ln>
        </p:spPr>
        <p:txBody>
          <a:bodyPr wrap="square" lIns="0" tIns="0" rIns="0" bIns="0" anchor="t"/>
          <a:lstStyle>
            <a:defPPr algn="ctr">
              <a:defRPr sz="1800" b="0">
                <a:solidFill>
                  <a:srgbClr val="444444"/>
                </a:solidFill>
                <a:latin typeface="Times New Roman"/>
                <a:ea typeface="Times New Roman"/>
                <a:cs typeface="Times New Roman"/>
              </a:defRPr>
            </a:defPPr>
          </a:lstStyle>
          <a:p>
            <a:pPr algn="ctr">
              <a:buNone/>
              <a:defRPr sz="1800" b="0">
                <a:solidFill>
                  <a:srgbClr val="444444"/>
                </a:solidFill>
                <a:latin typeface="Times New Roman"/>
                <a:ea typeface="Times New Roman"/>
                <a:cs typeface="Times New Roman"/>
              </a:defRPr>
            </a:pPr>
            <a:r>
              <a:rPr sz="1800" b="0">
                <a:solidFill>
                  <a:srgbClr val="444444"/>
                </a:solidFill>
                <a:latin typeface="Times New Roman"/>
                <a:ea typeface="Times New Roman"/>
                <a:cs typeface="Times New Roman"/>
              </a:rPr>
              <a:t>Same bead in one run</a:t>
            </a:r>
          </a:p>
        </p:txBody>
      </p:sp>
      <p:sp>
        <p:nvSpPr>
          <p:cNvPr id="33" name="Rectangle 32">
            <a:extLst>
              <a:ext uri="{FF2B5EF4-FFF2-40B4-BE49-F238E27FC236}">
                <a16:creationId xmlns:a16="http://schemas.microsoft.com/office/drawing/2014/main" id="{737B63CA-D7D2-4215-912C-850F09E9709B}"/>
              </a:ext>
            </a:extLst>
          </p:cNvPr>
          <p:cNvSpPr>
            <a:spLocks noGrp="1"/>
          </p:cNvSpPr>
          <p:nvPr/>
        </p:nvSpPr>
        <p:spPr>
          <a:xfrm>
            <a:off x="457200" y="4886325"/>
            <a:ext cx="5467350" cy="352425"/>
          </a:xfrm>
          <a:prstGeom prst="rect">
            <a:avLst/>
          </a:prstGeom>
          <a:noFill/>
          <a:ln w="0">
            <a:noFill/>
          </a:ln>
        </p:spPr>
        <p:txBody>
          <a:bodyPr wrap="square" lIns="0" tIns="0" rIns="0" bIns="0" anchor="t"/>
          <a:lstStyle>
            <a:defPPr algn="ctr">
              <a:defRPr sz="2175" b="1">
                <a:solidFill>
                  <a:srgbClr val="A50026"/>
                </a:solidFill>
                <a:latin typeface="Times New Roman"/>
                <a:ea typeface="Times New Roman"/>
                <a:cs typeface="Times New Roman"/>
              </a:defRPr>
            </a:defPPr>
          </a:lstStyle>
          <a:p>
            <a:pPr algn="ctr">
              <a:buNone/>
              <a:defRPr sz="2175" b="1">
                <a:solidFill>
                  <a:srgbClr val="A50026"/>
                </a:solidFill>
                <a:latin typeface="Times New Roman"/>
                <a:ea typeface="Times New Roman"/>
                <a:cs typeface="Times New Roman"/>
              </a:defRPr>
            </a:pPr>
            <a:r>
              <a:rPr sz="2175" b="1">
                <a:solidFill>
                  <a:srgbClr val="A50026"/>
                </a:solidFill>
                <a:latin typeface="Times New Roman"/>
                <a:ea typeface="Times New Roman"/>
                <a:cs typeface="Times New Roman"/>
              </a:rPr>
              <a:t>The agent overestimates the covariance</a:t>
            </a:r>
          </a:p>
        </p:txBody>
      </p:sp>
      <p:sp>
        <p:nvSpPr>
          <p:cNvPr id="34" name="Rectangle 33">
            <a:extLst>
              <a:ext uri="{FF2B5EF4-FFF2-40B4-BE49-F238E27FC236}">
                <a16:creationId xmlns:a16="http://schemas.microsoft.com/office/drawing/2014/main" id="{9506109F-601E-49E5-BD20-77D45C23A0A6}"/>
              </a:ext>
            </a:extLst>
          </p:cNvPr>
          <p:cNvSpPr>
            <a:spLocks noGrp="1"/>
          </p:cNvSpPr>
          <p:nvPr/>
        </p:nvSpPr>
        <p:spPr>
          <a:xfrm>
            <a:off x="6610350" y="1628775"/>
            <a:ext cx="5124450" cy="371475"/>
          </a:xfrm>
          <a:prstGeom prst="rect">
            <a:avLst/>
          </a:prstGeom>
          <a:noFill/>
          <a:ln w="0">
            <a:noFill/>
          </a:ln>
        </p:spPr>
        <p:txBody>
          <a:bodyPr wrap="square" lIns="0" tIns="0" rIns="0" bIns="0" anchor="t"/>
          <a:lstStyle>
            <a:defPPr algn="l">
              <a:defRPr sz="2325" b="1">
                <a:solidFill>
                  <a:srgbClr val="0F766E"/>
                </a:solidFill>
                <a:latin typeface="Times New Roman"/>
                <a:ea typeface="Times New Roman"/>
                <a:cs typeface="Times New Roman"/>
              </a:defRPr>
            </a:defPPr>
          </a:lstStyle>
          <a:p>
            <a:pPr algn="l">
              <a:buNone/>
              <a:defRPr sz="2325" b="1">
                <a:solidFill>
                  <a:srgbClr val="0F766E"/>
                </a:solidFill>
                <a:latin typeface="Times New Roman"/>
                <a:ea typeface="Times New Roman"/>
                <a:cs typeface="Times New Roman"/>
              </a:defRPr>
            </a:pPr>
            <a:r>
              <a:rPr sz="2325" b="1">
                <a:solidFill>
                  <a:srgbClr val="0F766E"/>
                </a:solidFill>
                <a:latin typeface="Times New Roman"/>
                <a:ea typeface="Times New Roman"/>
                <a:cs typeface="Times New Roman"/>
              </a:rPr>
              <a:t>Fits the measured motion</a:t>
            </a:r>
          </a:p>
        </p:txBody>
      </p:sp>
      <p:sp>
        <p:nvSpPr>
          <p:cNvPr id="35" name="Rectangle 34">
            <a:extLst>
              <a:ext uri="{FF2B5EF4-FFF2-40B4-BE49-F238E27FC236}">
                <a16:creationId xmlns:a16="http://schemas.microsoft.com/office/drawing/2014/main" id="{941F02D7-5787-45E1-8F90-17FA1B625712}"/>
              </a:ext>
            </a:extLst>
          </p:cNvPr>
          <p:cNvSpPr>
            <a:spLocks noGrp="1"/>
          </p:cNvSpPr>
          <p:nvPr/>
        </p:nvSpPr>
        <p:spPr>
          <a:xfrm>
            <a:off x="6610350" y="2143125"/>
            <a:ext cx="5124450" cy="742950"/>
          </a:xfrm>
          <a:prstGeom prst="rect">
            <a:avLst/>
          </a:prstGeom>
          <a:noFill/>
          <a:ln w="0">
            <a:noFill/>
          </a:ln>
        </p:spPr>
        <p:txBody>
          <a:bodyPr wrap="square" lIns="0" tIns="0" rIns="0" bIns="0" anchor="t"/>
          <a:lstStyle>
            <a:defPPr algn="l">
              <a:defRPr sz="2175" b="0">
                <a:solidFill>
                  <a:srgbClr val="111111"/>
                </a:solidFill>
                <a:latin typeface="Times New Roman"/>
                <a:ea typeface="Times New Roman"/>
                <a:cs typeface="Times New Roman"/>
              </a:defRPr>
            </a:defPPr>
          </a:lstStyle>
          <a:p>
            <a:pPr algn="l">
              <a:buNone/>
              <a:defRPr sz="2175" b="0">
                <a:solidFill>
                  <a:srgbClr val="111111"/>
                </a:solidFill>
                <a:latin typeface="Times New Roman"/>
                <a:ea typeface="Times New Roman"/>
                <a:cs typeface="Times New Roman"/>
              </a:defRPr>
            </a:pPr>
            <a:r>
              <a:rPr sz="2175" b="0">
                <a:solidFill>
                  <a:srgbClr val="111111"/>
                </a:solidFill>
                <a:latin typeface="Times New Roman"/>
                <a:ea typeface="Times New Roman"/>
                <a:cs typeface="Times New Roman"/>
              </a:rPr>
              <a:t>Adjusts how far the bead wanders</a:t>
            </a:r>
          </a:p>
          <a:p>
            <a:pPr algn="l">
              <a:buNone/>
              <a:defRPr sz="2175" b="0">
                <a:solidFill>
                  <a:srgbClr val="111111"/>
                </a:solidFill>
                <a:latin typeface="Times New Roman"/>
                <a:ea typeface="Times New Roman"/>
                <a:cs typeface="Times New Roman"/>
              </a:defRPr>
            </a:pPr>
            <a:r>
              <a:rPr sz="2175" b="0">
                <a:solidFill>
                  <a:srgbClr val="111111"/>
                </a:solidFill>
                <a:latin typeface="Times New Roman"/>
                <a:ea typeface="Times New Roman"/>
                <a:cs typeface="Times New Roman"/>
              </a:rPr>
              <a:t>at each observation time.</a:t>
            </a:r>
          </a:p>
        </p:txBody>
      </p:sp>
      <p:sp>
        <p:nvSpPr>
          <p:cNvPr id="36" name="Rectangle 35">
            <a:extLst>
              <a:ext uri="{FF2B5EF4-FFF2-40B4-BE49-F238E27FC236}">
                <a16:creationId xmlns:a16="http://schemas.microsoft.com/office/drawing/2014/main" id="{BB95EC0A-29BC-48DF-8D71-281CA0886E16}"/>
              </a:ext>
            </a:extLst>
          </p:cNvPr>
          <p:cNvSpPr>
            <a:spLocks noGrp="1"/>
          </p:cNvSpPr>
          <p:nvPr/>
        </p:nvSpPr>
        <p:spPr>
          <a:xfrm>
            <a:off x="6610350" y="3286125"/>
            <a:ext cx="5124450" cy="400050"/>
          </a:xfrm>
          <a:prstGeom prst="rect">
            <a:avLst/>
          </a:prstGeom>
          <a:noFill/>
          <a:ln w="0">
            <a:noFill/>
          </a:ln>
        </p:spPr>
        <p:txBody>
          <a:bodyPr wrap="square" lIns="0" tIns="0" rIns="0" bIns="0" anchor="t"/>
          <a:lstStyle>
            <a:defPPr algn="l">
              <a:defRPr sz="2250" b="1">
                <a:solidFill>
                  <a:srgbClr val="A50026"/>
                </a:solidFill>
                <a:latin typeface="Times New Roman"/>
                <a:ea typeface="Times New Roman"/>
                <a:cs typeface="Times New Roman"/>
              </a:defRPr>
            </a:defPPr>
          </a:lstStyle>
          <a:p>
            <a:pPr algn="l">
              <a:buNone/>
              <a:defRPr sz="2250" b="1">
                <a:solidFill>
                  <a:srgbClr val="A50026"/>
                </a:solidFill>
                <a:latin typeface="Times New Roman"/>
                <a:ea typeface="Times New Roman"/>
                <a:cs typeface="Times New Roman"/>
              </a:defRPr>
            </a:pPr>
            <a:r>
              <a:rPr sz="2250" b="1">
                <a:solidFill>
                  <a:srgbClr val="A50026"/>
                </a:solidFill>
                <a:latin typeface="Times New Roman"/>
                <a:ea typeface="Times New Roman"/>
                <a:cs typeface="Times New Roman"/>
              </a:rPr>
              <a:t>Misses the effect of the starting row</a:t>
            </a:r>
          </a:p>
        </p:txBody>
      </p:sp>
      <p:sp>
        <p:nvSpPr>
          <p:cNvPr id="37" name="Rectangle 36">
            <a:extLst>
              <a:ext uri="{FF2B5EF4-FFF2-40B4-BE49-F238E27FC236}">
                <a16:creationId xmlns:a16="http://schemas.microsoft.com/office/drawing/2014/main" id="{EC6D5905-D6B4-4632-95EA-E52D9EB81E11}"/>
              </a:ext>
            </a:extLst>
          </p:cNvPr>
          <p:cNvSpPr>
            <a:spLocks noGrp="1"/>
          </p:cNvSpPr>
          <p:nvPr/>
        </p:nvSpPr>
        <p:spPr>
          <a:xfrm>
            <a:off x="6610350" y="3819525"/>
            <a:ext cx="5124450" cy="1057275"/>
          </a:xfrm>
          <a:prstGeom prst="rect">
            <a:avLst/>
          </a:prstGeom>
          <a:noFill/>
          <a:ln w="0">
            <a:noFill/>
          </a:ln>
        </p:spPr>
        <p:txBody>
          <a:bodyPr wrap="square" lIns="0" tIns="0" rIns="0" bIns="0" anchor="t"/>
          <a:lstStyle>
            <a:defPPr algn="l">
              <a:defRPr sz="2175" b="0">
                <a:solidFill>
                  <a:srgbClr val="111111"/>
                </a:solidFill>
                <a:latin typeface="Times New Roman"/>
                <a:ea typeface="Times New Roman"/>
                <a:cs typeface="Times New Roman"/>
              </a:defRPr>
            </a:defPPr>
          </a:lstStyle>
          <a:p>
            <a:pPr algn="l">
              <a:buNone/>
              <a:defRPr sz="2175" b="0">
                <a:solidFill>
                  <a:srgbClr val="111111"/>
                </a:solidFill>
                <a:latin typeface="Times New Roman"/>
                <a:ea typeface="Times New Roman"/>
                <a:cs typeface="Times New Roman"/>
              </a:defRPr>
            </a:pPr>
            <a:r>
              <a:rPr sz="2175" b="0">
                <a:solidFill>
                  <a:srgbClr val="111111"/>
                </a:solidFill>
                <a:latin typeface="Times New Roman"/>
                <a:ea typeface="Times New Roman"/>
                <a:cs typeface="Times New Roman"/>
              </a:rPr>
              <a:t>Keeps the starter’s rule for </a:t>
            </a:r>
            <a:r>
              <a:rPr sz="2175">
                <a:solidFill>
                  <a:srgbClr val="111111"/>
                </a:solidFill>
                <a:latin typeface="Times New Roman"/>
                <a:ea typeface="Times New Roman"/>
                <a:cs typeface="Times New Roman"/>
              </a:rPr>
              <a:t>correlate</a:t>
            </a:r>
            <a:endParaRPr sz="2175" b="0">
              <a:solidFill>
                <a:srgbClr val="111111"/>
              </a:solidFill>
              <a:latin typeface="Times New Roman"/>
              <a:ea typeface="Times New Roman"/>
              <a:cs typeface="Times New Roman"/>
            </a:endParaRPr>
          </a:p>
          <a:p>
            <a:pPr algn="l">
              <a:buNone/>
              <a:defRPr sz="2175" b="0">
                <a:solidFill>
                  <a:srgbClr val="111111"/>
                </a:solidFill>
                <a:latin typeface="Times New Roman"/>
                <a:ea typeface="Times New Roman"/>
                <a:cs typeface="Times New Roman"/>
              </a:defRPr>
            </a:pPr>
            <a:r>
              <a:rPr sz="2175" b="0">
                <a:solidFill>
                  <a:srgbClr val="111111"/>
                </a:solidFill>
                <a:latin typeface="Times New Roman"/>
                <a:ea typeface="Times New Roman"/>
                <a:cs typeface="Times New Roman"/>
              </a:rPr>
              <a:t>its early and later positions.</a:t>
            </a:r>
          </a:p>
          <a:p>
            <a:pPr algn="l">
              <a:buNone/>
              <a:defRPr sz="2175" b="0">
                <a:solidFill>
                  <a:srgbClr val="111111"/>
                </a:solidFill>
                <a:latin typeface="Times New Roman"/>
                <a:ea typeface="Times New Roman"/>
                <a:cs typeface="Times New Roman"/>
              </a:defRPr>
            </a:pPr>
            <a:r>
              <a:rPr sz="2175" b="0">
                <a:solidFill>
                  <a:srgbClr val="111111"/>
                </a:solidFill>
                <a:latin typeface="Times New Roman"/>
                <a:ea typeface="Times New Roman"/>
                <a:cs typeface="Times New Roman"/>
              </a:rPr>
              <a:t>That rule makes the </a:t>
            </a:r>
            <a:r>
              <a:rPr sz="2175">
                <a:solidFill>
                  <a:srgbClr val="111111"/>
                </a:solidFill>
                <a:latin typeface="Times New Roman"/>
                <a:ea typeface="Times New Roman"/>
                <a:cs typeface="Times New Roman"/>
              </a:rPr>
              <a:t>correlation</a:t>
            </a:r>
            <a:r>
              <a:rPr sz="2175" b="0">
                <a:solidFill>
                  <a:srgbClr val="111111"/>
                </a:solidFill>
                <a:latin typeface="Times New Roman"/>
                <a:ea typeface="Times New Roman"/>
                <a:cs typeface="Times New Roman"/>
              </a:rPr>
              <a:t> too strong.</a:t>
            </a:r>
          </a:p>
        </p:txBody>
      </p:sp>
      <p:sp>
        <p:nvSpPr>
          <p:cNvPr id="38" name="Rectangle 37">
            <a:extLst>
              <a:ext uri="{FF2B5EF4-FFF2-40B4-BE49-F238E27FC236}">
                <a16:creationId xmlns:a16="http://schemas.microsoft.com/office/drawing/2014/main" id="{B430F3E2-3BE0-4DA7-AFF9-D384305F98EB}"/>
              </a:ext>
            </a:extLst>
          </p:cNvPr>
          <p:cNvSpPr>
            <a:spLocks noGrp="1"/>
          </p:cNvSpPr>
          <p:nvPr/>
        </p:nvSpPr>
        <p:spPr>
          <a:xfrm>
            <a:off x="457200" y="5476875"/>
            <a:ext cx="11277600" cy="12383"/>
          </a:xfrm>
          <a:prstGeom prst="rect">
            <a:avLst/>
          </a:prstGeom>
          <a:solidFill>
            <a:srgbClr val="D1D5DB"/>
          </a:solidFill>
          <a:ln w="0">
            <a:noFill/>
          </a:ln>
        </p:spPr>
        <p:txBody>
          <a:bodyPr/>
          <a:lstStyle/>
          <a:p>
            <a:endParaRPr/>
          </a:p>
        </p:txBody>
      </p:sp>
      <p:sp>
        <p:nvSpPr>
          <p:cNvPr id="39" name="Rectangle 38">
            <a:extLst>
              <a:ext uri="{FF2B5EF4-FFF2-40B4-BE49-F238E27FC236}">
                <a16:creationId xmlns:a16="http://schemas.microsoft.com/office/drawing/2014/main" id="{66A75466-E52D-47F7-AC02-3EC78F3F82E0}"/>
              </a:ext>
            </a:extLst>
          </p:cNvPr>
          <p:cNvSpPr>
            <a:spLocks noGrp="1"/>
          </p:cNvSpPr>
          <p:nvPr/>
        </p:nvSpPr>
        <p:spPr>
          <a:xfrm>
            <a:off x="457200" y="5686425"/>
            <a:ext cx="11277600" cy="381000"/>
          </a:xfrm>
          <a:prstGeom prst="rect">
            <a:avLst/>
          </a:prstGeom>
          <a:noFill/>
          <a:ln w="0">
            <a:noFill/>
          </a:ln>
        </p:spPr>
        <p:txBody>
          <a:bodyPr wrap="square" lIns="0" tIns="0" rIns="0" bIns="0" anchor="t"/>
          <a:lstStyle>
            <a:defPPr algn="l">
              <a:defRPr sz="2325" b="1">
                <a:solidFill>
                  <a:srgbClr val="111111"/>
                </a:solidFill>
                <a:latin typeface="Times New Roman"/>
                <a:ea typeface="Times New Roman"/>
                <a:cs typeface="Times New Roman"/>
              </a:defRPr>
            </a:defPPr>
          </a:lstStyle>
          <a:p>
            <a:pPr algn="l">
              <a:buNone/>
              <a:defRPr sz="2325" b="1">
                <a:solidFill>
                  <a:srgbClr val="111111"/>
                </a:solidFill>
                <a:latin typeface="Times New Roman"/>
                <a:ea typeface="Times New Roman"/>
                <a:cs typeface="Times New Roman"/>
              </a:defRPr>
            </a:pPr>
            <a:r>
              <a:rPr sz="2325" b="1">
                <a:solidFill>
                  <a:srgbClr val="111111"/>
                </a:solidFill>
                <a:latin typeface="Times New Roman"/>
                <a:ea typeface="Times New Roman"/>
                <a:cs typeface="Times New Roman"/>
              </a:rPr>
              <a:t>Fits the supplied data. New predictions are wrong by up to 136%.</a:t>
            </a:r>
          </a:p>
        </p:txBody>
      </p:sp>
      <p:sp>
        <p:nvSpPr>
          <p:cNvPr id="40" name="Rectangle 39">
            <a:extLst>
              <a:ext uri="{FF2B5EF4-FFF2-40B4-BE49-F238E27FC236}">
                <a16:creationId xmlns:a16="http://schemas.microsoft.com/office/drawing/2014/main" id="{3AEAE191-3FA4-4FC7-AA83-11EAD6F2EF2A}"/>
              </a:ext>
            </a:extLst>
          </p:cNvPr>
          <p:cNvSpPr>
            <a:spLocks noGrp="1"/>
          </p:cNvSpPr>
          <p:nvPr/>
        </p:nvSpPr>
        <p:spPr>
          <a:xfrm>
            <a:off x="457200" y="6191250"/>
            <a:ext cx="11277600" cy="285750"/>
          </a:xfrm>
          <a:prstGeom prst="rect">
            <a:avLst/>
          </a:prstGeom>
          <a:noFill/>
          <a:ln w="0">
            <a:noFill/>
          </a:ln>
        </p:spPr>
        <p:txBody>
          <a:bodyPr wrap="square" lIns="0" tIns="0" rIns="0" bIns="0" anchor="t"/>
          <a:lstStyle>
            <a:defPPr algn="l">
              <a:defRPr sz="1425" b="0">
                <a:solidFill>
                  <a:srgbClr val="777777"/>
                </a:solidFill>
                <a:latin typeface="Times New Roman"/>
                <a:ea typeface="Times New Roman"/>
                <a:cs typeface="Times New Roman"/>
              </a:defRPr>
            </a:defPPr>
          </a:lstStyle>
          <a:p>
            <a:pPr algn="l">
              <a:buNone/>
              <a:defRPr sz="1425" b="0">
                <a:solidFill>
                  <a:srgbClr val="777777"/>
                </a:solidFill>
                <a:latin typeface="Times New Roman"/>
                <a:ea typeface="Times New Roman"/>
                <a:cs typeface="Times New Roman"/>
              </a:defRPr>
            </a:pPr>
            <a:r>
              <a:rPr sz="1425" b="0">
                <a:solidFill>
                  <a:srgbClr val="777777"/>
                </a:solidFill>
                <a:latin typeface="Times New Roman"/>
                <a:ea typeface="Times New Roman"/>
                <a:cs typeface="Times New Roman"/>
              </a:rPr>
              <a:t>Allowed error: 4%. Schematic positions. The link describes averages across repeated runs.</a:t>
            </a:r>
          </a:p>
        </p:txBody>
      </p:sp>
      <p:sp>
        <p:nvSpPr>
          <p:cNvPr id="41" name="Rectangle 40">
            <a:extLst>
              <a:ext uri="{FF2B5EF4-FFF2-40B4-BE49-F238E27FC236}">
                <a16:creationId xmlns:a16="http://schemas.microsoft.com/office/drawing/2014/main" id="{72B33178-FBED-4B95-AC40-7C6C81162659}"/>
              </a:ext>
            </a:extLst>
          </p:cNvPr>
          <p:cNvSpPr>
            <a:spLocks noGrp="1"/>
          </p:cNvSpPr>
          <p:nvPr/>
        </p:nvSpPr>
        <p:spPr>
          <a:xfrm>
            <a:off x="11201400" y="6477000"/>
            <a:ext cx="533400" cy="190500"/>
          </a:xfrm>
          <a:prstGeom prst="rect">
            <a:avLst/>
          </a:prstGeom>
          <a:noFill/>
          <a:ln w="0">
            <a:noFill/>
          </a:ln>
        </p:spPr>
        <p:txBody>
          <a:bodyPr wrap="square" lIns="0" tIns="0" rIns="0" bIns="0" anchor="t"/>
          <a:lstStyle>
            <a:defPPr algn="r">
              <a:defRPr sz="1200" b="0">
                <a:solidFill>
                  <a:srgbClr val="777777"/>
                </a:solidFill>
                <a:latin typeface="Times New Roman"/>
                <a:ea typeface="Times New Roman"/>
                <a:cs typeface="Times New Roman"/>
              </a:defRPr>
            </a:defPPr>
          </a:lstStyle>
          <a:p>
            <a:pPr algn="r">
              <a:buNone/>
              <a:defRPr sz="1200" b="0">
                <a:solidFill>
                  <a:srgbClr val="777777"/>
                </a:solidFill>
                <a:latin typeface="Times New Roman"/>
                <a:ea typeface="Times New Roman"/>
                <a:cs typeface="Times New Roman"/>
              </a:defRPr>
            </a:pPr>
            <a:r>
              <a:rPr sz="1200" b="0">
                <a:solidFill>
                  <a:srgbClr val="777777"/>
                </a:solidFill>
                <a:latin typeface="Times New Roman"/>
                <a:ea typeface="Times New Roman"/>
                <a:cs typeface="Times New Roman"/>
              </a:rPr>
              <a:t>10</a:t>
            </a:r>
          </a:p>
        </p:txBody>
      </p:sp>
    </p:spTree>
    <p:extLst>
      <p:ext uri="{BB962C8B-B14F-4D97-AF65-F5344CB8AC3E}">
        <p14:creationId xmlns:p14="http://schemas.microsoft.com/office/powerpoint/2010/main" val="7878986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10E50B44-48E6-416C-9860-3C03878314C7}"/>
              </a:ext>
            </a:extLst>
          </p:cNvPr>
          <p:cNvSpPr>
            <a:spLocks noGrp="1"/>
          </p:cNvSpPr>
          <p:nvPr/>
        </p:nvSpPr>
        <p:spPr>
          <a:xfrm>
            <a:off x="457200" y="209550"/>
            <a:ext cx="11277600" cy="638175"/>
          </a:xfrm>
          <a:prstGeom prst="rect">
            <a:avLst/>
          </a:prstGeom>
          <a:noFill/>
          <a:ln w="0">
            <a:noFill/>
          </a:ln>
        </p:spPr>
        <p:txBody>
          <a:bodyPr wrap="square" lIns="0" tIns="0" rIns="0" bIns="0" anchor="t"/>
          <a:lstStyle>
            <a:defPPr algn="l">
              <a:defRPr sz="3600" b="1">
                <a:solidFill>
                  <a:srgbClr val="111111"/>
                </a:solidFill>
                <a:latin typeface="Times New Roman"/>
                <a:ea typeface="Times New Roman"/>
                <a:cs typeface="Times New Roman"/>
              </a:defRPr>
            </a:defPPr>
          </a:lstStyle>
          <a:p>
            <a:pPr algn="l">
              <a:buNone/>
              <a:defRPr sz="3600" b="1">
                <a:solidFill>
                  <a:srgbClr val="111111"/>
                </a:solidFill>
                <a:latin typeface="Times New Roman"/>
                <a:ea typeface="Times New Roman"/>
                <a:cs typeface="Times New Roman"/>
              </a:defRPr>
            </a:pPr>
            <a:r>
              <a:rPr sz="3600" b="1">
                <a:solidFill>
                  <a:srgbClr val="111111"/>
                </a:solidFill>
                <a:latin typeface="Times New Roman"/>
                <a:ea typeface="Times New Roman"/>
                <a:cs typeface="Times New Roman"/>
              </a:rPr>
              <a:t>Conclusions</a:t>
            </a:r>
          </a:p>
        </p:txBody>
      </p:sp>
      <p:sp>
        <p:nvSpPr>
          <p:cNvPr id="2" name="Rectangle 1">
            <a:extLst>
              <a:ext uri="{FF2B5EF4-FFF2-40B4-BE49-F238E27FC236}">
                <a16:creationId xmlns:a16="http://schemas.microsoft.com/office/drawing/2014/main" id="{9AFB84F0-75DD-4F99-9444-0BF9DFCD2BEB}"/>
              </a:ext>
            </a:extLst>
          </p:cNvPr>
          <p:cNvSpPr>
            <a:spLocks noGrp="1"/>
          </p:cNvSpPr>
          <p:nvPr/>
        </p:nvSpPr>
        <p:spPr>
          <a:xfrm>
            <a:off x="609600" y="1609725"/>
            <a:ext cx="11125200" cy="495300"/>
          </a:xfrm>
          <a:prstGeom prst="rect">
            <a:avLst/>
          </a:prstGeom>
          <a:noFill/>
          <a:ln w="0">
            <a:noFill/>
          </a:ln>
        </p:spPr>
        <p:txBody>
          <a:bodyPr wrap="square" lIns="0" tIns="0" rIns="0" bIns="0" anchor="t"/>
          <a:lstStyle>
            <a:defPPr algn="l">
              <a:defRPr sz="2550" b="1">
                <a:solidFill>
                  <a:srgbClr val="111111"/>
                </a:solidFill>
                <a:latin typeface="Times New Roman"/>
                <a:ea typeface="Times New Roman"/>
                <a:cs typeface="Times New Roman"/>
              </a:defRPr>
            </a:defPPr>
          </a:lstStyle>
          <a:p>
            <a:pPr algn="l">
              <a:buNone/>
              <a:defRPr sz="2550" b="1">
                <a:solidFill>
                  <a:srgbClr val="111111"/>
                </a:solidFill>
                <a:latin typeface="Times New Roman"/>
                <a:ea typeface="Times New Roman"/>
                <a:cs typeface="Times New Roman"/>
              </a:defRPr>
            </a:pPr>
            <a:r>
              <a:rPr sz="2550" b="1">
                <a:solidFill>
                  <a:srgbClr val="111111"/>
                </a:solidFill>
                <a:latin typeface="Times New Roman"/>
                <a:ea typeface="Times New Roman"/>
                <a:cs typeface="Times New Roman"/>
              </a:rPr>
              <a:t>A good fit can hide the wrong physical model</a:t>
            </a:r>
          </a:p>
        </p:txBody>
      </p:sp>
      <p:sp>
        <p:nvSpPr>
          <p:cNvPr id="3" name="Rectangle 2">
            <a:extLst>
              <a:ext uri="{FF2B5EF4-FFF2-40B4-BE49-F238E27FC236}">
                <a16:creationId xmlns:a16="http://schemas.microsoft.com/office/drawing/2014/main" id="{0B2C7386-EAD4-4C99-88E7-41B295B555FC}"/>
              </a:ext>
            </a:extLst>
          </p:cNvPr>
          <p:cNvSpPr>
            <a:spLocks noGrp="1"/>
          </p:cNvSpPr>
          <p:nvPr/>
        </p:nvSpPr>
        <p:spPr>
          <a:xfrm>
            <a:off x="609600" y="2219325"/>
            <a:ext cx="11125200" cy="628650"/>
          </a:xfrm>
          <a:prstGeom prst="rect">
            <a:avLst/>
          </a:prstGeom>
          <a:noFill/>
          <a:ln w="0">
            <a:noFill/>
          </a:ln>
        </p:spPr>
        <p:txBody>
          <a:bodyPr wrap="square" lIns="0" tIns="0" rIns="0" bIns="0" anchor="t"/>
          <a:lstStyle>
            <a:defPPr algn="l">
              <a:defRPr sz="2175" b="0">
                <a:solidFill>
                  <a:srgbClr val="444444"/>
                </a:solidFill>
                <a:latin typeface="Times New Roman"/>
                <a:ea typeface="Times New Roman"/>
                <a:cs typeface="Times New Roman"/>
              </a:defRPr>
            </a:defPPr>
          </a:lstStyle>
          <a:p>
            <a:pPr algn="l">
              <a:buNone/>
              <a:defRPr sz="2175" b="0">
                <a:solidFill>
                  <a:srgbClr val="444444"/>
                </a:solidFill>
                <a:latin typeface="Times New Roman"/>
                <a:ea typeface="Times New Roman"/>
                <a:cs typeface="Times New Roman"/>
              </a:defRPr>
            </a:pPr>
            <a:r>
              <a:rPr sz="2175" b="0">
                <a:solidFill>
                  <a:srgbClr val="444444"/>
                </a:solidFill>
                <a:latin typeface="Times New Roman"/>
                <a:ea typeface="Times New Roman"/>
                <a:cs typeface="Times New Roman"/>
              </a:rPr>
              <a:t>The bead example fits the data but gets the link between two times wrong.</a:t>
            </a:r>
          </a:p>
        </p:txBody>
      </p:sp>
      <p:sp>
        <p:nvSpPr>
          <p:cNvPr id="4" name="Rectangle 3">
            <a:extLst>
              <a:ext uri="{FF2B5EF4-FFF2-40B4-BE49-F238E27FC236}">
                <a16:creationId xmlns:a16="http://schemas.microsoft.com/office/drawing/2014/main" id="{6ACA5743-0522-4422-A526-56BBA71F09D6}"/>
              </a:ext>
            </a:extLst>
          </p:cNvPr>
          <p:cNvSpPr>
            <a:spLocks noGrp="1"/>
          </p:cNvSpPr>
          <p:nvPr/>
        </p:nvSpPr>
        <p:spPr>
          <a:xfrm>
            <a:off x="609600" y="3257550"/>
            <a:ext cx="11125200" cy="495300"/>
          </a:xfrm>
          <a:prstGeom prst="rect">
            <a:avLst/>
          </a:prstGeom>
          <a:noFill/>
          <a:ln w="0">
            <a:noFill/>
          </a:ln>
        </p:spPr>
        <p:txBody>
          <a:bodyPr wrap="square" lIns="0" tIns="0" rIns="0" bIns="0" anchor="t"/>
          <a:lstStyle>
            <a:defPPr algn="l">
              <a:defRPr sz="2550" b="1">
                <a:solidFill>
                  <a:srgbClr val="111111"/>
                </a:solidFill>
                <a:latin typeface="Times New Roman"/>
                <a:ea typeface="Times New Roman"/>
                <a:cs typeface="Times New Roman"/>
              </a:defRPr>
            </a:defPPr>
          </a:lstStyle>
          <a:p>
            <a:pPr algn="l">
              <a:buNone/>
              <a:defRPr sz="2550" b="1">
                <a:solidFill>
                  <a:srgbClr val="111111"/>
                </a:solidFill>
                <a:latin typeface="Times New Roman"/>
                <a:ea typeface="Times New Roman"/>
                <a:cs typeface="Times New Roman"/>
              </a:defRPr>
            </a:pPr>
            <a:r>
              <a:rPr sz="2550" b="1">
                <a:solidFill>
                  <a:srgbClr val="111111"/>
                </a:solidFill>
                <a:latin typeface="Times New Roman"/>
                <a:ea typeface="Times New Roman"/>
                <a:cs typeface="Times New Roman"/>
              </a:rPr>
              <a:t>Cost, reasoning effort, and completion all matter</a:t>
            </a:r>
          </a:p>
        </p:txBody>
      </p:sp>
      <p:sp>
        <p:nvSpPr>
          <p:cNvPr id="5" name="Rectangle 4">
            <a:extLst>
              <a:ext uri="{FF2B5EF4-FFF2-40B4-BE49-F238E27FC236}">
                <a16:creationId xmlns:a16="http://schemas.microsoft.com/office/drawing/2014/main" id="{2B6D1906-A7F2-4178-AA65-A670BAAA2EE4}"/>
              </a:ext>
            </a:extLst>
          </p:cNvPr>
          <p:cNvSpPr>
            <a:spLocks noGrp="1"/>
          </p:cNvSpPr>
          <p:nvPr/>
        </p:nvSpPr>
        <p:spPr>
          <a:xfrm>
            <a:off x="609600" y="3867150"/>
            <a:ext cx="11125200" cy="628650"/>
          </a:xfrm>
          <a:prstGeom prst="rect">
            <a:avLst/>
          </a:prstGeom>
          <a:noFill/>
          <a:ln w="0">
            <a:noFill/>
          </a:ln>
        </p:spPr>
        <p:txBody>
          <a:bodyPr wrap="square" lIns="0" tIns="0" rIns="0" bIns="0" anchor="t"/>
          <a:lstStyle>
            <a:defPPr algn="l">
              <a:defRPr sz="2175" b="0">
                <a:solidFill>
                  <a:srgbClr val="444444"/>
                </a:solidFill>
                <a:latin typeface="Times New Roman"/>
                <a:ea typeface="Times New Roman"/>
                <a:cs typeface="Times New Roman"/>
              </a:defRPr>
            </a:defPPr>
          </a:lstStyle>
          <a:p>
            <a:pPr algn="l">
              <a:buNone/>
              <a:defRPr sz="2175" b="0">
                <a:solidFill>
                  <a:srgbClr val="444444"/>
                </a:solidFill>
                <a:latin typeface="Times New Roman"/>
                <a:ea typeface="Times New Roman"/>
                <a:cs typeface="Times New Roman"/>
              </a:defRPr>
            </a:pPr>
            <a:r>
              <a:rPr sz="2175" b="0">
                <a:solidFill>
                  <a:srgbClr val="444444"/>
                </a:solidFill>
                <a:latin typeface="Times New Roman"/>
                <a:ea typeface="Times New Roman"/>
                <a:cs typeface="Times New Roman"/>
              </a:rPr>
              <a:t>Sol 6 Low and High reach the high-success end of the observed no-hint frontier.</a:t>
            </a:r>
          </a:p>
        </p:txBody>
      </p:sp>
      <p:sp>
        <p:nvSpPr>
          <p:cNvPr id="6" name="Rectangle 5">
            <a:extLst>
              <a:ext uri="{FF2B5EF4-FFF2-40B4-BE49-F238E27FC236}">
                <a16:creationId xmlns:a16="http://schemas.microsoft.com/office/drawing/2014/main" id="{5D605833-9C79-493D-84E5-16F6E9A05EBF}"/>
              </a:ext>
            </a:extLst>
          </p:cNvPr>
          <p:cNvSpPr>
            <a:spLocks noGrp="1"/>
          </p:cNvSpPr>
          <p:nvPr/>
        </p:nvSpPr>
        <p:spPr>
          <a:xfrm>
            <a:off x="609600" y="4905375"/>
            <a:ext cx="11125200" cy="495300"/>
          </a:xfrm>
          <a:prstGeom prst="rect">
            <a:avLst/>
          </a:prstGeom>
          <a:noFill/>
          <a:ln w="0">
            <a:noFill/>
          </a:ln>
        </p:spPr>
        <p:txBody>
          <a:bodyPr wrap="square" lIns="0" tIns="0" rIns="0" bIns="0" anchor="t"/>
          <a:lstStyle>
            <a:defPPr algn="l">
              <a:defRPr sz="2550" b="1">
                <a:solidFill>
                  <a:srgbClr val="111111"/>
                </a:solidFill>
                <a:latin typeface="Times New Roman"/>
                <a:ea typeface="Times New Roman"/>
                <a:cs typeface="Times New Roman"/>
              </a:defRPr>
            </a:defPPr>
          </a:lstStyle>
          <a:p>
            <a:pPr algn="l">
              <a:buNone/>
              <a:defRPr sz="2550" b="1">
                <a:solidFill>
                  <a:srgbClr val="111111"/>
                </a:solidFill>
                <a:latin typeface="Times New Roman"/>
                <a:ea typeface="Times New Roman"/>
                <a:cs typeface="Times New Roman"/>
              </a:defRPr>
            </a:pPr>
            <a:r>
              <a:rPr sz="2550" b="1">
                <a:solidFill>
                  <a:srgbClr val="111111"/>
                </a:solidFill>
                <a:latin typeface="Times New Roman"/>
                <a:ea typeface="Times New Roman"/>
                <a:cs typeface="Times New Roman"/>
              </a:rPr>
              <a:t>Physics hints show the highest observed success</a:t>
            </a:r>
          </a:p>
        </p:txBody>
      </p:sp>
      <p:sp>
        <p:nvSpPr>
          <p:cNvPr id="7" name="Rectangle 6">
            <a:extLst>
              <a:ext uri="{FF2B5EF4-FFF2-40B4-BE49-F238E27FC236}">
                <a16:creationId xmlns:a16="http://schemas.microsoft.com/office/drawing/2014/main" id="{4FB740C6-2A78-43B4-94E0-F1DA4CC2609E}"/>
              </a:ext>
            </a:extLst>
          </p:cNvPr>
          <p:cNvSpPr>
            <a:spLocks noGrp="1"/>
          </p:cNvSpPr>
          <p:nvPr/>
        </p:nvSpPr>
        <p:spPr>
          <a:xfrm>
            <a:off x="609600" y="5514975"/>
            <a:ext cx="11125200" cy="457200"/>
          </a:xfrm>
          <a:prstGeom prst="rect">
            <a:avLst/>
          </a:prstGeom>
          <a:noFill/>
          <a:ln w="0">
            <a:noFill/>
          </a:ln>
        </p:spPr>
        <p:txBody>
          <a:bodyPr wrap="square" lIns="0" tIns="0" rIns="0" bIns="0" anchor="t"/>
          <a:lstStyle>
            <a:defPPr algn="l">
              <a:defRPr sz="2175" b="0">
                <a:solidFill>
                  <a:srgbClr val="444444"/>
                </a:solidFill>
                <a:latin typeface="Times New Roman"/>
                <a:ea typeface="Times New Roman"/>
                <a:cs typeface="Times New Roman"/>
              </a:defRPr>
            </a:defPPr>
          </a:lstStyle>
          <a:p>
            <a:pPr algn="l">
              <a:buNone/>
              <a:defRPr sz="2175" b="0">
                <a:solidFill>
                  <a:srgbClr val="444444"/>
                </a:solidFill>
                <a:latin typeface="Times New Roman"/>
                <a:ea typeface="Times New Roman"/>
                <a:cs typeface="Times New Roman"/>
              </a:defRPr>
            </a:pPr>
            <a:r>
              <a:rPr sz="2175" b="0">
                <a:solidFill>
                  <a:srgbClr val="444444"/>
                </a:solidFill>
                <a:latin typeface="Times New Roman"/>
                <a:ea typeface="Times New Roman"/>
                <a:cs typeface="Times New Roman"/>
              </a:rPr>
              <a:t>Local High study: Luna 32/39 and Terra 36/39 with physics hints.</a:t>
            </a:r>
          </a:p>
        </p:txBody>
      </p:sp>
      <p:sp>
        <p:nvSpPr>
          <p:cNvPr id="10" name="Rectangle 9">
            <a:extLst>
              <a:ext uri="{FF2B5EF4-FFF2-40B4-BE49-F238E27FC236}">
                <a16:creationId xmlns:a16="http://schemas.microsoft.com/office/drawing/2014/main" id="{CE164575-2928-4D3E-956F-8803F36A47D9}"/>
              </a:ext>
            </a:extLst>
          </p:cNvPr>
          <p:cNvSpPr>
            <a:spLocks noGrp="1"/>
          </p:cNvSpPr>
          <p:nvPr/>
        </p:nvSpPr>
        <p:spPr>
          <a:xfrm>
            <a:off x="11201400" y="6477000"/>
            <a:ext cx="533400" cy="190500"/>
          </a:xfrm>
          <a:prstGeom prst="rect">
            <a:avLst/>
          </a:prstGeom>
          <a:noFill/>
          <a:ln w="0">
            <a:noFill/>
          </a:ln>
        </p:spPr>
        <p:txBody>
          <a:bodyPr wrap="square" lIns="0" tIns="0" rIns="0" bIns="0" anchor="t"/>
          <a:lstStyle>
            <a:defPPr algn="l">
              <a:defRPr sz="1200" b="0">
                <a:solidFill>
                  <a:srgbClr val="777777"/>
                </a:solidFill>
                <a:latin typeface="Times New Roman"/>
                <a:ea typeface="Times New Roman"/>
                <a:cs typeface="Times New Roman"/>
              </a:defRPr>
            </a:defPPr>
          </a:lstStyle>
          <a:p>
            <a:pPr algn="l">
              <a:buNone/>
              <a:defRPr sz="1200" b="0">
                <a:solidFill>
                  <a:srgbClr val="777777"/>
                </a:solidFill>
                <a:latin typeface="Times New Roman"/>
                <a:ea typeface="Times New Roman"/>
                <a:cs typeface="Times New Roman"/>
              </a:defRPr>
            </a:pPr>
            <a:r>
              <a:rPr sz="1200" b="0">
                <a:solidFill>
                  <a:srgbClr val="777777"/>
                </a:solidFill>
                <a:latin typeface="Times New Roman"/>
                <a:ea typeface="Times New Roman"/>
                <a:cs typeface="Times New Roman"/>
              </a:rPr>
              <a:t>11</a:t>
            </a:r>
          </a:p>
        </p:txBody>
      </p:sp>
      <p:sp>
        <p:nvSpPr>
          <p:cNvPr id="11" name="Rectangle 10">
            <a:extLst>
              <a:ext uri="{FF2B5EF4-FFF2-40B4-BE49-F238E27FC236}">
                <a16:creationId xmlns:a16="http://schemas.microsoft.com/office/drawing/2014/main" id="{E2E9581D-4F91-4E69-95AB-5DE8D8167A5A}"/>
              </a:ext>
            </a:extLst>
          </p:cNvPr>
          <p:cNvSpPr>
            <a:spLocks noGrp="1"/>
          </p:cNvSpPr>
          <p:nvPr/>
        </p:nvSpPr>
        <p:spPr>
          <a:xfrm>
            <a:off x="609600" y="6115050"/>
            <a:ext cx="10858500" cy="276225"/>
          </a:xfrm>
          <a:prstGeom prst="rect">
            <a:avLst/>
          </a:prstGeom>
          <a:noFill/>
          <a:ln w="0">
            <a:noFill/>
          </a:ln>
        </p:spPr>
        <p:txBody>
          <a:bodyPr wrap="square" lIns="0" tIns="0" rIns="0" bIns="0" anchor="t"/>
          <a:lstStyle>
            <a:defPPr>
              <a:defRPr sz="1575" b="0">
                <a:solidFill>
                  <a:srgbClr val="777777"/>
                </a:solidFill>
                <a:latin typeface="Times New Roman"/>
                <a:ea typeface="Times New Roman"/>
                <a:cs typeface="Times New Roman"/>
              </a:defRPr>
            </a:defPPr>
          </a:lstStyle>
          <a:p>
            <a:pPr>
              <a:buNone/>
              <a:defRPr sz="1575" b="0">
                <a:solidFill>
                  <a:srgbClr val="777777"/>
                </a:solidFill>
                <a:latin typeface="Times New Roman"/>
                <a:ea typeface="Times New Roman"/>
                <a:cs typeface="Times New Roman"/>
              </a:defRPr>
            </a:pPr>
            <a:r>
              <a:rPr sz="1575" b="0">
                <a:solidFill>
                  <a:srgbClr val="777777"/>
                </a:solidFill>
                <a:latin typeface="Times New Roman"/>
                <a:ea typeface="Times New Roman"/>
                <a:cs typeface="Times New Roman"/>
              </a:rPr>
              <a:t>Historical controls and runtime differences limit causal claims. DeepSeek has many execution errors.</a:t>
            </a:r>
          </a:p>
        </p:txBody>
      </p:sp>
    </p:spTree>
    <p:extLst>
      <p:ext uri="{BB962C8B-B14F-4D97-AF65-F5344CB8AC3E}">
        <p14:creationId xmlns:p14="http://schemas.microsoft.com/office/powerpoint/2010/main" val="54984282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B0B0F"/>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9447901-9249-469C-A67F-257239997CC0}"/>
              </a:ext>
            </a:extLst>
          </p:cNvPr>
          <p:cNvSpPr>
            <a:spLocks noGrp="1"/>
          </p:cNvSpPr>
          <p:nvPr/>
        </p:nvSpPr>
        <p:spPr>
          <a:xfrm>
            <a:off x="609600" y="2333625"/>
            <a:ext cx="10477500" cy="952500"/>
          </a:xfrm>
          <a:prstGeom prst="rect">
            <a:avLst/>
          </a:prstGeom>
          <a:noFill/>
          <a:ln w="0">
            <a:noFill/>
          </a:ln>
        </p:spPr>
        <p:txBody>
          <a:bodyPr wrap="square" lIns="0" tIns="0" rIns="0" bIns="0" anchor="t"/>
          <a:lstStyle>
            <a:defPPr algn="l">
              <a:defRPr sz="5700" b="1" i="0">
                <a:solidFill>
                  <a:srgbClr val="FFFFFF"/>
                </a:solidFill>
                <a:latin typeface="Times New Roman"/>
                <a:ea typeface="Times New Roman"/>
                <a:cs typeface="Times New Roman"/>
              </a:defRPr>
            </a:defPPr>
          </a:lstStyle>
          <a:p>
            <a:pPr algn="l">
              <a:buNone/>
              <a:defRPr sz="5700" b="1" i="0">
                <a:solidFill>
                  <a:srgbClr val="FFFFFF"/>
                </a:solidFill>
                <a:latin typeface="Times New Roman"/>
                <a:ea typeface="Times New Roman"/>
                <a:cs typeface="Times New Roman"/>
              </a:defRPr>
            </a:pPr>
            <a:r>
              <a:rPr sz="5700" b="1" i="0">
                <a:solidFill>
                  <a:srgbClr val="FFFFFF"/>
                </a:solidFill>
                <a:latin typeface="Times New Roman"/>
                <a:ea typeface="Times New Roman"/>
                <a:cs typeface="Times New Roman"/>
              </a:rPr>
              <a:t>Questions</a:t>
            </a:r>
          </a:p>
        </p:txBody>
      </p:sp>
      <p:sp>
        <p:nvSpPr>
          <p:cNvPr id="2" name="Rectangle 1">
            <a:extLst>
              <a:ext uri="{FF2B5EF4-FFF2-40B4-BE49-F238E27FC236}">
                <a16:creationId xmlns:a16="http://schemas.microsoft.com/office/drawing/2014/main" id="{2AE705A4-0FC6-405B-B3A2-4281C7C3DE5F}"/>
              </a:ext>
            </a:extLst>
          </p:cNvPr>
          <p:cNvSpPr>
            <a:spLocks noGrp="1"/>
          </p:cNvSpPr>
          <p:nvPr/>
        </p:nvSpPr>
        <p:spPr>
          <a:xfrm>
            <a:off x="609600" y="3667125"/>
            <a:ext cx="7620000" cy="476250"/>
          </a:xfrm>
          <a:prstGeom prst="rect">
            <a:avLst/>
          </a:prstGeom>
          <a:noFill/>
          <a:ln w="0">
            <a:noFill/>
          </a:ln>
        </p:spPr>
        <p:txBody>
          <a:bodyPr wrap="square" lIns="0" tIns="0" rIns="0" bIns="0" anchor="t"/>
          <a:lstStyle>
            <a:defPPr algn="l">
              <a:defRPr sz="2400" b="0" i="0">
                <a:solidFill>
                  <a:srgbClr val="D1D5DB"/>
                </a:solidFill>
                <a:latin typeface="Times New Roman"/>
                <a:ea typeface="Times New Roman"/>
                <a:cs typeface="Times New Roman"/>
              </a:defRPr>
            </a:defPPr>
          </a:lstStyle>
          <a:p>
            <a:pPr algn="l">
              <a:buNone/>
              <a:defRPr sz="2400" b="0" i="0">
                <a:solidFill>
                  <a:srgbClr val="D1D5DB"/>
                </a:solidFill>
                <a:latin typeface="Times New Roman"/>
                <a:ea typeface="Times New Roman"/>
                <a:cs typeface="Times New Roman"/>
              </a:defRPr>
            </a:pPr>
            <a:r>
              <a:rPr sz="2400" b="0" i="0">
                <a:solidFill>
                  <a:srgbClr val="D1D5DB"/>
                </a:solidFill>
                <a:latin typeface="Times New Roman"/>
                <a:ea typeface="Times New Roman"/>
                <a:cs typeface="Times New Roman"/>
              </a:rPr>
              <a:t>3 minutes</a:t>
            </a:r>
          </a:p>
        </p:txBody>
      </p:sp>
    </p:spTree>
    <p:extLst>
      <p:ext uri="{BB962C8B-B14F-4D97-AF65-F5344CB8AC3E}">
        <p14:creationId xmlns:p14="http://schemas.microsoft.com/office/powerpoint/2010/main" val="47159999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8547441D-9E7C-446E-9907-F2E07DAC68B8}"/>
              </a:ext>
            </a:extLst>
          </p:cNvPr>
          <p:cNvSpPr>
            <a:spLocks noGrp="1"/>
          </p:cNvSpPr>
          <p:nvPr/>
        </p:nvSpPr>
        <p:spPr>
          <a:xfrm>
            <a:off x="457200" y="209550"/>
            <a:ext cx="11277600" cy="638175"/>
          </a:xfrm>
          <a:prstGeom prst="rect">
            <a:avLst/>
          </a:prstGeom>
          <a:noFill/>
          <a:ln w="0">
            <a:noFill/>
          </a:ln>
        </p:spPr>
        <p:txBody>
          <a:bodyPr wrap="square" lIns="0" tIns="0" rIns="0" bIns="0" anchor="t"/>
          <a:lstStyle>
            <a:defPPr algn="l">
              <a:defRPr sz="3600" b="1" i="0">
                <a:solidFill>
                  <a:srgbClr val="111111"/>
                </a:solidFill>
                <a:latin typeface="Times New Roman"/>
                <a:ea typeface="Times New Roman"/>
                <a:cs typeface="Times New Roman"/>
              </a:defRPr>
            </a:defPPr>
          </a:lstStyle>
          <a:p>
            <a:pPr algn="l">
              <a:buNone/>
              <a:defRPr sz="3600" b="1" i="0">
                <a:solidFill>
                  <a:srgbClr val="111111"/>
                </a:solidFill>
                <a:latin typeface="Times New Roman"/>
                <a:ea typeface="Times New Roman"/>
                <a:cs typeface="Times New Roman"/>
              </a:defRPr>
            </a:pPr>
            <a:r>
              <a:rPr sz="3600" b="1" i="0">
                <a:solidFill>
                  <a:srgbClr val="111111"/>
                </a:solidFill>
                <a:latin typeface="Times New Roman"/>
                <a:ea typeface="Times New Roman"/>
                <a:cs typeface="Times New Roman"/>
              </a:rPr>
              <a:t>Backup: all complete no-hint settings</a:t>
            </a:r>
          </a:p>
        </p:txBody>
      </p:sp>
      <p:sp>
        <p:nvSpPr>
          <p:cNvPr id="2" name="Rectangle 1">
            <a:extLst>
              <a:ext uri="{FF2B5EF4-FFF2-40B4-BE49-F238E27FC236}">
                <a16:creationId xmlns:a16="http://schemas.microsoft.com/office/drawing/2014/main" id="{615984E6-F9CE-4148-9384-268D33D7F223}"/>
              </a:ext>
            </a:extLst>
          </p:cNvPr>
          <p:cNvSpPr>
            <a:spLocks noGrp="1"/>
          </p:cNvSpPr>
          <p:nvPr/>
        </p:nvSpPr>
        <p:spPr>
          <a:xfrm>
            <a:off x="457200" y="914400"/>
            <a:ext cx="11277600" cy="457200"/>
          </a:xfrm>
          <a:prstGeom prst="rect">
            <a:avLst/>
          </a:prstGeom>
          <a:noFill/>
          <a:ln w="0">
            <a:noFill/>
          </a:ln>
        </p:spPr>
        <p:txBody>
          <a:bodyPr wrap="square" lIns="0" tIns="0" rIns="0" bIns="0" anchor="t"/>
          <a:lstStyle>
            <a:defPPr algn="l">
              <a:defRPr sz="1875" b="0" i="0">
                <a:solidFill>
                  <a:srgbClr val="444444"/>
                </a:solidFill>
                <a:latin typeface="Times New Roman"/>
                <a:ea typeface="Times New Roman"/>
                <a:cs typeface="Times New Roman"/>
              </a:defRPr>
            </a:defPPr>
          </a:lstStyle>
          <a:p>
            <a:pPr algn="l">
              <a:buNone/>
              <a:defRPr sz="1875" b="0" i="0">
                <a:solidFill>
                  <a:srgbClr val="444444"/>
                </a:solidFill>
                <a:latin typeface="Times New Roman"/>
                <a:ea typeface="Times New Roman"/>
                <a:cs typeface="Times New Roman"/>
              </a:defRPr>
            </a:pPr>
            <a:r>
              <a:rPr sz="1875" b="0" i="0">
                <a:solidFill>
                  <a:srgbClr val="444444"/>
                </a:solidFill>
                <a:latin typeface="Times New Roman"/>
                <a:ea typeface="Times New Roman"/>
                <a:cs typeface="Times New Roman"/>
              </a:rPr>
              <a:t>Original sweep only. Costs are estimated USD per attempt.</a:t>
            </a:r>
          </a:p>
        </p:txBody>
      </p:sp>
      <p:graphicFrame>
        <p:nvGraphicFramePr>
          <p:cNvPr id="4" name="Table 3">
            <a:extLst>
              <a:ext uri="{FF2B5EF4-FFF2-40B4-BE49-F238E27FC236}">
                <a16:creationId xmlns:a16="http://schemas.microsoft.com/office/drawing/2014/main" id="{6008D2E5-1F96-47C2-8F17-78F8235F2B07}"/>
              </a:ext>
            </a:extLst>
          </p:cNvPr>
          <p:cNvGraphicFramePr/>
          <p:nvPr/>
        </p:nvGraphicFramePr>
        <p:xfrm>
          <a:off x="457200" y="1533525"/>
          <a:ext cx="11277601" cy="4267200"/>
        </p:xfrm>
        <a:graphic>
          <a:graphicData uri="http://schemas.openxmlformats.org/drawingml/2006/table">
            <a:tbl>
              <a:tblPr/>
              <a:tblGrid>
                <a:gridCol w="3483657">
                  <a:extLst>
                    <a:ext uri="{9D8B030D-6E8A-4147-A177-3AD203B41FA5}">
                      <a16:colId xmlns:a16="http://schemas.microsoft.com/office/drawing/2014/main" val="20000"/>
                    </a:ext>
                  </a:extLst>
                </a:gridCol>
                <a:gridCol w="2066576">
                  <a:extLst>
                    <a:ext uri="{9D8B030D-6E8A-4147-A177-3AD203B41FA5}">
                      <a16:colId xmlns:a16="http://schemas.microsoft.com/office/drawing/2014/main" val="20001"/>
                    </a:ext>
                  </a:extLst>
                </a:gridCol>
                <a:gridCol w="1377717">
                  <a:extLst>
                    <a:ext uri="{9D8B030D-6E8A-4147-A177-3AD203B41FA5}">
                      <a16:colId xmlns:a16="http://schemas.microsoft.com/office/drawing/2014/main" val="20002"/>
                    </a:ext>
                  </a:extLst>
                </a:gridCol>
                <a:gridCol w="2332279">
                  <a:extLst>
                    <a:ext uri="{9D8B030D-6E8A-4147-A177-3AD203B41FA5}">
                      <a16:colId xmlns:a16="http://schemas.microsoft.com/office/drawing/2014/main" val="20003"/>
                    </a:ext>
                  </a:extLst>
                </a:gridCol>
                <a:gridCol w="2017372">
                  <a:extLst>
                    <a:ext uri="{9D8B030D-6E8A-4147-A177-3AD203B41FA5}">
                      <a16:colId xmlns:a16="http://schemas.microsoft.com/office/drawing/2014/main" val="20004"/>
                    </a:ext>
                  </a:extLst>
                </a:gridCol>
              </a:tblGrid>
              <a:tr h="266700">
                <a:tc>
                  <a:txBody>
                    <a:bodyPr/>
                    <a:lstStyle/>
                    <a:p>
                      <a:r>
                        <a:rPr sz="1500" b="1">
                          <a:solidFill>
                            <a:srgbClr val="FFFFFF"/>
                          </a:solidFill>
                          <a:latin typeface="Times New Roman"/>
                          <a:ea typeface="Times New Roman"/>
                          <a:cs typeface="Times New Roman"/>
                        </a:rPr>
                        <a:t>Model</a:t>
                      </a:r>
                    </a:p>
                  </a:txBody>
                  <a:tcPr marL="114300" marR="114300" marT="19050" marB="19050" anchor="ctr">
                    <a:lnL w="5715">
                      <a:solidFill>
                        <a:srgbClr val="C7CBD1"/>
                      </a:solidFill>
                      <a:prstDash val="solid"/>
                    </a:lnL>
                    <a:lnR w="5715">
                      <a:solidFill>
                        <a:srgbClr val="C7CBD1"/>
                      </a:solidFill>
                      <a:prstDash val="solid"/>
                    </a:lnR>
                    <a:lnT w="5715">
                      <a:solidFill>
                        <a:srgbClr val="C7CBD1"/>
                      </a:solidFill>
                      <a:prstDash val="solid"/>
                    </a:lnT>
                    <a:lnB w="5715">
                      <a:solidFill>
                        <a:srgbClr val="C7CBD1"/>
                      </a:solidFill>
                      <a:prstDash val="solid"/>
                    </a:lnB>
                    <a:solidFill>
                      <a:srgbClr val="374151"/>
                    </a:solidFill>
                  </a:tcPr>
                </a:tc>
                <a:tc>
                  <a:txBody>
                    <a:bodyPr/>
                    <a:lstStyle/>
                    <a:p>
                      <a:r>
                        <a:rPr sz="1500" b="1">
                          <a:solidFill>
                            <a:srgbClr val="FFFFFF"/>
                          </a:solidFill>
                          <a:latin typeface="Times New Roman"/>
                          <a:ea typeface="Times New Roman"/>
                          <a:cs typeface="Times New Roman"/>
                        </a:rPr>
                        <a:t>Effort</a:t>
                      </a:r>
                    </a:p>
                  </a:txBody>
                  <a:tcPr marL="114300" marR="114300" marT="19050" marB="19050" anchor="ctr">
                    <a:lnL w="5715" cmpd="sng">
                      <a:solidFill>
                        <a:srgbClr val="C7CBD1"/>
                      </a:solidFill>
                      <a:prstDash val="solid"/>
                    </a:lnL>
                    <a:lnR w="5715">
                      <a:solidFill>
                        <a:srgbClr val="C7CBD1"/>
                      </a:solidFill>
                      <a:prstDash val="solid"/>
                    </a:lnR>
                    <a:lnT w="5715">
                      <a:solidFill>
                        <a:srgbClr val="C7CBD1"/>
                      </a:solidFill>
                      <a:prstDash val="solid"/>
                    </a:lnT>
                    <a:lnB w="5715">
                      <a:solidFill>
                        <a:srgbClr val="C7CBD1"/>
                      </a:solidFill>
                      <a:prstDash val="solid"/>
                    </a:lnB>
                    <a:solidFill>
                      <a:srgbClr val="374151"/>
                    </a:solidFill>
                  </a:tcPr>
                </a:tc>
                <a:tc>
                  <a:txBody>
                    <a:bodyPr/>
                    <a:lstStyle/>
                    <a:p>
                      <a:r>
                        <a:rPr sz="1500" b="1">
                          <a:solidFill>
                            <a:srgbClr val="FFFFFF"/>
                          </a:solidFill>
                          <a:latin typeface="Times New Roman"/>
                          <a:ea typeface="Times New Roman"/>
                          <a:cs typeface="Times New Roman"/>
                        </a:rPr>
                        <a:t>Passes</a:t>
                      </a:r>
                    </a:p>
                  </a:txBody>
                  <a:tcPr marL="114300" marR="114300" marT="19050" marB="19050" anchor="ctr">
                    <a:lnL w="5715" cmpd="sng">
                      <a:solidFill>
                        <a:srgbClr val="C7CBD1"/>
                      </a:solidFill>
                      <a:prstDash val="solid"/>
                    </a:lnL>
                    <a:lnR w="5715">
                      <a:solidFill>
                        <a:srgbClr val="C7CBD1"/>
                      </a:solidFill>
                      <a:prstDash val="solid"/>
                    </a:lnR>
                    <a:lnT w="5715">
                      <a:solidFill>
                        <a:srgbClr val="C7CBD1"/>
                      </a:solidFill>
                      <a:prstDash val="solid"/>
                    </a:lnT>
                    <a:lnB w="5715">
                      <a:solidFill>
                        <a:srgbClr val="C7CBD1"/>
                      </a:solidFill>
                      <a:prstDash val="solid"/>
                    </a:lnB>
                    <a:solidFill>
                      <a:srgbClr val="374151"/>
                    </a:solidFill>
                  </a:tcPr>
                </a:tc>
                <a:tc>
                  <a:txBody>
                    <a:bodyPr/>
                    <a:lstStyle/>
                    <a:p>
                      <a:r>
                        <a:rPr sz="1500" b="1">
                          <a:solidFill>
                            <a:srgbClr val="FFFFFF"/>
                          </a:solidFill>
                          <a:latin typeface="Times New Roman"/>
                          <a:ea typeface="Times New Roman"/>
                          <a:cs typeface="Times New Roman"/>
                        </a:rPr>
                        <a:t>Execution errors</a:t>
                      </a:r>
                    </a:p>
                  </a:txBody>
                  <a:tcPr marL="114300" marR="114300" marT="19050" marB="19050" anchor="ctr">
                    <a:lnL w="5715" cmpd="sng">
                      <a:solidFill>
                        <a:srgbClr val="C7CBD1"/>
                      </a:solidFill>
                      <a:prstDash val="solid"/>
                    </a:lnL>
                    <a:lnR w="5715">
                      <a:solidFill>
                        <a:srgbClr val="C7CBD1"/>
                      </a:solidFill>
                      <a:prstDash val="solid"/>
                    </a:lnR>
                    <a:lnT w="5715">
                      <a:solidFill>
                        <a:srgbClr val="C7CBD1"/>
                      </a:solidFill>
                      <a:prstDash val="solid"/>
                    </a:lnT>
                    <a:lnB w="5715">
                      <a:solidFill>
                        <a:srgbClr val="C7CBD1"/>
                      </a:solidFill>
                      <a:prstDash val="solid"/>
                    </a:lnB>
                    <a:solidFill>
                      <a:srgbClr val="374151"/>
                    </a:solidFill>
                  </a:tcPr>
                </a:tc>
                <a:tc>
                  <a:txBody>
                    <a:bodyPr/>
                    <a:lstStyle/>
                    <a:p>
                      <a:r>
                        <a:rPr sz="1500" b="1">
                          <a:solidFill>
                            <a:srgbClr val="FFFFFF"/>
                          </a:solidFill>
                          <a:latin typeface="Times New Roman"/>
                          <a:ea typeface="Times New Roman"/>
                          <a:cs typeface="Times New Roman"/>
                        </a:rPr>
                        <a:t>Mean cost</a:t>
                      </a:r>
                    </a:p>
                  </a:txBody>
                  <a:tcPr marL="114300" marR="114300" marT="19050" marB="19050" anchor="ctr">
                    <a:lnL w="5715" cmpd="sng">
                      <a:solidFill>
                        <a:srgbClr val="C7CBD1"/>
                      </a:solidFill>
                      <a:prstDash val="solid"/>
                    </a:lnL>
                    <a:lnR w="5715">
                      <a:solidFill>
                        <a:srgbClr val="C7CBD1"/>
                      </a:solidFill>
                      <a:prstDash val="solid"/>
                    </a:lnR>
                    <a:lnT w="5715">
                      <a:solidFill>
                        <a:srgbClr val="C7CBD1"/>
                      </a:solidFill>
                      <a:prstDash val="solid"/>
                    </a:lnT>
                    <a:lnB w="5715">
                      <a:solidFill>
                        <a:srgbClr val="C7CBD1"/>
                      </a:solidFill>
                      <a:prstDash val="solid"/>
                    </a:lnB>
                    <a:solidFill>
                      <a:srgbClr val="374151"/>
                    </a:solidFill>
                  </a:tcPr>
                </a:tc>
                <a:extLst>
                  <a:ext uri="{0D108BD9-81ED-4DB2-BD59-A6C34878D82A}">
                    <a16:rowId xmlns:a16="http://schemas.microsoft.com/office/drawing/2014/main" val="10000"/>
                  </a:ext>
                </a:extLst>
              </a:tr>
              <a:tr h="266700">
                <a:tc>
                  <a:txBody>
                    <a:bodyPr/>
                    <a:lstStyle/>
                    <a:p>
                      <a:r>
                        <a:rPr sz="1500" b="0">
                          <a:solidFill>
                            <a:srgbClr val="111111"/>
                          </a:solidFill>
                          <a:latin typeface="Times New Roman"/>
                          <a:ea typeface="Times New Roman"/>
                          <a:cs typeface="Times New Roman"/>
                        </a:rPr>
                        <a:t>GPT-6 Luna</a:t>
                      </a:r>
                    </a:p>
                  </a:txBody>
                  <a:tcPr marL="114300" marR="114300" marT="19050" marB="19050" anchor="ctr">
                    <a:lnL w="5715">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FFFFF"/>
                    </a:solidFill>
                  </a:tcPr>
                </a:tc>
                <a:tc>
                  <a:txBody>
                    <a:bodyPr/>
                    <a:lstStyle/>
                    <a:p>
                      <a:r>
                        <a:rPr sz="1500" b="0">
                          <a:solidFill>
                            <a:srgbClr val="111111"/>
                          </a:solidFill>
                          <a:latin typeface="Times New Roman"/>
                          <a:ea typeface="Times New Roman"/>
                          <a:cs typeface="Times New Roman"/>
                        </a:rPr>
                        <a:t>Low</a:t>
                      </a:r>
                    </a:p>
                  </a:txBody>
                  <a:tcPr marL="114300" marR="114300" marT="19050" marB="19050" anchor="ctr">
                    <a:lnL w="5715" cmpd="sng">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FFFFF"/>
                    </a:solidFill>
                  </a:tcPr>
                </a:tc>
                <a:tc>
                  <a:txBody>
                    <a:bodyPr/>
                    <a:lstStyle/>
                    <a:p>
                      <a:r>
                        <a:rPr sz="1500" b="0">
                          <a:solidFill>
                            <a:srgbClr val="111111"/>
                          </a:solidFill>
                          <a:latin typeface="Times New Roman"/>
                          <a:ea typeface="Times New Roman"/>
                          <a:cs typeface="Times New Roman"/>
                        </a:rPr>
                        <a:t>4/39</a:t>
                      </a:r>
                    </a:p>
                  </a:txBody>
                  <a:tcPr marL="114300" marR="114300" marT="19050" marB="19050" anchor="ctr">
                    <a:lnL w="5715" cmpd="sng">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FFFFF"/>
                    </a:solidFill>
                  </a:tcPr>
                </a:tc>
                <a:tc>
                  <a:txBody>
                    <a:bodyPr/>
                    <a:lstStyle/>
                    <a:p>
                      <a:r>
                        <a:rPr sz="1500" b="0">
                          <a:solidFill>
                            <a:srgbClr val="111111"/>
                          </a:solidFill>
                          <a:latin typeface="Times New Roman"/>
                          <a:ea typeface="Times New Roman"/>
                          <a:cs typeface="Times New Roman"/>
                        </a:rPr>
                        <a:t>0</a:t>
                      </a:r>
                    </a:p>
                  </a:txBody>
                  <a:tcPr marL="114300" marR="114300" marT="19050" marB="19050" anchor="ctr">
                    <a:lnL w="5715" cmpd="sng">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FFFFF"/>
                    </a:solidFill>
                  </a:tcPr>
                </a:tc>
                <a:tc>
                  <a:txBody>
                    <a:bodyPr/>
                    <a:lstStyle/>
                    <a:p>
                      <a:r>
                        <a:rPr sz="1500" b="0">
                          <a:solidFill>
                            <a:srgbClr val="111111"/>
                          </a:solidFill>
                          <a:latin typeface="Times New Roman"/>
                          <a:ea typeface="Times New Roman"/>
                          <a:cs typeface="Times New Roman"/>
                        </a:rPr>
                        <a:t>$0.0040</a:t>
                      </a:r>
                    </a:p>
                  </a:txBody>
                  <a:tcPr marL="114300" marR="114300" marT="19050" marB="19050" anchor="ctr">
                    <a:lnL w="5715" cmpd="sng">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FFFFF"/>
                    </a:solidFill>
                  </a:tcPr>
                </a:tc>
                <a:extLst>
                  <a:ext uri="{0D108BD9-81ED-4DB2-BD59-A6C34878D82A}">
                    <a16:rowId xmlns:a16="http://schemas.microsoft.com/office/drawing/2014/main" val="10001"/>
                  </a:ext>
                </a:extLst>
              </a:tr>
              <a:tr h="266700">
                <a:tc>
                  <a:txBody>
                    <a:bodyPr/>
                    <a:lstStyle/>
                    <a:p>
                      <a:r>
                        <a:rPr sz="1500" b="0">
                          <a:solidFill>
                            <a:srgbClr val="111111"/>
                          </a:solidFill>
                          <a:latin typeface="Times New Roman"/>
                          <a:ea typeface="Times New Roman"/>
                          <a:cs typeface="Times New Roman"/>
                        </a:rPr>
                        <a:t>GPT-6 Luna</a:t>
                      </a:r>
                    </a:p>
                  </a:txBody>
                  <a:tcPr marL="114300" marR="114300" marT="19050" marB="19050" anchor="ctr">
                    <a:lnL w="5715">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3F4F6"/>
                    </a:solidFill>
                  </a:tcPr>
                </a:tc>
                <a:tc>
                  <a:txBody>
                    <a:bodyPr/>
                    <a:lstStyle/>
                    <a:p>
                      <a:r>
                        <a:rPr sz="1500" b="0">
                          <a:solidFill>
                            <a:srgbClr val="111111"/>
                          </a:solidFill>
                          <a:latin typeface="Times New Roman"/>
                          <a:ea typeface="Times New Roman"/>
                          <a:cs typeface="Times New Roman"/>
                        </a:rPr>
                        <a:t>High</a:t>
                      </a:r>
                    </a:p>
                  </a:txBody>
                  <a:tcPr marL="114300" marR="114300" marT="19050" marB="19050" anchor="ctr">
                    <a:lnL w="5715" cmpd="sng">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3F4F6"/>
                    </a:solidFill>
                  </a:tcPr>
                </a:tc>
                <a:tc>
                  <a:txBody>
                    <a:bodyPr/>
                    <a:lstStyle/>
                    <a:p>
                      <a:r>
                        <a:rPr sz="1500" b="0">
                          <a:solidFill>
                            <a:srgbClr val="111111"/>
                          </a:solidFill>
                          <a:latin typeface="Times New Roman"/>
                          <a:ea typeface="Times New Roman"/>
                          <a:cs typeface="Times New Roman"/>
                        </a:rPr>
                        <a:t>1/39</a:t>
                      </a:r>
                    </a:p>
                  </a:txBody>
                  <a:tcPr marL="114300" marR="114300" marT="19050" marB="19050" anchor="ctr">
                    <a:lnL w="5715" cmpd="sng">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3F4F6"/>
                    </a:solidFill>
                  </a:tcPr>
                </a:tc>
                <a:tc>
                  <a:txBody>
                    <a:bodyPr/>
                    <a:lstStyle/>
                    <a:p>
                      <a:r>
                        <a:rPr sz="1500" b="0">
                          <a:solidFill>
                            <a:srgbClr val="111111"/>
                          </a:solidFill>
                          <a:latin typeface="Times New Roman"/>
                          <a:ea typeface="Times New Roman"/>
                          <a:cs typeface="Times New Roman"/>
                        </a:rPr>
                        <a:t>0</a:t>
                      </a:r>
                    </a:p>
                  </a:txBody>
                  <a:tcPr marL="114300" marR="114300" marT="19050" marB="19050" anchor="ctr">
                    <a:lnL w="5715" cmpd="sng">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3F4F6"/>
                    </a:solidFill>
                  </a:tcPr>
                </a:tc>
                <a:tc>
                  <a:txBody>
                    <a:bodyPr/>
                    <a:lstStyle/>
                    <a:p>
                      <a:r>
                        <a:rPr sz="1500" b="0">
                          <a:solidFill>
                            <a:srgbClr val="111111"/>
                          </a:solidFill>
                          <a:latin typeface="Times New Roman"/>
                          <a:ea typeface="Times New Roman"/>
                          <a:cs typeface="Times New Roman"/>
                        </a:rPr>
                        <a:t>$0.0052</a:t>
                      </a:r>
                    </a:p>
                  </a:txBody>
                  <a:tcPr marL="114300" marR="114300" marT="19050" marB="19050" anchor="ctr">
                    <a:lnL w="5715" cmpd="sng">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3F4F6"/>
                    </a:solidFill>
                  </a:tcPr>
                </a:tc>
                <a:extLst>
                  <a:ext uri="{0D108BD9-81ED-4DB2-BD59-A6C34878D82A}">
                    <a16:rowId xmlns:a16="http://schemas.microsoft.com/office/drawing/2014/main" val="10002"/>
                  </a:ext>
                </a:extLst>
              </a:tr>
              <a:tr h="266700">
                <a:tc>
                  <a:txBody>
                    <a:bodyPr/>
                    <a:lstStyle/>
                    <a:p>
                      <a:r>
                        <a:rPr sz="1500" b="0">
                          <a:solidFill>
                            <a:srgbClr val="111111"/>
                          </a:solidFill>
                          <a:latin typeface="Times New Roman"/>
                          <a:ea typeface="Times New Roman"/>
                          <a:cs typeface="Times New Roman"/>
                        </a:rPr>
                        <a:t>GPT-6 Luna</a:t>
                      </a:r>
                    </a:p>
                  </a:txBody>
                  <a:tcPr marL="114300" marR="114300" marT="19050" marB="19050" anchor="ctr">
                    <a:lnL w="5715">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FFFFF"/>
                    </a:solidFill>
                  </a:tcPr>
                </a:tc>
                <a:tc>
                  <a:txBody>
                    <a:bodyPr/>
                    <a:lstStyle/>
                    <a:p>
                      <a:r>
                        <a:rPr sz="1500" b="0">
                          <a:solidFill>
                            <a:srgbClr val="111111"/>
                          </a:solidFill>
                          <a:latin typeface="Times New Roman"/>
                          <a:ea typeface="Times New Roman"/>
                          <a:cs typeface="Times New Roman"/>
                        </a:rPr>
                        <a:t>Extra High</a:t>
                      </a:r>
                    </a:p>
                  </a:txBody>
                  <a:tcPr marL="114300" marR="114300" marT="19050" marB="19050" anchor="ctr">
                    <a:lnL w="5715" cmpd="sng">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FFFFF"/>
                    </a:solidFill>
                  </a:tcPr>
                </a:tc>
                <a:tc>
                  <a:txBody>
                    <a:bodyPr/>
                    <a:lstStyle/>
                    <a:p>
                      <a:r>
                        <a:rPr sz="1500" b="0">
                          <a:solidFill>
                            <a:srgbClr val="111111"/>
                          </a:solidFill>
                          <a:latin typeface="Times New Roman"/>
                          <a:ea typeface="Times New Roman"/>
                          <a:cs typeface="Times New Roman"/>
                        </a:rPr>
                        <a:t>12/39</a:t>
                      </a:r>
                    </a:p>
                  </a:txBody>
                  <a:tcPr marL="114300" marR="114300" marT="19050" marB="19050" anchor="ctr">
                    <a:lnL w="5715" cmpd="sng">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FFFFF"/>
                    </a:solidFill>
                  </a:tcPr>
                </a:tc>
                <a:tc>
                  <a:txBody>
                    <a:bodyPr/>
                    <a:lstStyle/>
                    <a:p>
                      <a:r>
                        <a:rPr sz="1500" b="0">
                          <a:solidFill>
                            <a:srgbClr val="111111"/>
                          </a:solidFill>
                          <a:latin typeface="Times New Roman"/>
                          <a:ea typeface="Times New Roman"/>
                          <a:cs typeface="Times New Roman"/>
                        </a:rPr>
                        <a:t>4</a:t>
                      </a:r>
                    </a:p>
                  </a:txBody>
                  <a:tcPr marL="114300" marR="114300" marT="19050" marB="19050" anchor="ctr">
                    <a:lnL w="5715" cmpd="sng">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FFFFF"/>
                    </a:solidFill>
                  </a:tcPr>
                </a:tc>
                <a:tc>
                  <a:txBody>
                    <a:bodyPr/>
                    <a:lstStyle/>
                    <a:p>
                      <a:r>
                        <a:rPr sz="1500" b="0">
                          <a:solidFill>
                            <a:srgbClr val="111111"/>
                          </a:solidFill>
                          <a:latin typeface="Times New Roman"/>
                          <a:ea typeface="Times New Roman"/>
                          <a:cs typeface="Times New Roman"/>
                        </a:rPr>
                        <a:t>$0.0126</a:t>
                      </a:r>
                    </a:p>
                  </a:txBody>
                  <a:tcPr marL="114300" marR="114300" marT="19050" marB="19050" anchor="ctr">
                    <a:lnL w="5715" cmpd="sng">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FFFFF"/>
                    </a:solidFill>
                  </a:tcPr>
                </a:tc>
                <a:extLst>
                  <a:ext uri="{0D108BD9-81ED-4DB2-BD59-A6C34878D82A}">
                    <a16:rowId xmlns:a16="http://schemas.microsoft.com/office/drawing/2014/main" val="10003"/>
                  </a:ext>
                </a:extLst>
              </a:tr>
              <a:tr h="266700">
                <a:tc>
                  <a:txBody>
                    <a:bodyPr/>
                    <a:lstStyle/>
                    <a:p>
                      <a:r>
                        <a:rPr sz="1500" b="0">
                          <a:solidFill>
                            <a:srgbClr val="111111"/>
                          </a:solidFill>
                          <a:latin typeface="Times New Roman"/>
                          <a:ea typeface="Times New Roman"/>
                          <a:cs typeface="Times New Roman"/>
                        </a:rPr>
                        <a:t>GPT-6 Sol</a:t>
                      </a:r>
                    </a:p>
                  </a:txBody>
                  <a:tcPr marL="114300" marR="114300" marT="19050" marB="19050" anchor="ctr">
                    <a:lnL w="5715">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3F4F6"/>
                    </a:solidFill>
                  </a:tcPr>
                </a:tc>
                <a:tc>
                  <a:txBody>
                    <a:bodyPr/>
                    <a:lstStyle/>
                    <a:p>
                      <a:r>
                        <a:rPr sz="1500" b="0">
                          <a:solidFill>
                            <a:srgbClr val="111111"/>
                          </a:solidFill>
                          <a:latin typeface="Times New Roman"/>
                          <a:ea typeface="Times New Roman"/>
                          <a:cs typeface="Times New Roman"/>
                        </a:rPr>
                        <a:t>Low</a:t>
                      </a:r>
                    </a:p>
                  </a:txBody>
                  <a:tcPr marL="114300" marR="114300" marT="19050" marB="19050" anchor="ctr">
                    <a:lnL w="5715" cmpd="sng">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3F4F6"/>
                    </a:solidFill>
                  </a:tcPr>
                </a:tc>
                <a:tc>
                  <a:txBody>
                    <a:bodyPr/>
                    <a:lstStyle/>
                    <a:p>
                      <a:r>
                        <a:rPr sz="1500" b="0">
                          <a:solidFill>
                            <a:srgbClr val="111111"/>
                          </a:solidFill>
                          <a:latin typeface="Times New Roman"/>
                          <a:ea typeface="Times New Roman"/>
                          <a:cs typeface="Times New Roman"/>
                        </a:rPr>
                        <a:t>37/39</a:t>
                      </a:r>
                    </a:p>
                  </a:txBody>
                  <a:tcPr marL="114300" marR="114300" marT="19050" marB="19050" anchor="ctr">
                    <a:lnL w="5715" cmpd="sng">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3F4F6"/>
                    </a:solidFill>
                  </a:tcPr>
                </a:tc>
                <a:tc>
                  <a:txBody>
                    <a:bodyPr/>
                    <a:lstStyle/>
                    <a:p>
                      <a:r>
                        <a:rPr sz="1500" b="0">
                          <a:solidFill>
                            <a:srgbClr val="111111"/>
                          </a:solidFill>
                          <a:latin typeface="Times New Roman"/>
                          <a:ea typeface="Times New Roman"/>
                          <a:cs typeface="Times New Roman"/>
                        </a:rPr>
                        <a:t>0</a:t>
                      </a:r>
                    </a:p>
                  </a:txBody>
                  <a:tcPr marL="114300" marR="114300" marT="19050" marB="19050" anchor="ctr">
                    <a:lnL w="5715" cmpd="sng">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3F4F6"/>
                    </a:solidFill>
                  </a:tcPr>
                </a:tc>
                <a:tc>
                  <a:txBody>
                    <a:bodyPr/>
                    <a:lstStyle/>
                    <a:p>
                      <a:r>
                        <a:rPr sz="1500" b="0">
                          <a:solidFill>
                            <a:srgbClr val="111111"/>
                          </a:solidFill>
                          <a:latin typeface="Times New Roman"/>
                          <a:ea typeface="Times New Roman"/>
                          <a:cs typeface="Times New Roman"/>
                        </a:rPr>
                        <a:t>$0.0773</a:t>
                      </a:r>
                    </a:p>
                  </a:txBody>
                  <a:tcPr marL="114300" marR="114300" marT="19050" marB="19050" anchor="ctr">
                    <a:lnL w="5715" cmpd="sng">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3F4F6"/>
                    </a:solidFill>
                  </a:tcPr>
                </a:tc>
                <a:extLst>
                  <a:ext uri="{0D108BD9-81ED-4DB2-BD59-A6C34878D82A}">
                    <a16:rowId xmlns:a16="http://schemas.microsoft.com/office/drawing/2014/main" val="10004"/>
                  </a:ext>
                </a:extLst>
              </a:tr>
              <a:tr h="266700">
                <a:tc>
                  <a:txBody>
                    <a:bodyPr/>
                    <a:lstStyle/>
                    <a:p>
                      <a:r>
                        <a:rPr sz="1500" b="0">
                          <a:solidFill>
                            <a:srgbClr val="111111"/>
                          </a:solidFill>
                          <a:latin typeface="Times New Roman"/>
                          <a:ea typeface="Times New Roman"/>
                          <a:cs typeface="Times New Roman"/>
                        </a:rPr>
                        <a:t>GPT-6 Sol</a:t>
                      </a:r>
                    </a:p>
                  </a:txBody>
                  <a:tcPr marL="114300" marR="114300" marT="19050" marB="19050" anchor="ctr">
                    <a:lnL w="5715">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FFFFF"/>
                    </a:solidFill>
                  </a:tcPr>
                </a:tc>
                <a:tc>
                  <a:txBody>
                    <a:bodyPr/>
                    <a:lstStyle/>
                    <a:p>
                      <a:r>
                        <a:rPr sz="1500" b="0">
                          <a:solidFill>
                            <a:srgbClr val="111111"/>
                          </a:solidFill>
                          <a:latin typeface="Times New Roman"/>
                          <a:ea typeface="Times New Roman"/>
                          <a:cs typeface="Times New Roman"/>
                        </a:rPr>
                        <a:t>High</a:t>
                      </a:r>
                    </a:p>
                  </a:txBody>
                  <a:tcPr marL="114300" marR="114300" marT="19050" marB="19050" anchor="ctr">
                    <a:lnL w="5715" cmpd="sng">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FFFFF"/>
                    </a:solidFill>
                  </a:tcPr>
                </a:tc>
                <a:tc>
                  <a:txBody>
                    <a:bodyPr/>
                    <a:lstStyle/>
                    <a:p>
                      <a:r>
                        <a:rPr sz="1500" b="0">
                          <a:solidFill>
                            <a:srgbClr val="111111"/>
                          </a:solidFill>
                          <a:latin typeface="Times New Roman"/>
                          <a:ea typeface="Times New Roman"/>
                          <a:cs typeface="Times New Roman"/>
                        </a:rPr>
                        <a:t>39/39</a:t>
                      </a:r>
                    </a:p>
                  </a:txBody>
                  <a:tcPr marL="114300" marR="114300" marT="19050" marB="19050" anchor="ctr">
                    <a:lnL w="5715" cmpd="sng">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FFFFF"/>
                    </a:solidFill>
                  </a:tcPr>
                </a:tc>
                <a:tc>
                  <a:txBody>
                    <a:bodyPr/>
                    <a:lstStyle/>
                    <a:p>
                      <a:r>
                        <a:rPr sz="1500" b="0">
                          <a:solidFill>
                            <a:srgbClr val="111111"/>
                          </a:solidFill>
                          <a:latin typeface="Times New Roman"/>
                          <a:ea typeface="Times New Roman"/>
                          <a:cs typeface="Times New Roman"/>
                        </a:rPr>
                        <a:t>0</a:t>
                      </a:r>
                    </a:p>
                  </a:txBody>
                  <a:tcPr marL="114300" marR="114300" marT="19050" marB="19050" anchor="ctr">
                    <a:lnL w="5715" cmpd="sng">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FFFFF"/>
                    </a:solidFill>
                  </a:tcPr>
                </a:tc>
                <a:tc>
                  <a:txBody>
                    <a:bodyPr/>
                    <a:lstStyle/>
                    <a:p>
                      <a:r>
                        <a:rPr sz="1500" b="0">
                          <a:solidFill>
                            <a:srgbClr val="111111"/>
                          </a:solidFill>
                          <a:latin typeface="Times New Roman"/>
                          <a:ea typeface="Times New Roman"/>
                          <a:cs typeface="Times New Roman"/>
                        </a:rPr>
                        <a:t>$0.1975</a:t>
                      </a:r>
                    </a:p>
                  </a:txBody>
                  <a:tcPr marL="114300" marR="114300" marT="19050" marB="19050" anchor="ctr">
                    <a:lnL w="5715" cmpd="sng">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FFFFF"/>
                    </a:solidFill>
                  </a:tcPr>
                </a:tc>
                <a:extLst>
                  <a:ext uri="{0D108BD9-81ED-4DB2-BD59-A6C34878D82A}">
                    <a16:rowId xmlns:a16="http://schemas.microsoft.com/office/drawing/2014/main" val="10005"/>
                  </a:ext>
                </a:extLst>
              </a:tr>
              <a:tr h="266700">
                <a:tc>
                  <a:txBody>
                    <a:bodyPr/>
                    <a:lstStyle/>
                    <a:p>
                      <a:r>
                        <a:rPr sz="1500" b="0">
                          <a:solidFill>
                            <a:srgbClr val="111111"/>
                          </a:solidFill>
                          <a:latin typeface="Times New Roman"/>
                          <a:ea typeface="Times New Roman"/>
                          <a:cs typeface="Times New Roman"/>
                        </a:rPr>
                        <a:t>GPT-6 Sol</a:t>
                      </a:r>
                    </a:p>
                  </a:txBody>
                  <a:tcPr marL="114300" marR="114300" marT="19050" marB="19050" anchor="ctr">
                    <a:lnL w="5715">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3F4F6"/>
                    </a:solidFill>
                  </a:tcPr>
                </a:tc>
                <a:tc>
                  <a:txBody>
                    <a:bodyPr/>
                    <a:lstStyle/>
                    <a:p>
                      <a:r>
                        <a:rPr sz="1500" b="0">
                          <a:solidFill>
                            <a:srgbClr val="111111"/>
                          </a:solidFill>
                          <a:latin typeface="Times New Roman"/>
                          <a:ea typeface="Times New Roman"/>
                          <a:cs typeface="Times New Roman"/>
                        </a:rPr>
                        <a:t>Extra High</a:t>
                      </a:r>
                    </a:p>
                  </a:txBody>
                  <a:tcPr marL="114300" marR="114300" marT="19050" marB="19050" anchor="ctr">
                    <a:lnL w="5715" cmpd="sng">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3F4F6"/>
                    </a:solidFill>
                  </a:tcPr>
                </a:tc>
                <a:tc>
                  <a:txBody>
                    <a:bodyPr/>
                    <a:lstStyle/>
                    <a:p>
                      <a:r>
                        <a:rPr sz="1500" b="0">
                          <a:solidFill>
                            <a:srgbClr val="111111"/>
                          </a:solidFill>
                          <a:latin typeface="Times New Roman"/>
                          <a:ea typeface="Times New Roman"/>
                          <a:cs typeface="Times New Roman"/>
                        </a:rPr>
                        <a:t>39/39</a:t>
                      </a:r>
                    </a:p>
                  </a:txBody>
                  <a:tcPr marL="114300" marR="114300" marT="19050" marB="19050" anchor="ctr">
                    <a:lnL w="5715" cmpd="sng">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3F4F6"/>
                    </a:solidFill>
                  </a:tcPr>
                </a:tc>
                <a:tc>
                  <a:txBody>
                    <a:bodyPr/>
                    <a:lstStyle/>
                    <a:p>
                      <a:r>
                        <a:rPr sz="1500" b="0">
                          <a:solidFill>
                            <a:srgbClr val="111111"/>
                          </a:solidFill>
                          <a:latin typeface="Times New Roman"/>
                          <a:ea typeface="Times New Roman"/>
                          <a:cs typeface="Times New Roman"/>
                        </a:rPr>
                        <a:t>0</a:t>
                      </a:r>
                    </a:p>
                  </a:txBody>
                  <a:tcPr marL="114300" marR="114300" marT="19050" marB="19050" anchor="ctr">
                    <a:lnL w="5715" cmpd="sng">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3F4F6"/>
                    </a:solidFill>
                  </a:tcPr>
                </a:tc>
                <a:tc>
                  <a:txBody>
                    <a:bodyPr/>
                    <a:lstStyle/>
                    <a:p>
                      <a:r>
                        <a:rPr sz="1500" b="0">
                          <a:solidFill>
                            <a:srgbClr val="111111"/>
                          </a:solidFill>
                          <a:latin typeface="Times New Roman"/>
                          <a:ea typeface="Times New Roman"/>
                          <a:cs typeface="Times New Roman"/>
                        </a:rPr>
                        <a:t>$0.2306</a:t>
                      </a:r>
                    </a:p>
                  </a:txBody>
                  <a:tcPr marL="114300" marR="114300" marT="19050" marB="19050" anchor="ctr">
                    <a:lnL w="5715" cmpd="sng">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3F4F6"/>
                    </a:solidFill>
                  </a:tcPr>
                </a:tc>
                <a:extLst>
                  <a:ext uri="{0D108BD9-81ED-4DB2-BD59-A6C34878D82A}">
                    <a16:rowId xmlns:a16="http://schemas.microsoft.com/office/drawing/2014/main" val="10006"/>
                  </a:ext>
                </a:extLst>
              </a:tr>
              <a:tr h="266700">
                <a:tc>
                  <a:txBody>
                    <a:bodyPr/>
                    <a:lstStyle/>
                    <a:p>
                      <a:r>
                        <a:rPr sz="1500" b="0">
                          <a:solidFill>
                            <a:srgbClr val="111111"/>
                          </a:solidFill>
                          <a:latin typeface="Times New Roman"/>
                          <a:ea typeface="Times New Roman"/>
                          <a:cs typeface="Times New Roman"/>
                        </a:rPr>
                        <a:t>GPT-5.6 Terra</a:t>
                      </a:r>
                    </a:p>
                  </a:txBody>
                  <a:tcPr marL="114300" marR="114300" marT="19050" marB="19050" anchor="ctr">
                    <a:lnL w="5715">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FFFFF"/>
                    </a:solidFill>
                  </a:tcPr>
                </a:tc>
                <a:tc>
                  <a:txBody>
                    <a:bodyPr/>
                    <a:lstStyle/>
                    <a:p>
                      <a:r>
                        <a:rPr sz="1500" b="0">
                          <a:solidFill>
                            <a:srgbClr val="111111"/>
                          </a:solidFill>
                          <a:latin typeface="Times New Roman"/>
                          <a:ea typeface="Times New Roman"/>
                          <a:cs typeface="Times New Roman"/>
                        </a:rPr>
                        <a:t>Low</a:t>
                      </a:r>
                    </a:p>
                  </a:txBody>
                  <a:tcPr marL="114300" marR="114300" marT="19050" marB="19050" anchor="ctr">
                    <a:lnL w="5715" cmpd="sng">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FFFFF"/>
                    </a:solidFill>
                  </a:tcPr>
                </a:tc>
                <a:tc>
                  <a:txBody>
                    <a:bodyPr/>
                    <a:lstStyle/>
                    <a:p>
                      <a:r>
                        <a:rPr sz="1500" b="0">
                          <a:solidFill>
                            <a:srgbClr val="111111"/>
                          </a:solidFill>
                          <a:latin typeface="Times New Roman"/>
                          <a:ea typeface="Times New Roman"/>
                          <a:cs typeface="Times New Roman"/>
                        </a:rPr>
                        <a:t>4/39</a:t>
                      </a:r>
                    </a:p>
                  </a:txBody>
                  <a:tcPr marL="114300" marR="114300" marT="19050" marB="19050" anchor="ctr">
                    <a:lnL w="5715" cmpd="sng">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FFFFF"/>
                    </a:solidFill>
                  </a:tcPr>
                </a:tc>
                <a:tc>
                  <a:txBody>
                    <a:bodyPr/>
                    <a:lstStyle/>
                    <a:p>
                      <a:r>
                        <a:rPr sz="1500" b="0">
                          <a:solidFill>
                            <a:srgbClr val="111111"/>
                          </a:solidFill>
                          <a:latin typeface="Times New Roman"/>
                          <a:ea typeface="Times New Roman"/>
                          <a:cs typeface="Times New Roman"/>
                        </a:rPr>
                        <a:t>0</a:t>
                      </a:r>
                    </a:p>
                  </a:txBody>
                  <a:tcPr marL="114300" marR="114300" marT="19050" marB="19050" anchor="ctr">
                    <a:lnL w="5715" cmpd="sng">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FFFFF"/>
                    </a:solidFill>
                  </a:tcPr>
                </a:tc>
                <a:tc>
                  <a:txBody>
                    <a:bodyPr/>
                    <a:lstStyle/>
                    <a:p>
                      <a:r>
                        <a:rPr sz="1500" b="0">
                          <a:solidFill>
                            <a:srgbClr val="111111"/>
                          </a:solidFill>
                          <a:latin typeface="Times New Roman"/>
                          <a:ea typeface="Times New Roman"/>
                          <a:cs typeface="Times New Roman"/>
                        </a:rPr>
                        <a:t>$0.1107</a:t>
                      </a:r>
                    </a:p>
                  </a:txBody>
                  <a:tcPr marL="114300" marR="114300" marT="19050" marB="19050" anchor="ctr">
                    <a:lnL w="5715" cmpd="sng">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FFFFF"/>
                    </a:solidFill>
                  </a:tcPr>
                </a:tc>
                <a:extLst>
                  <a:ext uri="{0D108BD9-81ED-4DB2-BD59-A6C34878D82A}">
                    <a16:rowId xmlns:a16="http://schemas.microsoft.com/office/drawing/2014/main" val="10007"/>
                  </a:ext>
                </a:extLst>
              </a:tr>
              <a:tr h="266700">
                <a:tc>
                  <a:txBody>
                    <a:bodyPr/>
                    <a:lstStyle/>
                    <a:p>
                      <a:r>
                        <a:rPr sz="1500" b="0">
                          <a:solidFill>
                            <a:srgbClr val="111111"/>
                          </a:solidFill>
                          <a:latin typeface="Times New Roman"/>
                          <a:ea typeface="Times New Roman"/>
                          <a:cs typeface="Times New Roman"/>
                        </a:rPr>
                        <a:t>GPT-5.6 Terra</a:t>
                      </a:r>
                    </a:p>
                  </a:txBody>
                  <a:tcPr marL="114300" marR="114300" marT="19050" marB="19050" anchor="ctr">
                    <a:lnL w="5715">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3F4F6"/>
                    </a:solidFill>
                  </a:tcPr>
                </a:tc>
                <a:tc>
                  <a:txBody>
                    <a:bodyPr/>
                    <a:lstStyle/>
                    <a:p>
                      <a:r>
                        <a:rPr sz="1500" b="0">
                          <a:solidFill>
                            <a:srgbClr val="111111"/>
                          </a:solidFill>
                          <a:latin typeface="Times New Roman"/>
                          <a:ea typeface="Times New Roman"/>
                          <a:cs typeface="Times New Roman"/>
                        </a:rPr>
                        <a:t>High</a:t>
                      </a:r>
                    </a:p>
                  </a:txBody>
                  <a:tcPr marL="114300" marR="114300" marT="19050" marB="19050" anchor="ctr">
                    <a:lnL w="5715" cmpd="sng">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3F4F6"/>
                    </a:solidFill>
                  </a:tcPr>
                </a:tc>
                <a:tc>
                  <a:txBody>
                    <a:bodyPr/>
                    <a:lstStyle/>
                    <a:p>
                      <a:r>
                        <a:rPr sz="1500" b="0">
                          <a:solidFill>
                            <a:srgbClr val="111111"/>
                          </a:solidFill>
                          <a:latin typeface="Times New Roman"/>
                          <a:ea typeface="Times New Roman"/>
                          <a:cs typeface="Times New Roman"/>
                        </a:rPr>
                        <a:t>9/39</a:t>
                      </a:r>
                    </a:p>
                  </a:txBody>
                  <a:tcPr marL="114300" marR="114300" marT="19050" marB="19050" anchor="ctr">
                    <a:lnL w="5715" cmpd="sng">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3F4F6"/>
                    </a:solidFill>
                  </a:tcPr>
                </a:tc>
                <a:tc>
                  <a:txBody>
                    <a:bodyPr/>
                    <a:lstStyle/>
                    <a:p>
                      <a:r>
                        <a:rPr sz="1500" b="0">
                          <a:solidFill>
                            <a:srgbClr val="111111"/>
                          </a:solidFill>
                          <a:latin typeface="Times New Roman"/>
                          <a:ea typeface="Times New Roman"/>
                          <a:cs typeface="Times New Roman"/>
                        </a:rPr>
                        <a:t>0</a:t>
                      </a:r>
                    </a:p>
                  </a:txBody>
                  <a:tcPr marL="114300" marR="114300" marT="19050" marB="19050" anchor="ctr">
                    <a:lnL w="5715" cmpd="sng">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3F4F6"/>
                    </a:solidFill>
                  </a:tcPr>
                </a:tc>
                <a:tc>
                  <a:txBody>
                    <a:bodyPr/>
                    <a:lstStyle/>
                    <a:p>
                      <a:r>
                        <a:rPr sz="1500" b="0">
                          <a:solidFill>
                            <a:srgbClr val="111111"/>
                          </a:solidFill>
                          <a:latin typeface="Times New Roman"/>
                          <a:ea typeface="Times New Roman"/>
                          <a:cs typeface="Times New Roman"/>
                        </a:rPr>
                        <a:t>$0.1942</a:t>
                      </a:r>
                    </a:p>
                  </a:txBody>
                  <a:tcPr marL="114300" marR="114300" marT="19050" marB="19050" anchor="ctr">
                    <a:lnL w="5715" cmpd="sng">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3F4F6"/>
                    </a:solidFill>
                  </a:tcPr>
                </a:tc>
                <a:extLst>
                  <a:ext uri="{0D108BD9-81ED-4DB2-BD59-A6C34878D82A}">
                    <a16:rowId xmlns:a16="http://schemas.microsoft.com/office/drawing/2014/main" val="10008"/>
                  </a:ext>
                </a:extLst>
              </a:tr>
              <a:tr h="266700">
                <a:tc>
                  <a:txBody>
                    <a:bodyPr/>
                    <a:lstStyle/>
                    <a:p>
                      <a:r>
                        <a:rPr sz="1500" b="0">
                          <a:solidFill>
                            <a:srgbClr val="111111"/>
                          </a:solidFill>
                          <a:latin typeface="Times New Roman"/>
                          <a:ea typeface="Times New Roman"/>
                          <a:cs typeface="Times New Roman"/>
                        </a:rPr>
                        <a:t>GPT-5.6 Terra</a:t>
                      </a:r>
                    </a:p>
                  </a:txBody>
                  <a:tcPr marL="114300" marR="114300" marT="19050" marB="19050" anchor="ctr">
                    <a:lnL w="5715">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FFFFF"/>
                    </a:solidFill>
                  </a:tcPr>
                </a:tc>
                <a:tc>
                  <a:txBody>
                    <a:bodyPr/>
                    <a:lstStyle/>
                    <a:p>
                      <a:r>
                        <a:rPr sz="1500" b="0">
                          <a:solidFill>
                            <a:srgbClr val="111111"/>
                          </a:solidFill>
                          <a:latin typeface="Times New Roman"/>
                          <a:ea typeface="Times New Roman"/>
                          <a:cs typeface="Times New Roman"/>
                        </a:rPr>
                        <a:t>Extra High</a:t>
                      </a:r>
                    </a:p>
                  </a:txBody>
                  <a:tcPr marL="114300" marR="114300" marT="19050" marB="19050" anchor="ctr">
                    <a:lnL w="5715" cmpd="sng">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FFFFF"/>
                    </a:solidFill>
                  </a:tcPr>
                </a:tc>
                <a:tc>
                  <a:txBody>
                    <a:bodyPr/>
                    <a:lstStyle/>
                    <a:p>
                      <a:r>
                        <a:rPr sz="1500" b="0">
                          <a:solidFill>
                            <a:srgbClr val="111111"/>
                          </a:solidFill>
                          <a:latin typeface="Times New Roman"/>
                          <a:ea typeface="Times New Roman"/>
                          <a:cs typeface="Times New Roman"/>
                        </a:rPr>
                        <a:t>19/39</a:t>
                      </a:r>
                    </a:p>
                  </a:txBody>
                  <a:tcPr marL="114300" marR="114300" marT="19050" marB="19050" anchor="ctr">
                    <a:lnL w="5715" cmpd="sng">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FFFFF"/>
                    </a:solidFill>
                  </a:tcPr>
                </a:tc>
                <a:tc>
                  <a:txBody>
                    <a:bodyPr/>
                    <a:lstStyle/>
                    <a:p>
                      <a:r>
                        <a:rPr sz="1500" b="0">
                          <a:solidFill>
                            <a:srgbClr val="111111"/>
                          </a:solidFill>
                          <a:latin typeface="Times New Roman"/>
                          <a:ea typeface="Times New Roman"/>
                          <a:cs typeface="Times New Roman"/>
                        </a:rPr>
                        <a:t>4</a:t>
                      </a:r>
                    </a:p>
                  </a:txBody>
                  <a:tcPr marL="114300" marR="114300" marT="19050" marB="19050" anchor="ctr">
                    <a:lnL w="5715" cmpd="sng">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FFFFF"/>
                    </a:solidFill>
                  </a:tcPr>
                </a:tc>
                <a:tc>
                  <a:txBody>
                    <a:bodyPr/>
                    <a:lstStyle/>
                    <a:p>
                      <a:r>
                        <a:rPr sz="1500" b="0">
                          <a:solidFill>
                            <a:srgbClr val="111111"/>
                          </a:solidFill>
                          <a:latin typeface="Times New Roman"/>
                          <a:ea typeface="Times New Roman"/>
                          <a:cs typeface="Times New Roman"/>
                        </a:rPr>
                        <a:t>$0.3196</a:t>
                      </a:r>
                    </a:p>
                  </a:txBody>
                  <a:tcPr marL="114300" marR="114300" marT="19050" marB="19050" anchor="ctr">
                    <a:lnL w="5715" cmpd="sng">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FFFFF"/>
                    </a:solidFill>
                  </a:tcPr>
                </a:tc>
                <a:extLst>
                  <a:ext uri="{0D108BD9-81ED-4DB2-BD59-A6C34878D82A}">
                    <a16:rowId xmlns:a16="http://schemas.microsoft.com/office/drawing/2014/main" val="10009"/>
                  </a:ext>
                </a:extLst>
              </a:tr>
              <a:tr h="266700">
                <a:tc>
                  <a:txBody>
                    <a:bodyPr/>
                    <a:lstStyle/>
                    <a:p>
                      <a:r>
                        <a:rPr sz="1500" b="0">
                          <a:solidFill>
                            <a:srgbClr val="111111"/>
                          </a:solidFill>
                          <a:latin typeface="Times New Roman"/>
                          <a:ea typeface="Times New Roman"/>
                          <a:cs typeface="Times New Roman"/>
                        </a:rPr>
                        <a:t>GPT-6 Astra</a:t>
                      </a:r>
                    </a:p>
                  </a:txBody>
                  <a:tcPr marL="114300" marR="114300" marT="19050" marB="19050" anchor="ctr">
                    <a:lnL w="5715">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3F4F6"/>
                    </a:solidFill>
                  </a:tcPr>
                </a:tc>
                <a:tc>
                  <a:txBody>
                    <a:bodyPr/>
                    <a:lstStyle/>
                    <a:p>
                      <a:r>
                        <a:rPr sz="1500" b="0">
                          <a:solidFill>
                            <a:srgbClr val="111111"/>
                          </a:solidFill>
                          <a:latin typeface="Times New Roman"/>
                          <a:ea typeface="Times New Roman"/>
                          <a:cs typeface="Times New Roman"/>
                        </a:rPr>
                        <a:t>Low</a:t>
                      </a:r>
                    </a:p>
                  </a:txBody>
                  <a:tcPr marL="114300" marR="114300" marT="19050" marB="19050" anchor="ctr">
                    <a:lnL w="5715" cmpd="sng">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3F4F6"/>
                    </a:solidFill>
                  </a:tcPr>
                </a:tc>
                <a:tc>
                  <a:txBody>
                    <a:bodyPr/>
                    <a:lstStyle/>
                    <a:p>
                      <a:r>
                        <a:rPr sz="1500" b="0">
                          <a:solidFill>
                            <a:srgbClr val="111111"/>
                          </a:solidFill>
                          <a:latin typeface="Times New Roman"/>
                          <a:ea typeface="Times New Roman"/>
                          <a:cs typeface="Times New Roman"/>
                        </a:rPr>
                        <a:t>39/39</a:t>
                      </a:r>
                    </a:p>
                  </a:txBody>
                  <a:tcPr marL="114300" marR="114300" marT="19050" marB="19050" anchor="ctr">
                    <a:lnL w="5715" cmpd="sng">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3F4F6"/>
                    </a:solidFill>
                  </a:tcPr>
                </a:tc>
                <a:tc>
                  <a:txBody>
                    <a:bodyPr/>
                    <a:lstStyle/>
                    <a:p>
                      <a:r>
                        <a:rPr sz="1500" b="0">
                          <a:solidFill>
                            <a:srgbClr val="111111"/>
                          </a:solidFill>
                          <a:latin typeface="Times New Roman"/>
                          <a:ea typeface="Times New Roman"/>
                          <a:cs typeface="Times New Roman"/>
                        </a:rPr>
                        <a:t>0</a:t>
                      </a:r>
                    </a:p>
                  </a:txBody>
                  <a:tcPr marL="114300" marR="114300" marT="19050" marB="19050" anchor="ctr">
                    <a:lnL w="5715" cmpd="sng">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3F4F6"/>
                    </a:solidFill>
                  </a:tcPr>
                </a:tc>
                <a:tc>
                  <a:txBody>
                    <a:bodyPr/>
                    <a:lstStyle/>
                    <a:p>
                      <a:r>
                        <a:rPr sz="1500" b="0">
                          <a:solidFill>
                            <a:srgbClr val="111111"/>
                          </a:solidFill>
                          <a:latin typeface="Times New Roman"/>
                          <a:ea typeface="Times New Roman"/>
                          <a:cs typeface="Times New Roman"/>
                        </a:rPr>
                        <a:t>$0.4450</a:t>
                      </a:r>
                    </a:p>
                  </a:txBody>
                  <a:tcPr marL="114300" marR="114300" marT="19050" marB="19050" anchor="ctr">
                    <a:lnL w="5715" cmpd="sng">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3F4F6"/>
                    </a:solidFill>
                  </a:tcPr>
                </a:tc>
                <a:extLst>
                  <a:ext uri="{0D108BD9-81ED-4DB2-BD59-A6C34878D82A}">
                    <a16:rowId xmlns:a16="http://schemas.microsoft.com/office/drawing/2014/main" val="10010"/>
                  </a:ext>
                </a:extLst>
              </a:tr>
              <a:tr h="266700">
                <a:tc>
                  <a:txBody>
                    <a:bodyPr/>
                    <a:lstStyle/>
                    <a:p>
                      <a:r>
                        <a:rPr sz="1500" b="0">
                          <a:solidFill>
                            <a:srgbClr val="111111"/>
                          </a:solidFill>
                          <a:latin typeface="Times New Roman"/>
                          <a:ea typeface="Times New Roman"/>
                          <a:cs typeface="Times New Roman"/>
                        </a:rPr>
                        <a:t>GPT-6 Astra</a:t>
                      </a:r>
                    </a:p>
                  </a:txBody>
                  <a:tcPr marL="114300" marR="114300" marT="19050" marB="19050" anchor="ctr">
                    <a:lnL w="5715">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FFFFF"/>
                    </a:solidFill>
                  </a:tcPr>
                </a:tc>
                <a:tc>
                  <a:txBody>
                    <a:bodyPr/>
                    <a:lstStyle/>
                    <a:p>
                      <a:r>
                        <a:rPr sz="1500" b="0">
                          <a:solidFill>
                            <a:srgbClr val="111111"/>
                          </a:solidFill>
                          <a:latin typeface="Times New Roman"/>
                          <a:ea typeface="Times New Roman"/>
                          <a:cs typeface="Times New Roman"/>
                        </a:rPr>
                        <a:t>High</a:t>
                      </a:r>
                    </a:p>
                  </a:txBody>
                  <a:tcPr marL="114300" marR="114300" marT="19050" marB="19050" anchor="ctr">
                    <a:lnL w="5715" cmpd="sng">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FFFFF"/>
                    </a:solidFill>
                  </a:tcPr>
                </a:tc>
                <a:tc>
                  <a:txBody>
                    <a:bodyPr/>
                    <a:lstStyle/>
                    <a:p>
                      <a:r>
                        <a:rPr sz="1500" b="0">
                          <a:solidFill>
                            <a:srgbClr val="111111"/>
                          </a:solidFill>
                          <a:latin typeface="Times New Roman"/>
                          <a:ea typeface="Times New Roman"/>
                          <a:cs typeface="Times New Roman"/>
                        </a:rPr>
                        <a:t>39/39</a:t>
                      </a:r>
                    </a:p>
                  </a:txBody>
                  <a:tcPr marL="114300" marR="114300" marT="19050" marB="19050" anchor="ctr">
                    <a:lnL w="5715" cmpd="sng">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FFFFF"/>
                    </a:solidFill>
                  </a:tcPr>
                </a:tc>
                <a:tc>
                  <a:txBody>
                    <a:bodyPr/>
                    <a:lstStyle/>
                    <a:p>
                      <a:r>
                        <a:rPr sz="1500" b="0">
                          <a:solidFill>
                            <a:srgbClr val="111111"/>
                          </a:solidFill>
                          <a:latin typeface="Times New Roman"/>
                          <a:ea typeface="Times New Roman"/>
                          <a:cs typeface="Times New Roman"/>
                        </a:rPr>
                        <a:t>0</a:t>
                      </a:r>
                    </a:p>
                  </a:txBody>
                  <a:tcPr marL="114300" marR="114300" marT="19050" marB="19050" anchor="ctr">
                    <a:lnL w="5715" cmpd="sng">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FFFFF"/>
                    </a:solidFill>
                  </a:tcPr>
                </a:tc>
                <a:tc>
                  <a:txBody>
                    <a:bodyPr/>
                    <a:lstStyle/>
                    <a:p>
                      <a:r>
                        <a:rPr sz="1500" b="0">
                          <a:solidFill>
                            <a:srgbClr val="111111"/>
                          </a:solidFill>
                          <a:latin typeface="Times New Roman"/>
                          <a:ea typeface="Times New Roman"/>
                          <a:cs typeface="Times New Roman"/>
                        </a:rPr>
                        <a:t>$0.7132</a:t>
                      </a:r>
                    </a:p>
                  </a:txBody>
                  <a:tcPr marL="114300" marR="114300" marT="19050" marB="19050" anchor="ctr">
                    <a:lnL w="5715" cmpd="sng">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FFFFF"/>
                    </a:solidFill>
                  </a:tcPr>
                </a:tc>
                <a:extLst>
                  <a:ext uri="{0D108BD9-81ED-4DB2-BD59-A6C34878D82A}">
                    <a16:rowId xmlns:a16="http://schemas.microsoft.com/office/drawing/2014/main" val="10011"/>
                  </a:ext>
                </a:extLst>
              </a:tr>
              <a:tr h="266700">
                <a:tc>
                  <a:txBody>
                    <a:bodyPr/>
                    <a:lstStyle/>
                    <a:p>
                      <a:r>
                        <a:rPr sz="1500" b="0">
                          <a:solidFill>
                            <a:srgbClr val="111111"/>
                          </a:solidFill>
                          <a:latin typeface="Times New Roman"/>
                          <a:ea typeface="Times New Roman"/>
                          <a:cs typeface="Times New Roman"/>
                        </a:rPr>
                        <a:t>GPT-6 Astra</a:t>
                      </a:r>
                    </a:p>
                  </a:txBody>
                  <a:tcPr marL="114300" marR="114300" marT="19050" marB="19050" anchor="ctr">
                    <a:lnL w="5715">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3F4F6"/>
                    </a:solidFill>
                  </a:tcPr>
                </a:tc>
                <a:tc>
                  <a:txBody>
                    <a:bodyPr/>
                    <a:lstStyle/>
                    <a:p>
                      <a:r>
                        <a:rPr sz="1500" b="0">
                          <a:solidFill>
                            <a:srgbClr val="111111"/>
                          </a:solidFill>
                          <a:latin typeface="Times New Roman"/>
                          <a:ea typeface="Times New Roman"/>
                          <a:cs typeface="Times New Roman"/>
                        </a:rPr>
                        <a:t>Extra High</a:t>
                      </a:r>
                    </a:p>
                  </a:txBody>
                  <a:tcPr marL="114300" marR="114300" marT="19050" marB="19050" anchor="ctr">
                    <a:lnL w="5715" cmpd="sng">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3F4F6"/>
                    </a:solidFill>
                  </a:tcPr>
                </a:tc>
                <a:tc>
                  <a:txBody>
                    <a:bodyPr/>
                    <a:lstStyle/>
                    <a:p>
                      <a:r>
                        <a:rPr sz="1500" b="0">
                          <a:solidFill>
                            <a:srgbClr val="111111"/>
                          </a:solidFill>
                          <a:latin typeface="Times New Roman"/>
                          <a:ea typeface="Times New Roman"/>
                          <a:cs typeface="Times New Roman"/>
                        </a:rPr>
                        <a:t>37/39</a:t>
                      </a:r>
                    </a:p>
                  </a:txBody>
                  <a:tcPr marL="114300" marR="114300" marT="19050" marB="19050" anchor="ctr">
                    <a:lnL w="5715" cmpd="sng">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3F4F6"/>
                    </a:solidFill>
                  </a:tcPr>
                </a:tc>
                <a:tc>
                  <a:txBody>
                    <a:bodyPr/>
                    <a:lstStyle/>
                    <a:p>
                      <a:r>
                        <a:rPr sz="1500" b="0">
                          <a:solidFill>
                            <a:srgbClr val="111111"/>
                          </a:solidFill>
                          <a:latin typeface="Times New Roman"/>
                          <a:ea typeface="Times New Roman"/>
                          <a:cs typeface="Times New Roman"/>
                        </a:rPr>
                        <a:t>2</a:t>
                      </a:r>
                    </a:p>
                  </a:txBody>
                  <a:tcPr marL="114300" marR="114300" marT="19050" marB="19050" anchor="ctr">
                    <a:lnL w="5715" cmpd="sng">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3F4F6"/>
                    </a:solidFill>
                  </a:tcPr>
                </a:tc>
                <a:tc>
                  <a:txBody>
                    <a:bodyPr/>
                    <a:lstStyle/>
                    <a:p>
                      <a:r>
                        <a:rPr sz="1500" b="0">
                          <a:solidFill>
                            <a:srgbClr val="111111"/>
                          </a:solidFill>
                          <a:latin typeface="Times New Roman"/>
                          <a:ea typeface="Times New Roman"/>
                          <a:cs typeface="Times New Roman"/>
                        </a:rPr>
                        <a:t>$1.0801</a:t>
                      </a:r>
                    </a:p>
                  </a:txBody>
                  <a:tcPr marL="114300" marR="114300" marT="19050" marB="19050" anchor="ctr">
                    <a:lnL w="5715" cmpd="sng">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3F4F6"/>
                    </a:solidFill>
                  </a:tcPr>
                </a:tc>
                <a:extLst>
                  <a:ext uri="{0D108BD9-81ED-4DB2-BD59-A6C34878D82A}">
                    <a16:rowId xmlns:a16="http://schemas.microsoft.com/office/drawing/2014/main" val="10012"/>
                  </a:ext>
                </a:extLst>
              </a:tr>
              <a:tr h="266700">
                <a:tc>
                  <a:txBody>
                    <a:bodyPr/>
                    <a:lstStyle/>
                    <a:p>
                      <a:r>
                        <a:rPr sz="1500" b="0">
                          <a:solidFill>
                            <a:srgbClr val="111111"/>
                          </a:solidFill>
                          <a:latin typeface="Times New Roman"/>
                          <a:ea typeface="Times New Roman"/>
                          <a:cs typeface="Times New Roman"/>
                        </a:rPr>
                        <a:t>DeepSeek V4.1 Flash</a:t>
                      </a:r>
                    </a:p>
                  </a:txBody>
                  <a:tcPr marL="114300" marR="114300" marT="19050" marB="19050" anchor="ctr">
                    <a:lnL w="5715">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FFFFF"/>
                    </a:solidFill>
                  </a:tcPr>
                </a:tc>
                <a:tc>
                  <a:txBody>
                    <a:bodyPr/>
                    <a:lstStyle/>
                    <a:p>
                      <a:r>
                        <a:rPr sz="1500" b="0">
                          <a:solidFill>
                            <a:srgbClr val="111111"/>
                          </a:solidFill>
                          <a:latin typeface="Times New Roman"/>
                          <a:ea typeface="Times New Roman"/>
                          <a:cs typeface="Times New Roman"/>
                        </a:rPr>
                        <a:t>High</a:t>
                      </a:r>
                    </a:p>
                  </a:txBody>
                  <a:tcPr marL="114300" marR="114300" marT="19050" marB="19050" anchor="ctr">
                    <a:lnL w="5715" cmpd="sng">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FFFFF"/>
                    </a:solidFill>
                  </a:tcPr>
                </a:tc>
                <a:tc>
                  <a:txBody>
                    <a:bodyPr/>
                    <a:lstStyle/>
                    <a:p>
                      <a:r>
                        <a:rPr sz="1500" b="0">
                          <a:solidFill>
                            <a:srgbClr val="111111"/>
                          </a:solidFill>
                          <a:latin typeface="Times New Roman"/>
                          <a:ea typeface="Times New Roman"/>
                          <a:cs typeface="Times New Roman"/>
                        </a:rPr>
                        <a:t>0/39</a:t>
                      </a:r>
                    </a:p>
                  </a:txBody>
                  <a:tcPr marL="114300" marR="114300" marT="19050" marB="19050" anchor="ctr">
                    <a:lnL w="5715" cmpd="sng">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FFFFF"/>
                    </a:solidFill>
                  </a:tcPr>
                </a:tc>
                <a:tc>
                  <a:txBody>
                    <a:bodyPr/>
                    <a:lstStyle/>
                    <a:p>
                      <a:r>
                        <a:rPr sz="1500" b="0">
                          <a:solidFill>
                            <a:srgbClr val="111111"/>
                          </a:solidFill>
                          <a:latin typeface="Times New Roman"/>
                          <a:ea typeface="Times New Roman"/>
                          <a:cs typeface="Times New Roman"/>
                        </a:rPr>
                        <a:t>34</a:t>
                      </a:r>
                    </a:p>
                  </a:txBody>
                  <a:tcPr marL="114300" marR="114300" marT="19050" marB="19050" anchor="ctr">
                    <a:lnL w="5715" cmpd="sng">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FFFFF"/>
                    </a:solidFill>
                  </a:tcPr>
                </a:tc>
                <a:tc>
                  <a:txBody>
                    <a:bodyPr/>
                    <a:lstStyle/>
                    <a:p>
                      <a:r>
                        <a:rPr sz="1500" b="0">
                          <a:solidFill>
                            <a:srgbClr val="111111"/>
                          </a:solidFill>
                          <a:latin typeface="Times New Roman"/>
                          <a:ea typeface="Times New Roman"/>
                          <a:cs typeface="Times New Roman"/>
                        </a:rPr>
                        <a:t>≥ $0.1500</a:t>
                      </a:r>
                    </a:p>
                  </a:txBody>
                  <a:tcPr marL="114300" marR="114300" marT="19050" marB="19050" anchor="ctr">
                    <a:lnL w="5715" cmpd="sng">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FFFFF"/>
                    </a:solidFill>
                  </a:tcPr>
                </a:tc>
                <a:extLst>
                  <a:ext uri="{0D108BD9-81ED-4DB2-BD59-A6C34878D82A}">
                    <a16:rowId xmlns:a16="http://schemas.microsoft.com/office/drawing/2014/main" val="10013"/>
                  </a:ext>
                </a:extLst>
              </a:tr>
              <a:tr h="266700">
                <a:tc>
                  <a:txBody>
                    <a:bodyPr/>
                    <a:lstStyle/>
                    <a:p>
                      <a:r>
                        <a:rPr sz="1500" b="0">
                          <a:solidFill>
                            <a:srgbClr val="111111"/>
                          </a:solidFill>
                          <a:latin typeface="Times New Roman"/>
                          <a:ea typeface="Times New Roman"/>
                          <a:cs typeface="Times New Roman"/>
                        </a:rPr>
                        <a:t>DeepSeek V4.1 Flash</a:t>
                      </a:r>
                    </a:p>
                  </a:txBody>
                  <a:tcPr marL="114300" marR="114300" marT="19050" marB="19050" anchor="ctr">
                    <a:lnL w="5715">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3F4F6"/>
                    </a:solidFill>
                  </a:tcPr>
                </a:tc>
                <a:tc>
                  <a:txBody>
                    <a:bodyPr/>
                    <a:lstStyle/>
                    <a:p>
                      <a:r>
                        <a:rPr sz="1500" b="0">
                          <a:solidFill>
                            <a:srgbClr val="111111"/>
                          </a:solidFill>
                          <a:latin typeface="Times New Roman"/>
                          <a:ea typeface="Times New Roman"/>
                          <a:cs typeface="Times New Roman"/>
                        </a:rPr>
                        <a:t>Low</a:t>
                      </a:r>
                    </a:p>
                  </a:txBody>
                  <a:tcPr marL="114300" marR="114300" marT="19050" marB="19050" anchor="ctr">
                    <a:lnL w="5715" cmpd="sng">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3F4F6"/>
                    </a:solidFill>
                  </a:tcPr>
                </a:tc>
                <a:tc>
                  <a:txBody>
                    <a:bodyPr/>
                    <a:lstStyle/>
                    <a:p>
                      <a:r>
                        <a:rPr sz="1500" b="0">
                          <a:solidFill>
                            <a:srgbClr val="111111"/>
                          </a:solidFill>
                          <a:latin typeface="Times New Roman"/>
                          <a:ea typeface="Times New Roman"/>
                          <a:cs typeface="Times New Roman"/>
                        </a:rPr>
                        <a:t>0/39</a:t>
                      </a:r>
                    </a:p>
                  </a:txBody>
                  <a:tcPr marL="114300" marR="114300" marT="19050" marB="19050" anchor="ctr">
                    <a:lnL w="5715" cmpd="sng">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3F4F6"/>
                    </a:solidFill>
                  </a:tcPr>
                </a:tc>
                <a:tc>
                  <a:txBody>
                    <a:bodyPr/>
                    <a:lstStyle/>
                    <a:p>
                      <a:r>
                        <a:rPr sz="1500" b="0">
                          <a:solidFill>
                            <a:srgbClr val="111111"/>
                          </a:solidFill>
                          <a:latin typeface="Times New Roman"/>
                          <a:ea typeface="Times New Roman"/>
                          <a:cs typeface="Times New Roman"/>
                        </a:rPr>
                        <a:t>33</a:t>
                      </a:r>
                    </a:p>
                  </a:txBody>
                  <a:tcPr marL="114300" marR="114300" marT="19050" marB="19050" anchor="ctr">
                    <a:lnL w="5715" cmpd="sng">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3F4F6"/>
                    </a:solidFill>
                  </a:tcPr>
                </a:tc>
                <a:tc>
                  <a:txBody>
                    <a:bodyPr/>
                    <a:lstStyle/>
                    <a:p>
                      <a:r>
                        <a:rPr sz="1500" b="0">
                          <a:solidFill>
                            <a:srgbClr val="111111"/>
                          </a:solidFill>
                          <a:latin typeface="Times New Roman"/>
                          <a:ea typeface="Times New Roman"/>
                          <a:cs typeface="Times New Roman"/>
                        </a:rPr>
                        <a:t>≥ $0.0995</a:t>
                      </a:r>
                    </a:p>
                  </a:txBody>
                  <a:tcPr marL="114300" marR="114300" marT="19050" marB="19050" anchor="ctr">
                    <a:lnL w="5715" cmpd="sng">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3F4F6"/>
                    </a:solidFill>
                  </a:tcPr>
                </a:tc>
                <a:extLst>
                  <a:ext uri="{0D108BD9-81ED-4DB2-BD59-A6C34878D82A}">
                    <a16:rowId xmlns:a16="http://schemas.microsoft.com/office/drawing/2014/main" val="10014"/>
                  </a:ext>
                </a:extLst>
              </a:tr>
              <a:tr h="266700">
                <a:tc>
                  <a:txBody>
                    <a:bodyPr/>
                    <a:lstStyle/>
                    <a:p>
                      <a:r>
                        <a:rPr sz="1500" b="0">
                          <a:solidFill>
                            <a:srgbClr val="111111"/>
                          </a:solidFill>
                          <a:latin typeface="Times New Roman"/>
                          <a:ea typeface="Times New Roman"/>
                          <a:cs typeface="Times New Roman"/>
                        </a:rPr>
                        <a:t>DeepSeek V4.1 Flash</a:t>
                      </a:r>
                    </a:p>
                  </a:txBody>
                  <a:tcPr marL="114300" marR="114300" marT="19050" marB="19050" anchor="ctr">
                    <a:lnL w="5715">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FFFFF"/>
                    </a:solidFill>
                  </a:tcPr>
                </a:tc>
                <a:tc>
                  <a:txBody>
                    <a:bodyPr/>
                    <a:lstStyle/>
                    <a:p>
                      <a:r>
                        <a:rPr sz="1500" b="0">
                          <a:solidFill>
                            <a:srgbClr val="111111"/>
                          </a:solidFill>
                          <a:latin typeface="Times New Roman"/>
                          <a:ea typeface="Times New Roman"/>
                          <a:cs typeface="Times New Roman"/>
                        </a:rPr>
                        <a:t>Max</a:t>
                      </a:r>
                    </a:p>
                  </a:txBody>
                  <a:tcPr marL="114300" marR="114300" marT="19050" marB="19050" anchor="ctr">
                    <a:lnL w="5715" cmpd="sng">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FFFFF"/>
                    </a:solidFill>
                  </a:tcPr>
                </a:tc>
                <a:tc>
                  <a:txBody>
                    <a:bodyPr/>
                    <a:lstStyle/>
                    <a:p>
                      <a:r>
                        <a:rPr sz="1500" b="0">
                          <a:solidFill>
                            <a:srgbClr val="111111"/>
                          </a:solidFill>
                          <a:latin typeface="Times New Roman"/>
                          <a:ea typeface="Times New Roman"/>
                          <a:cs typeface="Times New Roman"/>
                        </a:rPr>
                        <a:t>0/39</a:t>
                      </a:r>
                    </a:p>
                  </a:txBody>
                  <a:tcPr marL="114300" marR="114300" marT="19050" marB="19050" anchor="ctr">
                    <a:lnL w="5715" cmpd="sng">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FFFFF"/>
                    </a:solidFill>
                  </a:tcPr>
                </a:tc>
                <a:tc>
                  <a:txBody>
                    <a:bodyPr/>
                    <a:lstStyle/>
                    <a:p>
                      <a:r>
                        <a:rPr sz="1500" b="0">
                          <a:solidFill>
                            <a:srgbClr val="111111"/>
                          </a:solidFill>
                          <a:latin typeface="Times New Roman"/>
                          <a:ea typeface="Times New Roman"/>
                          <a:cs typeface="Times New Roman"/>
                        </a:rPr>
                        <a:t>38</a:t>
                      </a:r>
                    </a:p>
                  </a:txBody>
                  <a:tcPr marL="114300" marR="114300" marT="19050" marB="19050" anchor="ctr">
                    <a:lnL w="5715" cmpd="sng">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FFFFF"/>
                    </a:solidFill>
                  </a:tcPr>
                </a:tc>
                <a:tc>
                  <a:txBody>
                    <a:bodyPr/>
                    <a:lstStyle/>
                    <a:p>
                      <a:r>
                        <a:rPr sz="1500" b="0">
                          <a:solidFill>
                            <a:srgbClr val="111111"/>
                          </a:solidFill>
                          <a:latin typeface="Times New Roman"/>
                          <a:ea typeface="Times New Roman"/>
                          <a:cs typeface="Times New Roman"/>
                        </a:rPr>
                        <a:t>≥ $0.2450</a:t>
                      </a:r>
                    </a:p>
                  </a:txBody>
                  <a:tcPr marL="114300" marR="114300" marT="19050" marB="19050" anchor="ctr">
                    <a:lnL w="5715" cmpd="sng">
                      <a:solidFill>
                        <a:srgbClr val="C7CBD1"/>
                      </a:solidFill>
                      <a:prstDash val="solid"/>
                    </a:lnL>
                    <a:lnR w="5715">
                      <a:solidFill>
                        <a:srgbClr val="C7CBD1"/>
                      </a:solidFill>
                      <a:prstDash val="solid"/>
                    </a:lnR>
                    <a:lnT w="5715" cmpd="sng">
                      <a:solidFill>
                        <a:srgbClr val="C7CBD1"/>
                      </a:solidFill>
                      <a:prstDash val="solid"/>
                    </a:lnT>
                    <a:lnB w="5715">
                      <a:solidFill>
                        <a:srgbClr val="C7CBD1"/>
                      </a:solidFill>
                      <a:prstDash val="solid"/>
                    </a:lnB>
                    <a:solidFill>
                      <a:srgbClr val="FFFFFF"/>
                    </a:solidFill>
                  </a:tcPr>
                </a:tc>
                <a:extLst>
                  <a:ext uri="{0D108BD9-81ED-4DB2-BD59-A6C34878D82A}">
                    <a16:rowId xmlns:a16="http://schemas.microsoft.com/office/drawing/2014/main" val="10015"/>
                  </a:ext>
                </a:extLst>
              </a:tr>
            </a:tbl>
          </a:graphicData>
        </a:graphic>
      </p:graphicFrame>
      <p:sp>
        <p:nvSpPr>
          <p:cNvPr id="5" name="Rectangle 4">
            <a:extLst>
              <a:ext uri="{FF2B5EF4-FFF2-40B4-BE49-F238E27FC236}">
                <a16:creationId xmlns:a16="http://schemas.microsoft.com/office/drawing/2014/main" id="{C770164C-450E-4724-BF61-A374BD500079}"/>
              </a:ext>
            </a:extLst>
          </p:cNvPr>
          <p:cNvSpPr>
            <a:spLocks noGrp="1"/>
          </p:cNvSpPr>
          <p:nvPr/>
        </p:nvSpPr>
        <p:spPr>
          <a:xfrm>
            <a:off x="457200" y="6067425"/>
            <a:ext cx="11277600" cy="381000"/>
          </a:xfrm>
          <a:prstGeom prst="rect">
            <a:avLst/>
          </a:prstGeom>
          <a:noFill/>
          <a:ln w="0">
            <a:noFill/>
          </a:ln>
        </p:spPr>
        <p:txBody>
          <a:bodyPr wrap="square" lIns="0" tIns="0" rIns="0" bIns="0" anchor="t"/>
          <a:lstStyle>
            <a:defPPr algn="l">
              <a:defRPr sz="1350" b="0" i="0">
                <a:solidFill>
                  <a:srgbClr val="777777"/>
                </a:solidFill>
                <a:latin typeface="Times New Roman"/>
                <a:ea typeface="Times New Roman"/>
                <a:cs typeface="Times New Roman"/>
              </a:defRPr>
            </a:defPPr>
          </a:lstStyle>
          <a:p>
            <a:pPr algn="l">
              <a:buNone/>
              <a:defRPr sz="1350" b="0" i="0">
                <a:solidFill>
                  <a:srgbClr val="777777"/>
                </a:solidFill>
                <a:latin typeface="Times New Roman"/>
                <a:ea typeface="Times New Roman"/>
                <a:cs typeface="Times New Roman"/>
              </a:defRPr>
            </a:pPr>
            <a:r>
              <a:rPr sz="1350" b="0" i="0">
                <a:solidFill>
                  <a:srgbClr val="777777"/>
                </a:solidFill>
                <a:latin typeface="Times New Roman"/>
                <a:ea typeface="Times New Roman"/>
                <a:cs typeface="Times New Roman"/>
              </a:rPr>
              <a:t>DeepSeek None is partial at 3/39 and excluded. API-equivalent estimates differ from subscription usage.</a:t>
            </a:r>
          </a:p>
        </p:txBody>
      </p:sp>
      <p:sp>
        <p:nvSpPr>
          <p:cNvPr id="7" name="Rectangle 6">
            <a:extLst>
              <a:ext uri="{FF2B5EF4-FFF2-40B4-BE49-F238E27FC236}">
                <a16:creationId xmlns:a16="http://schemas.microsoft.com/office/drawing/2014/main" id="{535A85E1-E730-4726-A620-C0DA6E491EF0}"/>
              </a:ext>
            </a:extLst>
          </p:cNvPr>
          <p:cNvSpPr>
            <a:spLocks noGrp="1"/>
          </p:cNvSpPr>
          <p:nvPr/>
        </p:nvSpPr>
        <p:spPr>
          <a:xfrm>
            <a:off x="11201400" y="6477000"/>
            <a:ext cx="533400" cy="190500"/>
          </a:xfrm>
          <a:prstGeom prst="rect">
            <a:avLst/>
          </a:prstGeom>
          <a:noFill/>
          <a:ln w="0">
            <a:noFill/>
          </a:ln>
        </p:spPr>
        <p:txBody>
          <a:bodyPr wrap="square" lIns="0" tIns="0" rIns="0" bIns="0" anchor="t"/>
          <a:lstStyle>
            <a:defPPr algn="l">
              <a:defRPr sz="1200" b="0">
                <a:solidFill>
                  <a:srgbClr val="777777"/>
                </a:solidFill>
                <a:latin typeface="Times New Roman"/>
                <a:ea typeface="Times New Roman"/>
                <a:cs typeface="Times New Roman"/>
              </a:defRPr>
            </a:defPPr>
          </a:lstStyle>
          <a:p>
            <a:pPr algn="l">
              <a:buNone/>
              <a:defRPr sz="1200" b="0">
                <a:solidFill>
                  <a:srgbClr val="777777"/>
                </a:solidFill>
                <a:latin typeface="Times New Roman"/>
                <a:ea typeface="Times New Roman"/>
                <a:cs typeface="Times New Roman"/>
              </a:defRPr>
            </a:pPr>
            <a:r>
              <a:rPr sz="1200" b="0">
                <a:solidFill>
                  <a:srgbClr val="777777"/>
                </a:solidFill>
                <a:latin typeface="Times New Roman"/>
                <a:ea typeface="Times New Roman"/>
                <a:cs typeface="Times New Roman"/>
              </a:rPr>
              <a:t>13</a:t>
            </a:r>
          </a:p>
        </p:txBody>
      </p:sp>
    </p:spTree>
    <p:extLst>
      <p:ext uri="{BB962C8B-B14F-4D97-AF65-F5344CB8AC3E}">
        <p14:creationId xmlns:p14="http://schemas.microsoft.com/office/powerpoint/2010/main" val="18609724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4D56EB8-9B73-4EF4-B875-606990671540}"/>
              </a:ext>
            </a:extLst>
          </p:cNvPr>
          <p:cNvSpPr>
            <a:spLocks noGrp="1"/>
          </p:cNvSpPr>
          <p:nvPr/>
        </p:nvSpPr>
        <p:spPr>
          <a:xfrm>
            <a:off x="457200" y="209550"/>
            <a:ext cx="11277600" cy="638175"/>
          </a:xfrm>
          <a:prstGeom prst="rect">
            <a:avLst/>
          </a:prstGeom>
          <a:noFill/>
          <a:ln w="0">
            <a:noFill/>
          </a:ln>
        </p:spPr>
        <p:txBody>
          <a:bodyPr wrap="square" lIns="0" tIns="0" rIns="0" bIns="0" anchor="t"/>
          <a:lstStyle>
            <a:defPPr>
              <a:defRPr sz="3600" b="1">
                <a:solidFill>
                  <a:srgbClr val="111111"/>
                </a:solidFill>
                <a:latin typeface="Times New Roman"/>
                <a:ea typeface="Times New Roman"/>
                <a:cs typeface="Times New Roman"/>
              </a:defRPr>
            </a:defPPr>
          </a:lstStyle>
          <a:p>
            <a:pPr>
              <a:buNone/>
              <a:defRPr sz="3600" b="1">
                <a:solidFill>
                  <a:srgbClr val="111111"/>
                </a:solidFill>
                <a:latin typeface="Times New Roman"/>
                <a:ea typeface="Times New Roman"/>
                <a:cs typeface="Times New Roman"/>
              </a:defRPr>
            </a:pPr>
            <a:r>
              <a:rPr sz="3600" b="1">
                <a:solidFill>
                  <a:srgbClr val="111111"/>
                </a:solidFill>
                <a:latin typeface="Times New Roman"/>
                <a:ea typeface="Times New Roman"/>
                <a:cs typeface="Times New Roman"/>
              </a:rPr>
              <a:t>Backup: completed collaborator hint study</a:t>
            </a:r>
          </a:p>
        </p:txBody>
      </p:sp>
      <p:sp>
        <p:nvSpPr>
          <p:cNvPr id="2" name="Rectangle 1">
            <a:extLst>
              <a:ext uri="{FF2B5EF4-FFF2-40B4-BE49-F238E27FC236}">
                <a16:creationId xmlns:a16="http://schemas.microsoft.com/office/drawing/2014/main" id="{172BC6A5-71C1-4DD1-A80B-DE3C1FE6A9D6}"/>
              </a:ext>
            </a:extLst>
          </p:cNvPr>
          <p:cNvSpPr>
            <a:spLocks noGrp="1"/>
          </p:cNvSpPr>
          <p:nvPr/>
        </p:nvSpPr>
        <p:spPr>
          <a:xfrm>
            <a:off x="457200" y="942975"/>
            <a:ext cx="11277600" cy="457200"/>
          </a:xfrm>
          <a:prstGeom prst="rect">
            <a:avLst/>
          </a:prstGeom>
          <a:noFill/>
          <a:ln w="0">
            <a:noFill/>
          </a:ln>
        </p:spPr>
        <p:txBody>
          <a:bodyPr wrap="square" lIns="0" tIns="0" rIns="0" bIns="0" anchor="t"/>
          <a:lstStyle>
            <a:defPPr>
              <a:defRPr sz="1875" b="0">
                <a:solidFill>
                  <a:srgbClr val="444444"/>
                </a:solidFill>
                <a:latin typeface="Times New Roman"/>
                <a:ea typeface="Times New Roman"/>
                <a:cs typeface="Times New Roman"/>
              </a:defRPr>
            </a:defPPr>
          </a:lstStyle>
          <a:p>
            <a:pPr>
              <a:buNone/>
              <a:defRPr sz="1875" b="0">
                <a:solidFill>
                  <a:srgbClr val="444444"/>
                </a:solidFill>
                <a:latin typeface="Times New Roman"/>
                <a:ea typeface="Times New Roman"/>
                <a:cs typeface="Times New Roman"/>
              </a:defRPr>
            </a:pPr>
            <a:r>
              <a:rPr sz="1875" b="0">
                <a:solidFill>
                  <a:srgbClr val="444444"/>
                </a:solidFill>
                <a:latin typeface="Times New Roman"/>
                <a:ea typeface="Times New Roman"/>
                <a:cs typeface="Times New Roman"/>
              </a:rPr>
              <a:t>Each cell shows passes / 39, with execution errors in parentheses. All models are GPT-5.6.</a:t>
            </a:r>
          </a:p>
        </p:txBody>
      </p:sp>
      <p:sp>
        <p:nvSpPr>
          <p:cNvPr id="3" name="Rectangle 2">
            <a:extLst>
              <a:ext uri="{FF2B5EF4-FFF2-40B4-BE49-F238E27FC236}">
                <a16:creationId xmlns:a16="http://schemas.microsoft.com/office/drawing/2014/main" id="{CCC7BB63-39B6-4F0A-973E-ECCFD0363378}"/>
              </a:ext>
            </a:extLst>
          </p:cNvPr>
          <p:cNvSpPr>
            <a:spLocks noGrp="1"/>
          </p:cNvSpPr>
          <p:nvPr/>
        </p:nvSpPr>
        <p:spPr>
          <a:xfrm>
            <a:off x="11201400" y="6477000"/>
            <a:ext cx="533400" cy="190500"/>
          </a:xfrm>
          <a:prstGeom prst="rect">
            <a:avLst/>
          </a:prstGeom>
          <a:noFill/>
          <a:ln w="0">
            <a:noFill/>
          </a:ln>
        </p:spPr>
        <p:txBody>
          <a:bodyPr wrap="square" lIns="0" tIns="0" rIns="0" bIns="0" anchor="t"/>
          <a:lstStyle>
            <a:defPPr>
              <a:defRPr sz="1200" b="0">
                <a:solidFill>
                  <a:srgbClr val="777777"/>
                </a:solidFill>
                <a:latin typeface="Times New Roman"/>
                <a:ea typeface="Times New Roman"/>
                <a:cs typeface="Times New Roman"/>
              </a:defRPr>
            </a:defPPr>
          </a:lstStyle>
          <a:p>
            <a:pPr>
              <a:buNone/>
              <a:defRPr sz="1200" b="0">
                <a:solidFill>
                  <a:srgbClr val="777777"/>
                </a:solidFill>
                <a:latin typeface="Times New Roman"/>
                <a:ea typeface="Times New Roman"/>
                <a:cs typeface="Times New Roman"/>
              </a:defRPr>
            </a:pPr>
            <a:r>
              <a:rPr sz="1200" b="0">
                <a:solidFill>
                  <a:srgbClr val="777777"/>
                </a:solidFill>
                <a:latin typeface="Times New Roman"/>
                <a:ea typeface="Times New Roman"/>
                <a:cs typeface="Times New Roman"/>
              </a:rPr>
              <a:t>14</a:t>
            </a:r>
          </a:p>
        </p:txBody>
      </p:sp>
      <p:graphicFrame>
        <p:nvGraphicFramePr>
          <p:cNvPr id="4" name="Table 3">
            <a:extLst>
              <a:ext uri="{FF2B5EF4-FFF2-40B4-BE49-F238E27FC236}">
                <a16:creationId xmlns:a16="http://schemas.microsoft.com/office/drawing/2014/main" id="{DA7660A4-85B3-403A-9748-5870989A272D}"/>
              </a:ext>
            </a:extLst>
          </p:cNvPr>
          <p:cNvGraphicFramePr/>
          <p:nvPr/>
        </p:nvGraphicFramePr>
        <p:xfrm>
          <a:off x="457200" y="1609725"/>
          <a:ext cx="11277600" cy="4143375"/>
        </p:xfrm>
        <a:graphic>
          <a:graphicData uri="http://schemas.openxmlformats.org/drawingml/2006/table">
            <a:tbl>
              <a:tblPr/>
              <a:tblGrid>
                <a:gridCol w="2000250">
                  <a:extLst>
                    <a:ext uri="{9D8B030D-6E8A-4147-A177-3AD203B41FA5}">
                      <a16:colId xmlns:a16="http://schemas.microsoft.com/office/drawing/2014/main" val="20000"/>
                    </a:ext>
                  </a:extLst>
                </a:gridCol>
                <a:gridCol w="2238375">
                  <a:extLst>
                    <a:ext uri="{9D8B030D-6E8A-4147-A177-3AD203B41FA5}">
                      <a16:colId xmlns:a16="http://schemas.microsoft.com/office/drawing/2014/main" val="20001"/>
                    </a:ext>
                  </a:extLst>
                </a:gridCol>
                <a:gridCol w="2333625">
                  <a:extLst>
                    <a:ext uri="{9D8B030D-6E8A-4147-A177-3AD203B41FA5}">
                      <a16:colId xmlns:a16="http://schemas.microsoft.com/office/drawing/2014/main" val="20002"/>
                    </a:ext>
                  </a:extLst>
                </a:gridCol>
                <a:gridCol w="2352675">
                  <a:extLst>
                    <a:ext uri="{9D8B030D-6E8A-4147-A177-3AD203B41FA5}">
                      <a16:colId xmlns:a16="http://schemas.microsoft.com/office/drawing/2014/main" val="20003"/>
                    </a:ext>
                  </a:extLst>
                </a:gridCol>
                <a:gridCol w="2352675">
                  <a:extLst>
                    <a:ext uri="{9D8B030D-6E8A-4147-A177-3AD203B41FA5}">
                      <a16:colId xmlns:a16="http://schemas.microsoft.com/office/drawing/2014/main" val="20004"/>
                    </a:ext>
                  </a:extLst>
                </a:gridCol>
              </a:tblGrid>
              <a:tr h="376670">
                <a:tc>
                  <a:txBody>
                    <a:bodyPr/>
                    <a:lstStyle/>
                    <a:p>
                      <a:r>
                        <a:rPr sz="1725" b="1">
                          <a:solidFill>
                            <a:srgbClr val="FFFFFF"/>
                          </a:solidFill>
                          <a:latin typeface="Times New Roman"/>
                          <a:ea typeface="Times New Roman"/>
                          <a:cs typeface="Times New Roman"/>
                        </a:rPr>
                        <a:t>Model</a:t>
                      </a:r>
                    </a:p>
                  </a:txBody>
                  <a:tcPr>
                    <a:lnL w="6668">
                      <a:solidFill>
                        <a:srgbClr val="D1D5DB"/>
                      </a:solidFill>
                      <a:prstDash val="solid"/>
                    </a:lnL>
                    <a:lnR w="6668">
                      <a:solidFill>
                        <a:srgbClr val="D1D5DB"/>
                      </a:solidFill>
                      <a:prstDash val="solid"/>
                    </a:lnR>
                    <a:lnT w="6668">
                      <a:solidFill>
                        <a:srgbClr val="D1D5DB"/>
                      </a:solidFill>
                      <a:prstDash val="solid"/>
                    </a:lnT>
                    <a:lnB w="6668">
                      <a:solidFill>
                        <a:srgbClr val="D1D5DB"/>
                      </a:solidFill>
                      <a:prstDash val="solid"/>
                    </a:lnB>
                    <a:solidFill>
                      <a:srgbClr val="374151"/>
                    </a:solidFill>
                  </a:tcPr>
                </a:tc>
                <a:tc>
                  <a:txBody>
                    <a:bodyPr/>
                    <a:lstStyle/>
                    <a:p>
                      <a:r>
                        <a:rPr sz="1725" b="1">
                          <a:solidFill>
                            <a:srgbClr val="FFFFFF"/>
                          </a:solidFill>
                          <a:latin typeface="Times New Roman"/>
                          <a:ea typeface="Times New Roman"/>
                          <a:cs typeface="Times New Roman"/>
                        </a:rPr>
                        <a:t>Effort</a:t>
                      </a:r>
                    </a:p>
                  </a:txBody>
                  <a:tcPr>
                    <a:lnL w="6668" cap="flat" cmpd="sng" algn="ctr">
                      <a:solidFill>
                        <a:srgbClr val="D1D5DB"/>
                      </a:solidFill>
                      <a:prstDash val="solid"/>
                      <a:round/>
                      <a:headEnd type="none" w="med" len="med"/>
                      <a:tailEnd type="none" w="med" len="med"/>
                    </a:lnL>
                    <a:lnR w="6668">
                      <a:solidFill>
                        <a:srgbClr val="D1D5DB"/>
                      </a:solidFill>
                      <a:prstDash val="solid"/>
                    </a:lnR>
                    <a:lnT w="6668">
                      <a:solidFill>
                        <a:srgbClr val="D1D5DB"/>
                      </a:solidFill>
                      <a:prstDash val="solid"/>
                    </a:lnT>
                    <a:lnB w="6668">
                      <a:solidFill>
                        <a:srgbClr val="D1D5DB"/>
                      </a:solidFill>
                      <a:prstDash val="solid"/>
                    </a:lnB>
                    <a:solidFill>
                      <a:srgbClr val="374151"/>
                    </a:solidFill>
                  </a:tcPr>
                </a:tc>
                <a:tc>
                  <a:txBody>
                    <a:bodyPr/>
                    <a:lstStyle/>
                    <a:p>
                      <a:r>
                        <a:rPr sz="1725" b="1">
                          <a:solidFill>
                            <a:srgbClr val="FFFFFF"/>
                          </a:solidFill>
                          <a:latin typeface="Times New Roman"/>
                          <a:ea typeface="Times New Roman"/>
                          <a:cs typeface="Times New Roman"/>
                        </a:rPr>
                        <a:t>No hint</a:t>
                      </a:r>
                    </a:p>
                  </a:txBody>
                  <a:tcPr>
                    <a:lnL w="6668" cap="flat" cmpd="sng" algn="ctr">
                      <a:solidFill>
                        <a:srgbClr val="D1D5DB"/>
                      </a:solidFill>
                      <a:prstDash val="solid"/>
                      <a:round/>
                      <a:headEnd type="none" w="med" len="med"/>
                      <a:tailEnd type="none" w="med" len="med"/>
                    </a:lnL>
                    <a:lnR w="6668">
                      <a:solidFill>
                        <a:srgbClr val="D1D5DB"/>
                      </a:solidFill>
                      <a:prstDash val="solid"/>
                    </a:lnR>
                    <a:lnT w="6668">
                      <a:solidFill>
                        <a:srgbClr val="D1D5DB"/>
                      </a:solidFill>
                      <a:prstDash val="solid"/>
                    </a:lnT>
                    <a:lnB w="6668">
                      <a:solidFill>
                        <a:srgbClr val="D1D5DB"/>
                      </a:solidFill>
                      <a:prstDash val="solid"/>
                    </a:lnB>
                    <a:solidFill>
                      <a:srgbClr val="374151"/>
                    </a:solidFill>
                  </a:tcPr>
                </a:tc>
                <a:tc>
                  <a:txBody>
                    <a:bodyPr/>
                    <a:lstStyle/>
                    <a:p>
                      <a:r>
                        <a:rPr sz="1725" b="1">
                          <a:solidFill>
                            <a:srgbClr val="FFFFFF"/>
                          </a:solidFill>
                          <a:latin typeface="Times New Roman"/>
                          <a:ea typeface="Times New Roman"/>
                          <a:cs typeface="Times New Roman"/>
                        </a:rPr>
                        <a:t>General hint</a:t>
                      </a:r>
                    </a:p>
                  </a:txBody>
                  <a:tcPr>
                    <a:lnL w="6668" cap="flat" cmpd="sng" algn="ctr">
                      <a:solidFill>
                        <a:srgbClr val="D1D5DB"/>
                      </a:solidFill>
                      <a:prstDash val="solid"/>
                      <a:round/>
                      <a:headEnd type="none" w="med" len="med"/>
                      <a:tailEnd type="none" w="med" len="med"/>
                    </a:lnL>
                    <a:lnR w="6668">
                      <a:solidFill>
                        <a:srgbClr val="D1D5DB"/>
                      </a:solidFill>
                      <a:prstDash val="solid"/>
                    </a:lnR>
                    <a:lnT w="6668">
                      <a:solidFill>
                        <a:srgbClr val="D1D5DB"/>
                      </a:solidFill>
                      <a:prstDash val="solid"/>
                    </a:lnT>
                    <a:lnB w="6668">
                      <a:solidFill>
                        <a:srgbClr val="D1D5DB"/>
                      </a:solidFill>
                      <a:prstDash val="solid"/>
                    </a:lnB>
                    <a:solidFill>
                      <a:srgbClr val="374151"/>
                    </a:solidFill>
                  </a:tcPr>
                </a:tc>
                <a:tc>
                  <a:txBody>
                    <a:bodyPr/>
                    <a:lstStyle/>
                    <a:p>
                      <a:r>
                        <a:rPr sz="1725" b="1">
                          <a:solidFill>
                            <a:srgbClr val="FFFFFF"/>
                          </a:solidFill>
                          <a:latin typeface="Times New Roman"/>
                          <a:ea typeface="Times New Roman"/>
                          <a:cs typeface="Times New Roman"/>
                        </a:rPr>
                        <a:t>Physics hint</a:t>
                      </a:r>
                    </a:p>
                  </a:txBody>
                  <a:tcPr>
                    <a:lnL w="6668" cap="flat" cmpd="sng" algn="ctr">
                      <a:solidFill>
                        <a:srgbClr val="D1D5DB"/>
                      </a:solidFill>
                      <a:prstDash val="solid"/>
                      <a:round/>
                      <a:headEnd type="none" w="med" len="med"/>
                      <a:tailEnd type="none" w="med" len="med"/>
                    </a:lnL>
                    <a:lnR w="6668">
                      <a:solidFill>
                        <a:srgbClr val="D1D5DB"/>
                      </a:solidFill>
                      <a:prstDash val="solid"/>
                    </a:lnR>
                    <a:lnT w="6668">
                      <a:solidFill>
                        <a:srgbClr val="D1D5DB"/>
                      </a:solidFill>
                      <a:prstDash val="solid"/>
                    </a:lnT>
                    <a:lnB w="6668">
                      <a:solidFill>
                        <a:srgbClr val="D1D5DB"/>
                      </a:solidFill>
                      <a:prstDash val="solid"/>
                    </a:lnB>
                    <a:solidFill>
                      <a:srgbClr val="374151"/>
                    </a:solidFill>
                  </a:tcPr>
                </a:tc>
                <a:extLst>
                  <a:ext uri="{0D108BD9-81ED-4DB2-BD59-A6C34878D82A}">
                    <a16:rowId xmlns:a16="http://schemas.microsoft.com/office/drawing/2014/main" val="10000"/>
                  </a:ext>
                </a:extLst>
              </a:tr>
              <a:tr h="376670">
                <a:tc>
                  <a:txBody>
                    <a:bodyPr/>
                    <a:lstStyle/>
                    <a:p>
                      <a:r>
                        <a:rPr sz="1725" b="0">
                          <a:solidFill>
                            <a:srgbClr val="111111"/>
                          </a:solidFill>
                          <a:latin typeface="Times New Roman"/>
                          <a:ea typeface="Times New Roman"/>
                          <a:cs typeface="Times New Roman"/>
                        </a:rPr>
                        <a:t>Luna</a:t>
                      </a:r>
                    </a:p>
                  </a:txBody>
                  <a:tcPr>
                    <a:lnL w="6668">
                      <a:solidFill>
                        <a:srgbClr val="D1D5DB"/>
                      </a:solidFill>
                      <a:prstDash val="solid"/>
                    </a:lnL>
                    <a:lnR w="6668">
                      <a:solidFill>
                        <a:srgbClr val="D1D5DB"/>
                      </a:solidFill>
                      <a:prstDash val="solid"/>
                    </a:lnR>
                    <a:lnT w="6668" cap="flat" cmpd="sng" algn="ctr">
                      <a:solidFill>
                        <a:srgbClr val="D1D5DB"/>
                      </a:solidFill>
                      <a:prstDash val="solid"/>
                      <a:round/>
                      <a:headEnd type="none" w="med" len="med"/>
                      <a:tailEnd type="none" w="med" len="med"/>
                    </a:lnT>
                    <a:lnB w="6668">
                      <a:solidFill>
                        <a:srgbClr val="D1D5DB"/>
                      </a:solidFill>
                      <a:prstDash val="solid"/>
                    </a:lnB>
                    <a:solidFill>
                      <a:srgbClr val="FFFFFF"/>
                    </a:solidFill>
                  </a:tcPr>
                </a:tc>
                <a:tc>
                  <a:txBody>
                    <a:bodyPr/>
                    <a:lstStyle/>
                    <a:p>
                      <a:r>
                        <a:rPr sz="1725" b="0">
                          <a:solidFill>
                            <a:srgbClr val="111111"/>
                          </a:solidFill>
                          <a:latin typeface="Times New Roman"/>
                          <a:ea typeface="Times New Roman"/>
                          <a:cs typeface="Times New Roman"/>
                        </a:rPr>
                        <a:t>None</a:t>
                      </a:r>
                    </a:p>
                  </a:txBody>
                  <a:tcPr>
                    <a:lnL w="6668" cap="flat" cmpd="sng" algn="ctr">
                      <a:solidFill>
                        <a:srgbClr val="D1D5DB"/>
                      </a:solidFill>
                      <a:prstDash val="solid"/>
                      <a:round/>
                      <a:headEnd type="none" w="med" len="med"/>
                      <a:tailEnd type="none" w="med" len="med"/>
                    </a:lnL>
                    <a:lnR w="6668">
                      <a:solidFill>
                        <a:srgbClr val="D1D5DB"/>
                      </a:solidFill>
                      <a:prstDash val="solid"/>
                    </a:lnR>
                    <a:lnT w="6668" cap="flat" cmpd="sng" algn="ctr">
                      <a:solidFill>
                        <a:srgbClr val="D1D5DB"/>
                      </a:solidFill>
                      <a:prstDash val="solid"/>
                      <a:round/>
                      <a:headEnd type="none" w="med" len="med"/>
                      <a:tailEnd type="none" w="med" len="med"/>
                    </a:lnT>
                    <a:lnB w="6668">
                      <a:solidFill>
                        <a:srgbClr val="D1D5DB"/>
                      </a:solidFill>
                      <a:prstDash val="solid"/>
                    </a:lnB>
                    <a:solidFill>
                      <a:srgbClr val="FFFFFF"/>
                    </a:solidFill>
                  </a:tcPr>
                </a:tc>
                <a:tc>
                  <a:txBody>
                    <a:bodyPr/>
                    <a:lstStyle/>
                    <a:p>
                      <a:r>
                        <a:rPr sz="1725" b="0">
                          <a:solidFill>
                            <a:srgbClr val="111111"/>
                          </a:solidFill>
                          <a:latin typeface="Times New Roman"/>
                          <a:ea typeface="Times New Roman"/>
                          <a:cs typeface="Times New Roman"/>
                        </a:rPr>
                        <a:t>1/39 (0)</a:t>
                      </a:r>
                    </a:p>
                  </a:txBody>
                  <a:tcPr>
                    <a:lnL w="6668" cap="flat" cmpd="sng" algn="ctr">
                      <a:solidFill>
                        <a:srgbClr val="D1D5DB"/>
                      </a:solidFill>
                      <a:prstDash val="solid"/>
                      <a:round/>
                      <a:headEnd type="none" w="med" len="med"/>
                      <a:tailEnd type="none" w="med" len="med"/>
                    </a:lnL>
                    <a:lnR w="6668">
                      <a:solidFill>
                        <a:srgbClr val="D1D5DB"/>
                      </a:solidFill>
                      <a:prstDash val="solid"/>
                    </a:lnR>
                    <a:lnT w="6668" cap="flat" cmpd="sng" algn="ctr">
                      <a:solidFill>
                        <a:srgbClr val="D1D5DB"/>
                      </a:solidFill>
                      <a:prstDash val="solid"/>
                      <a:round/>
                      <a:headEnd type="none" w="med" len="med"/>
                      <a:tailEnd type="none" w="med" len="med"/>
                    </a:lnT>
                    <a:lnB w="6668">
                      <a:solidFill>
                        <a:srgbClr val="D1D5DB"/>
                      </a:solidFill>
                      <a:prstDash val="solid"/>
                    </a:lnB>
                    <a:solidFill>
                      <a:srgbClr val="FFFFFF"/>
                    </a:solidFill>
                  </a:tcPr>
                </a:tc>
                <a:tc>
                  <a:txBody>
                    <a:bodyPr/>
                    <a:lstStyle/>
                    <a:p>
                      <a:r>
                        <a:rPr sz="1725" b="0">
                          <a:solidFill>
                            <a:srgbClr val="111111"/>
                          </a:solidFill>
                          <a:latin typeface="Times New Roman"/>
                          <a:ea typeface="Times New Roman"/>
                          <a:cs typeface="Times New Roman"/>
                        </a:rPr>
                        <a:t>1/39 (0)</a:t>
                      </a:r>
                    </a:p>
                  </a:txBody>
                  <a:tcPr>
                    <a:lnL w="6668" cap="flat" cmpd="sng" algn="ctr">
                      <a:solidFill>
                        <a:srgbClr val="D1D5DB"/>
                      </a:solidFill>
                      <a:prstDash val="solid"/>
                      <a:round/>
                      <a:headEnd type="none" w="med" len="med"/>
                      <a:tailEnd type="none" w="med" len="med"/>
                    </a:lnL>
                    <a:lnR w="6668">
                      <a:solidFill>
                        <a:srgbClr val="D1D5DB"/>
                      </a:solidFill>
                      <a:prstDash val="solid"/>
                    </a:lnR>
                    <a:lnT w="6668" cap="flat" cmpd="sng" algn="ctr">
                      <a:solidFill>
                        <a:srgbClr val="D1D5DB"/>
                      </a:solidFill>
                      <a:prstDash val="solid"/>
                      <a:round/>
                      <a:headEnd type="none" w="med" len="med"/>
                      <a:tailEnd type="none" w="med" len="med"/>
                    </a:lnT>
                    <a:lnB w="6668">
                      <a:solidFill>
                        <a:srgbClr val="D1D5DB"/>
                      </a:solidFill>
                      <a:prstDash val="solid"/>
                    </a:lnB>
                    <a:solidFill>
                      <a:srgbClr val="FFFFFF"/>
                    </a:solidFill>
                  </a:tcPr>
                </a:tc>
                <a:tc>
                  <a:txBody>
                    <a:bodyPr/>
                    <a:lstStyle/>
                    <a:p>
                      <a:r>
                        <a:rPr sz="1725" b="0">
                          <a:solidFill>
                            <a:srgbClr val="111111"/>
                          </a:solidFill>
                          <a:latin typeface="Times New Roman"/>
                          <a:ea typeface="Times New Roman"/>
                          <a:cs typeface="Times New Roman"/>
                        </a:rPr>
                        <a:t>3/39 (2)</a:t>
                      </a:r>
                    </a:p>
                  </a:txBody>
                  <a:tcPr>
                    <a:lnL w="6668" cap="flat" cmpd="sng" algn="ctr">
                      <a:solidFill>
                        <a:srgbClr val="D1D5DB"/>
                      </a:solidFill>
                      <a:prstDash val="solid"/>
                      <a:round/>
                      <a:headEnd type="none" w="med" len="med"/>
                      <a:tailEnd type="none" w="med" len="med"/>
                    </a:lnL>
                    <a:lnR w="6668">
                      <a:solidFill>
                        <a:srgbClr val="D1D5DB"/>
                      </a:solidFill>
                      <a:prstDash val="solid"/>
                    </a:lnR>
                    <a:lnT w="6668" cap="flat" cmpd="sng" algn="ctr">
                      <a:solidFill>
                        <a:srgbClr val="D1D5DB"/>
                      </a:solidFill>
                      <a:prstDash val="solid"/>
                      <a:round/>
                      <a:headEnd type="none" w="med" len="med"/>
                      <a:tailEnd type="none" w="med" len="med"/>
                    </a:lnT>
                    <a:lnB w="6668">
                      <a:solidFill>
                        <a:srgbClr val="D1D5DB"/>
                      </a:solidFill>
                      <a:prstDash val="solid"/>
                    </a:lnB>
                    <a:solidFill>
                      <a:srgbClr val="FFFFFF"/>
                    </a:solidFill>
                  </a:tcPr>
                </a:tc>
                <a:extLst>
                  <a:ext uri="{0D108BD9-81ED-4DB2-BD59-A6C34878D82A}">
                    <a16:rowId xmlns:a16="http://schemas.microsoft.com/office/drawing/2014/main" val="10001"/>
                  </a:ext>
                </a:extLst>
              </a:tr>
              <a:tr h="376670">
                <a:tc>
                  <a:txBody>
                    <a:bodyPr/>
                    <a:lstStyle/>
                    <a:p>
                      <a:r>
                        <a:rPr sz="1725" b="0">
                          <a:solidFill>
                            <a:srgbClr val="111111"/>
                          </a:solidFill>
                          <a:latin typeface="Times New Roman"/>
                          <a:ea typeface="Times New Roman"/>
                          <a:cs typeface="Times New Roman"/>
                        </a:rPr>
                        <a:t>Luna</a:t>
                      </a:r>
                    </a:p>
                  </a:txBody>
                  <a:tcPr>
                    <a:lnL w="6668">
                      <a:solidFill>
                        <a:srgbClr val="D1D5DB"/>
                      </a:solidFill>
                      <a:prstDash val="solid"/>
                    </a:lnL>
                    <a:lnR w="6668">
                      <a:solidFill>
                        <a:srgbClr val="D1D5DB"/>
                      </a:solidFill>
                      <a:prstDash val="solid"/>
                    </a:lnR>
                    <a:lnT w="6668" cap="flat" cmpd="sng" algn="ctr">
                      <a:solidFill>
                        <a:srgbClr val="D1D5DB"/>
                      </a:solidFill>
                      <a:prstDash val="solid"/>
                      <a:round/>
                      <a:headEnd type="none" w="med" len="med"/>
                      <a:tailEnd type="none" w="med" len="med"/>
                    </a:lnT>
                    <a:lnB w="6668">
                      <a:solidFill>
                        <a:srgbClr val="D1D5DB"/>
                      </a:solidFill>
                      <a:prstDash val="solid"/>
                    </a:lnB>
                    <a:solidFill>
                      <a:srgbClr val="F3F4F6"/>
                    </a:solidFill>
                  </a:tcPr>
                </a:tc>
                <a:tc>
                  <a:txBody>
                    <a:bodyPr/>
                    <a:lstStyle/>
                    <a:p>
                      <a:r>
                        <a:rPr sz="1725" b="0">
                          <a:solidFill>
                            <a:srgbClr val="111111"/>
                          </a:solidFill>
                          <a:latin typeface="Times New Roman"/>
                          <a:ea typeface="Times New Roman"/>
                          <a:cs typeface="Times New Roman"/>
                        </a:rPr>
                        <a:t>Low</a:t>
                      </a:r>
                    </a:p>
                  </a:txBody>
                  <a:tcPr>
                    <a:lnL w="6668" cap="flat" cmpd="sng" algn="ctr">
                      <a:solidFill>
                        <a:srgbClr val="D1D5DB"/>
                      </a:solidFill>
                      <a:prstDash val="solid"/>
                      <a:round/>
                      <a:headEnd type="none" w="med" len="med"/>
                      <a:tailEnd type="none" w="med" len="med"/>
                    </a:lnL>
                    <a:lnR w="6668">
                      <a:solidFill>
                        <a:srgbClr val="D1D5DB"/>
                      </a:solidFill>
                      <a:prstDash val="solid"/>
                    </a:lnR>
                    <a:lnT w="6668" cap="flat" cmpd="sng" algn="ctr">
                      <a:solidFill>
                        <a:srgbClr val="D1D5DB"/>
                      </a:solidFill>
                      <a:prstDash val="solid"/>
                      <a:round/>
                      <a:headEnd type="none" w="med" len="med"/>
                      <a:tailEnd type="none" w="med" len="med"/>
                    </a:lnT>
                    <a:lnB w="6668">
                      <a:solidFill>
                        <a:srgbClr val="D1D5DB"/>
                      </a:solidFill>
                      <a:prstDash val="solid"/>
                    </a:lnB>
                    <a:solidFill>
                      <a:srgbClr val="F3F4F6"/>
                    </a:solidFill>
                  </a:tcPr>
                </a:tc>
                <a:tc>
                  <a:txBody>
                    <a:bodyPr/>
                    <a:lstStyle/>
                    <a:p>
                      <a:r>
                        <a:rPr sz="1725" b="0">
                          <a:solidFill>
                            <a:srgbClr val="111111"/>
                          </a:solidFill>
                          <a:latin typeface="Times New Roman"/>
                          <a:ea typeface="Times New Roman"/>
                          <a:cs typeface="Times New Roman"/>
                        </a:rPr>
                        <a:t>0/39 (0)</a:t>
                      </a:r>
                    </a:p>
                  </a:txBody>
                  <a:tcPr>
                    <a:lnL w="6668" cap="flat" cmpd="sng" algn="ctr">
                      <a:solidFill>
                        <a:srgbClr val="D1D5DB"/>
                      </a:solidFill>
                      <a:prstDash val="solid"/>
                      <a:round/>
                      <a:headEnd type="none" w="med" len="med"/>
                      <a:tailEnd type="none" w="med" len="med"/>
                    </a:lnL>
                    <a:lnR w="6668">
                      <a:solidFill>
                        <a:srgbClr val="D1D5DB"/>
                      </a:solidFill>
                      <a:prstDash val="solid"/>
                    </a:lnR>
                    <a:lnT w="6668" cap="flat" cmpd="sng" algn="ctr">
                      <a:solidFill>
                        <a:srgbClr val="D1D5DB"/>
                      </a:solidFill>
                      <a:prstDash val="solid"/>
                      <a:round/>
                      <a:headEnd type="none" w="med" len="med"/>
                      <a:tailEnd type="none" w="med" len="med"/>
                    </a:lnT>
                    <a:lnB w="6668">
                      <a:solidFill>
                        <a:srgbClr val="D1D5DB"/>
                      </a:solidFill>
                      <a:prstDash val="solid"/>
                    </a:lnB>
                    <a:solidFill>
                      <a:srgbClr val="F3F4F6"/>
                    </a:solidFill>
                  </a:tcPr>
                </a:tc>
                <a:tc>
                  <a:txBody>
                    <a:bodyPr/>
                    <a:lstStyle/>
                    <a:p>
                      <a:r>
                        <a:rPr sz="1725" b="0">
                          <a:solidFill>
                            <a:srgbClr val="111111"/>
                          </a:solidFill>
                          <a:latin typeface="Times New Roman"/>
                          <a:ea typeface="Times New Roman"/>
                          <a:cs typeface="Times New Roman"/>
                        </a:rPr>
                        <a:t>0/39 (0)</a:t>
                      </a:r>
                    </a:p>
                  </a:txBody>
                  <a:tcPr>
                    <a:lnL w="6668" cap="flat" cmpd="sng" algn="ctr">
                      <a:solidFill>
                        <a:srgbClr val="D1D5DB"/>
                      </a:solidFill>
                      <a:prstDash val="solid"/>
                      <a:round/>
                      <a:headEnd type="none" w="med" len="med"/>
                      <a:tailEnd type="none" w="med" len="med"/>
                    </a:lnL>
                    <a:lnR w="6668">
                      <a:solidFill>
                        <a:srgbClr val="D1D5DB"/>
                      </a:solidFill>
                      <a:prstDash val="solid"/>
                    </a:lnR>
                    <a:lnT w="6668" cap="flat" cmpd="sng" algn="ctr">
                      <a:solidFill>
                        <a:srgbClr val="D1D5DB"/>
                      </a:solidFill>
                      <a:prstDash val="solid"/>
                      <a:round/>
                      <a:headEnd type="none" w="med" len="med"/>
                      <a:tailEnd type="none" w="med" len="med"/>
                    </a:lnT>
                    <a:lnB w="6668">
                      <a:solidFill>
                        <a:srgbClr val="D1D5DB"/>
                      </a:solidFill>
                      <a:prstDash val="solid"/>
                    </a:lnB>
                    <a:solidFill>
                      <a:srgbClr val="F3F4F6"/>
                    </a:solidFill>
                  </a:tcPr>
                </a:tc>
                <a:tc>
                  <a:txBody>
                    <a:bodyPr/>
                    <a:lstStyle/>
                    <a:p>
                      <a:r>
                        <a:rPr sz="1725" b="0">
                          <a:solidFill>
                            <a:srgbClr val="111111"/>
                          </a:solidFill>
                          <a:latin typeface="Times New Roman"/>
                          <a:ea typeface="Times New Roman"/>
                          <a:cs typeface="Times New Roman"/>
                        </a:rPr>
                        <a:t>8/39 (0)</a:t>
                      </a:r>
                    </a:p>
                  </a:txBody>
                  <a:tcPr>
                    <a:lnL w="6668" cap="flat" cmpd="sng" algn="ctr">
                      <a:solidFill>
                        <a:srgbClr val="D1D5DB"/>
                      </a:solidFill>
                      <a:prstDash val="solid"/>
                      <a:round/>
                      <a:headEnd type="none" w="med" len="med"/>
                      <a:tailEnd type="none" w="med" len="med"/>
                    </a:lnL>
                    <a:lnR w="6668">
                      <a:solidFill>
                        <a:srgbClr val="D1D5DB"/>
                      </a:solidFill>
                      <a:prstDash val="solid"/>
                    </a:lnR>
                    <a:lnT w="6668" cap="flat" cmpd="sng" algn="ctr">
                      <a:solidFill>
                        <a:srgbClr val="D1D5DB"/>
                      </a:solidFill>
                      <a:prstDash val="solid"/>
                      <a:round/>
                      <a:headEnd type="none" w="med" len="med"/>
                      <a:tailEnd type="none" w="med" len="med"/>
                    </a:lnT>
                    <a:lnB w="6668">
                      <a:solidFill>
                        <a:srgbClr val="D1D5DB"/>
                      </a:solidFill>
                      <a:prstDash val="solid"/>
                    </a:lnB>
                    <a:solidFill>
                      <a:srgbClr val="F3F4F6"/>
                    </a:solidFill>
                  </a:tcPr>
                </a:tc>
                <a:extLst>
                  <a:ext uri="{0D108BD9-81ED-4DB2-BD59-A6C34878D82A}">
                    <a16:rowId xmlns:a16="http://schemas.microsoft.com/office/drawing/2014/main" val="10002"/>
                  </a:ext>
                </a:extLst>
              </a:tr>
              <a:tr h="376670">
                <a:tc>
                  <a:txBody>
                    <a:bodyPr/>
                    <a:lstStyle/>
                    <a:p>
                      <a:r>
                        <a:rPr sz="1725" b="0">
                          <a:solidFill>
                            <a:srgbClr val="111111"/>
                          </a:solidFill>
                          <a:latin typeface="Times New Roman"/>
                          <a:ea typeface="Times New Roman"/>
                          <a:cs typeface="Times New Roman"/>
                        </a:rPr>
                        <a:t>Luna</a:t>
                      </a:r>
                    </a:p>
                  </a:txBody>
                  <a:tcPr>
                    <a:lnL w="6668">
                      <a:solidFill>
                        <a:srgbClr val="D1D5DB"/>
                      </a:solidFill>
                      <a:prstDash val="solid"/>
                    </a:lnL>
                    <a:lnR w="6668">
                      <a:solidFill>
                        <a:srgbClr val="D1D5DB"/>
                      </a:solidFill>
                      <a:prstDash val="solid"/>
                    </a:lnR>
                    <a:lnT w="6668" cap="flat" cmpd="sng" algn="ctr">
                      <a:solidFill>
                        <a:srgbClr val="D1D5DB"/>
                      </a:solidFill>
                      <a:prstDash val="solid"/>
                      <a:round/>
                      <a:headEnd type="none" w="med" len="med"/>
                      <a:tailEnd type="none" w="med" len="med"/>
                    </a:lnT>
                    <a:lnB w="6668">
                      <a:solidFill>
                        <a:srgbClr val="D1D5DB"/>
                      </a:solidFill>
                      <a:prstDash val="solid"/>
                    </a:lnB>
                    <a:solidFill>
                      <a:srgbClr val="FFFFFF"/>
                    </a:solidFill>
                  </a:tcPr>
                </a:tc>
                <a:tc>
                  <a:txBody>
                    <a:bodyPr/>
                    <a:lstStyle/>
                    <a:p>
                      <a:r>
                        <a:rPr sz="1725" b="0">
                          <a:solidFill>
                            <a:srgbClr val="111111"/>
                          </a:solidFill>
                          <a:latin typeface="Times New Roman"/>
                          <a:ea typeface="Times New Roman"/>
                          <a:cs typeface="Times New Roman"/>
                        </a:rPr>
                        <a:t>Medium</a:t>
                      </a:r>
                    </a:p>
                  </a:txBody>
                  <a:tcPr>
                    <a:lnL w="6668" cap="flat" cmpd="sng" algn="ctr">
                      <a:solidFill>
                        <a:srgbClr val="D1D5DB"/>
                      </a:solidFill>
                      <a:prstDash val="solid"/>
                      <a:round/>
                      <a:headEnd type="none" w="med" len="med"/>
                      <a:tailEnd type="none" w="med" len="med"/>
                    </a:lnL>
                    <a:lnR w="6668">
                      <a:solidFill>
                        <a:srgbClr val="D1D5DB"/>
                      </a:solidFill>
                      <a:prstDash val="solid"/>
                    </a:lnR>
                    <a:lnT w="6668" cap="flat" cmpd="sng" algn="ctr">
                      <a:solidFill>
                        <a:srgbClr val="D1D5DB"/>
                      </a:solidFill>
                      <a:prstDash val="solid"/>
                      <a:round/>
                      <a:headEnd type="none" w="med" len="med"/>
                      <a:tailEnd type="none" w="med" len="med"/>
                    </a:lnT>
                    <a:lnB w="6668">
                      <a:solidFill>
                        <a:srgbClr val="D1D5DB"/>
                      </a:solidFill>
                      <a:prstDash val="solid"/>
                    </a:lnB>
                    <a:solidFill>
                      <a:srgbClr val="FFFFFF"/>
                    </a:solidFill>
                  </a:tcPr>
                </a:tc>
                <a:tc>
                  <a:txBody>
                    <a:bodyPr/>
                    <a:lstStyle/>
                    <a:p>
                      <a:r>
                        <a:rPr sz="1725" b="0">
                          <a:solidFill>
                            <a:srgbClr val="111111"/>
                          </a:solidFill>
                          <a:latin typeface="Times New Roman"/>
                          <a:ea typeface="Times New Roman"/>
                          <a:cs typeface="Times New Roman"/>
                        </a:rPr>
                        <a:t>0/39 (0)</a:t>
                      </a:r>
                    </a:p>
                  </a:txBody>
                  <a:tcPr>
                    <a:lnL w="6668" cap="flat" cmpd="sng" algn="ctr">
                      <a:solidFill>
                        <a:srgbClr val="D1D5DB"/>
                      </a:solidFill>
                      <a:prstDash val="solid"/>
                      <a:round/>
                      <a:headEnd type="none" w="med" len="med"/>
                      <a:tailEnd type="none" w="med" len="med"/>
                    </a:lnL>
                    <a:lnR w="6668">
                      <a:solidFill>
                        <a:srgbClr val="D1D5DB"/>
                      </a:solidFill>
                      <a:prstDash val="solid"/>
                    </a:lnR>
                    <a:lnT w="6668" cap="flat" cmpd="sng" algn="ctr">
                      <a:solidFill>
                        <a:srgbClr val="D1D5DB"/>
                      </a:solidFill>
                      <a:prstDash val="solid"/>
                      <a:round/>
                      <a:headEnd type="none" w="med" len="med"/>
                      <a:tailEnd type="none" w="med" len="med"/>
                    </a:lnT>
                    <a:lnB w="6668">
                      <a:solidFill>
                        <a:srgbClr val="D1D5DB"/>
                      </a:solidFill>
                      <a:prstDash val="solid"/>
                    </a:lnB>
                    <a:solidFill>
                      <a:srgbClr val="FFFFFF"/>
                    </a:solidFill>
                  </a:tcPr>
                </a:tc>
                <a:tc>
                  <a:txBody>
                    <a:bodyPr/>
                    <a:lstStyle/>
                    <a:p>
                      <a:r>
                        <a:rPr sz="1725" b="0">
                          <a:solidFill>
                            <a:srgbClr val="111111"/>
                          </a:solidFill>
                          <a:latin typeface="Times New Roman"/>
                          <a:ea typeface="Times New Roman"/>
                          <a:cs typeface="Times New Roman"/>
                        </a:rPr>
                        <a:t>9/39 (0)</a:t>
                      </a:r>
                    </a:p>
                  </a:txBody>
                  <a:tcPr>
                    <a:lnL w="6668" cap="flat" cmpd="sng" algn="ctr">
                      <a:solidFill>
                        <a:srgbClr val="D1D5DB"/>
                      </a:solidFill>
                      <a:prstDash val="solid"/>
                      <a:round/>
                      <a:headEnd type="none" w="med" len="med"/>
                      <a:tailEnd type="none" w="med" len="med"/>
                    </a:lnL>
                    <a:lnR w="6668">
                      <a:solidFill>
                        <a:srgbClr val="D1D5DB"/>
                      </a:solidFill>
                      <a:prstDash val="solid"/>
                    </a:lnR>
                    <a:lnT w="6668" cap="flat" cmpd="sng" algn="ctr">
                      <a:solidFill>
                        <a:srgbClr val="D1D5DB"/>
                      </a:solidFill>
                      <a:prstDash val="solid"/>
                      <a:round/>
                      <a:headEnd type="none" w="med" len="med"/>
                      <a:tailEnd type="none" w="med" len="med"/>
                    </a:lnT>
                    <a:lnB w="6668">
                      <a:solidFill>
                        <a:srgbClr val="D1D5DB"/>
                      </a:solidFill>
                      <a:prstDash val="solid"/>
                    </a:lnB>
                    <a:solidFill>
                      <a:srgbClr val="FFFFFF"/>
                    </a:solidFill>
                  </a:tcPr>
                </a:tc>
                <a:tc>
                  <a:txBody>
                    <a:bodyPr/>
                    <a:lstStyle/>
                    <a:p>
                      <a:r>
                        <a:rPr sz="1725" b="0">
                          <a:solidFill>
                            <a:srgbClr val="111111"/>
                          </a:solidFill>
                          <a:latin typeface="Times New Roman"/>
                          <a:ea typeface="Times New Roman"/>
                          <a:cs typeface="Times New Roman"/>
                        </a:rPr>
                        <a:t>16/39 (1)</a:t>
                      </a:r>
                    </a:p>
                  </a:txBody>
                  <a:tcPr>
                    <a:lnL w="6668" cap="flat" cmpd="sng" algn="ctr">
                      <a:solidFill>
                        <a:srgbClr val="D1D5DB"/>
                      </a:solidFill>
                      <a:prstDash val="solid"/>
                      <a:round/>
                      <a:headEnd type="none" w="med" len="med"/>
                      <a:tailEnd type="none" w="med" len="med"/>
                    </a:lnL>
                    <a:lnR w="6668">
                      <a:solidFill>
                        <a:srgbClr val="D1D5DB"/>
                      </a:solidFill>
                      <a:prstDash val="solid"/>
                    </a:lnR>
                    <a:lnT w="6668" cap="flat" cmpd="sng" algn="ctr">
                      <a:solidFill>
                        <a:srgbClr val="D1D5DB"/>
                      </a:solidFill>
                      <a:prstDash val="solid"/>
                      <a:round/>
                      <a:headEnd type="none" w="med" len="med"/>
                      <a:tailEnd type="none" w="med" len="med"/>
                    </a:lnT>
                    <a:lnB w="6668">
                      <a:solidFill>
                        <a:srgbClr val="D1D5DB"/>
                      </a:solidFill>
                      <a:prstDash val="solid"/>
                    </a:lnB>
                    <a:solidFill>
                      <a:srgbClr val="FFFFFF"/>
                    </a:solidFill>
                  </a:tcPr>
                </a:tc>
                <a:extLst>
                  <a:ext uri="{0D108BD9-81ED-4DB2-BD59-A6C34878D82A}">
                    <a16:rowId xmlns:a16="http://schemas.microsoft.com/office/drawing/2014/main" val="10003"/>
                  </a:ext>
                </a:extLst>
              </a:tr>
              <a:tr h="376670">
                <a:tc>
                  <a:txBody>
                    <a:bodyPr/>
                    <a:lstStyle/>
                    <a:p>
                      <a:r>
                        <a:rPr sz="1725" b="0">
                          <a:solidFill>
                            <a:srgbClr val="111111"/>
                          </a:solidFill>
                          <a:latin typeface="Times New Roman"/>
                          <a:ea typeface="Times New Roman"/>
                          <a:cs typeface="Times New Roman"/>
                        </a:rPr>
                        <a:t>Luna</a:t>
                      </a:r>
                    </a:p>
                  </a:txBody>
                  <a:tcPr>
                    <a:lnL w="6668">
                      <a:solidFill>
                        <a:srgbClr val="D1D5DB"/>
                      </a:solidFill>
                      <a:prstDash val="solid"/>
                    </a:lnL>
                    <a:lnR w="6668">
                      <a:solidFill>
                        <a:srgbClr val="D1D5DB"/>
                      </a:solidFill>
                      <a:prstDash val="solid"/>
                    </a:lnR>
                    <a:lnT w="6668" cap="flat" cmpd="sng" algn="ctr">
                      <a:solidFill>
                        <a:srgbClr val="D1D5DB"/>
                      </a:solidFill>
                      <a:prstDash val="solid"/>
                      <a:round/>
                      <a:headEnd type="none" w="med" len="med"/>
                      <a:tailEnd type="none" w="med" len="med"/>
                    </a:lnT>
                    <a:lnB w="6668">
                      <a:solidFill>
                        <a:srgbClr val="D1D5DB"/>
                      </a:solidFill>
                      <a:prstDash val="solid"/>
                    </a:lnB>
                    <a:solidFill>
                      <a:srgbClr val="F3F4F6"/>
                    </a:solidFill>
                  </a:tcPr>
                </a:tc>
                <a:tc>
                  <a:txBody>
                    <a:bodyPr/>
                    <a:lstStyle/>
                    <a:p>
                      <a:r>
                        <a:rPr sz="1725" b="0">
                          <a:solidFill>
                            <a:srgbClr val="111111"/>
                          </a:solidFill>
                          <a:latin typeface="Times New Roman"/>
                          <a:ea typeface="Times New Roman"/>
                          <a:cs typeface="Times New Roman"/>
                        </a:rPr>
                        <a:t>High</a:t>
                      </a:r>
                    </a:p>
                  </a:txBody>
                  <a:tcPr>
                    <a:lnL w="6668" cap="flat" cmpd="sng" algn="ctr">
                      <a:solidFill>
                        <a:srgbClr val="D1D5DB"/>
                      </a:solidFill>
                      <a:prstDash val="solid"/>
                      <a:round/>
                      <a:headEnd type="none" w="med" len="med"/>
                      <a:tailEnd type="none" w="med" len="med"/>
                    </a:lnL>
                    <a:lnR w="6668">
                      <a:solidFill>
                        <a:srgbClr val="D1D5DB"/>
                      </a:solidFill>
                      <a:prstDash val="solid"/>
                    </a:lnR>
                    <a:lnT w="6668" cap="flat" cmpd="sng" algn="ctr">
                      <a:solidFill>
                        <a:srgbClr val="D1D5DB"/>
                      </a:solidFill>
                      <a:prstDash val="solid"/>
                      <a:round/>
                      <a:headEnd type="none" w="med" len="med"/>
                      <a:tailEnd type="none" w="med" len="med"/>
                    </a:lnT>
                    <a:lnB w="6668">
                      <a:solidFill>
                        <a:srgbClr val="D1D5DB"/>
                      </a:solidFill>
                      <a:prstDash val="solid"/>
                    </a:lnB>
                    <a:solidFill>
                      <a:srgbClr val="F3F4F6"/>
                    </a:solidFill>
                  </a:tcPr>
                </a:tc>
                <a:tc>
                  <a:txBody>
                    <a:bodyPr/>
                    <a:lstStyle/>
                    <a:p>
                      <a:r>
                        <a:rPr sz="1725" b="0">
                          <a:solidFill>
                            <a:srgbClr val="111111"/>
                          </a:solidFill>
                          <a:latin typeface="Times New Roman"/>
                          <a:ea typeface="Times New Roman"/>
                          <a:cs typeface="Times New Roman"/>
                        </a:rPr>
                        <a:t>4/39 (1)</a:t>
                      </a:r>
                    </a:p>
                  </a:txBody>
                  <a:tcPr>
                    <a:lnL w="6668" cap="flat" cmpd="sng" algn="ctr">
                      <a:solidFill>
                        <a:srgbClr val="D1D5DB"/>
                      </a:solidFill>
                      <a:prstDash val="solid"/>
                      <a:round/>
                      <a:headEnd type="none" w="med" len="med"/>
                      <a:tailEnd type="none" w="med" len="med"/>
                    </a:lnL>
                    <a:lnR w="6668">
                      <a:solidFill>
                        <a:srgbClr val="D1D5DB"/>
                      </a:solidFill>
                      <a:prstDash val="solid"/>
                    </a:lnR>
                    <a:lnT w="6668" cap="flat" cmpd="sng" algn="ctr">
                      <a:solidFill>
                        <a:srgbClr val="D1D5DB"/>
                      </a:solidFill>
                      <a:prstDash val="solid"/>
                      <a:round/>
                      <a:headEnd type="none" w="med" len="med"/>
                      <a:tailEnd type="none" w="med" len="med"/>
                    </a:lnT>
                    <a:lnB w="6668">
                      <a:solidFill>
                        <a:srgbClr val="D1D5DB"/>
                      </a:solidFill>
                      <a:prstDash val="solid"/>
                    </a:lnB>
                    <a:solidFill>
                      <a:srgbClr val="F3F4F6"/>
                    </a:solidFill>
                  </a:tcPr>
                </a:tc>
                <a:tc>
                  <a:txBody>
                    <a:bodyPr/>
                    <a:lstStyle/>
                    <a:p>
                      <a:r>
                        <a:rPr sz="1725" b="0">
                          <a:solidFill>
                            <a:srgbClr val="111111"/>
                          </a:solidFill>
                          <a:latin typeface="Times New Roman"/>
                          <a:ea typeface="Times New Roman"/>
                          <a:cs typeface="Times New Roman"/>
                        </a:rPr>
                        <a:t>18/39 (3)</a:t>
                      </a:r>
                    </a:p>
                  </a:txBody>
                  <a:tcPr>
                    <a:lnL w="6668" cap="flat" cmpd="sng" algn="ctr">
                      <a:solidFill>
                        <a:srgbClr val="D1D5DB"/>
                      </a:solidFill>
                      <a:prstDash val="solid"/>
                      <a:round/>
                      <a:headEnd type="none" w="med" len="med"/>
                      <a:tailEnd type="none" w="med" len="med"/>
                    </a:lnL>
                    <a:lnR w="6668">
                      <a:solidFill>
                        <a:srgbClr val="D1D5DB"/>
                      </a:solidFill>
                      <a:prstDash val="solid"/>
                    </a:lnR>
                    <a:lnT w="6668" cap="flat" cmpd="sng" algn="ctr">
                      <a:solidFill>
                        <a:srgbClr val="D1D5DB"/>
                      </a:solidFill>
                      <a:prstDash val="solid"/>
                      <a:round/>
                      <a:headEnd type="none" w="med" len="med"/>
                      <a:tailEnd type="none" w="med" len="med"/>
                    </a:lnT>
                    <a:lnB w="6668">
                      <a:solidFill>
                        <a:srgbClr val="D1D5DB"/>
                      </a:solidFill>
                      <a:prstDash val="solid"/>
                    </a:lnB>
                    <a:solidFill>
                      <a:srgbClr val="F3F4F6"/>
                    </a:solidFill>
                  </a:tcPr>
                </a:tc>
                <a:tc>
                  <a:txBody>
                    <a:bodyPr/>
                    <a:lstStyle/>
                    <a:p>
                      <a:r>
                        <a:rPr sz="1725" b="0">
                          <a:solidFill>
                            <a:srgbClr val="111111"/>
                          </a:solidFill>
                          <a:latin typeface="Times New Roman"/>
                          <a:ea typeface="Times New Roman"/>
                          <a:cs typeface="Times New Roman"/>
                        </a:rPr>
                        <a:t>30/39 (0)</a:t>
                      </a:r>
                    </a:p>
                  </a:txBody>
                  <a:tcPr>
                    <a:lnL w="6668" cap="flat" cmpd="sng" algn="ctr">
                      <a:solidFill>
                        <a:srgbClr val="D1D5DB"/>
                      </a:solidFill>
                      <a:prstDash val="solid"/>
                      <a:round/>
                      <a:headEnd type="none" w="med" len="med"/>
                      <a:tailEnd type="none" w="med" len="med"/>
                    </a:lnL>
                    <a:lnR w="6668">
                      <a:solidFill>
                        <a:srgbClr val="D1D5DB"/>
                      </a:solidFill>
                      <a:prstDash val="solid"/>
                    </a:lnR>
                    <a:lnT w="6668" cap="flat" cmpd="sng" algn="ctr">
                      <a:solidFill>
                        <a:srgbClr val="D1D5DB"/>
                      </a:solidFill>
                      <a:prstDash val="solid"/>
                      <a:round/>
                      <a:headEnd type="none" w="med" len="med"/>
                      <a:tailEnd type="none" w="med" len="med"/>
                    </a:lnT>
                    <a:lnB w="6668">
                      <a:solidFill>
                        <a:srgbClr val="D1D5DB"/>
                      </a:solidFill>
                      <a:prstDash val="solid"/>
                    </a:lnB>
                    <a:solidFill>
                      <a:srgbClr val="F3F4F6"/>
                    </a:solidFill>
                  </a:tcPr>
                </a:tc>
                <a:extLst>
                  <a:ext uri="{0D108BD9-81ED-4DB2-BD59-A6C34878D82A}">
                    <a16:rowId xmlns:a16="http://schemas.microsoft.com/office/drawing/2014/main" val="10004"/>
                  </a:ext>
                </a:extLst>
              </a:tr>
              <a:tr h="376670">
                <a:tc>
                  <a:txBody>
                    <a:bodyPr/>
                    <a:lstStyle/>
                    <a:p>
                      <a:r>
                        <a:rPr sz="1725" b="0">
                          <a:solidFill>
                            <a:srgbClr val="111111"/>
                          </a:solidFill>
                          <a:latin typeface="Times New Roman"/>
                          <a:ea typeface="Times New Roman"/>
                          <a:cs typeface="Times New Roman"/>
                        </a:rPr>
                        <a:t>Luna</a:t>
                      </a:r>
                    </a:p>
                  </a:txBody>
                  <a:tcPr>
                    <a:lnL w="6668">
                      <a:solidFill>
                        <a:srgbClr val="D1D5DB"/>
                      </a:solidFill>
                      <a:prstDash val="solid"/>
                    </a:lnL>
                    <a:lnR w="6668">
                      <a:solidFill>
                        <a:srgbClr val="D1D5DB"/>
                      </a:solidFill>
                      <a:prstDash val="solid"/>
                    </a:lnR>
                    <a:lnT w="6668" cap="flat" cmpd="sng" algn="ctr">
                      <a:solidFill>
                        <a:srgbClr val="D1D5DB"/>
                      </a:solidFill>
                      <a:prstDash val="solid"/>
                      <a:round/>
                      <a:headEnd type="none" w="med" len="med"/>
                      <a:tailEnd type="none" w="med" len="med"/>
                    </a:lnT>
                    <a:lnB w="6668">
                      <a:solidFill>
                        <a:srgbClr val="D1D5DB"/>
                      </a:solidFill>
                      <a:prstDash val="solid"/>
                    </a:lnB>
                    <a:solidFill>
                      <a:srgbClr val="FFFFFF"/>
                    </a:solidFill>
                  </a:tcPr>
                </a:tc>
                <a:tc>
                  <a:txBody>
                    <a:bodyPr/>
                    <a:lstStyle/>
                    <a:p>
                      <a:r>
                        <a:rPr sz="1725" b="0">
                          <a:solidFill>
                            <a:srgbClr val="111111"/>
                          </a:solidFill>
                          <a:latin typeface="Times New Roman"/>
                          <a:ea typeface="Times New Roman"/>
                          <a:cs typeface="Times New Roman"/>
                        </a:rPr>
                        <a:t>Extra High</a:t>
                      </a:r>
                    </a:p>
                  </a:txBody>
                  <a:tcPr>
                    <a:lnL w="6668" cap="flat" cmpd="sng" algn="ctr">
                      <a:solidFill>
                        <a:srgbClr val="D1D5DB"/>
                      </a:solidFill>
                      <a:prstDash val="solid"/>
                      <a:round/>
                      <a:headEnd type="none" w="med" len="med"/>
                      <a:tailEnd type="none" w="med" len="med"/>
                    </a:lnL>
                    <a:lnR w="6668">
                      <a:solidFill>
                        <a:srgbClr val="D1D5DB"/>
                      </a:solidFill>
                      <a:prstDash val="solid"/>
                    </a:lnR>
                    <a:lnT w="6668" cap="flat" cmpd="sng" algn="ctr">
                      <a:solidFill>
                        <a:srgbClr val="D1D5DB"/>
                      </a:solidFill>
                      <a:prstDash val="solid"/>
                      <a:round/>
                      <a:headEnd type="none" w="med" len="med"/>
                      <a:tailEnd type="none" w="med" len="med"/>
                    </a:lnT>
                    <a:lnB w="6668">
                      <a:solidFill>
                        <a:srgbClr val="D1D5DB"/>
                      </a:solidFill>
                      <a:prstDash val="solid"/>
                    </a:lnB>
                    <a:solidFill>
                      <a:srgbClr val="FFFFFF"/>
                    </a:solidFill>
                  </a:tcPr>
                </a:tc>
                <a:tc>
                  <a:txBody>
                    <a:bodyPr/>
                    <a:lstStyle/>
                    <a:p>
                      <a:r>
                        <a:rPr sz="1725" b="0">
                          <a:solidFill>
                            <a:srgbClr val="111111"/>
                          </a:solidFill>
                          <a:latin typeface="Times New Roman"/>
                          <a:ea typeface="Times New Roman"/>
                          <a:cs typeface="Times New Roman"/>
                        </a:rPr>
                        <a:t>6/39 (1)</a:t>
                      </a:r>
                    </a:p>
                  </a:txBody>
                  <a:tcPr>
                    <a:lnL w="6668" cap="flat" cmpd="sng" algn="ctr">
                      <a:solidFill>
                        <a:srgbClr val="D1D5DB"/>
                      </a:solidFill>
                      <a:prstDash val="solid"/>
                      <a:round/>
                      <a:headEnd type="none" w="med" len="med"/>
                      <a:tailEnd type="none" w="med" len="med"/>
                    </a:lnL>
                    <a:lnR w="6668">
                      <a:solidFill>
                        <a:srgbClr val="D1D5DB"/>
                      </a:solidFill>
                      <a:prstDash val="solid"/>
                    </a:lnR>
                    <a:lnT w="6668" cap="flat" cmpd="sng" algn="ctr">
                      <a:solidFill>
                        <a:srgbClr val="D1D5DB"/>
                      </a:solidFill>
                      <a:prstDash val="solid"/>
                      <a:round/>
                      <a:headEnd type="none" w="med" len="med"/>
                      <a:tailEnd type="none" w="med" len="med"/>
                    </a:lnT>
                    <a:lnB w="6668">
                      <a:solidFill>
                        <a:srgbClr val="D1D5DB"/>
                      </a:solidFill>
                      <a:prstDash val="solid"/>
                    </a:lnB>
                    <a:solidFill>
                      <a:srgbClr val="FFFFFF"/>
                    </a:solidFill>
                  </a:tcPr>
                </a:tc>
                <a:tc>
                  <a:txBody>
                    <a:bodyPr/>
                    <a:lstStyle/>
                    <a:p>
                      <a:r>
                        <a:rPr sz="1725" b="0">
                          <a:solidFill>
                            <a:srgbClr val="111111"/>
                          </a:solidFill>
                          <a:latin typeface="Times New Roman"/>
                          <a:ea typeface="Times New Roman"/>
                          <a:cs typeface="Times New Roman"/>
                        </a:rPr>
                        <a:t>22/39 (3)</a:t>
                      </a:r>
                    </a:p>
                  </a:txBody>
                  <a:tcPr>
                    <a:lnL w="6668" cap="flat" cmpd="sng" algn="ctr">
                      <a:solidFill>
                        <a:srgbClr val="D1D5DB"/>
                      </a:solidFill>
                      <a:prstDash val="solid"/>
                      <a:round/>
                      <a:headEnd type="none" w="med" len="med"/>
                      <a:tailEnd type="none" w="med" len="med"/>
                    </a:lnL>
                    <a:lnR w="6668">
                      <a:solidFill>
                        <a:srgbClr val="D1D5DB"/>
                      </a:solidFill>
                      <a:prstDash val="solid"/>
                    </a:lnR>
                    <a:lnT w="6668" cap="flat" cmpd="sng" algn="ctr">
                      <a:solidFill>
                        <a:srgbClr val="D1D5DB"/>
                      </a:solidFill>
                      <a:prstDash val="solid"/>
                      <a:round/>
                      <a:headEnd type="none" w="med" len="med"/>
                      <a:tailEnd type="none" w="med" len="med"/>
                    </a:lnT>
                    <a:lnB w="6668">
                      <a:solidFill>
                        <a:srgbClr val="D1D5DB"/>
                      </a:solidFill>
                      <a:prstDash val="solid"/>
                    </a:lnB>
                    <a:solidFill>
                      <a:srgbClr val="FFFFFF"/>
                    </a:solidFill>
                  </a:tcPr>
                </a:tc>
                <a:tc>
                  <a:txBody>
                    <a:bodyPr/>
                    <a:lstStyle/>
                    <a:p>
                      <a:r>
                        <a:rPr sz="1725" b="0">
                          <a:solidFill>
                            <a:srgbClr val="111111"/>
                          </a:solidFill>
                          <a:latin typeface="Times New Roman"/>
                          <a:ea typeface="Times New Roman"/>
                          <a:cs typeface="Times New Roman"/>
                        </a:rPr>
                        <a:t>33/39 (1)</a:t>
                      </a:r>
                    </a:p>
                  </a:txBody>
                  <a:tcPr>
                    <a:lnL w="6668" cap="flat" cmpd="sng" algn="ctr">
                      <a:solidFill>
                        <a:srgbClr val="D1D5DB"/>
                      </a:solidFill>
                      <a:prstDash val="solid"/>
                      <a:round/>
                      <a:headEnd type="none" w="med" len="med"/>
                      <a:tailEnd type="none" w="med" len="med"/>
                    </a:lnL>
                    <a:lnR w="6668">
                      <a:solidFill>
                        <a:srgbClr val="D1D5DB"/>
                      </a:solidFill>
                      <a:prstDash val="solid"/>
                    </a:lnR>
                    <a:lnT w="6668" cap="flat" cmpd="sng" algn="ctr">
                      <a:solidFill>
                        <a:srgbClr val="D1D5DB"/>
                      </a:solidFill>
                      <a:prstDash val="solid"/>
                      <a:round/>
                      <a:headEnd type="none" w="med" len="med"/>
                      <a:tailEnd type="none" w="med" len="med"/>
                    </a:lnT>
                    <a:lnB w="6668">
                      <a:solidFill>
                        <a:srgbClr val="D1D5DB"/>
                      </a:solidFill>
                      <a:prstDash val="solid"/>
                    </a:lnB>
                    <a:solidFill>
                      <a:srgbClr val="FFFFFF"/>
                    </a:solidFill>
                  </a:tcPr>
                </a:tc>
                <a:extLst>
                  <a:ext uri="{0D108BD9-81ED-4DB2-BD59-A6C34878D82A}">
                    <a16:rowId xmlns:a16="http://schemas.microsoft.com/office/drawing/2014/main" val="10005"/>
                  </a:ext>
                </a:extLst>
              </a:tr>
              <a:tr h="376670">
                <a:tc>
                  <a:txBody>
                    <a:bodyPr/>
                    <a:lstStyle/>
                    <a:p>
                      <a:r>
                        <a:rPr sz="1725" b="0">
                          <a:solidFill>
                            <a:srgbClr val="111111"/>
                          </a:solidFill>
                          <a:latin typeface="Times New Roman"/>
                          <a:ea typeface="Times New Roman"/>
                          <a:cs typeface="Times New Roman"/>
                        </a:rPr>
                        <a:t>Luna</a:t>
                      </a:r>
                    </a:p>
                  </a:txBody>
                  <a:tcPr>
                    <a:lnL w="6668">
                      <a:solidFill>
                        <a:srgbClr val="D1D5DB"/>
                      </a:solidFill>
                      <a:prstDash val="solid"/>
                    </a:lnL>
                    <a:lnR w="6668">
                      <a:solidFill>
                        <a:srgbClr val="D1D5DB"/>
                      </a:solidFill>
                      <a:prstDash val="solid"/>
                    </a:lnR>
                    <a:lnT w="6668" cap="flat" cmpd="sng" algn="ctr">
                      <a:solidFill>
                        <a:srgbClr val="D1D5DB"/>
                      </a:solidFill>
                      <a:prstDash val="solid"/>
                      <a:round/>
                      <a:headEnd type="none" w="med" len="med"/>
                      <a:tailEnd type="none" w="med" len="med"/>
                    </a:lnT>
                    <a:lnB w="6668">
                      <a:solidFill>
                        <a:srgbClr val="D1D5DB"/>
                      </a:solidFill>
                      <a:prstDash val="solid"/>
                    </a:lnB>
                    <a:solidFill>
                      <a:srgbClr val="F3F4F6"/>
                    </a:solidFill>
                  </a:tcPr>
                </a:tc>
                <a:tc>
                  <a:txBody>
                    <a:bodyPr/>
                    <a:lstStyle/>
                    <a:p>
                      <a:r>
                        <a:rPr sz="1725" b="0">
                          <a:solidFill>
                            <a:srgbClr val="111111"/>
                          </a:solidFill>
                          <a:latin typeface="Times New Roman"/>
                          <a:ea typeface="Times New Roman"/>
                          <a:cs typeface="Times New Roman"/>
                        </a:rPr>
                        <a:t>Max</a:t>
                      </a:r>
                    </a:p>
                  </a:txBody>
                  <a:tcPr>
                    <a:lnL w="6668" cap="flat" cmpd="sng" algn="ctr">
                      <a:solidFill>
                        <a:srgbClr val="D1D5DB"/>
                      </a:solidFill>
                      <a:prstDash val="solid"/>
                      <a:round/>
                      <a:headEnd type="none" w="med" len="med"/>
                      <a:tailEnd type="none" w="med" len="med"/>
                    </a:lnL>
                    <a:lnR w="6668">
                      <a:solidFill>
                        <a:srgbClr val="D1D5DB"/>
                      </a:solidFill>
                      <a:prstDash val="solid"/>
                    </a:lnR>
                    <a:lnT w="6668" cap="flat" cmpd="sng" algn="ctr">
                      <a:solidFill>
                        <a:srgbClr val="D1D5DB"/>
                      </a:solidFill>
                      <a:prstDash val="solid"/>
                      <a:round/>
                      <a:headEnd type="none" w="med" len="med"/>
                      <a:tailEnd type="none" w="med" len="med"/>
                    </a:lnT>
                    <a:lnB w="6668">
                      <a:solidFill>
                        <a:srgbClr val="D1D5DB"/>
                      </a:solidFill>
                      <a:prstDash val="solid"/>
                    </a:lnB>
                    <a:solidFill>
                      <a:srgbClr val="F3F4F6"/>
                    </a:solidFill>
                  </a:tcPr>
                </a:tc>
                <a:tc>
                  <a:txBody>
                    <a:bodyPr/>
                    <a:lstStyle/>
                    <a:p>
                      <a:r>
                        <a:rPr sz="1725" b="0">
                          <a:solidFill>
                            <a:srgbClr val="111111"/>
                          </a:solidFill>
                          <a:latin typeface="Times New Roman"/>
                          <a:ea typeface="Times New Roman"/>
                          <a:cs typeface="Times New Roman"/>
                        </a:rPr>
                        <a:t>8/39 (0)</a:t>
                      </a:r>
                    </a:p>
                  </a:txBody>
                  <a:tcPr>
                    <a:lnL w="6668" cap="flat" cmpd="sng" algn="ctr">
                      <a:solidFill>
                        <a:srgbClr val="D1D5DB"/>
                      </a:solidFill>
                      <a:prstDash val="solid"/>
                      <a:round/>
                      <a:headEnd type="none" w="med" len="med"/>
                      <a:tailEnd type="none" w="med" len="med"/>
                    </a:lnL>
                    <a:lnR w="6668">
                      <a:solidFill>
                        <a:srgbClr val="D1D5DB"/>
                      </a:solidFill>
                      <a:prstDash val="solid"/>
                    </a:lnR>
                    <a:lnT w="6668" cap="flat" cmpd="sng" algn="ctr">
                      <a:solidFill>
                        <a:srgbClr val="D1D5DB"/>
                      </a:solidFill>
                      <a:prstDash val="solid"/>
                      <a:round/>
                      <a:headEnd type="none" w="med" len="med"/>
                      <a:tailEnd type="none" w="med" len="med"/>
                    </a:lnT>
                    <a:lnB w="6668">
                      <a:solidFill>
                        <a:srgbClr val="D1D5DB"/>
                      </a:solidFill>
                      <a:prstDash val="solid"/>
                    </a:lnB>
                    <a:solidFill>
                      <a:srgbClr val="F3F4F6"/>
                    </a:solidFill>
                  </a:tcPr>
                </a:tc>
                <a:tc>
                  <a:txBody>
                    <a:bodyPr/>
                    <a:lstStyle/>
                    <a:p>
                      <a:r>
                        <a:rPr sz="1725" b="0">
                          <a:solidFill>
                            <a:srgbClr val="111111"/>
                          </a:solidFill>
                          <a:latin typeface="Times New Roman"/>
                          <a:ea typeface="Times New Roman"/>
                          <a:cs typeface="Times New Roman"/>
                        </a:rPr>
                        <a:t>27/39 (5)</a:t>
                      </a:r>
                    </a:p>
                  </a:txBody>
                  <a:tcPr>
                    <a:lnL w="6668" cap="flat" cmpd="sng" algn="ctr">
                      <a:solidFill>
                        <a:srgbClr val="D1D5DB"/>
                      </a:solidFill>
                      <a:prstDash val="solid"/>
                      <a:round/>
                      <a:headEnd type="none" w="med" len="med"/>
                      <a:tailEnd type="none" w="med" len="med"/>
                    </a:lnL>
                    <a:lnR w="6668">
                      <a:solidFill>
                        <a:srgbClr val="D1D5DB"/>
                      </a:solidFill>
                      <a:prstDash val="solid"/>
                    </a:lnR>
                    <a:lnT w="6668" cap="flat" cmpd="sng" algn="ctr">
                      <a:solidFill>
                        <a:srgbClr val="D1D5DB"/>
                      </a:solidFill>
                      <a:prstDash val="solid"/>
                      <a:round/>
                      <a:headEnd type="none" w="med" len="med"/>
                      <a:tailEnd type="none" w="med" len="med"/>
                    </a:lnT>
                    <a:lnB w="6668">
                      <a:solidFill>
                        <a:srgbClr val="D1D5DB"/>
                      </a:solidFill>
                      <a:prstDash val="solid"/>
                    </a:lnB>
                    <a:solidFill>
                      <a:srgbClr val="F3F4F6"/>
                    </a:solidFill>
                  </a:tcPr>
                </a:tc>
                <a:tc>
                  <a:txBody>
                    <a:bodyPr/>
                    <a:lstStyle/>
                    <a:p>
                      <a:r>
                        <a:rPr sz="1725" b="0">
                          <a:solidFill>
                            <a:srgbClr val="111111"/>
                          </a:solidFill>
                          <a:latin typeface="Times New Roman"/>
                          <a:ea typeface="Times New Roman"/>
                          <a:cs typeface="Times New Roman"/>
                        </a:rPr>
                        <a:t>35/39 (3)</a:t>
                      </a:r>
                    </a:p>
                  </a:txBody>
                  <a:tcPr>
                    <a:lnL w="6668" cap="flat" cmpd="sng" algn="ctr">
                      <a:solidFill>
                        <a:srgbClr val="D1D5DB"/>
                      </a:solidFill>
                      <a:prstDash val="solid"/>
                      <a:round/>
                      <a:headEnd type="none" w="med" len="med"/>
                      <a:tailEnd type="none" w="med" len="med"/>
                    </a:lnL>
                    <a:lnR w="6668">
                      <a:solidFill>
                        <a:srgbClr val="D1D5DB"/>
                      </a:solidFill>
                      <a:prstDash val="solid"/>
                    </a:lnR>
                    <a:lnT w="6668" cap="flat" cmpd="sng" algn="ctr">
                      <a:solidFill>
                        <a:srgbClr val="D1D5DB"/>
                      </a:solidFill>
                      <a:prstDash val="solid"/>
                      <a:round/>
                      <a:headEnd type="none" w="med" len="med"/>
                      <a:tailEnd type="none" w="med" len="med"/>
                    </a:lnT>
                    <a:lnB w="6668">
                      <a:solidFill>
                        <a:srgbClr val="D1D5DB"/>
                      </a:solidFill>
                      <a:prstDash val="solid"/>
                    </a:lnB>
                    <a:solidFill>
                      <a:srgbClr val="F3F4F6"/>
                    </a:solidFill>
                  </a:tcPr>
                </a:tc>
                <a:extLst>
                  <a:ext uri="{0D108BD9-81ED-4DB2-BD59-A6C34878D82A}">
                    <a16:rowId xmlns:a16="http://schemas.microsoft.com/office/drawing/2014/main" val="10006"/>
                  </a:ext>
                </a:extLst>
              </a:tr>
              <a:tr h="376670">
                <a:tc>
                  <a:txBody>
                    <a:bodyPr/>
                    <a:lstStyle/>
                    <a:p>
                      <a:r>
                        <a:rPr sz="1725" b="0">
                          <a:solidFill>
                            <a:srgbClr val="111111"/>
                          </a:solidFill>
                          <a:latin typeface="Times New Roman"/>
                          <a:ea typeface="Times New Roman"/>
                          <a:cs typeface="Times New Roman"/>
                        </a:rPr>
                        <a:t>Terra</a:t>
                      </a:r>
                    </a:p>
                  </a:txBody>
                  <a:tcPr>
                    <a:lnL w="6668">
                      <a:solidFill>
                        <a:srgbClr val="D1D5DB"/>
                      </a:solidFill>
                      <a:prstDash val="solid"/>
                    </a:lnL>
                    <a:lnR w="6668">
                      <a:solidFill>
                        <a:srgbClr val="D1D5DB"/>
                      </a:solidFill>
                      <a:prstDash val="solid"/>
                    </a:lnR>
                    <a:lnT w="6668" cap="flat" cmpd="sng" algn="ctr">
                      <a:solidFill>
                        <a:srgbClr val="D1D5DB"/>
                      </a:solidFill>
                      <a:prstDash val="solid"/>
                      <a:round/>
                      <a:headEnd type="none" w="med" len="med"/>
                      <a:tailEnd type="none" w="med" len="med"/>
                    </a:lnT>
                    <a:lnB w="6668">
                      <a:solidFill>
                        <a:srgbClr val="D1D5DB"/>
                      </a:solidFill>
                      <a:prstDash val="solid"/>
                    </a:lnB>
                    <a:solidFill>
                      <a:srgbClr val="FFFFFF"/>
                    </a:solidFill>
                  </a:tcPr>
                </a:tc>
                <a:tc>
                  <a:txBody>
                    <a:bodyPr/>
                    <a:lstStyle/>
                    <a:p>
                      <a:r>
                        <a:rPr sz="1725" b="0">
                          <a:solidFill>
                            <a:srgbClr val="111111"/>
                          </a:solidFill>
                          <a:latin typeface="Times New Roman"/>
                          <a:ea typeface="Times New Roman"/>
                          <a:cs typeface="Times New Roman"/>
                        </a:rPr>
                        <a:t>Low</a:t>
                      </a:r>
                    </a:p>
                  </a:txBody>
                  <a:tcPr>
                    <a:lnL w="6668" cap="flat" cmpd="sng" algn="ctr">
                      <a:solidFill>
                        <a:srgbClr val="D1D5DB"/>
                      </a:solidFill>
                      <a:prstDash val="solid"/>
                      <a:round/>
                      <a:headEnd type="none" w="med" len="med"/>
                      <a:tailEnd type="none" w="med" len="med"/>
                    </a:lnL>
                    <a:lnR w="6668">
                      <a:solidFill>
                        <a:srgbClr val="D1D5DB"/>
                      </a:solidFill>
                      <a:prstDash val="solid"/>
                    </a:lnR>
                    <a:lnT w="6668" cap="flat" cmpd="sng" algn="ctr">
                      <a:solidFill>
                        <a:srgbClr val="D1D5DB"/>
                      </a:solidFill>
                      <a:prstDash val="solid"/>
                      <a:round/>
                      <a:headEnd type="none" w="med" len="med"/>
                      <a:tailEnd type="none" w="med" len="med"/>
                    </a:lnT>
                    <a:lnB w="6668">
                      <a:solidFill>
                        <a:srgbClr val="D1D5DB"/>
                      </a:solidFill>
                      <a:prstDash val="solid"/>
                    </a:lnB>
                    <a:solidFill>
                      <a:srgbClr val="FFFFFF"/>
                    </a:solidFill>
                  </a:tcPr>
                </a:tc>
                <a:tc>
                  <a:txBody>
                    <a:bodyPr/>
                    <a:lstStyle/>
                    <a:p>
                      <a:r>
                        <a:rPr sz="1725" b="0">
                          <a:solidFill>
                            <a:srgbClr val="111111"/>
                          </a:solidFill>
                          <a:latin typeface="Times New Roman"/>
                          <a:ea typeface="Times New Roman"/>
                          <a:cs typeface="Times New Roman"/>
                        </a:rPr>
                        <a:t>5/39 (0)</a:t>
                      </a:r>
                    </a:p>
                  </a:txBody>
                  <a:tcPr>
                    <a:lnL w="6668" cap="flat" cmpd="sng" algn="ctr">
                      <a:solidFill>
                        <a:srgbClr val="D1D5DB"/>
                      </a:solidFill>
                      <a:prstDash val="solid"/>
                      <a:round/>
                      <a:headEnd type="none" w="med" len="med"/>
                      <a:tailEnd type="none" w="med" len="med"/>
                    </a:lnL>
                    <a:lnR w="6668">
                      <a:solidFill>
                        <a:srgbClr val="D1D5DB"/>
                      </a:solidFill>
                      <a:prstDash val="solid"/>
                    </a:lnR>
                    <a:lnT w="6668" cap="flat" cmpd="sng" algn="ctr">
                      <a:solidFill>
                        <a:srgbClr val="D1D5DB"/>
                      </a:solidFill>
                      <a:prstDash val="solid"/>
                      <a:round/>
                      <a:headEnd type="none" w="med" len="med"/>
                      <a:tailEnd type="none" w="med" len="med"/>
                    </a:lnT>
                    <a:lnB w="6668">
                      <a:solidFill>
                        <a:srgbClr val="D1D5DB"/>
                      </a:solidFill>
                      <a:prstDash val="solid"/>
                    </a:lnB>
                    <a:solidFill>
                      <a:srgbClr val="FFFFFF"/>
                    </a:solidFill>
                  </a:tcPr>
                </a:tc>
                <a:tc>
                  <a:txBody>
                    <a:bodyPr/>
                    <a:lstStyle/>
                    <a:p>
                      <a:r>
                        <a:rPr sz="1725" b="0">
                          <a:solidFill>
                            <a:srgbClr val="111111"/>
                          </a:solidFill>
                          <a:latin typeface="Times New Roman"/>
                          <a:ea typeface="Times New Roman"/>
                          <a:cs typeface="Times New Roman"/>
                        </a:rPr>
                        <a:t>12/39 (1)</a:t>
                      </a:r>
                    </a:p>
                  </a:txBody>
                  <a:tcPr>
                    <a:lnL w="6668" cap="flat" cmpd="sng" algn="ctr">
                      <a:solidFill>
                        <a:srgbClr val="D1D5DB"/>
                      </a:solidFill>
                      <a:prstDash val="solid"/>
                      <a:round/>
                      <a:headEnd type="none" w="med" len="med"/>
                      <a:tailEnd type="none" w="med" len="med"/>
                    </a:lnL>
                    <a:lnR w="6668">
                      <a:solidFill>
                        <a:srgbClr val="D1D5DB"/>
                      </a:solidFill>
                      <a:prstDash val="solid"/>
                    </a:lnR>
                    <a:lnT w="6668" cap="flat" cmpd="sng" algn="ctr">
                      <a:solidFill>
                        <a:srgbClr val="D1D5DB"/>
                      </a:solidFill>
                      <a:prstDash val="solid"/>
                      <a:round/>
                      <a:headEnd type="none" w="med" len="med"/>
                      <a:tailEnd type="none" w="med" len="med"/>
                    </a:lnT>
                    <a:lnB w="6668">
                      <a:solidFill>
                        <a:srgbClr val="D1D5DB"/>
                      </a:solidFill>
                      <a:prstDash val="solid"/>
                    </a:lnB>
                    <a:solidFill>
                      <a:srgbClr val="FFFFFF"/>
                    </a:solidFill>
                  </a:tcPr>
                </a:tc>
                <a:tc>
                  <a:txBody>
                    <a:bodyPr/>
                    <a:lstStyle/>
                    <a:p>
                      <a:r>
                        <a:rPr sz="1725" b="0">
                          <a:solidFill>
                            <a:srgbClr val="111111"/>
                          </a:solidFill>
                          <a:latin typeface="Times New Roman"/>
                          <a:ea typeface="Times New Roman"/>
                          <a:cs typeface="Times New Roman"/>
                        </a:rPr>
                        <a:t>25/39 (2)</a:t>
                      </a:r>
                    </a:p>
                  </a:txBody>
                  <a:tcPr>
                    <a:lnL w="6668" cap="flat" cmpd="sng" algn="ctr">
                      <a:solidFill>
                        <a:srgbClr val="D1D5DB"/>
                      </a:solidFill>
                      <a:prstDash val="solid"/>
                      <a:round/>
                      <a:headEnd type="none" w="med" len="med"/>
                      <a:tailEnd type="none" w="med" len="med"/>
                    </a:lnL>
                    <a:lnR w="6668">
                      <a:solidFill>
                        <a:srgbClr val="D1D5DB"/>
                      </a:solidFill>
                      <a:prstDash val="solid"/>
                    </a:lnR>
                    <a:lnT w="6668" cap="flat" cmpd="sng" algn="ctr">
                      <a:solidFill>
                        <a:srgbClr val="D1D5DB"/>
                      </a:solidFill>
                      <a:prstDash val="solid"/>
                      <a:round/>
                      <a:headEnd type="none" w="med" len="med"/>
                      <a:tailEnd type="none" w="med" len="med"/>
                    </a:lnT>
                    <a:lnB w="6668">
                      <a:solidFill>
                        <a:srgbClr val="D1D5DB"/>
                      </a:solidFill>
                      <a:prstDash val="solid"/>
                    </a:lnB>
                    <a:solidFill>
                      <a:srgbClr val="FFFFFF"/>
                    </a:solidFill>
                  </a:tcPr>
                </a:tc>
                <a:extLst>
                  <a:ext uri="{0D108BD9-81ED-4DB2-BD59-A6C34878D82A}">
                    <a16:rowId xmlns:a16="http://schemas.microsoft.com/office/drawing/2014/main" val="10007"/>
                  </a:ext>
                </a:extLst>
              </a:tr>
              <a:tr h="376670">
                <a:tc>
                  <a:txBody>
                    <a:bodyPr/>
                    <a:lstStyle/>
                    <a:p>
                      <a:r>
                        <a:rPr sz="1725" b="0">
                          <a:solidFill>
                            <a:srgbClr val="111111"/>
                          </a:solidFill>
                          <a:latin typeface="Times New Roman"/>
                          <a:ea typeface="Times New Roman"/>
                          <a:cs typeface="Times New Roman"/>
                        </a:rPr>
                        <a:t>Terra</a:t>
                      </a:r>
                    </a:p>
                  </a:txBody>
                  <a:tcPr>
                    <a:lnL w="6668">
                      <a:solidFill>
                        <a:srgbClr val="D1D5DB"/>
                      </a:solidFill>
                      <a:prstDash val="solid"/>
                    </a:lnL>
                    <a:lnR w="6668">
                      <a:solidFill>
                        <a:srgbClr val="D1D5DB"/>
                      </a:solidFill>
                      <a:prstDash val="solid"/>
                    </a:lnR>
                    <a:lnT w="6668" cap="flat" cmpd="sng" algn="ctr">
                      <a:solidFill>
                        <a:srgbClr val="D1D5DB"/>
                      </a:solidFill>
                      <a:prstDash val="solid"/>
                      <a:round/>
                      <a:headEnd type="none" w="med" len="med"/>
                      <a:tailEnd type="none" w="med" len="med"/>
                    </a:lnT>
                    <a:lnB w="6668">
                      <a:solidFill>
                        <a:srgbClr val="D1D5DB"/>
                      </a:solidFill>
                      <a:prstDash val="solid"/>
                    </a:lnB>
                    <a:solidFill>
                      <a:srgbClr val="F3F4F6"/>
                    </a:solidFill>
                  </a:tcPr>
                </a:tc>
                <a:tc>
                  <a:txBody>
                    <a:bodyPr/>
                    <a:lstStyle/>
                    <a:p>
                      <a:r>
                        <a:rPr sz="1725" b="0">
                          <a:solidFill>
                            <a:srgbClr val="111111"/>
                          </a:solidFill>
                          <a:latin typeface="Times New Roman"/>
                          <a:ea typeface="Times New Roman"/>
                          <a:cs typeface="Times New Roman"/>
                        </a:rPr>
                        <a:t>Medium</a:t>
                      </a:r>
                    </a:p>
                  </a:txBody>
                  <a:tcPr>
                    <a:lnL w="6668" cap="flat" cmpd="sng" algn="ctr">
                      <a:solidFill>
                        <a:srgbClr val="D1D5DB"/>
                      </a:solidFill>
                      <a:prstDash val="solid"/>
                      <a:round/>
                      <a:headEnd type="none" w="med" len="med"/>
                      <a:tailEnd type="none" w="med" len="med"/>
                    </a:lnL>
                    <a:lnR w="6668">
                      <a:solidFill>
                        <a:srgbClr val="D1D5DB"/>
                      </a:solidFill>
                      <a:prstDash val="solid"/>
                    </a:lnR>
                    <a:lnT w="6668" cap="flat" cmpd="sng" algn="ctr">
                      <a:solidFill>
                        <a:srgbClr val="D1D5DB"/>
                      </a:solidFill>
                      <a:prstDash val="solid"/>
                      <a:round/>
                      <a:headEnd type="none" w="med" len="med"/>
                      <a:tailEnd type="none" w="med" len="med"/>
                    </a:lnT>
                    <a:lnB w="6668">
                      <a:solidFill>
                        <a:srgbClr val="D1D5DB"/>
                      </a:solidFill>
                      <a:prstDash val="solid"/>
                    </a:lnB>
                    <a:solidFill>
                      <a:srgbClr val="F3F4F6"/>
                    </a:solidFill>
                  </a:tcPr>
                </a:tc>
                <a:tc>
                  <a:txBody>
                    <a:bodyPr/>
                    <a:lstStyle/>
                    <a:p>
                      <a:r>
                        <a:rPr sz="1725" b="0">
                          <a:solidFill>
                            <a:srgbClr val="111111"/>
                          </a:solidFill>
                          <a:latin typeface="Times New Roman"/>
                          <a:ea typeface="Times New Roman"/>
                          <a:cs typeface="Times New Roman"/>
                        </a:rPr>
                        <a:t>5/39 (0)</a:t>
                      </a:r>
                    </a:p>
                  </a:txBody>
                  <a:tcPr>
                    <a:lnL w="6668" cap="flat" cmpd="sng" algn="ctr">
                      <a:solidFill>
                        <a:srgbClr val="D1D5DB"/>
                      </a:solidFill>
                      <a:prstDash val="solid"/>
                      <a:round/>
                      <a:headEnd type="none" w="med" len="med"/>
                      <a:tailEnd type="none" w="med" len="med"/>
                    </a:lnL>
                    <a:lnR w="6668">
                      <a:solidFill>
                        <a:srgbClr val="D1D5DB"/>
                      </a:solidFill>
                      <a:prstDash val="solid"/>
                    </a:lnR>
                    <a:lnT w="6668" cap="flat" cmpd="sng" algn="ctr">
                      <a:solidFill>
                        <a:srgbClr val="D1D5DB"/>
                      </a:solidFill>
                      <a:prstDash val="solid"/>
                      <a:round/>
                      <a:headEnd type="none" w="med" len="med"/>
                      <a:tailEnd type="none" w="med" len="med"/>
                    </a:lnT>
                    <a:lnB w="6668">
                      <a:solidFill>
                        <a:srgbClr val="D1D5DB"/>
                      </a:solidFill>
                      <a:prstDash val="solid"/>
                    </a:lnB>
                    <a:solidFill>
                      <a:srgbClr val="F3F4F6"/>
                    </a:solidFill>
                  </a:tcPr>
                </a:tc>
                <a:tc>
                  <a:txBody>
                    <a:bodyPr/>
                    <a:lstStyle/>
                    <a:p>
                      <a:r>
                        <a:rPr sz="1725" b="0">
                          <a:solidFill>
                            <a:srgbClr val="111111"/>
                          </a:solidFill>
                          <a:latin typeface="Times New Roman"/>
                          <a:ea typeface="Times New Roman"/>
                          <a:cs typeface="Times New Roman"/>
                        </a:rPr>
                        <a:t>24/39 (3)</a:t>
                      </a:r>
                    </a:p>
                  </a:txBody>
                  <a:tcPr>
                    <a:lnL w="6668" cap="flat" cmpd="sng" algn="ctr">
                      <a:solidFill>
                        <a:srgbClr val="D1D5DB"/>
                      </a:solidFill>
                      <a:prstDash val="solid"/>
                      <a:round/>
                      <a:headEnd type="none" w="med" len="med"/>
                      <a:tailEnd type="none" w="med" len="med"/>
                    </a:lnL>
                    <a:lnR w="6668">
                      <a:solidFill>
                        <a:srgbClr val="D1D5DB"/>
                      </a:solidFill>
                      <a:prstDash val="solid"/>
                    </a:lnR>
                    <a:lnT w="6668" cap="flat" cmpd="sng" algn="ctr">
                      <a:solidFill>
                        <a:srgbClr val="D1D5DB"/>
                      </a:solidFill>
                      <a:prstDash val="solid"/>
                      <a:round/>
                      <a:headEnd type="none" w="med" len="med"/>
                      <a:tailEnd type="none" w="med" len="med"/>
                    </a:lnT>
                    <a:lnB w="6668">
                      <a:solidFill>
                        <a:srgbClr val="D1D5DB"/>
                      </a:solidFill>
                      <a:prstDash val="solid"/>
                    </a:lnB>
                    <a:solidFill>
                      <a:srgbClr val="F3F4F6"/>
                    </a:solidFill>
                  </a:tcPr>
                </a:tc>
                <a:tc>
                  <a:txBody>
                    <a:bodyPr/>
                    <a:lstStyle/>
                    <a:p>
                      <a:r>
                        <a:rPr sz="1725" b="0">
                          <a:solidFill>
                            <a:srgbClr val="111111"/>
                          </a:solidFill>
                          <a:latin typeface="Times New Roman"/>
                          <a:ea typeface="Times New Roman"/>
                          <a:cs typeface="Times New Roman"/>
                        </a:rPr>
                        <a:t>32/39 (1)</a:t>
                      </a:r>
                    </a:p>
                  </a:txBody>
                  <a:tcPr>
                    <a:lnL w="6668" cap="flat" cmpd="sng" algn="ctr">
                      <a:solidFill>
                        <a:srgbClr val="D1D5DB"/>
                      </a:solidFill>
                      <a:prstDash val="solid"/>
                      <a:round/>
                      <a:headEnd type="none" w="med" len="med"/>
                      <a:tailEnd type="none" w="med" len="med"/>
                    </a:lnL>
                    <a:lnR w="6668">
                      <a:solidFill>
                        <a:srgbClr val="D1D5DB"/>
                      </a:solidFill>
                      <a:prstDash val="solid"/>
                    </a:lnR>
                    <a:lnT w="6668" cap="flat" cmpd="sng" algn="ctr">
                      <a:solidFill>
                        <a:srgbClr val="D1D5DB"/>
                      </a:solidFill>
                      <a:prstDash val="solid"/>
                      <a:round/>
                      <a:headEnd type="none" w="med" len="med"/>
                      <a:tailEnd type="none" w="med" len="med"/>
                    </a:lnT>
                    <a:lnB w="6668">
                      <a:solidFill>
                        <a:srgbClr val="D1D5DB"/>
                      </a:solidFill>
                      <a:prstDash val="solid"/>
                    </a:lnB>
                    <a:solidFill>
                      <a:srgbClr val="F3F4F6"/>
                    </a:solidFill>
                  </a:tcPr>
                </a:tc>
                <a:extLst>
                  <a:ext uri="{0D108BD9-81ED-4DB2-BD59-A6C34878D82A}">
                    <a16:rowId xmlns:a16="http://schemas.microsoft.com/office/drawing/2014/main" val="10008"/>
                  </a:ext>
                </a:extLst>
              </a:tr>
              <a:tr h="376670">
                <a:tc>
                  <a:txBody>
                    <a:bodyPr/>
                    <a:lstStyle/>
                    <a:p>
                      <a:r>
                        <a:rPr sz="1725" b="0">
                          <a:solidFill>
                            <a:srgbClr val="111111"/>
                          </a:solidFill>
                          <a:latin typeface="Times New Roman"/>
                          <a:ea typeface="Times New Roman"/>
                          <a:cs typeface="Times New Roman"/>
                        </a:rPr>
                        <a:t>Sol</a:t>
                      </a:r>
                    </a:p>
                  </a:txBody>
                  <a:tcPr>
                    <a:lnL w="6668">
                      <a:solidFill>
                        <a:srgbClr val="D1D5DB"/>
                      </a:solidFill>
                      <a:prstDash val="solid"/>
                    </a:lnL>
                    <a:lnR w="6668">
                      <a:solidFill>
                        <a:srgbClr val="D1D5DB"/>
                      </a:solidFill>
                      <a:prstDash val="solid"/>
                    </a:lnR>
                    <a:lnT w="6668" cap="flat" cmpd="sng" algn="ctr">
                      <a:solidFill>
                        <a:srgbClr val="D1D5DB"/>
                      </a:solidFill>
                      <a:prstDash val="solid"/>
                      <a:round/>
                      <a:headEnd type="none" w="med" len="med"/>
                      <a:tailEnd type="none" w="med" len="med"/>
                    </a:lnT>
                    <a:lnB w="6668">
                      <a:solidFill>
                        <a:srgbClr val="D1D5DB"/>
                      </a:solidFill>
                      <a:prstDash val="solid"/>
                    </a:lnB>
                    <a:solidFill>
                      <a:srgbClr val="FFFFFF"/>
                    </a:solidFill>
                  </a:tcPr>
                </a:tc>
                <a:tc>
                  <a:txBody>
                    <a:bodyPr/>
                    <a:lstStyle/>
                    <a:p>
                      <a:r>
                        <a:rPr sz="1725" b="0">
                          <a:solidFill>
                            <a:srgbClr val="111111"/>
                          </a:solidFill>
                          <a:latin typeface="Times New Roman"/>
                          <a:ea typeface="Times New Roman"/>
                          <a:cs typeface="Times New Roman"/>
                        </a:rPr>
                        <a:t>Low</a:t>
                      </a:r>
                    </a:p>
                  </a:txBody>
                  <a:tcPr>
                    <a:lnL w="6668" cap="flat" cmpd="sng" algn="ctr">
                      <a:solidFill>
                        <a:srgbClr val="D1D5DB"/>
                      </a:solidFill>
                      <a:prstDash val="solid"/>
                      <a:round/>
                      <a:headEnd type="none" w="med" len="med"/>
                      <a:tailEnd type="none" w="med" len="med"/>
                    </a:lnL>
                    <a:lnR w="6668">
                      <a:solidFill>
                        <a:srgbClr val="D1D5DB"/>
                      </a:solidFill>
                      <a:prstDash val="solid"/>
                    </a:lnR>
                    <a:lnT w="6668" cap="flat" cmpd="sng" algn="ctr">
                      <a:solidFill>
                        <a:srgbClr val="D1D5DB"/>
                      </a:solidFill>
                      <a:prstDash val="solid"/>
                      <a:round/>
                      <a:headEnd type="none" w="med" len="med"/>
                      <a:tailEnd type="none" w="med" len="med"/>
                    </a:lnT>
                    <a:lnB w="6668">
                      <a:solidFill>
                        <a:srgbClr val="D1D5DB"/>
                      </a:solidFill>
                      <a:prstDash val="solid"/>
                    </a:lnB>
                    <a:solidFill>
                      <a:srgbClr val="FFFFFF"/>
                    </a:solidFill>
                  </a:tcPr>
                </a:tc>
                <a:tc>
                  <a:txBody>
                    <a:bodyPr/>
                    <a:lstStyle/>
                    <a:p>
                      <a:r>
                        <a:rPr sz="1725" b="0">
                          <a:solidFill>
                            <a:srgbClr val="111111"/>
                          </a:solidFill>
                          <a:latin typeface="Times New Roman"/>
                          <a:ea typeface="Times New Roman"/>
                          <a:cs typeface="Times New Roman"/>
                        </a:rPr>
                        <a:t>24/39 (0)</a:t>
                      </a:r>
                    </a:p>
                  </a:txBody>
                  <a:tcPr>
                    <a:lnL w="6668" cap="flat" cmpd="sng" algn="ctr">
                      <a:solidFill>
                        <a:srgbClr val="D1D5DB"/>
                      </a:solidFill>
                      <a:prstDash val="solid"/>
                      <a:round/>
                      <a:headEnd type="none" w="med" len="med"/>
                      <a:tailEnd type="none" w="med" len="med"/>
                    </a:lnL>
                    <a:lnR w="6668">
                      <a:solidFill>
                        <a:srgbClr val="D1D5DB"/>
                      </a:solidFill>
                      <a:prstDash val="solid"/>
                    </a:lnR>
                    <a:lnT w="6668" cap="flat" cmpd="sng" algn="ctr">
                      <a:solidFill>
                        <a:srgbClr val="D1D5DB"/>
                      </a:solidFill>
                      <a:prstDash val="solid"/>
                      <a:round/>
                      <a:headEnd type="none" w="med" len="med"/>
                      <a:tailEnd type="none" w="med" len="med"/>
                    </a:lnT>
                    <a:lnB w="6668">
                      <a:solidFill>
                        <a:srgbClr val="D1D5DB"/>
                      </a:solidFill>
                      <a:prstDash val="solid"/>
                    </a:lnB>
                    <a:solidFill>
                      <a:srgbClr val="FFFFFF"/>
                    </a:solidFill>
                  </a:tcPr>
                </a:tc>
                <a:tc>
                  <a:txBody>
                    <a:bodyPr/>
                    <a:lstStyle/>
                    <a:p>
                      <a:r>
                        <a:rPr sz="1725" b="0">
                          <a:solidFill>
                            <a:srgbClr val="111111"/>
                          </a:solidFill>
                          <a:latin typeface="Times New Roman"/>
                          <a:ea typeface="Times New Roman"/>
                          <a:cs typeface="Times New Roman"/>
                        </a:rPr>
                        <a:t>32/39 (0)</a:t>
                      </a:r>
                    </a:p>
                  </a:txBody>
                  <a:tcPr>
                    <a:lnL w="6668" cap="flat" cmpd="sng" algn="ctr">
                      <a:solidFill>
                        <a:srgbClr val="D1D5DB"/>
                      </a:solidFill>
                      <a:prstDash val="solid"/>
                      <a:round/>
                      <a:headEnd type="none" w="med" len="med"/>
                      <a:tailEnd type="none" w="med" len="med"/>
                    </a:lnL>
                    <a:lnR w="6668">
                      <a:solidFill>
                        <a:srgbClr val="D1D5DB"/>
                      </a:solidFill>
                      <a:prstDash val="solid"/>
                    </a:lnR>
                    <a:lnT w="6668" cap="flat" cmpd="sng" algn="ctr">
                      <a:solidFill>
                        <a:srgbClr val="D1D5DB"/>
                      </a:solidFill>
                      <a:prstDash val="solid"/>
                      <a:round/>
                      <a:headEnd type="none" w="med" len="med"/>
                      <a:tailEnd type="none" w="med" len="med"/>
                    </a:lnT>
                    <a:lnB w="6668">
                      <a:solidFill>
                        <a:srgbClr val="D1D5DB"/>
                      </a:solidFill>
                      <a:prstDash val="solid"/>
                    </a:lnB>
                    <a:solidFill>
                      <a:srgbClr val="FFFFFF"/>
                    </a:solidFill>
                  </a:tcPr>
                </a:tc>
                <a:tc>
                  <a:txBody>
                    <a:bodyPr/>
                    <a:lstStyle/>
                    <a:p>
                      <a:r>
                        <a:rPr sz="1725" b="0">
                          <a:solidFill>
                            <a:srgbClr val="111111"/>
                          </a:solidFill>
                          <a:latin typeface="Times New Roman"/>
                          <a:ea typeface="Times New Roman"/>
                          <a:cs typeface="Times New Roman"/>
                        </a:rPr>
                        <a:t>37/39 (0)</a:t>
                      </a:r>
                    </a:p>
                  </a:txBody>
                  <a:tcPr>
                    <a:lnL w="6668" cap="flat" cmpd="sng" algn="ctr">
                      <a:solidFill>
                        <a:srgbClr val="D1D5DB"/>
                      </a:solidFill>
                      <a:prstDash val="solid"/>
                      <a:round/>
                      <a:headEnd type="none" w="med" len="med"/>
                      <a:tailEnd type="none" w="med" len="med"/>
                    </a:lnL>
                    <a:lnR w="6668">
                      <a:solidFill>
                        <a:srgbClr val="D1D5DB"/>
                      </a:solidFill>
                      <a:prstDash val="solid"/>
                    </a:lnR>
                    <a:lnT w="6668" cap="flat" cmpd="sng" algn="ctr">
                      <a:solidFill>
                        <a:srgbClr val="D1D5DB"/>
                      </a:solidFill>
                      <a:prstDash val="solid"/>
                      <a:round/>
                      <a:headEnd type="none" w="med" len="med"/>
                      <a:tailEnd type="none" w="med" len="med"/>
                    </a:lnT>
                    <a:lnB w="6668">
                      <a:solidFill>
                        <a:srgbClr val="D1D5DB"/>
                      </a:solidFill>
                      <a:prstDash val="solid"/>
                    </a:lnB>
                    <a:solidFill>
                      <a:srgbClr val="FFFFFF"/>
                    </a:solidFill>
                  </a:tcPr>
                </a:tc>
                <a:extLst>
                  <a:ext uri="{0D108BD9-81ED-4DB2-BD59-A6C34878D82A}">
                    <a16:rowId xmlns:a16="http://schemas.microsoft.com/office/drawing/2014/main" val="10009"/>
                  </a:ext>
                </a:extLst>
              </a:tr>
              <a:tr h="376670">
                <a:tc>
                  <a:txBody>
                    <a:bodyPr/>
                    <a:lstStyle/>
                    <a:p>
                      <a:r>
                        <a:rPr sz="1725" b="0">
                          <a:solidFill>
                            <a:srgbClr val="111111"/>
                          </a:solidFill>
                          <a:latin typeface="Times New Roman"/>
                          <a:ea typeface="Times New Roman"/>
                          <a:cs typeface="Times New Roman"/>
                        </a:rPr>
                        <a:t>Sol</a:t>
                      </a:r>
                    </a:p>
                  </a:txBody>
                  <a:tcPr>
                    <a:lnL w="6668">
                      <a:solidFill>
                        <a:srgbClr val="D1D5DB"/>
                      </a:solidFill>
                      <a:prstDash val="solid"/>
                    </a:lnL>
                    <a:lnR w="6668">
                      <a:solidFill>
                        <a:srgbClr val="D1D5DB"/>
                      </a:solidFill>
                      <a:prstDash val="solid"/>
                    </a:lnR>
                    <a:lnT w="6668" cap="flat" cmpd="sng" algn="ctr">
                      <a:solidFill>
                        <a:srgbClr val="D1D5DB"/>
                      </a:solidFill>
                      <a:prstDash val="solid"/>
                      <a:round/>
                      <a:headEnd type="none" w="med" len="med"/>
                      <a:tailEnd type="none" w="med" len="med"/>
                    </a:lnT>
                    <a:lnB w="6668">
                      <a:solidFill>
                        <a:srgbClr val="D1D5DB"/>
                      </a:solidFill>
                      <a:prstDash val="solid"/>
                    </a:lnB>
                    <a:solidFill>
                      <a:srgbClr val="F3F4F6"/>
                    </a:solidFill>
                  </a:tcPr>
                </a:tc>
                <a:tc>
                  <a:txBody>
                    <a:bodyPr/>
                    <a:lstStyle/>
                    <a:p>
                      <a:r>
                        <a:rPr sz="1725" b="0">
                          <a:solidFill>
                            <a:srgbClr val="111111"/>
                          </a:solidFill>
                          <a:latin typeface="Times New Roman"/>
                          <a:ea typeface="Times New Roman"/>
                          <a:cs typeface="Times New Roman"/>
                        </a:rPr>
                        <a:t>Medium</a:t>
                      </a:r>
                    </a:p>
                  </a:txBody>
                  <a:tcPr>
                    <a:lnL w="6668" cap="flat" cmpd="sng" algn="ctr">
                      <a:solidFill>
                        <a:srgbClr val="D1D5DB"/>
                      </a:solidFill>
                      <a:prstDash val="solid"/>
                      <a:round/>
                      <a:headEnd type="none" w="med" len="med"/>
                      <a:tailEnd type="none" w="med" len="med"/>
                    </a:lnL>
                    <a:lnR w="6668">
                      <a:solidFill>
                        <a:srgbClr val="D1D5DB"/>
                      </a:solidFill>
                      <a:prstDash val="solid"/>
                    </a:lnR>
                    <a:lnT w="6668" cap="flat" cmpd="sng" algn="ctr">
                      <a:solidFill>
                        <a:srgbClr val="D1D5DB"/>
                      </a:solidFill>
                      <a:prstDash val="solid"/>
                      <a:round/>
                      <a:headEnd type="none" w="med" len="med"/>
                      <a:tailEnd type="none" w="med" len="med"/>
                    </a:lnT>
                    <a:lnB w="6668">
                      <a:solidFill>
                        <a:srgbClr val="D1D5DB"/>
                      </a:solidFill>
                      <a:prstDash val="solid"/>
                    </a:lnB>
                    <a:solidFill>
                      <a:srgbClr val="F3F4F6"/>
                    </a:solidFill>
                  </a:tcPr>
                </a:tc>
                <a:tc>
                  <a:txBody>
                    <a:bodyPr/>
                    <a:lstStyle/>
                    <a:p>
                      <a:r>
                        <a:rPr sz="1725" b="0">
                          <a:solidFill>
                            <a:srgbClr val="111111"/>
                          </a:solidFill>
                          <a:latin typeface="Times New Roman"/>
                          <a:ea typeface="Times New Roman"/>
                          <a:cs typeface="Times New Roman"/>
                        </a:rPr>
                        <a:t>31/39 (0)</a:t>
                      </a:r>
                    </a:p>
                  </a:txBody>
                  <a:tcPr>
                    <a:lnL w="6668" cap="flat" cmpd="sng" algn="ctr">
                      <a:solidFill>
                        <a:srgbClr val="D1D5DB"/>
                      </a:solidFill>
                      <a:prstDash val="solid"/>
                      <a:round/>
                      <a:headEnd type="none" w="med" len="med"/>
                      <a:tailEnd type="none" w="med" len="med"/>
                    </a:lnL>
                    <a:lnR w="6668">
                      <a:solidFill>
                        <a:srgbClr val="D1D5DB"/>
                      </a:solidFill>
                      <a:prstDash val="solid"/>
                    </a:lnR>
                    <a:lnT w="6668" cap="flat" cmpd="sng" algn="ctr">
                      <a:solidFill>
                        <a:srgbClr val="D1D5DB"/>
                      </a:solidFill>
                      <a:prstDash val="solid"/>
                      <a:round/>
                      <a:headEnd type="none" w="med" len="med"/>
                      <a:tailEnd type="none" w="med" len="med"/>
                    </a:lnT>
                    <a:lnB w="6668">
                      <a:solidFill>
                        <a:srgbClr val="D1D5DB"/>
                      </a:solidFill>
                      <a:prstDash val="solid"/>
                    </a:lnB>
                    <a:solidFill>
                      <a:srgbClr val="F3F4F6"/>
                    </a:solidFill>
                  </a:tcPr>
                </a:tc>
                <a:tc>
                  <a:txBody>
                    <a:bodyPr/>
                    <a:lstStyle/>
                    <a:p>
                      <a:r>
                        <a:rPr sz="1725" b="0">
                          <a:solidFill>
                            <a:srgbClr val="111111"/>
                          </a:solidFill>
                          <a:latin typeface="Times New Roman"/>
                          <a:ea typeface="Times New Roman"/>
                          <a:cs typeface="Times New Roman"/>
                        </a:rPr>
                        <a:t>38/39 (0)</a:t>
                      </a:r>
                    </a:p>
                  </a:txBody>
                  <a:tcPr>
                    <a:lnL w="6668" cap="flat" cmpd="sng" algn="ctr">
                      <a:solidFill>
                        <a:srgbClr val="D1D5DB"/>
                      </a:solidFill>
                      <a:prstDash val="solid"/>
                      <a:round/>
                      <a:headEnd type="none" w="med" len="med"/>
                      <a:tailEnd type="none" w="med" len="med"/>
                    </a:lnL>
                    <a:lnR w="6668">
                      <a:solidFill>
                        <a:srgbClr val="D1D5DB"/>
                      </a:solidFill>
                      <a:prstDash val="solid"/>
                    </a:lnR>
                    <a:lnT w="6668" cap="flat" cmpd="sng" algn="ctr">
                      <a:solidFill>
                        <a:srgbClr val="D1D5DB"/>
                      </a:solidFill>
                      <a:prstDash val="solid"/>
                      <a:round/>
                      <a:headEnd type="none" w="med" len="med"/>
                      <a:tailEnd type="none" w="med" len="med"/>
                    </a:lnT>
                    <a:lnB w="6668">
                      <a:solidFill>
                        <a:srgbClr val="D1D5DB"/>
                      </a:solidFill>
                      <a:prstDash val="solid"/>
                    </a:lnB>
                    <a:solidFill>
                      <a:srgbClr val="F3F4F6"/>
                    </a:solidFill>
                  </a:tcPr>
                </a:tc>
                <a:tc>
                  <a:txBody>
                    <a:bodyPr/>
                    <a:lstStyle/>
                    <a:p>
                      <a:r>
                        <a:rPr sz="1725" b="0">
                          <a:solidFill>
                            <a:srgbClr val="111111"/>
                          </a:solidFill>
                          <a:latin typeface="Times New Roman"/>
                          <a:ea typeface="Times New Roman"/>
                          <a:cs typeface="Times New Roman"/>
                        </a:rPr>
                        <a:t>38/39 (0)</a:t>
                      </a:r>
                    </a:p>
                  </a:txBody>
                  <a:tcPr>
                    <a:lnL w="6668" cap="flat" cmpd="sng" algn="ctr">
                      <a:solidFill>
                        <a:srgbClr val="D1D5DB"/>
                      </a:solidFill>
                      <a:prstDash val="solid"/>
                      <a:round/>
                      <a:headEnd type="none" w="med" len="med"/>
                      <a:tailEnd type="none" w="med" len="med"/>
                    </a:lnL>
                    <a:lnR w="6668">
                      <a:solidFill>
                        <a:srgbClr val="D1D5DB"/>
                      </a:solidFill>
                      <a:prstDash val="solid"/>
                    </a:lnR>
                    <a:lnT w="6668" cap="flat" cmpd="sng" algn="ctr">
                      <a:solidFill>
                        <a:srgbClr val="D1D5DB"/>
                      </a:solidFill>
                      <a:prstDash val="solid"/>
                      <a:round/>
                      <a:headEnd type="none" w="med" len="med"/>
                      <a:tailEnd type="none" w="med" len="med"/>
                    </a:lnT>
                    <a:lnB w="6668">
                      <a:solidFill>
                        <a:srgbClr val="D1D5DB"/>
                      </a:solidFill>
                      <a:prstDash val="solid"/>
                    </a:lnB>
                    <a:solidFill>
                      <a:srgbClr val="F3F4F6"/>
                    </a:solidFill>
                  </a:tcPr>
                </a:tc>
                <a:extLst>
                  <a:ext uri="{0D108BD9-81ED-4DB2-BD59-A6C34878D82A}">
                    <a16:rowId xmlns:a16="http://schemas.microsoft.com/office/drawing/2014/main" val="10010"/>
                  </a:ext>
                </a:extLst>
              </a:tr>
            </a:tbl>
          </a:graphicData>
        </a:graphic>
      </p:graphicFrame>
      <p:sp>
        <p:nvSpPr>
          <p:cNvPr id="5" name="Rectangle 4">
            <a:extLst>
              <a:ext uri="{FF2B5EF4-FFF2-40B4-BE49-F238E27FC236}">
                <a16:creationId xmlns:a16="http://schemas.microsoft.com/office/drawing/2014/main" id="{AA6EB48E-00FE-419D-8214-AC722E004165}"/>
              </a:ext>
            </a:extLst>
          </p:cNvPr>
          <p:cNvSpPr>
            <a:spLocks noGrp="1"/>
          </p:cNvSpPr>
          <p:nvPr/>
        </p:nvSpPr>
        <p:spPr>
          <a:xfrm>
            <a:off x="457200" y="5915025"/>
            <a:ext cx="11277600" cy="276225"/>
          </a:xfrm>
          <a:prstGeom prst="rect">
            <a:avLst/>
          </a:prstGeom>
          <a:noFill/>
          <a:ln w="0">
            <a:noFill/>
          </a:ln>
        </p:spPr>
        <p:txBody>
          <a:bodyPr wrap="square" lIns="0" tIns="0" rIns="0" bIns="0" anchor="t"/>
          <a:lstStyle>
            <a:defPPr>
              <a:defRPr sz="1575" b="0">
                <a:solidFill>
                  <a:srgbClr val="444444"/>
                </a:solidFill>
                <a:latin typeface="Times New Roman"/>
                <a:ea typeface="Times New Roman"/>
                <a:cs typeface="Times New Roman"/>
              </a:defRPr>
            </a:defPPr>
          </a:lstStyle>
          <a:p>
            <a:pPr>
              <a:buNone/>
              <a:defRPr sz="1575" b="0">
                <a:solidFill>
                  <a:srgbClr val="444444"/>
                </a:solidFill>
                <a:latin typeface="Times New Roman"/>
                <a:ea typeface="Times New Roman"/>
                <a:cs typeface="Times New Roman"/>
              </a:defRPr>
            </a:pPr>
            <a:r>
              <a:rPr sz="1575" b="0">
                <a:solidFill>
                  <a:srgbClr val="444444"/>
                </a:solidFill>
                <a:latin typeface="Times New Roman"/>
                <a:ea typeface="Times New Roman"/>
                <a:cs typeface="Times New Roman"/>
              </a:rPr>
              <a:t>780 hinted trials + 390 historical controls. Five pre-agent setup failures were retained separately.</a:t>
            </a:r>
          </a:p>
        </p:txBody>
      </p:sp>
      <p:sp>
        <p:nvSpPr>
          <p:cNvPr id="6" name="Rectangle 5">
            <a:extLst>
              <a:ext uri="{FF2B5EF4-FFF2-40B4-BE49-F238E27FC236}">
                <a16:creationId xmlns:a16="http://schemas.microsoft.com/office/drawing/2014/main" id="{21460B0E-381E-4B7F-A3E9-23D7C82AC3A9}"/>
              </a:ext>
            </a:extLst>
          </p:cNvPr>
          <p:cNvSpPr>
            <a:spLocks noGrp="1"/>
          </p:cNvSpPr>
          <p:nvPr/>
        </p:nvSpPr>
        <p:spPr>
          <a:xfrm>
            <a:off x="457200" y="6257925"/>
            <a:ext cx="11277600" cy="247650"/>
          </a:xfrm>
          <a:prstGeom prst="rect">
            <a:avLst/>
          </a:prstGeom>
          <a:noFill/>
          <a:ln w="0">
            <a:noFill/>
          </a:ln>
        </p:spPr>
        <p:txBody>
          <a:bodyPr wrap="square" lIns="0" tIns="0" rIns="0" bIns="0" anchor="t"/>
          <a:lstStyle>
            <a:defPPr>
              <a:defRPr sz="1350" b="0">
                <a:solidFill>
                  <a:srgbClr val="777777"/>
                </a:solidFill>
                <a:latin typeface="Times New Roman"/>
                <a:ea typeface="Times New Roman"/>
                <a:cs typeface="Times New Roman"/>
              </a:defRPr>
            </a:defPPr>
          </a:lstStyle>
          <a:p>
            <a:pPr>
              <a:buNone/>
              <a:defRPr sz="1350" b="0">
                <a:solidFill>
                  <a:srgbClr val="777777"/>
                </a:solidFill>
                <a:latin typeface="Times New Roman"/>
                <a:ea typeface="Times New Roman"/>
                <a:cs typeface="Times New Roman"/>
              </a:defRPr>
            </a:pPr>
            <a:r>
              <a:rPr sz="1350" b="0">
                <a:solidFill>
                  <a:srgbClr val="777777"/>
                </a:solidFill>
                <a:latin typeface="Times New Roman"/>
                <a:ea typeface="Times New Roman"/>
                <a:cs typeface="Times New Roman"/>
              </a:rPr>
              <a:t>Published aggregates checked locally. Raw collaborator trajectories were not independently reviewed here.</a:t>
            </a:r>
          </a:p>
        </p:txBody>
      </p:sp>
    </p:spTree>
    <p:extLst>
      <p:ext uri="{BB962C8B-B14F-4D97-AF65-F5344CB8AC3E}">
        <p14:creationId xmlns:p14="http://schemas.microsoft.com/office/powerpoint/2010/main" val="202682779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B6BA0FF3-04EA-4212-BFD6-BA0891C308E1}"/>
              </a:ext>
            </a:extLst>
          </p:cNvPr>
          <p:cNvSpPr>
            <a:spLocks noGrp="1"/>
          </p:cNvSpPr>
          <p:nvPr/>
        </p:nvSpPr>
        <p:spPr>
          <a:xfrm>
            <a:off x="457200" y="209550"/>
            <a:ext cx="11277600" cy="638175"/>
          </a:xfrm>
          <a:prstGeom prst="rect">
            <a:avLst/>
          </a:prstGeom>
          <a:noFill/>
          <a:ln w="0">
            <a:noFill/>
          </a:ln>
        </p:spPr>
        <p:txBody>
          <a:bodyPr wrap="square" lIns="0" tIns="0" rIns="0" bIns="0" anchor="t"/>
          <a:lstStyle>
            <a:defPPr algn="l">
              <a:defRPr sz="3600" b="1" i="0">
                <a:solidFill>
                  <a:srgbClr val="111111"/>
                </a:solidFill>
                <a:latin typeface="Times New Roman"/>
                <a:ea typeface="Times New Roman"/>
                <a:cs typeface="Times New Roman"/>
              </a:defRPr>
            </a:defPPr>
          </a:lstStyle>
          <a:p>
            <a:pPr algn="l">
              <a:buNone/>
              <a:defRPr sz="3600" b="1" i="0">
                <a:solidFill>
                  <a:srgbClr val="111111"/>
                </a:solidFill>
                <a:latin typeface="Times New Roman"/>
                <a:ea typeface="Times New Roman"/>
                <a:cs typeface="Times New Roman"/>
              </a:defRPr>
            </a:pPr>
            <a:r>
              <a:rPr sz="3600" b="1" i="0">
                <a:solidFill>
                  <a:srgbClr val="111111"/>
                </a:solidFill>
                <a:latin typeface="Times New Roman"/>
                <a:ea typeface="Times New Roman"/>
                <a:cs typeface="Times New Roman"/>
              </a:rPr>
              <a:t>Backup: the frozen 13-task roster</a:t>
            </a:r>
          </a:p>
        </p:txBody>
      </p:sp>
      <p:sp>
        <p:nvSpPr>
          <p:cNvPr id="3" name="Rectangle 2">
            <a:extLst>
              <a:ext uri="{FF2B5EF4-FFF2-40B4-BE49-F238E27FC236}">
                <a16:creationId xmlns:a16="http://schemas.microsoft.com/office/drawing/2014/main" id="{1B617954-181A-4A23-BF2D-053035054F7D}"/>
              </a:ext>
            </a:extLst>
          </p:cNvPr>
          <p:cNvSpPr>
            <a:spLocks noGrp="1"/>
          </p:cNvSpPr>
          <p:nvPr/>
        </p:nvSpPr>
        <p:spPr>
          <a:xfrm>
            <a:off x="457200" y="1419225"/>
            <a:ext cx="5238750" cy="409575"/>
          </a:xfrm>
          <a:prstGeom prst="rect">
            <a:avLst/>
          </a:prstGeom>
          <a:noFill/>
          <a:ln w="0">
            <a:noFill/>
          </a:ln>
        </p:spPr>
        <p:txBody>
          <a:bodyPr wrap="square" lIns="0" tIns="0" rIns="0" bIns="0" anchor="t"/>
          <a:lstStyle>
            <a:defPPr algn="l">
              <a:defRPr sz="2175" b="0" i="0">
                <a:solidFill>
                  <a:srgbClr val="111111"/>
                </a:solidFill>
                <a:latin typeface="Times New Roman"/>
                <a:ea typeface="Times New Roman"/>
                <a:cs typeface="Times New Roman"/>
              </a:defRPr>
            </a:defPPr>
          </a:lstStyle>
          <a:p>
            <a:pPr algn="l">
              <a:buNone/>
              <a:defRPr sz="2175" b="0" i="0">
                <a:solidFill>
                  <a:srgbClr val="111111"/>
                </a:solidFill>
                <a:latin typeface="Times New Roman"/>
                <a:ea typeface="Times New Roman"/>
                <a:cs typeface="Times New Roman"/>
              </a:defRPr>
            </a:pPr>
            <a:r>
              <a:rPr sz="2175" b="0" i="0">
                <a:solidFill>
                  <a:srgbClr val="111111"/>
                </a:solidFill>
                <a:latin typeface="Times New Roman"/>
                <a:ea typeface="Times New Roman"/>
                <a:cs typeface="Times New Roman"/>
              </a:rPr>
              <a:t>entropy-anomaly</a:t>
            </a:r>
          </a:p>
        </p:txBody>
      </p:sp>
      <p:sp>
        <p:nvSpPr>
          <p:cNvPr id="4" name="Rectangle 3">
            <a:extLst>
              <a:ext uri="{FF2B5EF4-FFF2-40B4-BE49-F238E27FC236}">
                <a16:creationId xmlns:a16="http://schemas.microsoft.com/office/drawing/2014/main" id="{E184659C-ED43-48C5-9DD3-A617939BA21B}"/>
              </a:ext>
            </a:extLst>
          </p:cNvPr>
          <p:cNvSpPr>
            <a:spLocks noGrp="1"/>
          </p:cNvSpPr>
          <p:nvPr/>
        </p:nvSpPr>
        <p:spPr>
          <a:xfrm>
            <a:off x="457200" y="1952625"/>
            <a:ext cx="5238750" cy="409575"/>
          </a:xfrm>
          <a:prstGeom prst="rect">
            <a:avLst/>
          </a:prstGeom>
          <a:noFill/>
          <a:ln w="0">
            <a:noFill/>
          </a:ln>
        </p:spPr>
        <p:txBody>
          <a:bodyPr wrap="square" lIns="0" tIns="0" rIns="0" bIns="0" anchor="t"/>
          <a:lstStyle>
            <a:defPPr algn="l">
              <a:defRPr sz="2175" b="0" i="0">
                <a:solidFill>
                  <a:srgbClr val="111111"/>
                </a:solidFill>
                <a:latin typeface="Times New Roman"/>
                <a:ea typeface="Times New Roman"/>
                <a:cs typeface="Times New Roman"/>
              </a:defRPr>
            </a:defPPr>
          </a:lstStyle>
          <a:p>
            <a:pPr algn="l">
              <a:buNone/>
              <a:defRPr sz="2175" b="0" i="0">
                <a:solidFill>
                  <a:srgbClr val="111111"/>
                </a:solidFill>
                <a:latin typeface="Times New Roman"/>
                <a:ea typeface="Times New Roman"/>
                <a:cs typeface="Times New Roman"/>
              </a:defRPr>
            </a:pPr>
            <a:r>
              <a:rPr sz="2175" b="0" i="0">
                <a:solidFill>
                  <a:srgbClr val="111111"/>
                </a:solidFill>
                <a:latin typeface="Times New Roman"/>
                <a:ea typeface="Times New Roman"/>
                <a:cs typeface="Times New Roman"/>
              </a:rPr>
              <a:t>finite-layer-phoresis</a:t>
            </a:r>
          </a:p>
        </p:txBody>
      </p:sp>
      <p:sp>
        <p:nvSpPr>
          <p:cNvPr id="5" name="Rectangle 4">
            <a:extLst>
              <a:ext uri="{FF2B5EF4-FFF2-40B4-BE49-F238E27FC236}">
                <a16:creationId xmlns:a16="http://schemas.microsoft.com/office/drawing/2014/main" id="{ACEAC897-E548-4A51-9467-D4512B3E482F}"/>
              </a:ext>
            </a:extLst>
          </p:cNvPr>
          <p:cNvSpPr>
            <a:spLocks noGrp="1"/>
          </p:cNvSpPr>
          <p:nvPr/>
        </p:nvSpPr>
        <p:spPr>
          <a:xfrm>
            <a:off x="457200" y="2486025"/>
            <a:ext cx="5238750" cy="409575"/>
          </a:xfrm>
          <a:prstGeom prst="rect">
            <a:avLst/>
          </a:prstGeom>
          <a:noFill/>
          <a:ln w="0">
            <a:noFill/>
          </a:ln>
        </p:spPr>
        <p:txBody>
          <a:bodyPr wrap="square" lIns="0" tIns="0" rIns="0" bIns="0" anchor="t"/>
          <a:lstStyle>
            <a:defPPr algn="l">
              <a:defRPr sz="2175" b="0" i="0">
                <a:solidFill>
                  <a:srgbClr val="111111"/>
                </a:solidFill>
                <a:latin typeface="Times New Roman"/>
                <a:ea typeface="Times New Roman"/>
                <a:cs typeface="Times New Roman"/>
              </a:defRPr>
            </a:defPPr>
          </a:lstStyle>
          <a:p>
            <a:pPr algn="l">
              <a:buNone/>
              <a:defRPr sz="2175" b="0" i="0">
                <a:solidFill>
                  <a:srgbClr val="111111"/>
                </a:solidFill>
                <a:latin typeface="Times New Roman"/>
                <a:ea typeface="Times New Roman"/>
                <a:cs typeface="Times New Roman"/>
              </a:defRPr>
            </a:pPr>
            <a:r>
              <a:rPr sz="2175" b="0" i="0">
                <a:solidFill>
                  <a:srgbClr val="111111"/>
                </a:solidFill>
                <a:latin typeface="Times New Roman"/>
                <a:ea typeface="Times New Roman"/>
                <a:cs typeface="Times New Roman"/>
              </a:rPr>
              <a:t>hierarchical-glass-overlaps</a:t>
            </a:r>
          </a:p>
        </p:txBody>
      </p:sp>
      <p:sp>
        <p:nvSpPr>
          <p:cNvPr id="6" name="Rectangle 5">
            <a:extLst>
              <a:ext uri="{FF2B5EF4-FFF2-40B4-BE49-F238E27FC236}">
                <a16:creationId xmlns:a16="http://schemas.microsoft.com/office/drawing/2014/main" id="{8109EB7F-43D7-488D-8A62-D803A593F497}"/>
              </a:ext>
            </a:extLst>
          </p:cNvPr>
          <p:cNvSpPr>
            <a:spLocks noGrp="1"/>
          </p:cNvSpPr>
          <p:nvPr/>
        </p:nvSpPr>
        <p:spPr>
          <a:xfrm>
            <a:off x="457200" y="3019425"/>
            <a:ext cx="5238750" cy="409575"/>
          </a:xfrm>
          <a:prstGeom prst="rect">
            <a:avLst/>
          </a:prstGeom>
          <a:noFill/>
          <a:ln w="0">
            <a:noFill/>
          </a:ln>
        </p:spPr>
        <p:txBody>
          <a:bodyPr wrap="square" lIns="0" tIns="0" rIns="0" bIns="0" anchor="t"/>
          <a:lstStyle>
            <a:defPPr algn="l">
              <a:defRPr sz="2175" b="0" i="0">
                <a:solidFill>
                  <a:srgbClr val="111111"/>
                </a:solidFill>
                <a:latin typeface="Times New Roman"/>
                <a:ea typeface="Times New Roman"/>
                <a:cs typeface="Times New Roman"/>
              </a:defRPr>
            </a:defPPr>
          </a:lstStyle>
          <a:p>
            <a:pPr algn="l">
              <a:buNone/>
              <a:defRPr sz="2175" b="0" i="0">
                <a:solidFill>
                  <a:srgbClr val="111111"/>
                </a:solidFill>
                <a:latin typeface="Times New Roman"/>
                <a:ea typeface="Times New Roman"/>
                <a:cs typeface="Times New Roman"/>
              </a:defRPr>
            </a:pPr>
            <a:r>
              <a:rPr sz="2175" b="0" i="0">
                <a:solidFill>
                  <a:srgbClr val="111111"/>
                </a:solidFill>
                <a:latin typeface="Times New Roman"/>
                <a:ea typeface="Times New Roman"/>
                <a:cs typeface="Times New Roman"/>
              </a:rPr>
              <a:t>insulating-mhd-duct</a:t>
            </a:r>
          </a:p>
        </p:txBody>
      </p:sp>
      <p:sp>
        <p:nvSpPr>
          <p:cNvPr id="7" name="Rectangle 6">
            <a:extLst>
              <a:ext uri="{FF2B5EF4-FFF2-40B4-BE49-F238E27FC236}">
                <a16:creationId xmlns:a16="http://schemas.microsoft.com/office/drawing/2014/main" id="{FFB1FA39-94CE-431E-9645-61A0CC786757}"/>
              </a:ext>
            </a:extLst>
          </p:cNvPr>
          <p:cNvSpPr>
            <a:spLocks noGrp="1"/>
          </p:cNvSpPr>
          <p:nvPr/>
        </p:nvSpPr>
        <p:spPr>
          <a:xfrm>
            <a:off x="457200" y="3552825"/>
            <a:ext cx="5238750" cy="409575"/>
          </a:xfrm>
          <a:prstGeom prst="rect">
            <a:avLst/>
          </a:prstGeom>
          <a:noFill/>
          <a:ln w="0">
            <a:noFill/>
          </a:ln>
        </p:spPr>
        <p:txBody>
          <a:bodyPr wrap="square" lIns="0" tIns="0" rIns="0" bIns="0" anchor="t"/>
          <a:lstStyle>
            <a:defPPr algn="l">
              <a:defRPr sz="2175" b="0" i="0">
                <a:solidFill>
                  <a:srgbClr val="111111"/>
                </a:solidFill>
                <a:latin typeface="Times New Roman"/>
                <a:ea typeface="Times New Roman"/>
                <a:cs typeface="Times New Roman"/>
              </a:defRPr>
            </a:defPPr>
          </a:lstStyle>
          <a:p>
            <a:pPr algn="l">
              <a:buNone/>
              <a:defRPr sz="2175" b="0" i="0">
                <a:solidFill>
                  <a:srgbClr val="111111"/>
                </a:solidFill>
                <a:latin typeface="Times New Roman"/>
                <a:ea typeface="Times New Roman"/>
                <a:cs typeface="Times New Roman"/>
              </a:defRPr>
            </a:pPr>
            <a:r>
              <a:rPr sz="2175" b="0" i="0">
                <a:solidFill>
                  <a:srgbClr val="111111"/>
                </a:solidFill>
                <a:latin typeface="Times New Roman"/>
                <a:ea typeface="Times New Roman"/>
                <a:cs typeface="Times New Roman"/>
              </a:rPr>
              <a:t>magnetic-tracer</a:t>
            </a:r>
          </a:p>
        </p:txBody>
      </p:sp>
      <p:sp>
        <p:nvSpPr>
          <p:cNvPr id="8" name="Rectangle 7">
            <a:extLst>
              <a:ext uri="{FF2B5EF4-FFF2-40B4-BE49-F238E27FC236}">
                <a16:creationId xmlns:a16="http://schemas.microsoft.com/office/drawing/2014/main" id="{C417F617-88C4-4E5F-8408-0643D2B6A682}"/>
              </a:ext>
            </a:extLst>
          </p:cNvPr>
          <p:cNvSpPr>
            <a:spLocks noGrp="1"/>
          </p:cNvSpPr>
          <p:nvPr/>
        </p:nvSpPr>
        <p:spPr>
          <a:xfrm>
            <a:off x="457200" y="4086225"/>
            <a:ext cx="5238750" cy="409575"/>
          </a:xfrm>
          <a:prstGeom prst="rect">
            <a:avLst/>
          </a:prstGeom>
          <a:noFill/>
          <a:ln w="0">
            <a:noFill/>
          </a:ln>
        </p:spPr>
        <p:txBody>
          <a:bodyPr wrap="square" lIns="0" tIns="0" rIns="0" bIns="0" anchor="t"/>
          <a:lstStyle>
            <a:defPPr algn="l">
              <a:defRPr sz="2175" b="0" i="0">
                <a:solidFill>
                  <a:srgbClr val="111111"/>
                </a:solidFill>
                <a:latin typeface="Times New Roman"/>
                <a:ea typeface="Times New Roman"/>
                <a:cs typeface="Times New Roman"/>
              </a:defRPr>
            </a:defPPr>
          </a:lstStyle>
          <a:p>
            <a:pPr algn="l">
              <a:buNone/>
              <a:defRPr sz="2175" b="0" i="0">
                <a:solidFill>
                  <a:srgbClr val="111111"/>
                </a:solidFill>
                <a:latin typeface="Times New Roman"/>
                <a:ea typeface="Times New Roman"/>
                <a:cs typeface="Times New Roman"/>
              </a:defRPr>
            </a:pPr>
            <a:r>
              <a:rPr sz="2175" b="0" i="0">
                <a:solidFill>
                  <a:srgbClr val="111111"/>
                </a:solidFill>
                <a:latin typeface="Times New Roman"/>
                <a:ea typeface="Times New Roman"/>
                <a:cs typeface="Times New Roman"/>
              </a:rPr>
              <a:t>reaction-diffusion</a:t>
            </a:r>
          </a:p>
        </p:txBody>
      </p:sp>
      <p:sp>
        <p:nvSpPr>
          <p:cNvPr id="9" name="Rectangle 8">
            <a:extLst>
              <a:ext uri="{FF2B5EF4-FFF2-40B4-BE49-F238E27FC236}">
                <a16:creationId xmlns:a16="http://schemas.microsoft.com/office/drawing/2014/main" id="{911F5FFF-8663-471A-98CE-29B1F1D9B568}"/>
              </a:ext>
            </a:extLst>
          </p:cNvPr>
          <p:cNvSpPr>
            <a:spLocks noGrp="1"/>
          </p:cNvSpPr>
          <p:nvPr/>
        </p:nvSpPr>
        <p:spPr>
          <a:xfrm>
            <a:off x="457200" y="4619625"/>
            <a:ext cx="5238750" cy="409575"/>
          </a:xfrm>
          <a:prstGeom prst="rect">
            <a:avLst/>
          </a:prstGeom>
          <a:noFill/>
          <a:ln w="0">
            <a:noFill/>
          </a:ln>
        </p:spPr>
        <p:txBody>
          <a:bodyPr wrap="square" lIns="0" tIns="0" rIns="0" bIns="0" anchor="t"/>
          <a:lstStyle>
            <a:defPPr algn="l">
              <a:defRPr sz="2175" b="0" i="0">
                <a:solidFill>
                  <a:srgbClr val="111111"/>
                </a:solidFill>
                <a:latin typeface="Times New Roman"/>
                <a:ea typeface="Times New Roman"/>
                <a:cs typeface="Times New Roman"/>
              </a:defRPr>
            </a:defPPr>
          </a:lstStyle>
          <a:p>
            <a:pPr algn="l">
              <a:buNone/>
              <a:defRPr sz="2175" b="0" i="0">
                <a:solidFill>
                  <a:srgbClr val="111111"/>
                </a:solidFill>
                <a:latin typeface="Times New Roman"/>
                <a:ea typeface="Times New Roman"/>
                <a:cs typeface="Times New Roman"/>
              </a:defRPr>
            </a:pPr>
            <a:r>
              <a:rPr sz="2175" b="0" i="0">
                <a:solidFill>
                  <a:srgbClr val="111111"/>
                </a:solidFill>
                <a:latin typeface="Times New Roman"/>
                <a:ea typeface="Times New Roman"/>
                <a:cs typeface="Times New Roman"/>
              </a:rPr>
              <a:t>ring-current-fluctuations</a:t>
            </a:r>
          </a:p>
        </p:txBody>
      </p:sp>
      <p:sp>
        <p:nvSpPr>
          <p:cNvPr id="10" name="Rectangle 9">
            <a:extLst>
              <a:ext uri="{FF2B5EF4-FFF2-40B4-BE49-F238E27FC236}">
                <a16:creationId xmlns:a16="http://schemas.microsoft.com/office/drawing/2014/main" id="{B86DA223-D697-451A-A51A-91BE7366B2E3}"/>
              </a:ext>
            </a:extLst>
          </p:cNvPr>
          <p:cNvSpPr>
            <a:spLocks noGrp="1"/>
          </p:cNvSpPr>
          <p:nvPr/>
        </p:nvSpPr>
        <p:spPr>
          <a:xfrm>
            <a:off x="6362700" y="1419225"/>
            <a:ext cx="5238750" cy="409575"/>
          </a:xfrm>
          <a:prstGeom prst="rect">
            <a:avLst/>
          </a:prstGeom>
          <a:noFill/>
          <a:ln w="0">
            <a:noFill/>
          </a:ln>
        </p:spPr>
        <p:txBody>
          <a:bodyPr wrap="square" lIns="0" tIns="0" rIns="0" bIns="0" anchor="t"/>
          <a:lstStyle>
            <a:defPPr algn="l">
              <a:defRPr sz="2175" b="0" i="0">
                <a:solidFill>
                  <a:srgbClr val="111111"/>
                </a:solidFill>
                <a:latin typeface="Times New Roman"/>
                <a:ea typeface="Times New Roman"/>
                <a:cs typeface="Times New Roman"/>
              </a:defRPr>
            </a:defPPr>
          </a:lstStyle>
          <a:p>
            <a:pPr algn="l">
              <a:buNone/>
              <a:defRPr sz="2175" b="0" i="0">
                <a:solidFill>
                  <a:srgbClr val="111111"/>
                </a:solidFill>
                <a:latin typeface="Times New Roman"/>
                <a:ea typeface="Times New Roman"/>
                <a:cs typeface="Times New Roman"/>
              </a:defRPr>
            </a:pPr>
            <a:r>
              <a:rPr sz="2175" b="0" i="0">
                <a:solidFill>
                  <a:srgbClr val="111111"/>
                </a:solidFill>
                <a:latin typeface="Times New Roman"/>
                <a:ea typeface="Times New Roman"/>
                <a:cs typeface="Times New Roman"/>
              </a:rPr>
              <a:t>rotating-reservoir</a:t>
            </a:r>
          </a:p>
        </p:txBody>
      </p:sp>
      <p:sp>
        <p:nvSpPr>
          <p:cNvPr id="11" name="Rectangle 10">
            <a:extLst>
              <a:ext uri="{FF2B5EF4-FFF2-40B4-BE49-F238E27FC236}">
                <a16:creationId xmlns:a16="http://schemas.microsoft.com/office/drawing/2014/main" id="{7808C839-AEFA-4D36-B29C-420F636341B5}"/>
              </a:ext>
            </a:extLst>
          </p:cNvPr>
          <p:cNvSpPr>
            <a:spLocks noGrp="1"/>
          </p:cNvSpPr>
          <p:nvPr/>
        </p:nvSpPr>
        <p:spPr>
          <a:xfrm>
            <a:off x="6362700" y="1952625"/>
            <a:ext cx="5238750" cy="409575"/>
          </a:xfrm>
          <a:prstGeom prst="rect">
            <a:avLst/>
          </a:prstGeom>
          <a:noFill/>
          <a:ln w="0">
            <a:noFill/>
          </a:ln>
        </p:spPr>
        <p:txBody>
          <a:bodyPr wrap="square" lIns="0" tIns="0" rIns="0" bIns="0" anchor="t"/>
          <a:lstStyle>
            <a:defPPr algn="l">
              <a:defRPr sz="2175" b="0" i="0">
                <a:solidFill>
                  <a:srgbClr val="111111"/>
                </a:solidFill>
                <a:latin typeface="Times New Roman"/>
                <a:ea typeface="Times New Roman"/>
                <a:cs typeface="Times New Roman"/>
              </a:defRPr>
            </a:defPPr>
          </a:lstStyle>
          <a:p>
            <a:pPr algn="l">
              <a:buNone/>
              <a:defRPr sz="2175" b="0" i="0">
                <a:solidFill>
                  <a:srgbClr val="111111"/>
                </a:solidFill>
                <a:latin typeface="Times New Roman"/>
                <a:ea typeface="Times New Roman"/>
                <a:cs typeface="Times New Roman"/>
              </a:defRPr>
            </a:pPr>
            <a:r>
              <a:rPr sz="2175" b="0" i="0">
                <a:solidFill>
                  <a:srgbClr val="111111"/>
                </a:solidFill>
                <a:latin typeface="Times New Roman"/>
                <a:ea typeface="Times New Roman"/>
                <a:cs typeface="Times New Roman"/>
              </a:rPr>
              <a:t>single-file-memory</a:t>
            </a:r>
          </a:p>
        </p:txBody>
      </p:sp>
      <p:sp>
        <p:nvSpPr>
          <p:cNvPr id="12" name="Rectangle 11">
            <a:extLst>
              <a:ext uri="{FF2B5EF4-FFF2-40B4-BE49-F238E27FC236}">
                <a16:creationId xmlns:a16="http://schemas.microsoft.com/office/drawing/2014/main" id="{7A716844-98DE-4D97-BD8E-850B5CC8A603}"/>
              </a:ext>
            </a:extLst>
          </p:cNvPr>
          <p:cNvSpPr>
            <a:spLocks noGrp="1"/>
          </p:cNvSpPr>
          <p:nvPr/>
        </p:nvSpPr>
        <p:spPr>
          <a:xfrm>
            <a:off x="6362700" y="2486025"/>
            <a:ext cx="5238750" cy="409575"/>
          </a:xfrm>
          <a:prstGeom prst="rect">
            <a:avLst/>
          </a:prstGeom>
          <a:noFill/>
          <a:ln w="0">
            <a:noFill/>
          </a:ln>
        </p:spPr>
        <p:txBody>
          <a:bodyPr wrap="square" lIns="0" tIns="0" rIns="0" bIns="0" anchor="t"/>
          <a:lstStyle>
            <a:defPPr algn="l">
              <a:defRPr sz="2175" b="0" i="0">
                <a:solidFill>
                  <a:srgbClr val="111111"/>
                </a:solidFill>
                <a:latin typeface="Times New Roman"/>
                <a:ea typeface="Times New Roman"/>
                <a:cs typeface="Times New Roman"/>
              </a:defRPr>
            </a:defPPr>
          </a:lstStyle>
          <a:p>
            <a:pPr algn="l">
              <a:buNone/>
              <a:defRPr sz="2175" b="0" i="0">
                <a:solidFill>
                  <a:srgbClr val="111111"/>
                </a:solidFill>
                <a:latin typeface="Times New Roman"/>
                <a:ea typeface="Times New Roman"/>
                <a:cs typeface="Times New Roman"/>
              </a:defRPr>
            </a:pPr>
            <a:r>
              <a:rPr sz="2175" b="0" i="0">
                <a:solidFill>
                  <a:srgbClr val="111111"/>
                </a:solidFill>
                <a:latin typeface="Times New Roman"/>
                <a:ea typeface="Times New Roman"/>
                <a:cs typeface="Times New Roman"/>
              </a:rPr>
              <a:t>superconducting-heat</a:t>
            </a:r>
          </a:p>
        </p:txBody>
      </p:sp>
      <p:sp>
        <p:nvSpPr>
          <p:cNvPr id="13" name="Rectangle 12">
            <a:extLst>
              <a:ext uri="{FF2B5EF4-FFF2-40B4-BE49-F238E27FC236}">
                <a16:creationId xmlns:a16="http://schemas.microsoft.com/office/drawing/2014/main" id="{8E313484-B01D-4662-9B77-A526F38FCA36}"/>
              </a:ext>
            </a:extLst>
          </p:cNvPr>
          <p:cNvSpPr>
            <a:spLocks noGrp="1"/>
          </p:cNvSpPr>
          <p:nvPr/>
        </p:nvSpPr>
        <p:spPr>
          <a:xfrm>
            <a:off x="6362700" y="3019425"/>
            <a:ext cx="5238750" cy="409575"/>
          </a:xfrm>
          <a:prstGeom prst="rect">
            <a:avLst/>
          </a:prstGeom>
          <a:noFill/>
          <a:ln w="0">
            <a:noFill/>
          </a:ln>
        </p:spPr>
        <p:txBody>
          <a:bodyPr wrap="square" lIns="0" tIns="0" rIns="0" bIns="0" anchor="t"/>
          <a:lstStyle>
            <a:defPPr algn="l">
              <a:defRPr sz="2175" b="0" i="0">
                <a:solidFill>
                  <a:srgbClr val="111111"/>
                </a:solidFill>
                <a:latin typeface="Times New Roman"/>
                <a:ea typeface="Times New Roman"/>
                <a:cs typeface="Times New Roman"/>
              </a:defRPr>
            </a:defPPr>
          </a:lstStyle>
          <a:p>
            <a:pPr algn="l">
              <a:buNone/>
              <a:defRPr sz="2175" b="0" i="0">
                <a:solidFill>
                  <a:srgbClr val="111111"/>
                </a:solidFill>
                <a:latin typeface="Times New Roman"/>
                <a:ea typeface="Times New Roman"/>
                <a:cs typeface="Times New Roman"/>
              </a:defRPr>
            </a:pPr>
            <a:r>
              <a:rPr sz="2175" b="0" i="0">
                <a:solidFill>
                  <a:srgbClr val="111111"/>
                </a:solidFill>
                <a:latin typeface="Times New Roman"/>
                <a:ea typeface="Times New Roman"/>
                <a:cs typeface="Times New Roman"/>
              </a:rPr>
              <a:t>swirling-heat-tails</a:t>
            </a:r>
          </a:p>
        </p:txBody>
      </p:sp>
      <p:sp>
        <p:nvSpPr>
          <p:cNvPr id="14" name="Rectangle 13">
            <a:extLst>
              <a:ext uri="{FF2B5EF4-FFF2-40B4-BE49-F238E27FC236}">
                <a16:creationId xmlns:a16="http://schemas.microsoft.com/office/drawing/2014/main" id="{CB4180C1-0E47-4AC5-8EB7-942852E1E2D0}"/>
              </a:ext>
            </a:extLst>
          </p:cNvPr>
          <p:cNvSpPr>
            <a:spLocks noGrp="1"/>
          </p:cNvSpPr>
          <p:nvPr/>
        </p:nvSpPr>
        <p:spPr>
          <a:xfrm>
            <a:off x="6362700" y="3552825"/>
            <a:ext cx="5238750" cy="409575"/>
          </a:xfrm>
          <a:prstGeom prst="rect">
            <a:avLst/>
          </a:prstGeom>
          <a:noFill/>
          <a:ln w="0">
            <a:noFill/>
          </a:ln>
        </p:spPr>
        <p:txBody>
          <a:bodyPr wrap="square" lIns="0" tIns="0" rIns="0" bIns="0" anchor="t"/>
          <a:lstStyle>
            <a:defPPr algn="l">
              <a:defRPr sz="2175" b="0" i="0">
                <a:solidFill>
                  <a:srgbClr val="111111"/>
                </a:solidFill>
                <a:latin typeface="Times New Roman"/>
                <a:ea typeface="Times New Roman"/>
                <a:cs typeface="Times New Roman"/>
              </a:defRPr>
            </a:defPPr>
          </a:lstStyle>
          <a:p>
            <a:pPr algn="l">
              <a:buNone/>
              <a:defRPr sz="2175" b="0" i="0">
                <a:solidFill>
                  <a:srgbClr val="111111"/>
                </a:solidFill>
                <a:latin typeface="Times New Roman"/>
                <a:ea typeface="Times New Roman"/>
                <a:cs typeface="Times New Roman"/>
              </a:defRPr>
            </a:pPr>
            <a:r>
              <a:rPr sz="2175" b="0" i="0">
                <a:solidFill>
                  <a:srgbClr val="111111"/>
                </a:solidFill>
                <a:latin typeface="Times New Roman"/>
                <a:ea typeface="Times New Roman"/>
                <a:cs typeface="Times New Roman"/>
              </a:rPr>
              <a:t>hard-rod-current</a:t>
            </a:r>
          </a:p>
        </p:txBody>
      </p:sp>
      <p:sp>
        <p:nvSpPr>
          <p:cNvPr id="15" name="Rectangle 14">
            <a:extLst>
              <a:ext uri="{FF2B5EF4-FFF2-40B4-BE49-F238E27FC236}">
                <a16:creationId xmlns:a16="http://schemas.microsoft.com/office/drawing/2014/main" id="{A97A6698-C261-42DF-A038-2BFF43D3125B}"/>
              </a:ext>
            </a:extLst>
          </p:cNvPr>
          <p:cNvSpPr>
            <a:spLocks noGrp="1"/>
          </p:cNvSpPr>
          <p:nvPr/>
        </p:nvSpPr>
        <p:spPr>
          <a:xfrm>
            <a:off x="6362700" y="4086225"/>
            <a:ext cx="5238750" cy="409575"/>
          </a:xfrm>
          <a:prstGeom prst="rect">
            <a:avLst/>
          </a:prstGeom>
          <a:noFill/>
          <a:ln w="0">
            <a:noFill/>
          </a:ln>
        </p:spPr>
        <p:txBody>
          <a:bodyPr wrap="square" lIns="0" tIns="0" rIns="0" bIns="0" anchor="t"/>
          <a:lstStyle>
            <a:defPPr algn="l">
              <a:defRPr sz="2175" b="0" i="0">
                <a:solidFill>
                  <a:srgbClr val="111111"/>
                </a:solidFill>
                <a:latin typeface="Times New Roman"/>
                <a:ea typeface="Times New Roman"/>
                <a:cs typeface="Times New Roman"/>
              </a:defRPr>
            </a:defPPr>
          </a:lstStyle>
          <a:p>
            <a:pPr algn="l">
              <a:buNone/>
              <a:defRPr sz="2175" b="0" i="0">
                <a:solidFill>
                  <a:srgbClr val="111111"/>
                </a:solidFill>
                <a:latin typeface="Times New Roman"/>
                <a:ea typeface="Times New Roman"/>
                <a:cs typeface="Times New Roman"/>
              </a:defRPr>
            </a:pPr>
            <a:r>
              <a:rPr sz="2175" b="0" i="0">
                <a:solidFill>
                  <a:srgbClr val="111111"/>
                </a:solidFill>
                <a:latin typeface="Times New Roman"/>
                <a:ea typeface="Times New Roman"/>
                <a:cs typeface="Times New Roman"/>
              </a:rPr>
              <a:t>finite-ion-cloud</a:t>
            </a:r>
          </a:p>
        </p:txBody>
      </p:sp>
      <p:sp>
        <p:nvSpPr>
          <p:cNvPr id="16" name="Rectangle 15">
            <a:extLst>
              <a:ext uri="{FF2B5EF4-FFF2-40B4-BE49-F238E27FC236}">
                <a16:creationId xmlns:a16="http://schemas.microsoft.com/office/drawing/2014/main" id="{ABF92BC6-A106-4C0F-883D-9CF630DDC338}"/>
              </a:ext>
            </a:extLst>
          </p:cNvPr>
          <p:cNvSpPr>
            <a:spLocks noGrp="1"/>
          </p:cNvSpPr>
          <p:nvPr/>
        </p:nvSpPr>
        <p:spPr>
          <a:xfrm>
            <a:off x="457200" y="6067425"/>
            <a:ext cx="11277600" cy="381000"/>
          </a:xfrm>
          <a:prstGeom prst="rect">
            <a:avLst/>
          </a:prstGeom>
          <a:noFill/>
          <a:ln w="0">
            <a:noFill/>
          </a:ln>
        </p:spPr>
        <p:txBody>
          <a:bodyPr wrap="square" lIns="0" tIns="0" rIns="0" bIns="0" anchor="t"/>
          <a:lstStyle>
            <a:defPPr algn="l">
              <a:defRPr sz="1350" b="0" i="0">
                <a:solidFill>
                  <a:srgbClr val="777777"/>
                </a:solidFill>
                <a:latin typeface="Times New Roman"/>
                <a:ea typeface="Times New Roman"/>
                <a:cs typeface="Times New Roman"/>
              </a:defRPr>
            </a:defPPr>
          </a:lstStyle>
          <a:p>
            <a:pPr algn="l">
              <a:buNone/>
              <a:defRPr sz="1350" b="0" i="0">
                <a:solidFill>
                  <a:srgbClr val="777777"/>
                </a:solidFill>
                <a:latin typeface="Times New Roman"/>
                <a:ea typeface="Times New Roman"/>
                <a:cs typeface="Times New Roman"/>
              </a:defRPr>
            </a:pPr>
            <a:r>
              <a:rPr sz="1350" b="0" i="0">
                <a:solidFill>
                  <a:srgbClr val="777777"/>
                </a:solidFill>
                <a:latin typeface="Times New Roman"/>
                <a:ea typeface="Times New Roman"/>
                <a:cs typeface="Times New Roman"/>
              </a:rPr>
              <a:t>Frozen snapshot: 34dedfbbd8ff. Task selection against GPT-5.6 Luna limits generalization to a broader physics population.</a:t>
            </a:r>
          </a:p>
        </p:txBody>
      </p:sp>
      <p:sp>
        <p:nvSpPr>
          <p:cNvPr id="18" name="Rectangle 17">
            <a:extLst>
              <a:ext uri="{FF2B5EF4-FFF2-40B4-BE49-F238E27FC236}">
                <a16:creationId xmlns:a16="http://schemas.microsoft.com/office/drawing/2014/main" id="{7B5E6208-A8BB-4725-9921-6CA79EB21DD2}"/>
              </a:ext>
            </a:extLst>
          </p:cNvPr>
          <p:cNvSpPr>
            <a:spLocks noGrp="1"/>
          </p:cNvSpPr>
          <p:nvPr/>
        </p:nvSpPr>
        <p:spPr>
          <a:xfrm>
            <a:off x="11201400" y="6477000"/>
            <a:ext cx="533400" cy="190500"/>
          </a:xfrm>
          <a:prstGeom prst="rect">
            <a:avLst/>
          </a:prstGeom>
          <a:noFill/>
          <a:ln w="0">
            <a:noFill/>
          </a:ln>
        </p:spPr>
        <p:txBody>
          <a:bodyPr wrap="square" lIns="0" tIns="0" rIns="0" bIns="0" anchor="t"/>
          <a:lstStyle>
            <a:defPPr algn="l">
              <a:defRPr sz="1200" b="0">
                <a:solidFill>
                  <a:srgbClr val="777777"/>
                </a:solidFill>
                <a:latin typeface="Times New Roman"/>
                <a:ea typeface="Times New Roman"/>
                <a:cs typeface="Times New Roman"/>
              </a:defRPr>
            </a:defPPr>
          </a:lstStyle>
          <a:p>
            <a:pPr algn="l">
              <a:buNone/>
              <a:defRPr sz="1200" b="0">
                <a:solidFill>
                  <a:srgbClr val="777777"/>
                </a:solidFill>
                <a:latin typeface="Times New Roman"/>
                <a:ea typeface="Times New Roman"/>
                <a:cs typeface="Times New Roman"/>
              </a:defRPr>
            </a:pPr>
            <a:r>
              <a:rPr sz="1200" b="0">
                <a:solidFill>
                  <a:srgbClr val="777777"/>
                </a:solidFill>
                <a:latin typeface="Times New Roman"/>
                <a:ea typeface="Times New Roman"/>
                <a:cs typeface="Times New Roman"/>
              </a:rPr>
              <a:t>15</a:t>
            </a:r>
          </a:p>
        </p:txBody>
      </p:sp>
    </p:spTree>
    <p:extLst>
      <p:ext uri="{BB962C8B-B14F-4D97-AF65-F5344CB8AC3E}">
        <p14:creationId xmlns:p14="http://schemas.microsoft.com/office/powerpoint/2010/main" val="182812619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9" name="Rectangle 28">
            <a:extLst>
              <a:ext uri="{FF2B5EF4-FFF2-40B4-BE49-F238E27FC236}">
                <a16:creationId xmlns:a16="http://schemas.microsoft.com/office/drawing/2014/main" id="{817B6CD4-DA5B-4A7F-A081-E2A2B31B441E}"/>
              </a:ext>
            </a:extLst>
          </p:cNvPr>
          <p:cNvSpPr>
            <a:spLocks noGrp="1"/>
          </p:cNvSpPr>
          <p:nvPr/>
        </p:nvSpPr>
        <p:spPr>
          <a:xfrm>
            <a:off x="457200" y="209550"/>
            <a:ext cx="11277600" cy="638175"/>
          </a:xfrm>
          <a:prstGeom prst="rect">
            <a:avLst/>
          </a:prstGeom>
          <a:noFill/>
          <a:ln w="0">
            <a:noFill/>
          </a:ln>
        </p:spPr>
        <p:txBody>
          <a:bodyPr wrap="square" lIns="0" tIns="0" rIns="0" bIns="0" anchor="t"/>
          <a:lstStyle>
            <a:defPPr algn="l">
              <a:defRPr sz="3600" b="1">
                <a:solidFill>
                  <a:srgbClr val="111111"/>
                </a:solidFill>
                <a:latin typeface="Times New Roman"/>
                <a:ea typeface="Times New Roman"/>
                <a:cs typeface="Times New Roman"/>
              </a:defRPr>
            </a:defPPr>
          </a:lstStyle>
          <a:p>
            <a:pPr algn="l">
              <a:buNone/>
              <a:defRPr sz="3600" b="1">
                <a:solidFill>
                  <a:srgbClr val="111111"/>
                </a:solidFill>
                <a:latin typeface="Times New Roman"/>
                <a:ea typeface="Times New Roman"/>
                <a:cs typeface="Times New Roman"/>
              </a:defRPr>
            </a:pPr>
            <a:r>
              <a:rPr sz="3600" b="1">
                <a:solidFill>
                  <a:srgbClr val="111111"/>
                </a:solidFill>
                <a:latin typeface="Times New Roman"/>
                <a:ea typeface="Times New Roman"/>
                <a:cs typeface="Times New Roman"/>
              </a:rPr>
              <a:t>Backup: comparing the two prediction formulas</a:t>
            </a:r>
          </a:p>
        </p:txBody>
      </p:sp>
      <p:sp>
        <p:nvSpPr>
          <p:cNvPr id="2" name="Rectangle 1">
            <a:extLst>
              <a:ext uri="{FF2B5EF4-FFF2-40B4-BE49-F238E27FC236}">
                <a16:creationId xmlns:a16="http://schemas.microsoft.com/office/drawing/2014/main" id="{D5E4B9E4-4CB2-45E9-BE61-2A76387824CA}"/>
              </a:ext>
            </a:extLst>
          </p:cNvPr>
          <p:cNvSpPr>
            <a:spLocks noGrp="1"/>
          </p:cNvSpPr>
          <p:nvPr/>
        </p:nvSpPr>
        <p:spPr>
          <a:xfrm>
            <a:off x="457200" y="914400"/>
            <a:ext cx="11277600" cy="476250"/>
          </a:xfrm>
          <a:prstGeom prst="rect">
            <a:avLst/>
          </a:prstGeom>
          <a:noFill/>
          <a:ln w="0">
            <a:noFill/>
          </a:ln>
        </p:spPr>
        <p:txBody>
          <a:bodyPr wrap="square" lIns="0" tIns="0" rIns="0" bIns="0" anchor="t"/>
          <a:lstStyle>
            <a:defPPr algn="l">
              <a:defRPr sz="1875" b="0">
                <a:solidFill>
                  <a:srgbClr val="444444"/>
                </a:solidFill>
                <a:latin typeface="Times New Roman"/>
                <a:ea typeface="Times New Roman"/>
                <a:cs typeface="Times New Roman"/>
              </a:defRPr>
            </a:defPPr>
          </a:lstStyle>
          <a:p>
            <a:pPr algn="l">
              <a:buNone/>
              <a:defRPr sz="1875" b="0">
                <a:solidFill>
                  <a:srgbClr val="444444"/>
                </a:solidFill>
                <a:latin typeface="Times New Roman"/>
                <a:ea typeface="Times New Roman"/>
                <a:cs typeface="Times New Roman"/>
              </a:defRPr>
            </a:pPr>
            <a:r>
              <a:rPr sz="1875" b="0">
                <a:solidFill>
                  <a:srgbClr val="444444"/>
                </a:solidFill>
                <a:latin typeface="Times New Roman"/>
                <a:ea typeface="Times New Roman"/>
                <a:cs typeface="Times New Roman"/>
              </a:rPr>
              <a:t>A narrow channel preserves particle order. Every experiment starts from the same positions.</a:t>
            </a:r>
          </a:p>
        </p:txBody>
      </p:sp>
      <p:sp>
        <p:nvSpPr>
          <p:cNvPr id="3" name="Rectangle 2">
            <a:extLst>
              <a:ext uri="{FF2B5EF4-FFF2-40B4-BE49-F238E27FC236}">
                <a16:creationId xmlns:a16="http://schemas.microsoft.com/office/drawing/2014/main" id="{D7084F74-4A77-424A-8676-E2C561AADB53}"/>
              </a:ext>
            </a:extLst>
          </p:cNvPr>
          <p:cNvSpPr>
            <a:spLocks noGrp="1"/>
          </p:cNvSpPr>
          <p:nvPr/>
        </p:nvSpPr>
        <p:spPr>
          <a:xfrm>
            <a:off x="457200" y="1533525"/>
            <a:ext cx="4905375" cy="323850"/>
          </a:xfrm>
          <a:prstGeom prst="rect">
            <a:avLst/>
          </a:prstGeom>
          <a:noFill/>
          <a:ln w="0">
            <a:noFill/>
          </a:ln>
        </p:spPr>
        <p:txBody>
          <a:bodyPr wrap="square" lIns="0" tIns="0" rIns="0" bIns="0" anchor="t"/>
          <a:lstStyle>
            <a:defPPr algn="l">
              <a:defRPr sz="2175" b="1">
                <a:solidFill>
                  <a:srgbClr val="111111"/>
                </a:solidFill>
                <a:latin typeface="Times New Roman"/>
                <a:ea typeface="Times New Roman"/>
                <a:cs typeface="Times New Roman"/>
              </a:defRPr>
            </a:defPPr>
          </a:lstStyle>
          <a:p>
            <a:pPr algn="l">
              <a:buNone/>
              <a:defRPr sz="2175" b="1">
                <a:solidFill>
                  <a:srgbClr val="111111"/>
                </a:solidFill>
                <a:latin typeface="Times New Roman"/>
                <a:ea typeface="Times New Roman"/>
                <a:cs typeface="Times New Roman"/>
              </a:defRPr>
            </a:pPr>
            <a:r>
              <a:rPr sz="2175" b="1">
                <a:solidFill>
                  <a:srgbClr val="111111"/>
                </a:solidFill>
                <a:latin typeface="Times New Roman"/>
                <a:ea typeface="Times New Roman"/>
                <a:cs typeface="Times New Roman"/>
              </a:rPr>
              <a:t>Physical setup</a:t>
            </a:r>
          </a:p>
        </p:txBody>
      </p:sp>
      <p:sp>
        <p:nvSpPr>
          <p:cNvPr id="4" name="Rectangle 3">
            <a:extLst>
              <a:ext uri="{FF2B5EF4-FFF2-40B4-BE49-F238E27FC236}">
                <a16:creationId xmlns:a16="http://schemas.microsoft.com/office/drawing/2014/main" id="{6FA7336F-7C6A-4BCE-8251-D4E67C80EBA4}"/>
              </a:ext>
            </a:extLst>
          </p:cNvPr>
          <p:cNvSpPr>
            <a:spLocks noGrp="1"/>
          </p:cNvSpPr>
          <p:nvPr/>
        </p:nvSpPr>
        <p:spPr>
          <a:xfrm>
            <a:off x="457200" y="1971675"/>
            <a:ext cx="4905375" cy="304800"/>
          </a:xfrm>
          <a:prstGeom prst="rect">
            <a:avLst/>
          </a:prstGeom>
          <a:noFill/>
          <a:ln w="0">
            <a:noFill/>
          </a:ln>
        </p:spPr>
        <p:txBody>
          <a:bodyPr wrap="square" lIns="0" tIns="0" rIns="0" bIns="0" anchor="t"/>
          <a:lstStyle>
            <a:defPPr algn="l">
              <a:defRPr sz="1875" b="0">
                <a:solidFill>
                  <a:srgbClr val="444444"/>
                </a:solidFill>
                <a:latin typeface="Times New Roman"/>
                <a:ea typeface="Times New Roman"/>
                <a:cs typeface="Times New Roman"/>
              </a:defRPr>
            </a:defPPr>
          </a:lstStyle>
          <a:p>
            <a:pPr algn="l">
              <a:buNone/>
              <a:defRPr sz="1875" b="0">
                <a:solidFill>
                  <a:srgbClr val="444444"/>
                </a:solidFill>
                <a:latin typeface="Times New Roman"/>
                <a:ea typeface="Times New Roman"/>
                <a:cs typeface="Times New Roman"/>
              </a:defRPr>
            </a:pPr>
            <a:r>
              <a:rPr sz="1875" b="0">
                <a:solidFill>
                  <a:srgbClr val="444444"/>
                </a:solidFill>
                <a:latin typeface="Times New Roman"/>
                <a:ea typeface="Times New Roman"/>
                <a:cs typeface="Times New Roman"/>
              </a:rPr>
              <a:t>Reset to evenly spaced positions</a:t>
            </a:r>
          </a:p>
        </p:txBody>
      </p:sp>
      <p:sp>
        <p:nvSpPr>
          <p:cNvPr id="5" name="Rectangle 4">
            <a:extLst>
              <a:ext uri="{FF2B5EF4-FFF2-40B4-BE49-F238E27FC236}">
                <a16:creationId xmlns:a16="http://schemas.microsoft.com/office/drawing/2014/main" id="{87B85EBA-3D0E-4570-AB1C-A6DAAC2C6C19}"/>
              </a:ext>
            </a:extLst>
          </p:cNvPr>
          <p:cNvSpPr>
            <a:spLocks noGrp="1"/>
          </p:cNvSpPr>
          <p:nvPr/>
        </p:nvSpPr>
        <p:spPr>
          <a:xfrm>
            <a:off x="457200" y="2381250"/>
            <a:ext cx="4905375" cy="19050"/>
          </a:xfrm>
          <a:prstGeom prst="rect">
            <a:avLst/>
          </a:prstGeom>
          <a:solidFill>
            <a:srgbClr val="777777"/>
          </a:solidFill>
          <a:ln w="13335">
            <a:solidFill>
              <a:srgbClr val="777777"/>
            </a:solidFill>
            <a:prstDash val="solid"/>
          </a:ln>
        </p:spPr>
        <p:txBody>
          <a:bodyPr/>
          <a:lstStyle/>
          <a:p>
            <a:endParaRPr/>
          </a:p>
        </p:txBody>
      </p:sp>
      <p:sp>
        <p:nvSpPr>
          <p:cNvPr id="6" name="Rectangle 5">
            <a:extLst>
              <a:ext uri="{FF2B5EF4-FFF2-40B4-BE49-F238E27FC236}">
                <a16:creationId xmlns:a16="http://schemas.microsoft.com/office/drawing/2014/main" id="{24CC1E4B-DA4A-4952-9357-94695F024E82}"/>
              </a:ext>
            </a:extLst>
          </p:cNvPr>
          <p:cNvSpPr>
            <a:spLocks noGrp="1"/>
          </p:cNvSpPr>
          <p:nvPr/>
        </p:nvSpPr>
        <p:spPr>
          <a:xfrm>
            <a:off x="457200" y="2952750"/>
            <a:ext cx="4905375" cy="19050"/>
          </a:xfrm>
          <a:prstGeom prst="rect">
            <a:avLst/>
          </a:prstGeom>
          <a:solidFill>
            <a:srgbClr val="777777"/>
          </a:solidFill>
          <a:ln w="13335">
            <a:solidFill>
              <a:srgbClr val="777777"/>
            </a:solidFill>
            <a:prstDash val="solid"/>
          </a:ln>
        </p:spPr>
        <p:txBody>
          <a:bodyPr/>
          <a:lstStyle/>
          <a:p>
            <a:endParaRPr/>
          </a:p>
        </p:txBody>
      </p:sp>
      <p:sp>
        <p:nvSpPr>
          <p:cNvPr id="7" name="Oval 6">
            <a:extLst>
              <a:ext uri="{FF2B5EF4-FFF2-40B4-BE49-F238E27FC236}">
                <a16:creationId xmlns:a16="http://schemas.microsoft.com/office/drawing/2014/main" id="{C585912F-9C1E-4568-943F-CBE08EBBEEF3}"/>
              </a:ext>
            </a:extLst>
          </p:cNvPr>
          <p:cNvSpPr>
            <a:spLocks noGrp="1"/>
          </p:cNvSpPr>
          <p:nvPr/>
        </p:nvSpPr>
        <p:spPr>
          <a:xfrm>
            <a:off x="819150" y="2505075"/>
            <a:ext cx="342900" cy="342900"/>
          </a:xfrm>
          <a:prstGeom prst="ellipse">
            <a:avLst/>
          </a:prstGeom>
          <a:solidFill>
            <a:srgbClr val="E8ECEF"/>
          </a:solidFill>
          <a:ln w="15240">
            <a:solidFill>
              <a:srgbClr val="777777"/>
            </a:solidFill>
            <a:prstDash val="solid"/>
          </a:ln>
        </p:spPr>
        <p:txBody>
          <a:bodyPr lIns="0" tIns="0" rIns="0" bIns="0" anchor="ctr"/>
          <a:lstStyle>
            <a:defPPr algn="ctr">
              <a:defRPr sz="2025" b="1">
                <a:solidFill>
                  <a:srgbClr val="777777"/>
                </a:solidFill>
                <a:latin typeface="Times New Roman"/>
                <a:ea typeface="Times New Roman"/>
                <a:cs typeface="Times New Roman"/>
              </a:defRPr>
            </a:defPPr>
          </a:lstStyle>
          <a:p>
            <a:endParaRPr/>
          </a:p>
        </p:txBody>
      </p:sp>
      <p:sp>
        <p:nvSpPr>
          <p:cNvPr id="8" name="Oval 7">
            <a:extLst>
              <a:ext uri="{FF2B5EF4-FFF2-40B4-BE49-F238E27FC236}">
                <a16:creationId xmlns:a16="http://schemas.microsoft.com/office/drawing/2014/main" id="{573E44D9-9C6E-4C68-B21F-0E97F4A722A1}"/>
              </a:ext>
            </a:extLst>
          </p:cNvPr>
          <p:cNvSpPr>
            <a:spLocks noGrp="1"/>
          </p:cNvSpPr>
          <p:nvPr/>
        </p:nvSpPr>
        <p:spPr>
          <a:xfrm>
            <a:off x="1543050" y="2505075"/>
            <a:ext cx="342900" cy="342900"/>
          </a:xfrm>
          <a:prstGeom prst="ellipse">
            <a:avLst/>
          </a:prstGeom>
          <a:solidFill>
            <a:srgbClr val="E8ECEF"/>
          </a:solidFill>
          <a:ln w="15240">
            <a:solidFill>
              <a:srgbClr val="777777"/>
            </a:solidFill>
            <a:prstDash val="solid"/>
          </a:ln>
        </p:spPr>
        <p:txBody>
          <a:bodyPr lIns="0" tIns="0" rIns="0" bIns="0" anchor="ctr"/>
          <a:lstStyle>
            <a:defPPr algn="ctr">
              <a:defRPr sz="2025" b="1">
                <a:solidFill>
                  <a:srgbClr val="777777"/>
                </a:solidFill>
                <a:latin typeface="Times New Roman"/>
                <a:ea typeface="Times New Roman"/>
                <a:cs typeface="Times New Roman"/>
              </a:defRPr>
            </a:defPPr>
          </a:lstStyle>
          <a:p>
            <a:endParaRPr/>
          </a:p>
        </p:txBody>
      </p:sp>
      <p:sp>
        <p:nvSpPr>
          <p:cNvPr id="9" name="Oval 8">
            <a:extLst>
              <a:ext uri="{FF2B5EF4-FFF2-40B4-BE49-F238E27FC236}">
                <a16:creationId xmlns:a16="http://schemas.microsoft.com/office/drawing/2014/main" id="{35222835-3645-4478-B478-7C25458AA3AD}"/>
              </a:ext>
            </a:extLst>
          </p:cNvPr>
          <p:cNvSpPr>
            <a:spLocks noGrp="1"/>
          </p:cNvSpPr>
          <p:nvPr/>
        </p:nvSpPr>
        <p:spPr>
          <a:xfrm>
            <a:off x="2266950" y="2505075"/>
            <a:ext cx="342900" cy="342900"/>
          </a:xfrm>
          <a:prstGeom prst="ellipse">
            <a:avLst/>
          </a:prstGeom>
          <a:solidFill>
            <a:srgbClr val="B45309"/>
          </a:solidFill>
          <a:ln w="15240">
            <a:solidFill>
              <a:srgbClr val="B45309"/>
            </a:solidFill>
            <a:prstDash val="solid"/>
          </a:ln>
        </p:spPr>
        <p:txBody>
          <a:bodyPr lIns="0" tIns="0" rIns="0" bIns="0" anchor="ctr"/>
          <a:lstStyle>
            <a:defPPr algn="ctr">
              <a:defRPr sz="2025" b="1">
                <a:solidFill>
                  <a:srgbClr val="B45309"/>
                </a:solidFill>
                <a:latin typeface="Times New Roman"/>
                <a:ea typeface="Times New Roman"/>
                <a:cs typeface="Times New Roman"/>
              </a:defRPr>
            </a:defPPr>
          </a:lstStyle>
          <a:p>
            <a:pPr algn="ctr">
              <a:buNone/>
              <a:defRPr sz="2025" b="1">
                <a:solidFill>
                  <a:srgbClr val="B45309"/>
                </a:solidFill>
                <a:latin typeface="Times New Roman"/>
                <a:ea typeface="Times New Roman"/>
                <a:cs typeface="Times New Roman"/>
              </a:defRPr>
            </a:pPr>
            <a:r>
              <a:rPr sz="2025" b="1">
                <a:solidFill>
                  <a:srgbClr val="B45309"/>
                </a:solidFill>
                <a:latin typeface="Times New Roman"/>
                <a:ea typeface="Times New Roman"/>
                <a:cs typeface="Times New Roman"/>
              </a:rPr>
              <a:t>●</a:t>
            </a:r>
          </a:p>
        </p:txBody>
      </p:sp>
      <p:sp>
        <p:nvSpPr>
          <p:cNvPr id="10" name="Oval 9">
            <a:extLst>
              <a:ext uri="{FF2B5EF4-FFF2-40B4-BE49-F238E27FC236}">
                <a16:creationId xmlns:a16="http://schemas.microsoft.com/office/drawing/2014/main" id="{481EC8C4-2B3A-44A2-A2DF-D3B5BDC43513}"/>
              </a:ext>
            </a:extLst>
          </p:cNvPr>
          <p:cNvSpPr>
            <a:spLocks noGrp="1"/>
          </p:cNvSpPr>
          <p:nvPr/>
        </p:nvSpPr>
        <p:spPr>
          <a:xfrm>
            <a:off x="2990850" y="2505075"/>
            <a:ext cx="342900" cy="342900"/>
          </a:xfrm>
          <a:prstGeom prst="ellipse">
            <a:avLst/>
          </a:prstGeom>
          <a:solidFill>
            <a:srgbClr val="E8ECEF"/>
          </a:solidFill>
          <a:ln w="15240">
            <a:solidFill>
              <a:srgbClr val="777777"/>
            </a:solidFill>
            <a:prstDash val="solid"/>
          </a:ln>
        </p:spPr>
        <p:txBody>
          <a:bodyPr lIns="0" tIns="0" rIns="0" bIns="0" anchor="ctr"/>
          <a:lstStyle>
            <a:defPPr algn="ctr">
              <a:defRPr sz="2025" b="1">
                <a:solidFill>
                  <a:srgbClr val="777777"/>
                </a:solidFill>
                <a:latin typeface="Times New Roman"/>
                <a:ea typeface="Times New Roman"/>
                <a:cs typeface="Times New Roman"/>
              </a:defRPr>
            </a:defPPr>
          </a:lstStyle>
          <a:p>
            <a:endParaRPr/>
          </a:p>
        </p:txBody>
      </p:sp>
      <p:sp>
        <p:nvSpPr>
          <p:cNvPr id="11" name="Oval 10">
            <a:extLst>
              <a:ext uri="{FF2B5EF4-FFF2-40B4-BE49-F238E27FC236}">
                <a16:creationId xmlns:a16="http://schemas.microsoft.com/office/drawing/2014/main" id="{DA0C0A62-E4A3-467B-A311-2D83BDF1B9AF}"/>
              </a:ext>
            </a:extLst>
          </p:cNvPr>
          <p:cNvSpPr>
            <a:spLocks noGrp="1"/>
          </p:cNvSpPr>
          <p:nvPr/>
        </p:nvSpPr>
        <p:spPr>
          <a:xfrm>
            <a:off x="3714750" y="2505075"/>
            <a:ext cx="342900" cy="342900"/>
          </a:xfrm>
          <a:prstGeom prst="ellipse">
            <a:avLst/>
          </a:prstGeom>
          <a:solidFill>
            <a:srgbClr val="E8ECEF"/>
          </a:solidFill>
          <a:ln w="15240">
            <a:solidFill>
              <a:srgbClr val="777777"/>
            </a:solidFill>
            <a:prstDash val="solid"/>
          </a:ln>
        </p:spPr>
        <p:txBody>
          <a:bodyPr lIns="0" tIns="0" rIns="0" bIns="0" anchor="ctr"/>
          <a:lstStyle>
            <a:defPPr algn="ctr">
              <a:defRPr sz="2025" b="1">
                <a:solidFill>
                  <a:srgbClr val="777777"/>
                </a:solidFill>
                <a:latin typeface="Times New Roman"/>
                <a:ea typeface="Times New Roman"/>
                <a:cs typeface="Times New Roman"/>
              </a:defRPr>
            </a:defPPr>
          </a:lstStyle>
          <a:p>
            <a:endParaRPr/>
          </a:p>
        </p:txBody>
      </p:sp>
      <p:sp>
        <p:nvSpPr>
          <p:cNvPr id="12" name="Oval 11">
            <a:extLst>
              <a:ext uri="{FF2B5EF4-FFF2-40B4-BE49-F238E27FC236}">
                <a16:creationId xmlns:a16="http://schemas.microsoft.com/office/drawing/2014/main" id="{EACBA4F9-08AB-451A-A852-FD50A060CAF2}"/>
              </a:ext>
            </a:extLst>
          </p:cNvPr>
          <p:cNvSpPr>
            <a:spLocks noGrp="1"/>
          </p:cNvSpPr>
          <p:nvPr/>
        </p:nvSpPr>
        <p:spPr>
          <a:xfrm>
            <a:off x="4438650" y="2505075"/>
            <a:ext cx="342900" cy="342900"/>
          </a:xfrm>
          <a:prstGeom prst="ellipse">
            <a:avLst/>
          </a:prstGeom>
          <a:solidFill>
            <a:srgbClr val="E8ECEF"/>
          </a:solidFill>
          <a:ln w="15240">
            <a:solidFill>
              <a:srgbClr val="777777"/>
            </a:solidFill>
            <a:prstDash val="solid"/>
          </a:ln>
        </p:spPr>
        <p:txBody>
          <a:bodyPr lIns="0" tIns="0" rIns="0" bIns="0" anchor="ctr"/>
          <a:lstStyle>
            <a:defPPr algn="ctr">
              <a:defRPr sz="2025" b="1">
                <a:solidFill>
                  <a:srgbClr val="777777"/>
                </a:solidFill>
                <a:latin typeface="Times New Roman"/>
                <a:ea typeface="Times New Roman"/>
                <a:cs typeface="Times New Roman"/>
              </a:defRPr>
            </a:defPPr>
          </a:lstStyle>
          <a:p>
            <a:endParaRPr/>
          </a:p>
        </p:txBody>
      </p:sp>
      <p:sp>
        <p:nvSpPr>
          <p:cNvPr id="13" name="Rectangle 12">
            <a:extLst>
              <a:ext uri="{FF2B5EF4-FFF2-40B4-BE49-F238E27FC236}">
                <a16:creationId xmlns:a16="http://schemas.microsoft.com/office/drawing/2014/main" id="{93CE4E81-AFEA-4EAF-B896-3C060B8A4437}"/>
              </a:ext>
            </a:extLst>
          </p:cNvPr>
          <p:cNvSpPr>
            <a:spLocks noGrp="1"/>
          </p:cNvSpPr>
          <p:nvPr/>
        </p:nvSpPr>
        <p:spPr>
          <a:xfrm>
            <a:off x="457200" y="3333750"/>
            <a:ext cx="4905375" cy="304800"/>
          </a:xfrm>
          <a:prstGeom prst="rect">
            <a:avLst/>
          </a:prstGeom>
          <a:noFill/>
          <a:ln w="0">
            <a:noFill/>
          </a:ln>
        </p:spPr>
        <p:txBody>
          <a:bodyPr wrap="square" lIns="0" tIns="0" rIns="0" bIns="0" anchor="t"/>
          <a:lstStyle>
            <a:defPPr algn="l">
              <a:defRPr sz="1875" b="0">
                <a:solidFill>
                  <a:srgbClr val="444444"/>
                </a:solidFill>
                <a:latin typeface="Times New Roman"/>
                <a:ea typeface="Times New Roman"/>
                <a:cs typeface="Times New Roman"/>
              </a:defRPr>
            </a:defPPr>
          </a:lstStyle>
          <a:p>
            <a:pPr algn="l">
              <a:buNone/>
              <a:defRPr sz="1875" b="0">
                <a:solidFill>
                  <a:srgbClr val="444444"/>
                </a:solidFill>
                <a:latin typeface="Times New Roman"/>
                <a:ea typeface="Times New Roman"/>
                <a:cs typeface="Times New Roman"/>
              </a:defRPr>
            </a:pPr>
            <a:r>
              <a:rPr sz="1875" b="0">
                <a:solidFill>
                  <a:srgbClr val="444444"/>
                </a:solidFill>
                <a:latin typeface="Times New Roman"/>
                <a:ea typeface="Times New Roman"/>
                <a:cs typeface="Times New Roman"/>
              </a:rPr>
              <a:t>Let the particles move randomly</a:t>
            </a:r>
          </a:p>
        </p:txBody>
      </p:sp>
      <p:sp>
        <p:nvSpPr>
          <p:cNvPr id="14" name="Rectangle 13">
            <a:extLst>
              <a:ext uri="{FF2B5EF4-FFF2-40B4-BE49-F238E27FC236}">
                <a16:creationId xmlns:a16="http://schemas.microsoft.com/office/drawing/2014/main" id="{B847700A-C0A6-4E12-9D00-0EE5AE9846DC}"/>
              </a:ext>
            </a:extLst>
          </p:cNvPr>
          <p:cNvSpPr>
            <a:spLocks noGrp="1"/>
          </p:cNvSpPr>
          <p:nvPr/>
        </p:nvSpPr>
        <p:spPr>
          <a:xfrm>
            <a:off x="457200" y="3733800"/>
            <a:ext cx="4905375" cy="19050"/>
          </a:xfrm>
          <a:prstGeom prst="rect">
            <a:avLst/>
          </a:prstGeom>
          <a:solidFill>
            <a:srgbClr val="777777"/>
          </a:solidFill>
          <a:ln w="13335">
            <a:solidFill>
              <a:srgbClr val="777777"/>
            </a:solidFill>
            <a:prstDash val="solid"/>
          </a:ln>
        </p:spPr>
        <p:txBody>
          <a:bodyPr/>
          <a:lstStyle/>
          <a:p>
            <a:endParaRPr/>
          </a:p>
        </p:txBody>
      </p:sp>
      <p:sp>
        <p:nvSpPr>
          <p:cNvPr id="15" name="Rectangle 14">
            <a:extLst>
              <a:ext uri="{FF2B5EF4-FFF2-40B4-BE49-F238E27FC236}">
                <a16:creationId xmlns:a16="http://schemas.microsoft.com/office/drawing/2014/main" id="{AEEECDFF-1488-4898-89D7-95611235AE31}"/>
              </a:ext>
            </a:extLst>
          </p:cNvPr>
          <p:cNvSpPr>
            <a:spLocks noGrp="1"/>
          </p:cNvSpPr>
          <p:nvPr/>
        </p:nvSpPr>
        <p:spPr>
          <a:xfrm>
            <a:off x="457200" y="4305300"/>
            <a:ext cx="4905375" cy="19050"/>
          </a:xfrm>
          <a:prstGeom prst="rect">
            <a:avLst/>
          </a:prstGeom>
          <a:solidFill>
            <a:srgbClr val="777777"/>
          </a:solidFill>
          <a:ln w="13335">
            <a:solidFill>
              <a:srgbClr val="777777"/>
            </a:solidFill>
            <a:prstDash val="solid"/>
          </a:ln>
        </p:spPr>
        <p:txBody>
          <a:bodyPr/>
          <a:lstStyle/>
          <a:p>
            <a:endParaRPr/>
          </a:p>
        </p:txBody>
      </p:sp>
      <p:sp>
        <p:nvSpPr>
          <p:cNvPr id="16" name="Oval 15">
            <a:extLst>
              <a:ext uri="{FF2B5EF4-FFF2-40B4-BE49-F238E27FC236}">
                <a16:creationId xmlns:a16="http://schemas.microsoft.com/office/drawing/2014/main" id="{C3DD7281-A990-4437-A3F6-D1905D0C92FA}"/>
              </a:ext>
            </a:extLst>
          </p:cNvPr>
          <p:cNvSpPr>
            <a:spLocks noGrp="1"/>
          </p:cNvSpPr>
          <p:nvPr/>
        </p:nvSpPr>
        <p:spPr>
          <a:xfrm>
            <a:off x="704850" y="3857625"/>
            <a:ext cx="342900" cy="342900"/>
          </a:xfrm>
          <a:prstGeom prst="ellipse">
            <a:avLst/>
          </a:prstGeom>
          <a:solidFill>
            <a:srgbClr val="E8ECEF"/>
          </a:solidFill>
          <a:ln w="15240">
            <a:solidFill>
              <a:srgbClr val="777777"/>
            </a:solidFill>
            <a:prstDash val="solid"/>
          </a:ln>
        </p:spPr>
        <p:txBody>
          <a:bodyPr lIns="0" tIns="0" rIns="0" bIns="0" anchor="ctr"/>
          <a:lstStyle>
            <a:defPPr algn="ctr">
              <a:defRPr sz="2025" b="1">
                <a:solidFill>
                  <a:srgbClr val="777777"/>
                </a:solidFill>
                <a:latin typeface="Times New Roman"/>
                <a:ea typeface="Times New Roman"/>
                <a:cs typeface="Times New Roman"/>
              </a:defRPr>
            </a:defPPr>
          </a:lstStyle>
          <a:p>
            <a:endParaRPr/>
          </a:p>
        </p:txBody>
      </p:sp>
      <p:sp>
        <p:nvSpPr>
          <p:cNvPr id="17" name="Oval 16">
            <a:extLst>
              <a:ext uri="{FF2B5EF4-FFF2-40B4-BE49-F238E27FC236}">
                <a16:creationId xmlns:a16="http://schemas.microsoft.com/office/drawing/2014/main" id="{E4B66C14-9B22-4218-BF4E-66A109931AE8}"/>
              </a:ext>
            </a:extLst>
          </p:cNvPr>
          <p:cNvSpPr>
            <a:spLocks noGrp="1"/>
          </p:cNvSpPr>
          <p:nvPr/>
        </p:nvSpPr>
        <p:spPr>
          <a:xfrm>
            <a:off x="1381125" y="3857625"/>
            <a:ext cx="342900" cy="342900"/>
          </a:xfrm>
          <a:prstGeom prst="ellipse">
            <a:avLst/>
          </a:prstGeom>
          <a:solidFill>
            <a:srgbClr val="E8ECEF"/>
          </a:solidFill>
          <a:ln w="15240">
            <a:solidFill>
              <a:srgbClr val="777777"/>
            </a:solidFill>
            <a:prstDash val="solid"/>
          </a:ln>
        </p:spPr>
        <p:txBody>
          <a:bodyPr lIns="0" tIns="0" rIns="0" bIns="0" anchor="ctr"/>
          <a:lstStyle>
            <a:defPPr algn="ctr">
              <a:defRPr sz="2025" b="1">
                <a:solidFill>
                  <a:srgbClr val="777777"/>
                </a:solidFill>
                <a:latin typeface="Times New Roman"/>
                <a:ea typeface="Times New Roman"/>
                <a:cs typeface="Times New Roman"/>
              </a:defRPr>
            </a:defPPr>
          </a:lstStyle>
          <a:p>
            <a:endParaRPr/>
          </a:p>
        </p:txBody>
      </p:sp>
      <p:sp>
        <p:nvSpPr>
          <p:cNvPr id="18" name="Oval 17">
            <a:extLst>
              <a:ext uri="{FF2B5EF4-FFF2-40B4-BE49-F238E27FC236}">
                <a16:creationId xmlns:a16="http://schemas.microsoft.com/office/drawing/2014/main" id="{8F84BEF1-1367-4E78-AA01-BC3889CEF4BC}"/>
              </a:ext>
            </a:extLst>
          </p:cNvPr>
          <p:cNvSpPr>
            <a:spLocks noGrp="1"/>
          </p:cNvSpPr>
          <p:nvPr/>
        </p:nvSpPr>
        <p:spPr>
          <a:xfrm>
            <a:off x="2657475" y="3857625"/>
            <a:ext cx="342900" cy="342900"/>
          </a:xfrm>
          <a:prstGeom prst="ellipse">
            <a:avLst/>
          </a:prstGeom>
          <a:solidFill>
            <a:srgbClr val="B45309"/>
          </a:solidFill>
          <a:ln w="15240">
            <a:solidFill>
              <a:srgbClr val="B45309"/>
            </a:solidFill>
            <a:prstDash val="solid"/>
          </a:ln>
        </p:spPr>
        <p:txBody>
          <a:bodyPr lIns="0" tIns="0" rIns="0" bIns="0" anchor="ctr"/>
          <a:lstStyle>
            <a:defPPr algn="ctr">
              <a:defRPr sz="2025" b="1">
                <a:solidFill>
                  <a:srgbClr val="B45309"/>
                </a:solidFill>
                <a:latin typeface="Times New Roman"/>
                <a:ea typeface="Times New Roman"/>
                <a:cs typeface="Times New Roman"/>
              </a:defRPr>
            </a:defPPr>
          </a:lstStyle>
          <a:p>
            <a:pPr algn="ctr">
              <a:buNone/>
              <a:defRPr sz="2025" b="1">
                <a:solidFill>
                  <a:srgbClr val="B45309"/>
                </a:solidFill>
                <a:latin typeface="Times New Roman"/>
                <a:ea typeface="Times New Roman"/>
                <a:cs typeface="Times New Roman"/>
              </a:defRPr>
            </a:pPr>
            <a:r>
              <a:rPr sz="2025" b="1">
                <a:solidFill>
                  <a:srgbClr val="B45309"/>
                </a:solidFill>
                <a:latin typeface="Times New Roman"/>
                <a:ea typeface="Times New Roman"/>
                <a:cs typeface="Times New Roman"/>
              </a:rPr>
              <a:t>●</a:t>
            </a:r>
          </a:p>
        </p:txBody>
      </p:sp>
      <p:sp>
        <p:nvSpPr>
          <p:cNvPr id="19" name="Oval 18">
            <a:extLst>
              <a:ext uri="{FF2B5EF4-FFF2-40B4-BE49-F238E27FC236}">
                <a16:creationId xmlns:a16="http://schemas.microsoft.com/office/drawing/2014/main" id="{EA9A95CF-FC14-4BD4-BAC7-E113A1CEFD24}"/>
              </a:ext>
            </a:extLst>
          </p:cNvPr>
          <p:cNvSpPr>
            <a:spLocks noGrp="1"/>
          </p:cNvSpPr>
          <p:nvPr/>
        </p:nvSpPr>
        <p:spPr>
          <a:xfrm>
            <a:off x="3181350" y="3857625"/>
            <a:ext cx="342900" cy="342900"/>
          </a:xfrm>
          <a:prstGeom prst="ellipse">
            <a:avLst/>
          </a:prstGeom>
          <a:solidFill>
            <a:srgbClr val="E8ECEF"/>
          </a:solidFill>
          <a:ln w="15240">
            <a:solidFill>
              <a:srgbClr val="777777"/>
            </a:solidFill>
            <a:prstDash val="solid"/>
          </a:ln>
        </p:spPr>
        <p:txBody>
          <a:bodyPr lIns="0" tIns="0" rIns="0" bIns="0" anchor="ctr"/>
          <a:lstStyle>
            <a:defPPr algn="ctr">
              <a:defRPr sz="2025" b="1">
                <a:solidFill>
                  <a:srgbClr val="777777"/>
                </a:solidFill>
                <a:latin typeface="Times New Roman"/>
                <a:ea typeface="Times New Roman"/>
                <a:cs typeface="Times New Roman"/>
              </a:defRPr>
            </a:defPPr>
          </a:lstStyle>
          <a:p>
            <a:endParaRPr/>
          </a:p>
        </p:txBody>
      </p:sp>
      <p:sp>
        <p:nvSpPr>
          <p:cNvPr id="20" name="Oval 19">
            <a:extLst>
              <a:ext uri="{FF2B5EF4-FFF2-40B4-BE49-F238E27FC236}">
                <a16:creationId xmlns:a16="http://schemas.microsoft.com/office/drawing/2014/main" id="{1B62E78F-7E2D-4AF0-BA2D-8DF4AE712DA5}"/>
              </a:ext>
            </a:extLst>
          </p:cNvPr>
          <p:cNvSpPr>
            <a:spLocks noGrp="1"/>
          </p:cNvSpPr>
          <p:nvPr/>
        </p:nvSpPr>
        <p:spPr>
          <a:xfrm>
            <a:off x="3886200" y="3857625"/>
            <a:ext cx="342900" cy="342900"/>
          </a:xfrm>
          <a:prstGeom prst="ellipse">
            <a:avLst/>
          </a:prstGeom>
          <a:solidFill>
            <a:srgbClr val="E8ECEF"/>
          </a:solidFill>
          <a:ln w="15240">
            <a:solidFill>
              <a:srgbClr val="777777"/>
            </a:solidFill>
            <a:prstDash val="solid"/>
          </a:ln>
        </p:spPr>
        <p:txBody>
          <a:bodyPr lIns="0" tIns="0" rIns="0" bIns="0" anchor="ctr"/>
          <a:lstStyle>
            <a:defPPr algn="ctr">
              <a:defRPr sz="2025" b="1">
                <a:solidFill>
                  <a:srgbClr val="777777"/>
                </a:solidFill>
                <a:latin typeface="Times New Roman"/>
                <a:ea typeface="Times New Roman"/>
                <a:cs typeface="Times New Roman"/>
              </a:defRPr>
            </a:defPPr>
          </a:lstStyle>
          <a:p>
            <a:endParaRPr/>
          </a:p>
        </p:txBody>
      </p:sp>
      <p:sp>
        <p:nvSpPr>
          <p:cNvPr id="21" name="Oval 20">
            <a:extLst>
              <a:ext uri="{FF2B5EF4-FFF2-40B4-BE49-F238E27FC236}">
                <a16:creationId xmlns:a16="http://schemas.microsoft.com/office/drawing/2014/main" id="{49E266AB-BC36-4FB6-AC5A-38A91A3CB61C}"/>
              </a:ext>
            </a:extLst>
          </p:cNvPr>
          <p:cNvSpPr>
            <a:spLocks noGrp="1"/>
          </p:cNvSpPr>
          <p:nvPr/>
        </p:nvSpPr>
        <p:spPr>
          <a:xfrm>
            <a:off x="4610100" y="3857625"/>
            <a:ext cx="342900" cy="342900"/>
          </a:xfrm>
          <a:prstGeom prst="ellipse">
            <a:avLst/>
          </a:prstGeom>
          <a:solidFill>
            <a:srgbClr val="E8ECEF"/>
          </a:solidFill>
          <a:ln w="15240">
            <a:solidFill>
              <a:srgbClr val="777777"/>
            </a:solidFill>
            <a:prstDash val="solid"/>
          </a:ln>
        </p:spPr>
        <p:txBody>
          <a:bodyPr lIns="0" tIns="0" rIns="0" bIns="0" anchor="ctr"/>
          <a:lstStyle>
            <a:defPPr algn="ctr">
              <a:defRPr sz="2025" b="1">
                <a:solidFill>
                  <a:srgbClr val="777777"/>
                </a:solidFill>
                <a:latin typeface="Times New Roman"/>
                <a:ea typeface="Times New Roman"/>
                <a:cs typeface="Times New Roman"/>
              </a:defRPr>
            </a:defPPr>
          </a:lstStyle>
          <a:p>
            <a:endParaRPr/>
          </a:p>
        </p:txBody>
      </p:sp>
      <p:sp>
        <p:nvSpPr>
          <p:cNvPr id="22" name="Rectangle 21">
            <a:extLst>
              <a:ext uri="{FF2B5EF4-FFF2-40B4-BE49-F238E27FC236}">
                <a16:creationId xmlns:a16="http://schemas.microsoft.com/office/drawing/2014/main" id="{59D743A1-E3D9-4428-B67C-E58F47681335}"/>
              </a:ext>
            </a:extLst>
          </p:cNvPr>
          <p:cNvSpPr>
            <a:spLocks noGrp="1"/>
          </p:cNvSpPr>
          <p:nvPr/>
        </p:nvSpPr>
        <p:spPr>
          <a:xfrm>
            <a:off x="457200" y="4572000"/>
            <a:ext cx="4953000" cy="666750"/>
          </a:xfrm>
          <a:prstGeom prst="rect">
            <a:avLst/>
          </a:prstGeom>
          <a:noFill/>
          <a:ln w="0">
            <a:noFill/>
          </a:ln>
        </p:spPr>
        <p:txBody>
          <a:bodyPr wrap="square" lIns="0" tIns="0" rIns="0" bIns="0" anchor="t"/>
          <a:lstStyle>
            <a:defPPr algn="l">
              <a:defRPr sz="1950" b="0">
                <a:solidFill>
                  <a:srgbClr val="111111"/>
                </a:solidFill>
                <a:latin typeface="Times New Roman"/>
                <a:ea typeface="Times New Roman"/>
                <a:cs typeface="Times New Roman"/>
              </a:defRPr>
            </a:defPPr>
          </a:lstStyle>
          <a:p>
            <a:pPr algn="l">
              <a:buNone/>
              <a:defRPr sz="1950" b="0">
                <a:solidFill>
                  <a:srgbClr val="111111"/>
                </a:solidFill>
                <a:latin typeface="Times New Roman"/>
                <a:ea typeface="Times New Roman"/>
                <a:cs typeface="Times New Roman"/>
              </a:defRPr>
            </a:pPr>
            <a:r>
              <a:rPr sz="1950" b="0">
                <a:solidFill>
                  <a:srgbClr val="111111"/>
                </a:solidFill>
                <a:latin typeface="Times New Roman"/>
                <a:ea typeface="Times New Roman"/>
                <a:cs typeface="Times New Roman"/>
              </a:rPr>
              <a:t>Track the orange particle in each repeat.</a:t>
            </a:r>
          </a:p>
          <a:p>
            <a:pPr algn="l">
              <a:buNone/>
              <a:defRPr sz="1950" b="0">
                <a:solidFill>
                  <a:srgbClr val="111111"/>
                </a:solidFill>
                <a:latin typeface="Times New Roman"/>
                <a:ea typeface="Times New Roman"/>
                <a:cs typeface="Times New Roman"/>
              </a:defRPr>
            </a:pPr>
            <a:r>
              <a:rPr sz="1950" b="0">
                <a:solidFill>
                  <a:srgbClr val="111111"/>
                </a:solidFill>
                <a:latin typeface="Times New Roman"/>
                <a:ea typeface="Times New Roman"/>
                <a:cs typeface="Times New Roman"/>
              </a:rPr>
              <a:t>Particles collide but never overtake.</a:t>
            </a:r>
          </a:p>
        </p:txBody>
      </p:sp>
      <p:sp>
        <p:nvSpPr>
          <p:cNvPr id="23" name="Rectangle 22">
            <a:extLst>
              <a:ext uri="{FF2B5EF4-FFF2-40B4-BE49-F238E27FC236}">
                <a16:creationId xmlns:a16="http://schemas.microsoft.com/office/drawing/2014/main" id="{DBD48C7F-F0B6-4566-AD72-218593300322}"/>
              </a:ext>
            </a:extLst>
          </p:cNvPr>
          <p:cNvSpPr>
            <a:spLocks noGrp="1"/>
          </p:cNvSpPr>
          <p:nvPr/>
        </p:nvSpPr>
        <p:spPr>
          <a:xfrm>
            <a:off x="6191250" y="1533525"/>
            <a:ext cx="5543550" cy="323850"/>
          </a:xfrm>
          <a:prstGeom prst="rect">
            <a:avLst/>
          </a:prstGeom>
          <a:noFill/>
          <a:ln w="0">
            <a:noFill/>
          </a:ln>
        </p:spPr>
        <p:txBody>
          <a:bodyPr wrap="square" lIns="0" tIns="0" rIns="0" bIns="0" anchor="t"/>
          <a:lstStyle>
            <a:defPPr algn="l">
              <a:defRPr sz="2175" b="1">
                <a:solidFill>
                  <a:srgbClr val="111111"/>
                </a:solidFill>
                <a:latin typeface="Times New Roman"/>
                <a:ea typeface="Times New Roman"/>
                <a:cs typeface="Times New Roman"/>
              </a:defRPr>
            </a:defPPr>
          </a:lstStyle>
          <a:p>
            <a:pPr algn="l">
              <a:buNone/>
              <a:defRPr sz="2175" b="1">
                <a:solidFill>
                  <a:srgbClr val="111111"/>
                </a:solidFill>
                <a:latin typeface="Times New Roman"/>
                <a:ea typeface="Times New Roman"/>
                <a:cs typeface="Times New Roman"/>
              </a:defRPr>
            </a:pPr>
            <a:r>
              <a:rPr sz="2175" b="1">
                <a:solidFill>
                  <a:srgbClr val="111111"/>
                </a:solidFill>
                <a:latin typeface="Times New Roman"/>
                <a:ea typeface="Times New Roman"/>
                <a:cs typeface="Times New Roman"/>
              </a:rPr>
              <a:t>Why fitting alone is insufficient</a:t>
            </a:r>
          </a:p>
        </p:txBody>
      </p:sp>
      <p:graphicFrame>
        <p:nvGraphicFramePr>
          <p:cNvPr id="24" name="Chart">
            <a:extLst>
              <a:ext uri="{FF2B5EF4-FFF2-40B4-BE49-F238E27FC236}">
                <a16:creationId xmlns:a16="http://schemas.microsoft.com/office/drawing/2014/main" id="{F34EB9C6-346E-4686-B149-681B1D285093}"/>
              </a:ext>
            </a:extLst>
          </p:cNvPr>
          <p:cNvGraphicFramePr/>
          <p:nvPr/>
        </p:nvGraphicFramePr>
        <p:xfrm>
          <a:off x="6105525" y="1971675"/>
          <a:ext cx="5629275" cy="3143250"/>
        </p:xfrm>
        <a:graphic>
          <a:graphicData uri="http://schemas.openxmlformats.org/drawingml/2006/chart">
            <c:chart xmlns:c="http://schemas.openxmlformats.org/drawingml/2006/chart" xmlns:r="http://schemas.openxmlformats.org/officeDocument/2006/relationships" r:id="rId3"/>
          </a:graphicData>
        </a:graphic>
      </p:graphicFrame>
      <p:sp>
        <p:nvSpPr>
          <p:cNvPr id="25" name="Rectangle 24">
            <a:extLst>
              <a:ext uri="{FF2B5EF4-FFF2-40B4-BE49-F238E27FC236}">
                <a16:creationId xmlns:a16="http://schemas.microsoft.com/office/drawing/2014/main" id="{4B241E38-7C47-46F8-8966-8D5D630DCA39}"/>
              </a:ext>
            </a:extLst>
          </p:cNvPr>
          <p:cNvSpPr>
            <a:spLocks noGrp="1"/>
          </p:cNvSpPr>
          <p:nvPr/>
        </p:nvSpPr>
        <p:spPr>
          <a:xfrm>
            <a:off x="6191250" y="5248275"/>
            <a:ext cx="5543550" cy="647700"/>
          </a:xfrm>
          <a:prstGeom prst="rect">
            <a:avLst/>
          </a:prstGeom>
          <a:noFill/>
          <a:ln w="0">
            <a:noFill/>
          </a:ln>
        </p:spPr>
        <p:txBody>
          <a:bodyPr wrap="square" lIns="0" tIns="0" rIns="0" bIns="0" anchor="t"/>
          <a:lstStyle>
            <a:defPPr algn="l">
              <a:defRPr sz="1950" b="1">
                <a:solidFill>
                  <a:srgbClr val="111111"/>
                </a:solidFill>
                <a:latin typeface="Times New Roman"/>
                <a:ea typeface="Times New Roman"/>
                <a:cs typeface="Times New Roman"/>
              </a:defRPr>
            </a:defPPr>
          </a:lstStyle>
          <a:p>
            <a:pPr algn="l">
              <a:buNone/>
              <a:defRPr sz="1950" b="1">
                <a:solidFill>
                  <a:srgbClr val="111111"/>
                </a:solidFill>
                <a:latin typeface="Times New Roman"/>
                <a:ea typeface="Times New Roman"/>
                <a:cs typeface="Times New Roman"/>
              </a:defRPr>
            </a:pPr>
            <a:r>
              <a:rPr sz="1950" b="1">
                <a:solidFill>
                  <a:srgbClr val="111111"/>
                </a:solidFill>
                <a:latin typeface="Times New Roman"/>
                <a:ea typeface="Times New Roman"/>
                <a:cs typeface="Times New Roman"/>
              </a:rPr>
              <a:t>Same time: both fit.</a:t>
            </a:r>
          </a:p>
          <a:p>
            <a:pPr algn="l">
              <a:buNone/>
              <a:defRPr sz="1950" b="1">
                <a:solidFill>
                  <a:srgbClr val="111111"/>
                </a:solidFill>
                <a:latin typeface="Times New Roman"/>
                <a:ea typeface="Times New Roman"/>
                <a:cs typeface="Times New Roman"/>
              </a:defRPr>
            </a:pPr>
            <a:r>
              <a:rPr sz="1950" b="1">
                <a:solidFill>
                  <a:srgbClr val="111111"/>
                </a:solidFill>
                <a:latin typeface="Times New Roman"/>
                <a:ea typeface="Times New Roman"/>
                <a:cs typeface="Times New Roman"/>
              </a:rPr>
              <a:t>Different times: memory changes the prediction.</a:t>
            </a:r>
          </a:p>
        </p:txBody>
      </p:sp>
      <p:sp>
        <p:nvSpPr>
          <p:cNvPr id="26" name="Rectangle 25">
            <a:extLst>
              <a:ext uri="{FF2B5EF4-FFF2-40B4-BE49-F238E27FC236}">
                <a16:creationId xmlns:a16="http://schemas.microsoft.com/office/drawing/2014/main" id="{6D89FA9C-1AA0-4165-931E-D886C36E63EB}"/>
              </a:ext>
            </a:extLst>
          </p:cNvPr>
          <p:cNvSpPr>
            <a:spLocks noGrp="1"/>
          </p:cNvSpPr>
          <p:nvPr/>
        </p:nvSpPr>
        <p:spPr>
          <a:xfrm>
            <a:off x="457200" y="5362575"/>
            <a:ext cx="5162550" cy="581025"/>
          </a:xfrm>
          <a:prstGeom prst="rect">
            <a:avLst/>
          </a:prstGeom>
          <a:noFill/>
          <a:ln w="0">
            <a:noFill/>
          </a:ln>
        </p:spPr>
        <p:txBody>
          <a:bodyPr wrap="square" lIns="0" tIns="0" rIns="0" bIns="0" anchor="t"/>
          <a:lstStyle>
            <a:defPPr algn="l">
              <a:defRPr sz="1800" b="1">
                <a:solidFill>
                  <a:srgbClr val="1D4E89"/>
                </a:solidFill>
                <a:latin typeface="Times New Roman"/>
                <a:ea typeface="Times New Roman"/>
                <a:cs typeface="Times New Roman"/>
              </a:defRPr>
            </a:defPPr>
          </a:lstStyle>
          <a:p>
            <a:pPr algn="l">
              <a:buNone/>
              <a:defRPr sz="1800" b="1">
                <a:solidFill>
                  <a:srgbClr val="1D4E89"/>
                </a:solidFill>
                <a:latin typeface="Times New Roman"/>
                <a:ea typeface="Times New Roman"/>
                <a:cs typeface="Times New Roman"/>
              </a:defRPr>
            </a:pPr>
            <a:r>
              <a:rPr sz="1800" b="1">
                <a:solidFill>
                  <a:srgbClr val="1D4E89"/>
                </a:solidFill>
                <a:latin typeface="Times New Roman"/>
                <a:ea typeface="Times New Roman"/>
                <a:cs typeface="Times New Roman"/>
              </a:rPr>
              <a:t>Agent task: fit the movement scale, then</a:t>
            </a:r>
          </a:p>
          <a:p>
            <a:pPr algn="l">
              <a:buNone/>
              <a:defRPr sz="1800" b="1">
                <a:solidFill>
                  <a:srgbClr val="1D4E89"/>
                </a:solidFill>
                <a:latin typeface="Times New Roman"/>
                <a:ea typeface="Times New Roman"/>
                <a:cs typeface="Times New Roman"/>
              </a:defRPr>
            </a:pPr>
            <a:r>
              <a:rPr sz="1800" b="1">
                <a:solidFill>
                  <a:srgbClr val="1D4E89"/>
                </a:solidFill>
                <a:latin typeface="Times New Roman"/>
                <a:ea typeface="Times New Roman"/>
                <a:cs typeface="Times New Roman"/>
              </a:rPr>
              <a:t>predict how two measurement times are related.</a:t>
            </a:r>
          </a:p>
        </p:txBody>
      </p:sp>
      <p:sp>
        <p:nvSpPr>
          <p:cNvPr id="27" name="Rectangle 26">
            <a:extLst>
              <a:ext uri="{FF2B5EF4-FFF2-40B4-BE49-F238E27FC236}">
                <a16:creationId xmlns:a16="http://schemas.microsoft.com/office/drawing/2014/main" id="{451EDAC5-84AF-4886-ABB5-00F5489CD4A3}"/>
              </a:ext>
            </a:extLst>
          </p:cNvPr>
          <p:cNvSpPr>
            <a:spLocks noGrp="1"/>
          </p:cNvSpPr>
          <p:nvPr/>
        </p:nvSpPr>
        <p:spPr>
          <a:xfrm>
            <a:off x="457200" y="6076950"/>
            <a:ext cx="11277600" cy="381000"/>
          </a:xfrm>
          <a:prstGeom prst="rect">
            <a:avLst/>
          </a:prstGeom>
          <a:noFill/>
          <a:ln w="0">
            <a:noFill/>
          </a:ln>
        </p:spPr>
        <p:txBody>
          <a:bodyPr wrap="square" lIns="0" tIns="0" rIns="0" bIns="0" anchor="t"/>
          <a:lstStyle>
            <a:defPPr algn="l">
              <a:defRPr sz="1350" b="0">
                <a:solidFill>
                  <a:srgbClr val="777777"/>
                </a:solidFill>
                <a:latin typeface="Times New Roman"/>
                <a:ea typeface="Times New Roman"/>
                <a:cs typeface="Times New Roman"/>
              </a:defRPr>
            </a:defPPr>
          </a:lstStyle>
          <a:p>
            <a:pPr algn="l">
              <a:buNone/>
              <a:defRPr sz="1350" b="0">
                <a:solidFill>
                  <a:srgbClr val="777777"/>
                </a:solidFill>
                <a:latin typeface="Times New Roman"/>
                <a:ea typeface="Times New Roman"/>
                <a:cs typeface="Times New Roman"/>
              </a:defRPr>
            </a:pPr>
            <a:r>
              <a:rPr sz="1350" b="0">
                <a:solidFill>
                  <a:srgbClr val="777777"/>
                </a:solidFill>
                <a:latin typeface="Times New Roman"/>
                <a:ea typeface="Times New Roman"/>
                <a:cs typeface="Times New Roman"/>
              </a:rPr>
              <a:t>Schematic and analytic curves, not measured trajectories. “Shared motion” means covariance. The task asks for its long-time scaling coefficient.</a:t>
            </a:r>
          </a:p>
        </p:txBody>
      </p:sp>
      <p:sp>
        <p:nvSpPr>
          <p:cNvPr id="30" name="Rectangle 29">
            <a:extLst>
              <a:ext uri="{FF2B5EF4-FFF2-40B4-BE49-F238E27FC236}">
                <a16:creationId xmlns:a16="http://schemas.microsoft.com/office/drawing/2014/main" id="{F6A031A1-5617-41AC-B818-7E20F8A6707A}"/>
              </a:ext>
            </a:extLst>
          </p:cNvPr>
          <p:cNvSpPr>
            <a:spLocks noGrp="1"/>
          </p:cNvSpPr>
          <p:nvPr/>
        </p:nvSpPr>
        <p:spPr>
          <a:xfrm>
            <a:off x="11201400" y="6477000"/>
            <a:ext cx="533400" cy="190500"/>
          </a:xfrm>
          <a:prstGeom prst="rect">
            <a:avLst/>
          </a:prstGeom>
          <a:noFill/>
          <a:ln w="0">
            <a:noFill/>
          </a:ln>
        </p:spPr>
        <p:txBody>
          <a:bodyPr wrap="square" lIns="0" tIns="0" rIns="0" bIns="0" anchor="t"/>
          <a:lstStyle>
            <a:defPPr algn="l">
              <a:defRPr sz="1200" b="0">
                <a:solidFill>
                  <a:srgbClr val="777777"/>
                </a:solidFill>
                <a:latin typeface="Times New Roman"/>
                <a:ea typeface="Times New Roman"/>
                <a:cs typeface="Times New Roman"/>
              </a:defRPr>
            </a:defPPr>
          </a:lstStyle>
          <a:p>
            <a:pPr algn="l">
              <a:buNone/>
              <a:defRPr sz="1200" b="0">
                <a:solidFill>
                  <a:srgbClr val="777777"/>
                </a:solidFill>
                <a:latin typeface="Times New Roman"/>
                <a:ea typeface="Times New Roman"/>
                <a:cs typeface="Times New Roman"/>
              </a:defRPr>
            </a:pPr>
            <a:r>
              <a:rPr sz="1200" b="0">
                <a:solidFill>
                  <a:srgbClr val="777777"/>
                </a:solidFill>
                <a:latin typeface="Times New Roman"/>
                <a:ea typeface="Times New Roman"/>
                <a:cs typeface="Times New Roman"/>
              </a:rPr>
              <a:t>16</a:t>
            </a:r>
          </a:p>
        </p:txBody>
      </p:sp>
    </p:spTree>
    <p:extLst>
      <p:ext uri="{BB962C8B-B14F-4D97-AF65-F5344CB8AC3E}">
        <p14:creationId xmlns:p14="http://schemas.microsoft.com/office/powerpoint/2010/main" val="52420409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E5CB2C6E-7277-4057-92F4-D20AB1351AFD}"/>
              </a:ext>
            </a:extLst>
          </p:cNvPr>
          <p:cNvSpPr>
            <a:spLocks noGrp="1"/>
          </p:cNvSpPr>
          <p:nvPr/>
        </p:nvSpPr>
        <p:spPr>
          <a:xfrm>
            <a:off x="457200" y="209550"/>
            <a:ext cx="11277600" cy="638175"/>
          </a:xfrm>
          <a:prstGeom prst="rect">
            <a:avLst/>
          </a:prstGeom>
          <a:noFill/>
          <a:ln w="0">
            <a:noFill/>
          </a:ln>
        </p:spPr>
        <p:txBody>
          <a:bodyPr wrap="square" lIns="0" tIns="0" rIns="0" bIns="0" anchor="t"/>
          <a:lstStyle>
            <a:defPPr algn="l">
              <a:defRPr sz="3600" b="1" i="0">
                <a:solidFill>
                  <a:srgbClr val="111111"/>
                </a:solidFill>
                <a:latin typeface="Times New Roman"/>
                <a:ea typeface="Times New Roman"/>
                <a:cs typeface="Times New Roman"/>
              </a:defRPr>
            </a:defPPr>
          </a:lstStyle>
          <a:p>
            <a:pPr algn="l">
              <a:buNone/>
              <a:defRPr sz="3600" b="1" i="0">
                <a:solidFill>
                  <a:srgbClr val="111111"/>
                </a:solidFill>
                <a:latin typeface="Times New Roman"/>
                <a:ea typeface="Times New Roman"/>
                <a:cs typeface="Times New Roman"/>
              </a:defRPr>
            </a:pPr>
            <a:r>
              <a:rPr sz="3600" b="1" i="0">
                <a:solidFill>
                  <a:srgbClr val="111111"/>
                </a:solidFill>
                <a:latin typeface="Times New Roman"/>
                <a:ea typeface="Times New Roman"/>
                <a:cs typeface="Times New Roman"/>
              </a:rPr>
              <a:t>Backup: effort in the original no-hint sweep</a:t>
            </a:r>
          </a:p>
        </p:txBody>
      </p:sp>
      <p:sp>
        <p:nvSpPr>
          <p:cNvPr id="2" name="Rectangle 1">
            <a:extLst>
              <a:ext uri="{FF2B5EF4-FFF2-40B4-BE49-F238E27FC236}">
                <a16:creationId xmlns:a16="http://schemas.microsoft.com/office/drawing/2014/main" id="{6CDF1242-97DD-416C-80CD-7C84872B5567}"/>
              </a:ext>
            </a:extLst>
          </p:cNvPr>
          <p:cNvSpPr>
            <a:spLocks noGrp="1"/>
          </p:cNvSpPr>
          <p:nvPr/>
        </p:nvSpPr>
        <p:spPr>
          <a:xfrm>
            <a:off x="457200" y="914400"/>
            <a:ext cx="11277600" cy="457200"/>
          </a:xfrm>
          <a:prstGeom prst="rect">
            <a:avLst/>
          </a:prstGeom>
          <a:noFill/>
          <a:ln w="0">
            <a:noFill/>
          </a:ln>
        </p:spPr>
        <p:txBody>
          <a:bodyPr wrap="square" lIns="0" tIns="0" rIns="0" bIns="0" anchor="t"/>
          <a:lstStyle>
            <a:defPPr algn="l">
              <a:defRPr sz="1875" b="0" i="0">
                <a:solidFill>
                  <a:srgbClr val="444444"/>
                </a:solidFill>
                <a:latin typeface="Times New Roman"/>
                <a:ea typeface="Times New Roman"/>
                <a:cs typeface="Times New Roman"/>
              </a:defRPr>
            </a:defPPr>
          </a:lstStyle>
          <a:p>
            <a:pPr algn="l">
              <a:buNone/>
              <a:defRPr sz="1875" b="0" i="0">
                <a:solidFill>
                  <a:srgbClr val="444444"/>
                </a:solidFill>
                <a:latin typeface="Times New Roman"/>
                <a:ea typeface="Times New Roman"/>
                <a:cs typeface="Times New Roman"/>
              </a:defRPr>
            </a:pPr>
            <a:r>
              <a:rPr sz="1875" b="0" i="0">
                <a:solidFill>
                  <a:srgbClr val="444444"/>
                </a:solidFill>
                <a:latin typeface="Times New Roman"/>
                <a:ea typeface="Times New Roman"/>
                <a:cs typeface="Times New Roman"/>
              </a:rPr>
              <a:t>Completed passes out of 39, with model and task suite held fixed.</a:t>
            </a:r>
          </a:p>
        </p:txBody>
      </p:sp>
      <p:graphicFrame>
        <p:nvGraphicFramePr>
          <p:cNvPr id="4" name="Chart">
            <a:extLst>
              <a:ext uri="{FF2B5EF4-FFF2-40B4-BE49-F238E27FC236}">
                <a16:creationId xmlns:a16="http://schemas.microsoft.com/office/drawing/2014/main" id="{6F0FD089-60E9-4CE5-98AD-8FE3FA5CB107}"/>
              </a:ext>
            </a:extLst>
          </p:cNvPr>
          <p:cNvGraphicFramePr/>
          <p:nvPr/>
        </p:nvGraphicFramePr>
        <p:xfrm>
          <a:off x="457200" y="1581150"/>
          <a:ext cx="7810500" cy="4171950"/>
        </p:xfrm>
        <a:graphic>
          <a:graphicData uri="http://schemas.openxmlformats.org/drawingml/2006/chart">
            <c:chart xmlns:c="http://schemas.openxmlformats.org/drawingml/2006/chart" xmlns:r="http://schemas.openxmlformats.org/officeDocument/2006/relationships" r:id="rId3"/>
          </a:graphicData>
        </a:graphic>
      </p:graphicFrame>
      <p:sp>
        <p:nvSpPr>
          <p:cNvPr id="5" name="Rectangle 4">
            <a:extLst>
              <a:ext uri="{FF2B5EF4-FFF2-40B4-BE49-F238E27FC236}">
                <a16:creationId xmlns:a16="http://schemas.microsoft.com/office/drawing/2014/main" id="{780A35DB-01C4-4099-A34A-DEB48391A03B}"/>
              </a:ext>
            </a:extLst>
          </p:cNvPr>
          <p:cNvSpPr>
            <a:spLocks noGrp="1"/>
          </p:cNvSpPr>
          <p:nvPr/>
        </p:nvSpPr>
        <p:spPr>
          <a:xfrm>
            <a:off x="8763000" y="2038350"/>
            <a:ext cx="2952750" cy="342900"/>
          </a:xfrm>
          <a:prstGeom prst="rect">
            <a:avLst/>
          </a:prstGeom>
          <a:noFill/>
          <a:ln w="0">
            <a:noFill/>
          </a:ln>
        </p:spPr>
        <p:txBody>
          <a:bodyPr wrap="square" lIns="0" tIns="0" rIns="0" bIns="0" anchor="t"/>
          <a:lstStyle>
            <a:defPPr algn="l">
              <a:defRPr sz="2025" b="1" i="0">
                <a:solidFill>
                  <a:srgbClr val="B45309"/>
                </a:solidFill>
                <a:latin typeface="Times New Roman"/>
                <a:ea typeface="Times New Roman"/>
                <a:cs typeface="Times New Roman"/>
              </a:defRPr>
            </a:defPPr>
          </a:lstStyle>
          <a:p>
            <a:pPr algn="l">
              <a:buNone/>
              <a:defRPr sz="2025" b="1" i="0">
                <a:solidFill>
                  <a:srgbClr val="B45309"/>
                </a:solidFill>
                <a:latin typeface="Times New Roman"/>
                <a:ea typeface="Times New Roman"/>
                <a:cs typeface="Times New Roman"/>
              </a:defRPr>
            </a:pPr>
            <a:r>
              <a:rPr sz="2025" b="1" i="0">
                <a:solidFill>
                  <a:srgbClr val="B45309"/>
                </a:solidFill>
                <a:latin typeface="Times New Roman"/>
                <a:ea typeface="Times New Roman"/>
                <a:cs typeface="Times New Roman"/>
              </a:rPr>
              <a:t>Terra 5.6</a:t>
            </a:r>
          </a:p>
        </p:txBody>
      </p:sp>
      <p:sp>
        <p:nvSpPr>
          <p:cNvPr id="6" name="Rectangle 5">
            <a:extLst>
              <a:ext uri="{FF2B5EF4-FFF2-40B4-BE49-F238E27FC236}">
                <a16:creationId xmlns:a16="http://schemas.microsoft.com/office/drawing/2014/main" id="{FAB21FD1-8149-49A1-B62D-20549B8C274F}"/>
              </a:ext>
            </a:extLst>
          </p:cNvPr>
          <p:cNvSpPr>
            <a:spLocks noGrp="1"/>
          </p:cNvSpPr>
          <p:nvPr/>
        </p:nvSpPr>
        <p:spPr>
          <a:xfrm>
            <a:off x="8763000" y="2476500"/>
            <a:ext cx="2952750" cy="590550"/>
          </a:xfrm>
          <a:prstGeom prst="rect">
            <a:avLst/>
          </a:prstGeom>
          <a:noFill/>
          <a:ln w="0">
            <a:noFill/>
          </a:ln>
        </p:spPr>
        <p:txBody>
          <a:bodyPr wrap="square" lIns="0" tIns="0" rIns="0" bIns="0" anchor="t"/>
          <a:lstStyle>
            <a:defPPr algn="l">
              <a:defRPr sz="2025" b="0" i="0">
                <a:solidFill>
                  <a:srgbClr val="111111"/>
                </a:solidFill>
                <a:latin typeface="Times New Roman"/>
                <a:ea typeface="Times New Roman"/>
                <a:cs typeface="Times New Roman"/>
              </a:defRPr>
            </a:defPPr>
          </a:lstStyle>
          <a:p>
            <a:pPr algn="l">
              <a:buNone/>
              <a:defRPr sz="2025" b="0" i="0">
                <a:solidFill>
                  <a:srgbClr val="111111"/>
                </a:solidFill>
                <a:latin typeface="Times New Roman"/>
                <a:ea typeface="Times New Roman"/>
                <a:cs typeface="Times New Roman"/>
              </a:defRPr>
            </a:pPr>
            <a:r>
              <a:rPr sz="2025" b="0" i="0">
                <a:solidFill>
                  <a:srgbClr val="111111"/>
                </a:solidFill>
                <a:latin typeface="Times New Roman"/>
                <a:ea typeface="Times New Roman"/>
                <a:cs typeface="Times New Roman"/>
              </a:rPr>
              <a:t>4, 9, 19 passes</a:t>
            </a:r>
          </a:p>
        </p:txBody>
      </p:sp>
      <p:sp>
        <p:nvSpPr>
          <p:cNvPr id="7" name="Rectangle 6">
            <a:extLst>
              <a:ext uri="{FF2B5EF4-FFF2-40B4-BE49-F238E27FC236}">
                <a16:creationId xmlns:a16="http://schemas.microsoft.com/office/drawing/2014/main" id="{EF64A771-CEEB-4F4B-8604-6CBD810FF994}"/>
              </a:ext>
            </a:extLst>
          </p:cNvPr>
          <p:cNvSpPr>
            <a:spLocks noGrp="1"/>
          </p:cNvSpPr>
          <p:nvPr/>
        </p:nvSpPr>
        <p:spPr>
          <a:xfrm>
            <a:off x="8763000" y="3457575"/>
            <a:ext cx="2952750" cy="666750"/>
          </a:xfrm>
          <a:prstGeom prst="rect">
            <a:avLst/>
          </a:prstGeom>
          <a:noFill/>
          <a:ln w="0">
            <a:noFill/>
          </a:ln>
        </p:spPr>
        <p:txBody>
          <a:bodyPr wrap="square" lIns="0" tIns="0" rIns="0" bIns="0" anchor="t"/>
          <a:lstStyle>
            <a:defPPr algn="l">
              <a:defRPr sz="2025" b="1" i="0">
                <a:solidFill>
                  <a:srgbClr val="5B4B7C"/>
                </a:solidFill>
                <a:latin typeface="Times New Roman"/>
                <a:ea typeface="Times New Roman"/>
                <a:cs typeface="Times New Roman"/>
              </a:defRPr>
            </a:defPPr>
          </a:lstStyle>
          <a:p>
            <a:pPr algn="l">
              <a:buNone/>
              <a:defRPr sz="2025" b="1" i="0">
                <a:solidFill>
                  <a:srgbClr val="5B4B7C"/>
                </a:solidFill>
                <a:latin typeface="Times New Roman"/>
                <a:ea typeface="Times New Roman"/>
                <a:cs typeface="Times New Roman"/>
              </a:defRPr>
            </a:pPr>
            <a:r>
              <a:rPr sz="2025" b="1" i="0">
                <a:solidFill>
                  <a:srgbClr val="5B4B7C"/>
                </a:solidFill>
                <a:latin typeface="Times New Roman"/>
                <a:ea typeface="Times New Roman"/>
                <a:cs typeface="Times New Roman"/>
              </a:rPr>
              <a:t>Astra Extra High</a:t>
            </a:r>
          </a:p>
        </p:txBody>
      </p:sp>
      <p:sp>
        <p:nvSpPr>
          <p:cNvPr id="8" name="Rectangle 7">
            <a:extLst>
              <a:ext uri="{FF2B5EF4-FFF2-40B4-BE49-F238E27FC236}">
                <a16:creationId xmlns:a16="http://schemas.microsoft.com/office/drawing/2014/main" id="{AB07E48E-D3EB-4329-B686-D24EFD20298E}"/>
              </a:ext>
            </a:extLst>
          </p:cNvPr>
          <p:cNvSpPr>
            <a:spLocks noGrp="1"/>
          </p:cNvSpPr>
          <p:nvPr/>
        </p:nvSpPr>
        <p:spPr>
          <a:xfrm>
            <a:off x="8763000" y="4229100"/>
            <a:ext cx="2952750" cy="914400"/>
          </a:xfrm>
          <a:prstGeom prst="rect">
            <a:avLst/>
          </a:prstGeom>
          <a:noFill/>
          <a:ln w="0">
            <a:noFill/>
          </a:ln>
        </p:spPr>
        <p:txBody>
          <a:bodyPr wrap="square" lIns="0" tIns="0" rIns="0" bIns="0" anchor="t"/>
          <a:lstStyle>
            <a:defPPr algn="l">
              <a:defRPr sz="1875" b="0" i="0">
                <a:solidFill>
                  <a:srgbClr val="111111"/>
                </a:solidFill>
                <a:latin typeface="Times New Roman"/>
                <a:ea typeface="Times New Roman"/>
                <a:cs typeface="Times New Roman"/>
              </a:defRPr>
            </a:defPPr>
          </a:lstStyle>
          <a:p>
            <a:pPr algn="l">
              <a:buNone/>
              <a:defRPr sz="1875" b="0" i="0">
                <a:solidFill>
                  <a:srgbClr val="111111"/>
                </a:solidFill>
                <a:latin typeface="Times New Roman"/>
                <a:ea typeface="Times New Roman"/>
                <a:cs typeface="Times New Roman"/>
              </a:defRPr>
            </a:pPr>
            <a:r>
              <a:rPr sz="1875" b="0" i="0">
                <a:solidFill>
                  <a:srgbClr val="111111"/>
                </a:solidFill>
                <a:latin typeface="Times New Roman"/>
                <a:ea typeface="Times New Roman"/>
                <a:cs typeface="Times New Roman"/>
              </a:rPr>
              <a:t>2 timeouts</a:t>
            </a:r>
          </a:p>
          <a:p>
            <a:pPr algn="l">
              <a:buNone/>
              <a:defRPr sz="1875" b="0" i="0">
                <a:solidFill>
                  <a:srgbClr val="111111"/>
                </a:solidFill>
                <a:latin typeface="Times New Roman"/>
                <a:ea typeface="Times New Roman"/>
                <a:cs typeface="Times New Roman"/>
              </a:defRPr>
            </a:pPr>
            <a:r>
              <a:rPr sz="1875" b="0" i="0">
                <a:solidFill>
                  <a:srgbClr val="111111"/>
                </a:solidFill>
                <a:latin typeface="Times New Roman"/>
                <a:ea typeface="Times New Roman"/>
                <a:cs typeface="Times New Roman"/>
              </a:rPr>
              <a:t>Both checkpoints passed</a:t>
            </a:r>
          </a:p>
        </p:txBody>
      </p:sp>
      <p:sp>
        <p:nvSpPr>
          <p:cNvPr id="9" name="Rectangle 8">
            <a:extLst>
              <a:ext uri="{FF2B5EF4-FFF2-40B4-BE49-F238E27FC236}">
                <a16:creationId xmlns:a16="http://schemas.microsoft.com/office/drawing/2014/main" id="{E3C707DE-9EBF-46C9-AF4D-C458D0B24515}"/>
              </a:ext>
            </a:extLst>
          </p:cNvPr>
          <p:cNvSpPr>
            <a:spLocks noGrp="1"/>
          </p:cNvSpPr>
          <p:nvPr/>
        </p:nvSpPr>
        <p:spPr>
          <a:xfrm>
            <a:off x="457200" y="6067425"/>
            <a:ext cx="11277600" cy="381000"/>
          </a:xfrm>
          <a:prstGeom prst="rect">
            <a:avLst/>
          </a:prstGeom>
          <a:noFill/>
          <a:ln w="0">
            <a:noFill/>
          </a:ln>
        </p:spPr>
        <p:txBody>
          <a:bodyPr wrap="square" lIns="0" tIns="0" rIns="0" bIns="0" anchor="t"/>
          <a:lstStyle>
            <a:defPPr algn="l">
              <a:defRPr sz="1350" b="0" i="0">
                <a:solidFill>
                  <a:srgbClr val="777777"/>
                </a:solidFill>
                <a:latin typeface="Times New Roman"/>
                <a:ea typeface="Times New Roman"/>
                <a:cs typeface="Times New Roman"/>
              </a:defRPr>
            </a:defPPr>
          </a:lstStyle>
          <a:p>
            <a:pPr algn="l">
              <a:buNone/>
              <a:defRPr sz="1350" b="0" i="0">
                <a:solidFill>
                  <a:srgbClr val="777777"/>
                </a:solidFill>
                <a:latin typeface="Times New Roman"/>
                <a:ea typeface="Times New Roman"/>
                <a:cs typeface="Times New Roman"/>
              </a:defRPr>
            </a:pPr>
            <a:r>
              <a:rPr sz="1350" b="0" i="0">
                <a:solidFill>
                  <a:srgbClr val="777777"/>
                </a:solidFill>
                <a:latin typeface="Times New Roman"/>
                <a:ea typeface="Times New Roman"/>
                <a:cs typeface="Times New Roman"/>
              </a:rPr>
              <a:t>Descriptive comparison on selected tasks. High reuses earlier observations. Timeout checkpoints do not count as completed passes.</a:t>
            </a:r>
          </a:p>
        </p:txBody>
      </p:sp>
      <p:sp>
        <p:nvSpPr>
          <p:cNvPr id="11" name="Rectangle 10">
            <a:extLst>
              <a:ext uri="{FF2B5EF4-FFF2-40B4-BE49-F238E27FC236}">
                <a16:creationId xmlns:a16="http://schemas.microsoft.com/office/drawing/2014/main" id="{AC0F4F45-8F61-4F0B-B49A-D041E976FA43}"/>
              </a:ext>
            </a:extLst>
          </p:cNvPr>
          <p:cNvSpPr>
            <a:spLocks noGrp="1"/>
          </p:cNvSpPr>
          <p:nvPr/>
        </p:nvSpPr>
        <p:spPr>
          <a:xfrm>
            <a:off x="11201400" y="6477000"/>
            <a:ext cx="533400" cy="190500"/>
          </a:xfrm>
          <a:prstGeom prst="rect">
            <a:avLst/>
          </a:prstGeom>
          <a:noFill/>
          <a:ln w="0">
            <a:noFill/>
          </a:ln>
        </p:spPr>
        <p:txBody>
          <a:bodyPr wrap="square" lIns="0" tIns="0" rIns="0" bIns="0" anchor="t"/>
          <a:lstStyle>
            <a:defPPr algn="l">
              <a:defRPr sz="1200" b="0">
                <a:solidFill>
                  <a:srgbClr val="777777"/>
                </a:solidFill>
                <a:latin typeface="Times New Roman"/>
                <a:ea typeface="Times New Roman"/>
                <a:cs typeface="Times New Roman"/>
              </a:defRPr>
            </a:defPPr>
          </a:lstStyle>
          <a:p>
            <a:pPr algn="l">
              <a:buNone/>
              <a:defRPr sz="1200" b="0">
                <a:solidFill>
                  <a:srgbClr val="777777"/>
                </a:solidFill>
                <a:latin typeface="Times New Roman"/>
                <a:ea typeface="Times New Roman"/>
                <a:cs typeface="Times New Roman"/>
              </a:defRPr>
            </a:pPr>
            <a:r>
              <a:rPr sz="1200" b="0">
                <a:solidFill>
                  <a:srgbClr val="777777"/>
                </a:solidFill>
                <a:latin typeface="Times New Roman"/>
                <a:ea typeface="Times New Roman"/>
                <a:cs typeface="Times New Roman"/>
              </a:rPr>
              <a:t>17</a:t>
            </a:r>
          </a:p>
        </p:txBody>
      </p:sp>
    </p:spTree>
    <p:extLst>
      <p:ext uri="{BB962C8B-B14F-4D97-AF65-F5344CB8AC3E}">
        <p14:creationId xmlns:p14="http://schemas.microsoft.com/office/powerpoint/2010/main" val="848171683"/>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Times New Roman"/>
        <a:ea typeface=""/>
        <a:cs typeface=""/>
      </a:majorFont>
      <a:minorFont>
        <a:latin typeface="Times New Roman"/>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Times New Roman"/>
        <a:ea typeface=""/>
        <a:cs typeface=""/>
      </a:majorFont>
      <a:minorFont>
        <a:latin typeface="Times New Roman"/>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21</TotalTime>
  <Words>5910</Words>
  <Application>Microsoft Macintosh PowerPoint</Application>
  <DocSecurity>0</DocSecurity>
  <PresentationFormat>Widescreen</PresentationFormat>
  <Paragraphs>550</Paragraphs>
  <Slides>17</Slides>
  <Notes>17</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17</vt:i4>
      </vt:variant>
    </vt:vector>
  </HeadingPairs>
  <TitlesOfParts>
    <vt:vector size="19" baseType="lpstr">
      <vt:lpstr>Times New Roman</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Yue Pan</cp:lastModifiedBy>
  <cp:revision>4</cp:revision>
  <dcterms:created xsi:type="dcterms:W3CDTF">2026-10-15T21:03:30Z</dcterms:created>
  <dcterms:modified xsi:type="dcterms:W3CDTF">2026-10-15T23:52:09Z</dcterms:modified>
</cp:coreProperties>
</file>