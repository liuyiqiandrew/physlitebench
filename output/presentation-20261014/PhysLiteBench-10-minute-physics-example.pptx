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9721c730df84d40" /><Relationship Type="http://schemas.openxmlformats.org/officeDocument/2006/relationships/extended-properties" Target="/docProps/app.xml" Id="R874111a3ff77490f" /><Relationship Type="http://schemas.openxmlformats.org/officeDocument/2006/relationships/officeDocument" Target="/ppt/presentation.xml" Id="R59e1bf15938a433d" /></Relationships>
</file>

<file path=ppt/presentation.xml><?xml version="1.0" encoding="utf-8"?>
<p:presentation xmlns:p="http://schemas.openxmlformats.org/presentationml/2006/main">
  <p:sldMasterIdLst>
    <p:sldMasterId xmlns:r="http://schemas.openxmlformats.org/officeDocument/2006/relationships" id="2147483648" r:id="Rf9da886bf08c4d0a"/>
  </p:sldMasterIdLst>
  <p:notesMasterIdLst>
    <p:notesMasterId xmlns:r="http://schemas.openxmlformats.org/officeDocument/2006/relationships" r:id="Raff0a85edf3e4d22"/>
  </p:notesMasterIdLst>
  <p:sldIdLst>
    <p:sldId xmlns:r="http://schemas.openxmlformats.org/officeDocument/2006/relationships" id="256" r:id="R5d86254deee64737"/>
    <p:sldId xmlns:r="http://schemas.openxmlformats.org/officeDocument/2006/relationships" id="257" r:id="R26f6f67f950f42fb"/>
    <p:sldId xmlns:r="http://schemas.openxmlformats.org/officeDocument/2006/relationships" id="258" r:id="R11542a1792be4c84"/>
    <p:sldId xmlns:r="http://schemas.openxmlformats.org/officeDocument/2006/relationships" id="259" r:id="Rf6a479b3d0754511"/>
    <p:sldId xmlns:r="http://schemas.openxmlformats.org/officeDocument/2006/relationships" id="260" r:id="Rcc7f9cfe03ca45a5"/>
    <p:sldId xmlns:r="http://schemas.openxmlformats.org/officeDocument/2006/relationships" id="261" r:id="R9124f74be9e346e7"/>
    <p:sldId xmlns:r="http://schemas.openxmlformats.org/officeDocument/2006/relationships" id="262" r:id="R5ddefd1cbf0242bb"/>
    <p:sldId xmlns:r="http://schemas.openxmlformats.org/officeDocument/2006/relationships" id="263" r:id="Rfdcad35afbb84f90"/>
    <p:sldId xmlns:r="http://schemas.openxmlformats.org/officeDocument/2006/relationships" id="264" r:id="R1a97620e93044d36"/>
    <p:sldId xmlns:r="http://schemas.openxmlformats.org/officeDocument/2006/relationships" id="265" r:id="Ree2e9e364feb4536"/>
    <p:sldId xmlns:r="http://schemas.openxmlformats.org/officeDocument/2006/relationships" id="266" r:id="Rfa8ce4b15d7f4d1a"/>
    <p:sldId xmlns:r="http://schemas.openxmlformats.org/officeDocument/2006/relationships" id="267" r:id="Rdaeb3aa55dd4483d"/>
    <p:sldId xmlns:r="http://schemas.openxmlformats.org/officeDocument/2006/relationships" id="268" r:id="R6c111e8b4efd4d69"/>
    <p:sldId xmlns:r="http://schemas.openxmlformats.org/officeDocument/2006/relationships" id="269" r:id="R9aa4910617724390"/>
    <p:sldId xmlns:r="http://schemas.openxmlformats.org/officeDocument/2006/relationships" id="270" r:id="R2b76e57594e648b5"/>
    <p:sldId xmlns:r="http://schemas.openxmlformats.org/officeDocument/2006/relationships" id="271" r:id="R3c4e11c721fb4d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efb81e21874112" /><Relationship Type="http://schemas.openxmlformats.org/officeDocument/2006/relationships/slideMaster" Target="/ppt/slideMasters/slideMaster1.xml" Id="Rf9da886bf08c4d0a" /><Relationship Type="http://schemas.openxmlformats.org/officeDocument/2006/relationships/notesMaster" Target="/ppt/notesMasters/notesMaster1.xml" Id="Raff0a85edf3e4d22" /><Relationship Type="http://schemas.openxmlformats.org/officeDocument/2006/relationships/presProps" Target="/ppt/presProps.xml" Id="R0277759dd0794c42" /><Relationship Type="http://schemas.openxmlformats.org/officeDocument/2006/relationships/tableStyles" Target="/ppt/tableStyles.xml" Id="R0aa20abddfd64575" /><Relationship Type="http://schemas.openxmlformats.org/officeDocument/2006/relationships/slide" Target="/ppt/slides/slide1.xml" Id="R5d86254deee64737" /><Relationship Type="http://schemas.openxmlformats.org/officeDocument/2006/relationships/slide" Target="/ppt/slides/slide2.xml" Id="R26f6f67f950f42fb" /><Relationship Type="http://schemas.openxmlformats.org/officeDocument/2006/relationships/slide" Target="/ppt/slides/slide3.xml" Id="R11542a1792be4c84" /><Relationship Type="http://schemas.openxmlformats.org/officeDocument/2006/relationships/slide" Target="/ppt/slides/slide4.xml" Id="Rf6a479b3d0754511" /><Relationship Type="http://schemas.openxmlformats.org/officeDocument/2006/relationships/slide" Target="/ppt/slides/slide5.xml" Id="Rcc7f9cfe03ca45a5" /><Relationship Type="http://schemas.openxmlformats.org/officeDocument/2006/relationships/slide" Target="/ppt/slides/slide6.xml" Id="R9124f74be9e346e7" /><Relationship Type="http://schemas.openxmlformats.org/officeDocument/2006/relationships/slide" Target="/ppt/slides/slide7.xml" Id="R5ddefd1cbf0242bb" /><Relationship Type="http://schemas.openxmlformats.org/officeDocument/2006/relationships/slide" Target="/ppt/slides/slide8.xml" Id="Rfdcad35afbb84f90" /><Relationship Type="http://schemas.openxmlformats.org/officeDocument/2006/relationships/slide" Target="/ppt/slides/slide9.xml" Id="R1a97620e93044d36" /><Relationship Type="http://schemas.openxmlformats.org/officeDocument/2006/relationships/slide" Target="/ppt/slides/slide10.xml" Id="Ree2e9e364feb4536" /><Relationship Type="http://schemas.openxmlformats.org/officeDocument/2006/relationships/slide" Target="/ppt/slides/slide11.xml" Id="Rfa8ce4b15d7f4d1a" /><Relationship Type="http://schemas.openxmlformats.org/officeDocument/2006/relationships/slide" Target="/ppt/slides/slide12.xml" Id="Rdaeb3aa55dd4483d" /><Relationship Type="http://schemas.openxmlformats.org/officeDocument/2006/relationships/slide" Target="/ppt/slides/slide13.xml" Id="R6c111e8b4efd4d69" /><Relationship Type="http://schemas.openxmlformats.org/officeDocument/2006/relationships/slide" Target="/ppt/slides/slide14.xml" Id="R9aa4910617724390" /><Relationship Type="http://schemas.openxmlformats.org/officeDocument/2006/relationships/slide" Target="/ppt/slides/slide15.xml" Id="R2b76e57594e648b5" /><Relationship Type="http://schemas.openxmlformats.org/officeDocument/2006/relationships/slide" Target="/ppt/slides/slide16.xml" Id="R3c4e11c721fb4d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76d89938c542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ommittee — Times New Roman">
      <a:dk1>
        <a:srgbClr val="0B0B0F"/>
      </a:dk1>
      <a:lt1>
        <a:srgbClr val="FFFFFF"/>
      </a:lt1>
      <a:dk2>
        <a:srgbClr val="374151"/>
      </a:dk2>
      <a:lt2>
        <a:srgbClr val="F3F4F6"/>
      </a:lt2>
      <a:accent1>
        <a:srgbClr val="1D4E89"/>
      </a:accent1>
      <a:accent2>
        <a:srgbClr val="0F766E"/>
      </a:accent2>
      <a:accent3>
        <a:srgbClr val="B45309"/>
      </a:accent3>
      <a:accent4>
        <a:srgbClr val="A50026"/>
      </a:accent4>
      <a:accent5>
        <a:srgbClr val="5B4B7C"/>
      </a:accent5>
      <a:accent6>
        <a:srgbClr val="777777"/>
      </a:accent6>
      <a:hlink>
        <a:srgbClr val="1D4E89"/>
      </a:hlink>
      <a:folHlink>
        <a:srgbClr val="5B4B7C"/>
      </a:folHlink>
    </a:clrScheme>
    <a:fontScheme name="">
      <a:majorFont>
        <a:latin typeface="Times New Roman"/>
        <a:ea typeface=""/>
        <a:cs typeface=""/>
      </a:majorFont>
      <a:minorFont>
        <a:latin typeface="Times New Roman"/>
        <a:ea typeface=""/>
        <a:cs typeface=""/>
      </a:minorFont>
    </a:fontScheme>
    <a:fmtScheme name="Committee — Times New Roma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2d0e84b06e4782" /><Relationship Type="http://schemas.openxmlformats.org/officeDocument/2006/relationships/notesMaster" Target="/ppt/notesMasters/notesMaster1.xml" Id="R8a276a2f2ae14b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80f6a9b39945cd" /><Relationship Type="http://schemas.openxmlformats.org/officeDocument/2006/relationships/notesMaster" Target="/ppt/notesMasters/notesMaster1.xml" Id="Rf5504a262ded46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72295b3eb44bee" /><Relationship Type="http://schemas.openxmlformats.org/officeDocument/2006/relationships/notesMaster" Target="/ppt/notesMasters/notesMaster1.xml" Id="Re4a8d9c8e2b849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584707d2754539" /><Relationship Type="http://schemas.openxmlformats.org/officeDocument/2006/relationships/notesMaster" Target="/ppt/notesMasters/notesMaster1.xml" Id="R1777617b993d45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1c962ff7b94a38" /><Relationship Type="http://schemas.openxmlformats.org/officeDocument/2006/relationships/notesMaster" Target="/ppt/notesMasters/notesMaster1.xml" Id="R50cd10feafbe45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98dac97e4b471e" /><Relationship Type="http://schemas.openxmlformats.org/officeDocument/2006/relationships/notesMaster" Target="/ppt/notesMasters/notesMaster1.xml" Id="Red8baefd409445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90a7bfcb2d478c" /><Relationship Type="http://schemas.openxmlformats.org/officeDocument/2006/relationships/notesMaster" Target="/ppt/notesMasters/notesMaster1.xml" Id="Re3f09740443b42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f488f273264d3d" /><Relationship Type="http://schemas.openxmlformats.org/officeDocument/2006/relationships/notesMaster" Target="/ppt/notesMasters/notesMaster1.xml" Id="R914b51c69e2b42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17265fd6544f0d" /><Relationship Type="http://schemas.openxmlformats.org/officeDocument/2006/relationships/notesMaster" Target="/ppt/notesMasters/notesMaster1.xml" Id="R4f2341a3808a4a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d3a4eb614743b8" /><Relationship Type="http://schemas.openxmlformats.org/officeDocument/2006/relationships/notesMaster" Target="/ppt/notesMasters/notesMaster1.xml" Id="Rf9b24456f39647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fc499d09614e55" /><Relationship Type="http://schemas.openxmlformats.org/officeDocument/2006/relationships/notesMaster" Target="/ppt/notesMasters/notesMaster1.xml" Id="R647e7ac249414a5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7c0b9531dba41df" /><Relationship Type="http://schemas.openxmlformats.org/officeDocument/2006/relationships/notesMaster" Target="/ppt/notesMasters/notesMaster1.xml" Id="R4c73d4b06205474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7bf9f3e2954c9f" /><Relationship Type="http://schemas.openxmlformats.org/officeDocument/2006/relationships/notesMaster" Target="/ppt/notesMasters/notesMaster1.xml" Id="Rc639639c63764a7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15fadbc548b4520" /><Relationship Type="http://schemas.openxmlformats.org/officeDocument/2006/relationships/notesMaster" Target="/ppt/notesMasters/notesMaster1.xml" Id="R1f57e5369f58444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fbc6d4357524e6e" /><Relationship Type="http://schemas.openxmlformats.org/officeDocument/2006/relationships/notesMaster" Target="/ppt/notesMasters/notesMaster1.xml" Id="R678d6a073afe4b3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31d9ffe88144ab0" /><Relationship Type="http://schemas.openxmlformats.org/officeDocument/2006/relationships/notesMaster" Target="/ppt/notesMasters/notesMaster1.xml" Id="R230a5ba03ecd43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20 seconds.</a:t>
            </a:r>
          </a:p>
          <a:p xmlns:a="http://schemas.openxmlformats.org/drawingml/2006/main">
            <a:r>
              <a:t/>
            </a:r>
          </a:p>
          <a:p xmlns:a="http://schemas.openxmlformats.org/drawingml/2006/main">
            <a:r>
              <a:t>This study asks how much reliable physics coding we get for the model compute we spend. I will first show one concrete calorimetry task and the agent workflow, then compare model cost and success. Finally, we will return to the same task to diagnose a saved failure. A separate hint experiment is still running.</a:t>
            </a:r>
          </a:p>
          <a:p xmlns:a="http://schemas.openxmlformats.org/drawingml/2006/main">
            <a:r>
              <a:t/>
            </a:r>
          </a:p>
          <a:p xmlns:a="http://schemas.openxmlformats.org/drawingml/2006/main">
            <a:r>
              <a:t>Sources:</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35 seconds.</a:t>
            </a:r>
          </a:p>
          <a:p xmlns:a="http://schemas.openxmlformats.org/drawingml/2006/main">
            <a:r>
              <a:t/>
            </a:r>
          </a:p>
          <a:p xmlns:a="http://schemas.openxmlformats.org/drawingml/2006/main">
            <a:r>
              <a:t>The benchmark separates parameter fitting from physical prediction. The agent receives an apparatus description, calibration data, starter code and public tests. The hidden evaluator also asks for predictions in regimes that the calibration does not establish. The suite has thirteen frozen tasks spanning transport, stochastic dynamics, correlations and quantum or statistical systems. It was selected using GPT-5.6 Luna, so it is deliberately challenging and not a random sample of physics. Let us make that design concrete with entropy anomaly.</a:t>
            </a:r>
          </a:p>
          <a:p xmlns:a="http://schemas.openxmlformats.org/drawingml/2006/main">
            <a:r>
              <a:t/>
            </a:r>
          </a:p>
          <a:p xmlns:a="http://schemas.openxmlformats.org/drawingml/2006/main">
            <a:r>
              <a:t>Sources:</a:t>
            </a:r>
          </a:p>
          <a:p xmlns:a="http://schemas.openxmlformats.org/drawingml/2006/main">
            <a:r>
              <a:t>/Users/yp9846/Desktop/PhysLiteBench/AGENTS.md</a:t>
            </a:r>
          </a:p>
          <a:p xmlns:a="http://schemas.openxmlformats.org/drawingml/2006/main">
            <a:r>
              <a:t>/Users/yp9846/Desktop/PhysLiteBench/results/task-roster.json</a:t>
            </a:r>
          </a:p>
          <a:p xmlns:a="http://schemas.openxmlformats.org/drawingml/2006/main">
            <a:r>
              <a:t>/Users/yp9846/Desktop/PhysLiteBench/TASKS.md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65 seconds.</a:t>
            </a:r>
          </a:p>
          <a:p xmlns:a="http://schemas.openxmlformats.org/drawingml/2006/main">
            <a:r>
              <a:t/>
            </a:r>
          </a:p>
          <a:p xmlns:a="http://schemas.openxmlformats.org/drawingml/2006/main">
            <a:r>
              <a:t>Here is the physical task we will follow throughout the talk. A charged particle moves in a two-dimensional periodic square. The thermal environment varies with position. In the prediction preparation shown here, a fast valve switches among three reservoirs, connecting exactly one at a time. The three temperature curves share the same spatial profile but have different amplitudes. The particle feels drag, thermal noise, a constant force and a perpendicular magnetic field. The magnetic field does no work. The common friction gamma is the only unknown parameter. On the right, the detector weights the bath entropy by position without exerting a force. To define the requested prediction, the apparatus first reaches stationarity at finite mass, measures weighted heat and actual residence, and subtracts a matched uniform, force-free background times that residence. Only then does it take mass to zero. The example curves illustrate valid settings; they are not measured benchmark outcomes. The two-contact calibration preparation is simpler than the three-contact prediction preparation.</a:t>
            </a:r>
          </a:p>
          <a:p xmlns:a="http://schemas.openxmlformats.org/drawingml/2006/main">
            <a:r>
              <a:t/>
            </a:r>
          </a:p>
          <a:p xmlns:a="http://schemas.openxmlformats.org/drawingml/2006/main">
            <a:r>
              <a:t>Sources:</a:t>
            </a:r>
          </a:p>
          <a:p xmlns:a="http://schemas.openxmlformats.org/drawingml/2006/main">
            <a:r>
              <a:t>/Users/yp9846/Desktop/PhysLiteBench/tasks/entropy-anomaly/environment/README.md</a:t>
            </a:r>
          </a:p>
          <a:p xmlns:a="http://schemas.openxmlformats.org/drawingml/2006/main">
            <a:r>
              <a:t>/Users/yp9846/Desktop/PhysLiteBench/tasks/entropy-anomaly/instruction.md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The agent receives a deliberately compact request plus the complete apparatus description, calibration records and starter code. The prompt explicitly allows changes to any part of the implementation, including the predictor. Calibration uses the original two-contact preparation, equal reservoir temperatures and zero magnetic field. It determines the friction parameter but does not test the full prediction regime. The public tests check the interface and the calibration fit. The private evaluation then asks for cyclic-contact, anisotropic and magnetic cases. This workflow leaves several possible failure points. An agent could change the defined subtraction or limiting procedure. It could keep an equal-contact-population approximation beyond the order where it is valid. Or it could stop after passing public tests. These are possible mechanisms at this stage, not a claim that every failure has the same cause. After the aggregate results, we will return to one saved run to locate its actual failure.</a:t>
            </a:r>
          </a:p>
          <a:p xmlns:a="http://schemas.openxmlformats.org/drawingml/2006/main">
            <a:r>
              <a:t/>
            </a:r>
          </a:p>
          <a:p xmlns:a="http://schemas.openxmlformats.org/drawingml/2006/main">
            <a:r>
              <a:t>Sources:</a:t>
            </a:r>
          </a:p>
          <a:p xmlns:a="http://schemas.openxmlformats.org/drawingml/2006/main">
            <a:r>
              <a:t>/Users/yp9846/Desktop/PhysLiteBench/tasks/entropy-anomaly/instruction.md</a:t>
            </a:r>
          </a:p>
          <a:p xmlns:a="http://schemas.openxmlformats.org/drawingml/2006/main">
            <a:r>
              <a:t>/Users/yp9846/Desktop/PhysLiteBench/tasks/entropy-anomaly/environment/README.md</a:t>
            </a:r>
          </a:p>
          <a:p xmlns:a="http://schemas.openxmlformats.org/drawingml/2006/main">
            <a:r>
              <a:t>/Users/yp9846/Desktop/PhysLiteBench/tasks/entropy-anomaly/environment/test_public.py</a:t>
            </a:r>
          </a:p>
          <a:p xmlns:a="http://schemas.openxmlformats.org/drawingml/2006/main">
            <a:r>
              <a:t>/Users/yp9846/Desktop/PhysLiteBench/tasks/entropy-anomaly/tests/test_hidden.py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25 seconds.</a:t>
            </a:r>
          </a:p>
          <a:p xmlns:a="http://schemas.openxmlformats.org/drawingml/2006/main">
            <a:r>
              <a:t/>
            </a:r>
          </a:p>
          <a:p xmlns:a="http://schemas.openxmlformats.org/drawingml/2006/main">
            <a:r>
              <a:t>Across the full suite, the no-hint sweep contains fifteen complete model-effort settings. Each has thirteen tasks and three repeats, for five hundred eighty-five attempts. The agent limit is ten minutes and the verifier limit one minute. OpenAI High settings reuse thirty matching earlier observations per model. Three DeepSeek None attempts form a separate partial panel and are excluded here.</a:t>
            </a:r>
          </a:p>
          <a:p xmlns:a="http://schemas.openxmlformats.org/drawingml/2006/main">
            <a:r>
              <a:t/>
            </a:r>
          </a:p>
          <a:p xmlns:a="http://schemas.openxmlformats.org/drawingml/2006/main">
            <a:r>
              <a:t>Sources:</a:t>
            </a:r>
          </a:p>
          <a:p xmlns:a="http://schemas.openxmlformats.org/drawingml/2006/main">
            <a:r>
              <a:t>/Users/yp9846/Desktop/PhysLiteBench/results/reasoning-sweep-20261011/README.md</a:t>
            </a:r>
          </a:p>
          <a:p xmlns:a="http://schemas.openxmlformats.org/drawingml/2006/main">
            <a:r>
              <a:t>/Users/yp9846/Desktop/PhysLiteBench/results/reasoning-sweep-20261011/summary.csv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75 seconds.</a:t>
            </a:r>
          </a:p>
          <a:p xmlns:a="http://schemas.openxmlformats.org/drawingml/2006/main">
            <a:r>
              <a:t/>
            </a:r>
          </a:p>
          <a:p xmlns:a="http://schemas.openxmlformats.org/drawingml/2006/main">
            <a:r>
              <a:t>Each point contains thirty-nine attempts. Higher means more completed passes, and farther left means lower estimated API cost. The dashed curve connects settings that no eligible setting beats on both observed success and cost. Four settings lie on this frontier: GPT-6 Luna Low passes four attempts at about four tenths of a cent per attempt. Luna Extra High passes twelve at about one point three cents. GPT-6 Sol Low passes thirty-seven at about seven point seven cents. Sol High passes all thirty-nine at about nineteen point eight cents. Sol Extra High and Astra cost more without exceeding that observed score. The table gives exact coordinates for the tightly clustered low-cost points. DeepSeek costs are lower bounds because some interrupted requests have incomplete accounting, so those points do not determine the exact-cost frontier. This is a descriptive result on a selected suite with three repeats per task, not a universal ranking.</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/Users/yp9846/Desktop/PhysLiteBench/output/reasoning-sweep-20261011/pareto-frontier.json</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40 seconds.</a:t>
            </a:r>
          </a:p>
          <a:p xmlns:a="http://schemas.openxmlformats.org/drawingml/2006/main">
            <a:r>
              <a:t/>
            </a:r>
          </a:p>
          <a:p xmlns:a="http://schemas.openxmlformats.org/drawingml/2006/main">
            <a:r>
              <a:t>Removing the cost axis shows how completed success varies with configured effort. Terra rises from four to nine to nineteen passes. Luna improves substantially at Extra High, while its Low-to-High change goes the other way. Sol already performs strongly at Low. Astra Extra High loses two completed passes because of timeouts, even though both saved checkpoints pass the verifier. Completion within the fixed budget is part of the score. These small samples and the reuse of earlier High observations make this a descriptive comparison, not a precise causal estimate of reasoning effort.</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/Users/yp9846/Desktop/PhysLiteBench/results/trajectory-analysis-20261014/analysis.json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60 seconds.</a:t>
            </a:r>
          </a:p>
          <a:p xmlns:a="http://schemas.openxmlformats.org/drawingml/2006/main">
            <a:r>
              <a:t/>
            </a:r>
          </a:p>
          <a:p xmlns:a="http://schemas.openxmlformats.org/drawingml/2006/main">
            <a:r>
              <a:t>The bars separate outcomes across one hundred seventeen attempts per model. One hundred eighty-six of the one hundred ninety-one normally completed failures fail only hidden predictions. At least one hundred forty-one of those also show public-test passes in the saved tool record. That is the validation gap we anticipated in the example: a calibration fit can leave the extrapolated physical model wrong. DeepSeek has a different dominant limitation. One hundred five of its one hundred seventeen attempts end in execution errors, including eighty-three timeouts. Only twelve complete normally, and those twelve fail predictions. A zero total pass rate therefore mixes physical mistakes with failure to finish. We now return to entropy anomaly to see exactly where one completed program failed.</a:t>
            </a:r>
          </a:p>
          <a:p xmlns:a="http://schemas.openxmlformats.org/drawingml/2006/main">
            <a:r>
              <a:t/>
            </a:r>
          </a:p>
          <a:p xmlns:a="http://schemas.openxmlformats.org/drawingml/2006/main">
            <a:r>
              <a:t>Sources:</a:t>
            </a:r>
          </a:p>
          <a:p xmlns:a="http://schemas.openxmlformats.org/drawingml/2006/main">
            <a:r>
              <a:t>/Users/yp9846/Desktop/PhysLiteBench/results/trajectory-analysis-20261014/analysis.json</a:t>
            </a:r>
          </a:p>
          <a:p xmlns:a="http://schemas.openxmlformats.org/drawingml/2006/main">
            <a:r>
              <a:t>/Users/yp9846/Desktop/PhysLiteBench/output/trajectory-analysis-20261014/report.html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110 seconds.</a:t>
            </a:r>
          </a:p>
          <a:p xmlns:a="http://schemas.openxmlformats.org/drawingml/2006/main">
            <a:r>
              <a:t/>
            </a:r>
          </a:p>
          <a:p xmlns:a="http://schemas.openxmlformats.org/drawingml/2006/main">
            <a:r>
              <a:t>Now return to the same calorimeter. In this GPT-6 Luna Low attempt, the saved tool record shows the agent reading the apparatus and the starter, scanning the friction parameter, implementing a bounded weighted least-squares fit and running the public tests. The first scan had a Python import error, which the agent corrected by setting the module path. That operational issue was resolved before submission. Both public tests passed. The quotation is the agent’s recorded explanation: the existing expansion agrees with the calibration records. That statement is correct about the calibration regime. The source diff shows that only fit() changed. The predictor kept its conditional contact-population correction at zero. Here is why that matters. The externally prescribed valve has uniform marginal state probabilities. But particle position and contact history are correlated, so the first-order position-conditioned population response need not vanish. The contact continuity equation relates that response to the divergence of the conditional spatial current. Setting it to zero removes a contribution to the finite excess calorimetry. The fitted friction is 1.09936, with only 0.0584 percent relative error, and the reduced calibration chi-square is 0.956. Yet the largest hidden prediction-group error is 77.38 percent, and two groups fail the four-percent tolerance. To test the diagnosis, the analyst restored only the population response in an in-memory copy while holding friction fixed. The largest group error becomes 0.0443 percent, with all four tested groups below tolerance. This is evidence about the saved implementation, not access to private reasoning and not an additional model pass.</a:t>
            </a:r>
          </a:p>
          <a:p xmlns:a="http://schemas.openxmlformats.org/drawingml/2006/main">
            <a:r>
              <a:t/>
            </a:r>
          </a:p>
          <a:p xmlns:a="http://schemas.openxmlformats.org/drawingml/2006/main">
            <a:r>
              <a:t>Sources:</a:t>
            </a:r>
          </a:p>
          <a:p xmlns:a="http://schemas.openxmlformats.org/drawingml/2006/main">
            <a:r>
              <a:t>/Users/yp9846/Desktop/PhysLiteBench/results/trajectory-analysis-20261014/cases/entropy-anomaly__6yBuZGL/review.json</a:t>
            </a:r>
          </a:p>
          <a:p xmlns:a="http://schemas.openxmlformats.org/drawingml/2006/main">
            <a:r>
              <a:t>/Users/yp9846/Desktop/PhysLiteBench/results/trajectory-analysis-20261014/cases/entropy-anomaly__6yBuZGL/model.diff</a:t>
            </a:r>
          </a:p>
          <a:p xmlns:a="http://schemas.openxmlformats.org/drawingml/2006/main">
            <a:r>
              <a:t>/Users/yp9846/Desktop/PhysLiteBench/results/trajectory-analysis-20261014/cases/entropy-anomaly__6yBuZGL/model.py</a:t>
            </a:r>
          </a:p>
          <a:p xmlns:a="http://schemas.openxmlformats.org/drawingml/2006/main">
            <a:r>
              <a:t>/Users/yp9846/Desktop/PhysLiteBench/results/trajectory-analysis-20261014/cases/entropy-anomaly__6yBuZGL/metrics.json</a:t>
            </a:r>
          </a:p>
          <a:p xmlns:a="http://schemas.openxmlformats.org/drawingml/2006/main">
            <a:r>
              <a:t>/Users/yp9846/Desktop/PhysLiteBench/jobs/effort-gpt-6-luna-low-entropy-anomaly-20261011-191612/entropy-anomaly__6yBuZGL/agent/trajectory.json</a:t>
            </a:r>
          </a:p>
          <a:p xmlns:a="http://schemas.openxmlformats.org/drawingml/2006/main">
            <a:r>
              <a:t>/Users/yp9846/Desktop/PhysLiteBench/results/trajectory-analysis-20261014/diagnostic-repairs.json</a:t>
            </a:r>
          </a:p>
          <a:p xmlns:a="http://schemas.openxmlformats.org/drawingml/2006/main">
            <a:r>
              <a:t>/Users/yp9846/Desktop/PhysLiteBench/tasks/entropy-anomaly/AUTHOR.md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The next experiment asks whether guidance helps the agent repair the missing physics. It uses GPT-5.6 Luna, GPT-5.6 Terra and DeepSeek, always at High effort. Please note the generation difference: the earlier frontier used GPT-6 Luna. For each task and model there are three repeats under the original instruction, a general correctness reminder and a task-specific physics hint. The environment, task data and grading remain frozen. The total is three hundred fifty-one observations. To avoid duplicate spending, thirty-eight Luna baseline slots reuse the matching results supplied by our collaborator, and one already completed local baseline is preserved. Those imported trials use an older Codex client, so Luna is a comparison against historical controls, not a perfectly isolated causal hint experiment. The results slide is intentionally empty while the runs continue.</a:t>
            </a:r>
          </a:p>
          <a:p xmlns:a="http://schemas.openxmlformats.org/drawingml/2006/main">
            <a:r>
              <a:t/>
            </a:r>
          </a:p>
          <a:p xmlns:a="http://schemas.openxmlformats.org/drawingml/2006/main">
            <a:r>
              <a:t>Sources:</a:t>
            </a:r>
          </a:p>
          <a:p xmlns:a="http://schemas.openxmlformats.org/drawingml/2006/main">
            <a:r>
              <a:t>/Users/yp9846/Desktop/PhysLiteBench/results/hint-comparison-20261014/plan.json</a:t>
            </a:r>
          </a:p>
          <a:p xmlns:a="http://schemas.openxmlformats.org/drawingml/2006/main">
            <a:r>
              <a:t>/Users/yp9846/Desktop/PhysLiteBench/results/hint-comparison-20261014/friend-reuse-amendment-20261015.json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Reserved for the completed and audited hint comparison. No partial outcomes or estimates are shown. Skip this slide in the current talk. On completion, allocate sixty seconds here by shortening the frontier by fifteen seconds, the failure statistics by fifteen, the entropy trajectory by twenty, and the conclusion by ten. Report completed pass counts and execution errors separately. Preserve historical-control caveats and distinguish GPT-5.6 Luna from the GPT-6 Luna cohort.</a:t>
            </a:r>
          </a:p>
          <a:p xmlns:a="http://schemas.openxmlformats.org/drawingml/2006/main">
            <a:r>
              <a:t/>
            </a:r>
          </a:p>
          <a:p xmlns:a="http://schemas.openxmlformats.org/drawingml/2006/main">
            <a:r>
              <a:t>Sources:</a:t>
            </a:r>
          </a:p>
          <a:p xmlns:a="http://schemas.openxmlformats.org/drawingml/2006/main">
            <a:r>
              <a:t>/Users/yp9846/Desktop/PhysLiteBench/results/hint-comparison-20261014/plan.json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60 seconds.</a:t>
            </a:r>
          </a:p>
          <a:p xmlns:a="http://schemas.openxmlformats.org/drawingml/2006/main">
            <a:r>
              <a:t/>
            </a:r>
          </a:p>
          <a:p xmlns:a="http://schemas.openxmlformats.org/drawingml/2006/main">
            <a:r>
              <a:t>The completed experiments establish a broad cost-success tradeoff on this selected suite. GPT-6 Sol Low and High occupy the high-success end of the observed frontier, while lower-cost Luna settings trade away substantial success. The running example explains one important source of failure: fitting friction and passing public checks can preserve a physical approximation that fails in the prediction regime. The saved code and a targeted diagnostic correction locate the missing conditional contact-population response in that particular submission. The aggregate results show that prediction-only failures are common, but they do not establish that every task has the same omission. Execution reliability is another component of success, especially for DeepSeek and the Astra timeouts. The pending hint comparison will ask whether general or physics guidance changes these outcomes and, ideally, the final physical implementation. That result remains open until the study is complete.</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/Users/yp9846/Desktop/PhysLiteBench/results/trajectory-analysis-20261014/analysis.json</a:t>
            </a:r>
          </a:p>
          <a:p xmlns:a="http://schemas.openxmlformats.org/drawingml/2006/main">
            <a:r>
              <a:t>/Users/yp9846/Desktop/PhysLiteBench/results/trajectory-analysis-20261014/diagnostic-repairs.json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180 seconds.</a:t>
            </a:r>
          </a:p>
          <a:p xmlns:a="http://schemas.openxmlformats.org/drawingml/2006/main">
            <a:r>
              <a:t/>
            </a:r>
          </a:p>
          <a:p xmlns:a="http://schemas.openxmlformats.org/drawingml/2006/main">
            <a:r>
              <a:t>Suggested discussion prompts: How much does selecting tasks against Luna affect the ranking? How should timeout checkpoints enter a benchmark score? What evidence would isolate a causal hint effect? The backup slides give the full no-hint counts, the collaborator cohort and the task roster. Answer with the specific scope limits: selected tasks, three repeats per task, preserved failures, historical baselines and the time budget.</a:t>
            </a:r>
          </a:p>
          <a:p xmlns:a="http://schemas.openxmlformats.org/drawingml/2006/main">
            <a:r>
              <a:t/>
            </a:r>
          </a:p>
          <a:p xmlns:a="http://schemas.openxmlformats.org/drawingml/2006/main">
            <a:r>
              <a:t>Sources:</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Use this slide for exact-count questions. Astra Extra High has thirty-seven completed passes but thirty-nine passing checkpoints. Terra Extra High has nineteen completed passes and twenty passing checkpoints. Luna Extra High has twelve completed passes and thirteen passing checkpoints. DeepSeek Low, High and Max costs remain lower bounds because of interrupted-response accounting. Four historical Terra High attempts were affected by host sleep, and three started DeepSeek High connection failures overlapped host sleep. Those outcomes are preserved in the primary data.</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The collaborator reports add a full GPT-5.6 Luna sweep with None, Low, Medium, High, Extra High and Max, plus GPT-5.6 Sol and Terra at Low and Medium. These are three hundred ninety unique published attempts. Their task and grading hashes match, but their client version and concurrency differ from the local experiment. They remain a separate cohort and are not silently pooled into the original GPT-6 frontier or trajectory totals. The current hint experiment reuses thirty-eight of the thirty-nine Luna High baseline observations. The one already completed local Luna slot remains local. Raw collaborator native logs were not available for independent trajectory review.</a:t>
            </a:r>
          </a:p>
          <a:p xmlns:a="http://schemas.openxmlformats.org/drawingml/2006/main">
            <a:r>
              <a:t/>
            </a:r>
          </a:p>
          <a:p xmlns:a="http://schemas.openxmlformats.org/drawingml/2006/main">
            <a:r>
              <a:t>Sources:</a:t>
            </a:r>
          </a:p>
          <a:p xmlns:a="http://schemas.openxmlformats.org/drawingml/2006/main">
            <a:r>
              <a:t>/Users/yp9846/Desktop/PhysLiteBench/results/hint-comparison-20261014/imported-friend-results-20261015/import-manifest.json</a:t>
            </a:r>
          </a:p>
          <a:p xmlns:a="http://schemas.openxmlformats.org/drawingml/2006/main">
            <a:r>
              <a:t>/Users/yp9846/Desktop/PhysLiteBench/results/hint-comparison-20261014/friend-reuse-amendment-20261015.json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This is the complete thirteen-task roster used in the current comparison. The inherited hydrodynamic-heating and thermoelastic-rod folders are outside the roster. The main experiment keeps task files, public instructions, grading and time limits fixed. The results describe this selected suite, and they do not establish population-wide success rates. A zero out of three observation also leaves substantial uncertainty about a task’s underlying pass probability.</a:t>
            </a:r>
          </a:p>
          <a:p xmlns:a="http://schemas.openxmlformats.org/drawingml/2006/main">
            <a:r>
              <a:t/>
            </a:r>
          </a:p>
          <a:p xmlns:a="http://schemas.openxmlformats.org/drawingml/2006/main">
            <a:r>
              <a:t>Sources:</a:t>
            </a:r>
          </a:p>
          <a:p xmlns:a="http://schemas.openxmlformats.org/drawingml/2006/main">
            <a:r>
              <a:t>/Users/yp9846/Desktop/PhysLiteBench/results/task-roster.json</a:t>
            </a:r>
          </a:p>
          <a:p xmlns:a="http://schemas.openxmlformats.org/drawingml/2006/main">
            <a:r>
              <a:t>/Users/yp9846/Desktop/PhysLiteBench/results/hint-comparison-20261014/plan.json</a:t>
            </a:r>
          </a:p>
          <a:p xmlns:a="http://schemas.openxmlformats.org/drawingml/2006/main">
            <a:r>
              <a:t>/Users/yp9846/Desktop/PhysLiteBench/AGENTS.md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95a128c0ad408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8a96fbc281e4c3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a8e60ebc4a341f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ea96ac0c6f4e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9f263c54bc047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47485806e724e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DAF00F-B395-4BB8-A439-9AA89BEDDA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816860D-B2BB-4679-95BC-EC17130D2C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6704A9-9853-44A6-8B4A-4DC4DB9A47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E75D2A-E789-411F-A213-993328928F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EACEAE-9A1D-4507-A60D-2AE6FC7CF3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CEFAC2-A0C9-4F70-B012-77B95FAB7D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9C7553-1AB5-446B-B4C5-ABBCB0AC29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184D06-C74C-4068-BE3F-45139A68C7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7D4CBD-570B-4FE0-8AC2-C6CC842A2C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CBB10A-755C-4118-A48F-8124498F7F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18f09d14f44485" /><Relationship Type="http://schemas.openxmlformats.org/officeDocument/2006/relationships/slideLayout" Target="/ppt/slideLayouts/slideLayout1.xml" Id="R6b7024b167bc4cd0" /><Relationship Type="http://schemas.openxmlformats.org/officeDocument/2006/relationships/slideLayout" Target="/ppt/slideLayouts/slideLayout2.xml" Id="R2a800aa320e64091" /><Relationship Type="http://schemas.openxmlformats.org/officeDocument/2006/relationships/slideLayout" Target="/ppt/slideLayouts/slideLayout3.xml" Id="R3508b84507ab44d5" /><Relationship Type="http://schemas.openxmlformats.org/officeDocument/2006/relationships/slideLayout" Target="/ppt/slideLayouts/slideLayout4.xml" Id="R3f6b83b2bb8744c2" /><Relationship Type="http://schemas.openxmlformats.org/officeDocument/2006/relationships/slideLayout" Target="/ppt/slideLayouts/slideLayout5.xml" Id="R7af53db5cde54a8c" /><Relationship Type="http://schemas.openxmlformats.org/officeDocument/2006/relationships/slideLayout" Target="/ppt/slideLayouts/slideLayout6.xml" Id="R4f36f1cee8c14b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7024b167bc4cd0"/>
    <p:sldLayoutId xmlns:r="http://schemas.openxmlformats.org/officeDocument/2006/relationships" id="2147483650" r:id="R2a800aa320e64091"/>
    <p:sldLayoutId xmlns:r="http://schemas.openxmlformats.org/officeDocument/2006/relationships" id="2147483651" r:id="R3508b84507ab44d5"/>
    <p:sldLayoutId xmlns:r="http://schemas.openxmlformats.org/officeDocument/2006/relationships" id="2147483652" r:id="R3f6b83b2bb8744c2"/>
    <p:sldLayoutId xmlns:r="http://schemas.openxmlformats.org/officeDocument/2006/relationships" id="2147483653" r:id="R7af53db5cde54a8c"/>
    <p:sldLayoutId xmlns:r="http://schemas.openxmlformats.org/officeDocument/2006/relationships" id="2147483654" r:id="R4f36f1cee8c14b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6b54600d0fe4294" /><Relationship Type="http://schemas.openxmlformats.org/officeDocument/2006/relationships/notesSlide" Target="/ppt/notesSlides/notesSlide1.xml" Id="Rb9efeb4c87434c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4bca88ceb30494f" /><Relationship Type="http://schemas.openxmlformats.org/officeDocument/2006/relationships/notesSlide" Target="/ppt/notesSlides/notesSlide2.xml" Id="R8aafc2982a8048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fe83dc9969d4852" /><Relationship Type="http://schemas.openxmlformats.org/officeDocument/2006/relationships/chart" Target="/ppt/slides/charts/chart1.xml" Id="R0c45aaa25dc44b6b" /><Relationship Type="http://schemas.openxmlformats.org/officeDocument/2006/relationships/chart" Target="/ppt/slides/charts/chart2.xml" Id="R242151f09d8f4b96" /><Relationship Type="http://schemas.openxmlformats.org/officeDocument/2006/relationships/notesSlide" Target="/ppt/notesSlides/notesSlide3.xml" Id="Rcfcf3775e33042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0fc3ec3510243fc" /><Relationship Type="http://schemas.openxmlformats.org/officeDocument/2006/relationships/notesSlide" Target="/ppt/notesSlides/notesSlide4.xml" Id="R4001bb0ac1f948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b9a5cfd271149bd" /><Relationship Type="http://schemas.openxmlformats.org/officeDocument/2006/relationships/notesSlide" Target="/ppt/notesSlides/notesSlide5.xml" Id="Rf085fbd1a6f046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85dcf50f27b4630" /><Relationship Type="http://schemas.openxmlformats.org/officeDocument/2006/relationships/chart" Target="/ppt/slides/charts/chart3.xml" Id="Rcf112d763c284f0a" /><Relationship Type="http://schemas.openxmlformats.org/officeDocument/2006/relationships/notesSlide" Target="/ppt/notesSlides/notesSlide6.xml" Id="R9f7e36e8be634c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dd3b2254c894222" /><Relationship Type="http://schemas.openxmlformats.org/officeDocument/2006/relationships/chart" Target="/ppt/slides/charts/chart4.xml" Id="R4431a7628d7f4684" /><Relationship Type="http://schemas.openxmlformats.org/officeDocument/2006/relationships/notesSlide" Target="/ppt/notesSlides/notesSlide7.xml" Id="Re5c8ce294fe34d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57f2f6dd7714832" /><Relationship Type="http://schemas.openxmlformats.org/officeDocument/2006/relationships/chart" Target="/ppt/slides/charts/chart5.xml" Id="Rafb31c0458ce4626" /><Relationship Type="http://schemas.openxmlformats.org/officeDocument/2006/relationships/notesSlide" Target="/ppt/notesSlides/notesSlide8.xml" Id="R160e8f8e871c4d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8774b21ccdf482d" /><Relationship Type="http://schemas.openxmlformats.org/officeDocument/2006/relationships/notesSlide" Target="/ppt/notesSlides/notesSlide9.xml" Id="R0b14b202f23944c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b57f99ee48643dd" /><Relationship Type="http://schemas.openxmlformats.org/officeDocument/2006/relationships/notesSlide" Target="/ppt/notesSlides/notesSlide10.xml" Id="Rb37f5b0ff21740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b54fdf03e1e4813" /><Relationship Type="http://schemas.openxmlformats.org/officeDocument/2006/relationships/notesSlide" Target="/ppt/notesSlides/notesSlide11.xml" Id="Reb4f993a76ca4d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e7e03e8c69a4918" /><Relationship Type="http://schemas.openxmlformats.org/officeDocument/2006/relationships/notesSlide" Target="/ppt/notesSlides/notesSlide12.xml" Id="R8554d1a9ea724fe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39baa81d789463b" /><Relationship Type="http://schemas.openxmlformats.org/officeDocument/2006/relationships/notesSlide" Target="/ppt/notesSlides/notesSlide13.xml" Id="R2288a5f7fb8145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4961fbc378b484b" /><Relationship Type="http://schemas.openxmlformats.org/officeDocument/2006/relationships/notesSlide" Target="/ppt/notesSlides/notesSlide14.xml" Id="R6be014282e5d4ed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5481f5f0362473c" /><Relationship Type="http://schemas.openxmlformats.org/officeDocument/2006/relationships/notesSlide" Target="/ppt/notesSlides/notesSlide15.xml" Id="Ra884b7a81aaf443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1a172bc0ab84baa" /><Relationship Type="http://schemas.openxmlformats.org/officeDocument/2006/relationships/notesSlide" Target="/ppt/notesSlides/notesSlide16.xml" Id="Re22ae87977e94d5b" /></Relationships>
</file>

<file path=ppt/slides/charts/_rels/chart1.xml.rels><Relationships xmlns="http://schemas.openxmlformats.org/package/2006/relationships"><Relationship Id="rIdChartSnapshot1" Type="http://schemas.openxmlformats.org/officeDocument/2006/relationships/package" Target="../../embeddings/chart-data-snapshot-004.xlsx"/></Relationships>
</file>

<file path=ppt/slides/charts/_rels/chart2.xml.rels><Relationships xmlns="http://schemas.openxmlformats.org/package/2006/relationships"><Relationship Id="rIdChartSnapshot1" Type="http://schemas.openxmlformats.org/officeDocument/2006/relationships/package" Target="../../embeddings/chart-data-snapshot-005.xlsx"/></Relationships>
</file>

<file path=ppt/slides/charts/_rels/chart3.xml.rels><Relationships xmlns="http://schemas.openxmlformats.org/package/2006/relationships"><Relationship Id="rIdChartSnapshot1" Type="http://schemas.openxmlformats.org/officeDocument/2006/relationships/package" Target="../../embeddings/chart-data-snapshot-001.xlsx"/></Relationships>
</file>

<file path=ppt/slides/charts/_rels/chart4.xml.rels><Relationships xmlns="http://schemas.openxmlformats.org/package/2006/relationships"><Relationship Id="rIdChartSnapshot1" Type="http://schemas.openxmlformats.org/officeDocument/2006/relationships/package" Target="../../embeddings/chart-data-snapshot-002.xlsx"/></Relationships>
</file>

<file path=ppt/slides/charts/_rels/chart5.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s = −1</c:v>
          </c:tx>
          <c:spPr>
            <a:ln xmlns:a="http://schemas.openxmlformats.org/drawingml/2006/main" w="22860">
              <a:solidFill>
                <a:srgbClr val="1D4E89"/>
              </a:solidFill>
            </a:ln>
          </c:spPr>
          <c:marker>
            <c:symbol val="none"/>
          </c:marker>
          <c:dLbls>
            <c:txPr>
              <a:bodyPr xmlns:a="http://schemas.openxmlformats.org/drawingml/2006/main" anchorCtr="1"/>
              <a:lstStyle xmlns:a="http://schemas.openxmlformats.org/drawingml/2006/main"/>
              <a:p xmlns:a="http://schemas.openxmlformats.org/drawingml/2006/main">
                <a:pPr>
                  <a:defRPr sz="1350">
                    <a:latin typeface="Times New Roman"/>
                    <a:ea typeface="Times New Roman"/>
                    <a:cs typeface="Times New Roman"/>
                  </a:defRPr>
                </a:pPr>
              </a:p>
            </c:txPr>
            <c:showLegendKey val="0"/>
            <c:showVal val="0"/>
            <c:showCatName val="0"/>
            <c:showSerName val="0"/>
            <c:showPercent val="0"/>
            <c:showBubbleSize val="0"/>
            <c:showLeaderLines val="0"/>
          </c:dLbls>
          <c:xVal>
            <c:numRef>
              <c:f>'Chart Data'!$A$2:$A$34</c:f>
              <c:numCache>
                <c:formatCode>General</c:formatCode>
                <c:ptCount val="33"/>
                <c:pt idx="0">
                  <c:v>0</c:v>
                </c:pt>
                <c:pt idx="1">
                  <c:v>0.03125</c:v>
                </c:pt>
                <c:pt idx="2">
                  <c:v>0.0625</c:v>
                </c:pt>
                <c:pt idx="3">
                  <c:v>0.09375</c:v>
                </c:pt>
                <c:pt idx="4">
                  <c:v>0.125</c:v>
                </c:pt>
                <c:pt idx="5">
                  <c:v>0.15625</c:v>
                </c:pt>
                <c:pt idx="6">
                  <c:v>0.1875</c:v>
                </c:pt>
                <c:pt idx="7">
                  <c:v>0.21875</c:v>
                </c:pt>
                <c:pt idx="8">
                  <c:v>0.25</c:v>
                </c:pt>
                <c:pt idx="9">
                  <c:v>0.28125</c:v>
                </c:pt>
                <c:pt idx="10">
                  <c:v>0.3125</c:v>
                </c:pt>
                <c:pt idx="11">
                  <c:v>0.34375</c:v>
                </c:pt>
                <c:pt idx="12">
                  <c:v>0.375</c:v>
                </c:pt>
                <c:pt idx="13">
                  <c:v>0.40625</c:v>
                </c:pt>
                <c:pt idx="14">
                  <c:v>0.4375</c:v>
                </c:pt>
                <c:pt idx="15">
                  <c:v>0.46875</c:v>
                </c:pt>
                <c:pt idx="16">
                  <c:v>0.5</c:v>
                </c:pt>
                <c:pt idx="17">
                  <c:v>0.53125</c:v>
                </c:pt>
                <c:pt idx="18">
                  <c:v>0.5625</c:v>
                </c:pt>
                <c:pt idx="19">
                  <c:v>0.59375</c:v>
                </c:pt>
                <c:pt idx="20">
                  <c:v>0.625</c:v>
                </c:pt>
                <c:pt idx="21">
                  <c:v>0.65625</c:v>
                </c:pt>
                <c:pt idx="22">
                  <c:v>0.6875</c:v>
                </c:pt>
                <c:pt idx="23">
                  <c:v>0.71875</c:v>
                </c:pt>
                <c:pt idx="24">
                  <c:v>0.75</c:v>
                </c:pt>
                <c:pt idx="25">
                  <c:v>0.78125</c:v>
                </c:pt>
                <c:pt idx="26">
                  <c:v>0.8125</c:v>
                </c:pt>
                <c:pt idx="27">
                  <c:v>0.84375</c:v>
                </c:pt>
                <c:pt idx="28">
                  <c:v>0.875</c:v>
                </c:pt>
                <c:pt idx="29">
                  <c:v>0.90625</c:v>
                </c:pt>
                <c:pt idx="30">
                  <c:v>0.9375</c:v>
                </c:pt>
                <c:pt idx="31">
                  <c:v>0.96875</c:v>
                </c:pt>
                <c:pt idx="32">
                  <c:v>1</c:v>
                </c:pt>
              </c:numCache>
            </c:numRef>
          </c:xVal>
          <c:yVal>
            <c:numRef>
              <c:f>'Chart Data'!$B$2:$B$34</c:f>
              <c:numCache>
                <c:formatCode>General</c:formatCode>
                <c:ptCount val="33"/>
                <c:pt idx="0">
                  <c:v>0.84</c:v>
                </c:pt>
                <c:pt idx="1">
                  <c:v>0.835388467</c:v>
                </c:pt>
                <c:pt idx="2">
                  <c:v>0.821731088</c:v>
                </c:pt>
                <c:pt idx="3">
                  <c:v>0.799552707</c:v>
                </c:pt>
                <c:pt idx="4">
                  <c:v>0.769705627</c:v>
                </c:pt>
                <c:pt idx="5">
                  <c:v>0.733336856</c:v>
                </c:pt>
                <c:pt idx="6">
                  <c:v>0.691844024</c:v>
                </c:pt>
                <c:pt idx="7">
                  <c:v>0.646821677</c:v>
                </c:pt>
                <c:pt idx="8">
                  <c:v>0.6</c:v>
                </c:pt>
                <c:pt idx="9">
                  <c:v>0.553178323</c:v>
                </c:pt>
                <c:pt idx="10">
                  <c:v>0.508155976</c:v>
                </c:pt>
                <c:pt idx="11">
                  <c:v>0.466663144</c:v>
                </c:pt>
                <c:pt idx="12">
                  <c:v>0.430294373</c:v>
                </c:pt>
                <c:pt idx="13">
                  <c:v>0.400447293</c:v>
                </c:pt>
                <c:pt idx="14">
                  <c:v>0.378268912</c:v>
                </c:pt>
                <c:pt idx="15">
                  <c:v>0.364611533</c:v>
                </c:pt>
                <c:pt idx="16">
                  <c:v>0.36</c:v>
                </c:pt>
                <c:pt idx="17">
                  <c:v>0.364611533</c:v>
                </c:pt>
                <c:pt idx="18">
                  <c:v>0.378268912</c:v>
                </c:pt>
                <c:pt idx="19">
                  <c:v>0.400447293</c:v>
                </c:pt>
                <c:pt idx="20">
                  <c:v>0.430294373</c:v>
                </c:pt>
                <c:pt idx="21">
                  <c:v>0.466663144</c:v>
                </c:pt>
                <c:pt idx="22">
                  <c:v>0.508155976</c:v>
                </c:pt>
                <c:pt idx="23">
                  <c:v>0.553178323</c:v>
                </c:pt>
                <c:pt idx="24">
                  <c:v>0.6</c:v>
                </c:pt>
                <c:pt idx="25">
                  <c:v>0.646821677</c:v>
                </c:pt>
                <c:pt idx="26">
                  <c:v>0.691844024</c:v>
                </c:pt>
                <c:pt idx="27">
                  <c:v>0.733336856</c:v>
                </c:pt>
                <c:pt idx="28">
                  <c:v>0.769705627</c:v>
                </c:pt>
                <c:pt idx="29">
                  <c:v>0.799552707</c:v>
                </c:pt>
                <c:pt idx="30">
                  <c:v>0.821731088</c:v>
                </c:pt>
                <c:pt idx="31">
                  <c:v>0.835388467</c:v>
                </c:pt>
                <c:pt idx="32">
                  <c:v>0.84</c:v>
                </c:pt>
              </c:numCache>
            </c:numRef>
          </c:yVal>
        </c:ser>
        <c:ser>
          <c:idx val="1"/>
          <c:order val="1"/>
          <c:tx>
            <c:v>s = 0</c:v>
          </c:tx>
          <c:spPr>
            <a:ln xmlns:a="http://schemas.openxmlformats.org/drawingml/2006/main" w="22860">
              <a:solidFill>
                <a:srgbClr val="777777"/>
              </a:solidFill>
            </a:ln>
          </c:spPr>
          <c:marker>
            <c:symbol val="none"/>
          </c:marker>
          <c:dLbls>
            <c:txPr>
              <a:bodyPr xmlns:a="http://schemas.openxmlformats.org/drawingml/2006/main" anchorCtr="1"/>
              <a:lstStyle xmlns:a="http://schemas.openxmlformats.org/drawingml/2006/main"/>
              <a:p xmlns:a="http://schemas.openxmlformats.org/drawingml/2006/main">
                <a:pPr>
                  <a:defRPr sz="1350">
                    <a:latin typeface="Times New Roman"/>
                    <a:ea typeface="Times New Roman"/>
                    <a:cs typeface="Times New Roman"/>
                  </a:defRPr>
                </a:pPr>
              </a:p>
            </c:txPr>
            <c:showLegendKey val="0"/>
            <c:showVal val="0"/>
            <c:showCatName val="0"/>
            <c:showSerName val="0"/>
            <c:showPercent val="0"/>
            <c:showBubbleSize val="0"/>
            <c:showLeaderLines val="0"/>
          </c:dLbls>
          <c:xVal>
            <c:numRef>
              <c:f>'Chart Data'!$C$2:$C$34</c:f>
              <c:numCache>
                <c:formatCode>General</c:formatCode>
                <c:ptCount val="33"/>
                <c:pt idx="0">
                  <c:v>0</c:v>
                </c:pt>
                <c:pt idx="1">
                  <c:v>0.03125</c:v>
                </c:pt>
                <c:pt idx="2">
                  <c:v>0.0625</c:v>
                </c:pt>
                <c:pt idx="3">
                  <c:v>0.09375</c:v>
                </c:pt>
                <c:pt idx="4">
                  <c:v>0.125</c:v>
                </c:pt>
                <c:pt idx="5">
                  <c:v>0.15625</c:v>
                </c:pt>
                <c:pt idx="6">
                  <c:v>0.1875</c:v>
                </c:pt>
                <c:pt idx="7">
                  <c:v>0.21875</c:v>
                </c:pt>
                <c:pt idx="8">
                  <c:v>0.25</c:v>
                </c:pt>
                <c:pt idx="9">
                  <c:v>0.28125</c:v>
                </c:pt>
                <c:pt idx="10">
                  <c:v>0.3125</c:v>
                </c:pt>
                <c:pt idx="11">
                  <c:v>0.34375</c:v>
                </c:pt>
                <c:pt idx="12">
                  <c:v>0.375</c:v>
                </c:pt>
                <c:pt idx="13">
                  <c:v>0.40625</c:v>
                </c:pt>
                <c:pt idx="14">
                  <c:v>0.4375</c:v>
                </c:pt>
                <c:pt idx="15">
                  <c:v>0.46875</c:v>
                </c:pt>
                <c:pt idx="16">
                  <c:v>0.5</c:v>
                </c:pt>
                <c:pt idx="17">
                  <c:v>0.53125</c:v>
                </c:pt>
                <c:pt idx="18">
                  <c:v>0.5625</c:v>
                </c:pt>
                <c:pt idx="19">
                  <c:v>0.59375</c:v>
                </c:pt>
                <c:pt idx="20">
                  <c:v>0.625</c:v>
                </c:pt>
                <c:pt idx="21">
                  <c:v>0.65625</c:v>
                </c:pt>
                <c:pt idx="22">
                  <c:v>0.6875</c:v>
                </c:pt>
                <c:pt idx="23">
                  <c:v>0.71875</c:v>
                </c:pt>
                <c:pt idx="24">
                  <c:v>0.75</c:v>
                </c:pt>
                <c:pt idx="25">
                  <c:v>0.78125</c:v>
                </c:pt>
                <c:pt idx="26">
                  <c:v>0.8125</c:v>
                </c:pt>
                <c:pt idx="27">
                  <c:v>0.84375</c:v>
                </c:pt>
                <c:pt idx="28">
                  <c:v>0.875</c:v>
                </c:pt>
                <c:pt idx="29">
                  <c:v>0.90625</c:v>
                </c:pt>
                <c:pt idx="30">
                  <c:v>0.9375</c:v>
                </c:pt>
                <c:pt idx="31">
                  <c:v>0.96875</c:v>
                </c:pt>
                <c:pt idx="32">
                  <c:v>1</c:v>
                </c:pt>
              </c:numCache>
            </c:numRef>
          </c:xVal>
          <c:yVal>
            <c:numRef>
              <c:f>'Chart Data'!$D$2:$D$34</c:f>
              <c:numCache>
                <c:formatCode>General</c:formatCode>
                <c:ptCount val="33"/>
                <c:pt idx="0">
                  <c:v>1.4</c:v>
                </c:pt>
                <c:pt idx="1">
                  <c:v>1.392314112</c:v>
                </c:pt>
                <c:pt idx="2">
                  <c:v>1.369551813</c:v>
                </c:pt>
                <c:pt idx="3">
                  <c:v>1.332587845</c:v>
                </c:pt>
                <c:pt idx="4">
                  <c:v>1.282842712</c:v>
                </c:pt>
                <c:pt idx="5">
                  <c:v>1.222228093</c:v>
                </c:pt>
                <c:pt idx="6">
                  <c:v>1.153073373</c:v>
                </c:pt>
                <c:pt idx="7">
                  <c:v>1.078036129</c:v>
                </c:pt>
                <c:pt idx="8">
                  <c:v>1</c:v>
                </c:pt>
                <c:pt idx="9">
                  <c:v>0.921963871</c:v>
                </c:pt>
                <c:pt idx="10">
                  <c:v>0.846926627</c:v>
                </c:pt>
                <c:pt idx="11">
                  <c:v>0.777771907</c:v>
                </c:pt>
                <c:pt idx="12">
                  <c:v>0.717157288</c:v>
                </c:pt>
                <c:pt idx="13">
                  <c:v>0.667412155</c:v>
                </c:pt>
                <c:pt idx="14">
                  <c:v>0.630448187</c:v>
                </c:pt>
                <c:pt idx="15">
                  <c:v>0.607685888</c:v>
                </c:pt>
                <c:pt idx="16">
                  <c:v>0.6</c:v>
                </c:pt>
                <c:pt idx="17">
                  <c:v>0.607685888</c:v>
                </c:pt>
                <c:pt idx="18">
                  <c:v>0.630448187</c:v>
                </c:pt>
                <c:pt idx="19">
                  <c:v>0.667412155</c:v>
                </c:pt>
                <c:pt idx="20">
                  <c:v>0.717157288</c:v>
                </c:pt>
                <c:pt idx="21">
                  <c:v>0.777771907</c:v>
                </c:pt>
                <c:pt idx="22">
                  <c:v>0.846926627</c:v>
                </c:pt>
                <c:pt idx="23">
                  <c:v>0.921963871</c:v>
                </c:pt>
                <c:pt idx="24">
                  <c:v>1</c:v>
                </c:pt>
                <c:pt idx="25">
                  <c:v>1.078036129</c:v>
                </c:pt>
                <c:pt idx="26">
                  <c:v>1.153073373</c:v>
                </c:pt>
                <c:pt idx="27">
                  <c:v>1.222228093</c:v>
                </c:pt>
                <c:pt idx="28">
                  <c:v>1.282842712</c:v>
                </c:pt>
                <c:pt idx="29">
                  <c:v>1.332587845</c:v>
                </c:pt>
                <c:pt idx="30">
                  <c:v>1.369551813</c:v>
                </c:pt>
                <c:pt idx="31">
                  <c:v>1.392314112</c:v>
                </c:pt>
                <c:pt idx="32">
                  <c:v>1.4</c:v>
                </c:pt>
              </c:numCache>
            </c:numRef>
          </c:yVal>
        </c:ser>
        <c:ser>
          <c:idx val="2"/>
          <c:order val="2"/>
          <c:tx>
            <c:v>s = +1</c:v>
          </c:tx>
          <c:spPr>
            <a:ln xmlns:a="http://schemas.openxmlformats.org/drawingml/2006/main" w="22860">
              <a:solidFill>
                <a:srgbClr val="A50026"/>
              </a:solidFill>
            </a:ln>
          </c:spPr>
          <c:marker>
            <c:symbol val="none"/>
          </c:marker>
          <c:dLbls>
            <c:txPr>
              <a:bodyPr xmlns:a="http://schemas.openxmlformats.org/drawingml/2006/main" anchorCtr="1"/>
              <a:lstStyle xmlns:a="http://schemas.openxmlformats.org/drawingml/2006/main"/>
              <a:p xmlns:a="http://schemas.openxmlformats.org/drawingml/2006/main">
                <a:pPr>
                  <a:defRPr sz="1350">
                    <a:latin typeface="Times New Roman"/>
                    <a:ea typeface="Times New Roman"/>
                    <a:cs typeface="Times New Roman"/>
                  </a:defRPr>
                </a:pPr>
              </a:p>
            </c:txPr>
            <c:showLegendKey val="0"/>
            <c:showVal val="0"/>
            <c:showCatName val="0"/>
            <c:showSerName val="0"/>
            <c:showPercent val="0"/>
            <c:showBubbleSize val="0"/>
            <c:showLeaderLines val="0"/>
          </c:dLbls>
          <c:xVal>
            <c:numRef>
              <c:f>'Chart Data'!$E$2:$E$34</c:f>
              <c:numCache>
                <c:formatCode>General</c:formatCode>
                <c:ptCount val="33"/>
                <c:pt idx="0">
                  <c:v>0</c:v>
                </c:pt>
                <c:pt idx="1">
                  <c:v>0.03125</c:v>
                </c:pt>
                <c:pt idx="2">
                  <c:v>0.0625</c:v>
                </c:pt>
                <c:pt idx="3">
                  <c:v>0.09375</c:v>
                </c:pt>
                <c:pt idx="4">
                  <c:v>0.125</c:v>
                </c:pt>
                <c:pt idx="5">
                  <c:v>0.15625</c:v>
                </c:pt>
                <c:pt idx="6">
                  <c:v>0.1875</c:v>
                </c:pt>
                <c:pt idx="7">
                  <c:v>0.21875</c:v>
                </c:pt>
                <c:pt idx="8">
                  <c:v>0.25</c:v>
                </c:pt>
                <c:pt idx="9">
                  <c:v>0.28125</c:v>
                </c:pt>
                <c:pt idx="10">
                  <c:v>0.3125</c:v>
                </c:pt>
                <c:pt idx="11">
                  <c:v>0.34375</c:v>
                </c:pt>
                <c:pt idx="12">
                  <c:v>0.375</c:v>
                </c:pt>
                <c:pt idx="13">
                  <c:v>0.40625</c:v>
                </c:pt>
                <c:pt idx="14">
                  <c:v>0.4375</c:v>
                </c:pt>
                <c:pt idx="15">
                  <c:v>0.46875</c:v>
                </c:pt>
                <c:pt idx="16">
                  <c:v>0.5</c:v>
                </c:pt>
                <c:pt idx="17">
                  <c:v>0.53125</c:v>
                </c:pt>
                <c:pt idx="18">
                  <c:v>0.5625</c:v>
                </c:pt>
                <c:pt idx="19">
                  <c:v>0.59375</c:v>
                </c:pt>
                <c:pt idx="20">
                  <c:v>0.625</c:v>
                </c:pt>
                <c:pt idx="21">
                  <c:v>0.65625</c:v>
                </c:pt>
                <c:pt idx="22">
                  <c:v>0.6875</c:v>
                </c:pt>
                <c:pt idx="23">
                  <c:v>0.71875</c:v>
                </c:pt>
                <c:pt idx="24">
                  <c:v>0.75</c:v>
                </c:pt>
                <c:pt idx="25">
                  <c:v>0.78125</c:v>
                </c:pt>
                <c:pt idx="26">
                  <c:v>0.8125</c:v>
                </c:pt>
                <c:pt idx="27">
                  <c:v>0.84375</c:v>
                </c:pt>
                <c:pt idx="28">
                  <c:v>0.875</c:v>
                </c:pt>
                <c:pt idx="29">
                  <c:v>0.90625</c:v>
                </c:pt>
                <c:pt idx="30">
                  <c:v>0.9375</c:v>
                </c:pt>
                <c:pt idx="31">
                  <c:v>0.96875</c:v>
                </c:pt>
                <c:pt idx="32">
                  <c:v>1</c:v>
                </c:pt>
              </c:numCache>
            </c:numRef>
          </c:xVal>
          <c:yVal>
            <c:numRef>
              <c:f>'Chart Data'!$F$2:$F$34</c:f>
              <c:numCache>
                <c:formatCode>General</c:formatCode>
                <c:ptCount val="33"/>
                <c:pt idx="0">
                  <c:v>1.96</c:v>
                </c:pt>
                <c:pt idx="1">
                  <c:v>1.949239757</c:v>
                </c:pt>
                <c:pt idx="2">
                  <c:v>1.917372538</c:v>
                </c:pt>
                <c:pt idx="3">
                  <c:v>1.865622983</c:v>
                </c:pt>
                <c:pt idx="4">
                  <c:v>1.795979797</c:v>
                </c:pt>
                <c:pt idx="5">
                  <c:v>1.71111933</c:v>
                </c:pt>
                <c:pt idx="6">
                  <c:v>1.614302722</c:v>
                </c:pt>
                <c:pt idx="7">
                  <c:v>1.50925058</c:v>
                </c:pt>
                <c:pt idx="8">
                  <c:v>1.4</c:v>
                </c:pt>
                <c:pt idx="9">
                  <c:v>1.29074942</c:v>
                </c:pt>
                <c:pt idx="10">
                  <c:v>1.185697278</c:v>
                </c:pt>
                <c:pt idx="11">
                  <c:v>1.08888067</c:v>
                </c:pt>
                <c:pt idx="12">
                  <c:v>1.004020203</c:v>
                </c:pt>
                <c:pt idx="13">
                  <c:v>0.934377017</c:v>
                </c:pt>
                <c:pt idx="14">
                  <c:v>0.882627462</c:v>
                </c:pt>
                <c:pt idx="15">
                  <c:v>0.850760243</c:v>
                </c:pt>
                <c:pt idx="16">
                  <c:v>0.84</c:v>
                </c:pt>
                <c:pt idx="17">
                  <c:v>0.850760243</c:v>
                </c:pt>
                <c:pt idx="18">
                  <c:v>0.882627462</c:v>
                </c:pt>
                <c:pt idx="19">
                  <c:v>0.934377017</c:v>
                </c:pt>
                <c:pt idx="20">
                  <c:v>1.004020203</c:v>
                </c:pt>
                <c:pt idx="21">
                  <c:v>1.08888067</c:v>
                </c:pt>
                <c:pt idx="22">
                  <c:v>1.185697278</c:v>
                </c:pt>
                <c:pt idx="23">
                  <c:v>1.29074942</c:v>
                </c:pt>
                <c:pt idx="24">
                  <c:v>1.4</c:v>
                </c:pt>
                <c:pt idx="25">
                  <c:v>1.50925058</c:v>
                </c:pt>
                <c:pt idx="26">
                  <c:v>1.614302722</c:v>
                </c:pt>
                <c:pt idx="27">
                  <c:v>1.71111933</c:v>
                </c:pt>
                <c:pt idx="28">
                  <c:v>1.795979797</c:v>
                </c:pt>
                <c:pt idx="29">
                  <c:v>1.865622983</c:v>
                </c:pt>
                <c:pt idx="30">
                  <c:v>1.917372538</c:v>
                </c:pt>
                <c:pt idx="31">
                  <c:v>1.949239757</c:v>
                </c:pt>
                <c:pt idx="32">
                  <c:v>1.96</c:v>
                </c:pt>
              </c:numCache>
            </c:numRef>
          </c:yVal>
        </c:ser>
        <c:dLbls>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
        </c:scaling>
        <c:delete val="0"/>
        <c:axPos val="l"/>
        <c:majorGridlines>
          <c:spPr>
            <a:ln xmlns:a="http://schemas.openxmlformats.org/drawingml/2006/main" w="6668">
              <a:solidFill>
                <a:srgbClr val="D1D5DB"/>
              </a:solidFill>
              <a:prstDash val="solid"/>
            </a:ln>
          </c:spPr>
        </c:majorGridlines>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Tₛ(x)</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Times New Roman"/>
                <a:ea typeface="Times New Roman"/>
                <a:cs typeface="Times New Roman"/>
              </a:defRPr>
            </a:pPr>
          </a:p>
        </c:txPr>
        <c:crossAx val="48650112"/>
        <c:majorUnit val="1"/>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x / (2π)</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Times New Roman"/>
                <a:ea typeface="Times New Roman"/>
                <a:cs typeface="Times New Roman"/>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Times New Roman"/>
              <a:ea typeface="Times New Roman"/>
              <a:cs typeface="Times New Roman"/>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Detector weight</c:v>
          </c:tx>
          <c:spPr>
            <a:ln xmlns:a="http://schemas.openxmlformats.org/drawingml/2006/main" w="23813">
              <a:solidFill>
                <a:srgbClr val="0F766E"/>
              </a:solidFill>
            </a:ln>
          </c:spPr>
          <c:marker>
            <c:symbol val="none"/>
          </c:marker>
          <c:dLbls>
            <c:txPr>
              <a:bodyPr xmlns:a="http://schemas.openxmlformats.org/drawingml/2006/main" anchorCtr="1"/>
              <a:lstStyle xmlns:a="http://schemas.openxmlformats.org/drawingml/2006/main"/>
              <a:p xmlns:a="http://schemas.openxmlformats.org/drawingml/2006/main">
                <a:pPr>
                  <a:defRPr sz="1350">
                    <a:latin typeface="Times New Roman"/>
                    <a:ea typeface="Times New Roman"/>
                    <a:cs typeface="Times New Roman"/>
                  </a:defRPr>
                </a:pPr>
              </a:p>
            </c:txPr>
            <c:showLegendKey val="0"/>
            <c:showVal val="0"/>
            <c:showCatName val="0"/>
            <c:showSerName val="0"/>
            <c:showPercent val="0"/>
            <c:showBubbleSize val="0"/>
            <c:showLeaderLines val="0"/>
          </c:dLbls>
          <c:xVal>
            <c:numRef>
              <c:f>'Chart Data'!$A$2:$A$34</c:f>
              <c:numCache>
                <c:formatCode>General</c:formatCode>
                <c:ptCount val="33"/>
                <c:pt idx="0">
                  <c:v>0</c:v>
                </c:pt>
                <c:pt idx="1">
                  <c:v>0.03125</c:v>
                </c:pt>
                <c:pt idx="2">
                  <c:v>0.0625</c:v>
                </c:pt>
                <c:pt idx="3">
                  <c:v>0.09375</c:v>
                </c:pt>
                <c:pt idx="4">
                  <c:v>0.125</c:v>
                </c:pt>
                <c:pt idx="5">
                  <c:v>0.15625</c:v>
                </c:pt>
                <c:pt idx="6">
                  <c:v>0.1875</c:v>
                </c:pt>
                <c:pt idx="7">
                  <c:v>0.21875</c:v>
                </c:pt>
                <c:pt idx="8">
                  <c:v>0.25</c:v>
                </c:pt>
                <c:pt idx="9">
                  <c:v>0.28125</c:v>
                </c:pt>
                <c:pt idx="10">
                  <c:v>0.3125</c:v>
                </c:pt>
                <c:pt idx="11">
                  <c:v>0.34375</c:v>
                </c:pt>
                <c:pt idx="12">
                  <c:v>0.375</c:v>
                </c:pt>
                <c:pt idx="13">
                  <c:v>0.40625</c:v>
                </c:pt>
                <c:pt idx="14">
                  <c:v>0.4375</c:v>
                </c:pt>
                <c:pt idx="15">
                  <c:v>0.46875</c:v>
                </c:pt>
                <c:pt idx="16">
                  <c:v>0.5</c:v>
                </c:pt>
                <c:pt idx="17">
                  <c:v>0.53125</c:v>
                </c:pt>
                <c:pt idx="18">
                  <c:v>0.5625</c:v>
                </c:pt>
                <c:pt idx="19">
                  <c:v>0.59375</c:v>
                </c:pt>
                <c:pt idx="20">
                  <c:v>0.625</c:v>
                </c:pt>
                <c:pt idx="21">
                  <c:v>0.65625</c:v>
                </c:pt>
                <c:pt idx="22">
                  <c:v>0.6875</c:v>
                </c:pt>
                <c:pt idx="23">
                  <c:v>0.71875</c:v>
                </c:pt>
                <c:pt idx="24">
                  <c:v>0.75</c:v>
                </c:pt>
                <c:pt idx="25">
                  <c:v>0.78125</c:v>
                </c:pt>
                <c:pt idx="26">
                  <c:v>0.8125</c:v>
                </c:pt>
                <c:pt idx="27">
                  <c:v>0.84375</c:v>
                </c:pt>
                <c:pt idx="28">
                  <c:v>0.875</c:v>
                </c:pt>
                <c:pt idx="29">
                  <c:v>0.90625</c:v>
                </c:pt>
                <c:pt idx="30">
                  <c:v>0.9375</c:v>
                </c:pt>
                <c:pt idx="31">
                  <c:v>0.96875</c:v>
                </c:pt>
                <c:pt idx="32">
                  <c:v>1</c:v>
                </c:pt>
              </c:numCache>
            </c:numRef>
          </c:xVal>
          <c:yVal>
            <c:numRef>
              <c:f>'Chart Data'!$B$2:$B$34</c:f>
              <c:numCache>
                <c:formatCode>General</c:formatCode>
                <c:ptCount val="33"/>
                <c:pt idx="0">
                  <c:v>1</c:v>
                </c:pt>
                <c:pt idx="1">
                  <c:v>0.99039264</c:v>
                </c:pt>
                <c:pt idx="2">
                  <c:v>0.961939766</c:v>
                </c:pt>
                <c:pt idx="3">
                  <c:v>0.915734806</c:v>
                </c:pt>
                <c:pt idx="4">
                  <c:v>0.853553391</c:v>
                </c:pt>
                <c:pt idx="5">
                  <c:v>0.777785117</c:v>
                </c:pt>
                <c:pt idx="6">
                  <c:v>0.691341716</c:v>
                </c:pt>
                <c:pt idx="7">
                  <c:v>0.597545161</c:v>
                </c:pt>
                <c:pt idx="8">
                  <c:v>0.5</c:v>
                </c:pt>
                <c:pt idx="9">
                  <c:v>0.402454839</c:v>
                </c:pt>
                <c:pt idx="10">
                  <c:v>0.308658284</c:v>
                </c:pt>
                <c:pt idx="11">
                  <c:v>0.222214883</c:v>
                </c:pt>
                <c:pt idx="12">
                  <c:v>0.146446609</c:v>
                </c:pt>
                <c:pt idx="13">
                  <c:v>0.084265194</c:v>
                </c:pt>
                <c:pt idx="14">
                  <c:v>0.038060234</c:v>
                </c:pt>
                <c:pt idx="15">
                  <c:v>0.00960736</c:v>
                </c:pt>
                <c:pt idx="16">
                  <c:v>0</c:v>
                </c:pt>
                <c:pt idx="17">
                  <c:v>0.00960736</c:v>
                </c:pt>
                <c:pt idx="18">
                  <c:v>0.038060234</c:v>
                </c:pt>
                <c:pt idx="19">
                  <c:v>0.084265194</c:v>
                </c:pt>
                <c:pt idx="20">
                  <c:v>0.146446609</c:v>
                </c:pt>
                <c:pt idx="21">
                  <c:v>0.222214883</c:v>
                </c:pt>
                <c:pt idx="22">
                  <c:v>0.308658284</c:v>
                </c:pt>
                <c:pt idx="23">
                  <c:v>0.402454839</c:v>
                </c:pt>
                <c:pt idx="24">
                  <c:v>0.5</c:v>
                </c:pt>
                <c:pt idx="25">
                  <c:v>0.597545161</c:v>
                </c:pt>
                <c:pt idx="26">
                  <c:v>0.691341716</c:v>
                </c:pt>
                <c:pt idx="27">
                  <c:v>0.777785117</c:v>
                </c:pt>
                <c:pt idx="28">
                  <c:v>0.853553391</c:v>
                </c:pt>
                <c:pt idx="29">
                  <c:v>0.915734806</c:v>
                </c:pt>
                <c:pt idx="30">
                  <c:v>0.961939766</c:v>
                </c:pt>
                <c:pt idx="31">
                  <c:v>0.99039264</c:v>
                </c:pt>
                <c:pt idx="32">
                  <c:v>1</c:v>
                </c:pt>
              </c:numCache>
            </c:numRef>
          </c:yVal>
        </c:ser>
        <c:dLbls>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6668">
              <a:solidFill>
                <a:srgbClr val="D1D5DB"/>
              </a:solidFill>
              <a:prstDash val="solid"/>
            </a:ln>
          </c:spPr>
        </c:majorGridlines>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w(x)</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Times New Roman"/>
                <a:ea typeface="Times New Roman"/>
                <a:cs typeface="Times New Roman"/>
              </a:defRPr>
            </a:pPr>
          </a:p>
        </c:txPr>
        <c:crossAx val="48650112"/>
        <c:majorUnit val="0.5"/>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x / (2π)</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Times New Roman"/>
                <a:ea typeface="Times New Roman"/>
                <a:cs typeface="Times New Roman"/>
              </a:defRPr>
            </a:pPr>
          </a:p>
        </c:txPr>
        <c:crossAx val="48672768"/>
        <c:majorUnit val="0.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a="http://schemas.openxmlformats.org/drawingml/2006/main" xmlns:c="http://schemas.openxmlformats.org/drawingml/2006/chart" xmlns:r="http://schemas.openxmlformats.org/officeDocument/2006/relationships">
  <c:lang val="en-US"/>
  <c:chart>
    <c:plotArea>
      <c:scatterChart>
        <c:scatterStyle val="lineMarker"/>
        <c:varyColors val="0"/>
        <c:ser>
          <c:idx val="0"/>
          <c:order val="0"/>
          <c:tx>
            <c:v>Observed frontier</c:v>
          </c:tx>
          <c:spPr>
            <a:ln w="19050">
              <a:solidFill>
                <a:srgbClr val="0F766E"/>
              </a:solidFill>
              <a:prstDash val="dash"/>
            </a:ln>
          </c:spPr>
          <c:marker>
            <c:symbol val="none"/>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Data'!$A$2:$A$5</c:f>
              <c:numCache>
                <c:formatCode>General</c:formatCode>
                <c:ptCount val="4"/>
                <c:pt idx="0">
                  <c:v>0.004017401</c:v>
                </c:pt>
                <c:pt idx="1">
                  <c:v>0.012608159</c:v>
                </c:pt>
                <c:pt idx="2">
                  <c:v>0.077331221</c:v>
                </c:pt>
                <c:pt idx="3">
                  <c:v>0.19754441</c:v>
                </c:pt>
              </c:numCache>
            </c:numRef>
          </c:xVal>
          <c:yVal>
            <c:numRef>
              <c:f>'Chart Data'!$B$2:$B$5</c:f>
              <c:numCache>
                <c:formatCode>0%</c:formatCode>
                <c:ptCount val="4"/>
                <c:pt idx="0">
                  <c:v>0.102564103</c:v>
                </c:pt>
                <c:pt idx="1">
                  <c:v>0.307692308</c:v>
                </c:pt>
                <c:pt idx="2">
                  <c:v>0.948717949</c:v>
                </c:pt>
                <c:pt idx="3">
                  <c:v>1</c:v>
                </c:pt>
              </c:numCache>
            </c:numRef>
          </c:yVal>
        </c:ser>
        <c:ser>
          <c:idx val="1"/>
          <c:order val="1"/>
          <c:tx>
            <c:v>GPT-6 Luna Low</c:v>
          </c:tx>
          <c:spPr>
            <a:ln w="0">
              <a:noFill/>
            </a:ln>
          </c:spPr>
          <c:marker>
            <c:symbol val="circle"/>
            <c:size val="12"/>
            <c:spPr>
              <a:solidFill>
                <a:srgbClr val="1D4E8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Data'!$C$2:$C$2</c:f>
              <c:numCache>
                <c:formatCode>General</c:formatCode>
                <c:ptCount val="1"/>
                <c:pt idx="0">
                  <c:v>0.004017401</c:v>
                </c:pt>
              </c:numCache>
            </c:numRef>
          </c:xVal>
          <c:yVal>
            <c:numRef>
              <c:f>'Chart Data'!$D$2:$D$2</c:f>
              <c:numCache>
                <c:formatCode>0%</c:formatCode>
                <c:ptCount val="1"/>
                <c:pt idx="0">
                  <c:v>0.102564103</c:v>
                </c:pt>
              </c:numCache>
            </c:numRef>
          </c:yVal>
        </c:ser>
        <c:ser>
          <c:idx val="2"/>
          <c:order val="2"/>
          <c:tx>
            <c:v>GPT-6 Luna High</c:v>
          </c:tx>
          <c:spPr>
            <a:ln w="0">
              <a:noFill/>
            </a:ln>
          </c:spPr>
          <c:marker>
            <c:symbol val="square"/>
            <c:size val="12"/>
            <c:spPr>
              <a:solidFill>
                <a:srgbClr val="1D4E8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Data'!$E$2:$E$2</c:f>
              <c:numCache>
                <c:formatCode>General</c:formatCode>
                <c:ptCount val="1"/>
                <c:pt idx="0">
                  <c:v>0.005174499</c:v>
                </c:pt>
              </c:numCache>
            </c:numRef>
          </c:xVal>
          <c:yVal>
            <c:numRef>
              <c:f>'Chart Data'!$F$2:$F$2</c:f>
              <c:numCache>
                <c:formatCode>0%</c:formatCode>
                <c:ptCount val="1"/>
                <c:pt idx="0">
                  <c:v>0.025641026</c:v>
                </c:pt>
              </c:numCache>
            </c:numRef>
          </c:yVal>
        </c:ser>
        <c:ser>
          <c:idx val="3"/>
          <c:order val="3"/>
          <c:tx>
            <c:v>GPT-6 Luna Extra High</c:v>
          </c:tx>
          <c:spPr>
            <a:ln w="0">
              <a:noFill/>
            </a:ln>
          </c:spPr>
          <c:marker>
            <c:symbol val="triangle"/>
            <c:size val="12"/>
            <c:spPr>
              <a:solidFill>
                <a:srgbClr val="1D4E8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Data'!$G$2:$G$2</c:f>
              <c:numCache>
                <c:formatCode>General</c:formatCode>
                <c:ptCount val="1"/>
                <c:pt idx="0">
                  <c:v>0.012608159</c:v>
                </c:pt>
              </c:numCache>
            </c:numRef>
          </c:xVal>
          <c:yVal>
            <c:numRef>
              <c:f>'Chart Data'!$H$2:$H$2</c:f>
              <c:numCache>
                <c:formatCode>0%</c:formatCode>
                <c:ptCount val="1"/>
                <c:pt idx="0">
                  <c:v>0.307692308</c:v>
                </c:pt>
              </c:numCache>
            </c:numRef>
          </c:yVal>
        </c:ser>
        <c:ser>
          <c:idx val="4"/>
          <c:order val="4"/>
          <c:tx>
            <c:v>GPT-6 Sol Low</c:v>
          </c:tx>
          <c:spPr>
            <a:ln w="0">
              <a:noFill/>
            </a:ln>
          </c:spPr>
          <c:marker>
            <c:symbol val="circle"/>
            <c:size val="12"/>
            <c:spPr>
              <a:solidFill>
                <a:srgbClr val="0F766E"/>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Data'!$I$2:$I$2</c:f>
              <c:numCache>
                <c:formatCode>General</c:formatCode>
                <c:ptCount val="1"/>
                <c:pt idx="0">
                  <c:v>0.077331221</c:v>
                </c:pt>
              </c:numCache>
            </c:numRef>
          </c:xVal>
          <c:yVal>
            <c:numRef>
              <c:f>'Chart Data'!$J$2:$J$2</c:f>
              <c:numCache>
                <c:formatCode>0%</c:formatCode>
                <c:ptCount val="1"/>
                <c:pt idx="0">
                  <c:v>0.948717949</c:v>
                </c:pt>
              </c:numCache>
            </c:numRef>
          </c:yVal>
        </c:ser>
        <c:ser>
          <c:idx val="5"/>
          <c:order val="5"/>
          <c:tx>
            <c:v>GPT-6 Sol High</c:v>
          </c:tx>
          <c:spPr>
            <a:ln w="0">
              <a:noFill/>
            </a:ln>
          </c:spPr>
          <c:marker>
            <c:symbol val="square"/>
            <c:size val="12"/>
            <c:spPr>
              <a:solidFill>
                <a:srgbClr val="0F766E"/>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Data'!$K$2:$K$2</c:f>
              <c:numCache>
                <c:formatCode>General</c:formatCode>
                <c:ptCount val="1"/>
                <c:pt idx="0">
                  <c:v>0.19754441</c:v>
                </c:pt>
              </c:numCache>
            </c:numRef>
          </c:xVal>
          <c:yVal>
            <c:numRef>
              <c:f>'Chart Data'!$L$2:$L$2</c:f>
              <c:numCache>
                <c:formatCode>0%</c:formatCode>
                <c:ptCount val="1"/>
                <c:pt idx="0">
                  <c:v>1</c:v>
                </c:pt>
              </c:numCache>
            </c:numRef>
          </c:yVal>
        </c:ser>
        <c:ser>
          <c:idx val="6"/>
          <c:order val="6"/>
          <c:tx>
            <c:v>GPT-6 Sol Extra High</c:v>
          </c:tx>
          <c:spPr>
            <a:ln w="0">
              <a:noFill/>
            </a:ln>
          </c:spPr>
          <c:marker>
            <c:symbol val="triangle"/>
            <c:size val="12"/>
            <c:spPr>
              <a:solidFill>
                <a:srgbClr val="0F766E"/>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Data'!$M$2:$M$2</c:f>
              <c:numCache>
                <c:formatCode>General</c:formatCode>
                <c:ptCount val="1"/>
                <c:pt idx="0">
                  <c:v>0.230608174</c:v>
                </c:pt>
              </c:numCache>
            </c:numRef>
          </c:xVal>
          <c:yVal>
            <c:numRef>
              <c:f>'Chart Data'!$N$2:$N$2</c:f>
              <c:numCache>
                <c:formatCode>0%</c:formatCode>
                <c:ptCount val="1"/>
                <c:pt idx="0">
                  <c:v>1</c:v>
                </c:pt>
              </c:numCache>
            </c:numRef>
          </c:yVal>
        </c:ser>
        <c:ser>
          <c:idx val="7"/>
          <c:order val="7"/>
          <c:tx>
            <c:v>GPT-5.6 Terra Low</c:v>
          </c:tx>
          <c:spPr>
            <a:ln w="0">
              <a:noFill/>
            </a:ln>
          </c:spPr>
          <c:marker>
            <c:symbol val="circle"/>
            <c:size val="12"/>
            <c:spPr>
              <a:solidFill>
                <a:srgbClr val="B4530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Data'!$O$2:$O$2</c:f>
              <c:numCache>
                <c:formatCode>General</c:formatCode>
                <c:ptCount val="1"/>
                <c:pt idx="0">
                  <c:v>0.110705877</c:v>
                </c:pt>
              </c:numCache>
            </c:numRef>
          </c:xVal>
          <c:yVal>
            <c:numRef>
              <c:f>'Chart Data'!$P$2:$P$2</c:f>
              <c:numCache>
                <c:formatCode>0%</c:formatCode>
                <c:ptCount val="1"/>
                <c:pt idx="0">
                  <c:v>0.102564103</c:v>
                </c:pt>
              </c:numCache>
            </c:numRef>
          </c:yVal>
        </c:ser>
        <c:ser>
          <c:idx val="8"/>
          <c:order val="8"/>
          <c:tx>
            <c:v>GPT-5.6 Terra High</c:v>
          </c:tx>
          <c:spPr>
            <a:ln w="0">
              <a:noFill/>
            </a:ln>
          </c:spPr>
          <c:marker>
            <c:symbol val="square"/>
            <c:size val="12"/>
            <c:spPr>
              <a:solidFill>
                <a:srgbClr val="B4530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Data'!$Q$2:$Q$2</c:f>
              <c:numCache>
                <c:formatCode>General</c:formatCode>
                <c:ptCount val="1"/>
                <c:pt idx="0">
                  <c:v>0.194193528</c:v>
                </c:pt>
              </c:numCache>
            </c:numRef>
          </c:xVal>
          <c:yVal>
            <c:numRef>
              <c:f>'Chart Data'!$R$2:$R$2</c:f>
              <c:numCache>
                <c:formatCode>0%</c:formatCode>
                <c:ptCount val="1"/>
                <c:pt idx="0">
                  <c:v>0.230769231</c:v>
                </c:pt>
              </c:numCache>
            </c:numRef>
          </c:yVal>
        </c:ser>
        <c:ser>
          <c:idx val="9"/>
          <c:order val="9"/>
          <c:tx>
            <c:v>GPT-5.6 Terra Extra High</c:v>
          </c:tx>
          <c:spPr>
            <a:ln w="0">
              <a:noFill/>
            </a:ln>
          </c:spPr>
          <c:marker>
            <c:symbol val="triangle"/>
            <c:size val="12"/>
            <c:spPr>
              <a:solidFill>
                <a:srgbClr val="B4530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Data'!$S$2:$S$2</c:f>
              <c:numCache>
                <c:formatCode>General</c:formatCode>
                <c:ptCount val="1"/>
                <c:pt idx="0">
                  <c:v>0.319629651</c:v>
                </c:pt>
              </c:numCache>
            </c:numRef>
          </c:xVal>
          <c:yVal>
            <c:numRef>
              <c:f>'Chart Data'!$T$2:$T$2</c:f>
              <c:numCache>
                <c:formatCode>0%</c:formatCode>
                <c:ptCount val="1"/>
                <c:pt idx="0">
                  <c:v>0.487179487</c:v>
                </c:pt>
              </c:numCache>
            </c:numRef>
          </c:yVal>
        </c:ser>
        <c:ser>
          <c:idx val="10"/>
          <c:order val="10"/>
          <c:tx>
            <c:v>GPT-6 Astra Low</c:v>
          </c:tx>
          <c:spPr>
            <a:ln w="0">
              <a:noFill/>
            </a:ln>
          </c:spPr>
          <c:marker>
            <c:symbol val="circle"/>
            <c:size val="12"/>
            <c:spPr>
              <a:solidFill>
                <a:srgbClr val="5B4B7C"/>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Data'!$U$2:$U$2</c:f>
              <c:numCache>
                <c:formatCode>General</c:formatCode>
                <c:ptCount val="1"/>
                <c:pt idx="0">
                  <c:v>0.445010154</c:v>
                </c:pt>
              </c:numCache>
            </c:numRef>
          </c:xVal>
          <c:yVal>
            <c:numRef>
              <c:f>'Chart Data'!$V$2:$V$2</c:f>
              <c:numCache>
                <c:formatCode>0%</c:formatCode>
                <c:ptCount val="1"/>
                <c:pt idx="0">
                  <c:v>1</c:v>
                </c:pt>
              </c:numCache>
            </c:numRef>
          </c:yVal>
        </c:ser>
        <c:ser>
          <c:idx val="11"/>
          <c:order val="11"/>
          <c:tx>
            <c:v>GPT-6 Astra High</c:v>
          </c:tx>
          <c:spPr>
            <a:ln w="0">
              <a:noFill/>
            </a:ln>
          </c:spPr>
          <c:marker>
            <c:symbol val="square"/>
            <c:size val="12"/>
            <c:spPr>
              <a:solidFill>
                <a:srgbClr val="5B4B7C"/>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Data'!$W$2:$W$2</c:f>
              <c:numCache>
                <c:formatCode>General</c:formatCode>
                <c:ptCount val="1"/>
                <c:pt idx="0">
                  <c:v>0.713228256</c:v>
                </c:pt>
              </c:numCache>
            </c:numRef>
          </c:xVal>
          <c:yVal>
            <c:numRef>
              <c:f>'Chart Data'!$X$2:$X$2</c:f>
              <c:numCache>
                <c:formatCode>0%</c:formatCode>
                <c:ptCount val="1"/>
                <c:pt idx="0">
                  <c:v>1</c:v>
                </c:pt>
              </c:numCache>
            </c:numRef>
          </c:yVal>
        </c:ser>
        <c:ser>
          <c:idx val="12"/>
          <c:order val="12"/>
          <c:tx>
            <c:v>GPT-6 Astra Extra High</c:v>
          </c:tx>
          <c:spPr>
            <a:ln w="0">
              <a:noFill/>
            </a:ln>
          </c:spPr>
          <c:marker>
            <c:symbol val="triangle"/>
            <c:size val="12"/>
            <c:spPr>
              <a:solidFill>
                <a:srgbClr val="5B4B7C"/>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Data'!$Y$2:$Y$2</c:f>
              <c:numCache>
                <c:formatCode>General</c:formatCode>
                <c:ptCount val="1"/>
                <c:pt idx="0">
                  <c:v>1.080135385</c:v>
                </c:pt>
              </c:numCache>
            </c:numRef>
          </c:xVal>
          <c:yVal>
            <c:numRef>
              <c:f>'Chart Data'!$Z$2:$Z$2</c:f>
              <c:numCache>
                <c:formatCode>0%</c:formatCode>
                <c:ptCount val="1"/>
                <c:pt idx="0">
                  <c:v>0.948717949</c:v>
                </c:pt>
              </c:numCache>
            </c:numRef>
          </c:yVal>
        </c:ser>
        <c:ser>
          <c:idx val="13"/>
          <c:order val="13"/>
          <c:tx>
            <c:v>DeepSeek V4.1 Flash High</c:v>
          </c:tx>
          <c:spPr>
            <a:ln w="0">
              <a:noFill/>
            </a:ln>
          </c:spPr>
          <c:marker>
            <c:symbol val="square"/>
            <c:size val="12"/>
            <c:spPr>
              <a:solidFill>
                <a:srgbClr val="A50026"/>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Data'!$AA$2:$AA$2</c:f>
              <c:numCache>
                <c:formatCode>General</c:formatCode>
                <c:ptCount val="1"/>
                <c:pt idx="0">
                  <c:v>0.150040014</c:v>
                </c:pt>
              </c:numCache>
            </c:numRef>
          </c:xVal>
          <c:yVal>
            <c:numRef>
              <c:f>'Chart Data'!$AB$2:$AB$2</c:f>
              <c:numCache>
                <c:formatCode>0%</c:formatCode>
                <c:ptCount val="1"/>
                <c:pt idx="0">
                  <c:v>0</c:v>
                </c:pt>
              </c:numCache>
            </c:numRef>
          </c:yVal>
        </c:ser>
        <c:ser>
          <c:idx val="14"/>
          <c:order val="14"/>
          <c:tx>
            <c:v>DeepSeek V4.1 Flash Low</c:v>
          </c:tx>
          <c:spPr>
            <a:ln w="0">
              <a:noFill/>
            </a:ln>
          </c:spPr>
          <c:marker>
            <c:symbol val="circle"/>
            <c:size val="12"/>
            <c:spPr>
              <a:solidFill>
                <a:srgbClr val="A50026"/>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Data'!$AC$2:$AC$2</c:f>
              <c:numCache>
                <c:formatCode>General</c:formatCode>
                <c:ptCount val="1"/>
                <c:pt idx="0">
                  <c:v>0.099535269</c:v>
                </c:pt>
              </c:numCache>
            </c:numRef>
          </c:xVal>
          <c:yVal>
            <c:numRef>
              <c:f>'Chart Data'!$AD$2:$AD$2</c:f>
              <c:numCache>
                <c:formatCode>0%</c:formatCode>
                <c:ptCount val="1"/>
                <c:pt idx="0">
                  <c:v>0</c:v>
                </c:pt>
              </c:numCache>
            </c:numRef>
          </c:yVal>
        </c:ser>
        <c:ser>
          <c:idx val="15"/>
          <c:order val="15"/>
          <c:tx>
            <c:v>DeepSeek V4.1 Flash Max</c:v>
          </c:tx>
          <c:spPr>
            <a:ln w="0">
              <a:noFill/>
            </a:ln>
          </c:spPr>
          <c:marker>
            <c:symbol val="diamond"/>
            <c:size val="12"/>
            <c:spPr>
              <a:solidFill>
                <a:srgbClr val="A50026"/>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Data'!$AE$2:$AE$2</c:f>
              <c:numCache>
                <c:formatCode>General</c:formatCode>
                <c:ptCount val="1"/>
                <c:pt idx="0">
                  <c:v>0.244972869</c:v>
                </c:pt>
              </c:numCache>
            </c:numRef>
          </c:xVal>
          <c:yVal>
            <c:numRef>
              <c:f>'Chart Data'!$AF$2:$AF$2</c:f>
              <c:numCache>
                <c:formatCode>0%</c:formatCode>
                <c:ptCount val="1"/>
                <c:pt idx="0">
                  <c:v>0</c:v>
                </c:pt>
              </c:numCache>
            </c:numRef>
          </c:yVal>
        </c:ser>
        <c:dLbls>
          <c:txPr>
            <a:bodyPr anchorCtr="1"/>
            <a:lstStyle/>
            <a:p>
              <a:pPr>
                <a:defRPr>
                  <a:latin typeface="Times New Roman"/>
                  <a:ea typeface="Times New Roman"/>
                  <a:cs typeface="Times New Roman"/>
                </a:defRPr>
              </a:pPr>
            </a:p>
          </c:txPr>
          <c:showLegendKey val="0"/>
          <c:showVal val="0"/>
          <c:showCatName val="0"/>
          <c:showSerName val="0"/>
          <c:showPercent val="0"/>
          <c:showBubbleSize val="0"/>
          <c:showLeaderLines val="0"/>
        </c:dLbls>
        <c:axId val="48650112"/>
        <c:axId val="48672768"/>
      </c:scatterChart>
      <c:valAx>
        <c:axId val="48672768"/>
        <c:scaling>
          <c:orientation val="minMax"/>
          <c:max val="1.06"/>
          <c:min val="0"/>
        </c:scaling>
        <c:delete val="0"/>
        <c:axPos val="l"/>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Completed pass rate</a:t>
                </a:r>
              </a:p>
            </c:rich>
          </c:tx>
          <c:overlay val="0"/>
          <c:txPr>
            <a:bodyPr anchorCtr="1"/>
            <a:lstStyle/>
            <a:p>
              <a:pPr>
                <a:defRPr sz="1575">
                  <a:solidFill>
                    <a:srgbClr val="444444"/>
                  </a:solidFill>
                  <a:latin typeface="Times New Roman"/>
                  <a:ea typeface="Times New Roman"/>
                  <a:cs typeface="Times New Roman"/>
                </a:defRPr>
              </a:pPr>
            </a:p>
          </c:txPr>
        </c:title>
        <c:numFmt formatCode="0%"/>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50112"/>
        <c:majorUnit val="0.25"/>
      </c:valAx>
      <c:valAx>
        <c:axId val="48650112"/>
        <c:scaling>
          <c:orientation val="minMax"/>
          <c:max val="1.15"/>
          <c:min val="0"/>
        </c:scaling>
        <c:delete val="0"/>
        <c:axPos val="b"/>
        <c:title>
          <c:tx>
            <c:rich>
              <a:bodyPr/>
              <a:lstStyle/>
              <a:p>
                <a:r>
                  <a:rPr sz="1575">
                    <a:solidFill>
                      <a:srgbClr val="444444"/>
                    </a:solidFill>
                    <a:latin typeface="Times New Roman"/>
                    <a:ea typeface="Times New Roman"/>
                    <a:cs typeface="Times New Roman"/>
                  </a:rPr>
                  <a:t>Estimated API cost per attempt (USD)</a:t>
                </a:r>
              </a:p>
            </c:rich>
          </c:tx>
          <c:overlay val="0"/>
          <c:txPr>
            <a:bodyPr anchorCtr="1"/>
            <a:lstStyle/>
            <a:p>
              <a:pPr>
                <a:defRPr sz="1575">
                  <a:solidFill>
                    <a:srgbClr val="444444"/>
                  </a:solidFill>
                  <a:latin typeface="Times New Roman"/>
                  <a:ea typeface="Times New Roman"/>
                  <a:cs typeface="Times New Roman"/>
                </a:defRPr>
              </a:pPr>
            </a:p>
          </c:txPr>
        </c:title>
        <c:numFmt formatCode="$0.00"/>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72768"/>
        <c:majorUnit val="0.2"/>
      </c:valAx>
      <c:spPr>
        <a:solidFill>
          <a:srgbClr val="FFFFFF"/>
        </a:solidFill>
      </c:spPr>
    </c:plotArea>
    <c:plotVisOnly val="1"/>
  </c:chart>
  <c:spPr>
    <a:solidFill>
      <a:srgbClr val="FFFFFF"/>
    </a:solidFill>
    <a:ln w="0">
      <a:noFill/>
    </a:ln>
  </c:spPr>
  <c:externalData r:id="rIdChartSnapshot1">
    <c:autoUpdate val="0"/>
  </c:externalData>
</c:chartSpace>
</file>

<file path=ppt/slides/charts/chart4.xml><?xml version="1.0" encoding="utf-8"?>
<c:chartSpace xmlns:a="http://schemas.openxmlformats.org/drawingml/2006/main" xmlns:c="http://schemas.openxmlformats.org/drawingml/2006/chart" xmlns:r="http://schemas.openxmlformats.org/officeDocument/2006/relationships">
  <c:lang val="en-US"/>
  <c:chart>
    <c:plotArea>
      <c:lineChart>
        <c:grouping val="standard"/>
        <c:varyColors val="0"/>
        <c:ser>
          <c:idx val="0"/>
          <c:order val="0"/>
          <c:tx>
            <c:v>GPT-6 Luna</c:v>
          </c:tx>
          <c:spPr>
            <a:ln w="28575">
              <a:solidFill>
                <a:srgbClr val="1D4E89"/>
              </a:solidFill>
            </a:ln>
          </c:spPr>
          <c:marker>
            <c:symbol val="circle"/>
            <c:size val="9"/>
            <c:spPr>
              <a:solidFill>
                <a:srgbClr val="1D4E89"/>
              </a:solidFill>
            </c:spPr>
          </c:marker>
          <c:dLbls>
            <c:txPr>
              <a:bodyPr anchorCtr="1"/>
              <a:lstStyle/>
              <a:p>
                <a:pPr>
                  <a:defRPr sz="1575">
                    <a:solidFill>
                      <a:srgbClr val="111111"/>
                    </a:solidFill>
                    <a:latin typeface="Times New Roman"/>
                    <a:ea typeface="Times New Roman"/>
                    <a:cs typeface="Times New Roman"/>
                  </a:defRPr>
                </a:pPr>
              </a:p>
            </c:txPr>
            <c:showLegendKey val="0"/>
            <c:showVal val="1"/>
            <c:showCatName val="0"/>
            <c:showSerName val="0"/>
            <c:showPercent val="0"/>
            <c:showBubbleSize val="0"/>
            <c:showLeaderLines val="0"/>
          </c:dLbls>
          <c:cat>
            <c:strRef>
              <c:f>'Chart Data'!$A$2:$A$4</c:f>
              <c:strCache>
                <c:ptCount val="3"/>
                <c:pt idx="0">
                  <c:v>Low</c:v>
                </c:pt>
                <c:pt idx="1">
                  <c:v>High</c:v>
                </c:pt>
                <c:pt idx="2">
                  <c:v>Extra High</c:v>
                </c:pt>
              </c:strCache>
            </c:strRef>
          </c:cat>
          <c:val>
            <c:numRef>
              <c:f>'Chart Data'!$B$2:$B$4</c:f>
              <c:numCache>
                <c:formatCode>General</c:formatCode>
                <c:ptCount val="3"/>
                <c:pt idx="0">
                  <c:v>4</c:v>
                </c:pt>
                <c:pt idx="1">
                  <c:v>1</c:v>
                </c:pt>
                <c:pt idx="2">
                  <c:v>12</c:v>
                </c:pt>
              </c:numCache>
            </c:numRef>
          </c:val>
          <c:smooth val="0"/>
        </c:ser>
        <c:ser>
          <c:idx val="1"/>
          <c:order val="1"/>
          <c:tx>
            <c:v>GPT-5.6 Terra</c:v>
          </c:tx>
          <c:spPr>
            <a:ln w="28575">
              <a:solidFill>
                <a:srgbClr val="B45309"/>
              </a:solidFill>
            </a:ln>
          </c:spPr>
          <c:marker>
            <c:symbol val="circle"/>
            <c:size val="9"/>
            <c:spPr>
              <a:solidFill>
                <a:srgbClr val="B45309"/>
              </a:solidFill>
            </c:spPr>
          </c:marker>
          <c:dLbls>
            <c:txPr>
              <a:bodyPr anchorCtr="1"/>
              <a:lstStyle/>
              <a:p>
                <a:pPr>
                  <a:defRPr sz="1575">
                    <a:solidFill>
                      <a:srgbClr val="111111"/>
                    </a:solidFill>
                    <a:latin typeface="Times New Roman"/>
                    <a:ea typeface="Times New Roman"/>
                    <a:cs typeface="Times New Roman"/>
                  </a:defRPr>
                </a:pPr>
              </a:p>
            </c:txPr>
            <c:showLegendKey val="0"/>
            <c:showVal val="1"/>
            <c:showCatName val="0"/>
            <c:showSerName val="0"/>
            <c:showPercent val="0"/>
            <c:showBubbleSize val="0"/>
            <c:showLeaderLines val="0"/>
          </c:dLbls>
          <c:cat>
            <c:strRef>
              <c:f>'Chart Data'!$C$2:$C$4</c:f>
              <c:strCache>
                <c:ptCount val="3"/>
                <c:pt idx="0">
                  <c:v>Low</c:v>
                </c:pt>
                <c:pt idx="1">
                  <c:v>High</c:v>
                </c:pt>
                <c:pt idx="2">
                  <c:v>Extra High</c:v>
                </c:pt>
              </c:strCache>
            </c:strRef>
          </c:cat>
          <c:val>
            <c:numRef>
              <c:f>'Chart Data'!$D$2:$D$4</c:f>
              <c:numCache>
                <c:formatCode>General</c:formatCode>
                <c:ptCount val="3"/>
                <c:pt idx="0">
                  <c:v>4</c:v>
                </c:pt>
                <c:pt idx="1">
                  <c:v>9</c:v>
                </c:pt>
                <c:pt idx="2">
                  <c:v>19</c:v>
                </c:pt>
              </c:numCache>
            </c:numRef>
          </c:val>
          <c:smooth val="0"/>
        </c:ser>
        <c:ser>
          <c:idx val="2"/>
          <c:order val="2"/>
          <c:tx>
            <c:v>GPT-6 Sol</c:v>
          </c:tx>
          <c:spPr>
            <a:ln w="28575">
              <a:solidFill>
                <a:srgbClr val="0F766E"/>
              </a:solidFill>
            </a:ln>
          </c:spPr>
          <c:marker>
            <c:symbol val="circle"/>
            <c:size val="9"/>
            <c:spPr>
              <a:solidFill>
                <a:srgbClr val="0F766E"/>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Data'!$E$2:$E$4</c:f>
              <c:strCache>
                <c:ptCount val="3"/>
                <c:pt idx="0">
                  <c:v>Low</c:v>
                </c:pt>
                <c:pt idx="1">
                  <c:v>High</c:v>
                </c:pt>
                <c:pt idx="2">
                  <c:v>Extra High</c:v>
                </c:pt>
              </c:strCache>
            </c:strRef>
          </c:cat>
          <c:val>
            <c:numRef>
              <c:f>'Chart Data'!$F$2:$F$4</c:f>
              <c:numCache>
                <c:formatCode>General</c:formatCode>
                <c:ptCount val="3"/>
                <c:pt idx="0">
                  <c:v>37</c:v>
                </c:pt>
                <c:pt idx="1">
                  <c:v>39</c:v>
                </c:pt>
                <c:pt idx="2">
                  <c:v>39</c:v>
                </c:pt>
              </c:numCache>
            </c:numRef>
          </c:val>
          <c:smooth val="0"/>
        </c:ser>
        <c:ser>
          <c:idx val="3"/>
          <c:order val="3"/>
          <c:tx>
            <c:v>GPT-6 Astra</c:v>
          </c:tx>
          <c:spPr>
            <a:ln w="28575">
              <a:solidFill>
                <a:srgbClr val="5B4B7C"/>
              </a:solidFill>
            </a:ln>
          </c:spPr>
          <c:marker>
            <c:symbol val="circle"/>
            <c:size val="9"/>
            <c:spPr>
              <a:solidFill>
                <a:srgbClr val="5B4B7C"/>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Data'!$G$2:$G$4</c:f>
              <c:strCache>
                <c:ptCount val="3"/>
                <c:pt idx="0">
                  <c:v>Low</c:v>
                </c:pt>
                <c:pt idx="1">
                  <c:v>High</c:v>
                </c:pt>
                <c:pt idx="2">
                  <c:v>Extra High</c:v>
                </c:pt>
              </c:strCache>
            </c:strRef>
          </c:cat>
          <c:val>
            <c:numRef>
              <c:f>'Chart Data'!$H$2:$H$4</c:f>
              <c:numCache>
                <c:formatCode>General</c:formatCode>
                <c:ptCount val="3"/>
                <c:pt idx="0">
                  <c:v>39</c:v>
                </c:pt>
                <c:pt idx="1">
                  <c:v>39</c:v>
                </c:pt>
                <c:pt idx="2">
                  <c:v>37</c:v>
                </c:pt>
              </c:numCache>
            </c:numRef>
          </c:val>
          <c:smooth val="0"/>
        </c:ser>
        <c:dLbls>
          <c:txPr>
            <a:bodyPr anchorCtr="1"/>
            <a:lstStyle/>
            <a:p>
              <a:pPr>
                <a:defRPr>
                  <a:latin typeface="Times New Roman"/>
                  <a:ea typeface="Times New Roman"/>
                  <a:cs typeface="Times New Roman"/>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72768"/>
      </c:catAx>
      <c:valAx>
        <c:axId val="48672768"/>
        <c:scaling>
          <c:orientation val="minMax"/>
          <c:max val="40"/>
          <c:min val="0"/>
        </c:scaling>
        <c:delete val="0"/>
        <c:axPos val="l"/>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Completed passes</a:t>
                </a:r>
              </a:p>
            </c:rich>
          </c:tx>
          <c:overlay val="0"/>
          <c:txPr>
            <a:bodyPr anchorCtr="1"/>
            <a:lstStyle/>
            <a:p>
              <a:pPr>
                <a:defRPr sz="1575">
                  <a:solidFill>
                    <a:srgbClr val="444444"/>
                  </a:solidFill>
                  <a:latin typeface="Times New Roman"/>
                  <a:ea typeface="Times New Roman"/>
                  <a:cs typeface="Times New Roman"/>
                </a:defRPr>
              </a:pPr>
            </a:p>
          </c:txPr>
        </c:title>
        <c:numFmt formatCode="General"/>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50112"/>
        <c:crossBetween val="between"/>
        <c:majorUnit val="10"/>
      </c:valAx>
      <c:spPr>
        <a:solidFill>
          <a:srgbClr val="FFFFFF"/>
        </a:solidFill>
      </c:spPr>
    </c:plotArea>
    <c:legend>
      <c:legendPos val="b"/>
      <c:overlay val="0"/>
      <c:txPr>
        <a:bodyPr anchorCtr="1"/>
        <a:lstStyle/>
        <a:p>
          <a:pPr>
            <a:defRPr sz="1500">
              <a:solidFill>
                <a:srgbClr val="111111"/>
              </a:solidFill>
              <a:latin typeface="Times New Roman"/>
              <a:ea typeface="Times New Roman"/>
              <a:cs typeface="Times New Roman"/>
            </a:defRPr>
          </a:pPr>
        </a:p>
      </c:txPr>
    </c:legend>
    <c:plotVisOnly val="1"/>
  </c:chart>
  <c:spPr>
    <a:solidFill>
      <a:srgbClr val="FFFFFF"/>
    </a:solidFill>
    <a:ln w="0">
      <a:noFill/>
    </a:ln>
  </c:spPr>
  <c:externalData r:id="rIdChartSnapshot1">
    <c:autoUpdate val="0"/>
  </c:externalData>
</c:chartSpace>
</file>

<file path=ppt/slides/charts/chart5.xml><?xml version="1.0" encoding="utf-8"?>
<c:chartSpace xmlns:a="http://schemas.openxmlformats.org/drawingml/2006/main" xmlns:c="http://schemas.openxmlformats.org/drawingml/2006/chart" xmlns:r="http://schemas.openxmlformats.org/officeDocument/2006/relationships">
  <c:lang val="en-US"/>
  <c:chart>
    <c:plotArea>
      <c:barChart>
        <c:barDir val="bar"/>
        <c:grouping val="stacked"/>
        <c:varyColors val="0"/>
        <c:ser>
          <c:idx val="0"/>
          <c:order val="0"/>
          <c:tx>
            <c:v>Completed pass</c:v>
          </c:tx>
          <c:spPr>
            <a:solidFill>
              <a:srgbClr val="0F766E"/>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Data'!$A$2:$A$6</c:f>
              <c:strCache>
                <c:ptCount val="5"/>
                <c:pt idx="0">
                  <c:v>Luna 6</c:v>
                </c:pt>
                <c:pt idx="1">
                  <c:v>Terra 5.6</c:v>
                </c:pt>
                <c:pt idx="2">
                  <c:v>DeepSeek</c:v>
                </c:pt>
                <c:pt idx="3">
                  <c:v>Sol 6</c:v>
                </c:pt>
                <c:pt idx="4">
                  <c:v>Astra 6</c:v>
                </c:pt>
              </c:strCache>
            </c:strRef>
          </c:cat>
          <c:val>
            <c:numRef>
              <c:f>'Chart Data'!$B$2:$B$6</c:f>
              <c:numCache>
                <c:formatCode>General</c:formatCode>
                <c:ptCount val="5"/>
                <c:pt idx="0">
                  <c:v>17</c:v>
                </c:pt>
                <c:pt idx="1">
                  <c:v>32</c:v>
                </c:pt>
                <c:pt idx="2">
                  <c:v>0</c:v>
                </c:pt>
                <c:pt idx="3">
                  <c:v>115</c:v>
                </c:pt>
                <c:pt idx="4">
                  <c:v>115</c:v>
                </c:pt>
              </c:numCache>
            </c:numRef>
          </c:val>
        </c:ser>
        <c:ser>
          <c:idx val="1"/>
          <c:order val="1"/>
          <c:tx>
            <c:v>Prediction only</c:v>
          </c:tx>
          <c:spPr>
            <a:solidFill>
              <a:srgbClr val="B45309"/>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Data'!$C$2:$C$6</c:f>
              <c:strCache>
                <c:ptCount val="5"/>
                <c:pt idx="0">
                  <c:v>Luna 6</c:v>
                </c:pt>
                <c:pt idx="1">
                  <c:v>Terra 5.6</c:v>
                </c:pt>
                <c:pt idx="2">
                  <c:v>DeepSeek</c:v>
                </c:pt>
                <c:pt idx="3">
                  <c:v>Sol 6</c:v>
                </c:pt>
                <c:pt idx="4">
                  <c:v>Astra 6</c:v>
                </c:pt>
              </c:strCache>
            </c:strRef>
          </c:cat>
          <c:val>
            <c:numRef>
              <c:f>'Chart Data'!$D$2:$D$6</c:f>
              <c:numCache>
                <c:formatCode>General</c:formatCode>
                <c:ptCount val="5"/>
                <c:pt idx="0">
                  <c:v>91</c:v>
                </c:pt>
                <c:pt idx="1">
                  <c:v>81</c:v>
                </c:pt>
                <c:pt idx="2">
                  <c:v>12</c:v>
                </c:pt>
                <c:pt idx="3">
                  <c:v>2</c:v>
                </c:pt>
                <c:pt idx="4">
                  <c:v>0</c:v>
                </c:pt>
              </c:numCache>
            </c:numRef>
          </c:val>
        </c:ser>
        <c:ser>
          <c:idx val="2"/>
          <c:order val="2"/>
          <c:tx>
            <c:v>Other grading</c:v>
          </c:tx>
          <c:spPr>
            <a:solidFill>
              <a:srgbClr val="5B4B7C"/>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Data'!$E$2:$E$6</c:f>
              <c:strCache>
                <c:ptCount val="5"/>
                <c:pt idx="0">
                  <c:v>Luna 6</c:v>
                </c:pt>
                <c:pt idx="1">
                  <c:v>Terra 5.6</c:v>
                </c:pt>
                <c:pt idx="2">
                  <c:v>DeepSeek</c:v>
                </c:pt>
                <c:pt idx="3">
                  <c:v>Sol 6</c:v>
                </c:pt>
                <c:pt idx="4">
                  <c:v>Astra 6</c:v>
                </c:pt>
              </c:strCache>
            </c:strRef>
          </c:cat>
          <c:val>
            <c:numRef>
              <c:f>'Chart Data'!$F$2:$F$6</c:f>
              <c:numCache>
                <c:formatCode>General</c:formatCode>
                <c:ptCount val="5"/>
                <c:pt idx="0">
                  <c:v>5</c:v>
                </c:pt>
                <c:pt idx="1">
                  <c:v>0</c:v>
                </c:pt>
                <c:pt idx="2">
                  <c:v>0</c:v>
                </c:pt>
                <c:pt idx="3">
                  <c:v>0</c:v>
                </c:pt>
                <c:pt idx="4">
                  <c:v>0</c:v>
                </c:pt>
              </c:numCache>
            </c:numRef>
          </c:val>
        </c:ser>
        <c:ser>
          <c:idx val="3"/>
          <c:order val="3"/>
          <c:tx>
            <c:v>Timeout</c:v>
          </c:tx>
          <c:spPr>
            <a:solidFill>
              <a:srgbClr val="A50026"/>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Data'!$G$2:$G$6</c:f>
              <c:strCache>
                <c:ptCount val="5"/>
                <c:pt idx="0">
                  <c:v>Luna 6</c:v>
                </c:pt>
                <c:pt idx="1">
                  <c:v>Terra 5.6</c:v>
                </c:pt>
                <c:pt idx="2">
                  <c:v>DeepSeek</c:v>
                </c:pt>
                <c:pt idx="3">
                  <c:v>Sol 6</c:v>
                </c:pt>
                <c:pt idx="4">
                  <c:v>Astra 6</c:v>
                </c:pt>
              </c:strCache>
            </c:strRef>
          </c:cat>
          <c:val>
            <c:numRef>
              <c:f>'Chart Data'!$H$2:$H$6</c:f>
              <c:numCache>
                <c:formatCode>General</c:formatCode>
                <c:ptCount val="5"/>
                <c:pt idx="0">
                  <c:v>2</c:v>
                </c:pt>
                <c:pt idx="1">
                  <c:v>4</c:v>
                </c:pt>
                <c:pt idx="2">
                  <c:v>83</c:v>
                </c:pt>
                <c:pt idx="3">
                  <c:v>0</c:v>
                </c:pt>
                <c:pt idx="4">
                  <c:v>2</c:v>
                </c:pt>
              </c:numCache>
            </c:numRef>
          </c:val>
        </c:ser>
        <c:ser>
          <c:idx val="4"/>
          <c:order val="4"/>
          <c:tx>
            <c:v>Other execution</c:v>
          </c:tx>
          <c:spPr>
            <a:solidFill>
              <a:srgbClr val="AFB6BC"/>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Data'!$I$2:$I$6</c:f>
              <c:strCache>
                <c:ptCount val="5"/>
                <c:pt idx="0">
                  <c:v>Luna 6</c:v>
                </c:pt>
                <c:pt idx="1">
                  <c:v>Terra 5.6</c:v>
                </c:pt>
                <c:pt idx="2">
                  <c:v>DeepSeek</c:v>
                </c:pt>
                <c:pt idx="3">
                  <c:v>Sol 6</c:v>
                </c:pt>
                <c:pt idx="4">
                  <c:v>Astra 6</c:v>
                </c:pt>
              </c:strCache>
            </c:strRef>
          </c:cat>
          <c:val>
            <c:numRef>
              <c:f>'Chart Data'!$J$2:$J$6</c:f>
              <c:numCache>
                <c:formatCode>General</c:formatCode>
                <c:ptCount val="5"/>
                <c:pt idx="0">
                  <c:v>2</c:v>
                </c:pt>
                <c:pt idx="1">
                  <c:v>0</c:v>
                </c:pt>
                <c:pt idx="2">
                  <c:v>22</c:v>
                </c:pt>
                <c:pt idx="3">
                  <c:v>0</c:v>
                </c:pt>
                <c:pt idx="4">
                  <c:v>0</c:v>
                </c:pt>
              </c:numCache>
            </c:numRef>
          </c:val>
        </c:ser>
        <c:dLbls>
          <c:txPr>
            <a:bodyPr anchorCtr="1"/>
            <a:lstStyle/>
            <a:p>
              <a:pPr>
                <a:defRPr>
                  <a:latin typeface="Times New Roman"/>
                  <a:ea typeface="Times New Roman"/>
                  <a:cs typeface="Times New Roman"/>
                </a:defRPr>
              </a:pPr>
            </a:p>
          </c:txPr>
          <c:showLegendKey val="0"/>
          <c:showVal val="0"/>
          <c:showCatName val="0"/>
          <c:showSerName val="0"/>
          <c:showPercent val="0"/>
          <c:showBubbleSize val="0"/>
          <c:showLeaderLines val="0"/>
        </c:dLbls>
        <c:gapWidth val="55"/>
        <c:overlap val="100"/>
        <c:axId val="48650112"/>
        <c:axId val="48672768"/>
      </c:barChart>
      <c:catAx>
        <c:axId val="48650112"/>
        <c:scaling>
          <c:orientation val="minMax"/>
        </c:scaling>
        <c:delete val="0"/>
        <c:axPos val="l"/>
        <c:numFmt formatCode="General"/>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72768"/>
      </c:catAx>
      <c:valAx>
        <c:axId val="48672768"/>
        <c:scaling>
          <c:orientation val="minMax"/>
          <c:max val="117"/>
          <c:min val="0"/>
        </c:scaling>
        <c:delete val="0"/>
        <c:axPos val="b"/>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Attempts across three effort settings</a:t>
                </a:r>
              </a:p>
            </c:rich>
          </c:tx>
          <c:overlay val="0"/>
          <c:txPr>
            <a:bodyPr anchorCtr="1"/>
            <a:lstStyle/>
            <a:p>
              <a:pPr>
                <a:defRPr sz="1575">
                  <a:solidFill>
                    <a:srgbClr val="444444"/>
                  </a:solidFill>
                  <a:latin typeface="Times New Roman"/>
                  <a:ea typeface="Times New Roman"/>
                  <a:cs typeface="Times New Roman"/>
                </a:defRPr>
              </a:pPr>
            </a:p>
          </c:txPr>
        </c:title>
        <c:numFmt formatCode="General"/>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50112"/>
        <c:crossBetween val="between"/>
        <c:majorUnit val="39"/>
      </c:valAx>
      <c:spPr>
        <a:solidFill>
          <a:srgbClr val="FFFFFF"/>
        </a:solidFill>
      </c:spPr>
    </c:plotArea>
    <c:legend>
      <c:legendPos val="b"/>
      <c:overlay val="0"/>
      <c:txPr>
        <a:bodyPr anchorCtr="1"/>
        <a:lstStyle/>
        <a:p>
          <a:pPr>
            <a:defRPr sz="1425">
              <a:solidFill>
                <a:srgbClr val="111111"/>
              </a:solidFill>
              <a:latin typeface="Times New Roman"/>
              <a:ea typeface="Times New Roman"/>
              <a:cs typeface="Times New Roman"/>
            </a:defRPr>
          </a:pPr>
        </a:p>
      </c:txPr>
    </c:legend>
    <c:plotVisOnly val="1"/>
  </c:chart>
  <c:spPr>
    <a:solidFill>
      <a:srgbClr val="FFFFFF"/>
    </a:solidFill>
    <a:l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0B0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6FBF446-891E-406E-8AEA-AF28E3889CA0}"/>
              </a:ext>
            </a:extLst>
          </p:cNvPr>
          <p:cNvSpPr>
            <a:spLocks xmlns:a="http://schemas.openxmlformats.org/drawingml/2006/main" noGrp="1"/>
          </p:cNvSpPr>
          <p:nvPr/>
        </p:nvSpPr>
        <p:spPr>
          <a:xfrm xmlns:a="http://schemas.openxmlformats.org/drawingml/2006/main">
            <a:off x="609600" y="1504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700" b="1" i="0">
                <a:solidFill>
                  <a:srgbClr val="FFFFFF"/>
                </a:solidFill>
                <a:latin typeface="Times New Roman"/>
                <a:ea typeface="Times New Roman"/>
                <a:cs typeface="Times New Roman"/>
              </a:defRPr>
            </a:defPPr>
          </a:lstStyle>
          <a:p xmlns:a="http://schemas.openxmlformats.org/drawingml/2006/main">
            <a:pPr algn="l">
              <a:buNone/>
              <a:defRPr sz="5700" b="1" i="0">
                <a:solidFill>
                  <a:srgbClr val="FFFFFF"/>
                </a:solidFill>
                <a:latin typeface="Times New Roman"/>
                <a:ea typeface="Times New Roman"/>
                <a:cs typeface="Times New Roman"/>
              </a:defRPr>
            </a:pPr>
            <a:r>
              <a:rPr sz="5700" b="1" i="0">
                <a:solidFill>
                  <a:srgbClr val="FFFFFF"/>
                </a:solidFill>
                <a:latin typeface="Times New Roman"/>
                <a:ea typeface="Times New Roman"/>
                <a:cs typeface="Times New Roman"/>
              </a:rPr>
              <a:t>PhysLiteBench</a:t>
            </a:r>
          </a:p>
        </p:txBody>
      </p:sp>
      <p:sp>
        <p:nvSpPr>
          <p:cNvPr id="2" name="">
            <a:extLst xmlns:a="http://schemas.openxmlformats.org/drawingml/2006/main">
              <a:ext uri="{FF2B5EF4-FFF2-40B4-BE49-F238E27FC236}">
                <a16:creationId xmlns:a16="http://schemas.microsoft.com/office/drawing/2014/main" id="{7128109D-88C7-4566-97FD-BD25A731F3A8}"/>
              </a:ext>
            </a:extLst>
          </p:cNvPr>
          <p:cNvSpPr>
            <a:spLocks xmlns:a="http://schemas.openxmlformats.org/drawingml/2006/main" noGrp="1"/>
          </p:cNvSpPr>
          <p:nvPr/>
        </p:nvSpPr>
        <p:spPr>
          <a:xfrm xmlns:a="http://schemas.openxmlformats.org/drawingml/2006/main">
            <a:off x="647700" y="2828925"/>
            <a:ext cx="10382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000" b="0" i="0">
                <a:solidFill>
                  <a:srgbClr val="D1D5DB"/>
                </a:solidFill>
                <a:latin typeface="Times New Roman"/>
                <a:ea typeface="Times New Roman"/>
                <a:cs typeface="Times New Roman"/>
              </a:defRPr>
            </a:defPPr>
          </a:lstStyle>
          <a:p xmlns:a="http://schemas.openxmlformats.org/drawingml/2006/main">
            <a:pPr algn="l">
              <a:buNone/>
              <a:defRPr sz="3000" b="0" i="0">
                <a:solidFill>
                  <a:srgbClr val="D1D5DB"/>
                </a:solidFill>
                <a:latin typeface="Times New Roman"/>
                <a:ea typeface="Times New Roman"/>
                <a:cs typeface="Times New Roman"/>
              </a:defRPr>
            </a:pPr>
            <a:r>
              <a:rPr sz="3000" b="0" i="0">
                <a:solidFill>
                  <a:srgbClr val="D1D5DB"/>
                </a:solidFill>
                <a:latin typeface="Times New Roman"/>
                <a:ea typeface="Times New Roman"/>
                <a:cs typeface="Times New Roman"/>
              </a:rPr>
              <a:t>Cost, reasoning effort,</a:t>
            </a:r>
          </a:p>
          <a:p xmlns:a="http://schemas.openxmlformats.org/drawingml/2006/main">
            <a:pPr algn="l">
              <a:buNone/>
              <a:defRPr sz="3000" b="0" i="0">
                <a:solidFill>
                  <a:srgbClr val="D1D5DB"/>
                </a:solidFill>
                <a:latin typeface="Times New Roman"/>
                <a:ea typeface="Times New Roman"/>
                <a:cs typeface="Times New Roman"/>
              </a:defRPr>
            </a:pPr>
            <a:r>
              <a:rPr sz="3000" b="0" i="0">
                <a:solidFill>
                  <a:srgbClr val="D1D5DB"/>
                </a:solidFill>
                <a:latin typeface="Times New Roman"/>
                <a:ea typeface="Times New Roman"/>
                <a:cs typeface="Times New Roman"/>
              </a:rPr>
              <a:t>and physics failure modes</a:t>
            </a:r>
          </a:p>
        </p:txBody>
      </p:sp>
      <p:sp>
        <p:nvSpPr>
          <p:cNvPr id="3" name="">
            <a:extLst xmlns:a="http://schemas.openxmlformats.org/drawingml/2006/main">
              <a:ext uri="{FF2B5EF4-FFF2-40B4-BE49-F238E27FC236}">
                <a16:creationId xmlns:a16="http://schemas.microsoft.com/office/drawing/2014/main" id="{1EF53E99-7586-45FB-8000-B614B8385506}"/>
              </a:ext>
            </a:extLst>
          </p:cNvPr>
          <p:cNvSpPr>
            <a:spLocks xmlns:a="http://schemas.openxmlformats.org/drawingml/2006/main" noGrp="1"/>
          </p:cNvSpPr>
          <p:nvPr/>
        </p:nvSpPr>
        <p:spPr>
          <a:xfrm xmlns:a="http://schemas.openxmlformats.org/drawingml/2006/main">
            <a:off x="647700" y="465772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FFFFFF"/>
                </a:solidFill>
                <a:latin typeface="Times New Roman"/>
                <a:ea typeface="Times New Roman"/>
                <a:cs typeface="Times New Roman"/>
              </a:defRPr>
            </a:defPPr>
          </a:lstStyle>
          <a:p xmlns:a="http://schemas.openxmlformats.org/drawingml/2006/main">
            <a:pPr algn="l">
              <a:buNone/>
              <a:defRPr sz="2175" b="0" i="0">
                <a:solidFill>
                  <a:srgbClr val="FFFFFF"/>
                </a:solidFill>
                <a:latin typeface="Times New Roman"/>
                <a:ea typeface="Times New Roman"/>
                <a:cs typeface="Times New Roman"/>
              </a:defRPr>
            </a:pPr>
            <a:r>
              <a:rPr sz="2175" b="0" i="0">
                <a:solidFill>
                  <a:srgbClr val="FFFFFF"/>
                </a:solidFill>
                <a:latin typeface="Times New Roman"/>
                <a:ea typeface="Times New Roman"/>
                <a:cs typeface="Times New Roman"/>
              </a:rPr>
              <a:t>13 frozen tasks</a:t>
            </a:r>
          </a:p>
        </p:txBody>
      </p:sp>
      <p:sp>
        <p:nvSpPr>
          <p:cNvPr id="4" name="">
            <a:extLst xmlns:a="http://schemas.openxmlformats.org/drawingml/2006/main">
              <a:ext uri="{FF2B5EF4-FFF2-40B4-BE49-F238E27FC236}">
                <a16:creationId xmlns:a16="http://schemas.microsoft.com/office/drawing/2014/main" id="{7126B5C4-86E1-47BC-AA73-2C85CFCFACD7}"/>
              </a:ext>
            </a:extLst>
          </p:cNvPr>
          <p:cNvSpPr>
            <a:spLocks xmlns:a="http://schemas.openxmlformats.org/drawingml/2006/main" noGrp="1"/>
          </p:cNvSpPr>
          <p:nvPr/>
        </p:nvSpPr>
        <p:spPr>
          <a:xfrm xmlns:a="http://schemas.openxmlformats.org/drawingml/2006/main">
            <a:off x="647700" y="571500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D1D5DB"/>
                </a:solidFill>
                <a:latin typeface="Times New Roman"/>
                <a:ea typeface="Times New Roman"/>
                <a:cs typeface="Times New Roman"/>
              </a:defRPr>
            </a:defPPr>
          </a:lstStyle>
          <a:p xmlns:a="http://schemas.openxmlformats.org/drawingml/2006/main">
            <a:pPr algn="l">
              <a:buNone/>
              <a:defRPr sz="2025" b="0" i="0">
                <a:solidFill>
                  <a:srgbClr val="D1D5DB"/>
                </a:solidFill>
                <a:latin typeface="Times New Roman"/>
                <a:ea typeface="Times New Roman"/>
                <a:cs typeface="Times New Roman"/>
              </a:defRPr>
            </a:pPr>
            <a:r>
              <a:rPr sz="2025" b="0" i="0">
                <a:solidFill>
                  <a:srgbClr val="D1D5DB"/>
                </a:solidFill>
                <a:latin typeface="Times New Roman"/>
                <a:ea typeface="Times New Roman"/>
                <a:cs typeface="Times New Roman"/>
              </a:rPr>
              <a:t>Yue Pan   /   October 2026</a:t>
            </a:r>
          </a:p>
        </p:txBody>
      </p:sp>
    </p:spTree>
    <p:extLst>
      <p:ext uri="{BB962C8B-B14F-4D97-AF65-F5344CB8AC3E}">
        <p14:creationId xmlns:p14="http://schemas.microsoft.com/office/powerpoint/2010/main" val="6629940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C09820-22BB-4372-A10F-CB42F1E32FBB}"/>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Physics beyond the calibration regime</a:t>
            </a:r>
          </a:p>
        </p:txBody>
      </p:sp>
      <p:sp>
        <p:nvSpPr>
          <p:cNvPr id="2" name="">
            <a:extLst xmlns:a="http://schemas.openxmlformats.org/drawingml/2006/main">
              <a:ext uri="{FF2B5EF4-FFF2-40B4-BE49-F238E27FC236}">
                <a16:creationId xmlns:a16="http://schemas.microsoft.com/office/drawing/2014/main" id="{C4A9DD3B-B3F9-48AA-BE20-495804BE1615}"/>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A model must fit the apparatus and predict behavior that calibration does not identify.</a:t>
            </a:r>
          </a:p>
        </p:txBody>
      </p:sp>
      <p:sp>
        <p:nvSpPr>
          <p:cNvPr id="3" name="">
            <a:extLst xmlns:a="http://schemas.openxmlformats.org/drawingml/2006/main">
              <a:ext uri="{FF2B5EF4-FFF2-40B4-BE49-F238E27FC236}">
                <a16:creationId xmlns:a16="http://schemas.microsoft.com/office/drawing/2014/main" id="{F602EE7E-B2AC-455C-8380-2B4D89323466}"/>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2</a:t>
            </a:r>
          </a:p>
        </p:txBody>
      </p:sp>
      <p:graphicFrame>
        <p:nvGraphicFramePr>
          <p:cNvPr id="4" name="">
            <a:extLst xmlns:a="http://schemas.openxmlformats.org/drawingml/2006/main">
              <a:ext uri="{FF2B5EF4-FFF2-40B4-BE49-F238E27FC236}">
                <a16:creationId xmlns:a16="http://schemas.microsoft.com/office/drawing/2014/main" id="{4C40BB47-B194-4DDC-932A-394A2AEA734A}"/>
              </a:ext>
            </a:extLst>
          </p:cNvPr>
          <p:cNvGraphicFramePr/>
          <p:nvPr/>
        </p:nvGraphicFramePr>
        <p:xfrm>
          <a:off xmlns:a="http://schemas.openxmlformats.org/drawingml/2006/main" x="457200" y="1819275"/>
          <a:ext xmlns:a="http://schemas.openxmlformats.org/drawingml/2006/main" cx="11277600" cy="2714625"/>
        </p:xfrm>
        <a:graphic xmlns:a="http://schemas.openxmlformats.org/drawingml/2006/main">
          <a:graphicData uri="http://schemas.openxmlformats.org/drawingml/2006/table">
            <a:tbl>
              <a:tblPr/>
              <a:tblGrid>
                <a:gridCol w="5510869"/>
                <a:gridCol w="5766731"/>
              </a:tblGrid>
              <a:tr h="678656">
                <a:tc>
                  <a:txBody>
                    <a:bodyPr lIns="0" tIns="0" rIns="0" bIns="0"/>
                    <a:lstStyle/>
                    <a:p>
                      <a:r>
                        <a:rPr sz="2025" b="1">
                          <a:solidFill>
                            <a:srgbClr val="FFFFFF"/>
                          </a:solidFill>
                          <a:latin typeface="Times New Roman"/>
                          <a:ea typeface="Times New Roman"/>
                          <a:cs typeface="Times New Roman"/>
                        </a:rPr>
                        <a:t>Available to the agent</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2025" b="1">
                          <a:solidFill>
                            <a:srgbClr val="FFFFFF"/>
                          </a:solidFill>
                          <a:latin typeface="Times New Roman"/>
                          <a:ea typeface="Times New Roman"/>
                          <a:cs typeface="Times New Roman"/>
                        </a:rPr>
                        <a:t>What the evaluator checks</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678656">
                <a:tc>
                  <a:txBody>
                    <a:bodyPr lIns="0" tIns="0" rIns="0" bIns="0"/>
                    <a:lstStyle/>
                    <a:p>
                      <a:r>
                        <a:rPr sz="2025" b="0">
                          <a:solidFill>
                            <a:srgbClr val="111111"/>
                          </a:solidFill>
                          <a:latin typeface="Times New Roman"/>
                          <a:ea typeface="Times New Roman"/>
                          <a:cs typeface="Times New Roman"/>
                        </a:rPr>
                        <a:t>Apparatus description and starter code</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Calibration fit and fitted parameters</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678656">
                <a:tc>
                  <a:txBody>
                    <a:bodyPr lIns="0" tIns="0" rIns="0" bIns="0"/>
                    <a:lstStyle/>
                    <a:p>
                      <a:r>
                        <a:rPr sz="2025" b="0">
                          <a:solidFill>
                            <a:srgbClr val="111111"/>
                          </a:solidFill>
                          <a:latin typeface="Times New Roman"/>
                          <a:ea typeface="Times New Roman"/>
                          <a:cs typeface="Times New Roman"/>
                        </a:rPr>
                        <a:t>Public calibration data and tests</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2025" b="0">
                          <a:solidFill>
                            <a:srgbClr val="111111"/>
                          </a:solidFill>
                          <a:latin typeface="Times New Roman"/>
                          <a:ea typeface="Times New Roman"/>
                          <a:cs typeface="Times New Roman"/>
                        </a:rPr>
                        <a:t>Predictions in held-out physical regimes</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r h="678656">
                <a:tc>
                  <a:txBody>
                    <a:bodyPr lIns="0" tIns="0" rIns="0" bIns="0"/>
                    <a:lstStyle/>
                    <a:p>
                      <a:r>
                        <a:rPr sz="2025" b="0">
                          <a:solidFill>
                            <a:srgbClr val="111111"/>
                          </a:solidFill>
                          <a:latin typeface="Times New Roman"/>
                          <a:ea typeface="Times New Roman"/>
                          <a:cs typeface="Times New Roman"/>
                        </a:rPr>
                        <a:t>A fixed software interface</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Completion within the time budget</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B8521B4-CF08-403D-8F9A-418747D0A182}"/>
              </a:ext>
            </a:extLst>
          </p:cNvPr>
          <p:cNvSpPr>
            <a:spLocks xmlns:a="http://schemas.openxmlformats.org/drawingml/2006/main" noGrp="1"/>
          </p:cNvSpPr>
          <p:nvPr/>
        </p:nvSpPr>
        <p:spPr>
          <a:xfrm xmlns:a="http://schemas.openxmlformats.org/drawingml/2006/main">
            <a:off x="457200" y="48577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350" b="1" i="0">
                <a:solidFill>
                  <a:srgbClr val="0F766E"/>
                </a:solidFill>
                <a:latin typeface="Times New Roman"/>
                <a:ea typeface="Times New Roman"/>
                <a:cs typeface="Times New Roman"/>
              </a:defRPr>
            </a:defPPr>
          </a:lstStyle>
          <a:p xmlns:a="http://schemas.openxmlformats.org/drawingml/2006/main">
            <a:pPr algn="l">
              <a:buNone/>
              <a:defRPr sz="4350" b="1" i="0">
                <a:solidFill>
                  <a:srgbClr val="0F766E"/>
                </a:solidFill>
                <a:latin typeface="Times New Roman"/>
                <a:ea typeface="Times New Roman"/>
                <a:cs typeface="Times New Roman"/>
              </a:defRPr>
            </a:pPr>
            <a:r>
              <a:rPr sz="4350" b="1" i="0">
                <a:solidFill>
                  <a:srgbClr val="0F766E"/>
                </a:solidFill>
                <a:latin typeface="Times New Roman"/>
                <a:ea typeface="Times New Roman"/>
                <a:cs typeface="Times New Roman"/>
              </a:rPr>
              <a:t>13</a:t>
            </a:r>
          </a:p>
        </p:txBody>
      </p:sp>
      <p:sp>
        <p:nvSpPr>
          <p:cNvPr id="6" name="">
            <a:extLst xmlns:a="http://schemas.openxmlformats.org/drawingml/2006/main">
              <a:ext uri="{FF2B5EF4-FFF2-40B4-BE49-F238E27FC236}">
                <a16:creationId xmlns:a16="http://schemas.microsoft.com/office/drawing/2014/main" id="{FC56EB49-9538-451F-AFC3-9BECA96A74F8}"/>
              </a:ext>
            </a:extLst>
          </p:cNvPr>
          <p:cNvSpPr>
            <a:spLocks xmlns:a="http://schemas.openxmlformats.org/drawingml/2006/main" noGrp="1"/>
          </p:cNvSpPr>
          <p:nvPr/>
        </p:nvSpPr>
        <p:spPr>
          <a:xfrm xmlns:a="http://schemas.openxmlformats.org/drawingml/2006/main">
            <a:off x="2009775" y="4943475"/>
            <a:ext cx="8953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tasks spanning stochastic dynamics, transport,</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correlations, and quantum or statistical systems</a:t>
            </a:r>
          </a:p>
        </p:txBody>
      </p:sp>
      <p:sp>
        <p:nvSpPr>
          <p:cNvPr id="7" name="">
            <a:extLst xmlns:a="http://schemas.openxmlformats.org/drawingml/2006/main">
              <a:ext uri="{FF2B5EF4-FFF2-40B4-BE49-F238E27FC236}">
                <a16:creationId xmlns:a16="http://schemas.microsoft.com/office/drawing/2014/main" id="{6F3BA975-F7F4-4E43-B8D0-56A627FC5D11}"/>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The roster was selected using GPT-5.6 Luna. Selection results and later evaluation results are separate.</a:t>
            </a:r>
          </a:p>
        </p:txBody>
      </p:sp>
    </p:spTree>
    <p:extLst>
      <p:ext uri="{BB962C8B-B14F-4D97-AF65-F5344CB8AC3E}">
        <p14:creationId xmlns:p14="http://schemas.microsoft.com/office/powerpoint/2010/main" val="4607685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57CC9370-5511-46DB-8CD1-6C26B9C82951}"/>
              </a:ext>
            </a:extLst>
          </p:cNvPr>
          <p:cNvCxnSpPr>
            <a:stCxn xmlns:a="http://schemas.openxmlformats.org/drawingml/2006/main" id="10" idx="4"/>
            <a:endCxn xmlns:a="http://schemas.openxmlformats.org/drawingml/2006/main" id="8" idx="4"/>
          </p:cNvCxnSpPr>
          <p:nvPr/>
        </p:nvCxnSpPr>
        <p:spPr>
          <a:xfrm xmlns:a="http://schemas.openxmlformats.org/drawingml/2006/main" flipH="1">
            <a:off x="728663" y="4724400"/>
            <a:ext cx="2171700" cy="0"/>
          </a:xfrm>
          <a:prstGeom xmlns:a="http://schemas.openxmlformats.org/drawingml/2006/main" prst="straightConnector1">
            <a:avLst/>
          </a:prstGeom>
          <a:ln xmlns:a="http://schemas.openxmlformats.org/drawingml/2006/main" w="19050">
            <a:solidFill>
              <a:srgbClr val="444444"/>
            </a:solidFill>
            <a:prstDash val="solid"/>
            <a:headEnd type="triangle" w="sm" len="sm"/>
            <a:tailEnd type="triangle" w="sm" len="sm"/>
          </a:ln>
        </p:spPr>
      </p:cxnSp>
      <p:cxnSp>
        <p:nvCxnSpPr>
          <p:cNvPr id="12" name="">
            <a:extLst xmlns:a="http://schemas.openxmlformats.org/drawingml/2006/main">
              <a:ext uri="{FF2B5EF4-FFF2-40B4-BE49-F238E27FC236}">
                <a16:creationId xmlns:a16="http://schemas.microsoft.com/office/drawing/2014/main" id="{1BD0DE80-895D-41A9-A57B-40F209F10C91}"/>
              </a:ext>
            </a:extLst>
          </p:cNvPr>
          <p:cNvCxnSpPr>
            <a:stCxn xmlns:a="http://schemas.openxmlformats.org/drawingml/2006/main" id="9" idx="6"/>
            <a:endCxn xmlns:a="http://schemas.openxmlformats.org/drawingml/2006/main" id="10" idx="2"/>
          </p:cNvCxnSpPr>
          <p:nvPr/>
        </p:nvCxnSpPr>
        <p:spPr>
          <a:xfrm xmlns:a="http://schemas.openxmlformats.org/drawingml/2006/main">
            <a:off x="2047875" y="4491038"/>
            <a:ext cx="619125" cy="0"/>
          </a:xfrm>
          <a:prstGeom xmlns:a="http://schemas.openxmlformats.org/drawingml/2006/main" prst="straightConnector1">
            <a:avLst/>
          </a:prstGeom>
          <a:ln xmlns:a="http://schemas.openxmlformats.org/drawingml/2006/main" w="19050">
            <a:solidFill>
              <a:srgbClr val="444444"/>
            </a:solidFill>
            <a:prstDash val="solid"/>
            <a:headEnd type="triangle" w="sm" len="sm"/>
            <a:tailEnd type="triangle" w="sm" len="sm"/>
          </a:ln>
        </p:spPr>
      </p:cxnSp>
      <p:cxnSp>
        <p:nvCxnSpPr>
          <p:cNvPr id="11" name="">
            <a:extLst xmlns:a="http://schemas.openxmlformats.org/drawingml/2006/main">
              <a:ext uri="{FF2B5EF4-FFF2-40B4-BE49-F238E27FC236}">
                <a16:creationId xmlns:a16="http://schemas.microsoft.com/office/drawing/2014/main" id="{DA798809-2C11-4FD6-BB73-14189008A262}"/>
              </a:ext>
            </a:extLst>
          </p:cNvPr>
          <p:cNvCxnSpPr>
            <a:stCxn xmlns:a="http://schemas.openxmlformats.org/drawingml/2006/main" id="8" idx="6"/>
            <a:endCxn xmlns:a="http://schemas.openxmlformats.org/drawingml/2006/main" id="9" idx="2"/>
          </p:cNvCxnSpPr>
          <p:nvPr/>
        </p:nvCxnSpPr>
        <p:spPr>
          <a:xfrm xmlns:a="http://schemas.openxmlformats.org/drawingml/2006/main">
            <a:off x="962025" y="4491038"/>
            <a:ext cx="619125" cy="0"/>
          </a:xfrm>
          <a:prstGeom xmlns:a="http://schemas.openxmlformats.org/drawingml/2006/main" prst="straightConnector1">
            <a:avLst/>
          </a:prstGeom>
          <a:ln xmlns:a="http://schemas.openxmlformats.org/drawingml/2006/main" w="19050">
            <a:solidFill>
              <a:srgbClr val="444444"/>
            </a:solidFill>
            <a:prstDash val="solid"/>
            <a:headEnd type="triangle" w="sm" len="sm"/>
            <a:tailEnd type="triangle" w="sm" len="sm"/>
          </a:ln>
        </p:spPr>
      </p:cxnSp>
      <p:sp>
        <p:nvSpPr>
          <p:cNvPr id="34" name="">
            <a:extLst xmlns:a="http://schemas.openxmlformats.org/drawingml/2006/main">
              <a:ext uri="{FF2B5EF4-FFF2-40B4-BE49-F238E27FC236}">
                <a16:creationId xmlns:a16="http://schemas.microsoft.com/office/drawing/2014/main" id="{55594D3D-19F6-4535-AE41-133E35E20B8E}"/>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Entropy anomaly: the apparatus</a:t>
            </a:r>
          </a:p>
        </p:txBody>
      </p:sp>
      <p:sp>
        <p:nvSpPr>
          <p:cNvPr id="2" name="">
            <a:extLst xmlns:a="http://schemas.openxmlformats.org/drawingml/2006/main">
              <a:ext uri="{FF2B5EF4-FFF2-40B4-BE49-F238E27FC236}">
                <a16:creationId xmlns:a16="http://schemas.microsoft.com/office/drawing/2014/main" id="{82B8944B-385C-42D2-B0F1-D365B41E07CE}"/>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 charged Brownian particle exchanges heat with one thermal reservoir at a time.</a:t>
            </a:r>
          </a:p>
        </p:txBody>
      </p:sp>
      <p:sp>
        <p:nvSpPr>
          <p:cNvPr id="3" name="">
            <a:extLst xmlns:a="http://schemas.openxmlformats.org/drawingml/2006/main">
              <a:ext uri="{FF2B5EF4-FFF2-40B4-BE49-F238E27FC236}">
                <a16:creationId xmlns:a16="http://schemas.microsoft.com/office/drawing/2014/main" id="{29E763A7-BF18-4781-99E2-9545BAC20F33}"/>
              </a:ext>
            </a:extLst>
          </p:cNvPr>
          <p:cNvSpPr>
            <a:spLocks xmlns:a="http://schemas.openxmlformats.org/drawingml/2006/main" noGrp="1"/>
          </p:cNvSpPr>
          <p:nvPr/>
        </p:nvSpPr>
        <p:spPr>
          <a:xfrm xmlns:a="http://schemas.openxmlformats.org/drawingml/2006/main">
            <a:off x="457200" y="1571625"/>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Thermal contacts</a:t>
            </a:r>
          </a:p>
        </p:txBody>
      </p:sp>
      <p:sp>
        <p:nvSpPr>
          <p:cNvPr id="4" name="">
            <a:extLst xmlns:a="http://schemas.openxmlformats.org/drawingml/2006/main">
              <a:ext uri="{FF2B5EF4-FFF2-40B4-BE49-F238E27FC236}">
                <a16:creationId xmlns:a16="http://schemas.microsoft.com/office/drawing/2014/main" id="{BB675444-57AC-4C22-A6F4-4CE93F31061A}"/>
              </a:ext>
            </a:extLst>
          </p:cNvPr>
          <p:cNvSpPr>
            <a:spLocks xmlns:a="http://schemas.openxmlformats.org/drawingml/2006/main" noGrp="1"/>
          </p:cNvSpPr>
          <p:nvPr/>
        </p:nvSpPr>
        <p:spPr>
          <a:xfrm xmlns:a="http://schemas.openxmlformats.org/drawingml/2006/main">
            <a:off x="4305300" y="1571625"/>
            <a:ext cx="338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Particle dynamics</a:t>
            </a:r>
          </a:p>
        </p:txBody>
      </p:sp>
      <p:sp>
        <p:nvSpPr>
          <p:cNvPr id="5" name="">
            <a:extLst xmlns:a="http://schemas.openxmlformats.org/drawingml/2006/main">
              <a:ext uri="{FF2B5EF4-FFF2-40B4-BE49-F238E27FC236}">
                <a16:creationId xmlns:a16="http://schemas.microsoft.com/office/drawing/2014/main" id="{83252769-15FA-4066-B715-7A4679CAB2F4}"/>
              </a:ext>
            </a:extLst>
          </p:cNvPr>
          <p:cNvSpPr>
            <a:spLocks xmlns:a="http://schemas.openxmlformats.org/drawingml/2006/main" noGrp="1"/>
          </p:cNvSpPr>
          <p:nvPr/>
        </p:nvSpPr>
        <p:spPr>
          <a:xfrm xmlns:a="http://schemas.openxmlformats.org/drawingml/2006/main">
            <a:off x="8572500" y="1571625"/>
            <a:ext cx="3162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Spatial calorimetry</a:t>
            </a:r>
          </a:p>
        </p:txBody>
      </p:sp>
      <p:graphicFrame>
        <p:nvGraphicFramePr>
          <p:cNvPr id="6" name="Chart">
            <a:extLst xmlns:a="http://schemas.openxmlformats.org/drawingml/2006/main">
              <a:ext uri="{FF2B5EF4-FFF2-40B4-BE49-F238E27FC236}">
                <a16:creationId xmlns:a16="http://schemas.microsoft.com/office/drawing/2014/main" id="{3F90FFE3-3AA0-4036-BD03-18B063549A63}"/>
              </a:ext>
            </a:extLst>
          </p:cNvPr>
          <p:cNvGraphicFramePr/>
          <p:nvPr/>
        </p:nvGraphicFramePr>
        <p:xfrm>
          <a:off xmlns:a="http://schemas.openxmlformats.org/drawingml/2006/main" x="419100" y="2000250"/>
          <a:ext xmlns:a="http://schemas.openxmlformats.org/drawingml/2006/main" cx="3028950" cy="1809750"/>
        </p:xfrm>
        <a:graphic xmlns:a="http://schemas.openxmlformats.org/drawingml/2006/main">
          <a:graphicData uri="http://schemas.openxmlformats.org/drawingml/2006/chart">
            <c:chart xmlns:r="http://schemas.openxmlformats.org/officeDocument/2006/relationships" xmlns:c="http://schemas.openxmlformats.org/drawingml/2006/chart" r:id="R0c45aaa25dc44b6b"/>
          </a:graphicData>
        </a:graphic>
      </p:graphicFrame>
      <p:sp>
        <p:nvSpPr>
          <p:cNvPr id="7" name="">
            <a:extLst xmlns:a="http://schemas.openxmlformats.org/drawingml/2006/main">
              <a:ext uri="{FF2B5EF4-FFF2-40B4-BE49-F238E27FC236}">
                <a16:creationId xmlns:a16="http://schemas.microsoft.com/office/drawing/2014/main" id="{2A7089CC-3C83-4A50-95E6-9070A9374D67}"/>
              </a:ext>
            </a:extLst>
          </p:cNvPr>
          <p:cNvSpPr>
            <a:spLocks xmlns:a="http://schemas.openxmlformats.org/drawingml/2006/main" noGrp="1"/>
          </p:cNvSpPr>
          <p:nvPr/>
        </p:nvSpPr>
        <p:spPr>
          <a:xfrm xmlns:a="http://schemas.openxmlformats.org/drawingml/2006/main">
            <a:off x="457200" y="387667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111111"/>
                </a:solidFill>
                <a:latin typeface="Times New Roman"/>
                <a:ea typeface="Times New Roman"/>
                <a:cs typeface="Times New Roman"/>
              </a:defRPr>
            </a:defPPr>
          </a:lstStyle>
          <a:p xmlns:a="http://schemas.openxmlformats.org/drawingml/2006/main">
            <a:pPr algn="l">
              <a:defRPr sz="1875" b="1">
                <a:solidFill>
                  <a:srgbClr val="111111"/>
                </a:solidFill>
                <a:latin typeface="Times New Roman"/>
                <a:ea typeface="Times New Roman"/>
                <a:cs typeface="Times New Roman"/>
              </a:defRPr>
            </a:pPr>
            <a:r>
              <a:rPr sz="1875" b="1">
                <a:solidFill>
                  <a:srgbClr val="111111"/>
                </a:solidFill>
                <a:latin typeface="Times New Roman"/>
                <a:ea typeface="Times New Roman"/>
                <a:cs typeface="Times New Roman"/>
              </a:rPr>
              <a:t>Three-contact valve</a:t>
            </a:r>
          </a:p>
        </p:txBody>
      </p:sp>
      <p:sp>
        <p:nvSpPr>
          <p:cNvPr id="8" name="">
            <a:extLst xmlns:a="http://schemas.openxmlformats.org/drawingml/2006/main">
              <a:ext uri="{FF2B5EF4-FFF2-40B4-BE49-F238E27FC236}">
                <a16:creationId xmlns:a16="http://schemas.microsoft.com/office/drawing/2014/main" id="{12DF1A9C-D8A2-41D9-AF63-18E59912E3D5}"/>
              </a:ext>
            </a:extLst>
          </p:cNvPr>
          <p:cNvSpPr>
            <a:spLocks xmlns:a="http://schemas.openxmlformats.org/drawingml/2006/main" noGrp="1"/>
          </p:cNvSpPr>
          <p:nvPr/>
        </p:nvSpPr>
        <p:spPr>
          <a:xfrm xmlns:a="http://schemas.openxmlformats.org/drawingml/2006/main">
            <a:off x="495300" y="4257675"/>
            <a:ext cx="466725" cy="466725"/>
          </a:xfrm>
          <a:prstGeom xmlns:a="http://schemas.openxmlformats.org/drawingml/2006/main" prst="ellipse">
            <a:avLst/>
          </a:prstGeom>
          <a:solidFill xmlns:a="http://schemas.openxmlformats.org/drawingml/2006/main">
            <a:srgbClr val="E7EFF7"/>
          </a:solidFill>
          <a:ln xmlns:a="http://schemas.openxmlformats.org/drawingml/2006/main" w="15240">
            <a:solidFill>
              <a:srgbClr val="1D4E89"/>
            </a:solidFill>
            <a:prstDash val="solid"/>
          </a:ln>
        </p:spPr>
        <p:txBody>
          <a:bodyPr xmlns:a="http://schemas.openxmlformats.org/drawingml/2006/main" lIns="0" tIns="0" rIns="0" bIns="0" anchor="ctr"/>
          <a:lstStyle xmlns:a="http://schemas.openxmlformats.org/drawingml/2006/main">
            <a:defPPr algn="ctr">
              <a:defRPr sz="2025" b="1">
                <a:solidFill>
                  <a:srgbClr val="1D4E89"/>
                </a:solidFill>
                <a:latin typeface="Times New Roman"/>
                <a:ea typeface="Times New Roman"/>
                <a:cs typeface="Times New Roman"/>
              </a:defRPr>
            </a:defPPr>
          </a:lstStyle>
          <a:p xmlns:a="http://schemas.openxmlformats.org/drawingml/2006/main">
            <a:pPr algn="ctr">
              <a:defRPr sz="2025" b="1">
                <a:solidFill>
                  <a:srgbClr val="1D4E89"/>
                </a:solidFill>
                <a:latin typeface="Times New Roman"/>
                <a:ea typeface="Times New Roman"/>
                <a:cs typeface="Times New Roman"/>
              </a:defRPr>
            </a:pPr>
            <a:r>
              <a:rPr sz="2025" b="1">
                <a:solidFill>
                  <a:srgbClr val="1D4E89"/>
                </a:solidFill>
                <a:latin typeface="Times New Roman"/>
                <a:ea typeface="Times New Roman"/>
                <a:cs typeface="Times New Roman"/>
              </a:rPr>
              <a:t>−1</a:t>
            </a:r>
          </a:p>
        </p:txBody>
      </p:sp>
      <p:sp>
        <p:nvSpPr>
          <p:cNvPr id="9" name="">
            <a:extLst xmlns:a="http://schemas.openxmlformats.org/drawingml/2006/main">
              <a:ext uri="{FF2B5EF4-FFF2-40B4-BE49-F238E27FC236}">
                <a16:creationId xmlns:a16="http://schemas.microsoft.com/office/drawing/2014/main" id="{52CCA6D9-E6D8-455F-837E-B2F5431456AC}"/>
              </a:ext>
            </a:extLst>
          </p:cNvPr>
          <p:cNvSpPr>
            <a:spLocks xmlns:a="http://schemas.openxmlformats.org/drawingml/2006/main" noGrp="1"/>
          </p:cNvSpPr>
          <p:nvPr/>
        </p:nvSpPr>
        <p:spPr>
          <a:xfrm xmlns:a="http://schemas.openxmlformats.org/drawingml/2006/main">
            <a:off x="1581150" y="4257675"/>
            <a:ext cx="466725" cy="466725"/>
          </a:xfrm>
          <a:prstGeom xmlns:a="http://schemas.openxmlformats.org/drawingml/2006/main" prst="ellipse">
            <a:avLst/>
          </a:prstGeom>
          <a:solidFill xmlns:a="http://schemas.openxmlformats.org/drawingml/2006/main">
            <a:srgbClr val="F3F4F6"/>
          </a:solidFill>
          <a:ln xmlns:a="http://schemas.openxmlformats.org/drawingml/2006/main" w="15240">
            <a:solidFill>
              <a:srgbClr val="444444"/>
            </a:solidFill>
            <a:prstDash val="solid"/>
          </a:ln>
        </p:spPr>
        <p:txBody>
          <a:bodyPr xmlns:a="http://schemas.openxmlformats.org/drawingml/2006/main" lIns="0" tIns="0" rIns="0" bIns="0" anchor="ctr"/>
          <a:lstStyle xmlns:a="http://schemas.openxmlformats.org/drawingml/2006/main">
            <a:defPPr algn="ctr">
              <a:defRPr sz="2025" b="1">
                <a:solidFill>
                  <a:srgbClr val="444444"/>
                </a:solidFill>
                <a:latin typeface="Times New Roman"/>
                <a:ea typeface="Times New Roman"/>
                <a:cs typeface="Times New Roman"/>
              </a:defRPr>
            </a:defPPr>
          </a:lstStyle>
          <a:p xmlns:a="http://schemas.openxmlformats.org/drawingml/2006/main">
            <a:pPr algn="ctr">
              <a:defRPr sz="2025" b="1">
                <a:solidFill>
                  <a:srgbClr val="444444"/>
                </a:solidFill>
                <a:latin typeface="Times New Roman"/>
                <a:ea typeface="Times New Roman"/>
                <a:cs typeface="Times New Roman"/>
              </a:defRPr>
            </a:pPr>
            <a:r>
              <a:rPr sz="2025" b="1">
                <a:solidFill>
                  <a:srgbClr val="444444"/>
                </a:solidFill>
                <a:latin typeface="Times New Roman"/>
                <a:ea typeface="Times New Roman"/>
                <a:cs typeface="Times New Roman"/>
              </a:rPr>
              <a:t>0</a:t>
            </a:r>
          </a:p>
        </p:txBody>
      </p:sp>
      <p:sp>
        <p:nvSpPr>
          <p:cNvPr id="10" name="">
            <a:extLst xmlns:a="http://schemas.openxmlformats.org/drawingml/2006/main">
              <a:ext uri="{FF2B5EF4-FFF2-40B4-BE49-F238E27FC236}">
                <a16:creationId xmlns:a16="http://schemas.microsoft.com/office/drawing/2014/main" id="{31936A4F-B8A5-4330-9EE9-6AD588C30CE5}"/>
              </a:ext>
            </a:extLst>
          </p:cNvPr>
          <p:cNvSpPr>
            <a:spLocks xmlns:a="http://schemas.openxmlformats.org/drawingml/2006/main" noGrp="1"/>
          </p:cNvSpPr>
          <p:nvPr/>
        </p:nvSpPr>
        <p:spPr>
          <a:xfrm xmlns:a="http://schemas.openxmlformats.org/drawingml/2006/main">
            <a:off x="2667000" y="4257675"/>
            <a:ext cx="466725" cy="466725"/>
          </a:xfrm>
          <a:prstGeom xmlns:a="http://schemas.openxmlformats.org/drawingml/2006/main" prst="ellipse">
            <a:avLst/>
          </a:prstGeom>
          <a:solidFill xmlns:a="http://schemas.openxmlformats.org/drawingml/2006/main">
            <a:srgbClr val="F9E7EB"/>
          </a:solidFill>
          <a:ln xmlns:a="http://schemas.openxmlformats.org/drawingml/2006/main" w="15240">
            <a:solidFill>
              <a:srgbClr val="A50026"/>
            </a:solidFill>
            <a:prstDash val="solid"/>
          </a:ln>
        </p:spPr>
        <p:txBody>
          <a:bodyPr xmlns:a="http://schemas.openxmlformats.org/drawingml/2006/main" lIns="0" tIns="0" rIns="0" bIns="0" anchor="ctr"/>
          <a:lstStyle xmlns:a="http://schemas.openxmlformats.org/drawingml/2006/main">
            <a:defPPr algn="ctr">
              <a:defRPr sz="2025" b="1">
                <a:solidFill>
                  <a:srgbClr val="A50026"/>
                </a:solidFill>
                <a:latin typeface="Times New Roman"/>
                <a:ea typeface="Times New Roman"/>
                <a:cs typeface="Times New Roman"/>
              </a:defRPr>
            </a:defPPr>
          </a:lstStyle>
          <a:p xmlns:a="http://schemas.openxmlformats.org/drawingml/2006/main">
            <a:pPr algn="ctr">
              <a:defRPr sz="2025" b="1">
                <a:solidFill>
                  <a:srgbClr val="A50026"/>
                </a:solidFill>
                <a:latin typeface="Times New Roman"/>
                <a:ea typeface="Times New Roman"/>
                <a:cs typeface="Times New Roman"/>
              </a:defRPr>
            </a:pPr>
            <a:r>
              <a:rPr sz="2025" b="1">
                <a:solidFill>
                  <a:srgbClr val="A50026"/>
                </a:solidFill>
                <a:latin typeface="Times New Roman"/>
                <a:ea typeface="Times New Roman"/>
                <a:cs typeface="Times New Roman"/>
              </a:rPr>
              <a:t>+1</a:t>
            </a:r>
          </a:p>
        </p:txBody>
      </p:sp>
      <p:sp>
        <p:nvSpPr>
          <p:cNvPr id="14" name="">
            <a:extLst xmlns:a="http://schemas.openxmlformats.org/drawingml/2006/main">
              <a:ext uri="{FF2B5EF4-FFF2-40B4-BE49-F238E27FC236}">
                <a16:creationId xmlns:a16="http://schemas.microsoft.com/office/drawing/2014/main" id="{335650F4-0B23-4D83-A5B0-FFA9D6DE7DB2}"/>
              </a:ext>
            </a:extLst>
          </p:cNvPr>
          <p:cNvSpPr>
            <a:spLocks xmlns:a="http://schemas.openxmlformats.org/drawingml/2006/main" noGrp="1"/>
          </p:cNvSpPr>
          <p:nvPr/>
        </p:nvSpPr>
        <p:spPr>
          <a:xfrm xmlns:a="http://schemas.openxmlformats.org/drawingml/2006/main">
            <a:off x="457200" y="5010150"/>
            <a:ext cx="3086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444444"/>
                </a:solidFill>
                <a:latin typeface="Times New Roman"/>
                <a:ea typeface="Times New Roman"/>
                <a:cs typeface="Times New Roman"/>
              </a:defRPr>
            </a:defPPr>
          </a:lstStyle>
          <a:p xmlns:a="http://schemas.openxmlformats.org/drawingml/2006/main">
            <a:pPr algn="l">
              <a:defRPr sz="1725" b="0">
                <a:solidFill>
                  <a:srgbClr val="444444"/>
                </a:solidFill>
                <a:latin typeface="Times New Roman"/>
                <a:ea typeface="Times New Roman"/>
                <a:cs typeface="Times New Roman"/>
              </a:defRPr>
            </a:pPr>
            <a:r>
              <a:rPr sz="1725" b="0">
                <a:solidFill>
                  <a:srgbClr val="444444"/>
                </a:solidFill>
                <a:latin typeface="Times New Roman"/>
                <a:ea typeface="Times New Roman"/>
                <a:cs typeface="Times New Roman"/>
              </a:rPr>
              <a:t>Jump rates scale as 1/m</a:t>
            </a:r>
          </a:p>
        </p:txBody>
      </p:sp>
      <p:sp>
        <p:nvSpPr>
          <p:cNvPr id="15" name="">
            <a:extLst xmlns:a="http://schemas.openxmlformats.org/drawingml/2006/main">
              <a:ext uri="{FF2B5EF4-FFF2-40B4-BE49-F238E27FC236}">
                <a16:creationId xmlns:a16="http://schemas.microsoft.com/office/drawing/2014/main" id="{18D18E75-63AF-4D80-A19C-94F065312059}"/>
              </a:ext>
            </a:extLst>
          </p:cNvPr>
          <p:cNvSpPr>
            <a:spLocks xmlns:a="http://schemas.openxmlformats.org/drawingml/2006/main" noGrp="1"/>
          </p:cNvSpPr>
          <p:nvPr/>
        </p:nvSpPr>
        <p:spPr>
          <a:xfrm xmlns:a="http://schemas.openxmlformats.org/drawingml/2006/main">
            <a:off x="3552825" y="3143250"/>
            <a:ext cx="600075" cy="152400"/>
          </a:xfrm>
          <a:prstGeom xmlns:a="http://schemas.openxmlformats.org/drawingml/2006/main" prst="rightArrow">
            <a:avLst/>
          </a:prstGeom>
          <a:solidFill xmlns:a="http://schemas.openxmlformats.org/drawingml/2006/main">
            <a:srgbClr val="0F766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7662B16-A0DC-4005-A5F2-2795268716F4}"/>
              </a:ext>
            </a:extLst>
          </p:cNvPr>
          <p:cNvSpPr>
            <a:spLocks xmlns:a="http://schemas.openxmlformats.org/drawingml/2006/main" noGrp="1"/>
          </p:cNvSpPr>
          <p:nvPr/>
        </p:nvSpPr>
        <p:spPr>
          <a:xfrm xmlns:a="http://schemas.openxmlformats.org/drawingml/2006/main">
            <a:off x="3486150" y="3533775"/>
            <a:ext cx="8286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500" b="0">
                <a:solidFill>
                  <a:srgbClr val="0F766E"/>
                </a:solidFill>
                <a:latin typeface="Times New Roman"/>
                <a:ea typeface="Times New Roman"/>
                <a:cs typeface="Times New Roman"/>
              </a:defRPr>
            </a:defPPr>
          </a:lstStyle>
          <a:p xmlns:a="http://schemas.openxmlformats.org/drawingml/2006/main">
            <a:pPr algn="ctr">
              <a:defRPr sz="1500" b="0">
                <a:solidFill>
                  <a:srgbClr val="0F766E"/>
                </a:solidFill>
                <a:latin typeface="Times New Roman"/>
                <a:ea typeface="Times New Roman"/>
                <a:cs typeface="Times New Roman"/>
              </a:defRPr>
            </a:pPr>
            <a:r>
              <a:rPr sz="1500" b="0">
                <a:solidFill>
                  <a:srgbClr val="0F766E"/>
                </a:solidFill>
                <a:latin typeface="Times New Roman"/>
                <a:ea typeface="Times New Roman"/>
                <a:cs typeface="Times New Roman"/>
              </a:rPr>
              <a:t>one active</a:t>
            </a:r>
          </a:p>
          <a:p xmlns:a="http://schemas.openxmlformats.org/drawingml/2006/main">
            <a:pPr algn="ctr">
              <a:defRPr sz="1500" b="0">
                <a:solidFill>
                  <a:srgbClr val="0F766E"/>
                </a:solidFill>
                <a:latin typeface="Times New Roman"/>
                <a:ea typeface="Times New Roman"/>
                <a:cs typeface="Times New Roman"/>
              </a:defRPr>
            </a:pPr>
            <a:r>
              <a:rPr sz="1500" b="0">
                <a:solidFill>
                  <a:srgbClr val="0F766E"/>
                </a:solidFill>
                <a:latin typeface="Times New Roman"/>
                <a:ea typeface="Times New Roman"/>
                <a:cs typeface="Times New Roman"/>
              </a:rPr>
              <a:t>contact</a:t>
            </a:r>
          </a:p>
        </p:txBody>
      </p:sp>
      <p:sp>
        <p:nvSpPr>
          <p:cNvPr id="17" name="">
            <a:extLst xmlns:a="http://schemas.openxmlformats.org/drawingml/2006/main">
              <a:ext uri="{FF2B5EF4-FFF2-40B4-BE49-F238E27FC236}">
                <a16:creationId xmlns:a16="http://schemas.microsoft.com/office/drawing/2014/main" id="{B83F5748-6B80-43E1-B7E5-72B3807310F9}"/>
              </a:ext>
            </a:extLst>
          </p:cNvPr>
          <p:cNvSpPr>
            <a:spLocks xmlns:a="http://schemas.openxmlformats.org/drawingml/2006/main" noGrp="1"/>
          </p:cNvSpPr>
          <p:nvPr/>
        </p:nvSpPr>
        <p:spPr>
          <a:xfrm xmlns:a="http://schemas.openxmlformats.org/drawingml/2006/main">
            <a:off x="4629150" y="2076450"/>
            <a:ext cx="2619375" cy="2152650"/>
          </a:xfrm>
          <a:prstGeom xmlns:a="http://schemas.openxmlformats.org/drawingml/2006/main" prst="rect">
            <a:avLst/>
          </a:prstGeom>
          <a:solidFill xmlns:a="http://schemas.openxmlformats.org/drawingml/2006/main">
            <a:srgbClr val="FAFAFA"/>
          </a:solidFill>
          <a:ln xmlns:a="http://schemas.openxmlformats.org/drawingml/2006/main" w="14288">
            <a:solidFill>
              <a:srgbClr val="777777"/>
            </a:solidFill>
            <a:prstDash val="dash"/>
          </a:ln>
        </p:spPr>
      </p:sp>
      <p:sp>
        <p:nvSpPr>
          <p:cNvPr id="18" name="">
            <a:extLst xmlns:a="http://schemas.openxmlformats.org/drawingml/2006/main">
              <a:ext uri="{FF2B5EF4-FFF2-40B4-BE49-F238E27FC236}">
                <a16:creationId xmlns:a16="http://schemas.microsoft.com/office/drawing/2014/main" id="{C010C395-5C19-44B5-8AC3-AF360DD0A82C}"/>
              </a:ext>
            </a:extLst>
          </p:cNvPr>
          <p:cNvSpPr>
            <a:spLocks xmlns:a="http://schemas.openxmlformats.org/drawingml/2006/main" noGrp="1"/>
          </p:cNvSpPr>
          <p:nvPr/>
        </p:nvSpPr>
        <p:spPr>
          <a:xfrm xmlns:a="http://schemas.openxmlformats.org/drawingml/2006/main">
            <a:off x="4762500" y="2200275"/>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725" b="0">
                <a:solidFill>
                  <a:srgbClr val="444444"/>
                </a:solidFill>
                <a:latin typeface="Times New Roman"/>
                <a:ea typeface="Times New Roman"/>
                <a:cs typeface="Times New Roman"/>
              </a:defRPr>
            </a:defPPr>
          </a:lstStyle>
          <a:p xmlns:a="http://schemas.openxmlformats.org/drawingml/2006/main">
            <a:pPr algn="ctr">
              <a:defRPr sz="1725" b="0">
                <a:solidFill>
                  <a:srgbClr val="444444"/>
                </a:solidFill>
                <a:latin typeface="Times New Roman"/>
                <a:ea typeface="Times New Roman"/>
                <a:cs typeface="Times New Roman"/>
              </a:defRPr>
            </a:pPr>
            <a:r>
              <a:rPr sz="1725" b="0">
                <a:solidFill>
                  <a:srgbClr val="444444"/>
                </a:solidFill>
                <a:latin typeface="Times New Roman"/>
                <a:ea typeface="Times New Roman"/>
                <a:cs typeface="Times New Roman"/>
              </a:rPr>
              <a:t>periodic square</a:t>
            </a:r>
          </a:p>
        </p:txBody>
      </p:sp>
      <p:sp>
        <p:nvSpPr>
          <p:cNvPr id="19" name="">
            <a:extLst xmlns:a="http://schemas.openxmlformats.org/drawingml/2006/main">
              <a:ext uri="{FF2B5EF4-FFF2-40B4-BE49-F238E27FC236}">
                <a16:creationId xmlns:a16="http://schemas.microsoft.com/office/drawing/2014/main" id="{82511789-3E33-432E-910F-DB40F2E47ED8}"/>
              </a:ext>
            </a:extLst>
          </p:cNvPr>
          <p:cNvSpPr>
            <a:spLocks xmlns:a="http://schemas.openxmlformats.org/drawingml/2006/main" noGrp="1"/>
          </p:cNvSpPr>
          <p:nvPr/>
        </p:nvSpPr>
        <p:spPr>
          <a:xfrm xmlns:a="http://schemas.openxmlformats.org/drawingml/2006/main">
            <a:off x="5619750" y="2914650"/>
            <a:ext cx="447675" cy="447675"/>
          </a:xfrm>
          <a:prstGeom xmlns:a="http://schemas.openxmlformats.org/drawingml/2006/main" prst="ellipse">
            <a:avLst/>
          </a:prstGeom>
          <a:solidFill xmlns:a="http://schemas.openxmlformats.org/drawingml/2006/main">
            <a:srgbClr val="B45309"/>
          </a:solidFill>
          <a:ln xmlns:a="http://schemas.openxmlformats.org/drawingml/2006/main" w="15240">
            <a:solidFill>
              <a:srgbClr val="FFFFFF"/>
            </a:solidFill>
            <a:prstDash val="solid"/>
          </a:ln>
        </p:spPr>
        <p:txBody>
          <a:bodyPr xmlns:a="http://schemas.openxmlformats.org/drawingml/2006/main" lIns="0" tIns="0" rIns="0" bIns="0" anchor="ctr"/>
          <a:lstStyle xmlns:a="http://schemas.openxmlformats.org/drawingml/2006/main">
            <a:defPPr algn="ctr">
              <a:defRPr sz="2025" b="1">
                <a:solidFill>
                  <a:srgbClr val="FFFFFF"/>
                </a:solidFill>
                <a:latin typeface="Times New Roman"/>
                <a:ea typeface="Times New Roman"/>
                <a:cs typeface="Times New Roman"/>
              </a:defRPr>
            </a:defPPr>
          </a:lstStyle>
          <a:p xmlns:a="http://schemas.openxmlformats.org/drawingml/2006/main">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a:t>
            </a:r>
          </a:p>
        </p:txBody>
      </p:sp>
      <p:sp>
        <p:nvSpPr>
          <p:cNvPr id="20" name="">
            <a:extLst xmlns:a="http://schemas.openxmlformats.org/drawingml/2006/main">
              <a:ext uri="{FF2B5EF4-FFF2-40B4-BE49-F238E27FC236}">
                <a16:creationId xmlns:a16="http://schemas.microsoft.com/office/drawing/2014/main" id="{B144827D-09A8-4093-A4FF-095DA0270E6F}"/>
              </a:ext>
            </a:extLst>
          </p:cNvPr>
          <p:cNvSpPr>
            <a:spLocks xmlns:a="http://schemas.openxmlformats.org/drawingml/2006/main" noGrp="1"/>
          </p:cNvSpPr>
          <p:nvPr/>
        </p:nvSpPr>
        <p:spPr>
          <a:xfrm xmlns:a="http://schemas.openxmlformats.org/drawingml/2006/main">
            <a:off x="6153150" y="3057525"/>
            <a:ext cx="781050" cy="152400"/>
          </a:xfrm>
          <a:prstGeom xmlns:a="http://schemas.openxmlformats.org/drawingml/2006/main" prst="rightArrow">
            <a:avLst/>
          </a:prstGeom>
          <a:solidFill xmlns:a="http://schemas.openxmlformats.org/drawingml/2006/main">
            <a:srgbClr val="11111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3A38745-C1FD-4667-A9F6-A26648105AB0}"/>
              </a:ext>
            </a:extLst>
          </p:cNvPr>
          <p:cNvSpPr>
            <a:spLocks xmlns:a="http://schemas.openxmlformats.org/drawingml/2006/main" noGrp="1"/>
          </p:cNvSpPr>
          <p:nvPr/>
        </p:nvSpPr>
        <p:spPr>
          <a:xfrm xmlns:a="http://schemas.openxmlformats.org/drawingml/2006/main">
            <a:off x="6572250" y="27051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1">
                <a:solidFill>
                  <a:srgbClr val="111111"/>
                </a:solidFill>
                <a:latin typeface="Times New Roman"/>
                <a:ea typeface="Times New Roman"/>
                <a:cs typeface="Times New Roman"/>
              </a:defRPr>
            </a:defPPr>
          </a:lstStyle>
          <a:p xmlns:a="http://schemas.openxmlformats.org/drawingml/2006/main">
            <a:pPr algn="l">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F</a:t>
            </a:r>
          </a:p>
        </p:txBody>
      </p:sp>
      <p:sp>
        <p:nvSpPr>
          <p:cNvPr id="22" name="">
            <a:extLst xmlns:a="http://schemas.openxmlformats.org/drawingml/2006/main">
              <a:ext uri="{FF2B5EF4-FFF2-40B4-BE49-F238E27FC236}">
                <a16:creationId xmlns:a16="http://schemas.microsoft.com/office/drawing/2014/main" id="{C9913F45-DB3B-4D25-A9B5-8593382651A9}"/>
              </a:ext>
            </a:extLst>
          </p:cNvPr>
          <p:cNvSpPr>
            <a:spLocks xmlns:a="http://schemas.openxmlformats.org/drawingml/2006/main" noGrp="1"/>
          </p:cNvSpPr>
          <p:nvPr/>
        </p:nvSpPr>
        <p:spPr>
          <a:xfrm xmlns:a="http://schemas.openxmlformats.org/drawingml/2006/main">
            <a:off x="4829175" y="3019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D4E89"/>
                </a:solidFill>
                <a:latin typeface="Times New Roman"/>
                <a:ea typeface="Times New Roman"/>
                <a:cs typeface="Times New Roman"/>
              </a:defRPr>
            </a:defPPr>
          </a:lstStyle>
          <a:p xmlns:a="http://schemas.openxmlformats.org/drawingml/2006/main">
            <a:pPr algn="l">
              <a:defRPr sz="2175" b="1">
                <a:solidFill>
                  <a:srgbClr val="1D4E89"/>
                </a:solidFill>
                <a:latin typeface="Times New Roman"/>
                <a:ea typeface="Times New Roman"/>
                <a:cs typeface="Times New Roman"/>
              </a:defRPr>
            </a:pPr>
            <a:r>
              <a:rPr sz="2175" b="1">
                <a:solidFill>
                  <a:srgbClr val="1D4E89"/>
                </a:solidFill>
                <a:latin typeface="Times New Roman"/>
                <a:ea typeface="Times New Roman"/>
                <a:cs typeface="Times New Roman"/>
              </a:rPr>
              <a:t>⊙ B</a:t>
            </a:r>
          </a:p>
        </p:txBody>
      </p:sp>
      <p:sp>
        <p:nvSpPr>
          <p:cNvPr id="23" name="">
            <a:extLst xmlns:a="http://schemas.openxmlformats.org/drawingml/2006/main">
              <a:ext uri="{FF2B5EF4-FFF2-40B4-BE49-F238E27FC236}">
                <a16:creationId xmlns:a16="http://schemas.microsoft.com/office/drawing/2014/main" id="{3FF62052-A587-4C3C-B0F1-3049235249DA}"/>
              </a:ext>
            </a:extLst>
          </p:cNvPr>
          <p:cNvSpPr>
            <a:spLocks xmlns:a="http://schemas.openxmlformats.org/drawingml/2006/main" noGrp="1"/>
          </p:cNvSpPr>
          <p:nvPr/>
        </p:nvSpPr>
        <p:spPr>
          <a:xfrm xmlns:a="http://schemas.openxmlformats.org/drawingml/2006/main">
            <a:off x="4800600" y="3819525"/>
            <a:ext cx="2305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650" b="0">
                <a:solidFill>
                  <a:srgbClr val="444444"/>
                </a:solidFill>
                <a:latin typeface="Times New Roman"/>
                <a:ea typeface="Times New Roman"/>
                <a:cs typeface="Times New Roman"/>
              </a:defRPr>
            </a:defPPr>
          </a:lstStyle>
          <a:p xmlns:a="http://schemas.openxmlformats.org/drawingml/2006/main">
            <a:pPr algn="ctr">
              <a:defRPr sz="1650" b="0">
                <a:solidFill>
                  <a:srgbClr val="444444"/>
                </a:solidFill>
                <a:latin typeface="Times New Roman"/>
                <a:ea typeface="Times New Roman"/>
                <a:cs typeface="Times New Roman"/>
              </a:defRPr>
            </a:pPr>
            <a:r>
              <a:rPr sz="1650" b="0">
                <a:solidFill>
                  <a:srgbClr val="444444"/>
                </a:solidFill>
                <a:latin typeface="Times New Roman"/>
                <a:ea typeface="Times New Roman"/>
                <a:cs typeface="Times New Roman"/>
              </a:rPr>
              <a:t>x, y  ∈  [0, 2π)</a:t>
            </a:r>
          </a:p>
        </p:txBody>
      </p:sp>
      <p:sp>
        <p:nvSpPr>
          <p:cNvPr id="24" name="">
            <a:extLst xmlns:a="http://schemas.openxmlformats.org/drawingml/2006/main">
              <a:ext uri="{FF2B5EF4-FFF2-40B4-BE49-F238E27FC236}">
                <a16:creationId xmlns:a16="http://schemas.microsoft.com/office/drawing/2014/main" id="{C73A6E07-0E9A-41AB-97B2-AD4CDC6AD20D}"/>
              </a:ext>
            </a:extLst>
          </p:cNvPr>
          <p:cNvSpPr>
            <a:spLocks xmlns:a="http://schemas.openxmlformats.org/drawingml/2006/main" noGrp="1"/>
          </p:cNvSpPr>
          <p:nvPr/>
        </p:nvSpPr>
        <p:spPr>
          <a:xfrm xmlns:a="http://schemas.openxmlformats.org/drawingml/2006/main">
            <a:off x="4410075" y="44196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950" b="0">
                <a:solidFill>
                  <a:srgbClr val="111111"/>
                </a:solidFill>
                <a:latin typeface="Times New Roman"/>
                <a:ea typeface="Times New Roman"/>
                <a:cs typeface="Times New Roman"/>
              </a:defRPr>
            </a:defPPr>
          </a:lstStyle>
          <a:p xmlns:a="http://schemas.openxmlformats.org/drawingml/2006/main">
            <a:pPr algn="ctr">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Drag + thermal noise</a:t>
            </a:r>
          </a:p>
          <a:p xmlns:a="http://schemas.openxmlformats.org/drawingml/2006/main">
            <a:pPr algn="ctr">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Only unknown: friction γ</a:t>
            </a:r>
          </a:p>
        </p:txBody>
      </p:sp>
      <p:sp>
        <p:nvSpPr>
          <p:cNvPr id="25" name="">
            <a:extLst xmlns:a="http://schemas.openxmlformats.org/drawingml/2006/main">
              <a:ext uri="{FF2B5EF4-FFF2-40B4-BE49-F238E27FC236}">
                <a16:creationId xmlns:a16="http://schemas.microsoft.com/office/drawing/2014/main" id="{99C0F616-F64C-420D-90BE-CEBD6F044CD4}"/>
              </a:ext>
            </a:extLst>
          </p:cNvPr>
          <p:cNvSpPr>
            <a:spLocks xmlns:a="http://schemas.openxmlformats.org/drawingml/2006/main" noGrp="1"/>
          </p:cNvSpPr>
          <p:nvPr/>
        </p:nvSpPr>
        <p:spPr>
          <a:xfrm xmlns:a="http://schemas.openxmlformats.org/drawingml/2006/main">
            <a:off x="7705725" y="3143250"/>
            <a:ext cx="628650" cy="152400"/>
          </a:xfrm>
          <a:prstGeom xmlns:a="http://schemas.openxmlformats.org/drawingml/2006/main" prst="rightArrow">
            <a:avLst/>
          </a:prstGeom>
          <a:solidFill xmlns:a="http://schemas.openxmlformats.org/drawingml/2006/main">
            <a:srgbClr val="0F766E"/>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C2921FF-9C98-403A-B486-5BC8E8BB8E34}"/>
              </a:ext>
            </a:extLst>
          </p:cNvPr>
          <p:cNvSpPr>
            <a:spLocks xmlns:a="http://schemas.openxmlformats.org/drawingml/2006/main" noGrp="1"/>
          </p:cNvSpPr>
          <p:nvPr/>
        </p:nvSpPr>
        <p:spPr>
          <a:xfrm xmlns:a="http://schemas.openxmlformats.org/drawingml/2006/main">
            <a:off x="7696200" y="3533775"/>
            <a:ext cx="685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500" b="0">
                <a:solidFill>
                  <a:srgbClr val="0F766E"/>
                </a:solidFill>
                <a:latin typeface="Times New Roman"/>
                <a:ea typeface="Times New Roman"/>
                <a:cs typeface="Times New Roman"/>
              </a:defRPr>
            </a:defPPr>
          </a:lstStyle>
          <a:p xmlns:a="http://schemas.openxmlformats.org/drawingml/2006/main">
            <a:pPr algn="ctr">
              <a:defRPr sz="1500" b="0">
                <a:solidFill>
                  <a:srgbClr val="0F766E"/>
                </a:solidFill>
                <a:latin typeface="Times New Roman"/>
                <a:ea typeface="Times New Roman"/>
                <a:cs typeface="Times New Roman"/>
              </a:defRPr>
            </a:pPr>
            <a:r>
              <a:rPr sz="1500" b="0">
                <a:solidFill>
                  <a:srgbClr val="0F766E"/>
                </a:solidFill>
                <a:latin typeface="Times New Roman"/>
                <a:ea typeface="Times New Roman"/>
                <a:cs typeface="Times New Roman"/>
              </a:rPr>
              <a:t>heat</a:t>
            </a:r>
          </a:p>
          <a:p xmlns:a="http://schemas.openxmlformats.org/drawingml/2006/main">
            <a:pPr algn="ctr">
              <a:defRPr sz="1500" b="0">
                <a:solidFill>
                  <a:srgbClr val="0F766E"/>
                </a:solidFill>
                <a:latin typeface="Times New Roman"/>
                <a:ea typeface="Times New Roman"/>
                <a:cs typeface="Times New Roman"/>
              </a:defRPr>
            </a:pPr>
            <a:r>
              <a:rPr sz="1500" b="0">
                <a:solidFill>
                  <a:srgbClr val="0F766E"/>
                </a:solidFill>
                <a:latin typeface="Times New Roman"/>
                <a:ea typeface="Times New Roman"/>
                <a:cs typeface="Times New Roman"/>
              </a:rPr>
              <a:t>record</a:t>
            </a:r>
          </a:p>
        </p:txBody>
      </p:sp>
      <p:graphicFrame>
        <p:nvGraphicFramePr>
          <p:cNvPr id="27" name="Chart">
            <a:extLst xmlns:a="http://schemas.openxmlformats.org/drawingml/2006/main">
              <a:ext uri="{FF2B5EF4-FFF2-40B4-BE49-F238E27FC236}">
                <a16:creationId xmlns:a16="http://schemas.microsoft.com/office/drawing/2014/main" id="{5C300D99-8C81-4185-9A34-4BCE1B1B8C68}"/>
              </a:ext>
            </a:extLst>
          </p:cNvPr>
          <p:cNvGraphicFramePr/>
          <p:nvPr/>
        </p:nvGraphicFramePr>
        <p:xfrm>
          <a:off xmlns:a="http://schemas.openxmlformats.org/drawingml/2006/main" x="8524875" y="2000250"/>
          <a:ext xmlns:a="http://schemas.openxmlformats.org/drawingml/2006/main" cx="3209925" cy="1809750"/>
        </p:xfrm>
        <a:graphic xmlns:a="http://schemas.openxmlformats.org/drawingml/2006/main">
          <a:graphicData uri="http://schemas.openxmlformats.org/drawingml/2006/chart">
            <c:chart xmlns:r="http://schemas.openxmlformats.org/officeDocument/2006/relationships" xmlns:c="http://schemas.openxmlformats.org/drawingml/2006/chart" r:id="R242151f09d8f4b96"/>
          </a:graphicData>
        </a:graphic>
      </p:graphicFrame>
      <p:sp>
        <p:nvSpPr>
          <p:cNvPr id="28" name="">
            <a:extLst xmlns:a="http://schemas.openxmlformats.org/drawingml/2006/main">
              <a:ext uri="{FF2B5EF4-FFF2-40B4-BE49-F238E27FC236}">
                <a16:creationId xmlns:a16="http://schemas.microsoft.com/office/drawing/2014/main" id="{28C438A6-BC82-41F3-A467-115B43D8A1EB}"/>
              </a:ext>
            </a:extLst>
          </p:cNvPr>
          <p:cNvSpPr>
            <a:spLocks xmlns:a="http://schemas.openxmlformats.org/drawingml/2006/main" noGrp="1"/>
          </p:cNvSpPr>
          <p:nvPr/>
        </p:nvSpPr>
        <p:spPr>
          <a:xfrm xmlns:a="http://schemas.openxmlformats.org/drawingml/2006/main">
            <a:off x="8648700" y="4010025"/>
            <a:ext cx="30861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11111"/>
                </a:solidFill>
                <a:latin typeface="Times New Roman"/>
                <a:ea typeface="Times New Roman"/>
                <a:cs typeface="Times New Roman"/>
              </a:defRPr>
            </a:defPPr>
          </a:lstStyle>
          <a:p xmlns:a="http://schemas.openxmlformats.org/drawingml/2006/main">
            <a:pPr algn="l">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Weight local bath entropy</a:t>
            </a:r>
          </a:p>
          <a:p xmlns:a="http://schemas.openxmlformats.org/drawingml/2006/main">
            <a:pPr algn="l">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by the particle’s position</a:t>
            </a:r>
          </a:p>
        </p:txBody>
      </p:sp>
      <p:sp>
        <p:nvSpPr>
          <p:cNvPr id="29" name="">
            <a:extLst xmlns:a="http://schemas.openxmlformats.org/drawingml/2006/main">
              <a:ext uri="{FF2B5EF4-FFF2-40B4-BE49-F238E27FC236}">
                <a16:creationId xmlns:a16="http://schemas.microsoft.com/office/drawing/2014/main" id="{86FE7E42-E010-41C3-B4DB-D38895434D55}"/>
              </a:ext>
            </a:extLst>
          </p:cNvPr>
          <p:cNvSpPr>
            <a:spLocks xmlns:a="http://schemas.openxmlformats.org/drawingml/2006/main" noGrp="1"/>
          </p:cNvSpPr>
          <p:nvPr/>
        </p:nvSpPr>
        <p:spPr>
          <a:xfrm xmlns:a="http://schemas.openxmlformats.org/drawingml/2006/main">
            <a:off x="8648700" y="4810125"/>
            <a:ext cx="3086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444444"/>
                </a:solidFill>
                <a:latin typeface="Times New Roman"/>
                <a:ea typeface="Times New Roman"/>
                <a:cs typeface="Times New Roman"/>
              </a:defRPr>
            </a:defPPr>
          </a:lstStyle>
          <a:p xmlns:a="http://schemas.openxmlformats.org/drawingml/2006/main">
            <a:pPr algn="l">
              <a:defRPr sz="1725" b="0">
                <a:solidFill>
                  <a:srgbClr val="444444"/>
                </a:solidFill>
                <a:latin typeface="Times New Roman"/>
                <a:ea typeface="Times New Roman"/>
                <a:cs typeface="Times New Roman"/>
              </a:defRPr>
            </a:pPr>
            <a:r>
              <a:rPr sz="1725" b="0">
                <a:solidFill>
                  <a:srgbClr val="444444"/>
                </a:solidFill>
                <a:latin typeface="Times New Roman"/>
                <a:ea typeface="Times New Roman"/>
                <a:cs typeface="Times New Roman"/>
              </a:rPr>
              <a:t>Detector applies no force</a:t>
            </a:r>
          </a:p>
        </p:txBody>
      </p:sp>
      <p:sp>
        <p:nvSpPr>
          <p:cNvPr id="30" name="">
            <a:extLst xmlns:a="http://schemas.openxmlformats.org/drawingml/2006/main">
              <a:ext uri="{FF2B5EF4-FFF2-40B4-BE49-F238E27FC236}">
                <a16:creationId xmlns:a16="http://schemas.microsoft.com/office/drawing/2014/main" id="{8A16AA75-73B1-4407-8A41-DAAA87272366}"/>
              </a:ext>
            </a:extLst>
          </p:cNvPr>
          <p:cNvSpPr>
            <a:spLocks xmlns:a="http://schemas.openxmlformats.org/drawingml/2006/main" noGrp="1"/>
          </p:cNvSpPr>
          <p:nvPr/>
        </p:nvSpPr>
        <p:spPr>
          <a:xfrm xmlns:a="http://schemas.openxmlformats.org/drawingml/2006/main">
            <a:off x="457200" y="5419725"/>
            <a:ext cx="11277600" cy="514350"/>
          </a:xfrm>
          <a:prstGeom xmlns:a="http://schemas.openxmlformats.org/drawingml/2006/main" prst="rect">
            <a:avLst/>
          </a:prstGeom>
          <a:solidFill xmlns:a="http://schemas.openxmlformats.org/drawingml/2006/main">
            <a:srgbClr val="F3F4F6"/>
          </a:solidFill>
          <a:ln xmlns:a="http://schemas.openxmlformats.org/drawingml/2006/main" w="13335">
            <a:solidFill>
              <a:srgbClr val="D1D5DB"/>
            </a:solidFill>
            <a:prstDash val="solid"/>
          </a:ln>
        </p:spPr>
      </p:sp>
      <p:sp>
        <p:nvSpPr>
          <p:cNvPr id="31" name="">
            <a:extLst xmlns:a="http://schemas.openxmlformats.org/drawingml/2006/main">
              <a:ext uri="{FF2B5EF4-FFF2-40B4-BE49-F238E27FC236}">
                <a16:creationId xmlns:a16="http://schemas.microsoft.com/office/drawing/2014/main" id="{ACB5D381-0835-4A35-81C4-244276F160E1}"/>
              </a:ext>
            </a:extLst>
          </p:cNvPr>
          <p:cNvSpPr>
            <a:spLocks xmlns:a="http://schemas.openxmlformats.org/drawingml/2006/main" noGrp="1"/>
          </p:cNvSpPr>
          <p:nvPr/>
        </p:nvSpPr>
        <p:spPr>
          <a:xfrm xmlns:a="http://schemas.openxmlformats.org/drawingml/2006/main">
            <a:off x="581025" y="5562600"/>
            <a:ext cx="11020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111111"/>
                </a:solidFill>
                <a:latin typeface="Times New Roman"/>
                <a:ea typeface="Times New Roman"/>
                <a:cs typeface="Times New Roman"/>
              </a:defRPr>
            </a:defPPr>
          </a:lstStyle>
          <a:p xmlns:a="http://schemas.openxmlformats.org/drawingml/2006/main">
            <a:pPr algn="l">
              <a:defRPr sz="1725" b="0">
                <a:solidFill>
                  <a:srgbClr val="111111"/>
                </a:solidFill>
                <a:latin typeface="Times New Roman"/>
                <a:ea typeface="Times New Roman"/>
                <a:cs typeface="Times New Roman"/>
              </a:defRPr>
            </a:pPr>
            <a:r>
              <a:rPr sz="1725" b="0">
                <a:solidFill>
                  <a:srgbClr val="111111"/>
                </a:solidFill>
                <a:latin typeface="Times New Roman"/>
                <a:ea typeface="Times New Roman"/>
                <a:cs typeface="Times New Roman"/>
              </a:rPr>
              <a:t>Stationary finite-mass readout: weighted bath entropy rate − Bₘ × measured residence. Then m → 0.</a:t>
            </a:r>
          </a:p>
        </p:txBody>
      </p:sp>
      <p:sp>
        <p:nvSpPr>
          <p:cNvPr id="32" name="">
            <a:extLst xmlns:a="http://schemas.openxmlformats.org/drawingml/2006/main">
              <a:ext uri="{FF2B5EF4-FFF2-40B4-BE49-F238E27FC236}">
                <a16:creationId xmlns:a16="http://schemas.microsoft.com/office/drawing/2014/main" id="{B16DE300-8A1A-4FB8-BB5E-49A12E95735E}"/>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Illustrative profiles: T₀ = 1, bath and spatial contrasts = 0.4, k = 1, phase = 0. Bₘ is the matched uniform, force-free background rate.</a:t>
            </a:r>
          </a:p>
        </p:txBody>
      </p:sp>
      <p:sp>
        <p:nvSpPr>
          <p:cNvPr id="33" name="">
            <a:extLst xmlns:a="http://schemas.openxmlformats.org/drawingml/2006/main">
              <a:ext uri="{FF2B5EF4-FFF2-40B4-BE49-F238E27FC236}">
                <a16:creationId xmlns:a16="http://schemas.microsoft.com/office/drawing/2014/main" id="{7627DFE0-6840-4DF9-A60D-4DCDC043071B}"/>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3</a:t>
            </a:r>
          </a:p>
        </p:txBody>
      </p:sp>
    </p:spTree>
    <p:extLst>
      <p:ext uri="{BB962C8B-B14F-4D97-AF65-F5344CB8AC3E}">
        <p14:creationId xmlns:p14="http://schemas.microsoft.com/office/powerpoint/2010/main" val="433365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45ACD8C2-7187-4FA3-9D2E-77BC87F4E450}"/>
              </a:ext>
            </a:extLst>
          </p:cNvPr>
          <p:cNvCxnSpPr>
            <a:stCxn xmlns:a="http://schemas.openxmlformats.org/drawingml/2006/main" id="8" idx="3"/>
            <a:endCxn xmlns:a="http://schemas.openxmlformats.org/drawingml/2006/main" id="9" idx="1"/>
          </p:cNvCxnSpPr>
          <p:nvPr/>
        </p:nvCxnSpPr>
        <p:spPr>
          <a:xfrm xmlns:a="http://schemas.openxmlformats.org/drawingml/2006/main">
            <a:off x="8896350" y="3524250"/>
            <a:ext cx="533400" cy="0"/>
          </a:xfrm>
          <a:prstGeom xmlns:a="http://schemas.openxmlformats.org/drawingml/2006/main" prst="straightConnector1">
            <a:avLst/>
          </a:prstGeom>
          <a:ln xmlns:a="http://schemas.openxmlformats.org/drawingml/2006/main" w="19050">
            <a:solidFill>
              <a:srgbClr val="111111"/>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7233EDE6-9272-4559-89DC-CEDC92D48972}"/>
              </a:ext>
            </a:extLst>
          </p:cNvPr>
          <p:cNvCxnSpPr>
            <a:stCxn xmlns:a="http://schemas.openxmlformats.org/drawingml/2006/main" id="7" idx="3"/>
            <a:endCxn xmlns:a="http://schemas.openxmlformats.org/drawingml/2006/main" id="8" idx="1"/>
          </p:cNvCxnSpPr>
          <p:nvPr/>
        </p:nvCxnSpPr>
        <p:spPr>
          <a:xfrm xmlns:a="http://schemas.openxmlformats.org/drawingml/2006/main">
            <a:off x="5905500" y="3524250"/>
            <a:ext cx="533400" cy="0"/>
          </a:xfrm>
          <a:prstGeom xmlns:a="http://schemas.openxmlformats.org/drawingml/2006/main" prst="straightConnector1">
            <a:avLst/>
          </a:prstGeom>
          <a:ln xmlns:a="http://schemas.openxmlformats.org/drawingml/2006/main" w="19050">
            <a:solidFill>
              <a:srgbClr val="111111"/>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68E5A636-DD5C-47F8-BA28-ED48A5C2B611}"/>
              </a:ext>
            </a:extLst>
          </p:cNvPr>
          <p:cNvCxnSpPr>
            <a:stCxn xmlns:a="http://schemas.openxmlformats.org/drawingml/2006/main" id="6" idx="3"/>
            <a:endCxn xmlns:a="http://schemas.openxmlformats.org/drawingml/2006/main" id="7" idx="1"/>
          </p:cNvCxnSpPr>
          <p:nvPr/>
        </p:nvCxnSpPr>
        <p:spPr>
          <a:xfrm xmlns:a="http://schemas.openxmlformats.org/drawingml/2006/main">
            <a:off x="2914650" y="3524250"/>
            <a:ext cx="533400" cy="0"/>
          </a:xfrm>
          <a:prstGeom xmlns:a="http://schemas.openxmlformats.org/drawingml/2006/main" prst="straightConnector1">
            <a:avLst/>
          </a:prstGeom>
          <a:ln xmlns:a="http://schemas.openxmlformats.org/drawingml/2006/main" w="19050">
            <a:solidFill>
              <a:srgbClr val="111111"/>
            </a:solidFill>
            <a:prstDash val="solid"/>
            <a:tailEnd type="triangle" w="sm" len="sm"/>
          </a:ln>
        </p:spPr>
      </p:cxnSp>
      <p:sp>
        <p:nvSpPr>
          <p:cNvPr id="30" name="">
            <a:extLst xmlns:a="http://schemas.openxmlformats.org/drawingml/2006/main">
              <a:ext uri="{FF2B5EF4-FFF2-40B4-BE49-F238E27FC236}">
                <a16:creationId xmlns:a16="http://schemas.microsoft.com/office/drawing/2014/main" id="{A6C3324E-78C7-4222-A14A-3D92A209DDCC}"/>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Entropy anomaly: the agent’s task</a:t>
            </a:r>
          </a:p>
        </p:txBody>
      </p:sp>
      <p:sp>
        <p:nvSpPr>
          <p:cNvPr id="2" name="">
            <a:extLst xmlns:a="http://schemas.openxmlformats.org/drawingml/2006/main">
              <a:ext uri="{FF2B5EF4-FFF2-40B4-BE49-F238E27FC236}">
                <a16:creationId xmlns:a16="http://schemas.microsoft.com/office/drawing/2014/main" id="{551EA8A9-1F36-40E2-BC39-E562B5212FD4}"/>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Calibration identifies friction. The prediction must retain the physics of the full apparatus.</a:t>
            </a:r>
          </a:p>
        </p:txBody>
      </p:sp>
      <p:sp>
        <p:nvSpPr>
          <p:cNvPr id="3" name="">
            <a:extLst xmlns:a="http://schemas.openxmlformats.org/drawingml/2006/main">
              <a:ext uri="{FF2B5EF4-FFF2-40B4-BE49-F238E27FC236}">
                <a16:creationId xmlns:a16="http://schemas.microsoft.com/office/drawing/2014/main" id="{BAE149C5-8566-46BC-B37F-30A470A1E930}"/>
              </a:ext>
            </a:extLst>
          </p:cNvPr>
          <p:cNvSpPr>
            <a:spLocks xmlns:a="http://schemas.openxmlformats.org/drawingml/2006/main" noGrp="1"/>
          </p:cNvSpPr>
          <p:nvPr/>
        </p:nvSpPr>
        <p:spPr>
          <a:xfrm xmlns:a="http://schemas.openxmlformats.org/drawingml/2006/main">
            <a:off x="457200" y="1524000"/>
            <a:ext cx="11277600" cy="1028700"/>
          </a:xfrm>
          <a:prstGeom xmlns:a="http://schemas.openxmlformats.org/drawingml/2006/main" prst="rect">
            <a:avLst/>
          </a:prstGeom>
          <a:solidFill xmlns:a="http://schemas.openxmlformats.org/drawingml/2006/main">
            <a:srgbClr val="F3F4F6"/>
          </a:solidFill>
          <a:ln xmlns:a="http://schemas.openxmlformats.org/drawingml/2006/main" w="13335">
            <a:solidFill>
              <a:srgbClr val="D1D5DB"/>
            </a:solidFill>
            <a:prstDash val="solid"/>
          </a:ln>
        </p:spPr>
      </p:sp>
      <p:sp>
        <p:nvSpPr>
          <p:cNvPr id="4" name="">
            <a:extLst xmlns:a="http://schemas.openxmlformats.org/drawingml/2006/main">
              <a:ext uri="{FF2B5EF4-FFF2-40B4-BE49-F238E27FC236}">
                <a16:creationId xmlns:a16="http://schemas.microsoft.com/office/drawing/2014/main" id="{DC8CBFDE-B782-44C8-A6CD-501BD80275E1}"/>
              </a:ext>
            </a:extLst>
          </p:cNvPr>
          <p:cNvSpPr>
            <a:spLocks xmlns:a="http://schemas.openxmlformats.org/drawingml/2006/main" noGrp="1"/>
          </p:cNvSpPr>
          <p:nvPr/>
        </p:nvSpPr>
        <p:spPr>
          <a:xfrm xmlns:a="http://schemas.openxmlformats.org/drawingml/2006/main">
            <a:off x="609600" y="1638300"/>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a:solidFill>
                  <a:srgbClr val="777777"/>
                </a:solidFill>
                <a:latin typeface="Times New Roman"/>
                <a:ea typeface="Times New Roman"/>
                <a:cs typeface="Times New Roman"/>
              </a:defRPr>
            </a:defPPr>
          </a:lstStyle>
          <a:p xmlns:a="http://schemas.openxmlformats.org/drawingml/2006/main">
            <a:pPr algn="l">
              <a:defRPr sz="1575" b="1">
                <a:solidFill>
                  <a:srgbClr val="777777"/>
                </a:solidFill>
                <a:latin typeface="Times New Roman"/>
                <a:ea typeface="Times New Roman"/>
                <a:cs typeface="Times New Roman"/>
              </a:defRPr>
            </a:pPr>
            <a:r>
              <a:rPr sz="1575" b="1">
                <a:solidFill>
                  <a:srgbClr val="777777"/>
                </a:solidFill>
                <a:latin typeface="Times New Roman"/>
                <a:ea typeface="Times New Roman"/>
                <a:cs typeface="Times New Roman"/>
              </a:rPr>
              <a:t>Public request, shortened</a:t>
            </a:r>
          </a:p>
        </p:txBody>
      </p:sp>
      <p:sp>
        <p:nvSpPr>
          <p:cNvPr id="5" name="">
            <a:extLst xmlns:a="http://schemas.openxmlformats.org/drawingml/2006/main">
              <a:ext uri="{FF2B5EF4-FFF2-40B4-BE49-F238E27FC236}">
                <a16:creationId xmlns:a16="http://schemas.microsoft.com/office/drawing/2014/main" id="{7A7E455B-EB46-4222-BC94-0A57C3210799}"/>
              </a:ext>
            </a:extLst>
          </p:cNvPr>
          <p:cNvSpPr>
            <a:spLocks xmlns:a="http://schemas.openxmlformats.org/drawingml/2006/main" noGrp="1"/>
          </p:cNvSpPr>
          <p:nvPr/>
        </p:nvSpPr>
        <p:spPr>
          <a:xfrm xmlns:a="http://schemas.openxmlformats.org/drawingml/2006/main">
            <a:off x="609600" y="1924050"/>
            <a:ext cx="1095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111111"/>
                </a:solidFill>
                <a:latin typeface="Times New Roman"/>
                <a:ea typeface="Times New Roman"/>
                <a:cs typeface="Times New Roman"/>
              </a:defRPr>
            </a:defPPr>
          </a:lstStyle>
          <a:p xmlns:a="http://schemas.openxmlformats.org/drawingml/2006/main">
            <a:pPr algn="l">
              <a:defRPr sz="1875" b="0">
                <a:solidFill>
                  <a:srgbClr val="111111"/>
                </a:solidFill>
                <a:latin typeface="Times New Roman"/>
                <a:ea typeface="Times New Roman"/>
                <a:cs typeface="Times New Roman"/>
              </a:defRPr>
            </a:pPr>
            <a:r>
              <a:rPr sz="1875" b="0">
                <a:solidFill>
                  <a:srgbClr val="111111"/>
                </a:solidFill>
                <a:latin typeface="Times New Roman"/>
                <a:ea typeface="Times New Roman"/>
                <a:cs typeface="Times New Roman"/>
              </a:rPr>
              <a:t>Implement model.py using the apparatus, calibration data, and prediction API.</a:t>
            </a:r>
          </a:p>
          <a:p xmlns:a="http://schemas.openxmlformats.org/drawingml/2006/main">
            <a:pPr algn="l">
              <a:defRPr sz="1875" b="0">
                <a:solidFill>
                  <a:srgbClr val="111111"/>
                </a:solidFill>
                <a:latin typeface="Times New Roman"/>
                <a:ea typeface="Times New Roman"/>
                <a:cs typeface="Times New Roman"/>
              </a:defRPr>
            </a:pPr>
            <a:r>
              <a:rPr sz="1875" b="0">
                <a:solidFill>
                  <a:srgbClr val="111111"/>
                </a:solidFill>
                <a:latin typeface="Times New Roman"/>
                <a:ea typeface="Times New Roman"/>
                <a:cs typeface="Times New Roman"/>
              </a:rPr>
              <a:t>You may replace any part of the implementation, including the predictor.</a:t>
            </a:r>
          </a:p>
        </p:txBody>
      </p:sp>
      <p:sp>
        <p:nvSpPr>
          <p:cNvPr id="6" name="">
            <a:extLst xmlns:a="http://schemas.openxmlformats.org/drawingml/2006/main">
              <a:ext uri="{FF2B5EF4-FFF2-40B4-BE49-F238E27FC236}">
                <a16:creationId xmlns:a16="http://schemas.microsoft.com/office/drawing/2014/main" id="{4473300B-DEAB-4B95-B402-C77EC63B1191}"/>
              </a:ext>
            </a:extLst>
          </p:cNvPr>
          <p:cNvSpPr>
            <a:spLocks xmlns:a="http://schemas.openxmlformats.org/drawingml/2006/main" noGrp="1"/>
          </p:cNvSpPr>
          <p:nvPr/>
        </p:nvSpPr>
        <p:spPr>
          <a:xfrm xmlns:a="http://schemas.openxmlformats.org/drawingml/2006/main">
            <a:off x="457200" y="2800350"/>
            <a:ext cx="2457450" cy="1447800"/>
          </a:xfrm>
          <a:prstGeom xmlns:a="http://schemas.openxmlformats.org/drawingml/2006/main" prst="rect">
            <a:avLst/>
          </a:prstGeom>
          <a:solidFill xmlns:a="http://schemas.openxmlformats.org/drawingml/2006/main">
            <a:srgbClr val="FFFFFF"/>
          </a:solidFill>
          <a:ln xmlns:a="http://schemas.openxmlformats.org/drawingml/2006/main" w="13335">
            <a:solidFill>
              <a:srgbClr val="D1D5DB"/>
            </a:solidFill>
            <a:prstDash val="solid"/>
          </a:ln>
        </p:spPr>
      </p:sp>
      <p:sp>
        <p:nvSpPr>
          <p:cNvPr id="7" name="">
            <a:extLst xmlns:a="http://schemas.openxmlformats.org/drawingml/2006/main">
              <a:ext uri="{FF2B5EF4-FFF2-40B4-BE49-F238E27FC236}">
                <a16:creationId xmlns:a16="http://schemas.microsoft.com/office/drawing/2014/main" id="{6A0EE126-7498-4527-B77E-292C8C370773}"/>
              </a:ext>
            </a:extLst>
          </p:cNvPr>
          <p:cNvSpPr>
            <a:spLocks xmlns:a="http://schemas.openxmlformats.org/drawingml/2006/main" noGrp="1"/>
          </p:cNvSpPr>
          <p:nvPr/>
        </p:nvSpPr>
        <p:spPr>
          <a:xfrm xmlns:a="http://schemas.openxmlformats.org/drawingml/2006/main">
            <a:off x="3448050" y="2800350"/>
            <a:ext cx="2457450" cy="1447800"/>
          </a:xfrm>
          <a:prstGeom xmlns:a="http://schemas.openxmlformats.org/drawingml/2006/main" prst="rect">
            <a:avLst/>
          </a:prstGeom>
          <a:solidFill xmlns:a="http://schemas.openxmlformats.org/drawingml/2006/main">
            <a:srgbClr val="FFFFFF"/>
          </a:solidFill>
          <a:ln xmlns:a="http://schemas.openxmlformats.org/drawingml/2006/main" w="13335">
            <a:solidFill>
              <a:srgbClr val="D1D5DB"/>
            </a:solidFill>
            <a:prstDash val="solid"/>
          </a:ln>
        </p:spPr>
      </p:sp>
      <p:sp>
        <p:nvSpPr>
          <p:cNvPr id="8" name="">
            <a:extLst xmlns:a="http://schemas.openxmlformats.org/drawingml/2006/main">
              <a:ext uri="{FF2B5EF4-FFF2-40B4-BE49-F238E27FC236}">
                <a16:creationId xmlns:a16="http://schemas.microsoft.com/office/drawing/2014/main" id="{E194C3AB-D52F-4526-A5D4-0566345A9F61}"/>
              </a:ext>
            </a:extLst>
          </p:cNvPr>
          <p:cNvSpPr>
            <a:spLocks xmlns:a="http://schemas.openxmlformats.org/drawingml/2006/main" noGrp="1"/>
          </p:cNvSpPr>
          <p:nvPr/>
        </p:nvSpPr>
        <p:spPr>
          <a:xfrm xmlns:a="http://schemas.openxmlformats.org/drawingml/2006/main">
            <a:off x="6438900" y="2800350"/>
            <a:ext cx="2457450" cy="1447800"/>
          </a:xfrm>
          <a:prstGeom xmlns:a="http://schemas.openxmlformats.org/drawingml/2006/main" prst="rect">
            <a:avLst/>
          </a:prstGeom>
          <a:solidFill xmlns:a="http://schemas.openxmlformats.org/drawingml/2006/main">
            <a:srgbClr val="FFFFFF"/>
          </a:solidFill>
          <a:ln xmlns:a="http://schemas.openxmlformats.org/drawingml/2006/main" w="13335">
            <a:solidFill>
              <a:srgbClr val="D1D5DB"/>
            </a:solidFill>
            <a:prstDash val="solid"/>
          </a:ln>
        </p:spPr>
      </p:sp>
      <p:sp>
        <p:nvSpPr>
          <p:cNvPr id="9" name="">
            <a:extLst xmlns:a="http://schemas.openxmlformats.org/drawingml/2006/main">
              <a:ext uri="{FF2B5EF4-FFF2-40B4-BE49-F238E27FC236}">
                <a16:creationId xmlns:a16="http://schemas.microsoft.com/office/drawing/2014/main" id="{F7F3F431-F89C-4367-8FAA-8CC1DA66E68F}"/>
              </a:ext>
            </a:extLst>
          </p:cNvPr>
          <p:cNvSpPr>
            <a:spLocks xmlns:a="http://schemas.openxmlformats.org/drawingml/2006/main" noGrp="1"/>
          </p:cNvSpPr>
          <p:nvPr/>
        </p:nvSpPr>
        <p:spPr>
          <a:xfrm xmlns:a="http://schemas.openxmlformats.org/drawingml/2006/main">
            <a:off x="9429750" y="2800350"/>
            <a:ext cx="2305050" cy="1447800"/>
          </a:xfrm>
          <a:prstGeom xmlns:a="http://schemas.openxmlformats.org/drawingml/2006/main" prst="rect">
            <a:avLst/>
          </a:prstGeom>
          <a:solidFill xmlns:a="http://schemas.openxmlformats.org/drawingml/2006/main">
            <a:srgbClr val="FFFFFF"/>
          </a:solidFill>
          <a:ln xmlns:a="http://schemas.openxmlformats.org/drawingml/2006/main" w="13335">
            <a:solidFill>
              <a:srgbClr val="0F766E"/>
            </a:solidFill>
            <a:prstDash val="solid"/>
          </a:ln>
        </p:spPr>
      </p:sp>
      <p:sp>
        <p:nvSpPr>
          <p:cNvPr id="10" name="">
            <a:extLst xmlns:a="http://schemas.openxmlformats.org/drawingml/2006/main">
              <a:ext uri="{FF2B5EF4-FFF2-40B4-BE49-F238E27FC236}">
                <a16:creationId xmlns:a16="http://schemas.microsoft.com/office/drawing/2014/main" id="{8D766EAC-EFC9-42C8-9CB6-2682B612970C}"/>
              </a:ext>
            </a:extLst>
          </p:cNvPr>
          <p:cNvSpPr>
            <a:spLocks xmlns:a="http://schemas.openxmlformats.org/drawingml/2006/main" noGrp="1"/>
          </p:cNvSpPr>
          <p:nvPr/>
        </p:nvSpPr>
        <p:spPr>
          <a:xfrm xmlns:a="http://schemas.openxmlformats.org/drawingml/2006/main">
            <a:off x="609600" y="2933700"/>
            <a:ext cx="2171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a:solidFill>
                  <a:srgbClr val="111111"/>
                </a:solidFill>
                <a:latin typeface="Times New Roman"/>
                <a:ea typeface="Times New Roman"/>
                <a:cs typeface="Times New Roman"/>
              </a:defRPr>
            </a:defPPr>
          </a:lstStyle>
          <a:p xmlns:a="http://schemas.openxmlformats.org/drawingml/2006/main">
            <a:pPr algn="l">
              <a:defRPr sz="2025" b="1">
                <a:solidFill>
                  <a:srgbClr val="111111"/>
                </a:solidFill>
                <a:latin typeface="Times New Roman"/>
                <a:ea typeface="Times New Roman"/>
                <a:cs typeface="Times New Roman"/>
              </a:defRPr>
            </a:pPr>
            <a:r>
              <a:rPr sz="2025" b="1">
                <a:solidFill>
                  <a:srgbClr val="111111"/>
                </a:solidFill>
                <a:latin typeface="Times New Roman"/>
                <a:ea typeface="Times New Roman"/>
                <a:cs typeface="Times New Roman"/>
              </a:rPr>
              <a:t>Prompt + files</a:t>
            </a:r>
          </a:p>
        </p:txBody>
      </p:sp>
      <p:sp>
        <p:nvSpPr>
          <p:cNvPr id="11" name="">
            <a:extLst xmlns:a="http://schemas.openxmlformats.org/drawingml/2006/main">
              <a:ext uri="{FF2B5EF4-FFF2-40B4-BE49-F238E27FC236}">
                <a16:creationId xmlns:a16="http://schemas.microsoft.com/office/drawing/2014/main" id="{0DF79B5B-016C-49B8-9C02-89E2E36769A3}"/>
              </a:ext>
            </a:extLst>
          </p:cNvPr>
          <p:cNvSpPr>
            <a:spLocks xmlns:a="http://schemas.openxmlformats.org/drawingml/2006/main" noGrp="1"/>
          </p:cNvSpPr>
          <p:nvPr/>
        </p:nvSpPr>
        <p:spPr>
          <a:xfrm xmlns:a="http://schemas.openxmlformats.org/drawingml/2006/main">
            <a:off x="609600" y="3343275"/>
            <a:ext cx="219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111111"/>
                </a:solidFill>
                <a:latin typeface="Times New Roman"/>
                <a:ea typeface="Times New Roman"/>
                <a:cs typeface="Times New Roman"/>
              </a:defRPr>
            </a:defPPr>
          </a:lstStyle>
          <a:p xmlns:a="http://schemas.openxmlformats.org/drawingml/2006/main">
            <a:pPr algn="l">
              <a:defRPr sz="1725" b="0">
                <a:solidFill>
                  <a:srgbClr val="111111"/>
                </a:solidFill>
                <a:latin typeface="Times New Roman"/>
                <a:ea typeface="Times New Roman"/>
                <a:cs typeface="Times New Roman"/>
              </a:defRPr>
            </a:pPr>
            <a:r>
              <a:rPr sz="1725" b="0">
                <a:solidFill>
                  <a:srgbClr val="111111"/>
                </a:solidFill>
                <a:latin typeface="Times New Roman"/>
                <a:ea typeface="Times New Roman"/>
                <a:cs typeface="Times New Roman"/>
              </a:rPr>
              <a:t>Apparatus equations</a:t>
            </a:r>
          </a:p>
          <a:p xmlns:a="http://schemas.openxmlformats.org/drawingml/2006/main">
            <a:pPr algn="l">
              <a:defRPr sz="1725" b="0">
                <a:solidFill>
                  <a:srgbClr val="111111"/>
                </a:solidFill>
                <a:latin typeface="Times New Roman"/>
                <a:ea typeface="Times New Roman"/>
                <a:cs typeface="Times New Roman"/>
              </a:defRPr>
            </a:pPr>
            <a:r>
              <a:rPr sz="1725" b="0">
                <a:solidFill>
                  <a:srgbClr val="111111"/>
                </a:solidFill>
                <a:latin typeface="Times New Roman"/>
                <a:ea typeface="Times New Roman"/>
                <a:cs typeface="Times New Roman"/>
              </a:rPr>
              <a:t>Calibration records</a:t>
            </a:r>
          </a:p>
          <a:p xmlns:a="http://schemas.openxmlformats.org/drawingml/2006/main">
            <a:pPr algn="l">
              <a:defRPr sz="1725" b="0">
                <a:solidFill>
                  <a:srgbClr val="111111"/>
                </a:solidFill>
                <a:latin typeface="Times New Roman"/>
                <a:ea typeface="Times New Roman"/>
                <a:cs typeface="Times New Roman"/>
              </a:defRPr>
            </a:pPr>
            <a:r>
              <a:rPr sz="1725" b="0">
                <a:solidFill>
                  <a:srgbClr val="111111"/>
                </a:solidFill>
                <a:latin typeface="Times New Roman"/>
                <a:ea typeface="Times New Roman"/>
                <a:cs typeface="Times New Roman"/>
              </a:rPr>
              <a:t>Starter implementation</a:t>
            </a:r>
          </a:p>
        </p:txBody>
      </p:sp>
      <p:sp>
        <p:nvSpPr>
          <p:cNvPr id="12" name="">
            <a:extLst xmlns:a="http://schemas.openxmlformats.org/drawingml/2006/main">
              <a:ext uri="{FF2B5EF4-FFF2-40B4-BE49-F238E27FC236}">
                <a16:creationId xmlns:a16="http://schemas.microsoft.com/office/drawing/2014/main" id="{AF88660E-E2A6-4BC3-8135-7C3C4209A328}"/>
              </a:ext>
            </a:extLst>
          </p:cNvPr>
          <p:cNvSpPr>
            <a:spLocks xmlns:a="http://schemas.openxmlformats.org/drawingml/2006/main" noGrp="1"/>
          </p:cNvSpPr>
          <p:nvPr/>
        </p:nvSpPr>
        <p:spPr>
          <a:xfrm xmlns:a="http://schemas.openxmlformats.org/drawingml/2006/main">
            <a:off x="3600450" y="2933700"/>
            <a:ext cx="2171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a:solidFill>
                  <a:srgbClr val="111111"/>
                </a:solidFill>
                <a:latin typeface="Times New Roman"/>
                <a:ea typeface="Times New Roman"/>
                <a:cs typeface="Times New Roman"/>
              </a:defRPr>
            </a:defPPr>
          </a:lstStyle>
          <a:p xmlns:a="http://schemas.openxmlformats.org/drawingml/2006/main">
            <a:pPr algn="l">
              <a:defRPr sz="2025" b="1">
                <a:solidFill>
                  <a:srgbClr val="111111"/>
                </a:solidFill>
                <a:latin typeface="Times New Roman"/>
                <a:ea typeface="Times New Roman"/>
                <a:cs typeface="Times New Roman"/>
              </a:defRPr>
            </a:pPr>
            <a:r>
              <a:rPr sz="2025" b="1">
                <a:solidFill>
                  <a:srgbClr val="111111"/>
                </a:solidFill>
                <a:latin typeface="Times New Roman"/>
                <a:ea typeface="Times New Roman"/>
                <a:cs typeface="Times New Roman"/>
              </a:rPr>
              <a:t>Agent edits code</a:t>
            </a:r>
          </a:p>
        </p:txBody>
      </p:sp>
      <p:sp>
        <p:nvSpPr>
          <p:cNvPr id="13" name="">
            <a:extLst xmlns:a="http://schemas.openxmlformats.org/drawingml/2006/main">
              <a:ext uri="{FF2B5EF4-FFF2-40B4-BE49-F238E27FC236}">
                <a16:creationId xmlns:a16="http://schemas.microsoft.com/office/drawing/2014/main" id="{B5F54453-E676-4F1C-8B79-26B4097211F0}"/>
              </a:ext>
            </a:extLst>
          </p:cNvPr>
          <p:cNvSpPr>
            <a:spLocks xmlns:a="http://schemas.openxmlformats.org/drawingml/2006/main" noGrp="1"/>
          </p:cNvSpPr>
          <p:nvPr/>
        </p:nvSpPr>
        <p:spPr>
          <a:xfrm xmlns:a="http://schemas.openxmlformats.org/drawingml/2006/main">
            <a:off x="3600450" y="3343275"/>
            <a:ext cx="219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111111"/>
                </a:solidFill>
                <a:latin typeface="Times New Roman"/>
                <a:ea typeface="Times New Roman"/>
                <a:cs typeface="Times New Roman"/>
              </a:defRPr>
            </a:defPPr>
          </a:lstStyle>
          <a:p xmlns:a="http://schemas.openxmlformats.org/drawingml/2006/main">
            <a:pPr algn="l">
              <a:defRPr sz="1725" b="0">
                <a:solidFill>
                  <a:srgbClr val="111111"/>
                </a:solidFill>
                <a:latin typeface="Times New Roman"/>
                <a:ea typeface="Times New Roman"/>
                <a:cs typeface="Times New Roman"/>
              </a:defRPr>
            </a:pPr>
            <a:r>
              <a:rPr sz="1725" b="0">
                <a:solidFill>
                  <a:srgbClr val="111111"/>
                </a:solidFill>
                <a:latin typeface="Times New Roman"/>
                <a:ea typeface="Times New Roman"/>
                <a:cs typeface="Times New Roman"/>
              </a:rPr>
              <a:t>fit(records): infer γ</a:t>
            </a:r>
          </a:p>
          <a:p xmlns:a="http://schemas.openxmlformats.org/drawingml/2006/main">
            <a:pPr algn="l">
              <a:defRPr sz="1725" b="0">
                <a:solidFill>
                  <a:srgbClr val="111111"/>
                </a:solidFill>
                <a:latin typeface="Times New Roman"/>
                <a:ea typeface="Times New Roman"/>
                <a:cs typeface="Times New Roman"/>
              </a:defRPr>
            </a:pPr>
            <a:r>
              <a:rPr sz="1725" b="0">
                <a:solidFill>
                  <a:srgbClr val="111111"/>
                </a:solidFill>
                <a:latin typeface="Times New Roman"/>
                <a:ea typeface="Times New Roman"/>
                <a:cs typeface="Times New Roman"/>
              </a:rPr>
              <a:t>predict(settings):</a:t>
            </a:r>
          </a:p>
          <a:p xmlns:a="http://schemas.openxmlformats.org/drawingml/2006/main">
            <a:pPr algn="l">
              <a:defRPr sz="1725" b="0">
                <a:solidFill>
                  <a:srgbClr val="111111"/>
                </a:solidFill>
                <a:latin typeface="Times New Roman"/>
                <a:ea typeface="Times New Roman"/>
                <a:cs typeface="Times New Roman"/>
              </a:defRPr>
            </a:pPr>
            <a:r>
              <a:rPr sz="1725" b="0">
                <a:solidFill>
                  <a:srgbClr val="111111"/>
                </a:solidFill>
                <a:latin typeface="Times New Roman"/>
                <a:ea typeface="Times New Roman"/>
                <a:cs typeface="Times New Roman"/>
              </a:rPr>
              <a:t>compute excess entropy</a:t>
            </a:r>
          </a:p>
        </p:txBody>
      </p:sp>
      <p:sp>
        <p:nvSpPr>
          <p:cNvPr id="14" name="">
            <a:extLst xmlns:a="http://schemas.openxmlformats.org/drawingml/2006/main">
              <a:ext uri="{FF2B5EF4-FFF2-40B4-BE49-F238E27FC236}">
                <a16:creationId xmlns:a16="http://schemas.microsoft.com/office/drawing/2014/main" id="{A588B6E9-2C4E-4DEC-80EF-84FD3C631242}"/>
              </a:ext>
            </a:extLst>
          </p:cNvPr>
          <p:cNvSpPr>
            <a:spLocks xmlns:a="http://schemas.openxmlformats.org/drawingml/2006/main" noGrp="1"/>
          </p:cNvSpPr>
          <p:nvPr/>
        </p:nvSpPr>
        <p:spPr>
          <a:xfrm xmlns:a="http://schemas.openxmlformats.org/drawingml/2006/main">
            <a:off x="6591300" y="2933700"/>
            <a:ext cx="2171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a:solidFill>
                  <a:srgbClr val="111111"/>
                </a:solidFill>
                <a:latin typeface="Times New Roman"/>
                <a:ea typeface="Times New Roman"/>
                <a:cs typeface="Times New Roman"/>
              </a:defRPr>
            </a:defPPr>
          </a:lstStyle>
          <a:p xmlns:a="http://schemas.openxmlformats.org/drawingml/2006/main">
            <a:pPr algn="l">
              <a:defRPr sz="2025" b="1">
                <a:solidFill>
                  <a:srgbClr val="111111"/>
                </a:solidFill>
                <a:latin typeface="Times New Roman"/>
                <a:ea typeface="Times New Roman"/>
                <a:cs typeface="Times New Roman"/>
              </a:defRPr>
            </a:pPr>
            <a:r>
              <a:rPr sz="2025" b="1">
                <a:solidFill>
                  <a:srgbClr val="111111"/>
                </a:solidFill>
                <a:latin typeface="Times New Roman"/>
                <a:ea typeface="Times New Roman"/>
                <a:cs typeface="Times New Roman"/>
              </a:rPr>
              <a:t>Public checks</a:t>
            </a:r>
          </a:p>
        </p:txBody>
      </p:sp>
      <p:sp>
        <p:nvSpPr>
          <p:cNvPr id="15" name="">
            <a:extLst xmlns:a="http://schemas.openxmlformats.org/drawingml/2006/main">
              <a:ext uri="{FF2B5EF4-FFF2-40B4-BE49-F238E27FC236}">
                <a16:creationId xmlns:a16="http://schemas.microsoft.com/office/drawing/2014/main" id="{60CDA129-56AB-4131-A4C3-04383A5A4F08}"/>
              </a:ext>
            </a:extLst>
          </p:cNvPr>
          <p:cNvSpPr>
            <a:spLocks xmlns:a="http://schemas.openxmlformats.org/drawingml/2006/main" noGrp="1"/>
          </p:cNvSpPr>
          <p:nvPr/>
        </p:nvSpPr>
        <p:spPr>
          <a:xfrm xmlns:a="http://schemas.openxmlformats.org/drawingml/2006/main">
            <a:off x="6591300" y="3343275"/>
            <a:ext cx="219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111111"/>
                </a:solidFill>
                <a:latin typeface="Times New Roman"/>
                <a:ea typeface="Times New Roman"/>
                <a:cs typeface="Times New Roman"/>
              </a:defRPr>
            </a:defPPr>
          </a:lstStyle>
          <a:p xmlns:a="http://schemas.openxmlformats.org/drawingml/2006/main">
            <a:pPr algn="l">
              <a:defRPr sz="1725" b="0">
                <a:solidFill>
                  <a:srgbClr val="111111"/>
                </a:solidFill>
                <a:latin typeface="Times New Roman"/>
                <a:ea typeface="Times New Roman"/>
                <a:cs typeface="Times New Roman"/>
              </a:defRPr>
            </a:pPr>
            <a:r>
              <a:rPr sz="1725" b="0">
                <a:solidFill>
                  <a:srgbClr val="111111"/>
                </a:solidFill>
                <a:latin typeface="Times New Roman"/>
                <a:ea typeface="Times New Roman"/>
                <a:cs typeface="Times New Roman"/>
              </a:rPr>
              <a:t>Valid API and outputs</a:t>
            </a:r>
          </a:p>
          <a:p xmlns:a="http://schemas.openxmlformats.org/drawingml/2006/main">
            <a:pPr algn="l">
              <a:defRPr sz="1725" b="0">
                <a:solidFill>
                  <a:srgbClr val="111111"/>
                </a:solidFill>
                <a:latin typeface="Times New Roman"/>
                <a:ea typeface="Times New Roman"/>
                <a:cs typeface="Times New Roman"/>
              </a:defRPr>
            </a:pPr>
            <a:r>
              <a:rPr sz="1725" b="0">
                <a:solidFill>
                  <a:srgbClr val="111111"/>
                </a:solidFill>
                <a:latin typeface="Times New Roman"/>
                <a:ea typeface="Times New Roman"/>
                <a:cs typeface="Times New Roman"/>
              </a:rPr>
              <a:t>Fit calibration data</a:t>
            </a:r>
          </a:p>
          <a:p xmlns:a="http://schemas.openxmlformats.org/drawingml/2006/main">
            <a:pPr algn="l">
              <a:defRPr sz="1725" b="0">
                <a:solidFill>
                  <a:srgbClr val="111111"/>
                </a:solidFill>
                <a:latin typeface="Times New Roman"/>
                <a:ea typeface="Times New Roman"/>
                <a:cs typeface="Times New Roman"/>
              </a:defRPr>
            </a:pPr>
            <a:r>
              <a:rPr sz="1725" b="0">
                <a:solidFill>
                  <a:srgbClr val="111111"/>
                </a:solidFill>
                <a:latin typeface="Times New Roman"/>
                <a:ea typeface="Times New Roman"/>
                <a:cs typeface="Times New Roman"/>
              </a:rPr>
              <a:t>Two-contact regime</a:t>
            </a:r>
          </a:p>
        </p:txBody>
      </p:sp>
      <p:sp>
        <p:nvSpPr>
          <p:cNvPr id="16" name="">
            <a:extLst xmlns:a="http://schemas.openxmlformats.org/drawingml/2006/main">
              <a:ext uri="{FF2B5EF4-FFF2-40B4-BE49-F238E27FC236}">
                <a16:creationId xmlns:a16="http://schemas.microsoft.com/office/drawing/2014/main" id="{1CFF96B4-E780-4302-8F17-9B38323A78F8}"/>
              </a:ext>
            </a:extLst>
          </p:cNvPr>
          <p:cNvSpPr>
            <a:spLocks xmlns:a="http://schemas.openxmlformats.org/drawingml/2006/main" noGrp="1"/>
          </p:cNvSpPr>
          <p:nvPr/>
        </p:nvSpPr>
        <p:spPr>
          <a:xfrm xmlns:a="http://schemas.openxmlformats.org/drawingml/2006/main">
            <a:off x="9582150" y="2933700"/>
            <a:ext cx="2019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a:solidFill>
                  <a:srgbClr val="0F766E"/>
                </a:solidFill>
                <a:latin typeface="Times New Roman"/>
                <a:ea typeface="Times New Roman"/>
                <a:cs typeface="Times New Roman"/>
              </a:defRPr>
            </a:defPPr>
          </a:lstStyle>
          <a:p xmlns:a="http://schemas.openxmlformats.org/drawingml/2006/main">
            <a:pPr algn="l">
              <a:defRPr sz="2025" b="1">
                <a:solidFill>
                  <a:srgbClr val="0F766E"/>
                </a:solidFill>
                <a:latin typeface="Times New Roman"/>
                <a:ea typeface="Times New Roman"/>
                <a:cs typeface="Times New Roman"/>
              </a:defRPr>
            </a:pPr>
            <a:r>
              <a:rPr sz="2025" b="1">
                <a:solidFill>
                  <a:srgbClr val="0F766E"/>
                </a:solidFill>
                <a:latin typeface="Times New Roman"/>
                <a:ea typeface="Times New Roman"/>
                <a:cs typeface="Times New Roman"/>
              </a:rPr>
              <a:t>Held-out tests</a:t>
            </a:r>
          </a:p>
        </p:txBody>
      </p:sp>
      <p:sp>
        <p:nvSpPr>
          <p:cNvPr id="17" name="">
            <a:extLst xmlns:a="http://schemas.openxmlformats.org/drawingml/2006/main">
              <a:ext uri="{FF2B5EF4-FFF2-40B4-BE49-F238E27FC236}">
                <a16:creationId xmlns:a16="http://schemas.microsoft.com/office/drawing/2014/main" id="{ECBD0235-7652-46BC-ABBA-7F1B62E5E870}"/>
              </a:ext>
            </a:extLst>
          </p:cNvPr>
          <p:cNvSpPr>
            <a:spLocks xmlns:a="http://schemas.openxmlformats.org/drawingml/2006/main" noGrp="1"/>
          </p:cNvSpPr>
          <p:nvPr/>
        </p:nvSpPr>
        <p:spPr>
          <a:xfrm xmlns:a="http://schemas.openxmlformats.org/drawingml/2006/main">
            <a:off x="9582150" y="3343275"/>
            <a:ext cx="2000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111111"/>
                </a:solidFill>
                <a:latin typeface="Times New Roman"/>
                <a:ea typeface="Times New Roman"/>
                <a:cs typeface="Times New Roman"/>
              </a:defRPr>
            </a:defPPr>
          </a:lstStyle>
          <a:p xmlns:a="http://schemas.openxmlformats.org/drawingml/2006/main">
            <a:pPr algn="l">
              <a:defRPr sz="1725" b="0">
                <a:solidFill>
                  <a:srgbClr val="111111"/>
                </a:solidFill>
                <a:latin typeface="Times New Roman"/>
                <a:ea typeface="Times New Roman"/>
                <a:cs typeface="Times New Roman"/>
              </a:defRPr>
            </a:pPr>
            <a:r>
              <a:rPr sz="1725" b="0">
                <a:solidFill>
                  <a:srgbClr val="111111"/>
                </a:solidFill>
                <a:latin typeface="Times New Roman"/>
                <a:ea typeface="Times New Roman"/>
                <a:cs typeface="Times New Roman"/>
              </a:rPr>
              <a:t>Cyclic contacts</a:t>
            </a:r>
          </a:p>
          <a:p xmlns:a="http://schemas.openxmlformats.org/drawingml/2006/main">
            <a:pPr algn="l">
              <a:defRPr sz="1725" b="0">
                <a:solidFill>
                  <a:srgbClr val="111111"/>
                </a:solidFill>
                <a:latin typeface="Times New Roman"/>
                <a:ea typeface="Times New Roman"/>
                <a:cs typeface="Times New Roman"/>
              </a:defRPr>
            </a:pPr>
            <a:r>
              <a:rPr sz="1725" b="0">
                <a:solidFill>
                  <a:srgbClr val="111111"/>
                </a:solidFill>
                <a:latin typeface="Times New Roman"/>
                <a:ea typeface="Times New Roman"/>
                <a:cs typeface="Times New Roman"/>
              </a:rPr>
              <a:t>Anisotropic drag</a:t>
            </a:r>
          </a:p>
          <a:p xmlns:a="http://schemas.openxmlformats.org/drawingml/2006/main">
            <a:pPr algn="l">
              <a:defRPr sz="1725" b="0">
                <a:solidFill>
                  <a:srgbClr val="111111"/>
                </a:solidFill>
                <a:latin typeface="Times New Roman"/>
                <a:ea typeface="Times New Roman"/>
                <a:cs typeface="Times New Roman"/>
              </a:defRPr>
            </a:pPr>
            <a:r>
              <a:rPr sz="1725" b="0">
                <a:solidFill>
                  <a:srgbClr val="111111"/>
                </a:solidFill>
                <a:latin typeface="Times New Roman"/>
                <a:ea typeface="Times New Roman"/>
                <a:cs typeface="Times New Roman"/>
              </a:rPr>
              <a:t>Magnetic driving</a:t>
            </a:r>
          </a:p>
        </p:txBody>
      </p:sp>
      <p:sp>
        <p:nvSpPr>
          <p:cNvPr id="21" name="">
            <a:extLst xmlns:a="http://schemas.openxmlformats.org/drawingml/2006/main">
              <a:ext uri="{FF2B5EF4-FFF2-40B4-BE49-F238E27FC236}">
                <a16:creationId xmlns:a16="http://schemas.microsoft.com/office/drawing/2014/main" id="{9F141CFB-C975-4B1E-B31D-46445D157CB4}"/>
              </a:ext>
            </a:extLst>
          </p:cNvPr>
          <p:cNvSpPr>
            <a:spLocks xmlns:a="http://schemas.openxmlformats.org/drawingml/2006/main" noGrp="1"/>
          </p:cNvSpPr>
          <p:nvPr/>
        </p:nvSpPr>
        <p:spPr>
          <a:xfrm xmlns:a="http://schemas.openxmlformats.org/drawingml/2006/main">
            <a:off x="457200" y="4524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a:solidFill>
                  <a:srgbClr val="111111"/>
                </a:solidFill>
                <a:latin typeface="Times New Roman"/>
                <a:ea typeface="Times New Roman"/>
                <a:cs typeface="Times New Roman"/>
              </a:defRPr>
            </a:defPPr>
          </a:lstStyle>
          <a:p xmlns:a="http://schemas.openxmlformats.org/drawingml/2006/main">
            <a:pPr algn="l">
              <a:defRPr sz="2100" b="1">
                <a:solidFill>
                  <a:srgbClr val="111111"/>
                </a:solidFill>
                <a:latin typeface="Times New Roman"/>
                <a:ea typeface="Times New Roman"/>
                <a:cs typeface="Times New Roman"/>
              </a:defRPr>
            </a:pPr>
            <a:r>
              <a:rPr sz="2100" b="1">
                <a:solidFill>
                  <a:srgbClr val="111111"/>
                </a:solidFill>
                <a:latin typeface="Times New Roman"/>
                <a:ea typeface="Times New Roman"/>
                <a:cs typeface="Times New Roman"/>
              </a:rPr>
              <a:t>Possible failure points</a:t>
            </a:r>
          </a:p>
        </p:txBody>
      </p:sp>
      <p:sp>
        <p:nvSpPr>
          <p:cNvPr id="22" name="">
            <a:extLst xmlns:a="http://schemas.openxmlformats.org/drawingml/2006/main">
              <a:ext uri="{FF2B5EF4-FFF2-40B4-BE49-F238E27FC236}">
                <a16:creationId xmlns:a16="http://schemas.microsoft.com/office/drawing/2014/main" id="{BCB06185-1B1C-4F80-A146-07089E8337C4}"/>
              </a:ext>
            </a:extLst>
          </p:cNvPr>
          <p:cNvSpPr>
            <a:spLocks xmlns:a="http://schemas.openxmlformats.org/drawingml/2006/main" noGrp="1"/>
          </p:cNvSpPr>
          <p:nvPr/>
        </p:nvSpPr>
        <p:spPr>
          <a:xfrm xmlns:a="http://schemas.openxmlformats.org/drawingml/2006/main">
            <a:off x="457200" y="4972050"/>
            <a:ext cx="3581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1">
                <a:solidFill>
                  <a:srgbClr val="B45309"/>
                </a:solidFill>
                <a:latin typeface="Times New Roman"/>
                <a:ea typeface="Times New Roman"/>
                <a:cs typeface="Times New Roman"/>
              </a:defRPr>
            </a:defPPr>
          </a:lstStyle>
          <a:p xmlns:a="http://schemas.openxmlformats.org/drawingml/2006/main">
            <a:pPr algn="l">
              <a:defRPr sz="1950" b="1">
                <a:solidFill>
                  <a:srgbClr val="B45309"/>
                </a:solidFill>
                <a:latin typeface="Times New Roman"/>
                <a:ea typeface="Times New Roman"/>
                <a:cs typeface="Times New Roman"/>
              </a:defRPr>
            </a:pPr>
            <a:r>
              <a:rPr sz="1950" b="1">
                <a:solidFill>
                  <a:srgbClr val="B45309"/>
                </a:solidFill>
                <a:latin typeface="Times New Roman"/>
                <a:ea typeface="Times New Roman"/>
                <a:cs typeface="Times New Roman"/>
              </a:rPr>
              <a:t>Observable</a:t>
            </a:r>
          </a:p>
        </p:txBody>
      </p:sp>
      <p:sp>
        <p:nvSpPr>
          <p:cNvPr id="23" name="">
            <a:extLst xmlns:a="http://schemas.openxmlformats.org/drawingml/2006/main">
              <a:ext uri="{FF2B5EF4-FFF2-40B4-BE49-F238E27FC236}">
                <a16:creationId xmlns:a16="http://schemas.microsoft.com/office/drawing/2014/main" id="{57BC4E40-6975-40DB-81B7-976C0AE653FB}"/>
              </a:ext>
            </a:extLst>
          </p:cNvPr>
          <p:cNvSpPr>
            <a:spLocks xmlns:a="http://schemas.openxmlformats.org/drawingml/2006/main" noGrp="1"/>
          </p:cNvSpPr>
          <p:nvPr/>
        </p:nvSpPr>
        <p:spPr>
          <a:xfrm xmlns:a="http://schemas.openxmlformats.org/drawingml/2006/main">
            <a:off x="457200" y="5362575"/>
            <a:ext cx="358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0">
                <a:solidFill>
                  <a:srgbClr val="111111"/>
                </a:solidFill>
                <a:latin typeface="Times New Roman"/>
                <a:ea typeface="Times New Roman"/>
                <a:cs typeface="Times New Roman"/>
              </a:defRPr>
            </a:defPPr>
          </a:lstStyle>
          <a:p xmlns:a="http://schemas.openxmlformats.org/drawingml/2006/main">
            <a:pPr algn="l">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Change the order of subtraction</a:t>
            </a:r>
          </a:p>
          <a:p xmlns:a="http://schemas.openxmlformats.org/drawingml/2006/main">
            <a:pPr algn="l">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and the small-mass limit.</a:t>
            </a:r>
          </a:p>
        </p:txBody>
      </p:sp>
      <p:sp>
        <p:nvSpPr>
          <p:cNvPr id="24" name="">
            <a:extLst xmlns:a="http://schemas.openxmlformats.org/drawingml/2006/main">
              <a:ext uri="{FF2B5EF4-FFF2-40B4-BE49-F238E27FC236}">
                <a16:creationId xmlns:a16="http://schemas.microsoft.com/office/drawing/2014/main" id="{6B1E5058-904E-41F5-8998-4813588A1CDD}"/>
              </a:ext>
            </a:extLst>
          </p:cNvPr>
          <p:cNvSpPr>
            <a:spLocks xmlns:a="http://schemas.openxmlformats.org/drawingml/2006/main" noGrp="1"/>
          </p:cNvSpPr>
          <p:nvPr/>
        </p:nvSpPr>
        <p:spPr>
          <a:xfrm xmlns:a="http://schemas.openxmlformats.org/drawingml/2006/main">
            <a:off x="4295775" y="4972050"/>
            <a:ext cx="3581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1">
                <a:solidFill>
                  <a:srgbClr val="B45309"/>
                </a:solidFill>
                <a:latin typeface="Times New Roman"/>
                <a:ea typeface="Times New Roman"/>
                <a:cs typeface="Times New Roman"/>
              </a:defRPr>
            </a:defPPr>
          </a:lstStyle>
          <a:p xmlns:a="http://schemas.openxmlformats.org/drawingml/2006/main">
            <a:pPr algn="l">
              <a:defRPr sz="1950" b="1">
                <a:solidFill>
                  <a:srgbClr val="B45309"/>
                </a:solidFill>
                <a:latin typeface="Times New Roman"/>
                <a:ea typeface="Times New Roman"/>
                <a:cs typeface="Times New Roman"/>
              </a:defRPr>
            </a:pPr>
            <a:r>
              <a:rPr sz="1950" b="1">
                <a:solidFill>
                  <a:srgbClr val="B45309"/>
                </a:solidFill>
                <a:latin typeface="Times New Roman"/>
                <a:ea typeface="Times New Roman"/>
                <a:cs typeface="Times New Roman"/>
              </a:rPr>
              <a:t>Contact statistics</a:t>
            </a:r>
          </a:p>
        </p:txBody>
      </p:sp>
      <p:sp>
        <p:nvSpPr>
          <p:cNvPr id="25" name="">
            <a:extLst xmlns:a="http://schemas.openxmlformats.org/drawingml/2006/main">
              <a:ext uri="{FF2B5EF4-FFF2-40B4-BE49-F238E27FC236}">
                <a16:creationId xmlns:a16="http://schemas.microsoft.com/office/drawing/2014/main" id="{092613E5-027D-4F73-9905-B35DD787659A}"/>
              </a:ext>
            </a:extLst>
          </p:cNvPr>
          <p:cNvSpPr>
            <a:spLocks xmlns:a="http://schemas.openxmlformats.org/drawingml/2006/main" noGrp="1"/>
          </p:cNvSpPr>
          <p:nvPr/>
        </p:nvSpPr>
        <p:spPr>
          <a:xfrm xmlns:a="http://schemas.openxmlformats.org/drawingml/2006/main">
            <a:off x="4295775" y="5362575"/>
            <a:ext cx="358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0">
                <a:solidFill>
                  <a:srgbClr val="111111"/>
                </a:solidFill>
                <a:latin typeface="Times New Roman"/>
                <a:ea typeface="Times New Roman"/>
                <a:cs typeface="Times New Roman"/>
              </a:defRPr>
            </a:defPPr>
          </a:lstStyle>
          <a:p xmlns:a="http://schemas.openxmlformats.org/drawingml/2006/main">
            <a:pPr algn="l">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Assume equal contact populations</a:t>
            </a:r>
          </a:p>
          <a:p xmlns:a="http://schemas.openxmlformats.org/drawingml/2006/main">
            <a:pPr algn="l">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at every position and order.</a:t>
            </a:r>
          </a:p>
        </p:txBody>
      </p:sp>
      <p:sp>
        <p:nvSpPr>
          <p:cNvPr id="26" name="">
            <a:extLst xmlns:a="http://schemas.openxmlformats.org/drawingml/2006/main">
              <a:ext uri="{FF2B5EF4-FFF2-40B4-BE49-F238E27FC236}">
                <a16:creationId xmlns:a16="http://schemas.microsoft.com/office/drawing/2014/main" id="{1487034B-D951-47E2-A75F-91F87477AB63}"/>
              </a:ext>
            </a:extLst>
          </p:cNvPr>
          <p:cNvSpPr>
            <a:spLocks xmlns:a="http://schemas.openxmlformats.org/drawingml/2006/main" noGrp="1"/>
          </p:cNvSpPr>
          <p:nvPr/>
        </p:nvSpPr>
        <p:spPr>
          <a:xfrm xmlns:a="http://schemas.openxmlformats.org/drawingml/2006/main">
            <a:off x="8134350" y="4972050"/>
            <a:ext cx="3581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1">
                <a:solidFill>
                  <a:srgbClr val="B45309"/>
                </a:solidFill>
                <a:latin typeface="Times New Roman"/>
                <a:ea typeface="Times New Roman"/>
                <a:cs typeface="Times New Roman"/>
              </a:defRPr>
            </a:defPPr>
          </a:lstStyle>
          <a:p xmlns:a="http://schemas.openxmlformats.org/drawingml/2006/main">
            <a:pPr algn="l">
              <a:defRPr sz="1950" b="1">
                <a:solidFill>
                  <a:srgbClr val="B45309"/>
                </a:solidFill>
                <a:latin typeface="Times New Roman"/>
                <a:ea typeface="Times New Roman"/>
                <a:cs typeface="Times New Roman"/>
              </a:defRPr>
            </a:pPr>
            <a:r>
              <a:rPr sz="1950" b="1">
                <a:solidFill>
                  <a:srgbClr val="B45309"/>
                </a:solidFill>
                <a:latin typeface="Times New Roman"/>
                <a:ea typeface="Times New Roman"/>
                <a:cs typeface="Times New Roman"/>
              </a:rPr>
              <a:t>Validation</a:t>
            </a:r>
          </a:p>
        </p:txBody>
      </p:sp>
      <p:sp>
        <p:nvSpPr>
          <p:cNvPr id="27" name="">
            <a:extLst xmlns:a="http://schemas.openxmlformats.org/drawingml/2006/main">
              <a:ext uri="{FF2B5EF4-FFF2-40B4-BE49-F238E27FC236}">
                <a16:creationId xmlns:a16="http://schemas.microsoft.com/office/drawing/2014/main" id="{24A78330-2C46-408F-9975-2D2E433EEF44}"/>
              </a:ext>
            </a:extLst>
          </p:cNvPr>
          <p:cNvSpPr>
            <a:spLocks xmlns:a="http://schemas.openxmlformats.org/drawingml/2006/main" noGrp="1"/>
          </p:cNvSpPr>
          <p:nvPr/>
        </p:nvSpPr>
        <p:spPr>
          <a:xfrm xmlns:a="http://schemas.openxmlformats.org/drawingml/2006/main">
            <a:off x="8134350" y="5362575"/>
            <a:ext cx="358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0">
                <a:solidFill>
                  <a:srgbClr val="111111"/>
                </a:solidFill>
                <a:latin typeface="Times New Roman"/>
                <a:ea typeface="Times New Roman"/>
                <a:cs typeface="Times New Roman"/>
              </a:defRPr>
            </a:defPPr>
          </a:lstStyle>
          <a:p xmlns:a="http://schemas.openxmlformats.org/drawingml/2006/main">
            <a:pPr algn="l">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Treat a calibration pass as evidence</a:t>
            </a:r>
          </a:p>
          <a:p xmlns:a="http://schemas.openxmlformats.org/drawingml/2006/main">
            <a:pPr algn="l">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for the new prediction regime.</a:t>
            </a:r>
          </a:p>
        </p:txBody>
      </p:sp>
      <p:sp>
        <p:nvSpPr>
          <p:cNvPr id="28" name="">
            <a:extLst xmlns:a="http://schemas.openxmlformats.org/drawingml/2006/main">
              <a:ext uri="{FF2B5EF4-FFF2-40B4-BE49-F238E27FC236}">
                <a16:creationId xmlns:a16="http://schemas.microsoft.com/office/drawing/2014/main" id="{229213B4-4487-4B23-8E6E-889276BF4F0C}"/>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These are prospective failure mechanisms. No hints are supplied in the no-hint sweep. The later trajectory identifies the observed omission.</a:t>
            </a:r>
          </a:p>
        </p:txBody>
      </p:sp>
      <p:sp>
        <p:nvSpPr>
          <p:cNvPr id="29" name="">
            <a:extLst xmlns:a="http://schemas.openxmlformats.org/drawingml/2006/main">
              <a:ext uri="{FF2B5EF4-FFF2-40B4-BE49-F238E27FC236}">
                <a16:creationId xmlns:a16="http://schemas.microsoft.com/office/drawing/2014/main" id="{63ACF4EB-AD69-44C9-B204-0EDF756B4E16}"/>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4</a:t>
            </a:r>
          </a:p>
        </p:txBody>
      </p:sp>
    </p:spTree>
    <p:extLst>
      <p:ext uri="{BB962C8B-B14F-4D97-AF65-F5344CB8AC3E}">
        <p14:creationId xmlns:p14="http://schemas.microsoft.com/office/powerpoint/2010/main" val="14205372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C94C5A-A706-4C14-AE6E-02866E82A4FA}"/>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The no-hint sweep</a:t>
            </a:r>
          </a:p>
        </p:txBody>
      </p:sp>
      <p:sp>
        <p:nvSpPr>
          <p:cNvPr id="2" name="">
            <a:extLst xmlns:a="http://schemas.openxmlformats.org/drawingml/2006/main">
              <a:ext uri="{FF2B5EF4-FFF2-40B4-BE49-F238E27FC236}">
                <a16:creationId xmlns:a16="http://schemas.microsoft.com/office/drawing/2014/main" id="{4811DE83-E5BF-4F8A-9317-CA677275D53A}"/>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15 complete model–effort settings, each with 13 tasks and 3 repeats.</a:t>
            </a:r>
          </a:p>
        </p:txBody>
      </p:sp>
      <p:sp>
        <p:nvSpPr>
          <p:cNvPr id="3" name="">
            <a:extLst xmlns:a="http://schemas.openxmlformats.org/drawingml/2006/main">
              <a:ext uri="{FF2B5EF4-FFF2-40B4-BE49-F238E27FC236}">
                <a16:creationId xmlns:a16="http://schemas.microsoft.com/office/drawing/2014/main" id="{4170204A-AFA3-49B4-83AC-E0A70FF5A1E6}"/>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5</a:t>
            </a:r>
          </a:p>
        </p:txBody>
      </p:sp>
      <p:graphicFrame>
        <p:nvGraphicFramePr>
          <p:cNvPr id="4" name="">
            <a:extLst xmlns:a="http://schemas.openxmlformats.org/drawingml/2006/main">
              <a:ext uri="{FF2B5EF4-FFF2-40B4-BE49-F238E27FC236}">
                <a16:creationId xmlns:a16="http://schemas.microsoft.com/office/drawing/2014/main" id="{2A156B46-E2C9-44E1-A0A8-280D4E89B4F1}"/>
              </a:ext>
            </a:extLst>
          </p:cNvPr>
          <p:cNvGraphicFramePr/>
          <p:nvPr/>
        </p:nvGraphicFramePr>
        <p:xfrm>
          <a:off xmlns:a="http://schemas.openxmlformats.org/drawingml/2006/main" x="457200" y="1657350"/>
          <a:ext xmlns:a="http://schemas.openxmlformats.org/drawingml/2006/main" cx="11277600" cy="2647950"/>
        </p:xfrm>
        <a:graphic xmlns:a="http://schemas.openxmlformats.org/drawingml/2006/main">
          <a:graphicData uri="http://schemas.openxmlformats.org/drawingml/2006/table">
            <a:tbl>
              <a:tblPr/>
              <a:tblGrid>
                <a:gridCol w="6101319"/>
                <a:gridCol w="5176281"/>
              </a:tblGrid>
              <a:tr h="661988">
                <a:tc>
                  <a:txBody>
                    <a:bodyPr lIns="0" tIns="0" rIns="0" bIns="0"/>
                    <a:lstStyle/>
                    <a:p>
                      <a:r>
                        <a:rPr sz="2025" b="1">
                          <a:solidFill>
                            <a:srgbClr val="FFFFFF"/>
                          </a:solidFill>
                          <a:latin typeface="Times New Roman"/>
                          <a:ea typeface="Times New Roman"/>
                          <a:cs typeface="Times New Roman"/>
                        </a:rPr>
                        <a:t>Model</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2025" b="1">
                          <a:solidFill>
                            <a:srgbClr val="FFFFFF"/>
                          </a:solidFill>
                          <a:latin typeface="Times New Roman"/>
                          <a:ea typeface="Times New Roman"/>
                          <a:cs typeface="Times New Roman"/>
                        </a:rPr>
                        <a:t>Reasoning settings</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661988">
                <a:tc>
                  <a:txBody>
                    <a:bodyPr lIns="0" tIns="0" rIns="0" bIns="0"/>
                    <a:lstStyle/>
                    <a:p>
                      <a:r>
                        <a:rPr sz="2025" b="0">
                          <a:solidFill>
                            <a:srgbClr val="111111"/>
                          </a:solidFill>
                          <a:latin typeface="Times New Roman"/>
                          <a:ea typeface="Times New Roman"/>
                          <a:cs typeface="Times New Roman"/>
                        </a:rPr>
                        <a:t>GPT-6 Luna, Sol, Astra</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Low, High, Extra High</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661988">
                <a:tc>
                  <a:txBody>
                    <a:bodyPr lIns="0" tIns="0" rIns="0" bIns="0"/>
                    <a:lstStyle/>
                    <a:p>
                      <a:r>
                        <a:rPr sz="2025" b="0">
                          <a:solidFill>
                            <a:srgbClr val="111111"/>
                          </a:solidFill>
                          <a:latin typeface="Times New Roman"/>
                          <a:ea typeface="Times New Roman"/>
                          <a:cs typeface="Times New Roman"/>
                        </a:rPr>
                        <a:t>GPT-5.6 Terra</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2025" b="0">
                          <a:solidFill>
                            <a:srgbClr val="111111"/>
                          </a:solidFill>
                          <a:latin typeface="Times New Roman"/>
                          <a:ea typeface="Times New Roman"/>
                          <a:cs typeface="Times New Roman"/>
                        </a:rPr>
                        <a:t>Low, High, Extra High</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r h="661988">
                <a:tc>
                  <a:txBody>
                    <a:bodyPr lIns="0" tIns="0" rIns="0" bIns="0"/>
                    <a:lstStyle/>
                    <a:p>
                      <a:r>
                        <a:rPr sz="2025" b="0">
                          <a:solidFill>
                            <a:srgbClr val="111111"/>
                          </a:solidFill>
                          <a:latin typeface="Times New Roman"/>
                          <a:ea typeface="Times New Roman"/>
                          <a:cs typeface="Times New Roman"/>
                        </a:rPr>
                        <a:t>DeepSeek V4.1 Flash</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Low, High, Max</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2CDF0C7-818E-4B47-B9CF-9237B4AD9F0F}"/>
              </a:ext>
            </a:extLst>
          </p:cNvPr>
          <p:cNvSpPr>
            <a:spLocks xmlns:a="http://schemas.openxmlformats.org/drawingml/2006/main" noGrp="1"/>
          </p:cNvSpPr>
          <p:nvPr/>
        </p:nvSpPr>
        <p:spPr>
          <a:xfrm xmlns:a="http://schemas.openxmlformats.org/drawingml/2006/main">
            <a:off x="457200" y="470535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00" b="1" i="0">
                <a:solidFill>
                  <a:srgbClr val="0F766E"/>
                </a:solidFill>
                <a:latin typeface="Times New Roman"/>
                <a:ea typeface="Times New Roman"/>
                <a:cs typeface="Times New Roman"/>
              </a:defRPr>
            </a:defPPr>
          </a:lstStyle>
          <a:p xmlns:a="http://schemas.openxmlformats.org/drawingml/2006/main">
            <a:pPr algn="l">
              <a:buNone/>
              <a:defRPr sz="2700" b="1" i="0">
                <a:solidFill>
                  <a:srgbClr val="0F766E"/>
                </a:solidFill>
                <a:latin typeface="Times New Roman"/>
                <a:ea typeface="Times New Roman"/>
                <a:cs typeface="Times New Roman"/>
              </a:defRPr>
            </a:pPr>
            <a:r>
              <a:rPr sz="2700" b="1" i="0">
                <a:solidFill>
                  <a:srgbClr val="0F766E"/>
                </a:solidFill>
                <a:latin typeface="Times New Roman"/>
                <a:ea typeface="Times New Roman"/>
                <a:cs typeface="Times New Roman"/>
              </a:rPr>
              <a:t>585 completed-panel attempts</a:t>
            </a:r>
          </a:p>
        </p:txBody>
      </p:sp>
      <p:sp>
        <p:nvSpPr>
          <p:cNvPr id="6" name="">
            <a:extLst xmlns:a="http://schemas.openxmlformats.org/drawingml/2006/main">
              <a:ext uri="{FF2B5EF4-FFF2-40B4-BE49-F238E27FC236}">
                <a16:creationId xmlns:a16="http://schemas.microsoft.com/office/drawing/2014/main" id="{43E848FD-D7C5-4868-921C-29D80EC13718}"/>
              </a:ext>
            </a:extLst>
          </p:cNvPr>
          <p:cNvSpPr>
            <a:spLocks xmlns:a="http://schemas.openxmlformats.org/drawingml/2006/main" noGrp="1"/>
          </p:cNvSpPr>
          <p:nvPr/>
        </p:nvSpPr>
        <p:spPr>
          <a:xfrm xmlns:a="http://schemas.openxmlformats.org/drawingml/2006/main">
            <a:off x="457200" y="527685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111111"/>
                </a:solidFill>
                <a:latin typeface="Times New Roman"/>
                <a:ea typeface="Times New Roman"/>
                <a:cs typeface="Times New Roman"/>
              </a:defRPr>
            </a:defPPr>
          </a:lstStyle>
          <a:p xmlns:a="http://schemas.openxmlformats.org/drawingml/2006/main">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600 s agent limit   /   60 s verifier limit   /   Codex 0.160.0</a:t>
            </a:r>
          </a:p>
        </p:txBody>
      </p:sp>
      <p:sp>
        <p:nvSpPr>
          <p:cNvPr id="7" name="">
            <a:extLst xmlns:a="http://schemas.openxmlformats.org/drawingml/2006/main">
              <a:ext uri="{FF2B5EF4-FFF2-40B4-BE49-F238E27FC236}">
                <a16:creationId xmlns:a16="http://schemas.microsoft.com/office/drawing/2014/main" id="{C54F9E1E-2AE6-4AE4-BCD2-DEFF233BE12F}"/>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Three DeepSeek None attempts form a separate partial panel. OpenAI High includes 30 reused observations per model.</a:t>
            </a:r>
          </a:p>
        </p:txBody>
      </p:sp>
    </p:spTree>
    <p:extLst>
      <p:ext uri="{BB962C8B-B14F-4D97-AF65-F5344CB8AC3E}">
        <p14:creationId xmlns:p14="http://schemas.microsoft.com/office/powerpoint/2010/main" val="11041282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89F7872-6721-4E61-909A-D72DFA54E882}"/>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Observed cost–success frontier</a:t>
            </a:r>
          </a:p>
        </p:txBody>
      </p:sp>
      <p:sp>
        <p:nvSpPr>
          <p:cNvPr id="2" name="">
            <a:extLst xmlns:a="http://schemas.openxmlformats.org/drawingml/2006/main">
              <a:ext uri="{FF2B5EF4-FFF2-40B4-BE49-F238E27FC236}">
                <a16:creationId xmlns:a16="http://schemas.microsoft.com/office/drawing/2014/main" id="{3FF4C2A8-9BF0-420F-9840-D4124FD4447B}"/>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Each point contains 39 attempts. The frontier uses complete panels with reconciled costs.</a:t>
            </a:r>
          </a:p>
        </p:txBody>
      </p:sp>
      <p:sp>
        <p:nvSpPr>
          <p:cNvPr id="3" name="">
            <a:extLst xmlns:a="http://schemas.openxmlformats.org/drawingml/2006/main">
              <a:ext uri="{FF2B5EF4-FFF2-40B4-BE49-F238E27FC236}">
                <a16:creationId xmlns:a16="http://schemas.microsoft.com/office/drawing/2014/main" id="{35890AFB-C021-42FE-98CC-DA3146AA982C}"/>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6</a:t>
            </a:r>
          </a:p>
        </p:txBody>
      </p:sp>
      <p:graphicFrame>
        <p:nvGraphicFramePr>
          <p:cNvPr id="4" name="Chart">
            <a:extLst xmlns:a="http://schemas.openxmlformats.org/drawingml/2006/main">
              <a:ext uri="{FF2B5EF4-FFF2-40B4-BE49-F238E27FC236}">
                <a16:creationId xmlns:a16="http://schemas.microsoft.com/office/drawing/2014/main" id="{9D106A56-9898-41A0-B35A-F632C15A504A}"/>
              </a:ext>
            </a:extLst>
          </p:cNvPr>
          <p:cNvGraphicFramePr/>
          <p:nvPr/>
        </p:nvGraphicFramePr>
        <p:xfrm>
          <a:off xmlns:a="http://schemas.openxmlformats.org/drawingml/2006/main" x="457200" y="1581150"/>
          <a:ext xmlns:a="http://schemas.openxmlformats.org/drawingml/2006/main" cx="7429500" cy="4171950"/>
        </p:xfrm>
        <a:graphic xmlns:a="http://schemas.openxmlformats.org/drawingml/2006/main">
          <a:graphicData uri="http://schemas.openxmlformats.org/drawingml/2006/chart">
            <c:chart xmlns:r="http://schemas.openxmlformats.org/officeDocument/2006/relationships" xmlns:c="http://schemas.openxmlformats.org/drawingml/2006/chart" r:id="Rcf112d763c284f0a"/>
          </a:graphicData>
        </a:graphic>
      </p:graphicFrame>
      <p:sp>
        <p:nvSpPr>
          <p:cNvPr id="5" name="">
            <a:extLst xmlns:a="http://schemas.openxmlformats.org/drawingml/2006/main">
              <a:ext uri="{FF2B5EF4-FFF2-40B4-BE49-F238E27FC236}">
                <a16:creationId xmlns:a16="http://schemas.microsoft.com/office/drawing/2014/main" id="{42202847-E1E1-4E1F-A845-3226CD26728D}"/>
              </a:ext>
            </a:extLst>
          </p:cNvPr>
          <p:cNvSpPr>
            <a:spLocks xmlns:a="http://schemas.openxmlformats.org/drawingml/2006/main" noGrp="1"/>
          </p:cNvSpPr>
          <p:nvPr/>
        </p:nvSpPr>
        <p:spPr>
          <a:xfrm xmlns:a="http://schemas.openxmlformats.org/drawingml/2006/main">
            <a:off x="8248650" y="1600200"/>
            <a:ext cx="3486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i="0">
                <a:solidFill>
                  <a:srgbClr val="111111"/>
                </a:solidFill>
                <a:latin typeface="Times New Roman"/>
                <a:ea typeface="Times New Roman"/>
                <a:cs typeface="Times New Roman"/>
              </a:defRPr>
            </a:defPPr>
          </a:lstStyle>
          <a:p xmlns:a="http://schemas.openxmlformats.org/drawingml/2006/main">
            <a:pPr algn="l">
              <a:buNone/>
              <a:defRPr sz="2100" b="1" i="0">
                <a:solidFill>
                  <a:srgbClr val="111111"/>
                </a:solidFill>
                <a:latin typeface="Times New Roman"/>
                <a:ea typeface="Times New Roman"/>
                <a:cs typeface="Times New Roman"/>
              </a:defRPr>
            </a:pPr>
            <a:r>
              <a:rPr sz="2100" b="1" i="0">
                <a:solidFill>
                  <a:srgbClr val="111111"/>
                </a:solidFill>
                <a:latin typeface="Times New Roman"/>
                <a:ea typeface="Times New Roman"/>
                <a:cs typeface="Times New Roman"/>
              </a:rPr>
              <a:t>Frontier settings</a:t>
            </a:r>
          </a:p>
        </p:txBody>
      </p:sp>
      <p:graphicFrame>
        <p:nvGraphicFramePr>
          <p:cNvPr id="6" name="">
            <a:extLst xmlns:a="http://schemas.openxmlformats.org/drawingml/2006/main">
              <a:ext uri="{FF2B5EF4-FFF2-40B4-BE49-F238E27FC236}">
                <a16:creationId xmlns:a16="http://schemas.microsoft.com/office/drawing/2014/main" id="{AF0068FC-DAC6-43BF-997E-E650CE520CC3}"/>
              </a:ext>
            </a:extLst>
          </p:cNvPr>
          <p:cNvGraphicFramePr/>
          <p:nvPr/>
        </p:nvGraphicFramePr>
        <p:xfrm>
          <a:off xmlns:a="http://schemas.openxmlformats.org/drawingml/2006/main" x="8191500" y="2085975"/>
          <a:ext xmlns:a="http://schemas.openxmlformats.org/drawingml/2006/main" cx="3543300" cy="2257425"/>
        </p:xfrm>
        <a:graphic xmlns:a="http://schemas.openxmlformats.org/drawingml/2006/main">
          <a:graphicData uri="http://schemas.openxmlformats.org/drawingml/2006/table">
            <a:tbl>
              <a:tblPr/>
              <a:tblGrid>
                <a:gridCol w="1859743"/>
                <a:gridCol w="812414"/>
                <a:gridCol w="871143"/>
              </a:tblGrid>
              <a:tr h="451485">
                <a:tc>
                  <a:txBody>
                    <a:bodyPr lIns="0" tIns="0" rIns="0" bIns="0"/>
                    <a:lstStyle/>
                    <a:p>
                      <a:r>
                        <a:rPr sz="1575" b="1">
                          <a:solidFill>
                            <a:srgbClr val="FFFFFF"/>
                          </a:solidFill>
                          <a:latin typeface="Times New Roman"/>
                          <a:ea typeface="Times New Roman"/>
                          <a:cs typeface="Times New Roman"/>
                        </a:rPr>
                        <a:t>Setting</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75" b="1">
                          <a:solidFill>
                            <a:srgbClr val="FFFFFF"/>
                          </a:solidFill>
                          <a:latin typeface="Times New Roman"/>
                          <a:ea typeface="Times New Roman"/>
                          <a:cs typeface="Times New Roman"/>
                        </a:rPr>
                        <a:t>Pass</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75" b="1">
                          <a:solidFill>
                            <a:srgbClr val="FFFFFF"/>
                          </a:solidFill>
                          <a:latin typeface="Times New Roman"/>
                          <a:ea typeface="Times New Roman"/>
                          <a:cs typeface="Times New Roman"/>
                        </a:rPr>
                        <a:t>USD</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451485">
                <a:tc>
                  <a:txBody>
                    <a:bodyPr lIns="0" tIns="0" rIns="0" bIns="0"/>
                    <a:lstStyle/>
                    <a:p>
                      <a:r>
                        <a:rPr sz="1575" b="0">
                          <a:solidFill>
                            <a:srgbClr val="111111"/>
                          </a:solidFill>
                          <a:latin typeface="Times New Roman"/>
                          <a:ea typeface="Times New Roman"/>
                          <a:cs typeface="Times New Roman"/>
                        </a:rPr>
                        <a:t>Luna 6 Low</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75" b="0">
                          <a:solidFill>
                            <a:srgbClr val="111111"/>
                          </a:solidFill>
                          <a:latin typeface="Times New Roman"/>
                          <a:ea typeface="Times New Roman"/>
                          <a:cs typeface="Times New Roman"/>
                        </a:rPr>
                        <a:t>4/39</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75" b="0">
                          <a:solidFill>
                            <a:srgbClr val="111111"/>
                          </a:solidFill>
                          <a:latin typeface="Times New Roman"/>
                          <a:ea typeface="Times New Roman"/>
                          <a:cs typeface="Times New Roman"/>
                        </a:rPr>
                        <a:t>.0040</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451485">
                <a:tc>
                  <a:txBody>
                    <a:bodyPr lIns="0" tIns="0" rIns="0" bIns="0"/>
                    <a:lstStyle/>
                    <a:p>
                      <a:r>
                        <a:rPr sz="1575" b="0">
                          <a:solidFill>
                            <a:srgbClr val="111111"/>
                          </a:solidFill>
                          <a:latin typeface="Times New Roman"/>
                          <a:ea typeface="Times New Roman"/>
                          <a:cs typeface="Times New Roman"/>
                        </a:rPr>
                        <a:t>Luna 6 Extra High</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75" b="0">
                          <a:solidFill>
                            <a:srgbClr val="111111"/>
                          </a:solidFill>
                          <a:latin typeface="Times New Roman"/>
                          <a:ea typeface="Times New Roman"/>
                          <a:cs typeface="Times New Roman"/>
                        </a:rPr>
                        <a:t>12/39</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75" b="0">
                          <a:solidFill>
                            <a:srgbClr val="111111"/>
                          </a:solidFill>
                          <a:latin typeface="Times New Roman"/>
                          <a:ea typeface="Times New Roman"/>
                          <a:cs typeface="Times New Roman"/>
                        </a:rPr>
                        <a:t>.0126</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r h="451485">
                <a:tc>
                  <a:txBody>
                    <a:bodyPr lIns="0" tIns="0" rIns="0" bIns="0"/>
                    <a:lstStyle/>
                    <a:p>
                      <a:r>
                        <a:rPr sz="1575" b="0">
                          <a:solidFill>
                            <a:srgbClr val="111111"/>
                          </a:solidFill>
                          <a:latin typeface="Times New Roman"/>
                          <a:ea typeface="Times New Roman"/>
                          <a:cs typeface="Times New Roman"/>
                        </a:rPr>
                        <a:t>Sol 6 Low</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75" b="0">
                          <a:solidFill>
                            <a:srgbClr val="111111"/>
                          </a:solidFill>
                          <a:latin typeface="Times New Roman"/>
                          <a:ea typeface="Times New Roman"/>
                          <a:cs typeface="Times New Roman"/>
                        </a:rPr>
                        <a:t>37/39</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75" b="0">
                          <a:solidFill>
                            <a:srgbClr val="111111"/>
                          </a:solidFill>
                          <a:latin typeface="Times New Roman"/>
                          <a:ea typeface="Times New Roman"/>
                          <a:cs typeface="Times New Roman"/>
                        </a:rPr>
                        <a:t>.0773</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451485">
                <a:tc>
                  <a:txBody>
                    <a:bodyPr lIns="0" tIns="0" rIns="0" bIns="0"/>
                    <a:lstStyle/>
                    <a:p>
                      <a:r>
                        <a:rPr sz="1575" b="0">
                          <a:solidFill>
                            <a:srgbClr val="111111"/>
                          </a:solidFill>
                          <a:latin typeface="Times New Roman"/>
                          <a:ea typeface="Times New Roman"/>
                          <a:cs typeface="Times New Roman"/>
                        </a:rPr>
                        <a:t>Sol 6 High</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75" b="0">
                          <a:solidFill>
                            <a:srgbClr val="111111"/>
                          </a:solidFill>
                          <a:latin typeface="Times New Roman"/>
                          <a:ea typeface="Times New Roman"/>
                          <a:cs typeface="Times New Roman"/>
                        </a:rPr>
                        <a:t>39/39</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75" b="0">
                          <a:solidFill>
                            <a:srgbClr val="111111"/>
                          </a:solidFill>
                          <a:latin typeface="Times New Roman"/>
                          <a:ea typeface="Times New Roman"/>
                          <a:cs typeface="Times New Roman"/>
                        </a:rPr>
                        <a:t>.1975</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bl>
          </a:graphicData>
        </a:graphic>
      </p:graphicFrame>
      <p:sp>
        <p:nvSpPr>
          <p:cNvPr id="7" name="">
            <a:extLst xmlns:a="http://schemas.openxmlformats.org/drawingml/2006/main">
              <a:ext uri="{FF2B5EF4-FFF2-40B4-BE49-F238E27FC236}">
                <a16:creationId xmlns:a16="http://schemas.microsoft.com/office/drawing/2014/main" id="{AF81E9BA-8FF2-438C-A496-E9A150FB445B}"/>
              </a:ext>
            </a:extLst>
          </p:cNvPr>
          <p:cNvSpPr>
            <a:spLocks xmlns:a="http://schemas.openxmlformats.org/drawingml/2006/main" noGrp="1"/>
          </p:cNvSpPr>
          <p:nvPr/>
        </p:nvSpPr>
        <p:spPr>
          <a:xfrm xmlns:a="http://schemas.openxmlformats.org/drawingml/2006/main">
            <a:off x="8286750" y="46005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1D4E89"/>
                </a:solidFill>
                <a:latin typeface="Times New Roman"/>
                <a:ea typeface="Times New Roman"/>
                <a:cs typeface="Times New Roman"/>
              </a:defRPr>
            </a:defPPr>
          </a:lstStyle>
          <a:p xmlns:a="http://schemas.openxmlformats.org/drawingml/2006/main">
            <a:pPr algn="l">
              <a:buNone/>
              <a:defRPr sz="1575" b="1" i="0">
                <a:solidFill>
                  <a:srgbClr val="1D4E89"/>
                </a:solidFill>
                <a:latin typeface="Times New Roman"/>
                <a:ea typeface="Times New Roman"/>
                <a:cs typeface="Times New Roman"/>
              </a:defRPr>
            </a:pPr>
            <a:r>
              <a:rPr sz="1575" b="1" i="0">
                <a:solidFill>
                  <a:srgbClr val="1D4E89"/>
                </a:solidFill>
                <a:latin typeface="Times New Roman"/>
                <a:ea typeface="Times New Roman"/>
                <a:cs typeface="Times New Roman"/>
              </a:rPr>
              <a:t>GPT-6 Luna</a:t>
            </a:r>
          </a:p>
        </p:txBody>
      </p:sp>
      <p:sp>
        <p:nvSpPr>
          <p:cNvPr id="8" name="">
            <a:extLst xmlns:a="http://schemas.openxmlformats.org/drawingml/2006/main">
              <a:ext uri="{FF2B5EF4-FFF2-40B4-BE49-F238E27FC236}">
                <a16:creationId xmlns:a16="http://schemas.microsoft.com/office/drawing/2014/main" id="{CEC49F00-D148-458B-81B1-9BA26FDF690C}"/>
              </a:ext>
            </a:extLst>
          </p:cNvPr>
          <p:cNvSpPr>
            <a:spLocks xmlns:a="http://schemas.openxmlformats.org/drawingml/2006/main" noGrp="1"/>
          </p:cNvSpPr>
          <p:nvPr/>
        </p:nvSpPr>
        <p:spPr>
          <a:xfrm xmlns:a="http://schemas.openxmlformats.org/drawingml/2006/main">
            <a:off x="8286750" y="48291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0F766E"/>
                </a:solidFill>
                <a:latin typeface="Times New Roman"/>
                <a:ea typeface="Times New Roman"/>
                <a:cs typeface="Times New Roman"/>
              </a:defRPr>
            </a:defPPr>
          </a:lstStyle>
          <a:p xmlns:a="http://schemas.openxmlformats.org/drawingml/2006/main">
            <a:pPr algn="l">
              <a:buNone/>
              <a:defRPr sz="1575" b="1" i="0">
                <a:solidFill>
                  <a:srgbClr val="0F766E"/>
                </a:solidFill>
                <a:latin typeface="Times New Roman"/>
                <a:ea typeface="Times New Roman"/>
                <a:cs typeface="Times New Roman"/>
              </a:defRPr>
            </a:pPr>
            <a:r>
              <a:rPr sz="1575" b="1" i="0">
                <a:solidFill>
                  <a:srgbClr val="0F766E"/>
                </a:solidFill>
                <a:latin typeface="Times New Roman"/>
                <a:ea typeface="Times New Roman"/>
                <a:cs typeface="Times New Roman"/>
              </a:rPr>
              <a:t>GPT-6 Sol</a:t>
            </a:r>
          </a:p>
        </p:txBody>
      </p:sp>
      <p:sp>
        <p:nvSpPr>
          <p:cNvPr id="9" name="">
            <a:extLst xmlns:a="http://schemas.openxmlformats.org/drawingml/2006/main">
              <a:ext uri="{FF2B5EF4-FFF2-40B4-BE49-F238E27FC236}">
                <a16:creationId xmlns:a16="http://schemas.microsoft.com/office/drawing/2014/main" id="{D98A3FDB-39FB-412B-865A-7FFD8450E45B}"/>
              </a:ext>
            </a:extLst>
          </p:cNvPr>
          <p:cNvSpPr>
            <a:spLocks xmlns:a="http://schemas.openxmlformats.org/drawingml/2006/main" noGrp="1"/>
          </p:cNvSpPr>
          <p:nvPr/>
        </p:nvSpPr>
        <p:spPr>
          <a:xfrm xmlns:a="http://schemas.openxmlformats.org/drawingml/2006/main">
            <a:off x="8286750" y="50577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B45309"/>
                </a:solidFill>
                <a:latin typeface="Times New Roman"/>
                <a:ea typeface="Times New Roman"/>
                <a:cs typeface="Times New Roman"/>
              </a:defRPr>
            </a:defPPr>
          </a:lstStyle>
          <a:p xmlns:a="http://schemas.openxmlformats.org/drawingml/2006/main">
            <a:pPr algn="l">
              <a:buNone/>
              <a:defRPr sz="1575" b="1" i="0">
                <a:solidFill>
                  <a:srgbClr val="B45309"/>
                </a:solidFill>
                <a:latin typeface="Times New Roman"/>
                <a:ea typeface="Times New Roman"/>
                <a:cs typeface="Times New Roman"/>
              </a:defRPr>
            </a:pPr>
            <a:r>
              <a:rPr sz="1575" b="1" i="0">
                <a:solidFill>
                  <a:srgbClr val="B45309"/>
                </a:solidFill>
                <a:latin typeface="Times New Roman"/>
                <a:ea typeface="Times New Roman"/>
                <a:cs typeface="Times New Roman"/>
              </a:rPr>
              <a:t>GPT-5.6 Terra</a:t>
            </a:r>
          </a:p>
        </p:txBody>
      </p:sp>
      <p:sp>
        <p:nvSpPr>
          <p:cNvPr id="10" name="">
            <a:extLst xmlns:a="http://schemas.openxmlformats.org/drawingml/2006/main">
              <a:ext uri="{FF2B5EF4-FFF2-40B4-BE49-F238E27FC236}">
                <a16:creationId xmlns:a16="http://schemas.microsoft.com/office/drawing/2014/main" id="{08722D94-DD0B-4B6E-8AA3-66219E01A722}"/>
              </a:ext>
            </a:extLst>
          </p:cNvPr>
          <p:cNvSpPr>
            <a:spLocks xmlns:a="http://schemas.openxmlformats.org/drawingml/2006/main" noGrp="1"/>
          </p:cNvSpPr>
          <p:nvPr/>
        </p:nvSpPr>
        <p:spPr>
          <a:xfrm xmlns:a="http://schemas.openxmlformats.org/drawingml/2006/main">
            <a:off x="8286750" y="52863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5B4B7C"/>
                </a:solidFill>
                <a:latin typeface="Times New Roman"/>
                <a:ea typeface="Times New Roman"/>
                <a:cs typeface="Times New Roman"/>
              </a:defRPr>
            </a:defPPr>
          </a:lstStyle>
          <a:p xmlns:a="http://schemas.openxmlformats.org/drawingml/2006/main">
            <a:pPr algn="l">
              <a:buNone/>
              <a:defRPr sz="1575" b="1" i="0">
                <a:solidFill>
                  <a:srgbClr val="5B4B7C"/>
                </a:solidFill>
                <a:latin typeface="Times New Roman"/>
                <a:ea typeface="Times New Roman"/>
                <a:cs typeface="Times New Roman"/>
              </a:defRPr>
            </a:pPr>
            <a:r>
              <a:rPr sz="1575" b="1" i="0">
                <a:solidFill>
                  <a:srgbClr val="5B4B7C"/>
                </a:solidFill>
                <a:latin typeface="Times New Roman"/>
                <a:ea typeface="Times New Roman"/>
                <a:cs typeface="Times New Roman"/>
              </a:rPr>
              <a:t>GPT-6 Astra</a:t>
            </a:r>
          </a:p>
        </p:txBody>
      </p:sp>
      <p:sp>
        <p:nvSpPr>
          <p:cNvPr id="11" name="">
            <a:extLst xmlns:a="http://schemas.openxmlformats.org/drawingml/2006/main">
              <a:ext uri="{FF2B5EF4-FFF2-40B4-BE49-F238E27FC236}">
                <a16:creationId xmlns:a16="http://schemas.microsoft.com/office/drawing/2014/main" id="{127F6F18-1298-4922-9195-87FC90F3D4AA}"/>
              </a:ext>
            </a:extLst>
          </p:cNvPr>
          <p:cNvSpPr>
            <a:spLocks xmlns:a="http://schemas.openxmlformats.org/drawingml/2006/main" noGrp="1"/>
          </p:cNvSpPr>
          <p:nvPr/>
        </p:nvSpPr>
        <p:spPr>
          <a:xfrm xmlns:a="http://schemas.openxmlformats.org/drawingml/2006/main">
            <a:off x="8286750" y="55149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A50026"/>
                </a:solidFill>
                <a:latin typeface="Times New Roman"/>
                <a:ea typeface="Times New Roman"/>
                <a:cs typeface="Times New Roman"/>
              </a:defRPr>
            </a:defPPr>
          </a:lstStyle>
          <a:p xmlns:a="http://schemas.openxmlformats.org/drawingml/2006/main">
            <a:pPr algn="l">
              <a:buNone/>
              <a:defRPr sz="1575" b="1" i="0">
                <a:solidFill>
                  <a:srgbClr val="A50026"/>
                </a:solidFill>
                <a:latin typeface="Times New Roman"/>
                <a:ea typeface="Times New Roman"/>
                <a:cs typeface="Times New Roman"/>
              </a:defRPr>
            </a:pPr>
            <a:r>
              <a:rPr sz="1575" b="1" i="0">
                <a:solidFill>
                  <a:srgbClr val="A50026"/>
                </a:solidFill>
                <a:latin typeface="Times New Roman"/>
                <a:ea typeface="Times New Roman"/>
                <a:cs typeface="Times New Roman"/>
              </a:rPr>
              <a:t>DeepSeek V4.1 Flash</a:t>
            </a:r>
          </a:p>
        </p:txBody>
      </p:sp>
      <p:sp>
        <p:nvSpPr>
          <p:cNvPr id="12" name="">
            <a:extLst xmlns:a="http://schemas.openxmlformats.org/drawingml/2006/main">
              <a:ext uri="{FF2B5EF4-FFF2-40B4-BE49-F238E27FC236}">
                <a16:creationId xmlns:a16="http://schemas.microsoft.com/office/drawing/2014/main" id="{DF91C501-0CBF-49C9-B1B5-425E80660737}"/>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Circle = Low, square = High, triangle = Extra High, diamond = Max. DeepSeek costs are lower bounds.</a:t>
            </a:r>
          </a:p>
        </p:txBody>
      </p:sp>
    </p:spTree>
    <p:extLst>
      <p:ext uri="{BB962C8B-B14F-4D97-AF65-F5344CB8AC3E}">
        <p14:creationId xmlns:p14="http://schemas.microsoft.com/office/powerpoint/2010/main" val="5612252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CB2C6E-7277-4057-92F4-D20AB1351AFD}"/>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More reasoning does not guarantee more passes</a:t>
            </a:r>
          </a:p>
        </p:txBody>
      </p:sp>
      <p:sp>
        <p:nvSpPr>
          <p:cNvPr id="2" name="">
            <a:extLst xmlns:a="http://schemas.openxmlformats.org/drawingml/2006/main">
              <a:ext uri="{FF2B5EF4-FFF2-40B4-BE49-F238E27FC236}">
                <a16:creationId xmlns:a16="http://schemas.microsoft.com/office/drawing/2014/main" id="{6CDF1242-97DD-416C-80CD-7C84872B5567}"/>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Completed passes out of 39, with model and task suite held fixed.</a:t>
            </a:r>
          </a:p>
        </p:txBody>
      </p:sp>
      <p:sp>
        <p:nvSpPr>
          <p:cNvPr id="3" name="">
            <a:extLst xmlns:a="http://schemas.openxmlformats.org/drawingml/2006/main">
              <a:ext uri="{FF2B5EF4-FFF2-40B4-BE49-F238E27FC236}">
                <a16:creationId xmlns:a16="http://schemas.microsoft.com/office/drawing/2014/main" id="{74BA436D-FF7E-42C2-81B6-4A30D9ABDA5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7</a:t>
            </a:r>
          </a:p>
        </p:txBody>
      </p:sp>
      <p:graphicFrame>
        <p:nvGraphicFramePr>
          <p:cNvPr id="4" name="Chart">
            <a:extLst xmlns:a="http://schemas.openxmlformats.org/drawingml/2006/main">
              <a:ext uri="{FF2B5EF4-FFF2-40B4-BE49-F238E27FC236}">
                <a16:creationId xmlns:a16="http://schemas.microsoft.com/office/drawing/2014/main" id="{5252D032-6F9E-4B60-91B6-D55EFE66D054}"/>
              </a:ext>
            </a:extLst>
          </p:cNvPr>
          <p:cNvGraphicFramePr/>
          <p:nvPr/>
        </p:nvGraphicFramePr>
        <p:xfrm>
          <a:off xmlns:a="http://schemas.openxmlformats.org/drawingml/2006/main" x="457200" y="1581150"/>
          <a:ext xmlns:a="http://schemas.openxmlformats.org/drawingml/2006/main" cx="7810500" cy="4171950"/>
        </p:xfrm>
        <a:graphic xmlns:a="http://schemas.openxmlformats.org/drawingml/2006/main">
          <a:graphicData uri="http://schemas.openxmlformats.org/drawingml/2006/chart">
            <c:chart xmlns:r="http://schemas.openxmlformats.org/officeDocument/2006/relationships" xmlns:c="http://schemas.openxmlformats.org/drawingml/2006/chart" r:id="R4431a7628d7f4684"/>
          </a:graphicData>
        </a:graphic>
      </p:graphicFrame>
      <p:sp>
        <p:nvSpPr>
          <p:cNvPr id="5" name="">
            <a:extLst xmlns:a="http://schemas.openxmlformats.org/drawingml/2006/main">
              <a:ext uri="{FF2B5EF4-FFF2-40B4-BE49-F238E27FC236}">
                <a16:creationId xmlns:a16="http://schemas.microsoft.com/office/drawing/2014/main" id="{780A35DB-01C4-4099-A34A-DEB48391A03B}"/>
              </a:ext>
            </a:extLst>
          </p:cNvPr>
          <p:cNvSpPr>
            <a:spLocks xmlns:a="http://schemas.openxmlformats.org/drawingml/2006/main" noGrp="1"/>
          </p:cNvSpPr>
          <p:nvPr/>
        </p:nvSpPr>
        <p:spPr>
          <a:xfrm xmlns:a="http://schemas.openxmlformats.org/drawingml/2006/main">
            <a:off x="8763000" y="20383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i="0">
                <a:solidFill>
                  <a:srgbClr val="B45309"/>
                </a:solidFill>
                <a:latin typeface="Times New Roman"/>
                <a:ea typeface="Times New Roman"/>
                <a:cs typeface="Times New Roman"/>
              </a:defRPr>
            </a:defPPr>
          </a:lstStyle>
          <a:p xmlns:a="http://schemas.openxmlformats.org/drawingml/2006/main">
            <a:pPr algn="l">
              <a:buNone/>
              <a:defRPr sz="2025" b="1" i="0">
                <a:solidFill>
                  <a:srgbClr val="B45309"/>
                </a:solidFill>
                <a:latin typeface="Times New Roman"/>
                <a:ea typeface="Times New Roman"/>
                <a:cs typeface="Times New Roman"/>
              </a:defRPr>
            </a:pPr>
            <a:r>
              <a:rPr sz="2025" b="1" i="0">
                <a:solidFill>
                  <a:srgbClr val="B45309"/>
                </a:solidFill>
                <a:latin typeface="Times New Roman"/>
                <a:ea typeface="Times New Roman"/>
                <a:cs typeface="Times New Roman"/>
              </a:rPr>
              <a:t>Terra 5.6</a:t>
            </a:r>
          </a:p>
        </p:txBody>
      </p:sp>
      <p:sp>
        <p:nvSpPr>
          <p:cNvPr id="6" name="">
            <a:extLst xmlns:a="http://schemas.openxmlformats.org/drawingml/2006/main">
              <a:ext uri="{FF2B5EF4-FFF2-40B4-BE49-F238E27FC236}">
                <a16:creationId xmlns:a16="http://schemas.microsoft.com/office/drawing/2014/main" id="{FAB21FD1-8149-49A1-B62D-20549B8C274F}"/>
              </a:ext>
            </a:extLst>
          </p:cNvPr>
          <p:cNvSpPr>
            <a:spLocks xmlns:a="http://schemas.openxmlformats.org/drawingml/2006/main" noGrp="1"/>
          </p:cNvSpPr>
          <p:nvPr/>
        </p:nvSpPr>
        <p:spPr>
          <a:xfrm xmlns:a="http://schemas.openxmlformats.org/drawingml/2006/main">
            <a:off x="8763000" y="2476500"/>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4, 9, 19 passes</a:t>
            </a:r>
          </a:p>
        </p:txBody>
      </p:sp>
      <p:sp>
        <p:nvSpPr>
          <p:cNvPr id="7" name="">
            <a:extLst xmlns:a="http://schemas.openxmlformats.org/drawingml/2006/main">
              <a:ext uri="{FF2B5EF4-FFF2-40B4-BE49-F238E27FC236}">
                <a16:creationId xmlns:a16="http://schemas.microsoft.com/office/drawing/2014/main" id="{EF64A771-CEEB-4F4B-8604-6CBD810FF994}"/>
              </a:ext>
            </a:extLst>
          </p:cNvPr>
          <p:cNvSpPr>
            <a:spLocks xmlns:a="http://schemas.openxmlformats.org/drawingml/2006/main" noGrp="1"/>
          </p:cNvSpPr>
          <p:nvPr/>
        </p:nvSpPr>
        <p:spPr>
          <a:xfrm xmlns:a="http://schemas.openxmlformats.org/drawingml/2006/main">
            <a:off x="8763000" y="34575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i="0">
                <a:solidFill>
                  <a:srgbClr val="5B4B7C"/>
                </a:solidFill>
                <a:latin typeface="Times New Roman"/>
                <a:ea typeface="Times New Roman"/>
                <a:cs typeface="Times New Roman"/>
              </a:defRPr>
            </a:defPPr>
          </a:lstStyle>
          <a:p xmlns:a="http://schemas.openxmlformats.org/drawingml/2006/main">
            <a:pPr algn="l">
              <a:buNone/>
              <a:defRPr sz="2025" b="1" i="0">
                <a:solidFill>
                  <a:srgbClr val="5B4B7C"/>
                </a:solidFill>
                <a:latin typeface="Times New Roman"/>
                <a:ea typeface="Times New Roman"/>
                <a:cs typeface="Times New Roman"/>
              </a:defRPr>
            </a:pPr>
            <a:r>
              <a:rPr sz="2025" b="1" i="0">
                <a:solidFill>
                  <a:srgbClr val="5B4B7C"/>
                </a:solidFill>
                <a:latin typeface="Times New Roman"/>
                <a:ea typeface="Times New Roman"/>
                <a:cs typeface="Times New Roman"/>
              </a:rPr>
              <a:t>Astra Extra High</a:t>
            </a:r>
          </a:p>
        </p:txBody>
      </p:sp>
      <p:sp>
        <p:nvSpPr>
          <p:cNvPr id="8" name="">
            <a:extLst xmlns:a="http://schemas.openxmlformats.org/drawingml/2006/main">
              <a:ext uri="{FF2B5EF4-FFF2-40B4-BE49-F238E27FC236}">
                <a16:creationId xmlns:a16="http://schemas.microsoft.com/office/drawing/2014/main" id="{AB07E48E-D3EB-4329-B686-D24EFD20298E}"/>
              </a:ext>
            </a:extLst>
          </p:cNvPr>
          <p:cNvSpPr>
            <a:spLocks xmlns:a="http://schemas.openxmlformats.org/drawingml/2006/main" noGrp="1"/>
          </p:cNvSpPr>
          <p:nvPr/>
        </p:nvSpPr>
        <p:spPr>
          <a:xfrm xmlns:a="http://schemas.openxmlformats.org/drawingml/2006/main">
            <a:off x="8763000" y="4229100"/>
            <a:ext cx="295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111111"/>
                </a:solidFill>
                <a:latin typeface="Times New Roman"/>
                <a:ea typeface="Times New Roman"/>
                <a:cs typeface="Times New Roman"/>
              </a:defRPr>
            </a:defPPr>
          </a:lstStyle>
          <a:p xmlns:a="http://schemas.openxmlformats.org/drawingml/2006/main">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2 timeouts</a:t>
            </a:r>
          </a:p>
          <a:p xmlns:a="http://schemas.openxmlformats.org/drawingml/2006/main">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Both checkpoints passed</a:t>
            </a:r>
          </a:p>
        </p:txBody>
      </p:sp>
      <p:sp>
        <p:nvSpPr>
          <p:cNvPr id="9" name="">
            <a:extLst xmlns:a="http://schemas.openxmlformats.org/drawingml/2006/main">
              <a:ext uri="{FF2B5EF4-FFF2-40B4-BE49-F238E27FC236}">
                <a16:creationId xmlns:a16="http://schemas.microsoft.com/office/drawing/2014/main" id="{E3C707DE-9EBF-46C9-AF4D-C458D0B24515}"/>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Descriptive comparison on selected tasks. High reuses earlier observations. Timeout checkpoints do not count as completed passes.</a:t>
            </a:r>
          </a:p>
        </p:txBody>
      </p:sp>
    </p:spTree>
    <p:extLst>
      <p:ext uri="{BB962C8B-B14F-4D97-AF65-F5344CB8AC3E}">
        <p14:creationId xmlns:p14="http://schemas.microsoft.com/office/powerpoint/2010/main" val="8481716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C3A8EB5-DDCE-49F7-85D1-7223D386B087}"/>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The failure modes differ sharply by model</a:t>
            </a:r>
          </a:p>
        </p:txBody>
      </p:sp>
      <p:sp>
        <p:nvSpPr>
          <p:cNvPr id="2" name="">
            <a:extLst xmlns:a="http://schemas.openxmlformats.org/drawingml/2006/main">
              <a:ext uri="{FF2B5EF4-FFF2-40B4-BE49-F238E27FC236}">
                <a16:creationId xmlns:a16="http://schemas.microsoft.com/office/drawing/2014/main" id="{B49328EB-D8A5-451B-869F-8FD13B246D88}"/>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Recorded tool actions, saved programs, and verifier outcomes explain different bottlenecks.</a:t>
            </a:r>
          </a:p>
        </p:txBody>
      </p:sp>
      <p:sp>
        <p:nvSpPr>
          <p:cNvPr id="3" name="">
            <a:extLst xmlns:a="http://schemas.openxmlformats.org/drawingml/2006/main">
              <a:ext uri="{FF2B5EF4-FFF2-40B4-BE49-F238E27FC236}">
                <a16:creationId xmlns:a16="http://schemas.microsoft.com/office/drawing/2014/main" id="{DBDB5771-57AB-4416-9FC4-BFA7D8EC5C04}"/>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8</a:t>
            </a:r>
          </a:p>
        </p:txBody>
      </p:sp>
      <p:graphicFrame>
        <p:nvGraphicFramePr>
          <p:cNvPr id="4" name="Chart">
            <a:extLst xmlns:a="http://schemas.openxmlformats.org/drawingml/2006/main">
              <a:ext uri="{FF2B5EF4-FFF2-40B4-BE49-F238E27FC236}">
                <a16:creationId xmlns:a16="http://schemas.microsoft.com/office/drawing/2014/main" id="{1F98E7AA-44B5-4666-B587-E4D448FC921D}"/>
              </a:ext>
            </a:extLst>
          </p:cNvPr>
          <p:cNvGraphicFramePr/>
          <p:nvPr/>
        </p:nvGraphicFramePr>
        <p:xfrm>
          <a:off xmlns:a="http://schemas.openxmlformats.org/drawingml/2006/main" x="457200" y="1581150"/>
          <a:ext xmlns:a="http://schemas.openxmlformats.org/drawingml/2006/main" cx="7810500" cy="4171950"/>
        </p:xfrm>
        <a:graphic xmlns:a="http://schemas.openxmlformats.org/drawingml/2006/main">
          <a:graphicData uri="http://schemas.openxmlformats.org/drawingml/2006/chart">
            <c:chart xmlns:r="http://schemas.openxmlformats.org/officeDocument/2006/relationships" xmlns:c="http://schemas.openxmlformats.org/drawingml/2006/chart" r:id="Rafb31c0458ce4626"/>
          </a:graphicData>
        </a:graphic>
      </p:graphicFrame>
      <p:sp>
        <p:nvSpPr>
          <p:cNvPr id="5" name="">
            <a:extLst xmlns:a="http://schemas.openxmlformats.org/drawingml/2006/main">
              <a:ext uri="{FF2B5EF4-FFF2-40B4-BE49-F238E27FC236}">
                <a16:creationId xmlns:a16="http://schemas.microsoft.com/office/drawing/2014/main" id="{F2D96288-71B3-4E25-9F6C-1BB5F3E6CB1A}"/>
              </a:ext>
            </a:extLst>
          </p:cNvPr>
          <p:cNvSpPr>
            <a:spLocks xmlns:a="http://schemas.openxmlformats.org/drawingml/2006/main" noGrp="1"/>
          </p:cNvSpPr>
          <p:nvPr/>
        </p:nvSpPr>
        <p:spPr>
          <a:xfrm xmlns:a="http://schemas.openxmlformats.org/drawingml/2006/main">
            <a:off x="8648700" y="194310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750" b="1" i="0">
                <a:solidFill>
                  <a:srgbClr val="B45309"/>
                </a:solidFill>
                <a:latin typeface="Times New Roman"/>
                <a:ea typeface="Times New Roman"/>
                <a:cs typeface="Times New Roman"/>
              </a:defRPr>
            </a:defPPr>
          </a:lstStyle>
          <a:p xmlns:a="http://schemas.openxmlformats.org/drawingml/2006/main">
            <a:pPr algn="l">
              <a:buNone/>
              <a:defRPr sz="3750" b="1" i="0">
                <a:solidFill>
                  <a:srgbClr val="B45309"/>
                </a:solidFill>
                <a:latin typeface="Times New Roman"/>
                <a:ea typeface="Times New Roman"/>
                <a:cs typeface="Times New Roman"/>
              </a:defRPr>
            </a:pPr>
            <a:r>
              <a:rPr sz="3750" b="1" i="0">
                <a:solidFill>
                  <a:srgbClr val="B45309"/>
                </a:solidFill>
                <a:latin typeface="Times New Roman"/>
                <a:ea typeface="Times New Roman"/>
                <a:cs typeface="Times New Roman"/>
              </a:rPr>
              <a:t>186 / 191</a:t>
            </a:r>
          </a:p>
        </p:txBody>
      </p:sp>
      <p:sp>
        <p:nvSpPr>
          <p:cNvPr id="6" name="">
            <a:extLst xmlns:a="http://schemas.openxmlformats.org/drawingml/2006/main">
              <a:ext uri="{FF2B5EF4-FFF2-40B4-BE49-F238E27FC236}">
                <a16:creationId xmlns:a16="http://schemas.microsoft.com/office/drawing/2014/main" id="{332E1CDF-1E53-48FC-875C-1D23408D90FF}"/>
              </a:ext>
            </a:extLst>
          </p:cNvPr>
          <p:cNvSpPr>
            <a:spLocks xmlns:a="http://schemas.openxmlformats.org/drawingml/2006/main" noGrp="1"/>
          </p:cNvSpPr>
          <p:nvPr/>
        </p:nvSpPr>
        <p:spPr>
          <a:xfrm xmlns:a="http://schemas.openxmlformats.org/drawingml/2006/main">
            <a:off x="8648700" y="2638425"/>
            <a:ext cx="3086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Normally completed failures</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failed only hidden predictions</a:t>
            </a:r>
          </a:p>
        </p:txBody>
      </p:sp>
      <p:sp>
        <p:nvSpPr>
          <p:cNvPr id="7" name="">
            <a:extLst xmlns:a="http://schemas.openxmlformats.org/drawingml/2006/main">
              <a:ext uri="{FF2B5EF4-FFF2-40B4-BE49-F238E27FC236}">
                <a16:creationId xmlns:a16="http://schemas.microsoft.com/office/drawing/2014/main" id="{12C4D2AB-7951-41B3-8FE2-A2005C68A079}"/>
              </a:ext>
            </a:extLst>
          </p:cNvPr>
          <p:cNvSpPr>
            <a:spLocks xmlns:a="http://schemas.openxmlformats.org/drawingml/2006/main" noGrp="1"/>
          </p:cNvSpPr>
          <p:nvPr/>
        </p:nvSpPr>
        <p:spPr>
          <a:xfrm xmlns:a="http://schemas.openxmlformats.org/drawingml/2006/main">
            <a:off x="8648700" y="384810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750" b="1" i="0">
                <a:solidFill>
                  <a:srgbClr val="A50026"/>
                </a:solidFill>
                <a:latin typeface="Times New Roman"/>
                <a:ea typeface="Times New Roman"/>
                <a:cs typeface="Times New Roman"/>
              </a:defRPr>
            </a:defPPr>
          </a:lstStyle>
          <a:p xmlns:a="http://schemas.openxmlformats.org/drawingml/2006/main">
            <a:pPr algn="l">
              <a:buNone/>
              <a:defRPr sz="3750" b="1" i="0">
                <a:solidFill>
                  <a:srgbClr val="A50026"/>
                </a:solidFill>
                <a:latin typeface="Times New Roman"/>
                <a:ea typeface="Times New Roman"/>
                <a:cs typeface="Times New Roman"/>
              </a:defRPr>
            </a:pPr>
            <a:r>
              <a:rPr sz="3750" b="1" i="0">
                <a:solidFill>
                  <a:srgbClr val="A50026"/>
                </a:solidFill>
                <a:latin typeface="Times New Roman"/>
                <a:ea typeface="Times New Roman"/>
                <a:cs typeface="Times New Roman"/>
              </a:rPr>
              <a:t>105 / 117</a:t>
            </a:r>
          </a:p>
        </p:txBody>
      </p:sp>
      <p:sp>
        <p:nvSpPr>
          <p:cNvPr id="8" name="">
            <a:extLst xmlns:a="http://schemas.openxmlformats.org/drawingml/2006/main">
              <a:ext uri="{FF2B5EF4-FFF2-40B4-BE49-F238E27FC236}">
                <a16:creationId xmlns:a16="http://schemas.microsoft.com/office/drawing/2014/main" id="{1BC68402-3368-46B8-ADCC-4D87B60E3C86}"/>
              </a:ext>
            </a:extLst>
          </p:cNvPr>
          <p:cNvSpPr>
            <a:spLocks xmlns:a="http://schemas.openxmlformats.org/drawingml/2006/main" noGrp="1"/>
          </p:cNvSpPr>
          <p:nvPr/>
        </p:nvSpPr>
        <p:spPr>
          <a:xfrm xmlns:a="http://schemas.openxmlformats.org/drawingml/2006/main">
            <a:off x="8648700" y="4543425"/>
            <a:ext cx="3086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DeepSeek attempts ended</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with execution errors</a:t>
            </a:r>
          </a:p>
        </p:txBody>
      </p:sp>
      <p:sp>
        <p:nvSpPr>
          <p:cNvPr id="9" name="">
            <a:extLst xmlns:a="http://schemas.openxmlformats.org/drawingml/2006/main">
              <a:ext uri="{FF2B5EF4-FFF2-40B4-BE49-F238E27FC236}">
                <a16:creationId xmlns:a16="http://schemas.microsoft.com/office/drawing/2014/main" id="{F966C5D2-2C0D-49CA-82C3-5166CF87B915}"/>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At least 141 of the 186 prediction-only failures show public-test passes. Errors alone do not establish a physics mistake.</a:t>
            </a:r>
          </a:p>
        </p:txBody>
      </p:sp>
    </p:spTree>
    <p:extLst>
      <p:ext uri="{BB962C8B-B14F-4D97-AF65-F5344CB8AC3E}">
        <p14:creationId xmlns:p14="http://schemas.microsoft.com/office/powerpoint/2010/main" val="5916419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AC96A287-0B3F-4272-80DF-A6C6C1B90928}"/>
              </a:ext>
            </a:extLst>
          </p:cNvPr>
          <p:cNvCxnSpPr>
            <a:stCxn xmlns:a="http://schemas.openxmlformats.org/drawingml/2006/main" id="9" idx="3"/>
            <a:endCxn xmlns:a="http://schemas.openxmlformats.org/drawingml/2006/main" id="12" idx="1"/>
          </p:cNvCxnSpPr>
          <p:nvPr/>
        </p:nvCxnSpPr>
        <p:spPr>
          <a:xfrm xmlns:a="http://schemas.openxmlformats.org/drawingml/2006/main">
            <a:off x="8896350" y="2028825"/>
            <a:ext cx="533400" cy="0"/>
          </a:xfrm>
          <a:prstGeom xmlns:a="http://schemas.openxmlformats.org/drawingml/2006/main" prst="straightConnector1">
            <a:avLst/>
          </a:prstGeom>
          <a:ln xmlns:a="http://schemas.openxmlformats.org/drawingml/2006/main" w="19050">
            <a:solidFill>
              <a:srgbClr val="111111"/>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8383CD4E-535E-416B-BC68-A38ED99885DC}"/>
              </a:ext>
            </a:extLst>
          </p:cNvPr>
          <p:cNvCxnSpPr>
            <a:stCxn xmlns:a="http://schemas.openxmlformats.org/drawingml/2006/main" id="6" idx="3"/>
            <a:endCxn xmlns:a="http://schemas.openxmlformats.org/drawingml/2006/main" id="9" idx="1"/>
          </p:cNvCxnSpPr>
          <p:nvPr/>
        </p:nvCxnSpPr>
        <p:spPr>
          <a:xfrm xmlns:a="http://schemas.openxmlformats.org/drawingml/2006/main">
            <a:off x="5905500" y="2028825"/>
            <a:ext cx="533400" cy="0"/>
          </a:xfrm>
          <a:prstGeom xmlns:a="http://schemas.openxmlformats.org/drawingml/2006/main" prst="straightConnector1">
            <a:avLst/>
          </a:prstGeom>
          <a:ln xmlns:a="http://schemas.openxmlformats.org/drawingml/2006/main" w="19050">
            <a:solidFill>
              <a:srgbClr val="111111"/>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D7F69742-1727-4265-801B-4856EC15D5CE}"/>
              </a:ext>
            </a:extLst>
          </p:cNvPr>
          <p:cNvCxnSpPr>
            <a:stCxn xmlns:a="http://schemas.openxmlformats.org/drawingml/2006/main" id="3" idx="3"/>
            <a:endCxn xmlns:a="http://schemas.openxmlformats.org/drawingml/2006/main" id="6" idx="1"/>
          </p:cNvCxnSpPr>
          <p:nvPr/>
        </p:nvCxnSpPr>
        <p:spPr>
          <a:xfrm xmlns:a="http://schemas.openxmlformats.org/drawingml/2006/main">
            <a:off x="2914650" y="2028825"/>
            <a:ext cx="533400" cy="0"/>
          </a:xfrm>
          <a:prstGeom xmlns:a="http://schemas.openxmlformats.org/drawingml/2006/main" prst="straightConnector1">
            <a:avLst/>
          </a:prstGeom>
          <a:ln xmlns:a="http://schemas.openxmlformats.org/drawingml/2006/main" w="19050">
            <a:solidFill>
              <a:srgbClr val="111111"/>
            </a:solidFill>
            <a:prstDash val="solid"/>
            <a:tailEnd type="triangle" w="sm" len="sm"/>
          </a:ln>
        </p:spPr>
      </p:cxnSp>
      <p:sp>
        <p:nvSpPr>
          <p:cNvPr id="35" name="">
            <a:extLst xmlns:a="http://schemas.openxmlformats.org/drawingml/2006/main">
              <a:ext uri="{FF2B5EF4-FFF2-40B4-BE49-F238E27FC236}">
                <a16:creationId xmlns:a16="http://schemas.microsoft.com/office/drawing/2014/main" id="{FB8553AA-BF38-4086-946F-B82C4AFCCE9A}"/>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Entropy anomaly: the observed failure</a:t>
            </a:r>
          </a:p>
        </p:txBody>
      </p:sp>
      <p:sp>
        <p:nvSpPr>
          <p:cNvPr id="2" name="">
            <a:extLst xmlns:a="http://schemas.openxmlformats.org/drawingml/2006/main">
              <a:ext uri="{FF2B5EF4-FFF2-40B4-BE49-F238E27FC236}">
                <a16:creationId xmlns:a16="http://schemas.microsoft.com/office/drawing/2014/main" id="{42AE1207-7771-4E91-8D2F-71161E1E3F82}"/>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GPT-6 Luna Low, 21.6 seconds. Recorded tool actions and the submitted program.</a:t>
            </a:r>
          </a:p>
        </p:txBody>
      </p:sp>
      <p:sp>
        <p:nvSpPr>
          <p:cNvPr id="3" name="">
            <a:extLst xmlns:a="http://schemas.openxmlformats.org/drawingml/2006/main">
              <a:ext uri="{FF2B5EF4-FFF2-40B4-BE49-F238E27FC236}">
                <a16:creationId xmlns:a16="http://schemas.microsoft.com/office/drawing/2014/main" id="{62E50B44-64BA-4F20-9717-4E94C59CC299}"/>
              </a:ext>
            </a:extLst>
          </p:cNvPr>
          <p:cNvSpPr>
            <a:spLocks xmlns:a="http://schemas.openxmlformats.org/drawingml/2006/main" noGrp="1"/>
          </p:cNvSpPr>
          <p:nvPr/>
        </p:nvSpPr>
        <p:spPr>
          <a:xfrm xmlns:a="http://schemas.openxmlformats.org/drawingml/2006/main">
            <a:off x="457200" y="1552575"/>
            <a:ext cx="2457450" cy="952500"/>
          </a:xfrm>
          <a:prstGeom xmlns:a="http://schemas.openxmlformats.org/drawingml/2006/main" prst="rect">
            <a:avLst/>
          </a:prstGeom>
          <a:solidFill xmlns:a="http://schemas.openxmlformats.org/drawingml/2006/main">
            <a:srgbClr val="F3F4F6"/>
          </a:solidFill>
          <a:ln xmlns:a="http://schemas.openxmlformats.org/drawingml/2006/main" w="13335">
            <a:solidFill>
              <a:srgbClr val="D1D5DB"/>
            </a:solidFill>
            <a:prstDash val="solid"/>
          </a:ln>
        </p:spPr>
      </p:sp>
      <p:sp>
        <p:nvSpPr>
          <p:cNvPr id="4" name="">
            <a:extLst xmlns:a="http://schemas.openxmlformats.org/drawingml/2006/main">
              <a:ext uri="{FF2B5EF4-FFF2-40B4-BE49-F238E27FC236}">
                <a16:creationId xmlns:a16="http://schemas.microsoft.com/office/drawing/2014/main" id="{53D754F3-67CF-4EBA-B5DA-8C77F81E9134}"/>
              </a:ext>
            </a:extLst>
          </p:cNvPr>
          <p:cNvSpPr>
            <a:spLocks xmlns:a="http://schemas.openxmlformats.org/drawingml/2006/main" noGrp="1"/>
          </p:cNvSpPr>
          <p:nvPr/>
        </p:nvSpPr>
        <p:spPr>
          <a:xfrm xmlns:a="http://schemas.openxmlformats.org/drawingml/2006/main">
            <a:off x="571500" y="1685925"/>
            <a:ext cx="222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111111"/>
                </a:solidFill>
                <a:latin typeface="Times New Roman"/>
                <a:ea typeface="Times New Roman"/>
                <a:cs typeface="Times New Roman"/>
              </a:defRPr>
            </a:defPPr>
          </a:lstStyle>
          <a:p xmlns:a="http://schemas.openxmlformats.org/drawingml/2006/main">
            <a:pPr algn="l">
              <a:defRPr sz="1875" b="1">
                <a:solidFill>
                  <a:srgbClr val="111111"/>
                </a:solidFill>
                <a:latin typeface="Times New Roman"/>
                <a:ea typeface="Times New Roman"/>
                <a:cs typeface="Times New Roman"/>
              </a:defRPr>
            </a:pPr>
            <a:r>
              <a:rPr sz="1875" b="1">
                <a:solidFill>
                  <a:srgbClr val="111111"/>
                </a:solidFill>
                <a:latin typeface="Times New Roman"/>
                <a:ea typeface="Times New Roman"/>
                <a:cs typeface="Times New Roman"/>
              </a:rPr>
              <a:t>1  Read apparatus</a:t>
            </a:r>
          </a:p>
        </p:txBody>
      </p:sp>
      <p:sp>
        <p:nvSpPr>
          <p:cNvPr id="5" name="">
            <a:extLst xmlns:a="http://schemas.openxmlformats.org/drawingml/2006/main">
              <a:ext uri="{FF2B5EF4-FFF2-40B4-BE49-F238E27FC236}">
                <a16:creationId xmlns:a16="http://schemas.microsoft.com/office/drawing/2014/main" id="{23C024CA-A5EF-43C6-93FA-8746EE70A6EF}"/>
              </a:ext>
            </a:extLst>
          </p:cNvPr>
          <p:cNvSpPr>
            <a:spLocks xmlns:a="http://schemas.openxmlformats.org/drawingml/2006/main" noGrp="1"/>
          </p:cNvSpPr>
          <p:nvPr/>
        </p:nvSpPr>
        <p:spPr>
          <a:xfrm xmlns:a="http://schemas.openxmlformats.org/drawingml/2006/main">
            <a:off x="571500" y="2105025"/>
            <a:ext cx="2228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111111"/>
                </a:solidFill>
                <a:latin typeface="Times New Roman"/>
                <a:ea typeface="Times New Roman"/>
                <a:cs typeface="Times New Roman"/>
              </a:defRPr>
            </a:defPPr>
          </a:lstStyle>
          <a:p xmlns:a="http://schemas.openxmlformats.org/drawingml/2006/main">
            <a:pPr algn="l">
              <a:defRPr sz="1650" b="0">
                <a:solidFill>
                  <a:srgbClr val="111111"/>
                </a:solidFill>
                <a:latin typeface="Times New Roman"/>
                <a:ea typeface="Times New Roman"/>
                <a:cs typeface="Times New Roman"/>
              </a:defRPr>
            </a:pPr>
            <a:r>
              <a:rPr sz="1650" b="0">
                <a:solidFill>
                  <a:srgbClr val="111111"/>
                </a:solidFill>
                <a:latin typeface="Times New Roman"/>
                <a:ea typeface="Times New Roman"/>
                <a:cs typeface="Times New Roman"/>
              </a:rPr>
              <a:t>README + starter</a:t>
            </a:r>
          </a:p>
        </p:txBody>
      </p:sp>
      <p:sp>
        <p:nvSpPr>
          <p:cNvPr id="6" name="">
            <a:extLst xmlns:a="http://schemas.openxmlformats.org/drawingml/2006/main">
              <a:ext uri="{FF2B5EF4-FFF2-40B4-BE49-F238E27FC236}">
                <a16:creationId xmlns:a16="http://schemas.microsoft.com/office/drawing/2014/main" id="{A46C9A57-F0CE-4193-8DB7-3FFD2608550F}"/>
              </a:ext>
            </a:extLst>
          </p:cNvPr>
          <p:cNvSpPr>
            <a:spLocks xmlns:a="http://schemas.openxmlformats.org/drawingml/2006/main" noGrp="1"/>
          </p:cNvSpPr>
          <p:nvPr/>
        </p:nvSpPr>
        <p:spPr>
          <a:xfrm xmlns:a="http://schemas.openxmlformats.org/drawingml/2006/main">
            <a:off x="3448050" y="1552575"/>
            <a:ext cx="2457450" cy="952500"/>
          </a:xfrm>
          <a:prstGeom xmlns:a="http://schemas.openxmlformats.org/drawingml/2006/main" prst="rect">
            <a:avLst/>
          </a:prstGeom>
          <a:solidFill xmlns:a="http://schemas.openxmlformats.org/drawingml/2006/main">
            <a:srgbClr val="F3F4F6"/>
          </a:solidFill>
          <a:ln xmlns:a="http://schemas.openxmlformats.org/drawingml/2006/main" w="13335">
            <a:solidFill>
              <a:srgbClr val="D1D5DB"/>
            </a:solidFill>
            <a:prstDash val="solid"/>
          </a:ln>
        </p:spPr>
      </p:sp>
      <p:sp>
        <p:nvSpPr>
          <p:cNvPr id="7" name="">
            <a:extLst xmlns:a="http://schemas.openxmlformats.org/drawingml/2006/main">
              <a:ext uri="{FF2B5EF4-FFF2-40B4-BE49-F238E27FC236}">
                <a16:creationId xmlns:a16="http://schemas.microsoft.com/office/drawing/2014/main" id="{3EF2CDFD-A653-4D23-A9B6-50E12BB55D99}"/>
              </a:ext>
            </a:extLst>
          </p:cNvPr>
          <p:cNvSpPr>
            <a:spLocks xmlns:a="http://schemas.openxmlformats.org/drawingml/2006/main" noGrp="1"/>
          </p:cNvSpPr>
          <p:nvPr/>
        </p:nvSpPr>
        <p:spPr>
          <a:xfrm xmlns:a="http://schemas.openxmlformats.org/drawingml/2006/main">
            <a:off x="3562350" y="1685925"/>
            <a:ext cx="222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111111"/>
                </a:solidFill>
                <a:latin typeface="Times New Roman"/>
                <a:ea typeface="Times New Roman"/>
                <a:cs typeface="Times New Roman"/>
              </a:defRPr>
            </a:defPPr>
          </a:lstStyle>
          <a:p xmlns:a="http://schemas.openxmlformats.org/drawingml/2006/main">
            <a:pPr algn="l">
              <a:defRPr sz="1875" b="1">
                <a:solidFill>
                  <a:srgbClr val="111111"/>
                </a:solidFill>
                <a:latin typeface="Times New Roman"/>
                <a:ea typeface="Times New Roman"/>
                <a:cs typeface="Times New Roman"/>
              </a:defRPr>
            </a:pPr>
            <a:r>
              <a:rPr sz="1875" b="1">
                <a:solidFill>
                  <a:srgbClr val="111111"/>
                </a:solidFill>
                <a:latin typeface="Times New Roman"/>
                <a:ea typeface="Times New Roman"/>
                <a:cs typeface="Times New Roman"/>
              </a:rPr>
              <a:t>2  Scan friction</a:t>
            </a:r>
          </a:p>
        </p:txBody>
      </p:sp>
      <p:sp>
        <p:nvSpPr>
          <p:cNvPr id="8" name="">
            <a:extLst xmlns:a="http://schemas.openxmlformats.org/drawingml/2006/main">
              <a:ext uri="{FF2B5EF4-FFF2-40B4-BE49-F238E27FC236}">
                <a16:creationId xmlns:a16="http://schemas.microsoft.com/office/drawing/2014/main" id="{3F8F9C35-1752-48CB-BCF7-21AE2FEB1EE5}"/>
              </a:ext>
            </a:extLst>
          </p:cNvPr>
          <p:cNvSpPr>
            <a:spLocks xmlns:a="http://schemas.openxmlformats.org/drawingml/2006/main" noGrp="1"/>
          </p:cNvSpPr>
          <p:nvPr/>
        </p:nvSpPr>
        <p:spPr>
          <a:xfrm xmlns:a="http://schemas.openxmlformats.org/drawingml/2006/main">
            <a:off x="3562350" y="2105025"/>
            <a:ext cx="2228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111111"/>
                </a:solidFill>
                <a:latin typeface="Times New Roman"/>
                <a:ea typeface="Times New Roman"/>
                <a:cs typeface="Times New Roman"/>
              </a:defRPr>
            </a:defPPr>
          </a:lstStyle>
          <a:p xmlns:a="http://schemas.openxmlformats.org/drawingml/2006/main">
            <a:pPr algn="l">
              <a:defRPr sz="1650" b="0">
                <a:solidFill>
                  <a:srgbClr val="111111"/>
                </a:solidFill>
                <a:latin typeface="Times New Roman"/>
                <a:ea typeface="Times New Roman"/>
                <a:cs typeface="Times New Roman"/>
              </a:defRPr>
            </a:pPr>
            <a:r>
              <a:rPr sz="1650" b="0">
                <a:solidFill>
                  <a:srgbClr val="111111"/>
                </a:solidFill>
                <a:latin typeface="Times New Roman"/>
                <a:ea typeface="Times New Roman"/>
                <a:cs typeface="Times New Roman"/>
              </a:rPr>
              <a:t>Best fit near γ = 1.1</a:t>
            </a:r>
          </a:p>
        </p:txBody>
      </p:sp>
      <p:sp>
        <p:nvSpPr>
          <p:cNvPr id="9" name="">
            <a:extLst xmlns:a="http://schemas.openxmlformats.org/drawingml/2006/main">
              <a:ext uri="{FF2B5EF4-FFF2-40B4-BE49-F238E27FC236}">
                <a16:creationId xmlns:a16="http://schemas.microsoft.com/office/drawing/2014/main" id="{167B465A-6FB7-4D8D-AC85-093B73FC70C0}"/>
              </a:ext>
            </a:extLst>
          </p:cNvPr>
          <p:cNvSpPr>
            <a:spLocks xmlns:a="http://schemas.openxmlformats.org/drawingml/2006/main" noGrp="1"/>
          </p:cNvSpPr>
          <p:nvPr/>
        </p:nvSpPr>
        <p:spPr>
          <a:xfrm xmlns:a="http://schemas.openxmlformats.org/drawingml/2006/main">
            <a:off x="6438900" y="1552575"/>
            <a:ext cx="2457450" cy="952500"/>
          </a:xfrm>
          <a:prstGeom xmlns:a="http://schemas.openxmlformats.org/drawingml/2006/main" prst="rect">
            <a:avLst/>
          </a:prstGeom>
          <a:solidFill xmlns:a="http://schemas.openxmlformats.org/drawingml/2006/main">
            <a:srgbClr val="F3F4F6"/>
          </a:solidFill>
          <a:ln xmlns:a="http://schemas.openxmlformats.org/drawingml/2006/main" w="13335">
            <a:solidFill>
              <a:srgbClr val="D1D5DB"/>
            </a:solidFill>
            <a:prstDash val="solid"/>
          </a:ln>
        </p:spPr>
      </p:sp>
      <p:sp>
        <p:nvSpPr>
          <p:cNvPr id="10" name="">
            <a:extLst xmlns:a="http://schemas.openxmlformats.org/drawingml/2006/main">
              <a:ext uri="{FF2B5EF4-FFF2-40B4-BE49-F238E27FC236}">
                <a16:creationId xmlns:a16="http://schemas.microsoft.com/office/drawing/2014/main" id="{33AC3036-3E5C-41DB-810A-EE0732832CC0}"/>
              </a:ext>
            </a:extLst>
          </p:cNvPr>
          <p:cNvSpPr>
            <a:spLocks xmlns:a="http://schemas.openxmlformats.org/drawingml/2006/main" noGrp="1"/>
          </p:cNvSpPr>
          <p:nvPr/>
        </p:nvSpPr>
        <p:spPr>
          <a:xfrm xmlns:a="http://schemas.openxmlformats.org/drawingml/2006/main">
            <a:off x="6553200" y="1685925"/>
            <a:ext cx="222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111111"/>
                </a:solidFill>
                <a:latin typeface="Times New Roman"/>
                <a:ea typeface="Times New Roman"/>
                <a:cs typeface="Times New Roman"/>
              </a:defRPr>
            </a:defPPr>
          </a:lstStyle>
          <a:p xmlns:a="http://schemas.openxmlformats.org/drawingml/2006/main">
            <a:pPr algn="l">
              <a:defRPr sz="1875" b="1">
                <a:solidFill>
                  <a:srgbClr val="111111"/>
                </a:solidFill>
                <a:latin typeface="Times New Roman"/>
                <a:ea typeface="Times New Roman"/>
                <a:cs typeface="Times New Roman"/>
              </a:defRPr>
            </a:pPr>
            <a:r>
              <a:rPr sz="1875" b="1">
                <a:solidFill>
                  <a:srgbClr val="111111"/>
                </a:solidFill>
                <a:latin typeface="Times New Roman"/>
                <a:ea typeface="Times New Roman"/>
                <a:cs typeface="Times New Roman"/>
              </a:rPr>
              <a:t>3  Implement fit()</a:t>
            </a:r>
          </a:p>
        </p:txBody>
      </p:sp>
      <p:sp>
        <p:nvSpPr>
          <p:cNvPr id="11" name="">
            <a:extLst xmlns:a="http://schemas.openxmlformats.org/drawingml/2006/main">
              <a:ext uri="{FF2B5EF4-FFF2-40B4-BE49-F238E27FC236}">
                <a16:creationId xmlns:a16="http://schemas.microsoft.com/office/drawing/2014/main" id="{36534595-F2A5-45E8-BDAF-9B3A67E173DE}"/>
              </a:ext>
            </a:extLst>
          </p:cNvPr>
          <p:cNvSpPr>
            <a:spLocks xmlns:a="http://schemas.openxmlformats.org/drawingml/2006/main" noGrp="1"/>
          </p:cNvSpPr>
          <p:nvPr/>
        </p:nvSpPr>
        <p:spPr>
          <a:xfrm xmlns:a="http://schemas.openxmlformats.org/drawingml/2006/main">
            <a:off x="6553200" y="2105025"/>
            <a:ext cx="2228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111111"/>
                </a:solidFill>
                <a:latin typeface="Times New Roman"/>
                <a:ea typeface="Times New Roman"/>
                <a:cs typeface="Times New Roman"/>
              </a:defRPr>
            </a:defPPr>
          </a:lstStyle>
          <a:p xmlns:a="http://schemas.openxmlformats.org/drawingml/2006/main">
            <a:pPr algn="l">
              <a:defRPr sz="1650" b="0">
                <a:solidFill>
                  <a:srgbClr val="111111"/>
                </a:solidFill>
                <a:latin typeface="Times New Roman"/>
                <a:ea typeface="Times New Roman"/>
                <a:cs typeface="Times New Roman"/>
              </a:defRPr>
            </a:pPr>
            <a:r>
              <a:rPr sz="1650" b="0">
                <a:solidFill>
                  <a:srgbClr val="111111"/>
                </a:solidFill>
                <a:latin typeface="Times New Roman"/>
                <a:ea typeface="Times New Roman"/>
                <a:cs typeface="Times New Roman"/>
              </a:rPr>
              <a:t>Predictor unchanged</a:t>
            </a:r>
          </a:p>
        </p:txBody>
      </p:sp>
      <p:sp>
        <p:nvSpPr>
          <p:cNvPr id="12" name="">
            <a:extLst xmlns:a="http://schemas.openxmlformats.org/drawingml/2006/main">
              <a:ext uri="{FF2B5EF4-FFF2-40B4-BE49-F238E27FC236}">
                <a16:creationId xmlns:a16="http://schemas.microsoft.com/office/drawing/2014/main" id="{00294DDF-4A21-4E0C-8088-1310374EF951}"/>
              </a:ext>
            </a:extLst>
          </p:cNvPr>
          <p:cNvSpPr>
            <a:spLocks xmlns:a="http://schemas.openxmlformats.org/drawingml/2006/main" noGrp="1"/>
          </p:cNvSpPr>
          <p:nvPr/>
        </p:nvSpPr>
        <p:spPr>
          <a:xfrm xmlns:a="http://schemas.openxmlformats.org/drawingml/2006/main">
            <a:off x="9429750" y="1552575"/>
            <a:ext cx="2305050" cy="952500"/>
          </a:xfrm>
          <a:prstGeom xmlns:a="http://schemas.openxmlformats.org/drawingml/2006/main" prst="rect">
            <a:avLst/>
          </a:prstGeom>
          <a:solidFill xmlns:a="http://schemas.openxmlformats.org/drawingml/2006/main">
            <a:srgbClr val="F3F4F6"/>
          </a:solidFill>
          <a:ln xmlns:a="http://schemas.openxmlformats.org/drawingml/2006/main" w="13335">
            <a:solidFill>
              <a:srgbClr val="D1D5DB"/>
            </a:solidFill>
            <a:prstDash val="solid"/>
          </a:ln>
        </p:spPr>
      </p:sp>
      <p:sp>
        <p:nvSpPr>
          <p:cNvPr id="13" name="">
            <a:extLst xmlns:a="http://schemas.openxmlformats.org/drawingml/2006/main">
              <a:ext uri="{FF2B5EF4-FFF2-40B4-BE49-F238E27FC236}">
                <a16:creationId xmlns:a16="http://schemas.microsoft.com/office/drawing/2014/main" id="{C2F71357-7EB0-4BAD-843D-A40FF3289401}"/>
              </a:ext>
            </a:extLst>
          </p:cNvPr>
          <p:cNvSpPr>
            <a:spLocks xmlns:a="http://schemas.openxmlformats.org/drawingml/2006/main" noGrp="1"/>
          </p:cNvSpPr>
          <p:nvPr/>
        </p:nvSpPr>
        <p:spPr>
          <a:xfrm xmlns:a="http://schemas.openxmlformats.org/drawingml/2006/main">
            <a:off x="9544050" y="1685925"/>
            <a:ext cx="2076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111111"/>
                </a:solidFill>
                <a:latin typeface="Times New Roman"/>
                <a:ea typeface="Times New Roman"/>
                <a:cs typeface="Times New Roman"/>
              </a:defRPr>
            </a:defPPr>
          </a:lstStyle>
          <a:p xmlns:a="http://schemas.openxmlformats.org/drawingml/2006/main">
            <a:pPr algn="l">
              <a:defRPr sz="1875" b="1">
                <a:solidFill>
                  <a:srgbClr val="111111"/>
                </a:solidFill>
                <a:latin typeface="Times New Roman"/>
                <a:ea typeface="Times New Roman"/>
                <a:cs typeface="Times New Roman"/>
              </a:defRPr>
            </a:pPr>
            <a:r>
              <a:rPr sz="1875" b="1">
                <a:solidFill>
                  <a:srgbClr val="111111"/>
                </a:solidFill>
                <a:latin typeface="Times New Roman"/>
                <a:ea typeface="Times New Roman"/>
                <a:cs typeface="Times New Roman"/>
              </a:rPr>
              <a:t>4  Run public tests</a:t>
            </a:r>
          </a:p>
        </p:txBody>
      </p:sp>
      <p:sp>
        <p:nvSpPr>
          <p:cNvPr id="14" name="">
            <a:extLst xmlns:a="http://schemas.openxmlformats.org/drawingml/2006/main">
              <a:ext uri="{FF2B5EF4-FFF2-40B4-BE49-F238E27FC236}">
                <a16:creationId xmlns:a16="http://schemas.microsoft.com/office/drawing/2014/main" id="{6F023854-D07A-4356-816A-22FC9888B6DA}"/>
              </a:ext>
            </a:extLst>
          </p:cNvPr>
          <p:cNvSpPr>
            <a:spLocks xmlns:a="http://schemas.openxmlformats.org/drawingml/2006/main" noGrp="1"/>
          </p:cNvSpPr>
          <p:nvPr/>
        </p:nvSpPr>
        <p:spPr>
          <a:xfrm xmlns:a="http://schemas.openxmlformats.org/drawingml/2006/main">
            <a:off x="9544050" y="2105025"/>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111111"/>
                </a:solidFill>
                <a:latin typeface="Times New Roman"/>
                <a:ea typeface="Times New Roman"/>
                <a:cs typeface="Times New Roman"/>
              </a:defRPr>
            </a:defPPr>
          </a:lstStyle>
          <a:p xmlns:a="http://schemas.openxmlformats.org/drawingml/2006/main">
            <a:pPr algn="l">
              <a:defRPr sz="1650" b="0">
                <a:solidFill>
                  <a:srgbClr val="111111"/>
                </a:solidFill>
                <a:latin typeface="Times New Roman"/>
                <a:ea typeface="Times New Roman"/>
                <a:cs typeface="Times New Roman"/>
              </a:defRPr>
            </a:pPr>
            <a:r>
              <a:rPr sz="1650" b="0">
                <a:solidFill>
                  <a:srgbClr val="111111"/>
                </a:solidFill>
                <a:latin typeface="Times New Roman"/>
                <a:ea typeface="Times New Roman"/>
                <a:cs typeface="Times New Roman"/>
              </a:rPr>
              <a:t>2 tests passed</a:t>
            </a:r>
          </a:p>
        </p:txBody>
      </p:sp>
      <p:sp>
        <p:nvSpPr>
          <p:cNvPr id="18" name="">
            <a:extLst xmlns:a="http://schemas.openxmlformats.org/drawingml/2006/main">
              <a:ext uri="{FF2B5EF4-FFF2-40B4-BE49-F238E27FC236}">
                <a16:creationId xmlns:a16="http://schemas.microsoft.com/office/drawing/2014/main" id="{A480B1D1-F9AF-401A-BAA3-86BF7D3EAD79}"/>
              </a:ext>
            </a:extLst>
          </p:cNvPr>
          <p:cNvSpPr>
            <a:spLocks xmlns:a="http://schemas.openxmlformats.org/drawingml/2006/main" noGrp="1"/>
          </p:cNvSpPr>
          <p:nvPr/>
        </p:nvSpPr>
        <p:spPr>
          <a:xfrm xmlns:a="http://schemas.openxmlformats.org/drawingml/2006/main">
            <a:off x="457200" y="2876550"/>
            <a:ext cx="53054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a:solidFill>
                  <a:srgbClr val="111111"/>
                </a:solidFill>
                <a:latin typeface="Times New Roman"/>
                <a:ea typeface="Times New Roman"/>
                <a:cs typeface="Times New Roman"/>
              </a:defRPr>
            </a:defPPr>
          </a:lstStyle>
          <a:p xmlns:a="http://schemas.openxmlformats.org/drawingml/2006/main">
            <a:pPr algn="l">
              <a:defRPr sz="2025" b="1">
                <a:solidFill>
                  <a:srgbClr val="111111"/>
                </a:solidFill>
                <a:latin typeface="Times New Roman"/>
                <a:ea typeface="Times New Roman"/>
                <a:cs typeface="Times New Roman"/>
              </a:defRPr>
            </a:pPr>
            <a:r>
              <a:rPr sz="2025" b="1">
                <a:solidFill>
                  <a:srgbClr val="111111"/>
                </a:solidFill>
                <a:latin typeface="Times New Roman"/>
                <a:ea typeface="Times New Roman"/>
                <a:cs typeface="Times New Roman"/>
              </a:rPr>
              <a:t>Agent’s recorded explanation</a:t>
            </a:r>
          </a:p>
        </p:txBody>
      </p:sp>
      <p:sp>
        <p:nvSpPr>
          <p:cNvPr id="19" name="">
            <a:extLst xmlns:a="http://schemas.openxmlformats.org/drawingml/2006/main">
              <a:ext uri="{FF2B5EF4-FFF2-40B4-BE49-F238E27FC236}">
                <a16:creationId xmlns:a16="http://schemas.microsoft.com/office/drawing/2014/main" id="{78BF6D83-E4BA-4B4E-8DCC-9D46BD8FBDDA}"/>
              </a:ext>
            </a:extLst>
          </p:cNvPr>
          <p:cNvSpPr>
            <a:spLocks xmlns:a="http://schemas.openxmlformats.org/drawingml/2006/main" noGrp="1"/>
          </p:cNvSpPr>
          <p:nvPr/>
        </p:nvSpPr>
        <p:spPr>
          <a:xfrm xmlns:a="http://schemas.openxmlformats.org/drawingml/2006/main">
            <a:off x="457200" y="3295650"/>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existing model gives a good calibration fit</a:t>
            </a:r>
          </a:p>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near friction 1.1, so the small-mass expansion</a:t>
            </a:r>
          </a:p>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is consistent with the records.”</a:t>
            </a:r>
          </a:p>
        </p:txBody>
      </p:sp>
      <p:sp>
        <p:nvSpPr>
          <p:cNvPr id="20" name="">
            <a:extLst xmlns:a="http://schemas.openxmlformats.org/drawingml/2006/main">
              <a:ext uri="{FF2B5EF4-FFF2-40B4-BE49-F238E27FC236}">
                <a16:creationId xmlns:a16="http://schemas.microsoft.com/office/drawing/2014/main" id="{6210A780-CDD4-4E3E-AE0E-EB7C63D9F3A7}"/>
              </a:ext>
            </a:extLst>
          </p:cNvPr>
          <p:cNvSpPr>
            <a:spLocks xmlns:a="http://schemas.openxmlformats.org/drawingml/2006/main" noGrp="1"/>
          </p:cNvSpPr>
          <p:nvPr/>
        </p:nvSpPr>
        <p:spPr>
          <a:xfrm xmlns:a="http://schemas.openxmlformats.org/drawingml/2006/main">
            <a:off x="457200" y="4391025"/>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a:solidFill>
                  <a:srgbClr val="111111"/>
                </a:solidFill>
                <a:latin typeface="Times New Roman"/>
                <a:ea typeface="Times New Roman"/>
                <a:cs typeface="Times New Roman"/>
              </a:defRPr>
            </a:defPPr>
          </a:lstStyle>
          <a:p xmlns:a="http://schemas.openxmlformats.org/drawingml/2006/main">
            <a:pPr algn="l">
              <a:defRPr sz="2025" b="1">
                <a:solidFill>
                  <a:srgbClr val="111111"/>
                </a:solidFill>
                <a:latin typeface="Times New Roman"/>
                <a:ea typeface="Times New Roman"/>
                <a:cs typeface="Times New Roman"/>
              </a:defRPr>
            </a:pPr>
            <a:r>
              <a:rPr sz="2025" b="1">
                <a:solidFill>
                  <a:srgbClr val="111111"/>
                </a:solidFill>
                <a:latin typeface="Times New Roman"/>
                <a:ea typeface="Times New Roman"/>
                <a:cs typeface="Times New Roman"/>
              </a:rPr>
              <a:t>What the submitted source retained</a:t>
            </a:r>
          </a:p>
        </p:txBody>
      </p:sp>
      <p:sp>
        <p:nvSpPr>
          <p:cNvPr id="21" name="">
            <a:extLst xmlns:a="http://schemas.openxmlformats.org/drawingml/2006/main">
              <a:ext uri="{FF2B5EF4-FFF2-40B4-BE49-F238E27FC236}">
                <a16:creationId xmlns:a16="http://schemas.microsoft.com/office/drawing/2014/main" id="{0D6F3788-F486-4F79-9BDA-5574D52308CD}"/>
              </a:ext>
            </a:extLst>
          </p:cNvPr>
          <p:cNvSpPr>
            <a:spLocks xmlns:a="http://schemas.openxmlformats.org/drawingml/2006/main" noGrp="1"/>
          </p:cNvSpPr>
          <p:nvPr/>
        </p:nvSpPr>
        <p:spPr>
          <a:xfrm xmlns:a="http://schemas.openxmlformats.org/drawingml/2006/main">
            <a:off x="457200" y="4791075"/>
            <a:ext cx="5429250" cy="657225"/>
          </a:xfrm>
          <a:prstGeom xmlns:a="http://schemas.openxmlformats.org/drawingml/2006/main" prst="rect">
            <a:avLst/>
          </a:prstGeom>
          <a:solidFill xmlns:a="http://schemas.openxmlformats.org/drawingml/2006/main">
            <a:srgbClr val="F3F4F6"/>
          </a:solidFill>
          <a:ln xmlns:a="http://schemas.openxmlformats.org/drawingml/2006/main" w="13335">
            <a:solidFill>
              <a:srgbClr val="D1D5DB"/>
            </a:solidFill>
            <a:prstDash val="solid"/>
          </a:ln>
        </p:spPr>
      </p:sp>
      <p:sp>
        <p:nvSpPr>
          <p:cNvPr id="22" name="">
            <a:extLst xmlns:a="http://schemas.openxmlformats.org/drawingml/2006/main">
              <a:ext uri="{FF2B5EF4-FFF2-40B4-BE49-F238E27FC236}">
                <a16:creationId xmlns:a16="http://schemas.microsoft.com/office/drawing/2014/main" id="{AE054BDC-4F08-406A-9217-FD6F2275EBF4}"/>
              </a:ext>
            </a:extLst>
          </p:cNvPr>
          <p:cNvSpPr>
            <a:spLocks xmlns:a="http://schemas.openxmlformats.org/drawingml/2006/main" noGrp="1"/>
          </p:cNvSpPr>
          <p:nvPr/>
        </p:nvSpPr>
        <p:spPr>
          <a:xfrm xmlns:a="http://schemas.openxmlformats.org/drawingml/2006/main">
            <a:off x="590550" y="4933950"/>
            <a:ext cx="518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1">
                <a:solidFill>
                  <a:srgbClr val="A50026"/>
                </a:solidFill>
                <a:latin typeface="Times New Roman"/>
                <a:ea typeface="Times New Roman"/>
                <a:cs typeface="Times New Roman"/>
              </a:defRPr>
            </a:defPPr>
          </a:lstStyle>
          <a:p xmlns:a="http://schemas.openxmlformats.org/drawingml/2006/main">
            <a:pPr algn="l">
              <a:defRPr sz="1950" b="1">
                <a:solidFill>
                  <a:srgbClr val="A50026"/>
                </a:solidFill>
                <a:latin typeface="Times New Roman"/>
                <a:ea typeface="Times New Roman"/>
                <a:cs typeface="Times New Roman"/>
              </a:defRPr>
            </a:pPr>
            <a:r>
              <a:rPr sz="1950" b="1">
                <a:solidFill>
                  <a:srgbClr val="A50026"/>
                </a:solidFill>
                <a:latin typeface="Times New Roman"/>
                <a:ea typeface="Times New Roman"/>
                <a:cs typeface="Times New Roman"/>
              </a:rPr>
              <a:t>density_correction = zeros(...)</a:t>
            </a:r>
          </a:p>
        </p:txBody>
      </p:sp>
      <p:sp>
        <p:nvSpPr>
          <p:cNvPr id="23" name="">
            <a:extLst xmlns:a="http://schemas.openxmlformats.org/drawingml/2006/main">
              <a:ext uri="{FF2B5EF4-FFF2-40B4-BE49-F238E27FC236}">
                <a16:creationId xmlns:a16="http://schemas.microsoft.com/office/drawing/2014/main" id="{D8282FDB-5D20-4BE1-8E55-FF81CE28E541}"/>
              </a:ext>
            </a:extLst>
          </p:cNvPr>
          <p:cNvSpPr>
            <a:spLocks xmlns:a="http://schemas.openxmlformats.org/drawingml/2006/main" noGrp="1"/>
          </p:cNvSpPr>
          <p:nvPr/>
        </p:nvSpPr>
        <p:spPr>
          <a:xfrm xmlns:a="http://schemas.openxmlformats.org/drawingml/2006/main">
            <a:off x="457200" y="5581650"/>
            <a:ext cx="542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425" b="0">
                <a:solidFill>
                  <a:srgbClr val="777777"/>
                </a:solidFill>
                <a:latin typeface="Times New Roman"/>
                <a:ea typeface="Times New Roman"/>
                <a:cs typeface="Times New Roman"/>
              </a:defRPr>
            </a:defPPr>
          </a:lstStyle>
          <a:p xmlns:a="http://schemas.openxmlformats.org/drawingml/2006/main">
            <a:pPr algn="l">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Abbreviated code: the conditional population correction is zero.</a:t>
            </a:r>
          </a:p>
        </p:txBody>
      </p:sp>
      <p:sp>
        <p:nvSpPr>
          <p:cNvPr id="24" name="">
            <a:extLst xmlns:a="http://schemas.openxmlformats.org/drawingml/2006/main">
              <a:ext uri="{FF2B5EF4-FFF2-40B4-BE49-F238E27FC236}">
                <a16:creationId xmlns:a16="http://schemas.microsoft.com/office/drawing/2014/main" id="{798F94CC-A4D7-441E-B153-852589698C51}"/>
              </a:ext>
            </a:extLst>
          </p:cNvPr>
          <p:cNvSpPr>
            <a:spLocks xmlns:a="http://schemas.openxmlformats.org/drawingml/2006/main" noGrp="1"/>
          </p:cNvSpPr>
          <p:nvPr/>
        </p:nvSpPr>
        <p:spPr>
          <a:xfrm xmlns:a="http://schemas.openxmlformats.org/drawingml/2006/main">
            <a:off x="6400800" y="287655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a:solidFill>
                  <a:srgbClr val="111111"/>
                </a:solidFill>
                <a:latin typeface="Times New Roman"/>
                <a:ea typeface="Times New Roman"/>
                <a:cs typeface="Times New Roman"/>
              </a:defRPr>
            </a:defPPr>
          </a:lstStyle>
          <a:p xmlns:a="http://schemas.openxmlformats.org/drawingml/2006/main">
            <a:pPr algn="l">
              <a:defRPr sz="2025" b="1">
                <a:solidFill>
                  <a:srgbClr val="111111"/>
                </a:solidFill>
                <a:latin typeface="Times New Roman"/>
                <a:ea typeface="Times New Roman"/>
                <a:cs typeface="Times New Roman"/>
              </a:defRPr>
            </a:pPr>
            <a:r>
              <a:rPr sz="2025" b="1">
                <a:solidFill>
                  <a:srgbClr val="111111"/>
                </a:solidFill>
                <a:latin typeface="Times New Roman"/>
                <a:ea typeface="Times New Roman"/>
                <a:cs typeface="Times New Roman"/>
              </a:rPr>
              <a:t>Physical diagnosis</a:t>
            </a:r>
          </a:p>
        </p:txBody>
      </p:sp>
      <p:sp>
        <p:nvSpPr>
          <p:cNvPr id="25" name="">
            <a:extLst xmlns:a="http://schemas.openxmlformats.org/drawingml/2006/main">
              <a:ext uri="{FF2B5EF4-FFF2-40B4-BE49-F238E27FC236}">
                <a16:creationId xmlns:a16="http://schemas.microsoft.com/office/drawing/2014/main" id="{FC740723-D745-433D-95D3-5E428356E805}"/>
              </a:ext>
            </a:extLst>
          </p:cNvPr>
          <p:cNvSpPr>
            <a:spLocks xmlns:a="http://schemas.openxmlformats.org/drawingml/2006/main" noGrp="1"/>
          </p:cNvSpPr>
          <p:nvPr/>
        </p:nvSpPr>
        <p:spPr>
          <a:xfrm xmlns:a="http://schemas.openxmlformats.org/drawingml/2006/main">
            <a:off x="6400800" y="3295650"/>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Equal valve occupancies can still produce a</a:t>
            </a:r>
          </a:p>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position-dependent population correction.</a:t>
            </a:r>
          </a:p>
        </p:txBody>
      </p:sp>
      <p:sp>
        <p:nvSpPr>
          <p:cNvPr id="26" name="">
            <a:extLst xmlns:a="http://schemas.openxmlformats.org/drawingml/2006/main">
              <a:ext uri="{FF2B5EF4-FFF2-40B4-BE49-F238E27FC236}">
                <a16:creationId xmlns:a16="http://schemas.microsoft.com/office/drawing/2014/main" id="{482ED463-89EF-4CDB-92FB-188C55D6DCF2}"/>
              </a:ext>
            </a:extLst>
          </p:cNvPr>
          <p:cNvSpPr>
            <a:spLocks xmlns:a="http://schemas.openxmlformats.org/drawingml/2006/main" noGrp="1"/>
          </p:cNvSpPr>
          <p:nvPr/>
        </p:nvSpPr>
        <p:spPr>
          <a:xfrm xmlns:a="http://schemas.openxmlformats.org/drawingml/2006/main">
            <a:off x="6400800" y="4095750"/>
            <a:ext cx="5334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D4E89"/>
                </a:solidFill>
                <a:latin typeface="Times New Roman"/>
                <a:ea typeface="Times New Roman"/>
                <a:cs typeface="Times New Roman"/>
              </a:defRPr>
            </a:defPPr>
          </a:lstStyle>
          <a:p xmlns:a="http://schemas.openxmlformats.org/drawingml/2006/main">
            <a:pPr algn="l">
              <a:defRPr sz="2175" b="1">
                <a:solidFill>
                  <a:srgbClr val="1D4E89"/>
                </a:solidFill>
                <a:latin typeface="Times New Roman"/>
                <a:ea typeface="Times New Roman"/>
                <a:cs typeface="Times New Roman"/>
              </a:defRPr>
            </a:pPr>
            <a:r>
              <a:rPr sz="2175" b="1">
                <a:solidFill>
                  <a:srgbClr val="1D4E89"/>
                </a:solidFill>
                <a:latin typeface="Times New Roman"/>
                <a:ea typeface="Times New Roman"/>
                <a:cs typeface="Times New Roman"/>
              </a:rPr>
              <a:t>Q n¹ = ∂ₓ j¹       with  ∑ₛ n¹ₛ = 0</a:t>
            </a:r>
          </a:p>
        </p:txBody>
      </p:sp>
      <p:sp>
        <p:nvSpPr>
          <p:cNvPr id="27" name="">
            <a:extLst xmlns:a="http://schemas.openxmlformats.org/drawingml/2006/main">
              <a:ext uri="{FF2B5EF4-FFF2-40B4-BE49-F238E27FC236}">
                <a16:creationId xmlns:a16="http://schemas.microsoft.com/office/drawing/2014/main" id="{8DB2E36C-699D-4B8F-B44E-E219724C67D6}"/>
              </a:ext>
            </a:extLst>
          </p:cNvPr>
          <p:cNvSpPr>
            <a:spLocks xmlns:a="http://schemas.openxmlformats.org/drawingml/2006/main" noGrp="1"/>
          </p:cNvSpPr>
          <p:nvPr/>
        </p:nvSpPr>
        <p:spPr>
          <a:xfrm xmlns:a="http://schemas.openxmlformats.org/drawingml/2006/main">
            <a:off x="6400800" y="4562475"/>
            <a:ext cx="533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444444"/>
                </a:solidFill>
                <a:latin typeface="Times New Roman"/>
                <a:ea typeface="Times New Roman"/>
                <a:cs typeface="Times New Roman"/>
              </a:defRPr>
            </a:defPPr>
          </a:lstStyle>
          <a:p xmlns:a="http://schemas.openxmlformats.org/drawingml/2006/main">
            <a:pPr algn="l">
              <a:defRPr sz="1650" b="0">
                <a:solidFill>
                  <a:srgbClr val="444444"/>
                </a:solidFill>
                <a:latin typeface="Times New Roman"/>
                <a:ea typeface="Times New Roman"/>
                <a:cs typeface="Times New Roman"/>
              </a:defRPr>
            </a:pPr>
            <a:r>
              <a:rPr sz="1650" b="0">
                <a:solidFill>
                  <a:srgbClr val="444444"/>
                </a:solidFill>
                <a:latin typeface="Times New Roman"/>
                <a:ea typeface="Times New Roman"/>
                <a:cs typeface="Times New Roman"/>
              </a:rPr>
              <a:t>Q: valve generator; j¹: contact current.</a:t>
            </a:r>
          </a:p>
          <a:p xmlns:a="http://schemas.openxmlformats.org/drawingml/2006/main">
            <a:pPr algn="l">
              <a:defRPr sz="1650" b="0">
                <a:solidFill>
                  <a:srgbClr val="444444"/>
                </a:solidFill>
                <a:latin typeface="Times New Roman"/>
                <a:ea typeface="Times New Roman"/>
                <a:cs typeface="Times New Roman"/>
              </a:defRPr>
            </a:pPr>
            <a:r>
              <a:rPr sz="1650" b="0">
                <a:solidFill>
                  <a:srgbClr val="444444"/>
                </a:solidFill>
                <a:latin typeface="Times New Roman"/>
                <a:ea typeface="Times New Roman"/>
                <a:cs typeface="Times New Roman"/>
              </a:rPr>
              <a:t>n¹: first-order conditional population response.</a:t>
            </a:r>
          </a:p>
        </p:txBody>
      </p:sp>
      <p:sp>
        <p:nvSpPr>
          <p:cNvPr id="28" name="">
            <a:extLst xmlns:a="http://schemas.openxmlformats.org/drawingml/2006/main">
              <a:ext uri="{FF2B5EF4-FFF2-40B4-BE49-F238E27FC236}">
                <a16:creationId xmlns:a16="http://schemas.microsoft.com/office/drawing/2014/main" id="{EC92CA7B-C087-4F16-9BA5-0DC348343346}"/>
              </a:ext>
            </a:extLst>
          </p:cNvPr>
          <p:cNvSpPr>
            <a:spLocks xmlns:a="http://schemas.openxmlformats.org/drawingml/2006/main" noGrp="1"/>
          </p:cNvSpPr>
          <p:nvPr/>
        </p:nvSpPr>
        <p:spPr>
          <a:xfrm xmlns:a="http://schemas.openxmlformats.org/drawingml/2006/main">
            <a:off x="6419850" y="5219700"/>
            <a:ext cx="18002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925" b="1">
                <a:solidFill>
                  <a:srgbClr val="A50026"/>
                </a:solidFill>
                <a:latin typeface="Times New Roman"/>
                <a:ea typeface="Times New Roman"/>
                <a:cs typeface="Times New Roman"/>
              </a:defRPr>
            </a:defPPr>
          </a:lstStyle>
          <a:p xmlns:a="http://schemas.openxmlformats.org/drawingml/2006/main">
            <a:pPr algn="l">
              <a:defRPr sz="2925" b="1">
                <a:solidFill>
                  <a:srgbClr val="A50026"/>
                </a:solidFill>
                <a:latin typeface="Times New Roman"/>
                <a:ea typeface="Times New Roman"/>
                <a:cs typeface="Times New Roman"/>
              </a:defRPr>
            </a:pPr>
            <a:r>
              <a:rPr sz="2925" b="1">
                <a:solidFill>
                  <a:srgbClr val="A50026"/>
                </a:solidFill>
                <a:latin typeface="Times New Roman"/>
                <a:ea typeface="Times New Roman"/>
                <a:cs typeface="Times New Roman"/>
              </a:rPr>
              <a:t>77.38%</a:t>
            </a:r>
          </a:p>
        </p:txBody>
      </p:sp>
      <p:sp>
        <p:nvSpPr>
          <p:cNvPr id="29" name="">
            <a:extLst xmlns:a="http://schemas.openxmlformats.org/drawingml/2006/main">
              <a:ext uri="{FF2B5EF4-FFF2-40B4-BE49-F238E27FC236}">
                <a16:creationId xmlns:a16="http://schemas.microsoft.com/office/drawing/2014/main" id="{A0430EDD-73DD-4610-8BF8-012BCDAF07D7}"/>
              </a:ext>
            </a:extLst>
          </p:cNvPr>
          <p:cNvSpPr>
            <a:spLocks xmlns:a="http://schemas.openxmlformats.org/drawingml/2006/main" noGrp="1"/>
          </p:cNvSpPr>
          <p:nvPr/>
        </p:nvSpPr>
        <p:spPr>
          <a:xfrm xmlns:a="http://schemas.openxmlformats.org/drawingml/2006/main">
            <a:off x="8343900" y="5410200"/>
            <a:ext cx="647700" cy="152400"/>
          </a:xfrm>
          <a:prstGeom xmlns:a="http://schemas.openxmlformats.org/drawingml/2006/main" prst="rightArrow">
            <a:avLst/>
          </a:prstGeom>
          <a:solidFill xmlns:a="http://schemas.openxmlformats.org/drawingml/2006/main">
            <a:srgbClr val="777777"/>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587604F-9B52-4E32-A910-5FB8768E3CF0}"/>
              </a:ext>
            </a:extLst>
          </p:cNvPr>
          <p:cNvSpPr>
            <a:spLocks xmlns:a="http://schemas.openxmlformats.org/drawingml/2006/main" noGrp="1"/>
          </p:cNvSpPr>
          <p:nvPr/>
        </p:nvSpPr>
        <p:spPr>
          <a:xfrm xmlns:a="http://schemas.openxmlformats.org/drawingml/2006/main">
            <a:off x="9182100" y="5219700"/>
            <a:ext cx="23526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925" b="1">
                <a:solidFill>
                  <a:srgbClr val="0F766E"/>
                </a:solidFill>
                <a:latin typeface="Times New Roman"/>
                <a:ea typeface="Times New Roman"/>
                <a:cs typeface="Times New Roman"/>
              </a:defRPr>
            </a:defPPr>
          </a:lstStyle>
          <a:p xmlns:a="http://schemas.openxmlformats.org/drawingml/2006/main">
            <a:pPr algn="l">
              <a:defRPr sz="2925" b="1">
                <a:solidFill>
                  <a:srgbClr val="0F766E"/>
                </a:solidFill>
                <a:latin typeface="Times New Roman"/>
                <a:ea typeface="Times New Roman"/>
                <a:cs typeface="Times New Roman"/>
              </a:defRPr>
            </a:pPr>
            <a:r>
              <a:rPr sz="2925" b="1">
                <a:solidFill>
                  <a:srgbClr val="0F766E"/>
                </a:solidFill>
                <a:latin typeface="Times New Roman"/>
                <a:ea typeface="Times New Roman"/>
                <a:cs typeface="Times New Roman"/>
              </a:rPr>
              <a:t>0.0443%</a:t>
            </a:r>
          </a:p>
        </p:txBody>
      </p:sp>
      <p:sp>
        <p:nvSpPr>
          <p:cNvPr id="31" name="">
            <a:extLst xmlns:a="http://schemas.openxmlformats.org/drawingml/2006/main">
              <a:ext uri="{FF2B5EF4-FFF2-40B4-BE49-F238E27FC236}">
                <a16:creationId xmlns:a16="http://schemas.microsoft.com/office/drawing/2014/main" id="{8390F9BD-E64D-4EBF-B794-ED060B2C99C4}"/>
              </a:ext>
            </a:extLst>
          </p:cNvPr>
          <p:cNvSpPr>
            <a:spLocks xmlns:a="http://schemas.openxmlformats.org/drawingml/2006/main" noGrp="1"/>
          </p:cNvSpPr>
          <p:nvPr/>
        </p:nvSpPr>
        <p:spPr>
          <a:xfrm xmlns:a="http://schemas.openxmlformats.org/drawingml/2006/main">
            <a:off x="6419850" y="570547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0">
                <a:solidFill>
                  <a:srgbClr val="444444"/>
                </a:solidFill>
                <a:latin typeface="Times New Roman"/>
                <a:ea typeface="Times New Roman"/>
                <a:cs typeface="Times New Roman"/>
              </a:defRPr>
            </a:defPPr>
          </a:lstStyle>
          <a:p xmlns:a="http://schemas.openxmlformats.org/drawingml/2006/main">
            <a:pPr algn="l">
              <a:defRPr sz="1575" b="0">
                <a:solidFill>
                  <a:srgbClr val="444444"/>
                </a:solidFill>
                <a:latin typeface="Times New Roman"/>
                <a:ea typeface="Times New Roman"/>
                <a:cs typeface="Times New Roman"/>
              </a:defRPr>
            </a:pPr>
            <a:r>
              <a:rPr sz="1575" b="0">
                <a:solidFill>
                  <a:srgbClr val="444444"/>
                </a:solidFill>
                <a:latin typeface="Times New Roman"/>
                <a:ea typeface="Times New Roman"/>
                <a:cs typeface="Times New Roman"/>
              </a:rPr>
              <a:t>largest group error</a:t>
            </a:r>
          </a:p>
        </p:txBody>
      </p:sp>
      <p:sp>
        <p:nvSpPr>
          <p:cNvPr id="32" name="">
            <a:extLst xmlns:a="http://schemas.openxmlformats.org/drawingml/2006/main">
              <a:ext uri="{FF2B5EF4-FFF2-40B4-BE49-F238E27FC236}">
                <a16:creationId xmlns:a16="http://schemas.microsoft.com/office/drawing/2014/main" id="{12273CB8-0CFB-4965-8049-805D4712AE29}"/>
              </a:ext>
            </a:extLst>
          </p:cNvPr>
          <p:cNvSpPr>
            <a:spLocks xmlns:a="http://schemas.openxmlformats.org/drawingml/2006/main" noGrp="1"/>
          </p:cNvSpPr>
          <p:nvPr/>
        </p:nvSpPr>
        <p:spPr>
          <a:xfrm xmlns:a="http://schemas.openxmlformats.org/drawingml/2006/main">
            <a:off x="9182100" y="5705475"/>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0">
                <a:solidFill>
                  <a:srgbClr val="444444"/>
                </a:solidFill>
                <a:latin typeface="Times New Roman"/>
                <a:ea typeface="Times New Roman"/>
                <a:cs typeface="Times New Roman"/>
              </a:defRPr>
            </a:defPPr>
          </a:lstStyle>
          <a:p xmlns:a="http://schemas.openxmlformats.org/drawingml/2006/main">
            <a:pPr algn="l">
              <a:defRPr sz="1575" b="0">
                <a:solidFill>
                  <a:srgbClr val="444444"/>
                </a:solidFill>
                <a:latin typeface="Times New Roman"/>
                <a:ea typeface="Times New Roman"/>
                <a:cs typeface="Times New Roman"/>
              </a:defRPr>
            </a:pPr>
            <a:r>
              <a:rPr sz="1575" b="0">
                <a:solidFill>
                  <a:srgbClr val="444444"/>
                </a:solidFill>
                <a:latin typeface="Times New Roman"/>
                <a:ea typeface="Times New Roman"/>
                <a:cs typeface="Times New Roman"/>
              </a:rPr>
              <a:t>after restoring n¹</a:t>
            </a:r>
          </a:p>
        </p:txBody>
      </p:sp>
      <p:sp>
        <p:nvSpPr>
          <p:cNvPr id="33" name="">
            <a:extLst xmlns:a="http://schemas.openxmlformats.org/drawingml/2006/main">
              <a:ext uri="{FF2B5EF4-FFF2-40B4-BE49-F238E27FC236}">
                <a16:creationId xmlns:a16="http://schemas.microsoft.com/office/drawing/2014/main" id="{5F13837A-F730-44CF-BECE-8CB617802069}"/>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Analyst intervention with fitted friction fixed. All four tested groups then meet 4% tolerance. Original benchmark reward remains 0.</a:t>
            </a:r>
          </a:p>
        </p:txBody>
      </p:sp>
      <p:sp>
        <p:nvSpPr>
          <p:cNvPr id="34" name="">
            <a:extLst xmlns:a="http://schemas.openxmlformats.org/drawingml/2006/main">
              <a:ext uri="{FF2B5EF4-FFF2-40B4-BE49-F238E27FC236}">
                <a16:creationId xmlns:a16="http://schemas.microsoft.com/office/drawing/2014/main" id="{9BE62EBF-8732-4291-BF44-BBBFB1AC3968}"/>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9</a:t>
            </a:r>
          </a:p>
        </p:txBody>
      </p:sp>
    </p:spTree>
    <p:extLst>
      <p:ext uri="{BB962C8B-B14F-4D97-AF65-F5344CB8AC3E}">
        <p14:creationId xmlns:p14="http://schemas.microsoft.com/office/powerpoint/2010/main" val="18617312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36C902-9820-4B12-8C0A-9238CDD7EBFB}"/>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The hint comparison holds effort at High</a:t>
            </a:r>
          </a:p>
        </p:txBody>
      </p:sp>
      <p:sp>
        <p:nvSpPr>
          <p:cNvPr id="2" name="">
            <a:extLst xmlns:a="http://schemas.openxmlformats.org/drawingml/2006/main">
              <a:ext uri="{FF2B5EF4-FFF2-40B4-BE49-F238E27FC236}">
                <a16:creationId xmlns:a16="http://schemas.microsoft.com/office/drawing/2014/main" id="{B703EA6D-3DAD-46F2-BE7A-82DDD3A9140F}"/>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GPT-5.6 Luna, GPT-5.6 Terra, and DeepSeek V4.1 Flash across the same 13 tasks.</a:t>
            </a:r>
          </a:p>
        </p:txBody>
      </p:sp>
      <p:sp>
        <p:nvSpPr>
          <p:cNvPr id="3" name="">
            <a:extLst xmlns:a="http://schemas.openxmlformats.org/drawingml/2006/main">
              <a:ext uri="{FF2B5EF4-FFF2-40B4-BE49-F238E27FC236}">
                <a16:creationId xmlns:a16="http://schemas.microsoft.com/office/drawing/2014/main" id="{7AAD95E7-A507-466C-8D99-3DEC880976BB}"/>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10</a:t>
            </a:r>
          </a:p>
        </p:txBody>
      </p:sp>
      <p:graphicFrame>
        <p:nvGraphicFramePr>
          <p:cNvPr id="4" name="">
            <a:extLst xmlns:a="http://schemas.openxmlformats.org/drawingml/2006/main">
              <a:ext uri="{FF2B5EF4-FFF2-40B4-BE49-F238E27FC236}">
                <a16:creationId xmlns:a16="http://schemas.microsoft.com/office/drawing/2014/main" id="{B8322C39-289D-45A9-8A0F-50A346FF5C69}"/>
              </a:ext>
            </a:extLst>
          </p:cNvPr>
          <p:cNvGraphicFramePr/>
          <p:nvPr/>
        </p:nvGraphicFramePr>
        <p:xfrm>
          <a:off xmlns:a="http://schemas.openxmlformats.org/drawingml/2006/main" x="457200" y="1685925"/>
          <a:ext xmlns:a="http://schemas.openxmlformats.org/drawingml/2006/main" cx="11277600" cy="2705100"/>
        </p:xfrm>
        <a:graphic xmlns:a="http://schemas.openxmlformats.org/drawingml/2006/main">
          <a:graphicData uri="http://schemas.openxmlformats.org/drawingml/2006/table">
            <a:tbl>
              <a:tblPr/>
              <a:tblGrid>
                <a:gridCol w="3621428"/>
                <a:gridCol w="7656172"/>
              </a:tblGrid>
              <a:tr h="676275">
                <a:tc>
                  <a:txBody>
                    <a:bodyPr lIns="0" tIns="0" rIns="0" bIns="0"/>
                    <a:lstStyle/>
                    <a:p>
                      <a:r>
                        <a:rPr sz="2025" b="1">
                          <a:solidFill>
                            <a:srgbClr val="FFFFFF"/>
                          </a:solidFill>
                          <a:latin typeface="Times New Roman"/>
                          <a:ea typeface="Times New Roman"/>
                          <a:cs typeface="Times New Roman"/>
                        </a:rPr>
                        <a:t>Prompt condition</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2025" b="1">
                          <a:solidFill>
                            <a:srgbClr val="FFFFFF"/>
                          </a:solidFill>
                          <a:latin typeface="Times New Roman"/>
                          <a:ea typeface="Times New Roman"/>
                          <a:cs typeface="Times New Roman"/>
                        </a:rPr>
                        <a:t>Additional guidance</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676275">
                <a:tc>
                  <a:txBody>
                    <a:bodyPr lIns="0" tIns="0" rIns="0" bIns="0"/>
                    <a:lstStyle/>
                    <a:p>
                      <a:r>
                        <a:rPr sz="2025" b="0">
                          <a:solidFill>
                            <a:srgbClr val="111111"/>
                          </a:solidFill>
                          <a:latin typeface="Times New Roman"/>
                          <a:ea typeface="Times New Roman"/>
                          <a:cs typeface="Times New Roman"/>
                        </a:rPr>
                        <a:t>No hint</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Original instruction</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676275">
                <a:tc>
                  <a:txBody>
                    <a:bodyPr lIns="0" tIns="0" rIns="0" bIns="0"/>
                    <a:lstStyle/>
                    <a:p>
                      <a:r>
                        <a:rPr sz="2025" b="0">
                          <a:solidFill>
                            <a:srgbClr val="111111"/>
                          </a:solidFill>
                          <a:latin typeface="Times New Roman"/>
                          <a:ea typeface="Times New Roman"/>
                          <a:cs typeface="Times New Roman"/>
                        </a:rPr>
                        <a:t>General hint</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2025" b="0">
                          <a:solidFill>
                            <a:srgbClr val="111111"/>
                          </a:solidFill>
                          <a:latin typeface="Times New Roman"/>
                          <a:ea typeface="Times New Roman"/>
                          <a:cs typeface="Times New Roman"/>
                        </a:rPr>
                        <a:t>Check the implementation and test correctness</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r h="676275">
                <a:tc>
                  <a:txBody>
                    <a:bodyPr lIns="0" tIns="0" rIns="0" bIns="0"/>
                    <a:lstStyle/>
                    <a:p>
                      <a:r>
                        <a:rPr sz="2025" b="0">
                          <a:solidFill>
                            <a:srgbClr val="111111"/>
                          </a:solidFill>
                          <a:latin typeface="Times New Roman"/>
                          <a:ea typeface="Times New Roman"/>
                          <a:cs typeface="Times New Roman"/>
                        </a:rPr>
                        <a:t>Physics hint</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A task-specific conceptual physics cue</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C7C9476-0784-49EB-A2FE-060A33C5837D}"/>
              </a:ext>
            </a:extLst>
          </p:cNvPr>
          <p:cNvSpPr>
            <a:spLocks xmlns:a="http://schemas.openxmlformats.org/drawingml/2006/main" noGrp="1"/>
          </p:cNvSpPr>
          <p:nvPr/>
        </p:nvSpPr>
        <p:spPr>
          <a:xfrm xmlns:a="http://schemas.openxmlformats.org/drawingml/2006/main">
            <a:off x="457200" y="4810125"/>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i="0">
                <a:solidFill>
                  <a:srgbClr val="0F766E"/>
                </a:solidFill>
                <a:latin typeface="Times New Roman"/>
                <a:ea typeface="Times New Roman"/>
                <a:cs typeface="Times New Roman"/>
              </a:defRPr>
            </a:defPPr>
          </a:lstStyle>
          <a:p xmlns:a="http://schemas.openxmlformats.org/drawingml/2006/main">
            <a:pPr algn="l">
              <a:buNone/>
              <a:defRPr sz="2550" b="1" i="0">
                <a:solidFill>
                  <a:srgbClr val="0F766E"/>
                </a:solidFill>
                <a:latin typeface="Times New Roman"/>
                <a:ea typeface="Times New Roman"/>
                <a:cs typeface="Times New Roman"/>
              </a:defRPr>
            </a:pPr>
            <a:r>
              <a:rPr sz="2550" b="1" i="0">
                <a:solidFill>
                  <a:srgbClr val="0F766E"/>
                </a:solidFill>
                <a:latin typeface="Times New Roman"/>
                <a:ea typeface="Times New Roman"/>
                <a:cs typeface="Times New Roman"/>
              </a:rPr>
              <a:t>3 models × 13 tasks × 3 conditions × 3 repeats</a:t>
            </a:r>
          </a:p>
        </p:txBody>
      </p:sp>
      <p:sp>
        <p:nvSpPr>
          <p:cNvPr id="6" name="">
            <a:extLst xmlns:a="http://schemas.openxmlformats.org/drawingml/2006/main">
              <a:ext uri="{FF2B5EF4-FFF2-40B4-BE49-F238E27FC236}">
                <a16:creationId xmlns:a16="http://schemas.microsoft.com/office/drawing/2014/main" id="{758033C6-D542-48F5-8F74-D1D8B660AB2E}"/>
              </a:ext>
            </a:extLst>
          </p:cNvPr>
          <p:cNvSpPr>
            <a:spLocks xmlns:a="http://schemas.openxmlformats.org/drawingml/2006/main" noGrp="1"/>
          </p:cNvSpPr>
          <p:nvPr/>
        </p:nvSpPr>
        <p:spPr>
          <a:xfrm xmlns:a="http://schemas.openxmlformats.org/drawingml/2006/main">
            <a:off x="457200" y="5381625"/>
            <a:ext cx="10648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351 observations planned. Results remain pending.</a:t>
            </a:r>
          </a:p>
        </p:txBody>
      </p:sp>
      <p:sp>
        <p:nvSpPr>
          <p:cNvPr id="7" name="">
            <a:extLst xmlns:a="http://schemas.openxmlformats.org/drawingml/2006/main">
              <a:ext uri="{FF2B5EF4-FFF2-40B4-BE49-F238E27FC236}">
                <a16:creationId xmlns:a16="http://schemas.microsoft.com/office/drawing/2014/main" id="{CF6A43BE-26BB-4D7E-AA3A-8B6F4E7852FC}"/>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38 Luna baselines use a matching historical cohort with an older client. The Luna comparison therefore has a client-version confound.</a:t>
            </a:r>
          </a:p>
        </p:txBody>
      </p:sp>
    </p:spTree>
    <p:extLst>
      <p:ext uri="{BB962C8B-B14F-4D97-AF65-F5344CB8AC3E}">
        <p14:creationId xmlns:p14="http://schemas.microsoft.com/office/powerpoint/2010/main" val="164542764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E3F9F83-9F94-4C92-8A0A-244C61A1FCD9}"/>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Hint comparison results</a:t>
            </a:r>
          </a:p>
        </p:txBody>
      </p:sp>
      <p:sp>
        <p:nvSpPr>
          <p:cNvPr id="2" name="">
            <a:extLst xmlns:a="http://schemas.openxmlformats.org/drawingml/2006/main">
              <a:ext uri="{FF2B5EF4-FFF2-40B4-BE49-F238E27FC236}">
                <a16:creationId xmlns:a16="http://schemas.microsoft.com/office/drawing/2014/main" id="{52415A58-090B-402B-B0D6-9BFA9A517C62}"/>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11</a:t>
            </a:r>
          </a:p>
        </p:txBody>
      </p:sp>
      <p:sp>
        <p:nvSpPr>
          <p:cNvPr id="3" name="">
            <a:extLst xmlns:a="http://schemas.openxmlformats.org/drawingml/2006/main">
              <a:ext uri="{FF2B5EF4-FFF2-40B4-BE49-F238E27FC236}">
                <a16:creationId xmlns:a16="http://schemas.microsoft.com/office/drawing/2014/main" id="{014098BD-562E-4674-85AF-711C1244CD98}"/>
              </a:ext>
            </a:extLst>
          </p:cNvPr>
          <p:cNvSpPr>
            <a:spLocks xmlns:a="http://schemas.openxmlformats.org/drawingml/2006/main" noGrp="1"/>
          </p:cNvSpPr>
          <p:nvPr/>
        </p:nvSpPr>
        <p:spPr>
          <a:xfrm xmlns:a="http://schemas.openxmlformats.org/drawingml/2006/main">
            <a:off x="457200" y="13239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0" i="0">
                <a:solidFill>
                  <a:srgbClr val="444444"/>
                </a:solidFill>
                <a:latin typeface="Times New Roman"/>
                <a:ea typeface="Times New Roman"/>
                <a:cs typeface="Times New Roman"/>
              </a:defRPr>
            </a:defPPr>
          </a:lstStyle>
          <a:p xmlns:a="http://schemas.openxmlformats.org/drawingml/2006/main">
            <a:pPr algn="l">
              <a:buNone/>
              <a:defRPr sz="1800" b="0" i="0">
                <a:solidFill>
                  <a:srgbClr val="444444"/>
                </a:solidFill>
                <a:latin typeface="Times New Roman"/>
                <a:ea typeface="Times New Roman"/>
                <a:cs typeface="Times New Roman"/>
              </a:defRPr>
            </a:pPr>
            <a:r>
              <a:rPr sz="1800" b="0" i="0">
                <a:solidFill>
                  <a:srgbClr val="444444"/>
                </a:solidFill>
                <a:latin typeface="Times New Roman"/>
                <a:ea typeface="Times New Roman"/>
                <a:cs typeface="Times New Roman"/>
              </a:rPr>
              <a:t>Pending completion</a:t>
            </a:r>
          </a:p>
        </p:txBody>
      </p:sp>
    </p:spTree>
    <p:extLst>
      <p:ext uri="{BB962C8B-B14F-4D97-AF65-F5344CB8AC3E}">
        <p14:creationId xmlns:p14="http://schemas.microsoft.com/office/powerpoint/2010/main" val="174096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A8647C-1BCE-4277-B856-B523D348B539}"/>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What the completed experiments establish</a:t>
            </a:r>
          </a:p>
        </p:txBody>
      </p:sp>
      <p:sp>
        <p:nvSpPr>
          <p:cNvPr id="2" name="">
            <a:extLst xmlns:a="http://schemas.openxmlformats.org/drawingml/2006/main">
              <a:ext uri="{FF2B5EF4-FFF2-40B4-BE49-F238E27FC236}">
                <a16:creationId xmlns:a16="http://schemas.microsoft.com/office/drawing/2014/main" id="{E4A8BC43-1594-4963-BD55-0FFF61FCB8E4}"/>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12</a:t>
            </a:r>
          </a:p>
        </p:txBody>
      </p:sp>
      <p:sp>
        <p:nvSpPr>
          <p:cNvPr id="3" name="">
            <a:extLst xmlns:a="http://schemas.openxmlformats.org/drawingml/2006/main">
              <a:ext uri="{FF2B5EF4-FFF2-40B4-BE49-F238E27FC236}">
                <a16:creationId xmlns:a16="http://schemas.microsoft.com/office/drawing/2014/main" id="{34C8A740-0CE0-4ACB-A646-FCBF630B2D97}"/>
              </a:ext>
            </a:extLst>
          </p:cNvPr>
          <p:cNvSpPr>
            <a:spLocks xmlns:a="http://schemas.openxmlformats.org/drawingml/2006/main" noGrp="1"/>
          </p:cNvSpPr>
          <p:nvPr/>
        </p:nvSpPr>
        <p:spPr>
          <a:xfrm xmlns:a="http://schemas.openxmlformats.org/drawingml/2006/main">
            <a:off x="609600" y="16287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625" b="1" i="0">
                <a:solidFill>
                  <a:srgbClr val="111111"/>
                </a:solidFill>
                <a:latin typeface="Times New Roman"/>
                <a:ea typeface="Times New Roman"/>
                <a:cs typeface="Times New Roman"/>
              </a:defRPr>
            </a:defPPr>
          </a:lstStyle>
          <a:p xmlns:a="http://schemas.openxmlformats.org/drawingml/2006/main">
            <a:pPr algn="l">
              <a:buNone/>
              <a:defRPr sz="2625" b="1" i="0">
                <a:solidFill>
                  <a:srgbClr val="111111"/>
                </a:solidFill>
                <a:latin typeface="Times New Roman"/>
                <a:ea typeface="Times New Roman"/>
                <a:cs typeface="Times New Roman"/>
              </a:defRPr>
            </a:pPr>
            <a:r>
              <a:rPr sz="2625" b="1" i="0">
                <a:solidFill>
                  <a:srgbClr val="111111"/>
                </a:solidFill>
                <a:latin typeface="Times New Roman"/>
                <a:ea typeface="Times New Roman"/>
                <a:cs typeface="Times New Roman"/>
              </a:rPr>
              <a:t>Cost and success vary substantially across settings</a:t>
            </a:r>
          </a:p>
        </p:txBody>
      </p:sp>
      <p:sp>
        <p:nvSpPr>
          <p:cNvPr id="4" name="">
            <a:extLst xmlns:a="http://schemas.openxmlformats.org/drawingml/2006/main">
              <a:ext uri="{FF2B5EF4-FFF2-40B4-BE49-F238E27FC236}">
                <a16:creationId xmlns:a16="http://schemas.microsoft.com/office/drawing/2014/main" id="{8CE2A48D-BB76-4BDE-B408-28074888E0F6}"/>
              </a:ext>
            </a:extLst>
          </p:cNvPr>
          <p:cNvSpPr>
            <a:spLocks xmlns:a="http://schemas.openxmlformats.org/drawingml/2006/main" noGrp="1"/>
          </p:cNvSpPr>
          <p:nvPr/>
        </p:nvSpPr>
        <p:spPr>
          <a:xfrm xmlns:a="http://schemas.openxmlformats.org/drawingml/2006/main">
            <a:off x="609600" y="227647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444444"/>
                </a:solidFill>
                <a:latin typeface="Times New Roman"/>
                <a:ea typeface="Times New Roman"/>
                <a:cs typeface="Times New Roman"/>
              </a:defRPr>
            </a:defPPr>
          </a:lstStyle>
          <a:p xmlns:a="http://schemas.openxmlformats.org/drawingml/2006/main">
            <a:pPr algn="l">
              <a:buNone/>
              <a:defRPr sz="2175" b="0" i="0">
                <a:solidFill>
                  <a:srgbClr val="444444"/>
                </a:solidFill>
                <a:latin typeface="Times New Roman"/>
                <a:ea typeface="Times New Roman"/>
                <a:cs typeface="Times New Roman"/>
              </a:defRPr>
            </a:pPr>
            <a:r>
              <a:rPr sz="2175" b="0" i="0">
                <a:solidFill>
                  <a:srgbClr val="444444"/>
                </a:solidFill>
                <a:latin typeface="Times New Roman"/>
                <a:ea typeface="Times New Roman"/>
                <a:cs typeface="Times New Roman"/>
              </a:rPr>
              <a:t>Sol 6 Low and High occupy the high-success end of the observed frontier.</a:t>
            </a:r>
          </a:p>
        </p:txBody>
      </p:sp>
      <p:sp>
        <p:nvSpPr>
          <p:cNvPr id="5" name="">
            <a:extLst xmlns:a="http://schemas.openxmlformats.org/drawingml/2006/main">
              <a:ext uri="{FF2B5EF4-FFF2-40B4-BE49-F238E27FC236}">
                <a16:creationId xmlns:a16="http://schemas.microsoft.com/office/drawing/2014/main" id="{6817FE84-66B0-4971-B347-B5051A10FA8B}"/>
              </a:ext>
            </a:extLst>
          </p:cNvPr>
          <p:cNvSpPr>
            <a:spLocks xmlns:a="http://schemas.openxmlformats.org/drawingml/2006/main" noGrp="1"/>
          </p:cNvSpPr>
          <p:nvPr/>
        </p:nvSpPr>
        <p:spPr>
          <a:xfrm xmlns:a="http://schemas.openxmlformats.org/drawingml/2006/main">
            <a:off x="609600" y="322897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625" b="1" i="0">
                <a:solidFill>
                  <a:srgbClr val="111111"/>
                </a:solidFill>
                <a:latin typeface="Times New Roman"/>
                <a:ea typeface="Times New Roman"/>
                <a:cs typeface="Times New Roman"/>
              </a:defRPr>
            </a:defPPr>
          </a:lstStyle>
          <a:p xmlns:a="http://schemas.openxmlformats.org/drawingml/2006/main">
            <a:pPr algn="l">
              <a:buNone/>
              <a:defRPr sz="2625" b="1" i="0">
                <a:solidFill>
                  <a:srgbClr val="111111"/>
                </a:solidFill>
                <a:latin typeface="Times New Roman"/>
                <a:ea typeface="Times New Roman"/>
                <a:cs typeface="Times New Roman"/>
              </a:defRPr>
            </a:pPr>
            <a:r>
              <a:rPr sz="2625" b="1" i="0">
                <a:solidFill>
                  <a:srgbClr val="111111"/>
                </a:solidFill>
                <a:latin typeface="Times New Roman"/>
                <a:ea typeface="Times New Roman"/>
                <a:cs typeface="Times New Roman"/>
              </a:rPr>
              <a:t>Most completed failures concern hidden predictions</a:t>
            </a:r>
          </a:p>
        </p:txBody>
      </p:sp>
      <p:sp>
        <p:nvSpPr>
          <p:cNvPr id="6" name="">
            <a:extLst xmlns:a="http://schemas.openxmlformats.org/drawingml/2006/main">
              <a:ext uri="{FF2B5EF4-FFF2-40B4-BE49-F238E27FC236}">
                <a16:creationId xmlns:a16="http://schemas.microsoft.com/office/drawing/2014/main" id="{0EFB6DA2-FC05-4AC6-B743-747F753CA58F}"/>
              </a:ext>
            </a:extLst>
          </p:cNvPr>
          <p:cNvSpPr>
            <a:spLocks xmlns:a="http://schemas.openxmlformats.org/drawingml/2006/main" noGrp="1"/>
          </p:cNvSpPr>
          <p:nvPr/>
        </p:nvSpPr>
        <p:spPr>
          <a:xfrm xmlns:a="http://schemas.openxmlformats.org/drawingml/2006/main">
            <a:off x="609600" y="388620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444444"/>
                </a:solidFill>
                <a:latin typeface="Times New Roman"/>
                <a:ea typeface="Times New Roman"/>
                <a:cs typeface="Times New Roman"/>
              </a:defRPr>
            </a:defPPr>
          </a:lstStyle>
          <a:p xmlns:a="http://schemas.openxmlformats.org/drawingml/2006/main">
            <a:pPr algn="l">
              <a:buNone/>
              <a:defRPr sz="2175" b="0" i="0">
                <a:solidFill>
                  <a:srgbClr val="444444"/>
                </a:solidFill>
                <a:latin typeface="Times New Roman"/>
                <a:ea typeface="Times New Roman"/>
                <a:cs typeface="Times New Roman"/>
              </a:defRPr>
            </a:pPr>
            <a:r>
              <a:rPr sz="2175" b="0" i="0">
                <a:solidFill>
                  <a:srgbClr val="444444"/>
                </a:solidFill>
                <a:latin typeface="Times New Roman"/>
                <a:ea typeface="Times New Roman"/>
                <a:cs typeface="Times New Roman"/>
              </a:rPr>
              <a:t>The entropy example locates a missing contact-population response.</a:t>
            </a:r>
          </a:p>
        </p:txBody>
      </p:sp>
      <p:sp>
        <p:nvSpPr>
          <p:cNvPr id="7" name="">
            <a:extLst xmlns:a="http://schemas.openxmlformats.org/drawingml/2006/main">
              <a:ext uri="{FF2B5EF4-FFF2-40B4-BE49-F238E27FC236}">
                <a16:creationId xmlns:a16="http://schemas.microsoft.com/office/drawing/2014/main" id="{38CBF97E-AD00-46BF-A0ED-220B51CA237B}"/>
              </a:ext>
            </a:extLst>
          </p:cNvPr>
          <p:cNvSpPr>
            <a:spLocks xmlns:a="http://schemas.openxmlformats.org/drawingml/2006/main" noGrp="1"/>
          </p:cNvSpPr>
          <p:nvPr/>
        </p:nvSpPr>
        <p:spPr>
          <a:xfrm xmlns:a="http://schemas.openxmlformats.org/drawingml/2006/main">
            <a:off x="609600" y="481965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625" b="1" i="0">
                <a:solidFill>
                  <a:srgbClr val="111111"/>
                </a:solidFill>
                <a:latin typeface="Times New Roman"/>
                <a:ea typeface="Times New Roman"/>
                <a:cs typeface="Times New Roman"/>
              </a:defRPr>
            </a:defPPr>
          </a:lstStyle>
          <a:p xmlns:a="http://schemas.openxmlformats.org/drawingml/2006/main">
            <a:pPr algn="l">
              <a:buNone/>
              <a:defRPr sz="2625" b="1" i="0">
                <a:solidFill>
                  <a:srgbClr val="111111"/>
                </a:solidFill>
                <a:latin typeface="Times New Roman"/>
                <a:ea typeface="Times New Roman"/>
                <a:cs typeface="Times New Roman"/>
              </a:defRPr>
            </a:pPr>
            <a:r>
              <a:rPr sz="2625" b="1" i="0">
                <a:solidFill>
                  <a:srgbClr val="111111"/>
                </a:solidFill>
                <a:latin typeface="Times New Roman"/>
                <a:ea typeface="Times New Roman"/>
                <a:cs typeface="Times New Roman"/>
              </a:rPr>
              <a:t>Execution failures need their own interpretation</a:t>
            </a:r>
          </a:p>
        </p:txBody>
      </p:sp>
      <p:sp>
        <p:nvSpPr>
          <p:cNvPr id="8" name="">
            <a:extLst xmlns:a="http://schemas.openxmlformats.org/drawingml/2006/main">
              <a:ext uri="{FF2B5EF4-FFF2-40B4-BE49-F238E27FC236}">
                <a16:creationId xmlns:a16="http://schemas.microsoft.com/office/drawing/2014/main" id="{F44ED60C-318C-437E-8FA4-E06FE78BEF42}"/>
              </a:ext>
            </a:extLst>
          </p:cNvPr>
          <p:cNvSpPr>
            <a:spLocks xmlns:a="http://schemas.openxmlformats.org/drawingml/2006/main" noGrp="1"/>
          </p:cNvSpPr>
          <p:nvPr/>
        </p:nvSpPr>
        <p:spPr>
          <a:xfrm xmlns:a="http://schemas.openxmlformats.org/drawingml/2006/main">
            <a:off x="609600" y="542925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444444"/>
                </a:solidFill>
                <a:latin typeface="Times New Roman"/>
                <a:ea typeface="Times New Roman"/>
                <a:cs typeface="Times New Roman"/>
              </a:defRPr>
            </a:defPPr>
          </a:lstStyle>
          <a:p xmlns:a="http://schemas.openxmlformats.org/drawingml/2006/main">
            <a:pPr algn="l">
              <a:buNone/>
              <a:defRPr sz="2175" b="0" i="0">
                <a:solidFill>
                  <a:srgbClr val="444444"/>
                </a:solidFill>
                <a:latin typeface="Times New Roman"/>
                <a:ea typeface="Times New Roman"/>
                <a:cs typeface="Times New Roman"/>
              </a:defRPr>
            </a:pPr>
            <a:r>
              <a:rPr sz="2175" b="0" i="0">
                <a:solidFill>
                  <a:srgbClr val="444444"/>
                </a:solidFill>
                <a:latin typeface="Times New Roman"/>
                <a:ea typeface="Times New Roman"/>
                <a:cs typeface="Times New Roman"/>
              </a:rPr>
              <a:t>The hint experiment will test whether guidance changes these outcomes.</a:t>
            </a:r>
          </a:p>
        </p:txBody>
      </p:sp>
    </p:spTree>
    <p:extLst>
      <p:ext uri="{BB962C8B-B14F-4D97-AF65-F5344CB8AC3E}">
        <p14:creationId xmlns:p14="http://schemas.microsoft.com/office/powerpoint/2010/main" val="549842823"/>
      </p:ext>
    </p:extLst>
  </p:cSld>
</p:sld>
</file>

<file path=ppt/slides/slide13.xml><?xml version="1.0" encoding="utf-8"?>
<p:sld xmlns:p="http://schemas.openxmlformats.org/presentationml/2006/main">
  <p:cSld>
    <p:bg>
      <p:bgPr>
        <a:solidFill xmlns:a="http://schemas.openxmlformats.org/drawingml/2006/main">
          <a:srgbClr val="0B0B0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29447901-9249-469C-A67F-257239997CC0}"/>
              </a:ext>
            </a:extLst>
          </p:cNvPr>
          <p:cNvSpPr>
            <a:spLocks xmlns:a="http://schemas.openxmlformats.org/drawingml/2006/main" noGrp="1"/>
          </p:cNvSpPr>
          <p:nvPr/>
        </p:nvSpPr>
        <p:spPr>
          <a:xfrm xmlns:a="http://schemas.openxmlformats.org/drawingml/2006/main">
            <a:off x="609600" y="23336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700" b="1" i="0">
                <a:solidFill>
                  <a:srgbClr val="FFFFFF"/>
                </a:solidFill>
                <a:latin typeface="Times New Roman"/>
                <a:ea typeface="Times New Roman"/>
                <a:cs typeface="Times New Roman"/>
              </a:defRPr>
            </a:defPPr>
          </a:lstStyle>
          <a:p xmlns:a="http://schemas.openxmlformats.org/drawingml/2006/main">
            <a:pPr algn="l">
              <a:buNone/>
              <a:defRPr sz="5700" b="1" i="0">
                <a:solidFill>
                  <a:srgbClr val="FFFFFF"/>
                </a:solidFill>
                <a:latin typeface="Times New Roman"/>
                <a:ea typeface="Times New Roman"/>
                <a:cs typeface="Times New Roman"/>
              </a:defRPr>
            </a:pPr>
            <a:r>
              <a:rPr sz="5700" b="1" i="0">
                <a:solidFill>
                  <a:srgbClr val="FFFFFF"/>
                </a:solidFill>
                <a:latin typeface="Times New Roman"/>
                <a:ea typeface="Times New Roman"/>
                <a:cs typeface="Times New Roman"/>
              </a:rPr>
              <a:t>Questions</a:t>
            </a:r>
          </a:p>
        </p:txBody>
      </p:sp>
      <p:sp>
        <p:nvSpPr>
          <p:cNvPr id="2" name="">
            <a:extLst xmlns:a="http://schemas.openxmlformats.org/drawingml/2006/main">
              <a:ext uri="{FF2B5EF4-FFF2-40B4-BE49-F238E27FC236}">
                <a16:creationId xmlns:a16="http://schemas.microsoft.com/office/drawing/2014/main" id="{2AE705A4-0FC6-405B-B3A2-4281C7C3DE5F}"/>
              </a:ext>
            </a:extLst>
          </p:cNvPr>
          <p:cNvSpPr>
            <a:spLocks xmlns:a="http://schemas.openxmlformats.org/drawingml/2006/main" noGrp="1"/>
          </p:cNvSpPr>
          <p:nvPr/>
        </p:nvSpPr>
        <p:spPr>
          <a:xfrm xmlns:a="http://schemas.openxmlformats.org/drawingml/2006/main">
            <a:off x="609600" y="3667125"/>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00" b="0" i="0">
                <a:solidFill>
                  <a:srgbClr val="D1D5DB"/>
                </a:solidFill>
                <a:latin typeface="Times New Roman"/>
                <a:ea typeface="Times New Roman"/>
                <a:cs typeface="Times New Roman"/>
              </a:defRPr>
            </a:defPPr>
          </a:lstStyle>
          <a:p xmlns:a="http://schemas.openxmlformats.org/drawingml/2006/main">
            <a:pPr algn="l">
              <a:buNone/>
              <a:defRPr sz="2400" b="0" i="0">
                <a:solidFill>
                  <a:srgbClr val="D1D5DB"/>
                </a:solidFill>
                <a:latin typeface="Times New Roman"/>
                <a:ea typeface="Times New Roman"/>
                <a:cs typeface="Times New Roman"/>
              </a:defRPr>
            </a:pPr>
            <a:r>
              <a:rPr sz="2400" b="0" i="0">
                <a:solidFill>
                  <a:srgbClr val="D1D5DB"/>
                </a:solidFill>
                <a:latin typeface="Times New Roman"/>
                <a:ea typeface="Times New Roman"/>
                <a:cs typeface="Times New Roman"/>
              </a:rPr>
              <a:t>3 minutes</a:t>
            </a:r>
          </a:p>
        </p:txBody>
      </p:sp>
    </p:spTree>
    <p:extLst>
      <p:ext uri="{BB962C8B-B14F-4D97-AF65-F5344CB8AC3E}">
        <p14:creationId xmlns:p14="http://schemas.microsoft.com/office/powerpoint/2010/main" val="47159999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47441D-9E7C-446E-9907-F2E07DAC68B8}"/>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all complete no-hint settings</a:t>
            </a:r>
          </a:p>
        </p:txBody>
      </p:sp>
      <p:sp>
        <p:nvSpPr>
          <p:cNvPr id="2" name="">
            <a:extLst xmlns:a="http://schemas.openxmlformats.org/drawingml/2006/main">
              <a:ext uri="{FF2B5EF4-FFF2-40B4-BE49-F238E27FC236}">
                <a16:creationId xmlns:a16="http://schemas.microsoft.com/office/drawing/2014/main" id="{615984E6-F9CE-4148-9384-268D33D7F223}"/>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Original sweep only. Costs are estimated USD per attempt.</a:t>
            </a:r>
          </a:p>
        </p:txBody>
      </p:sp>
      <p:sp>
        <p:nvSpPr>
          <p:cNvPr id="3" name="">
            <a:extLst xmlns:a="http://schemas.openxmlformats.org/drawingml/2006/main">
              <a:ext uri="{FF2B5EF4-FFF2-40B4-BE49-F238E27FC236}">
                <a16:creationId xmlns:a16="http://schemas.microsoft.com/office/drawing/2014/main" id="{90AC3634-A29C-49EF-BA8C-2275011734C7}"/>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14</a:t>
            </a:r>
          </a:p>
        </p:txBody>
      </p:sp>
      <p:graphicFrame>
        <p:nvGraphicFramePr>
          <p:cNvPr id="4" name="">
            <a:extLst xmlns:a="http://schemas.openxmlformats.org/drawingml/2006/main">
              <a:ext uri="{FF2B5EF4-FFF2-40B4-BE49-F238E27FC236}">
                <a16:creationId xmlns:a16="http://schemas.microsoft.com/office/drawing/2014/main" id="{3E03EE17-6FFF-4684-99C9-C39A0AB3687D}"/>
              </a:ext>
            </a:extLst>
          </p:cNvPr>
          <p:cNvGraphicFramePr/>
          <p:nvPr/>
        </p:nvGraphicFramePr>
        <p:xfrm>
          <a:off xmlns:a="http://schemas.openxmlformats.org/drawingml/2006/main" x="457200" y="1533525"/>
          <a:ext xmlns:a="http://schemas.openxmlformats.org/drawingml/2006/main" cx="11277600" cy="4267200"/>
        </p:xfrm>
        <a:graphic xmlns:a="http://schemas.openxmlformats.org/drawingml/2006/main">
          <a:graphicData uri="http://schemas.openxmlformats.org/drawingml/2006/table">
            <a:tbl>
              <a:tblPr/>
              <a:tblGrid>
                <a:gridCol w="3483657"/>
                <a:gridCol w="2066576"/>
                <a:gridCol w="1377717"/>
                <a:gridCol w="2332279"/>
                <a:gridCol w="2017372"/>
              </a:tblGrid>
              <a:tr h="266700">
                <a:tc>
                  <a:txBody>
                    <a:bodyPr lIns="0" tIns="0" rIns="0" bIns="0"/>
                    <a:lstStyle/>
                    <a:p>
                      <a:r>
                        <a:rPr sz="1500" b="1">
                          <a:solidFill>
                            <a:srgbClr val="FFFFFF"/>
                          </a:solidFill>
                          <a:latin typeface="Times New Roman"/>
                          <a:ea typeface="Times New Roman"/>
                          <a:cs typeface="Times New Roman"/>
                        </a:rPr>
                        <a:t>Model</a:t>
                      </a:r>
                    </a:p>
                  </a:txBody>
                  <a:tcPr marL="114300" marR="114300" marT="19050" marB="19050"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00" b="1">
                          <a:solidFill>
                            <a:srgbClr val="FFFFFF"/>
                          </a:solidFill>
                          <a:latin typeface="Times New Roman"/>
                          <a:ea typeface="Times New Roman"/>
                          <a:cs typeface="Times New Roman"/>
                        </a:rPr>
                        <a:t>Effort</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00" b="1">
                          <a:solidFill>
                            <a:srgbClr val="FFFFFF"/>
                          </a:solidFill>
                          <a:latin typeface="Times New Roman"/>
                          <a:ea typeface="Times New Roman"/>
                          <a:cs typeface="Times New Roman"/>
                        </a:rPr>
                        <a:t>Passes</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00" b="1">
                          <a:solidFill>
                            <a:srgbClr val="FFFFFF"/>
                          </a:solidFill>
                          <a:latin typeface="Times New Roman"/>
                          <a:ea typeface="Times New Roman"/>
                          <a:cs typeface="Times New Roman"/>
                        </a:rPr>
                        <a:t>Execution errors</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00" b="1">
                          <a:solidFill>
                            <a:srgbClr val="FFFFFF"/>
                          </a:solidFill>
                          <a:latin typeface="Times New Roman"/>
                          <a:ea typeface="Times New Roman"/>
                          <a:cs typeface="Times New Roman"/>
                        </a:rPr>
                        <a:t>Mean cost</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266700">
                <a:tc>
                  <a:txBody>
                    <a:bodyPr lIns="0" tIns="0" rIns="0" bIns="0"/>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4/39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$0.0040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1/39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$0.0052</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12/39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4</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$0.0126</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37/39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$0.0773</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39/39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$0.1975</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39/39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$0.2306</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4/39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$0.1107</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9/39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$0.1942</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19/39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4</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$0.3196</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39/39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$0.4450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39/39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$0.7132</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37/39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2</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$1.0801</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34</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 $0.1500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33</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 $0.0995</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Max</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38</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 $0.2450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770164C-450E-4724-BF61-A374BD500079}"/>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DeepSeek None is partial at 3/39 and excluded. API-equivalent estimates differ from subscription usage.</a:t>
            </a:r>
          </a:p>
        </p:txBody>
      </p:sp>
    </p:spTree>
    <p:extLst>
      <p:ext uri="{BB962C8B-B14F-4D97-AF65-F5344CB8AC3E}">
        <p14:creationId xmlns:p14="http://schemas.microsoft.com/office/powerpoint/2010/main" val="186097245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893FD5-19C5-4725-9012-D0BB7596899B}"/>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collaborator results remain separate</a:t>
            </a:r>
          </a:p>
        </p:txBody>
      </p:sp>
      <p:sp>
        <p:nvSpPr>
          <p:cNvPr id="2" name="">
            <a:extLst xmlns:a="http://schemas.openxmlformats.org/drawingml/2006/main">
              <a:ext uri="{FF2B5EF4-FFF2-40B4-BE49-F238E27FC236}">
                <a16:creationId xmlns:a16="http://schemas.microsoft.com/office/drawing/2014/main" id="{A9CE83C5-C343-47FE-884F-5B1A3DB6AEEC}"/>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390 published no-hint trials on the matching 13-task snapshot.</a:t>
            </a:r>
          </a:p>
        </p:txBody>
      </p:sp>
      <p:sp>
        <p:nvSpPr>
          <p:cNvPr id="3" name="">
            <a:extLst xmlns:a="http://schemas.openxmlformats.org/drawingml/2006/main">
              <a:ext uri="{FF2B5EF4-FFF2-40B4-BE49-F238E27FC236}">
                <a16:creationId xmlns:a16="http://schemas.microsoft.com/office/drawing/2014/main" id="{32E3F1E8-36E8-41EF-BF64-0E3B2B63708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15</a:t>
            </a:r>
          </a:p>
        </p:txBody>
      </p:sp>
      <p:graphicFrame>
        <p:nvGraphicFramePr>
          <p:cNvPr id="4" name="">
            <a:extLst xmlns:a="http://schemas.openxmlformats.org/drawingml/2006/main">
              <a:ext uri="{FF2B5EF4-FFF2-40B4-BE49-F238E27FC236}">
                <a16:creationId xmlns:a16="http://schemas.microsoft.com/office/drawing/2014/main" id="{AD4F646C-43C9-4A5C-A2B3-0A4D2871A299}"/>
              </a:ext>
            </a:extLst>
          </p:cNvPr>
          <p:cNvGraphicFramePr/>
          <p:nvPr/>
        </p:nvGraphicFramePr>
        <p:xfrm>
          <a:off xmlns:a="http://schemas.openxmlformats.org/drawingml/2006/main" x="457200" y="1657350"/>
          <a:ext xmlns:a="http://schemas.openxmlformats.org/drawingml/2006/main" cx="11277600" cy="3876675"/>
        </p:xfrm>
        <a:graphic xmlns:a="http://schemas.openxmlformats.org/drawingml/2006/main">
          <a:graphicData uri="http://schemas.openxmlformats.org/drawingml/2006/table">
            <a:tbl>
              <a:tblPr/>
              <a:tblGrid>
                <a:gridCol w="4083948"/>
                <a:gridCol w="2755435"/>
                <a:gridCol w="2263393"/>
                <a:gridCol w="2174825"/>
              </a:tblGrid>
              <a:tr h="352425">
                <a:tc>
                  <a:txBody>
                    <a:bodyPr lIns="0" tIns="0" rIns="0" bIns="0"/>
                    <a:lstStyle/>
                    <a:p>
                      <a:r>
                        <a:rPr sz="1800" b="1">
                          <a:solidFill>
                            <a:srgbClr val="FFFFFF"/>
                          </a:solidFill>
                          <a:latin typeface="Times New Roman"/>
                          <a:ea typeface="Times New Roman"/>
                          <a:cs typeface="Times New Roman"/>
                        </a:rPr>
                        <a:t>Model</a:t>
                      </a:r>
                    </a:p>
                  </a:txBody>
                  <a:tcPr marL="114300" marR="114300" marT="19050" marB="19050"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800" b="1">
                          <a:solidFill>
                            <a:srgbClr val="FFFFFF"/>
                          </a:solidFill>
                          <a:latin typeface="Times New Roman"/>
                          <a:ea typeface="Times New Roman"/>
                          <a:cs typeface="Times New Roman"/>
                        </a:rPr>
                        <a:t>Effort</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800" b="1">
                          <a:solidFill>
                            <a:srgbClr val="FFFFFF"/>
                          </a:solidFill>
                          <a:latin typeface="Times New Roman"/>
                          <a:ea typeface="Times New Roman"/>
                          <a:cs typeface="Times New Roman"/>
                        </a:rPr>
                        <a:t>Passes / 39</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800" b="1">
                          <a:solidFill>
                            <a:srgbClr val="FFFFFF"/>
                          </a:solidFill>
                          <a:latin typeface="Times New Roman"/>
                          <a:ea typeface="Times New Roman"/>
                          <a:cs typeface="Times New Roman"/>
                        </a:rPr>
                        <a:t>Execution errors</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None</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1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Medium</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4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1</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6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1</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Max</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8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352425">
                <a:tc>
                  <a:txBody>
                    <a:bodyPr lIns="0" tIns="0" rIns="0" bIns="0"/>
                    <a:lstStyle/>
                    <a:p>
                      <a:r>
                        <a:rPr sz="1800" b="0">
                          <a:solidFill>
                            <a:srgbClr val="111111"/>
                          </a:solidFill>
                          <a:latin typeface="Times New Roman"/>
                          <a:ea typeface="Times New Roman"/>
                          <a:cs typeface="Times New Roman"/>
                        </a:rPr>
                        <a:t>GPT-5.6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24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Medium</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31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352425">
                <a:tc>
                  <a:txBody>
                    <a:bodyPr lIns="0" tIns="0" rIns="0" bIns="0"/>
                    <a:lstStyle/>
                    <a:p>
                      <a:r>
                        <a:rPr sz="18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5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Medium</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5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bl>
          </a:graphicData>
        </a:graphic>
      </p:graphicFrame>
      <p:sp>
        <p:nvSpPr>
          <p:cNvPr id="5" name="">
            <a:extLst xmlns:a="http://schemas.openxmlformats.org/drawingml/2006/main">
              <a:ext uri="{FF2B5EF4-FFF2-40B4-BE49-F238E27FC236}">
                <a16:creationId xmlns:a16="http://schemas.microsoft.com/office/drawing/2014/main" id="{116D0D02-17BA-4929-B054-012E70EF32FB}"/>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Codex 0.154.0 and concurrency 4, versus 0.160.0 and concurrency 3 locally. Model generations are distinct.</a:t>
            </a:r>
          </a:p>
        </p:txBody>
      </p:sp>
    </p:spTree>
    <p:extLst>
      <p:ext uri="{BB962C8B-B14F-4D97-AF65-F5344CB8AC3E}">
        <p14:creationId xmlns:p14="http://schemas.microsoft.com/office/powerpoint/2010/main" val="202682779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6BA0FF3-04EA-4212-BFD6-BA0891C308E1}"/>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the frozen 13-task roster</a:t>
            </a:r>
          </a:p>
        </p:txBody>
      </p:sp>
      <p:sp>
        <p:nvSpPr>
          <p:cNvPr id="2" name="">
            <a:extLst xmlns:a="http://schemas.openxmlformats.org/drawingml/2006/main">
              <a:ext uri="{FF2B5EF4-FFF2-40B4-BE49-F238E27FC236}">
                <a16:creationId xmlns:a16="http://schemas.microsoft.com/office/drawing/2014/main" id="{4BF6459B-0E86-4649-80A6-970E6685C675}"/>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16</a:t>
            </a:r>
          </a:p>
        </p:txBody>
      </p:sp>
      <p:sp>
        <p:nvSpPr>
          <p:cNvPr id="3" name="">
            <a:extLst xmlns:a="http://schemas.openxmlformats.org/drawingml/2006/main">
              <a:ext uri="{FF2B5EF4-FFF2-40B4-BE49-F238E27FC236}">
                <a16:creationId xmlns:a16="http://schemas.microsoft.com/office/drawing/2014/main" id="{1B617954-181A-4A23-BF2D-053035054F7D}"/>
              </a:ext>
            </a:extLst>
          </p:cNvPr>
          <p:cNvSpPr>
            <a:spLocks xmlns:a="http://schemas.openxmlformats.org/drawingml/2006/main" noGrp="1"/>
          </p:cNvSpPr>
          <p:nvPr/>
        </p:nvSpPr>
        <p:spPr>
          <a:xfrm xmlns:a="http://schemas.openxmlformats.org/drawingml/2006/main">
            <a:off x="457200" y="1419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entropy-anomaly</a:t>
            </a:r>
          </a:p>
        </p:txBody>
      </p:sp>
      <p:sp>
        <p:nvSpPr>
          <p:cNvPr id="4" name="">
            <a:extLst xmlns:a="http://schemas.openxmlformats.org/drawingml/2006/main">
              <a:ext uri="{FF2B5EF4-FFF2-40B4-BE49-F238E27FC236}">
                <a16:creationId xmlns:a16="http://schemas.microsoft.com/office/drawing/2014/main" id="{E184659C-ED43-48C5-9DD3-A617939BA21B}"/>
              </a:ext>
            </a:extLst>
          </p:cNvPr>
          <p:cNvSpPr>
            <a:spLocks xmlns:a="http://schemas.openxmlformats.org/drawingml/2006/main" noGrp="1"/>
          </p:cNvSpPr>
          <p:nvPr/>
        </p:nvSpPr>
        <p:spPr>
          <a:xfrm xmlns:a="http://schemas.openxmlformats.org/drawingml/2006/main">
            <a:off x="457200" y="1952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finite-layer-phoresis</a:t>
            </a:r>
          </a:p>
        </p:txBody>
      </p:sp>
      <p:sp>
        <p:nvSpPr>
          <p:cNvPr id="5" name="">
            <a:extLst xmlns:a="http://schemas.openxmlformats.org/drawingml/2006/main">
              <a:ext uri="{FF2B5EF4-FFF2-40B4-BE49-F238E27FC236}">
                <a16:creationId xmlns:a16="http://schemas.microsoft.com/office/drawing/2014/main" id="{ACEAC897-E548-4A51-9467-D4512B3E482F}"/>
              </a:ext>
            </a:extLst>
          </p:cNvPr>
          <p:cNvSpPr>
            <a:spLocks xmlns:a="http://schemas.openxmlformats.org/drawingml/2006/main" noGrp="1"/>
          </p:cNvSpPr>
          <p:nvPr/>
        </p:nvSpPr>
        <p:spPr>
          <a:xfrm xmlns:a="http://schemas.openxmlformats.org/drawingml/2006/main">
            <a:off x="457200" y="2486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hierarchical-glass-overlaps</a:t>
            </a:r>
          </a:p>
        </p:txBody>
      </p:sp>
      <p:sp>
        <p:nvSpPr>
          <p:cNvPr id="6" name="">
            <a:extLst xmlns:a="http://schemas.openxmlformats.org/drawingml/2006/main">
              <a:ext uri="{FF2B5EF4-FFF2-40B4-BE49-F238E27FC236}">
                <a16:creationId xmlns:a16="http://schemas.microsoft.com/office/drawing/2014/main" id="{8109EB7F-43D7-488D-8A62-D803A593F497}"/>
              </a:ext>
            </a:extLst>
          </p:cNvPr>
          <p:cNvSpPr>
            <a:spLocks xmlns:a="http://schemas.openxmlformats.org/drawingml/2006/main" noGrp="1"/>
          </p:cNvSpPr>
          <p:nvPr/>
        </p:nvSpPr>
        <p:spPr>
          <a:xfrm xmlns:a="http://schemas.openxmlformats.org/drawingml/2006/main">
            <a:off x="457200" y="30194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insulating-mhd-duct</a:t>
            </a:r>
          </a:p>
        </p:txBody>
      </p:sp>
      <p:sp>
        <p:nvSpPr>
          <p:cNvPr id="7" name="">
            <a:extLst xmlns:a="http://schemas.openxmlformats.org/drawingml/2006/main">
              <a:ext uri="{FF2B5EF4-FFF2-40B4-BE49-F238E27FC236}">
                <a16:creationId xmlns:a16="http://schemas.microsoft.com/office/drawing/2014/main" id="{FFB1FA39-94CE-431E-9645-61A0CC786757}"/>
              </a:ext>
            </a:extLst>
          </p:cNvPr>
          <p:cNvSpPr>
            <a:spLocks xmlns:a="http://schemas.openxmlformats.org/drawingml/2006/main" noGrp="1"/>
          </p:cNvSpPr>
          <p:nvPr/>
        </p:nvSpPr>
        <p:spPr>
          <a:xfrm xmlns:a="http://schemas.openxmlformats.org/drawingml/2006/main">
            <a:off x="457200" y="35528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magnetic-tracer</a:t>
            </a:r>
          </a:p>
        </p:txBody>
      </p:sp>
      <p:sp>
        <p:nvSpPr>
          <p:cNvPr id="8" name="">
            <a:extLst xmlns:a="http://schemas.openxmlformats.org/drawingml/2006/main">
              <a:ext uri="{FF2B5EF4-FFF2-40B4-BE49-F238E27FC236}">
                <a16:creationId xmlns:a16="http://schemas.microsoft.com/office/drawing/2014/main" id="{C417F617-88C4-4E5F-8408-0643D2B6A682}"/>
              </a:ext>
            </a:extLst>
          </p:cNvPr>
          <p:cNvSpPr>
            <a:spLocks xmlns:a="http://schemas.openxmlformats.org/drawingml/2006/main" noGrp="1"/>
          </p:cNvSpPr>
          <p:nvPr/>
        </p:nvSpPr>
        <p:spPr>
          <a:xfrm xmlns:a="http://schemas.openxmlformats.org/drawingml/2006/main">
            <a:off x="457200" y="4086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reaction-diffusion</a:t>
            </a:r>
          </a:p>
        </p:txBody>
      </p:sp>
      <p:sp>
        <p:nvSpPr>
          <p:cNvPr id="9" name="">
            <a:extLst xmlns:a="http://schemas.openxmlformats.org/drawingml/2006/main">
              <a:ext uri="{FF2B5EF4-FFF2-40B4-BE49-F238E27FC236}">
                <a16:creationId xmlns:a16="http://schemas.microsoft.com/office/drawing/2014/main" id="{911F5FFF-8663-471A-98CE-29B1F1D9B568}"/>
              </a:ext>
            </a:extLst>
          </p:cNvPr>
          <p:cNvSpPr>
            <a:spLocks xmlns:a="http://schemas.openxmlformats.org/drawingml/2006/main" noGrp="1"/>
          </p:cNvSpPr>
          <p:nvPr/>
        </p:nvSpPr>
        <p:spPr>
          <a:xfrm xmlns:a="http://schemas.openxmlformats.org/drawingml/2006/main">
            <a:off x="457200" y="4619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ring-current-fluctuations</a:t>
            </a:r>
          </a:p>
        </p:txBody>
      </p:sp>
      <p:sp>
        <p:nvSpPr>
          <p:cNvPr id="10" name="">
            <a:extLst xmlns:a="http://schemas.openxmlformats.org/drawingml/2006/main">
              <a:ext uri="{FF2B5EF4-FFF2-40B4-BE49-F238E27FC236}">
                <a16:creationId xmlns:a16="http://schemas.microsoft.com/office/drawing/2014/main" id="{B86DA223-D697-451A-A51A-91BE7366B2E3}"/>
              </a:ext>
            </a:extLst>
          </p:cNvPr>
          <p:cNvSpPr>
            <a:spLocks xmlns:a="http://schemas.openxmlformats.org/drawingml/2006/main" noGrp="1"/>
          </p:cNvSpPr>
          <p:nvPr/>
        </p:nvSpPr>
        <p:spPr>
          <a:xfrm xmlns:a="http://schemas.openxmlformats.org/drawingml/2006/main">
            <a:off x="6362700" y="1419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rotating-reservoir</a:t>
            </a:r>
          </a:p>
        </p:txBody>
      </p:sp>
      <p:sp>
        <p:nvSpPr>
          <p:cNvPr id="11" name="">
            <a:extLst xmlns:a="http://schemas.openxmlformats.org/drawingml/2006/main">
              <a:ext uri="{FF2B5EF4-FFF2-40B4-BE49-F238E27FC236}">
                <a16:creationId xmlns:a16="http://schemas.microsoft.com/office/drawing/2014/main" id="{7808C839-AEFA-4D36-B29C-420F636341B5}"/>
              </a:ext>
            </a:extLst>
          </p:cNvPr>
          <p:cNvSpPr>
            <a:spLocks xmlns:a="http://schemas.openxmlformats.org/drawingml/2006/main" noGrp="1"/>
          </p:cNvSpPr>
          <p:nvPr/>
        </p:nvSpPr>
        <p:spPr>
          <a:xfrm xmlns:a="http://schemas.openxmlformats.org/drawingml/2006/main">
            <a:off x="6362700" y="1952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single-file-memory</a:t>
            </a:r>
          </a:p>
        </p:txBody>
      </p:sp>
      <p:sp>
        <p:nvSpPr>
          <p:cNvPr id="12" name="">
            <a:extLst xmlns:a="http://schemas.openxmlformats.org/drawingml/2006/main">
              <a:ext uri="{FF2B5EF4-FFF2-40B4-BE49-F238E27FC236}">
                <a16:creationId xmlns:a16="http://schemas.microsoft.com/office/drawing/2014/main" id="{7A716844-98DE-4D97-BD8E-850B5CC8A603}"/>
              </a:ext>
            </a:extLst>
          </p:cNvPr>
          <p:cNvSpPr>
            <a:spLocks xmlns:a="http://schemas.openxmlformats.org/drawingml/2006/main" noGrp="1"/>
          </p:cNvSpPr>
          <p:nvPr/>
        </p:nvSpPr>
        <p:spPr>
          <a:xfrm xmlns:a="http://schemas.openxmlformats.org/drawingml/2006/main">
            <a:off x="6362700" y="2486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superconducting-heat</a:t>
            </a:r>
          </a:p>
        </p:txBody>
      </p:sp>
      <p:sp>
        <p:nvSpPr>
          <p:cNvPr id="13" name="">
            <a:extLst xmlns:a="http://schemas.openxmlformats.org/drawingml/2006/main">
              <a:ext uri="{FF2B5EF4-FFF2-40B4-BE49-F238E27FC236}">
                <a16:creationId xmlns:a16="http://schemas.microsoft.com/office/drawing/2014/main" id="{8E313484-B01D-4662-9B77-A526F38FCA36}"/>
              </a:ext>
            </a:extLst>
          </p:cNvPr>
          <p:cNvSpPr>
            <a:spLocks xmlns:a="http://schemas.openxmlformats.org/drawingml/2006/main" noGrp="1"/>
          </p:cNvSpPr>
          <p:nvPr/>
        </p:nvSpPr>
        <p:spPr>
          <a:xfrm xmlns:a="http://schemas.openxmlformats.org/drawingml/2006/main">
            <a:off x="6362700" y="30194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swirling-heat-tails</a:t>
            </a:r>
          </a:p>
        </p:txBody>
      </p:sp>
      <p:sp>
        <p:nvSpPr>
          <p:cNvPr id="14" name="">
            <a:extLst xmlns:a="http://schemas.openxmlformats.org/drawingml/2006/main">
              <a:ext uri="{FF2B5EF4-FFF2-40B4-BE49-F238E27FC236}">
                <a16:creationId xmlns:a16="http://schemas.microsoft.com/office/drawing/2014/main" id="{CB4180C1-0E47-4AC5-8EB7-942852E1E2D0}"/>
              </a:ext>
            </a:extLst>
          </p:cNvPr>
          <p:cNvSpPr>
            <a:spLocks xmlns:a="http://schemas.openxmlformats.org/drawingml/2006/main" noGrp="1"/>
          </p:cNvSpPr>
          <p:nvPr/>
        </p:nvSpPr>
        <p:spPr>
          <a:xfrm xmlns:a="http://schemas.openxmlformats.org/drawingml/2006/main">
            <a:off x="6362700" y="35528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hard-rod-current</a:t>
            </a:r>
          </a:p>
        </p:txBody>
      </p:sp>
      <p:sp>
        <p:nvSpPr>
          <p:cNvPr id="15" name="">
            <a:extLst xmlns:a="http://schemas.openxmlformats.org/drawingml/2006/main">
              <a:ext uri="{FF2B5EF4-FFF2-40B4-BE49-F238E27FC236}">
                <a16:creationId xmlns:a16="http://schemas.microsoft.com/office/drawing/2014/main" id="{A97A6698-C261-42DF-A038-2BFF43D3125B}"/>
              </a:ext>
            </a:extLst>
          </p:cNvPr>
          <p:cNvSpPr>
            <a:spLocks xmlns:a="http://schemas.openxmlformats.org/drawingml/2006/main" noGrp="1"/>
          </p:cNvSpPr>
          <p:nvPr/>
        </p:nvSpPr>
        <p:spPr>
          <a:xfrm xmlns:a="http://schemas.openxmlformats.org/drawingml/2006/main">
            <a:off x="6362700" y="4086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finite-ion-cloud</a:t>
            </a:r>
          </a:p>
        </p:txBody>
      </p:sp>
      <p:sp>
        <p:nvSpPr>
          <p:cNvPr id="16" name="">
            <a:extLst xmlns:a="http://schemas.openxmlformats.org/drawingml/2006/main">
              <a:ext uri="{FF2B5EF4-FFF2-40B4-BE49-F238E27FC236}">
                <a16:creationId xmlns:a16="http://schemas.microsoft.com/office/drawing/2014/main" id="{ABF92BC6-A106-4C0F-883D-9CF630DDC338}"/>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Frozen snapshot: 34dedfbbd8ff. Task selection against GPT-5.6 Luna limits generalization to a broader physics population.</a:t>
            </a:r>
          </a:p>
        </p:txBody>
      </p:sp>
    </p:spTree>
    <p:extLst>
      <p:ext uri="{BB962C8B-B14F-4D97-AF65-F5344CB8AC3E}">
        <p14:creationId xmlns:p14="http://schemas.microsoft.com/office/powerpoint/2010/main" val="1828126196"/>
      </p:ext>
    </p:extLst>
  </p:cSld>
</p:sld>
</file>

<file path=ppt/theme/theme1.xml><?xml version="1.0" encoding="utf-8"?>
<a:theme xmlns:a="http://schemas.openxmlformats.org/drawingml/2006/main" name="ChatGPT">
  <a:themeElements>
    <a:clrScheme name="Committee — Times New Roman">
      <a:dk1>
        <a:srgbClr val="0B0B0F"/>
      </a:dk1>
      <a:lt1>
        <a:srgbClr val="FFFFFF"/>
      </a:lt1>
      <a:dk2>
        <a:srgbClr val="374151"/>
      </a:dk2>
      <a:lt2>
        <a:srgbClr val="F3F4F6"/>
      </a:lt2>
      <a:accent1>
        <a:srgbClr val="1D4E89"/>
      </a:accent1>
      <a:accent2>
        <a:srgbClr val="0F766E"/>
      </a:accent2>
      <a:accent3>
        <a:srgbClr val="B45309"/>
      </a:accent3>
      <a:accent4>
        <a:srgbClr val="A50026"/>
      </a:accent4>
      <a:accent5>
        <a:srgbClr val="5B4B7C"/>
      </a:accent5>
      <a:accent6>
        <a:srgbClr val="777777"/>
      </a:accent6>
      <a:hlink>
        <a:srgbClr val="1D4E89"/>
      </a:hlink>
      <a:folHlink>
        <a:srgbClr val="5B4B7C"/>
      </a:folHlink>
    </a:clrScheme>
    <a:fontScheme name="">
      <a:majorFont>
        <a:latin typeface="Times New Roman"/>
        <a:ea typeface=""/>
        <a:cs typeface=""/>
      </a:majorFont>
      <a:minorFont>
        <a:latin typeface="Times New Roman"/>
        <a:ea typeface=""/>
        <a:cs typeface=""/>
      </a:minorFont>
    </a:fontScheme>
    <a:fmtScheme name="Committee — Times New Roma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2026-10-15T02:44:43.4450000Z</dcterms:created>
  <dcterms:modified xsi:type="dcterms:W3CDTF">2026-10-15T02:44:43.4450000Z</dcterms:modified>
</coreProperties>
</file>