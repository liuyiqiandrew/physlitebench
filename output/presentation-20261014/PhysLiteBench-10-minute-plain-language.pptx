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01a9b93e1b4351" /><Relationship Type="http://schemas.openxmlformats.org/officeDocument/2006/relationships/extended-properties" Target="/docProps/app.xml" Id="Ra0b8070cfa444708" /><Relationship Type="http://schemas.openxmlformats.org/officeDocument/2006/relationships/officeDocument" Target="/ppt/presentation.xml" Id="Rf0feacc641934dc0" /></Relationships>
</file>

<file path=ppt/presentation.xml><?xml version="1.0" encoding="utf-8"?>
<p:presentation xmlns:p="http://schemas.openxmlformats.org/presentationml/2006/main">
  <p:sldMasterIdLst>
    <p:sldMasterId xmlns:r="http://schemas.openxmlformats.org/officeDocument/2006/relationships" id="2147483648" r:id="R7d76653063ed4163"/>
  </p:sldMasterIdLst>
  <p:notesMasterIdLst>
    <p:notesMasterId xmlns:r="http://schemas.openxmlformats.org/officeDocument/2006/relationships" r:id="Rb380d3aeb81c4b1f"/>
  </p:notesMasterIdLst>
  <p:sldIdLst>
    <p:sldId xmlns:r="http://schemas.openxmlformats.org/officeDocument/2006/relationships" id="256" r:id="R4201611368ad4584"/>
    <p:sldId xmlns:r="http://schemas.openxmlformats.org/officeDocument/2006/relationships" id="257" r:id="R3d1beb4cf0b94507"/>
    <p:sldId xmlns:r="http://schemas.openxmlformats.org/officeDocument/2006/relationships" id="258" r:id="R4a0f9464712444cd"/>
    <p:sldId xmlns:r="http://schemas.openxmlformats.org/officeDocument/2006/relationships" id="259" r:id="R01aa1f5585b94beb"/>
    <p:sldId xmlns:r="http://schemas.openxmlformats.org/officeDocument/2006/relationships" id="260" r:id="R2d10e8b2c98e45ff"/>
    <p:sldId xmlns:r="http://schemas.openxmlformats.org/officeDocument/2006/relationships" id="261" r:id="R273d23770a704942"/>
    <p:sldId xmlns:r="http://schemas.openxmlformats.org/officeDocument/2006/relationships" id="262" r:id="R7be5bb2399d74b17"/>
    <p:sldId xmlns:r="http://schemas.openxmlformats.org/officeDocument/2006/relationships" id="263" r:id="R4c8b5b4315f044c8"/>
    <p:sldId xmlns:r="http://schemas.openxmlformats.org/officeDocument/2006/relationships" id="264" r:id="R298919fc8fb24d85"/>
    <p:sldId xmlns:r="http://schemas.openxmlformats.org/officeDocument/2006/relationships" id="265" r:id="R268053291333459a"/>
    <p:sldId xmlns:r="http://schemas.openxmlformats.org/officeDocument/2006/relationships" id="266" r:id="R9a20081098444996"/>
    <p:sldId xmlns:r="http://schemas.openxmlformats.org/officeDocument/2006/relationships" id="267" r:id="R9ecfa6762a8a4444"/>
    <p:sldId xmlns:r="http://schemas.openxmlformats.org/officeDocument/2006/relationships" id="268" r:id="R7f34453f17ca490a"/>
    <p:sldId xmlns:r="http://schemas.openxmlformats.org/officeDocument/2006/relationships" id="269" r:id="R5e5d79b7b9a9453f"/>
    <p:sldId xmlns:r="http://schemas.openxmlformats.org/officeDocument/2006/relationships" id="270" r:id="R9e88f73efdf84aab"/>
    <p:sldId xmlns:r="http://schemas.openxmlformats.org/officeDocument/2006/relationships" id="271" r:id="R2692547423c342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b303fc1e8b4b76" /><Relationship Type="http://schemas.openxmlformats.org/officeDocument/2006/relationships/slideMaster" Target="/ppt/slideMasters/slideMaster1.xml" Id="R7d76653063ed4163" /><Relationship Type="http://schemas.openxmlformats.org/officeDocument/2006/relationships/notesMaster" Target="/ppt/notesMasters/notesMaster1.xml" Id="Rb380d3aeb81c4b1f" /><Relationship Type="http://schemas.openxmlformats.org/officeDocument/2006/relationships/presProps" Target="/ppt/presProps.xml" Id="Rda8d6760695b420d" /><Relationship Type="http://schemas.openxmlformats.org/officeDocument/2006/relationships/tableStyles" Target="/ppt/tableStyles.xml" Id="R44dc258ae21c4ae8" /><Relationship Type="http://schemas.openxmlformats.org/officeDocument/2006/relationships/slide" Target="/ppt/slides/slide1.xml" Id="R4201611368ad4584" /><Relationship Type="http://schemas.openxmlformats.org/officeDocument/2006/relationships/slide" Target="/ppt/slides/slide2.xml" Id="R3d1beb4cf0b94507" /><Relationship Type="http://schemas.openxmlformats.org/officeDocument/2006/relationships/slide" Target="/ppt/slides/slide3.xml" Id="R4a0f9464712444cd" /><Relationship Type="http://schemas.openxmlformats.org/officeDocument/2006/relationships/slide" Target="/ppt/slides/slide4.xml" Id="R01aa1f5585b94beb" /><Relationship Type="http://schemas.openxmlformats.org/officeDocument/2006/relationships/slide" Target="/ppt/slides/slide5.xml" Id="R2d10e8b2c98e45ff" /><Relationship Type="http://schemas.openxmlformats.org/officeDocument/2006/relationships/slide" Target="/ppt/slides/slide6.xml" Id="R273d23770a704942" /><Relationship Type="http://schemas.openxmlformats.org/officeDocument/2006/relationships/slide" Target="/ppt/slides/slide7.xml" Id="R7be5bb2399d74b17" /><Relationship Type="http://schemas.openxmlformats.org/officeDocument/2006/relationships/slide" Target="/ppt/slides/slide8.xml" Id="R4c8b5b4315f044c8" /><Relationship Type="http://schemas.openxmlformats.org/officeDocument/2006/relationships/slide" Target="/ppt/slides/slide9.xml" Id="R298919fc8fb24d85" /><Relationship Type="http://schemas.openxmlformats.org/officeDocument/2006/relationships/slide" Target="/ppt/slides/slide10.xml" Id="R268053291333459a" /><Relationship Type="http://schemas.openxmlformats.org/officeDocument/2006/relationships/slide" Target="/ppt/slides/slide11.xml" Id="R9a20081098444996" /><Relationship Type="http://schemas.openxmlformats.org/officeDocument/2006/relationships/slide" Target="/ppt/slides/slide12.xml" Id="R9ecfa6762a8a4444" /><Relationship Type="http://schemas.openxmlformats.org/officeDocument/2006/relationships/slide" Target="/ppt/slides/slide13.xml" Id="R7f34453f17ca490a" /><Relationship Type="http://schemas.openxmlformats.org/officeDocument/2006/relationships/slide" Target="/ppt/slides/slide14.xml" Id="R5e5d79b7b9a9453f" /><Relationship Type="http://schemas.openxmlformats.org/officeDocument/2006/relationships/slide" Target="/ppt/slides/slide15.xml" Id="R9e88f73efdf84aab" /><Relationship Type="http://schemas.openxmlformats.org/officeDocument/2006/relationships/slide" Target="/ppt/slides/slide16.xml" Id="R2692547423c342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249668420a45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e4459f32254d81" /><Relationship Type="http://schemas.openxmlformats.org/officeDocument/2006/relationships/notesMaster" Target="/ppt/notesMasters/notesMaster1.xml" Id="Rc072ec5a12434e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dd2a19b55341c1" /><Relationship Type="http://schemas.openxmlformats.org/officeDocument/2006/relationships/notesMaster" Target="/ppt/notesMasters/notesMaster1.xml" Id="R8dd5681bf6cb44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81ab4d41d24ebc" /><Relationship Type="http://schemas.openxmlformats.org/officeDocument/2006/relationships/notesMaster" Target="/ppt/notesMasters/notesMaster1.xml" Id="R3919aebc251744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83799b77d74fcc" /><Relationship Type="http://schemas.openxmlformats.org/officeDocument/2006/relationships/notesMaster" Target="/ppt/notesMasters/notesMaster1.xml" Id="R8404ed954a1545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fe0c7842a24161" /><Relationship Type="http://schemas.openxmlformats.org/officeDocument/2006/relationships/notesMaster" Target="/ppt/notesMasters/notesMaster1.xml" Id="Rcfab11a01fde4c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1cae5b78734f34" /><Relationship Type="http://schemas.openxmlformats.org/officeDocument/2006/relationships/notesMaster" Target="/ppt/notesMasters/notesMaster1.xml" Id="Rd115b7e10d6c44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e67094ffb640bf" /><Relationship Type="http://schemas.openxmlformats.org/officeDocument/2006/relationships/notesMaster" Target="/ppt/notesMasters/notesMaster1.xml" Id="R926fdd688a424d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b620bbdf4d4ecb" /><Relationship Type="http://schemas.openxmlformats.org/officeDocument/2006/relationships/notesMaster" Target="/ppt/notesMasters/notesMaster1.xml" Id="R2e437df1cc1b4b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3e6b49b0d74eba" /><Relationship Type="http://schemas.openxmlformats.org/officeDocument/2006/relationships/notesMaster" Target="/ppt/notesMasters/notesMaster1.xml" Id="Rfbbd524f47884a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731b4ea1cc49e6" /><Relationship Type="http://schemas.openxmlformats.org/officeDocument/2006/relationships/notesMaster" Target="/ppt/notesMasters/notesMaster1.xml" Id="R1ff6377a0fbf4d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efcd0291fb43f7" /><Relationship Type="http://schemas.openxmlformats.org/officeDocument/2006/relationships/notesMaster" Target="/ppt/notesMasters/notesMaster1.xml" Id="Rb1837c9f1f8e4e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e1e4b280e64f68" /><Relationship Type="http://schemas.openxmlformats.org/officeDocument/2006/relationships/notesMaster" Target="/ppt/notesMasters/notesMaster1.xml" Id="R0f1daa4253794e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eea0472d474508" /><Relationship Type="http://schemas.openxmlformats.org/officeDocument/2006/relationships/notesMaster" Target="/ppt/notesMasters/notesMaster1.xml" Id="Ra4f1c7d938d440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2e2282e4d14b05" /><Relationship Type="http://schemas.openxmlformats.org/officeDocument/2006/relationships/notesMaster" Target="/ppt/notesMasters/notesMaster1.xml" Id="R5cd74bc3e25343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47724e3d0c4060" /><Relationship Type="http://schemas.openxmlformats.org/officeDocument/2006/relationships/notesMaster" Target="/ppt/notesMasters/notesMaster1.xml" Id="R7ebea85470514a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f6ea2b28bd4141" /><Relationship Type="http://schemas.openxmlformats.org/officeDocument/2006/relationships/notesMaster" Target="/ppt/notesMasters/notesMaster1.xml" Id="R8754ddfda2b745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p>
          <a:p xmlns:a="http://schemas.openxmlformats.org/drawingml/2006/main">
            <a:r>
              <a:t>We study how well coding agents can turn a physical setup and limited measurements into predictions.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p>
          <a:p xmlns:a="http://schemas.openxmlformats.org/drawingml/2006/main">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xmlns:a="http://schemas.openxmlformats.org/drawingml/2006/main">
            <a:r>
              <a:t/>
            </a:r>
          </a:p>
          <a:p xmlns:a="http://schemas.openxmlformats.org/drawingml/2006/main">
            <a:r>
              <a:t>Sources:</a:t>
            </a:r>
          </a:p>
          <a:p xmlns:a="http://schemas.openxmlformats.org/drawingml/2006/main">
            <a:r>
              <a:t>/Users/yp9846/Desktop/PhysLiteBench/README.md</a:t>
            </a:r>
          </a:p>
          <a:p xmlns:a="http://schemas.openxmlformats.org/drawingml/2006/main">
            <a:r>
              <a:t>/Users/yp9846/Desktop/PhysLiteBench/docs/BENCHMARK.md</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 seconds.</a:t>
            </a:r>
          </a:p>
          <a:p xmlns:a="http://schemas.openxmlformats.org/drawingml/2006/main">
            <a:r>
              <a:t/>
            </a: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r>
              <a:t/>
            </a: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There are two distinct experiment cohorts. The completed no-hint sweep has fifteen model-effort settings, each covering thirteen tasks and three repeats, or five hundred eighty-five attempts. The hint study fixes effort at High for GPT-5.6 Luna, GPT-5.6 Terra, and DeepSeek V4.1 Flash. Nine model-condition settings make three hundred fifty-one logical observations. Those are different Luna generations, so their results should not be silently pooled. Both studies use the Harbor harness and a Codex agent, with ten minutes for the agent and one minute for verification. The files and grading stay frozen across the hint conditions. Thirty-eight Luna baselines were imported from historical matching-task runs with an older client and different concurrency. Thus the Luna hint comparison is descriptive and does not isolate a causal hint effect. Costs are API-equivalent estimates, not subscription usage.</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a:p xmlns:a="http://schemas.openxmlformats.org/drawingml/2006/main">
            <a:r>
              <a:t>/Users/yp9846/Desktop/PhysLiteBench/results/hint-comparison-20261014/plan.json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70 seconds.</a:t>
            </a:r>
          </a:p>
          <a:p xmlns:a="http://schemas.openxmlformats.org/drawingml/2006/main">
            <a:r>
              <a:t/>
            </a:r>
          </a:p>
          <a:p xmlns:a="http://schemas.openxmlformats.org/drawingml/2006/main">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seconds.</a:t>
            </a:r>
          </a:p>
          <a:p xmlns:a="http://schemas.openxmlformats.org/drawingml/2006/main">
            <a:r>
              <a:t/>
            </a:r>
          </a:p>
          <a:p xmlns:a="http://schemas.openxmlformats.org/drawingml/2006/main">
            <a:r>
              <a:t>This slot will compare the three prompt conditions in the High-effort cohort. The full hint study and cost audit are still pending, so I am leaving the results blank.</a:t>
            </a:r>
          </a:p>
          <a:p xmlns:a="http://schemas.openxmlformats.org/drawingml/2006/main">
            <a:r>
              <a:t/>
            </a:r>
          </a:p>
          <a:p xmlns:a="http://schemas.openxmlformats.org/drawingml/2006/main">
            <a:r>
              <a:t>Sources:</a:t>
            </a:r>
          </a:p>
          <a:p xmlns:a="http://schemas.openxmlformats.org/drawingml/2006/main">
            <a:r>
              <a:t>/Users/yp9846/Desktop/PhysLiteBench/results/hint-comparison-20261014/status.json</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xmlns:a="http://schemas.openxmlformats.org/drawingml/2006/main">
            <a:r>
              <a:t/>
            </a: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 seconds.</a:t>
            </a:r>
          </a:p>
          <a:p xmlns:a="http://schemas.openxmlformats.org/drawingml/2006/main">
            <a:r>
              <a:t/>
            </a:r>
          </a:p>
          <a:p xmlns:a="http://schemas.openxmlformats.org/drawingml/2006/main">
            <a:r>
              <a:t>Now return to the orange bead. This saved Terra High run lets us trace what the agent actually did. It read the description, accepted the prediction formula in the starter, fitted the strength of the random motion, and passed the supplied test. The parameter fit is very accurate. The error occurs in the red box: it keeps a formula whose assumption does not match how the experiment begins. That formula treats the amount of motion over a given time interval the same whether the interval occurs earlier or later after release. In this experiment, the regular starting row still affects later motion. The agent even mentions the fixed starting positions in its comments, but does not change this part of its calculation. Why did the public test not catch it? The supplied measurements test the spread at individual times. Both formulas can fit those measurements. The hidden tests ask how positions at two different times are connected, and that is where the retained formula is wrong. The largest prediction-group error is about one hundred thirty-six percent, above the four-percent limit. To check our diagnosis, we kept the agent's fitted movement strength and replaced only the way the formula connects two times. The largest error then fell to about zero point zero zero three percent. This is our diagnostic correction to the saved program. The original agent attempt still counts as a failure.</a:t>
            </a:r>
          </a:p>
          <a:p xmlns:a="http://schemas.openxmlformats.org/drawingml/2006/main">
            <a:r>
              <a:t/>
            </a: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A good fit to the supplied measurements does not guarantee a correct new prediction. The bead example makes that concrete: the agent learns the strength of random motion but keeps the wrong rule for linking early and later positions. Across the suite, model cost, reasoning effort and timely completion all affect success. The remaining hint experiment will show whether pointing to a missing physical idea helps more than simply asking the agent to check its work. Its results remain pending.</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xmlns:a="http://schemas.openxmlformats.org/drawingml/2006/main">
            <a:r>
              <a:t/>
            </a:r>
          </a:p>
          <a:p xmlns:a="http://schemas.openxmlformats.org/drawingml/2006/main">
            <a:r>
              <a:t>Sources:</a:t>
            </a:r>
          </a:p>
          <a:p xmlns:a="http://schemas.openxmlformats.org/drawingml/2006/main">
            <a:r>
              <a:t>/Users/yp9846/Desktop/PhysLiteBench/results/hint-comparison-20261014/imported-friend-results-20261015/import-manifest.json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r>
              <a:t/>
            </a: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0bc9316b4b4b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2b889ecb4a46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ac187fd75f46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519f43f1b749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4657806b474b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d2b2dc862a47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1ab60526ce455b" /><Relationship Type="http://schemas.openxmlformats.org/officeDocument/2006/relationships/slideLayout" Target="/ppt/slideLayouts/slideLayout1.xml" Id="R46f92fd8caeb40cf" /><Relationship Type="http://schemas.openxmlformats.org/officeDocument/2006/relationships/slideLayout" Target="/ppt/slideLayouts/slideLayout2.xml" Id="R555aa78ccc1042b1" /><Relationship Type="http://schemas.openxmlformats.org/officeDocument/2006/relationships/slideLayout" Target="/ppt/slideLayouts/slideLayout3.xml" Id="R5730278838e54354" /><Relationship Type="http://schemas.openxmlformats.org/officeDocument/2006/relationships/slideLayout" Target="/ppt/slideLayouts/slideLayout4.xml" Id="R173c5c5b5e634cbb" /><Relationship Type="http://schemas.openxmlformats.org/officeDocument/2006/relationships/slideLayout" Target="/ppt/slideLayouts/slideLayout5.xml" Id="R3d0ef4b54e3f4be0" /><Relationship Type="http://schemas.openxmlformats.org/officeDocument/2006/relationships/slideLayout" Target="/ppt/slideLayouts/slideLayout6.xml" Id="Rd0513386d03d49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f92fd8caeb40cf"/>
    <p:sldLayoutId xmlns:r="http://schemas.openxmlformats.org/officeDocument/2006/relationships" id="2147483650" r:id="R555aa78ccc1042b1"/>
    <p:sldLayoutId xmlns:r="http://schemas.openxmlformats.org/officeDocument/2006/relationships" id="2147483651" r:id="R5730278838e54354"/>
    <p:sldLayoutId xmlns:r="http://schemas.openxmlformats.org/officeDocument/2006/relationships" id="2147483652" r:id="R173c5c5b5e634cbb"/>
    <p:sldLayoutId xmlns:r="http://schemas.openxmlformats.org/officeDocument/2006/relationships" id="2147483653" r:id="R3d0ef4b54e3f4be0"/>
    <p:sldLayoutId xmlns:r="http://schemas.openxmlformats.org/officeDocument/2006/relationships" id="2147483654" r:id="Rd0513386d03d49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4d55a39561429e" /><Relationship Type="http://schemas.openxmlformats.org/officeDocument/2006/relationships/notesSlide" Target="/ppt/notesSlides/notesSlide1.xml" Id="Ra8a7f234208b4d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d2d02b5f9e4b8d" /><Relationship Type="http://schemas.openxmlformats.org/officeDocument/2006/relationships/notesSlide" Target="/ppt/notesSlides/notesSlide2.xml" Id="R41e550a55c4147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bc716ba1ad4db8" /><Relationship Type="http://schemas.openxmlformats.org/officeDocument/2006/relationships/notesSlide" Target="/ppt/notesSlides/notesSlide3.xml" Id="R71fcbe6088a747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3b7ed8dbc0446f" /><Relationship Type="http://schemas.openxmlformats.org/officeDocument/2006/relationships/notesSlide" Target="/ppt/notesSlides/notesSlide4.xml" Id="R0deb94c8a29a40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36c17e09a749f4" /><Relationship Type="http://schemas.openxmlformats.org/officeDocument/2006/relationships/notesSlide" Target="/ppt/notesSlides/notesSlide5.xml" Id="Ra0ebdef5ebbd42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ce67bd0ad5410c" /><Relationship Type="http://schemas.openxmlformats.org/officeDocument/2006/relationships/chart" Target="/ppt/slides/charts/chart1.xml" Id="R0eacf5c42e774ed3" /><Relationship Type="http://schemas.openxmlformats.org/officeDocument/2006/relationships/notesSlide" Target="/ppt/notesSlides/notesSlide6.xml" Id="R573abd1623d14c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3e1380ffcf409e" /><Relationship Type="http://schemas.openxmlformats.org/officeDocument/2006/relationships/notesSlide" Target="/ppt/notesSlides/notesSlide7.xml" Id="R0033e12115b945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447f381b4d4659" /><Relationship Type="http://schemas.openxmlformats.org/officeDocument/2006/relationships/chart" Target="/ppt/slides/charts/chart2.xml" Id="Rdc7f73dfa2dc43d0" /><Relationship Type="http://schemas.openxmlformats.org/officeDocument/2006/relationships/notesSlide" Target="/ppt/notesSlides/notesSlide8.xml" Id="R9f417d7098204b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e041a8281249a7" /><Relationship Type="http://schemas.openxmlformats.org/officeDocument/2006/relationships/chart" Target="/ppt/slides/charts/chart3.xml" Id="Rb80ba62669994734" /><Relationship Type="http://schemas.openxmlformats.org/officeDocument/2006/relationships/notesSlide" Target="/ppt/notesSlides/notesSlide9.xml" Id="R1206c317edfd4f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d73c2b3aff4ca3" /><Relationship Type="http://schemas.openxmlformats.org/officeDocument/2006/relationships/notesSlide" Target="/ppt/notesSlides/notesSlide10.xml" Id="Re61dea26b2a64e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7f3f31c752545fd" /><Relationship Type="http://schemas.openxmlformats.org/officeDocument/2006/relationships/notesSlide" Target="/ppt/notesSlides/notesSlide11.xml" Id="Rbfb43219fe734c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c3b09d6f30432c" /><Relationship Type="http://schemas.openxmlformats.org/officeDocument/2006/relationships/notesSlide" Target="/ppt/notesSlides/notesSlide12.xml" Id="R17f985cff5144e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bd4170ca8e4813" /><Relationship Type="http://schemas.openxmlformats.org/officeDocument/2006/relationships/notesSlide" Target="/ppt/notesSlides/notesSlide13.xml" Id="R4215da5cab4449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2fe9ecdcb69417e" /><Relationship Type="http://schemas.openxmlformats.org/officeDocument/2006/relationships/notesSlide" Target="/ppt/notesSlides/notesSlide14.xml" Id="R07eb79f8cea943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6c142f3de884b9a" /><Relationship Type="http://schemas.openxmlformats.org/officeDocument/2006/relationships/notesSlide" Target="/ppt/notesSlides/notesSlide15.xml" Id="R227f2ea544c547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00eef45f944335" /><Relationship Type="http://schemas.openxmlformats.org/officeDocument/2006/relationships/chart" Target="/ppt/slides/charts/chart4.xml" Id="R142e724b782c433b" /><Relationship Type="http://schemas.openxmlformats.org/officeDocument/2006/relationships/notesSlide" Target="/ppt/notesSlides/notesSlide16.xml" Id="R60ad167f4eae414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varyColors val="0"/>
        <c:ser>
          <c:idx val="0"/>
          <c:order val="0"/>
          <c:tx>
            <c:v>Observed frontier</c:v>
          </c:tx>
          <c:spPr>
            <a:ln w="19050">
              <a:solidFill>
                <a:srgbClr val="0F766E"/>
              </a:solidFill>
              <a:prstDash val="dash"/>
            </a:ln>
          </c:spPr>
          <c:marker>
            <c:symbol val="none"/>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xPr>
            <a:bodyPr anchorCtr="1"/>
            <a:lstStyle/>
            <a:p>
              <a:pPr>
                <a:defRPr sz="1575">
                  <a:solidFill>
                    <a:srgbClr val="444444"/>
                  </a:solidFill>
                  <a:latin typeface="Times New Roman"/>
                  <a:ea typeface="Times New Roman"/>
                  <a:cs typeface="Times New Roman"/>
                </a:defRPr>
              </a:pPr>
            </a:p>
          </c:txPr>
        </c:title>
        <c:numFmt formatCode="$0.0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majorUnit val="0.2"/>
      </c:valAx>
      <c:spPr>
        <a:solidFill>
          <a:srgbClr val="FFFFFF"/>
        </a:solidFill>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barChart>
        <c:barDir val="bar"/>
        <c:grouping val="stacked"/>
        <c:varyColors val="0"/>
        <c:ser>
          <c:idx val="0"/>
          <c:order val="0"/>
          <c:tx>
            <c:v>Completed pass</c:v>
          </c:tx>
          <c:spPr>
            <a:solidFill>
              <a:srgbClr val="0F766E"/>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varyColors val="0"/>
        <c:ser>
          <c:idx val="0"/>
          <c:order val="0"/>
          <c:tx>
            <c:v>Starter formula</c:v>
          </c:tx>
          <c:spPr>
            <a:ln w="25718">
              <a:solidFill>
                <a:srgbClr val="A50026"/>
              </a:solidFill>
            </a:ln>
          </c:spPr>
          <c:marker>
            <c:symbol val="none"/>
          </c:marker>
          <c:dLbls>
            <c:txPr>
              <a:bodyPr anchorCtr="1"/>
              <a:lstStyle/>
              <a:p>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c:v>
                </c:pt>
                <c:pt idx="2">
                  <c:v>0.809016994</c:v>
                </c:pt>
                <c:pt idx="3">
                  <c:v>0.780115752</c:v>
                </c:pt>
                <c:pt idx="4">
                  <c:v>0.758819045</c:v>
                </c:pt>
                <c:pt idx="5">
                  <c:v>0.742092732</c:v>
                </c:pt>
                <c:pt idx="6">
                  <c:v>0.728425126</c:v>
                </c:pt>
                <c:pt idx="7">
                  <c:v>0.716946024</c:v>
                </c:pt>
                <c:pt idx="8">
                  <c:v>0.707106781</c:v>
                </c:pt>
                <c:pt idx="9">
                  <c:v>0.698538901</c:v>
                </c:pt>
                <c:pt idx="10">
                  <c:v>0.690983006</c:v>
                </c:pt>
                <c:pt idx="11">
                  <c:v>0.68424978</c:v>
                </c:pt>
                <c:pt idx="12">
                  <c:v>0.678196979</c:v>
                </c:pt>
                <c:pt idx="13">
                  <c:v>0.672715148</c:v>
                </c:pt>
                <c:pt idx="14">
                  <c:v>0.66771837</c:v>
                </c:pt>
                <c:pt idx="15">
                  <c:v>0.663138051</c:v>
                </c:pt>
                <c:pt idx="16">
                  <c:v>0.658918623</c:v>
                </c:pt>
                <c:pt idx="17">
                  <c:v>0.65501449</c:v>
                </c:pt>
                <c:pt idx="18">
                  <c:v>0.651387819</c:v>
                </c:pt>
                <c:pt idx="19">
                  <c:v>0.648006903</c:v>
                </c:pt>
                <c:pt idx="20">
                  <c:v>0.644844932</c:v>
                </c:pt>
                <c:pt idx="21">
                  <c:v>0.641879051</c:v>
                </c:pt>
                <c:pt idx="22">
                  <c:v>0.639089639</c:v>
                </c:pt>
                <c:pt idx="23">
                  <c:v>0.636459736</c:v>
                </c:pt>
                <c:pt idx="24">
                  <c:v>0.633974596</c:v>
                </c:pt>
                <c:pt idx="25">
                  <c:v>0.631621324</c:v>
                </c:pt>
                <c:pt idx="26">
                  <c:v>0.629388588</c:v>
                </c:pt>
                <c:pt idx="27">
                  <c:v>0.62726638</c:v>
                </c:pt>
                <c:pt idx="28">
                  <c:v>0.625245825</c:v>
                </c:pt>
                <c:pt idx="29">
                  <c:v>0.62331902</c:v>
                </c:pt>
                <c:pt idx="30">
                  <c:v>0.621478899</c:v>
                </c:pt>
                <c:pt idx="31">
                  <c:v>0.619719124</c:v>
                </c:pt>
                <c:pt idx="32">
                  <c:v>0.618033989</c:v>
                </c:pt>
                <c:pt idx="33">
                  <c:v>0.616418342</c:v>
                </c:pt>
                <c:pt idx="34">
                  <c:v>0.614867517</c:v>
                </c:pt>
                <c:pt idx="35">
                  <c:v>0.613377279</c:v>
                </c:pt>
                <c:pt idx="36">
                  <c:v>0.611943768</c:v>
                </c:pt>
                <c:pt idx="37">
                  <c:v>0.610563464</c:v>
                </c:pt>
                <c:pt idx="38">
                  <c:v>0.609233145</c:v>
                </c:pt>
                <c:pt idx="39">
                  <c:v>0.607949856</c:v>
                </c:pt>
                <c:pt idx="40">
                  <c:v>0.606710883</c:v>
                </c:pt>
                <c:pt idx="41">
                  <c:v>0.605513725</c:v>
                </c:pt>
                <c:pt idx="42">
                  <c:v>0.604356076</c:v>
                </c:pt>
                <c:pt idx="43">
                  <c:v>0.603235805</c:v>
                </c:pt>
                <c:pt idx="44">
                  <c:v>0.602150938</c:v>
                </c:pt>
                <c:pt idx="45">
                  <c:v>0.601099645</c:v>
                </c:pt>
                <c:pt idx="46">
                  <c:v>0.600080225</c:v>
                </c:pt>
                <c:pt idx="47">
                  <c:v>0.599091096</c:v>
                </c:pt>
                <c:pt idx="48">
                  <c:v>0.598130784</c:v>
                </c:pt>
                <c:pt idx="49">
                  <c:v>0.597197914</c:v>
                </c:pt>
                <c:pt idx="50">
                  <c:v>0.596291202</c:v>
                </c:pt>
                <c:pt idx="51">
                  <c:v>0.595409444</c:v>
                </c:pt>
                <c:pt idx="52">
                  <c:v>0.594551515</c:v>
                </c:pt>
                <c:pt idx="53">
                  <c:v>0.59371636</c:v>
                </c:pt>
                <c:pt idx="54">
                  <c:v>0.592902985</c:v>
                </c:pt>
                <c:pt idx="55">
                  <c:v>0.59211046</c:v>
                </c:pt>
                <c:pt idx="56">
                  <c:v>0.591337907</c:v>
                </c:pt>
              </c:numCache>
            </c:numRef>
          </c:yVal>
        </c:ser>
        <c:ser>
          <c:idx val="1"/>
          <c:order val="1"/>
          <c:tx>
            <c:v>Correct physics</c:v>
          </c:tx>
          <c:spPr>
            <a:ln w="25718">
              <a:solidFill>
                <a:srgbClr val="0F766E"/>
              </a:solidFill>
            </a:ln>
          </c:spPr>
          <c:marker>
            <c:symbol val="none"/>
          </c:marker>
          <c:dLbls>
            <c:txPr>
              <a:bodyPr anchorCtr="1"/>
              <a:lstStyle/>
              <a:p>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0.780776406</c:v>
                </c:pt>
                <c:pt idx="2">
                  <c:v>0.707106781</c:v>
                </c:pt>
                <c:pt idx="3">
                  <c:v>0.656712034</c:v>
                </c:pt>
                <c:pt idx="4">
                  <c:v>0.618033989</c:v>
                </c:pt>
                <c:pt idx="5">
                  <c:v>0.586626929</c:v>
                </c:pt>
                <c:pt idx="6">
                  <c:v>0.560231504</c:v>
                </c:pt>
                <c:pt idx="7">
                  <c:v>0.537520053</c:v>
                </c:pt>
                <c:pt idx="8">
                  <c:v>0.51763809</c:v>
                </c:pt>
                <c:pt idx="9">
                  <c:v>0.5</c:v>
                </c:pt>
                <c:pt idx="10">
                  <c:v>0.484185463</c:v>
                </c:pt>
                <c:pt idx="11">
                  <c:v>0.469881908</c:v>
                </c:pt>
                <c:pt idx="12">
                  <c:v>0.456850252</c:v>
                </c:pt>
                <c:pt idx="13">
                  <c:v>0.444903383</c:v>
                </c:pt>
                <c:pt idx="14">
                  <c:v>0.433892047</c:v>
                </c:pt>
                <c:pt idx="15">
                  <c:v>0.423695254</c:v>
                </c:pt>
                <c:pt idx="16">
                  <c:v>0.414213562</c:v>
                </c:pt>
                <c:pt idx="17">
                  <c:v>0.405364255</c:v>
                </c:pt>
                <c:pt idx="18">
                  <c:v>0.397077802</c:v>
                </c:pt>
                <c:pt idx="19">
                  <c:v>0.38929521</c:v>
                </c:pt>
                <c:pt idx="20">
                  <c:v>0.381966011</c:v>
                </c:pt>
                <c:pt idx="21">
                  <c:v>0.375046709</c:v>
                </c:pt>
                <c:pt idx="22">
                  <c:v>0.368499561</c:v>
                </c:pt>
                <c:pt idx="23">
                  <c:v>0.362291619</c:v>
                </c:pt>
                <c:pt idx="24">
                  <c:v>0.356393959</c:v>
                </c:pt>
                <c:pt idx="25">
                  <c:v>0.350781059</c:v>
                </c:pt>
                <c:pt idx="26">
                  <c:v>0.345430296</c:v>
                </c:pt>
                <c:pt idx="27">
                  <c:v>0.340321525</c:v>
                </c:pt>
                <c:pt idx="28">
                  <c:v>0.33543674</c:v>
                </c:pt>
                <c:pt idx="29">
                  <c:v>0.330759781</c:v>
                </c:pt>
                <c:pt idx="30">
                  <c:v>0.326276102</c:v>
                </c:pt>
                <c:pt idx="31">
                  <c:v>0.321972559</c:v>
                </c:pt>
                <c:pt idx="32">
                  <c:v>0.317837245</c:v>
                </c:pt>
                <c:pt idx="33">
                  <c:v>0.313859338</c:v>
                </c:pt>
                <c:pt idx="34">
                  <c:v>0.310028979</c:v>
                </c:pt>
                <c:pt idx="35">
                  <c:v>0.306337161</c:v>
                </c:pt>
                <c:pt idx="36">
                  <c:v>0.302775638</c:v>
                </c:pt>
                <c:pt idx="37">
                  <c:v>0.29933684</c:v>
                </c:pt>
                <c:pt idx="38">
                  <c:v>0.296013806</c:v>
                </c:pt>
                <c:pt idx="39">
                  <c:v>0.292800122</c:v>
                </c:pt>
                <c:pt idx="40">
                  <c:v>0.289689863</c:v>
                </c:pt>
                <c:pt idx="41">
                  <c:v>0.286677549</c:v>
                </c:pt>
                <c:pt idx="42">
                  <c:v>0.283758102</c:v>
                </c:pt>
                <c:pt idx="43">
                  <c:v>0.280926806</c:v>
                </c:pt>
                <c:pt idx="44">
                  <c:v>0.278179278</c:v>
                </c:pt>
                <c:pt idx="45">
                  <c:v>0.275511436</c:v>
                </c:pt>
                <c:pt idx="46">
                  <c:v>0.272919473</c:v>
                </c:pt>
                <c:pt idx="47">
                  <c:v>0.270399833</c:v>
                </c:pt>
                <c:pt idx="48">
                  <c:v>0.267949192</c:v>
                </c:pt>
                <c:pt idx="49">
                  <c:v>0.265564437</c:v>
                </c:pt>
                <c:pt idx="50">
                  <c:v>0.263242648</c:v>
                </c:pt>
                <c:pt idx="51">
                  <c:v>0.260981086</c:v>
                </c:pt>
                <c:pt idx="52">
                  <c:v>0.258777175</c:v>
                </c:pt>
                <c:pt idx="53">
                  <c:v>0.256628493</c:v>
                </c:pt>
                <c:pt idx="54">
                  <c:v>0.254532759</c:v>
                </c:pt>
                <c:pt idx="55">
                  <c:v>0.252487822</c:v>
                </c:pt>
                <c:pt idx="56">
                  <c:v>0.25049165</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xPr>
            <a:bodyPr anchorCtr="1"/>
            <a:lstStyle/>
            <a:p>
              <a:pPr>
                <a:defRPr>
                  <a:latin typeface="Times New Roman"/>
                  <a:ea typeface="Times New Roman"/>
                  <a:cs typeface="Times New Roman"/>
                </a:defRPr>
              </a:pPr>
            </a:p>
          </c:txPr>
        </c:title>
        <c:numFmt formatCode="0.00"/>
        <c:majorTickMark val="none"/>
        <c:minorTickMark val="none"/>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50112"/>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xPr>
            <a:bodyPr anchorCtr="1"/>
            <a:lstStyle/>
            <a:p>
              <a:pPr>
                <a:defRPr>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72768"/>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data?</a:t>
            </a:r>
          </a:p>
        </p:txBody>
      </p:sp>
      <p:graphicFrame>
        <p:nvGraphicFramePr>
          <p:cNvPr id="4" name="">
            <a:extLst xmlns:a="http://schemas.openxmlformats.org/drawingml/2006/main">
              <a:ext uri="{FF2B5EF4-FFF2-40B4-BE49-F238E27FC236}">
                <a16:creationId xmlns:a16="http://schemas.microsoft.com/office/drawing/2014/main" id="{B81F1DA0-60E3-4B32-AA1E-FAA69886E90F}"/>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lIns="0" tIns="0" rIns="0" bIns="0"/>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What the evaluator checks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lIns="0" tIns="0" rIns="0" bIns="0"/>
                    <a:lstStyle/>
                    <a:p>
                      <a:r>
                        <a:rPr sz="2025" b="0">
                          <a:solidFill>
                            <a:srgbClr val="111111"/>
                          </a:solidFill>
                          <a:latin typeface="Times New Roman"/>
                          <a:ea typeface="Times New Roman"/>
                          <a:cs typeface="Times New Roman"/>
                        </a:rPr>
                        <a:t>Physical setup and starter code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8656">
                <a:tc>
                  <a:txBody>
                    <a:bodyPr lIns="0" tIns="0" rIns="0" bIns="0"/>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Predictions beyond the calibration settings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8656">
                <a:tc>
                  <a:txBody>
                    <a:bodyPr lIns="0" tIns="0" rIns="0" bIns="0"/>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Completion within the time budget</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random motion, heat and particle flow,</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systems</a:t>
            </a:r>
          </a:p>
        </p:txBody>
      </p:sp>
      <p:sp>
        <p:nvSpPr>
          <p:cNvPr id="7" name="">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tracking one bead in a narrow tube</a:t>
            </a:r>
          </a:p>
        </p:txBody>
      </p:sp>
      <p:sp>
        <p:nvSpPr>
          <p:cNvPr id="2" name="">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5" name="">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6" name="">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7" name="">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4" name="">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5" name="">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23" name="">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24" name="">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r>
              <a:t/>
            </a:r>
          </a:p>
        </p:txBody>
      </p:sp>
      <p:sp>
        <p:nvSpPr>
          <p:cNvPr id="27" name="">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8" name="">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9" name="">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30" name="">
            <a:extLst xmlns:a="http://schemas.openxmlformats.org/drawingml/2006/main">
              <a:ext uri="{FF2B5EF4-FFF2-40B4-BE49-F238E27FC236}">
                <a16:creationId xmlns:a16="http://schemas.microsoft.com/office/drawing/2014/main" id="{8612F575-4277-4BBE-91AB-80A8143AAEB7}"/>
              </a:ext>
            </a:extLst>
          </p:cNvPr>
          <p:cNvSpPr>
            <a:spLocks xmlns:a="http://schemas.openxmlformats.org/drawingml/2006/main" noGrp="1"/>
          </p:cNvSpPr>
          <p:nvPr/>
        </p:nvSpPr>
        <p:spPr>
          <a:xfrm xmlns:a="http://schemas.openxmlformats.org/drawingml/2006/main">
            <a:off x="457200" y="5591175"/>
            <a:ext cx="5200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777777"/>
                </a:solidFill>
                <a:latin typeface="Times New Roman"/>
                <a:ea typeface="Times New Roman"/>
                <a:cs typeface="Times New Roman"/>
              </a:defRPr>
            </a:defPPr>
          </a:lstStyle>
          <a:p xmlns:a="http://schemas.openxmlformats.org/drawingml/2006/main">
            <a:pPr algn="l">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vary together across many runs.</a:t>
            </a:r>
          </a:p>
        </p:txBody>
      </p:sp>
      <p:sp>
        <p:nvSpPr>
          <p:cNvPr id="35" name="">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5"/>
            <a:ext cx="544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spacing can affect the connection</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
            <a:extLst xmlns:a="http://schemas.openxmlformats.org/drawingml/2006/main">
              <a:ext uri="{FF2B5EF4-FFF2-40B4-BE49-F238E27FC236}">
                <a16:creationId xmlns:a16="http://schemas.microsoft.com/office/drawing/2014/main" id="{09EE6FC6-A10B-42CB-8A2D-C1E5B125AE17}"/>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Only the extra guidance changes.</a:t>
            </a:r>
          </a:p>
        </p:txBody>
      </p:sp>
      <p:graphicFrame>
        <p:nvGraphicFramePr>
          <p:cNvPr id="3" name="">
            <a:extLst xmlns:a="http://schemas.openxmlformats.org/drawingml/2006/main">
              <a:ext uri="{FF2B5EF4-FFF2-40B4-BE49-F238E27FC236}">
                <a16:creationId xmlns:a16="http://schemas.microsoft.com/office/drawing/2014/main" id="{41E3DED7-A07D-48A9-9368-9A09641B51FD}"/>
              </a:ext>
            </a:extLst>
          </p:cNvPr>
          <p:cNvGraphicFramePr/>
          <p:nvPr/>
        </p:nvGraphicFramePr>
        <p:xfrm>
          <a:off xmlns:a="http://schemas.openxmlformats.org/drawingml/2006/main" x="457200" y="1571625"/>
          <a:ext xmlns:a="http://schemas.openxmlformats.org/drawingml/2006/main" cx="11277600" cy="2857500"/>
        </p:xfrm>
        <a:graphic xmlns:a="http://schemas.openxmlformats.org/drawingml/2006/main">
          <a:graphicData uri="http://schemas.openxmlformats.org/drawingml/2006/table">
            <a:tbl>
              <a:tblPr/>
              <a:tblGrid>
                <a:gridCol w="2247900"/>
                <a:gridCol w="9029700"/>
              </a:tblGrid>
              <a:tr h="714375">
                <a:tc>
                  <a:txBody>
                    <a:bodyPr wrap="square"/>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2025" b="1">
                          <a:solidFill>
                            <a:srgbClr val="FFFFFF"/>
                          </a:solidFill>
                          <a:latin typeface="Times New Roman"/>
                          <a:ea typeface="Times New Roman"/>
                          <a:cs typeface="Times New Roman"/>
                        </a:rPr>
                        <a:t>Instruction or added guidance</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wrap="square"/>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r h="714375">
                <a:tc>
                  <a:txBody>
                    <a:bodyPr wrap="square"/>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3F4F6"/>
                    </a:solidFill>
                  </a:tcPr>
                </a:tc>
                <a:tc>
                  <a:txBody>
                    <a:bodyPr wrap="square"/>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r>
              <a:tr h="714375">
                <a:tc>
                  <a:txBody>
                    <a:bodyPr wrap="square"/>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
            <a:extLst xmlns:a="http://schemas.openxmlformats.org/drawingml/2006/main">
              <a:ext uri="{FF2B5EF4-FFF2-40B4-BE49-F238E27FC236}">
                <a16:creationId xmlns:a16="http://schemas.microsoft.com/office/drawing/2014/main" id="{0052D048-AD03-400E-B7B2-F16D3D3D559D}"/>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EDFE61-F640-44E1-A39C-A8BF6BCC993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
            <a:extLst xmlns:a="http://schemas.openxmlformats.org/drawingml/2006/main">
              <a:ext uri="{FF2B5EF4-FFF2-40B4-BE49-F238E27FC236}">
                <a16:creationId xmlns:a16="http://schemas.microsoft.com/office/drawing/2014/main" id="{1EA837F5-49FF-4083-8C0E-E2809BEDA85C}"/>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repeats per setting. A pass requires all grading gates and timely completion.</a:t>
            </a:r>
          </a:p>
        </p:txBody>
      </p:sp>
      <p:graphicFrame>
        <p:nvGraphicFramePr>
          <p:cNvPr id="3" name="">
            <a:extLst xmlns:a="http://schemas.openxmlformats.org/drawingml/2006/main">
              <a:ext uri="{FF2B5EF4-FFF2-40B4-BE49-F238E27FC236}">
                <a16:creationId xmlns:a16="http://schemas.microsoft.com/office/drawing/2014/main" id="{640B4334-6065-46DC-9FF0-8A9DA9DC224C}"/>
              </a:ext>
            </a:extLst>
          </p:cNvPr>
          <p:cNvGraphicFramePr/>
          <p:nvPr/>
        </p:nvGraphicFramePr>
        <p:xfrm>
          <a:off xmlns:a="http://schemas.openxmlformats.org/drawingml/2006/main" x="457200" y="1562100"/>
          <a:ext xmlns:a="http://schemas.openxmlformats.org/drawingml/2006/main" cx="11277600" cy="2781300"/>
        </p:xfrm>
        <a:graphic xmlns:a="http://schemas.openxmlformats.org/drawingml/2006/main">
          <a:graphicData uri="http://schemas.openxmlformats.org/drawingml/2006/table">
            <a:tbl>
              <a:tblPr/>
              <a:tblGrid>
                <a:gridCol w="2124075"/>
                <a:gridCol w="6219825"/>
                <a:gridCol w="2933700"/>
              </a:tblGrid>
              <a:tr h="927100">
                <a:tc>
                  <a:txBody>
                    <a:bodyPr wrap="square"/>
                    <a:lstStyle/>
                    <a:p>
                      <a:r>
                        <a:rPr sz="1875" b="1">
                          <a:solidFill>
                            <a:srgbClr val="FFFFFF"/>
                          </a:solidFill>
                          <a:latin typeface="Times New Roman"/>
                          <a:ea typeface="Times New Roman"/>
                          <a:cs typeface="Times New Roman"/>
                        </a:rPr>
                        <a:t>Study</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875" b="1">
                          <a:solidFill>
                            <a:srgbClr val="FFFFFF"/>
                          </a:solidFill>
                          <a:latin typeface="Times New Roman"/>
                          <a:ea typeface="Times New Roman"/>
                          <a:cs typeface="Times New Roman"/>
                        </a:rPr>
                        <a:t>Models and reasoning settings</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875" b="1">
                          <a:solidFill>
                            <a:srgbClr val="FFFFFF"/>
                          </a:solidFill>
                          <a:latin typeface="Times New Roman"/>
                          <a:ea typeface="Times New Roman"/>
                          <a:cs typeface="Times New Roman"/>
                        </a:rPr>
                        <a:t>Planned observations</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927100">
                <a:tc>
                  <a:txBody>
                    <a:bodyPr wrap="square"/>
                    <a:lstStyle/>
                    <a:p>
                      <a:r>
                        <a:rPr sz="187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1875" b="0">
                          <a:solidFill>
                            <a:srgbClr val="111111"/>
                          </a:solidFill>
                          <a:latin typeface="Times New Roman"/>
                          <a:ea typeface="Times New Roman"/>
                          <a:cs typeface="Times New Roman"/>
                        </a:rPr>
                        <a:t>GPT-6 Luna / Sol / Astra; GPT-5.6 Terra</a:t>
                      </a:r>
                    </a:p>
                    <a:p>
                      <a:r>
                        <a:rPr sz="1875" b="0">
                          <a:solidFill>
                            <a:srgbClr val="111111"/>
                          </a:solidFill>
                          <a:latin typeface="Times New Roman"/>
                          <a:ea typeface="Times New Roman"/>
                          <a:cs typeface="Times New Roman"/>
                        </a:rPr>
                        <a:t>Low, High, Extra High</a:t>
                      </a:r>
                    </a:p>
                    <a:p>
                      <a:r>
                        <a:rPr sz="1875" b="0">
                          <a:solidFill>
                            <a:srgbClr val="111111"/>
                          </a:solidFill>
                          <a:latin typeface="Times New Roman"/>
                          <a:ea typeface="Times New Roman"/>
                          <a:cs typeface="Times New Roman"/>
                        </a:rPr>
                        <a:t>DeepSeek V4.1 Flash: Low, High, Max</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c>
                  <a:txBody>
                    <a:bodyPr wrap="square"/>
                    <a:lstStyle/>
                    <a:p>
                      <a:r>
                        <a:rPr sz="1875" b="0">
                          <a:solidFill>
                            <a:srgbClr val="111111"/>
                          </a:solidFill>
                          <a:latin typeface="Times New Roman"/>
                          <a:ea typeface="Times New Roman"/>
                          <a:cs typeface="Times New Roman"/>
                        </a:rPr>
                        <a:t>15 settings × 39 = 585</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r h="927100">
                <a:tc>
                  <a:txBody>
                    <a:bodyPr wrap="square"/>
                    <a:lstStyle/>
                    <a:p>
                      <a:r>
                        <a:rPr sz="1875" b="0">
                          <a:solidFill>
                            <a:srgbClr val="111111"/>
                          </a:solidFill>
                          <a:latin typeface="Times New Roman"/>
                          <a:ea typeface="Times New Roman"/>
                          <a:cs typeface="Times New Roman"/>
                        </a:rPr>
                        <a:t>Hint comparison</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3F4F6"/>
                    </a:solidFill>
                  </a:tcPr>
                </a:tc>
                <a:tc>
                  <a:txBody>
                    <a:bodyPr wrap="square"/>
                    <a:lstStyle/>
                    <a:p>
                      <a:r>
                        <a:rPr sz="1875" b="0">
                          <a:solidFill>
                            <a:srgbClr val="111111"/>
                          </a:solidFill>
                          <a:latin typeface="Times New Roman"/>
                          <a:ea typeface="Times New Roman"/>
                          <a:cs typeface="Times New Roman"/>
                        </a:rPr>
                        <a:t>GPT-5.6 Luna / Terra; DeepSeek V4.1 Flash</a:t>
                      </a:r>
                    </a:p>
                    <a:p>
                      <a:r>
                        <a:rPr sz="1875" b="0">
                          <a:solidFill>
                            <a:srgbClr val="111111"/>
                          </a:solidFill>
                          <a:latin typeface="Times New Roman"/>
                          <a:ea typeface="Times New Roman"/>
                          <a:cs typeface="Times New Roman"/>
                        </a:rPr>
                        <a:t>High only, with 3 prompt conditions</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c>
                  <a:txBody>
                    <a:bodyPr wrap="square"/>
                    <a:lstStyle/>
                    <a:p>
                      <a:r>
                        <a:rPr sz="1875" b="0">
                          <a:solidFill>
                            <a:srgbClr val="111111"/>
                          </a:solidFill>
                          <a:latin typeface="Times New Roman"/>
                          <a:ea typeface="Times New Roman"/>
                          <a:cs typeface="Times New Roman"/>
                        </a:rPr>
                        <a:t>9 settings × 39 = 351</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r>
            </a:tbl>
          </a:graphicData>
        </a:graphic>
      </p:graphicFrame>
      <p:sp>
        <p:nvSpPr>
          <p:cNvPr id="4" name="">
            <a:extLst xmlns:a="http://schemas.openxmlformats.org/drawingml/2006/main">
              <a:ext uri="{FF2B5EF4-FFF2-40B4-BE49-F238E27FC236}">
                <a16:creationId xmlns:a16="http://schemas.microsoft.com/office/drawing/2014/main" id="{60523C90-4975-4A2D-A3C0-77A2CACDD7F8}"/>
              </a:ext>
            </a:extLst>
          </p:cNvPr>
          <p:cNvSpPr>
            <a:spLocks xmlns:a="http://schemas.openxmlformats.org/drawingml/2006/main" noGrp="1"/>
          </p:cNvSpPr>
          <p:nvPr/>
        </p:nvSpPr>
        <p:spPr>
          <a:xfrm xmlns:a="http://schemas.openxmlformats.org/drawingml/2006/main">
            <a:off x="457200" y="46482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Same task files and grading across prompt conditions</a:t>
            </a:r>
          </a:p>
        </p:txBody>
      </p:sp>
      <p:sp>
        <p:nvSpPr>
          <p:cNvPr id="5" name="">
            <a:extLst xmlns:a="http://schemas.openxmlformats.org/drawingml/2006/main">
              <a:ext uri="{FF2B5EF4-FFF2-40B4-BE49-F238E27FC236}">
                <a16:creationId xmlns:a16="http://schemas.microsoft.com/office/drawing/2014/main" id="{DF89E35C-FE1B-4E68-A3B7-F4BF6C3BDEBB}"/>
              </a:ext>
            </a:extLst>
          </p:cNvPr>
          <p:cNvSpPr>
            <a:spLocks xmlns:a="http://schemas.openxmlformats.org/drawingml/2006/main" noGrp="1"/>
          </p:cNvSpPr>
          <p:nvPr/>
        </p:nvSpPr>
        <p:spPr>
          <a:xfrm xmlns:a="http://schemas.openxmlformats.org/drawingml/2006/main">
            <a:off x="457200" y="51530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Harbor 0.21.0 + Codex agent   /   600 s agent   /   60 s verifier</a:t>
            </a:r>
          </a:p>
        </p:txBody>
      </p:sp>
      <p:sp>
        <p:nvSpPr>
          <p:cNvPr id="6" name="">
            <a:extLst xmlns:a="http://schemas.openxmlformats.org/drawingml/2006/main">
              <a:ext uri="{FF2B5EF4-FFF2-40B4-BE49-F238E27FC236}">
                <a16:creationId xmlns:a16="http://schemas.microsoft.com/office/drawing/2014/main" id="{CF7CE253-0BE1-438E-BE35-658EB1979A32}"/>
              </a:ext>
            </a:extLst>
          </p:cNvPr>
          <p:cNvSpPr>
            <a:spLocks xmlns:a="http://schemas.openxmlformats.org/drawingml/2006/main" noGrp="1"/>
          </p:cNvSpPr>
          <p:nvPr/>
        </p:nvSpPr>
        <p:spPr>
          <a:xfrm xmlns:a="http://schemas.openxmlformats.org/drawingml/2006/main">
            <a:off x="457200" y="5619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444444"/>
                </a:solidFill>
                <a:latin typeface="Times New Roman"/>
                <a:ea typeface="Times New Roman"/>
                <a:cs typeface="Times New Roman"/>
              </a:defRPr>
            </a:defPPr>
          </a:lstStyle>
          <a:p xmlns:a="http://schemas.openxmlformats.org/drawingml/2006/main">
            <a:pPr algn="l">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Cost axis: estimated API cost per attempt. Execution errors count as non-passes.</a:t>
            </a:r>
          </a:p>
        </p:txBody>
      </p:sp>
      <p:sp>
        <p:nvSpPr>
          <p:cNvPr id="7" name="">
            <a:extLst xmlns:a="http://schemas.openxmlformats.org/drawingml/2006/main">
              <a:ext uri="{FF2B5EF4-FFF2-40B4-BE49-F238E27FC236}">
                <a16:creationId xmlns:a16="http://schemas.microsoft.com/office/drawing/2014/main" id="{1C95A617-5DE4-4C84-8066-2B498553D96A}"/>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38 Luna hint-study baselines are historical: client 0.154.0 / concurrency 4 versus local 0.160.0 / 3. Hint differences are descriptive.</a:t>
            </a:r>
          </a:p>
        </p:txBody>
      </p:sp>
      <p:sp>
        <p:nvSpPr>
          <p:cNvPr id="10" name="">
            <a:extLst xmlns:a="http://schemas.openxmlformats.org/drawingml/2006/main">
              <a:ext uri="{FF2B5EF4-FFF2-40B4-BE49-F238E27FC236}">
                <a16:creationId xmlns:a16="http://schemas.microsoft.com/office/drawing/2014/main" id="{C6314FE6-BC15-4559-88D7-E17B06D35DD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No-hint Pareto frontier</a:t>
            </a:r>
          </a:p>
        </p:txBody>
      </p:sp>
      <p:sp>
        <p:nvSpPr>
          <p:cNvPr id="2" name="">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Upper left is better: more passes at lower cost. Each point contains 39 attempts.</a:t>
            </a:r>
          </a:p>
        </p:txBody>
      </p:sp>
      <p:graphicFrame>
        <p:nvGraphicFramePr>
          <p:cNvPr id="4" name="Chart">
            <a:extLst xmlns:a="http://schemas.openxmlformats.org/drawingml/2006/main">
              <a:ext uri="{FF2B5EF4-FFF2-40B4-BE49-F238E27FC236}">
                <a16:creationId xmlns:a16="http://schemas.microsoft.com/office/drawing/2014/main" id="{2A783179-C87E-4AD6-A633-70952E9BD74C}"/>
              </a:ext>
            </a:extLst>
          </p:cNvPr>
          <p:cNvGraphicFramePr/>
          <p:nvPr/>
        </p:nvGraphicFramePr>
        <p:xfrm>
          <a:off xmlns:a="http://schemas.openxmlformats.org/drawingml/2006/main" x="457200" y="1581150"/>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0eacf5c42e774ed3"/>
          </a:graphicData>
        </a:graphic>
      </p:graphicFrame>
      <p:sp>
        <p:nvSpPr>
          <p:cNvPr id="5" name="">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248650" y="160020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
            <a:extLst xmlns:a="http://schemas.openxmlformats.org/drawingml/2006/main">
              <a:ext uri="{FF2B5EF4-FFF2-40B4-BE49-F238E27FC236}">
                <a16:creationId xmlns:a16="http://schemas.microsoft.com/office/drawing/2014/main" id="{5738C8B7-DDB4-43F0-9861-10EBD10DE949}"/>
              </a:ext>
            </a:extLst>
          </p:cNvPr>
          <p:cNvGraphicFramePr/>
          <p:nvPr/>
        </p:nvGraphicFramePr>
        <p:xfrm>
          <a:off xmlns:a="http://schemas.openxmlformats.org/drawingml/2006/main" x="8191500" y="2085975"/>
          <a:ext xmlns:a="http://schemas.openxmlformats.org/drawingml/2006/main" cx="3543300" cy="2257425"/>
        </p:xfrm>
        <a:graphic xmlns:a="http://schemas.openxmlformats.org/drawingml/2006/main">
          <a:graphicData uri="http://schemas.openxmlformats.org/drawingml/2006/table">
            <a:tbl>
              <a:tblPr/>
              <a:tblGrid>
                <a:gridCol w="1859743"/>
                <a:gridCol w="812414"/>
                <a:gridCol w="871143"/>
              </a:tblGrid>
              <a:tr h="451485">
                <a:tc>
                  <a:txBody>
                    <a:bodyPr lIns="0" tIns="0" rIns="0" bIns="0"/>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Pass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USD</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451485">
                <a:tc>
                  <a:txBody>
                    <a:bodyPr lIns="0" tIns="0" rIns="0" bIns="0"/>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4/39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.0040</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12/39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.0126</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451485">
                <a:tc>
                  <a:txBody>
                    <a:bodyPr lIns="0" tIns="0" rIns="0" bIns="0"/>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37/39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.0773</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39/39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.1975</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7" name="">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286750" y="46005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1D4E89"/>
                </a:solidFill>
                <a:latin typeface="Times New Roman"/>
                <a:ea typeface="Times New Roman"/>
                <a:cs typeface="Times New Roman"/>
              </a:defRPr>
            </a:defPPr>
          </a:lstStyle>
          <a:p xmlns:a="http://schemas.openxmlformats.org/drawingml/2006/main">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286750" y="48291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0F766E"/>
                </a:solidFill>
                <a:latin typeface="Times New Roman"/>
                <a:ea typeface="Times New Roman"/>
                <a:cs typeface="Times New Roman"/>
              </a:defRPr>
            </a:defPPr>
          </a:lstStyle>
          <a:p xmlns:a="http://schemas.openxmlformats.org/drawingml/2006/main">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286750" y="50577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B45309"/>
                </a:solidFill>
                <a:latin typeface="Times New Roman"/>
                <a:ea typeface="Times New Roman"/>
                <a:cs typeface="Times New Roman"/>
              </a:defRPr>
            </a:defPPr>
          </a:lstStyle>
          <a:p xmlns:a="http://schemas.openxmlformats.org/drawingml/2006/main">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286750" y="52863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5B4B7C"/>
                </a:solidFill>
                <a:latin typeface="Times New Roman"/>
                <a:ea typeface="Times New Roman"/>
                <a:cs typeface="Times New Roman"/>
              </a:defRPr>
            </a:defPPr>
          </a:lstStyle>
          <a:p xmlns:a="http://schemas.openxmlformats.org/drawingml/2006/main">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286750" y="55149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A50026"/>
                </a:solidFill>
                <a:latin typeface="Times New Roman"/>
                <a:ea typeface="Times New Roman"/>
                <a:cs typeface="Times New Roman"/>
              </a:defRPr>
            </a:defPPr>
          </a:lstStyle>
          <a:p xmlns:a="http://schemas.openxmlformats.org/drawingml/2006/main">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
        <p:nvSpPr>
          <p:cNvPr id="14" name="">
            <a:extLst xmlns:a="http://schemas.openxmlformats.org/drawingml/2006/main">
              <a:ext uri="{FF2B5EF4-FFF2-40B4-BE49-F238E27FC236}">
                <a16:creationId xmlns:a16="http://schemas.microsoft.com/office/drawing/2014/main" id="{AF35203A-9693-426E-B845-7C1682EB74D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65D60F-3D9A-473F-B43E-56E192AFB8D6}"/>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Pareto frontiers with hints</a:t>
            </a:r>
          </a:p>
        </p:txBody>
      </p:sp>
      <p:sp>
        <p:nvSpPr>
          <p:cNvPr id="2" name="">
            <a:extLst xmlns:a="http://schemas.openxmlformats.org/drawingml/2006/main">
              <a:ext uri="{FF2B5EF4-FFF2-40B4-BE49-F238E27FC236}">
                <a16:creationId xmlns:a16="http://schemas.microsoft.com/office/drawing/2014/main" id="{BB2A8970-A62A-4BAA-A955-AC4DE743245E}"/>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No hint, general hint, and physics hint, with reasoning effort fixed at High.</a:t>
            </a:r>
          </a:p>
        </p:txBody>
      </p:sp>
      <p:sp>
        <p:nvSpPr>
          <p:cNvPr id="3" name="">
            <a:extLst xmlns:a="http://schemas.openxmlformats.org/drawingml/2006/main">
              <a:ext uri="{FF2B5EF4-FFF2-40B4-BE49-F238E27FC236}">
                <a16:creationId xmlns:a16="http://schemas.microsoft.com/office/drawing/2014/main" id="{882DF7A5-80DD-4EB6-90D7-50DCDB13DA99}"/>
              </a:ext>
            </a:extLst>
          </p:cNvPr>
          <p:cNvSpPr>
            <a:spLocks xmlns:a="http://schemas.openxmlformats.org/drawingml/2006/main" noGrp="1"/>
          </p:cNvSpPr>
          <p:nvPr/>
        </p:nvSpPr>
        <p:spPr>
          <a:xfrm xmlns:a="http://schemas.openxmlformats.org/drawingml/2006/main">
            <a:off x="457200" y="178117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444444"/>
                </a:solidFill>
                <a:latin typeface="Times New Roman"/>
                <a:ea typeface="Times New Roman"/>
                <a:cs typeface="Times New Roman"/>
              </a:defRPr>
            </a:defPPr>
          </a:lstStyle>
          <a:p xmlns:a="http://schemas.openxmlformats.org/drawingml/2006/main">
            <a:pPr algn="l">
              <a:buNone/>
              <a:defRPr sz="2850" b="1">
                <a:solidFill>
                  <a:srgbClr val="444444"/>
                </a:solidFill>
                <a:latin typeface="Times New Roman"/>
                <a:ea typeface="Times New Roman"/>
                <a:cs typeface="Times New Roman"/>
              </a:defRPr>
            </a:pPr>
            <a:r>
              <a:rPr sz="2850" b="1">
                <a:solidFill>
                  <a:srgbClr val="444444"/>
                </a:solidFill>
                <a:latin typeface="Times New Roman"/>
                <a:ea typeface="Times New Roman"/>
                <a:cs typeface="Times New Roman"/>
              </a:rPr>
              <a:t>Pending completion</a:t>
            </a:r>
          </a:p>
        </p:txBody>
      </p:sp>
      <p:sp>
        <p:nvSpPr>
          <p:cNvPr id="4" name="">
            <a:extLst xmlns:a="http://schemas.openxmlformats.org/drawingml/2006/main">
              <a:ext uri="{FF2B5EF4-FFF2-40B4-BE49-F238E27FC236}">
                <a16:creationId xmlns:a16="http://schemas.microsoft.com/office/drawing/2014/main" id="{1B72F584-5536-4531-A6BC-85D41953B791}"/>
              </a:ext>
            </a:extLst>
          </p:cNvPr>
          <p:cNvSpPr>
            <a:spLocks xmlns:a="http://schemas.openxmlformats.org/drawingml/2006/main" noGrp="1"/>
          </p:cNvSpPr>
          <p:nvPr/>
        </p:nvSpPr>
        <p:spPr>
          <a:xfrm xmlns:a="http://schemas.openxmlformats.org/drawingml/2006/main">
            <a:off x="457200" y="27241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Reserved for the completed 3-condition cost–success comparison</a:t>
            </a:r>
          </a:p>
        </p:txBody>
      </p:sp>
      <p:sp>
        <p:nvSpPr>
          <p:cNvPr id="5" name="">
            <a:extLst xmlns:a="http://schemas.openxmlformats.org/drawingml/2006/main">
              <a:ext uri="{FF2B5EF4-FFF2-40B4-BE49-F238E27FC236}">
                <a16:creationId xmlns:a16="http://schemas.microsoft.com/office/drawing/2014/main" id="{7A6FC086-13E3-44A8-8727-98CDE35D2D27}"/>
              </a:ext>
            </a:extLst>
          </p:cNvPr>
          <p:cNvSpPr>
            <a:spLocks xmlns:a="http://schemas.openxmlformats.org/drawingml/2006/main" noGrp="1"/>
          </p:cNvSpPr>
          <p:nvPr/>
        </p:nvSpPr>
        <p:spPr>
          <a:xfrm xmlns:a="http://schemas.openxmlformats.org/drawingml/2006/main">
            <a:off x="457200" y="34385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444444"/>
                </a:solidFill>
                <a:latin typeface="Times New Roman"/>
                <a:ea typeface="Times New Roman"/>
                <a:cs typeface="Times New Roman"/>
              </a:defRPr>
            </a:defPPr>
          </a:lstStyle>
          <a:p xmlns:a="http://schemas.openxmlformats.org/drawingml/2006/main">
            <a:pPr algn="l">
              <a:buNone/>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GPT-5.6 Luna, GPT-5.6 Terra, DeepSeek V4.1 Flash</a:t>
            </a:r>
          </a:p>
        </p:txBody>
      </p:sp>
      <p:sp>
        <p:nvSpPr>
          <p:cNvPr id="6" name="">
            <a:extLst xmlns:a="http://schemas.openxmlformats.org/drawingml/2006/main">
              <a:ext uri="{FF2B5EF4-FFF2-40B4-BE49-F238E27FC236}">
                <a16:creationId xmlns:a16="http://schemas.microsoft.com/office/drawing/2014/main" id="{11C8BC45-6F3D-40F6-B47C-B66176413D4C}"/>
              </a:ext>
            </a:extLst>
          </p:cNvPr>
          <p:cNvSpPr>
            <a:spLocks xmlns:a="http://schemas.openxmlformats.org/drawingml/2006/main" noGrp="1"/>
          </p:cNvSpPr>
          <p:nvPr/>
        </p:nvSpPr>
        <p:spPr>
          <a:xfrm xmlns:a="http://schemas.openxmlformats.org/drawingml/2006/main">
            <a:off x="457200" y="40386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444444"/>
                </a:solidFill>
                <a:latin typeface="Times New Roman"/>
                <a:ea typeface="Times New Roman"/>
                <a:cs typeface="Times New Roman"/>
              </a:defRPr>
            </a:defPPr>
          </a:lstStyle>
          <a:p xmlns:a="http://schemas.openxmlformats.org/drawingml/2006/main">
            <a:pPr algn="l">
              <a:buNone/>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39 observations per model and prompt condition</a:t>
            </a:r>
          </a:p>
        </p:txBody>
      </p:sp>
      <p:sp>
        <p:nvSpPr>
          <p:cNvPr id="7" name="">
            <a:extLst xmlns:a="http://schemas.openxmlformats.org/drawingml/2006/main">
              <a:ext uri="{FF2B5EF4-FFF2-40B4-BE49-F238E27FC236}">
                <a16:creationId xmlns:a16="http://schemas.microsoft.com/office/drawing/2014/main" id="{1E20C6EE-0907-4B72-A1FB-E1DC4A1AB8A8}"/>
              </a:ext>
            </a:extLst>
          </p:cNvPr>
          <p:cNvSpPr>
            <a:spLocks xmlns:a="http://schemas.openxmlformats.org/drawingml/2006/main" noGrp="1"/>
          </p:cNvSpPr>
          <p:nvPr/>
        </p:nvSpPr>
        <p:spPr>
          <a:xfrm xmlns:a="http://schemas.openxmlformats.org/drawingml/2006/main">
            <a:off x="457200" y="507682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D4E89"/>
                </a:solidFill>
                <a:latin typeface="Times New Roman"/>
                <a:ea typeface="Times New Roman"/>
                <a:cs typeface="Times New Roman"/>
              </a:defRPr>
            </a:defPPr>
          </a:lstStyle>
          <a:p xmlns:a="http://schemas.openxmlformats.org/drawingml/2006/main">
            <a:pPr algn="l">
              <a:buNone/>
              <a:defRPr sz="2025" b="0">
                <a:solidFill>
                  <a:srgbClr val="1D4E89"/>
                </a:solidFill>
                <a:latin typeface="Times New Roman"/>
                <a:ea typeface="Times New Roman"/>
                <a:cs typeface="Times New Roman"/>
              </a:defRPr>
            </a:pPr>
            <a:r>
              <a:rPr sz="2025" b="0">
                <a:solidFill>
                  <a:srgbClr val="1D4E89"/>
                </a:solidFill>
                <a:latin typeface="Times New Roman"/>
                <a:ea typeface="Times New Roman"/>
                <a:cs typeface="Times New Roman"/>
              </a:rPr>
              <a:t>The final plot will compare these conditions within this cohort.</a:t>
            </a:r>
          </a:p>
        </p:txBody>
      </p:sp>
      <p:sp>
        <p:nvSpPr>
          <p:cNvPr id="8" name="">
            <a:extLst xmlns:a="http://schemas.openxmlformats.org/drawingml/2006/main">
              <a:ext uri="{FF2B5EF4-FFF2-40B4-BE49-F238E27FC236}">
                <a16:creationId xmlns:a16="http://schemas.microsoft.com/office/drawing/2014/main" id="{9E6160E5-E91E-4322-B158-E88404567319}"/>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Results stay blank until all 351 observations and cost records are audited. Historical Luna controls limit causal interpretation.</a:t>
            </a:r>
          </a:p>
        </p:txBody>
      </p:sp>
      <p:sp>
        <p:nvSpPr>
          <p:cNvPr id="11" name="">
            <a:extLst xmlns:a="http://schemas.openxmlformats.org/drawingml/2006/main">
              <a:ext uri="{FF2B5EF4-FFF2-40B4-BE49-F238E27FC236}">
                <a16:creationId xmlns:a16="http://schemas.microsoft.com/office/drawing/2014/main" id="{A89DB174-5723-4BC6-B6E4-3168941A4785}"/>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Fixed model, different reasoning effort</a:t>
            </a:r>
          </a:p>
        </p:txBody>
      </p:sp>
      <p:sp>
        <p:nvSpPr>
          <p:cNvPr id="2" name="">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xmlns:a="http://schemas.openxmlformats.org/drawingml/2006/main">
              <a:ext uri="{FF2B5EF4-FFF2-40B4-BE49-F238E27FC236}">
                <a16:creationId xmlns:a16="http://schemas.microsoft.com/office/drawing/2014/main" id="{EA7643BE-C48E-4ACE-B8AA-2BC006191A9D}"/>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dc7f73dfa2dc43d0"/>
          </a:graphicData>
        </a:graphic>
      </p:graphicFrame>
      <p:sp>
        <p:nvSpPr>
          <p:cNvPr id="5" name="">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
            <a:extLst xmlns:a="http://schemas.openxmlformats.org/drawingml/2006/main">
              <a:ext uri="{FF2B5EF4-FFF2-40B4-BE49-F238E27FC236}">
                <a16:creationId xmlns:a16="http://schemas.microsoft.com/office/drawing/2014/main" id="{AC0F4F45-8F61-4F0B-B49A-D041E976FA4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xmlns:a="http://schemas.openxmlformats.org/drawingml/2006/main">
              <a:ext uri="{FF2B5EF4-FFF2-40B4-BE49-F238E27FC236}">
                <a16:creationId xmlns:a16="http://schemas.microsoft.com/office/drawing/2014/main" id="{368780D7-E000-4410-9013-D16BF0095E2B}"/>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b80ba62669994734"/>
          </a:graphicData>
        </a:graphic>
      </p:graphicFrame>
      <p:sp>
        <p:nvSpPr>
          <p:cNvPr id="5" name="">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
            <a:extLst xmlns:a="http://schemas.openxmlformats.org/drawingml/2006/main">
              <a:ext uri="{FF2B5EF4-FFF2-40B4-BE49-F238E27FC236}">
                <a16:creationId xmlns:a16="http://schemas.microsoft.com/office/drawing/2014/main" id="{3979B510-2B14-4E4E-9F9A-06C4CBB6140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559CAC8-1DD6-45C9-8332-2AF91D612F26}"/>
              </a:ext>
            </a:extLst>
          </p:cNvPr>
          <p:cNvCxnSpPr>
            <a:stCxn xmlns:a="http://schemas.openxmlformats.org/drawingml/2006/main" id="9" idx="3"/>
            <a:endCxn xmlns:a="http://schemas.openxmlformats.org/drawingml/2006/main" id="12" idx="1"/>
          </p:cNvCxnSpPr>
          <p:nvPr/>
        </p:nvCxnSpPr>
        <p:spPr>
          <a:xfrm xmlns:a="http://schemas.openxmlformats.org/drawingml/2006/main">
            <a:off x="8782050" y="2090738"/>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7AF1FBE2-8CA5-4B77-B360-D210A273EE25}"/>
              </a:ext>
            </a:extLst>
          </p:cNvPr>
          <p:cNvCxnSpPr>
            <a:stCxn xmlns:a="http://schemas.openxmlformats.org/drawingml/2006/main" id="6" idx="3"/>
            <a:endCxn xmlns:a="http://schemas.openxmlformats.org/drawingml/2006/main" id="9" idx="1"/>
          </p:cNvCxnSpPr>
          <p:nvPr/>
        </p:nvCxnSpPr>
        <p:spPr>
          <a:xfrm xmlns:a="http://schemas.openxmlformats.org/drawingml/2006/main">
            <a:off x="5829300" y="2090738"/>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D49A4558-DEE2-45CD-875B-3F048B836D5D}"/>
              </a:ext>
            </a:extLst>
          </p:cNvPr>
          <p:cNvCxnSpPr>
            <a:stCxn xmlns:a="http://schemas.openxmlformats.org/drawingml/2006/main" id="3" idx="3"/>
            <a:endCxn xmlns:a="http://schemas.openxmlformats.org/drawingml/2006/main" id="6" idx="1"/>
          </p:cNvCxnSpPr>
          <p:nvPr/>
        </p:nvCxnSpPr>
        <p:spPr>
          <a:xfrm xmlns:a="http://schemas.openxmlformats.org/drawingml/2006/main">
            <a:off x="2876550" y="2090738"/>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sp>
        <p:nvSpPr>
          <p:cNvPr id="30" name="">
            <a:extLst xmlns:a="http://schemas.openxmlformats.org/drawingml/2006/main">
              <a:ext uri="{FF2B5EF4-FFF2-40B4-BE49-F238E27FC236}">
                <a16:creationId xmlns:a16="http://schemas.microsoft.com/office/drawing/2014/main" id="{65056296-8846-4C1A-AFA5-F657B75B4E53}"/>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
            <a:extLst xmlns:a="http://schemas.openxmlformats.org/drawingml/2006/main">
              <a:ext uri="{FF2B5EF4-FFF2-40B4-BE49-F238E27FC236}">
                <a16:creationId xmlns:a16="http://schemas.microsoft.com/office/drawing/2014/main" id="{2FF30A31-04E6-4CD0-97B2-40E37F8BF380}"/>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 The saved run finished in about 80 seconds.</a:t>
            </a:r>
          </a:p>
        </p:txBody>
      </p:sp>
      <p:sp>
        <p:nvSpPr>
          <p:cNvPr id="3" name="">
            <a:extLst xmlns:a="http://schemas.openxmlformats.org/drawingml/2006/main">
              <a:ext uri="{FF2B5EF4-FFF2-40B4-BE49-F238E27FC236}">
                <a16:creationId xmlns:a16="http://schemas.microsoft.com/office/drawing/2014/main" id="{361ECB19-5BDD-471D-8415-E34D7EA1BA06}"/>
              </a:ext>
            </a:extLst>
          </p:cNvPr>
          <p:cNvSpPr>
            <a:spLocks xmlns:a="http://schemas.openxmlformats.org/drawingml/2006/main" noGrp="1"/>
          </p:cNvSpPr>
          <p:nvPr/>
        </p:nvSpPr>
        <p:spPr>
          <a:xfrm xmlns:a="http://schemas.openxmlformats.org/drawingml/2006/main">
            <a:off x="457200" y="1571625"/>
            <a:ext cx="2419350" cy="103822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4" name="">
            <a:extLst xmlns:a="http://schemas.openxmlformats.org/drawingml/2006/main">
              <a:ext uri="{FF2B5EF4-FFF2-40B4-BE49-F238E27FC236}">
                <a16:creationId xmlns:a16="http://schemas.microsoft.com/office/drawing/2014/main" id="{1F1D8BC1-FA4E-404D-9BB8-C403A73ADA3F}"/>
              </a:ext>
            </a:extLst>
          </p:cNvPr>
          <p:cNvSpPr>
            <a:spLocks xmlns:a="http://schemas.openxmlformats.org/drawingml/2006/main" noGrp="1"/>
          </p:cNvSpPr>
          <p:nvPr/>
        </p:nvSpPr>
        <p:spPr>
          <a:xfrm xmlns:a="http://schemas.openxmlformats.org/drawingml/2006/main">
            <a:off x="571500" y="17145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Reads the setup</a:t>
            </a:r>
          </a:p>
        </p:txBody>
      </p:sp>
      <p:sp>
        <p:nvSpPr>
          <p:cNvPr id="5" name="">
            <a:extLst xmlns:a="http://schemas.openxmlformats.org/drawingml/2006/main">
              <a:ext uri="{FF2B5EF4-FFF2-40B4-BE49-F238E27FC236}">
                <a16:creationId xmlns:a16="http://schemas.microsoft.com/office/drawing/2014/main" id="{D1E99C30-8A71-4F43-A351-17C214829A73}"/>
              </a:ext>
            </a:extLst>
          </p:cNvPr>
          <p:cNvSpPr>
            <a:spLocks xmlns:a="http://schemas.openxmlformats.org/drawingml/2006/main" noGrp="1"/>
          </p:cNvSpPr>
          <p:nvPr/>
        </p:nvSpPr>
        <p:spPr>
          <a:xfrm xmlns:a="http://schemas.openxmlformats.org/drawingml/2006/main">
            <a:off x="571500" y="215265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Same initial spacing</a:t>
            </a:r>
          </a:p>
        </p:txBody>
      </p:sp>
      <p:sp>
        <p:nvSpPr>
          <p:cNvPr id="6" name="">
            <a:extLst xmlns:a="http://schemas.openxmlformats.org/drawingml/2006/main">
              <a:ext uri="{FF2B5EF4-FFF2-40B4-BE49-F238E27FC236}">
                <a16:creationId xmlns:a16="http://schemas.microsoft.com/office/drawing/2014/main" id="{374C8240-5883-49E0-A5A5-7177653E8A88}"/>
              </a:ext>
            </a:extLst>
          </p:cNvPr>
          <p:cNvSpPr>
            <a:spLocks xmlns:a="http://schemas.openxmlformats.org/drawingml/2006/main" noGrp="1"/>
          </p:cNvSpPr>
          <p:nvPr/>
        </p:nvSpPr>
        <p:spPr>
          <a:xfrm xmlns:a="http://schemas.openxmlformats.org/drawingml/2006/main">
            <a:off x="3409950" y="1571625"/>
            <a:ext cx="2419350" cy="1038225"/>
          </a:xfrm>
          <a:prstGeom xmlns:a="http://schemas.openxmlformats.org/drawingml/2006/main" prst="rect">
            <a:avLst/>
          </a:prstGeom>
          <a:solidFill xmlns:a="http://schemas.openxmlformats.org/drawingml/2006/main">
            <a:srgbClr val="F9E7EB"/>
          </a:solidFill>
          <a:ln xmlns:a="http://schemas.openxmlformats.org/drawingml/2006/main" w="13335">
            <a:solidFill>
              <a:srgbClr val="A50026"/>
            </a:solidFill>
            <a:prstDash val="solid"/>
          </a:ln>
        </p:spPr>
      </p:sp>
      <p:sp>
        <p:nvSpPr>
          <p:cNvPr id="7" name="">
            <a:extLst xmlns:a="http://schemas.openxmlformats.org/drawingml/2006/main">
              <a:ext uri="{FF2B5EF4-FFF2-40B4-BE49-F238E27FC236}">
                <a16:creationId xmlns:a16="http://schemas.microsoft.com/office/drawing/2014/main" id="{C8AB65A8-520E-464E-A289-932B100EA455}"/>
              </a:ext>
            </a:extLst>
          </p:cNvPr>
          <p:cNvSpPr>
            <a:spLocks xmlns:a="http://schemas.openxmlformats.org/drawingml/2006/main" noGrp="1"/>
          </p:cNvSpPr>
          <p:nvPr/>
        </p:nvSpPr>
        <p:spPr>
          <a:xfrm xmlns:a="http://schemas.openxmlformats.org/drawingml/2006/main">
            <a:off x="3524250" y="17145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A50026"/>
                </a:solidFill>
                <a:latin typeface="Times New Roman"/>
                <a:ea typeface="Times New Roman"/>
                <a:cs typeface="Times New Roman"/>
              </a:defRPr>
            </a:defPPr>
          </a:lstStyle>
          <a:p xmlns:a="http://schemas.openxmlformats.org/drawingml/2006/main">
            <a:pPr algn="l">
              <a:defRPr sz="1875" b="1">
                <a:solidFill>
                  <a:srgbClr val="A50026"/>
                </a:solidFill>
                <a:latin typeface="Times New Roman"/>
                <a:ea typeface="Times New Roman"/>
                <a:cs typeface="Times New Roman"/>
              </a:defRPr>
            </a:pPr>
            <a:r>
              <a:rPr sz="1875" b="1">
                <a:solidFill>
                  <a:srgbClr val="A50026"/>
                </a:solidFill>
                <a:latin typeface="Times New Roman"/>
                <a:ea typeface="Times New Roman"/>
                <a:cs typeface="Times New Roman"/>
              </a:rPr>
              <a:t>Trusts the starter</a:t>
            </a:r>
          </a:p>
        </p:txBody>
      </p:sp>
      <p:sp>
        <p:nvSpPr>
          <p:cNvPr id="8" name="">
            <a:extLst xmlns:a="http://schemas.openxmlformats.org/drawingml/2006/main">
              <a:ext uri="{FF2B5EF4-FFF2-40B4-BE49-F238E27FC236}">
                <a16:creationId xmlns:a16="http://schemas.microsoft.com/office/drawing/2014/main" id="{765A62D1-F582-437B-BBAA-CC226692B91B}"/>
              </a:ext>
            </a:extLst>
          </p:cNvPr>
          <p:cNvSpPr>
            <a:spLocks xmlns:a="http://schemas.openxmlformats.org/drawingml/2006/main" noGrp="1"/>
          </p:cNvSpPr>
          <p:nvPr/>
        </p:nvSpPr>
        <p:spPr>
          <a:xfrm xmlns:a="http://schemas.openxmlformats.org/drawingml/2006/main">
            <a:off x="3524250" y="215265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Keeps the formula</a:t>
            </a:r>
          </a:p>
        </p:txBody>
      </p:sp>
      <p:sp>
        <p:nvSpPr>
          <p:cNvPr id="9" name="">
            <a:extLst xmlns:a="http://schemas.openxmlformats.org/drawingml/2006/main">
              <a:ext uri="{FF2B5EF4-FFF2-40B4-BE49-F238E27FC236}">
                <a16:creationId xmlns:a16="http://schemas.microsoft.com/office/drawing/2014/main" id="{998476F5-1C91-41FF-942B-772CC8B781AC}"/>
              </a:ext>
            </a:extLst>
          </p:cNvPr>
          <p:cNvSpPr>
            <a:spLocks xmlns:a="http://schemas.openxmlformats.org/drawingml/2006/main" noGrp="1"/>
          </p:cNvSpPr>
          <p:nvPr/>
        </p:nvSpPr>
        <p:spPr>
          <a:xfrm xmlns:a="http://schemas.openxmlformats.org/drawingml/2006/main">
            <a:off x="6362700" y="1571625"/>
            <a:ext cx="2419350" cy="103822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0" name="">
            <a:extLst xmlns:a="http://schemas.openxmlformats.org/drawingml/2006/main">
              <a:ext uri="{FF2B5EF4-FFF2-40B4-BE49-F238E27FC236}">
                <a16:creationId xmlns:a16="http://schemas.microsoft.com/office/drawing/2014/main" id="{376A4F79-EEDE-4881-AD97-8BE307B8B36D}"/>
              </a:ext>
            </a:extLst>
          </p:cNvPr>
          <p:cNvSpPr>
            <a:spLocks xmlns:a="http://schemas.openxmlformats.org/drawingml/2006/main" noGrp="1"/>
          </p:cNvSpPr>
          <p:nvPr/>
        </p:nvSpPr>
        <p:spPr>
          <a:xfrm xmlns:a="http://schemas.openxmlformats.org/drawingml/2006/main">
            <a:off x="6477000" y="17145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Fits the data</a:t>
            </a:r>
          </a:p>
        </p:txBody>
      </p:sp>
      <p:sp>
        <p:nvSpPr>
          <p:cNvPr id="11" name="">
            <a:extLst xmlns:a="http://schemas.openxmlformats.org/drawingml/2006/main">
              <a:ext uri="{FF2B5EF4-FFF2-40B4-BE49-F238E27FC236}">
                <a16:creationId xmlns:a16="http://schemas.microsoft.com/office/drawing/2014/main" id="{C9D812B7-9CE0-4607-A3E0-0B1D672C27A5}"/>
              </a:ext>
            </a:extLst>
          </p:cNvPr>
          <p:cNvSpPr>
            <a:spLocks xmlns:a="http://schemas.openxmlformats.org/drawingml/2006/main" noGrp="1"/>
          </p:cNvSpPr>
          <p:nvPr/>
        </p:nvSpPr>
        <p:spPr>
          <a:xfrm xmlns:a="http://schemas.openxmlformats.org/drawingml/2006/main">
            <a:off x="6477000" y="215265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Adjusts motion strength</a:t>
            </a:r>
          </a:p>
        </p:txBody>
      </p:sp>
      <p:sp>
        <p:nvSpPr>
          <p:cNvPr id="12" name="">
            <a:extLst xmlns:a="http://schemas.openxmlformats.org/drawingml/2006/main">
              <a:ext uri="{FF2B5EF4-FFF2-40B4-BE49-F238E27FC236}">
                <a16:creationId xmlns:a16="http://schemas.microsoft.com/office/drawing/2014/main" id="{0C5A3BDD-26B2-4FE8-BBFB-C01E8A8055E3}"/>
              </a:ext>
            </a:extLst>
          </p:cNvPr>
          <p:cNvSpPr>
            <a:spLocks xmlns:a="http://schemas.openxmlformats.org/drawingml/2006/main" noGrp="1"/>
          </p:cNvSpPr>
          <p:nvPr/>
        </p:nvSpPr>
        <p:spPr>
          <a:xfrm xmlns:a="http://schemas.openxmlformats.org/drawingml/2006/main">
            <a:off x="9315450" y="1571625"/>
            <a:ext cx="2419350" cy="103822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3" name="">
            <a:extLst xmlns:a="http://schemas.openxmlformats.org/drawingml/2006/main">
              <a:ext uri="{FF2B5EF4-FFF2-40B4-BE49-F238E27FC236}">
                <a16:creationId xmlns:a16="http://schemas.microsoft.com/office/drawing/2014/main" id="{E76B685B-0CF1-4A5C-9579-AD6EA56578CE}"/>
              </a:ext>
            </a:extLst>
          </p:cNvPr>
          <p:cNvSpPr>
            <a:spLocks xmlns:a="http://schemas.openxmlformats.org/drawingml/2006/main" noGrp="1"/>
          </p:cNvSpPr>
          <p:nvPr/>
        </p:nvSpPr>
        <p:spPr>
          <a:xfrm xmlns:a="http://schemas.openxmlformats.org/drawingml/2006/main">
            <a:off x="9429750" y="17145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Runs the public test</a:t>
            </a:r>
          </a:p>
        </p:txBody>
      </p:sp>
      <p:sp>
        <p:nvSpPr>
          <p:cNvPr id="14" name="">
            <a:extLst xmlns:a="http://schemas.openxmlformats.org/drawingml/2006/main">
              <a:ext uri="{FF2B5EF4-FFF2-40B4-BE49-F238E27FC236}">
                <a16:creationId xmlns:a16="http://schemas.microsoft.com/office/drawing/2014/main" id="{1007FC44-739A-4898-A793-58359AD01708}"/>
              </a:ext>
            </a:extLst>
          </p:cNvPr>
          <p:cNvSpPr>
            <a:spLocks xmlns:a="http://schemas.openxmlformats.org/drawingml/2006/main" noGrp="1"/>
          </p:cNvSpPr>
          <p:nvPr/>
        </p:nvSpPr>
        <p:spPr>
          <a:xfrm xmlns:a="http://schemas.openxmlformats.org/drawingml/2006/main">
            <a:off x="9429750" y="215265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The test passes</a:t>
            </a:r>
          </a:p>
        </p:txBody>
      </p:sp>
      <p:sp>
        <p:nvSpPr>
          <p:cNvPr id="18" name="">
            <a:extLst xmlns:a="http://schemas.openxmlformats.org/drawingml/2006/main">
              <a:ext uri="{FF2B5EF4-FFF2-40B4-BE49-F238E27FC236}">
                <a16:creationId xmlns:a16="http://schemas.microsoft.com/office/drawing/2014/main" id="{745011C9-1A10-4C4C-90ED-F66C4617CE3C}"/>
              </a:ext>
            </a:extLst>
          </p:cNvPr>
          <p:cNvSpPr>
            <a:spLocks xmlns:a="http://schemas.openxmlformats.org/drawingml/2006/main" noGrp="1"/>
          </p:cNvSpPr>
          <p:nvPr/>
        </p:nvSpPr>
        <p:spPr>
          <a:xfrm xmlns:a="http://schemas.openxmlformats.org/drawingml/2006/main">
            <a:off x="457200" y="301942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The missed assumption</a:t>
            </a:r>
          </a:p>
        </p:txBody>
      </p:sp>
      <p:sp>
        <p:nvSpPr>
          <p:cNvPr id="19" name="">
            <a:extLst xmlns:a="http://schemas.openxmlformats.org/drawingml/2006/main">
              <a:ext uri="{FF2B5EF4-FFF2-40B4-BE49-F238E27FC236}">
                <a16:creationId xmlns:a16="http://schemas.microsoft.com/office/drawing/2014/main" id="{C9FFF746-113C-498B-8BF3-8013E1C9C6D5}"/>
              </a:ext>
            </a:extLst>
          </p:cNvPr>
          <p:cNvSpPr>
            <a:spLocks xmlns:a="http://schemas.openxmlformats.org/drawingml/2006/main" noGrp="1"/>
          </p:cNvSpPr>
          <p:nvPr/>
        </p:nvSpPr>
        <p:spPr>
          <a:xfrm xmlns:a="http://schemas.openxmlformats.org/drawingml/2006/main">
            <a:off x="457200" y="3486150"/>
            <a:ext cx="542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Its formula treats motion over a given interval</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same, regardless of how long ago</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experiment started.</a:t>
            </a:r>
          </a:p>
        </p:txBody>
      </p:sp>
      <p:sp>
        <p:nvSpPr>
          <p:cNvPr id="20" name="">
            <a:extLst xmlns:a="http://schemas.openxmlformats.org/drawingml/2006/main">
              <a:ext uri="{FF2B5EF4-FFF2-40B4-BE49-F238E27FC236}">
                <a16:creationId xmlns:a16="http://schemas.microsoft.com/office/drawing/2014/main" id="{9DE5BE33-6F87-4973-B47C-5B615B376D22}"/>
              </a:ext>
            </a:extLst>
          </p:cNvPr>
          <p:cNvSpPr>
            <a:spLocks xmlns:a="http://schemas.openxmlformats.org/drawingml/2006/main" noGrp="1"/>
          </p:cNvSpPr>
          <p:nvPr/>
        </p:nvSpPr>
        <p:spPr>
          <a:xfrm xmlns:a="http://schemas.openxmlformats.org/drawingml/2006/main">
            <a:off x="457200" y="4791075"/>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spacing still matters. A good fit</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individual times does not check the link</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two different times.</a:t>
            </a:r>
          </a:p>
        </p:txBody>
      </p:sp>
      <p:sp>
        <p:nvSpPr>
          <p:cNvPr id="21" name="">
            <a:extLst xmlns:a="http://schemas.openxmlformats.org/drawingml/2006/main">
              <a:ext uri="{FF2B5EF4-FFF2-40B4-BE49-F238E27FC236}">
                <a16:creationId xmlns:a16="http://schemas.microsoft.com/office/drawing/2014/main" id="{AA13118C-C66C-4007-934B-C6B449036F52}"/>
              </a:ext>
            </a:extLst>
          </p:cNvPr>
          <p:cNvSpPr>
            <a:spLocks xmlns:a="http://schemas.openxmlformats.org/drawingml/2006/main" noGrp="1"/>
          </p:cNvSpPr>
          <p:nvPr/>
        </p:nvSpPr>
        <p:spPr>
          <a:xfrm xmlns:a="http://schemas.openxmlformats.org/drawingml/2006/main">
            <a:off x="6457950" y="3019425"/>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The result</a:t>
            </a:r>
          </a:p>
        </p:txBody>
      </p:sp>
      <p:sp>
        <p:nvSpPr>
          <p:cNvPr id="22" name="">
            <a:extLst xmlns:a="http://schemas.openxmlformats.org/drawingml/2006/main">
              <a:ext uri="{FF2B5EF4-FFF2-40B4-BE49-F238E27FC236}">
                <a16:creationId xmlns:a16="http://schemas.microsoft.com/office/drawing/2014/main" id="{36F2CFA2-F28D-450F-905C-9F3DC65EC80A}"/>
              </a:ext>
            </a:extLst>
          </p:cNvPr>
          <p:cNvSpPr>
            <a:spLocks xmlns:a="http://schemas.openxmlformats.org/drawingml/2006/main" noGrp="1"/>
          </p:cNvSpPr>
          <p:nvPr/>
        </p:nvSpPr>
        <p:spPr>
          <a:xfrm xmlns:a="http://schemas.openxmlformats.org/drawingml/2006/main">
            <a:off x="6457950" y="3486150"/>
            <a:ext cx="5276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Fits the supplied measurements.</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Fails the early-versus-later predictions.</a:t>
            </a:r>
          </a:p>
        </p:txBody>
      </p:sp>
      <p:sp>
        <p:nvSpPr>
          <p:cNvPr id="23" name="">
            <a:extLst xmlns:a="http://schemas.openxmlformats.org/drawingml/2006/main">
              <a:ext uri="{FF2B5EF4-FFF2-40B4-BE49-F238E27FC236}">
                <a16:creationId xmlns:a16="http://schemas.microsoft.com/office/drawing/2014/main" id="{010E622D-9257-4398-A4A7-B97F3FF10050}"/>
              </a:ext>
            </a:extLst>
          </p:cNvPr>
          <p:cNvSpPr>
            <a:spLocks xmlns:a="http://schemas.openxmlformats.org/drawingml/2006/main" noGrp="1"/>
          </p:cNvSpPr>
          <p:nvPr/>
        </p:nvSpPr>
        <p:spPr>
          <a:xfrm xmlns:a="http://schemas.openxmlformats.org/drawingml/2006/main">
            <a:off x="6457950" y="4467225"/>
            <a:ext cx="5276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Check the diagnosis</a:t>
            </a:r>
          </a:p>
        </p:txBody>
      </p:sp>
      <p:sp>
        <p:nvSpPr>
          <p:cNvPr id="24" name="">
            <a:extLst xmlns:a="http://schemas.openxmlformats.org/drawingml/2006/main">
              <a:ext uri="{FF2B5EF4-FFF2-40B4-BE49-F238E27FC236}">
                <a16:creationId xmlns:a16="http://schemas.microsoft.com/office/drawing/2014/main" id="{F55B7DE4-358C-4E43-90D2-FCBA1A41C3ED}"/>
              </a:ext>
            </a:extLst>
          </p:cNvPr>
          <p:cNvSpPr>
            <a:spLocks xmlns:a="http://schemas.openxmlformats.org/drawingml/2006/main" noGrp="1"/>
          </p:cNvSpPr>
          <p:nvPr/>
        </p:nvSpPr>
        <p:spPr>
          <a:xfrm xmlns:a="http://schemas.openxmlformats.org/drawingml/2006/main">
            <a:off x="6457950" y="4933950"/>
            <a:ext cx="5276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11111"/>
                </a:solidFill>
                <a:latin typeface="Times New Roman"/>
                <a:ea typeface="Times New Roman"/>
                <a:cs typeface="Times New Roman"/>
              </a:defRPr>
            </a:defPPr>
          </a:lstStyle>
          <a:p xmlns:a="http://schemas.openxmlformats.org/drawingml/2006/main">
            <a:pPr algn="l">
              <a:defRPr sz="1875" b="0">
                <a:solidFill>
                  <a:srgbClr val="111111"/>
                </a:solidFill>
                <a:latin typeface="Times New Roman"/>
                <a:ea typeface="Times New Roman"/>
                <a:cs typeface="Times New Roman"/>
              </a:defRPr>
            </a:pPr>
            <a:r>
              <a:rPr sz="1875" b="0">
                <a:solidFill>
                  <a:srgbClr val="111111"/>
                </a:solidFill>
                <a:latin typeface="Times New Roman"/>
                <a:ea typeface="Times New Roman"/>
                <a:cs typeface="Times New Roman"/>
              </a:rPr>
              <a:t>Keep the fitted motion strength.</a:t>
            </a:r>
          </a:p>
          <a:p xmlns:a="http://schemas.openxmlformats.org/drawingml/2006/main">
            <a:pPr algn="l">
              <a:defRPr sz="1875" b="0">
                <a:solidFill>
                  <a:srgbClr val="111111"/>
                </a:solidFill>
                <a:latin typeface="Times New Roman"/>
                <a:ea typeface="Times New Roman"/>
                <a:cs typeface="Times New Roman"/>
              </a:defRPr>
            </a:pPr>
            <a:r>
              <a:rPr sz="1875" b="0">
                <a:solidFill>
                  <a:srgbClr val="111111"/>
                </a:solidFill>
                <a:latin typeface="Times New Roman"/>
                <a:ea typeface="Times New Roman"/>
                <a:cs typeface="Times New Roman"/>
              </a:rPr>
              <a:t>Change only how the formula links two times.</a:t>
            </a:r>
          </a:p>
        </p:txBody>
      </p:sp>
      <p:sp>
        <p:nvSpPr>
          <p:cNvPr id="25" name="">
            <a:extLst xmlns:a="http://schemas.openxmlformats.org/drawingml/2006/main">
              <a:ext uri="{FF2B5EF4-FFF2-40B4-BE49-F238E27FC236}">
                <a16:creationId xmlns:a16="http://schemas.microsoft.com/office/drawing/2014/main" id="{439D034B-174C-4472-9B4D-3ADA81155D6D}"/>
              </a:ext>
            </a:extLst>
          </p:cNvPr>
          <p:cNvSpPr>
            <a:spLocks xmlns:a="http://schemas.openxmlformats.org/drawingml/2006/main" noGrp="1"/>
          </p:cNvSpPr>
          <p:nvPr/>
        </p:nvSpPr>
        <p:spPr>
          <a:xfrm xmlns:a="http://schemas.openxmlformats.org/drawingml/2006/main">
            <a:off x="6457950" y="5619750"/>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a:solidFill>
                  <a:srgbClr val="A50026"/>
                </a:solidFill>
                <a:latin typeface="Times New Roman"/>
                <a:ea typeface="Times New Roman"/>
                <a:cs typeface="Times New Roman"/>
              </a:defRPr>
            </a:defPPr>
          </a:lstStyle>
          <a:p xmlns:a="http://schemas.openxmlformats.org/drawingml/2006/main">
            <a:pPr algn="l">
              <a:defRPr sz="2625" b="1">
                <a:solidFill>
                  <a:srgbClr val="A50026"/>
                </a:solidFill>
                <a:latin typeface="Times New Roman"/>
                <a:ea typeface="Times New Roman"/>
                <a:cs typeface="Times New Roman"/>
              </a:defRPr>
            </a:pPr>
            <a:r>
              <a:rPr sz="2625" b="1">
                <a:solidFill>
                  <a:srgbClr val="A50026"/>
                </a:solidFill>
                <a:latin typeface="Times New Roman"/>
                <a:ea typeface="Times New Roman"/>
                <a:cs typeface="Times New Roman"/>
              </a:rPr>
              <a:t>136%</a:t>
            </a:r>
          </a:p>
        </p:txBody>
      </p:sp>
      <p:sp>
        <p:nvSpPr>
          <p:cNvPr id="26" name="">
            <a:extLst xmlns:a="http://schemas.openxmlformats.org/drawingml/2006/main">
              <a:ext uri="{FF2B5EF4-FFF2-40B4-BE49-F238E27FC236}">
                <a16:creationId xmlns:a16="http://schemas.microsoft.com/office/drawing/2014/main" id="{C0957538-BF7E-4E54-9C9B-6B1ED3F0C6F5}"/>
              </a:ext>
            </a:extLst>
          </p:cNvPr>
          <p:cNvSpPr>
            <a:spLocks xmlns:a="http://schemas.openxmlformats.org/drawingml/2006/main" noGrp="1"/>
          </p:cNvSpPr>
          <p:nvPr/>
        </p:nvSpPr>
        <p:spPr>
          <a:xfrm xmlns:a="http://schemas.openxmlformats.org/drawingml/2006/main">
            <a:off x="8305800" y="5762625"/>
            <a:ext cx="628650" cy="152400"/>
          </a:xfrm>
          <a:prstGeom xmlns:a="http://schemas.openxmlformats.org/drawingml/2006/main" prst="rightArrow">
            <a:avLst/>
          </a:prstGeom>
          <a:solidFill xmlns:a="http://schemas.openxmlformats.org/drawingml/2006/main">
            <a:srgbClr val="77777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975BE03-2435-41E7-98AE-23BAFBA07B1B}"/>
              </a:ext>
            </a:extLst>
          </p:cNvPr>
          <p:cNvSpPr>
            <a:spLocks xmlns:a="http://schemas.openxmlformats.org/drawingml/2006/main" noGrp="1"/>
          </p:cNvSpPr>
          <p:nvPr/>
        </p:nvSpPr>
        <p:spPr>
          <a:xfrm xmlns:a="http://schemas.openxmlformats.org/drawingml/2006/main">
            <a:off x="9239250" y="5619750"/>
            <a:ext cx="2495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a:solidFill>
                  <a:srgbClr val="0F766E"/>
                </a:solidFill>
                <a:latin typeface="Times New Roman"/>
                <a:ea typeface="Times New Roman"/>
                <a:cs typeface="Times New Roman"/>
              </a:defRPr>
            </a:defPPr>
          </a:lstStyle>
          <a:p xmlns:a="http://schemas.openxmlformats.org/drawingml/2006/main">
            <a:pPr algn="l">
              <a:defRPr sz="2625" b="1">
                <a:solidFill>
                  <a:srgbClr val="0F766E"/>
                </a:solidFill>
                <a:latin typeface="Times New Roman"/>
                <a:ea typeface="Times New Roman"/>
                <a:cs typeface="Times New Roman"/>
              </a:defRPr>
            </a:pPr>
            <a:r>
              <a:rPr sz="2625" b="1">
                <a:solidFill>
                  <a:srgbClr val="0F766E"/>
                </a:solidFill>
                <a:latin typeface="Times New Roman"/>
                <a:ea typeface="Times New Roman"/>
                <a:cs typeface="Times New Roman"/>
              </a:rPr>
              <a:t>0.003%</a:t>
            </a:r>
          </a:p>
        </p:txBody>
      </p:sp>
      <p:sp>
        <p:nvSpPr>
          <p:cNvPr id="28" name="">
            <a:extLst xmlns:a="http://schemas.openxmlformats.org/drawingml/2006/main">
              <a:ext uri="{FF2B5EF4-FFF2-40B4-BE49-F238E27FC236}">
                <a16:creationId xmlns:a16="http://schemas.microsoft.com/office/drawing/2014/main" id="{BE310BF7-1DB0-49D5-85B2-664C1BD40F1C}"/>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Largest prediction error, before and after our formula correction. Allowed error: 4%. This check does not count as a new agent pass.</a:t>
            </a:r>
          </a:p>
        </p:txBody>
      </p:sp>
      <p:sp>
        <p:nvSpPr>
          <p:cNvPr id="29" name="">
            <a:extLst xmlns:a="http://schemas.openxmlformats.org/drawingml/2006/main">
              <a:ext uri="{FF2B5EF4-FFF2-40B4-BE49-F238E27FC236}">
                <a16:creationId xmlns:a16="http://schemas.microsoft.com/office/drawing/2014/main" id="{5A4E150B-C6DB-43B5-A13D-9CC2ECB0AB5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hint comparison is the remaining experiment</a:t>
            </a:r>
          </a:p>
        </p:txBody>
      </p:sp>
      <p:sp>
        <p:nvSpPr>
          <p:cNvPr id="7" name="">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We will test whether targeted physical guidance improves success per dollar.</a:t>
            </a:r>
          </a:p>
        </p:txBody>
      </p:sp>
      <p:sp>
        <p:nvSpPr>
          <p:cNvPr id="10" name="">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
            <a:extLst xmlns:a="http://schemas.openxmlformats.org/drawingml/2006/main">
              <a:ext uri="{FF2B5EF4-FFF2-40B4-BE49-F238E27FC236}">
                <a16:creationId xmlns:a16="http://schemas.microsoft.com/office/drawing/2014/main" id="{8A8C08DD-1B7F-4D11-86D8-B7F99A8FED78}"/>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lIns="0" tIns="0" rIns="0" bIns="0"/>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Passes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Mean cost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$0.0040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$0.0052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12/39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$0.0126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$0.0773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$0.1975</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$0.2306</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$0.1107</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$0.1942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$0.3196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$0.4450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$0.7132</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$1.0801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$0.1500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 $0.0995</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38</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$0.2450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
            <a:extLst xmlns:a="http://schemas.openxmlformats.org/drawingml/2006/main">
              <a:ext uri="{FF2B5EF4-FFF2-40B4-BE49-F238E27FC236}">
                <a16:creationId xmlns:a16="http://schemas.microsoft.com/office/drawing/2014/main" id="{535A85E1-E730-4726-A620-C0DA6E491EF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893FD5-19C5-4725-9012-D0BB7596899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collaborator results remain separate</a:t>
            </a:r>
          </a:p>
        </p:txBody>
      </p:sp>
      <p:sp>
        <p:nvSpPr>
          <p:cNvPr id="2" name="">
            <a:extLst xmlns:a="http://schemas.openxmlformats.org/drawingml/2006/main">
              <a:ext uri="{FF2B5EF4-FFF2-40B4-BE49-F238E27FC236}">
                <a16:creationId xmlns:a16="http://schemas.microsoft.com/office/drawing/2014/main" id="{A9CE83C5-C343-47FE-884F-5B1A3DB6AEEC}"/>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390 published no-hint trials on the matching 13-task snapshot.</a:t>
            </a:r>
          </a:p>
        </p:txBody>
      </p:sp>
      <p:graphicFrame>
        <p:nvGraphicFramePr>
          <p:cNvPr id="4" name="">
            <a:extLst xmlns:a="http://schemas.openxmlformats.org/drawingml/2006/main">
              <a:ext uri="{FF2B5EF4-FFF2-40B4-BE49-F238E27FC236}">
                <a16:creationId xmlns:a16="http://schemas.microsoft.com/office/drawing/2014/main" id="{CD2D060E-6F20-4767-AD81-54B6AB3CCFEB}"/>
              </a:ext>
            </a:extLst>
          </p:cNvPr>
          <p:cNvGraphicFramePr/>
          <p:nvPr/>
        </p:nvGraphicFramePr>
        <p:xfrm>
          <a:off xmlns:a="http://schemas.openxmlformats.org/drawingml/2006/main" x="457200" y="1657350"/>
          <a:ext xmlns:a="http://schemas.openxmlformats.org/drawingml/2006/main" cx="11277600" cy="3876675"/>
        </p:xfrm>
        <a:graphic xmlns:a="http://schemas.openxmlformats.org/drawingml/2006/main">
          <a:graphicData uri="http://schemas.openxmlformats.org/drawingml/2006/table">
            <a:tbl>
              <a:tblPr/>
              <a:tblGrid>
                <a:gridCol w="4083948"/>
                <a:gridCol w="2755435"/>
                <a:gridCol w="2263393"/>
                <a:gridCol w="2174825"/>
              </a:tblGrid>
              <a:tr h="352425">
                <a:tc>
                  <a:txBody>
                    <a:bodyPr lIns="0" tIns="0" rIns="0" bIns="0"/>
                    <a:lstStyle/>
                    <a:p>
                      <a:r>
                        <a:rPr sz="18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Passes / 39</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None</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4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6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8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24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31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116D0D02-17BA-4929-B054-012E70EF32FB}"/>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Codex 0.154.0 and concurrency 4, versus 0.160.0 and concurrency 3 locally. Model generations are distinct.</a:t>
            </a:r>
          </a:p>
        </p:txBody>
      </p:sp>
      <p:sp>
        <p:nvSpPr>
          <p:cNvPr id="7" name="">
            <a:extLst xmlns:a="http://schemas.openxmlformats.org/drawingml/2006/main">
              <a:ext uri="{FF2B5EF4-FFF2-40B4-BE49-F238E27FC236}">
                <a16:creationId xmlns:a16="http://schemas.microsoft.com/office/drawing/2014/main" id="{42503B8A-F4EB-4F3D-8FBE-9C1B696EBF68}"/>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6" name="">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7" name="">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5" name="">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6" name="">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xmlns:a="http://schemas.openxmlformats.org/drawingml/2006/main">
              <a:ext uri="{FF2B5EF4-FFF2-40B4-BE49-F238E27FC236}">
                <a16:creationId xmlns:a16="http://schemas.microsoft.com/office/drawing/2014/main" id="{E5BB7708-BE0F-4EC4-B526-AEBB492DF0F9}"/>
              </a:ext>
            </a:extLst>
          </p:cNvPr>
          <p:cNvGraphicFramePr/>
          <p:nvPr/>
        </p:nvGraphicFramePr>
        <p:xfrm>
          <a:off xmlns:a="http://schemas.openxmlformats.org/drawingml/2006/main" x="6105525" y="1971675"/>
          <a:ext xmlns:a="http://schemas.openxmlformats.org/drawingml/2006/main" cx="5629275" cy="3143250"/>
        </p:xfrm>
        <a:graphic xmlns:a="http://schemas.openxmlformats.org/drawingml/2006/main">
          <a:graphicData uri="http://schemas.openxmlformats.org/drawingml/2006/chart">
            <c:chart xmlns:r="http://schemas.openxmlformats.org/officeDocument/2006/relationships" xmlns:c="http://schemas.openxmlformats.org/drawingml/2006/chart" r:id="R142e724b782c433b"/>
          </a:graphicData>
        </a:graphic>
      </p:graphicFrame>
      <p:sp>
        <p:nvSpPr>
          <p:cNvPr id="25" name="">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sld>
</file>

<file path=ppt/theme/theme1.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2026-10-15T03:22:27.2570000Z</dcterms:created>
  <dcterms:modified xsi:type="dcterms:W3CDTF">2026-10-15T03:22:27.2570000Z</dcterms:modified>
</coreProperties>
</file>