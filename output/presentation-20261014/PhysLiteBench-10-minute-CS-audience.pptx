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417fc146dfe4fec" /><Relationship Type="http://schemas.openxmlformats.org/officeDocument/2006/relationships/extended-properties" Target="/docProps/app.xml" Id="Rea0de82da8084cd1" /><Relationship Type="http://schemas.openxmlformats.org/officeDocument/2006/relationships/officeDocument" Target="/ppt/presentation.xml" Id="R5629b8d36643464e" /></Relationships>
</file>

<file path=ppt/presentation.xml><?xml version="1.0" encoding="utf-8"?>
<p:presentation xmlns:p="http://schemas.openxmlformats.org/presentationml/2006/main">
  <p:sldMasterIdLst>
    <p:sldMasterId xmlns:r="http://schemas.openxmlformats.org/officeDocument/2006/relationships" id="2147483648" r:id="R870e7e907cd8418d"/>
  </p:sldMasterIdLst>
  <p:notesMasterIdLst>
    <p:notesMasterId xmlns:r="http://schemas.openxmlformats.org/officeDocument/2006/relationships" r:id="Rdcecd29a87444cb4"/>
  </p:notesMasterIdLst>
  <p:sldIdLst>
    <p:sldId xmlns:r="http://schemas.openxmlformats.org/officeDocument/2006/relationships" id="256" r:id="Rddf8cc7e967b48ff"/>
    <p:sldId xmlns:r="http://schemas.openxmlformats.org/officeDocument/2006/relationships" id="257" r:id="Rdabcb8f75e4642bf"/>
    <p:sldId xmlns:r="http://schemas.openxmlformats.org/officeDocument/2006/relationships" id="258" r:id="Ra98b7575e69744ed"/>
    <p:sldId xmlns:r="http://schemas.openxmlformats.org/officeDocument/2006/relationships" id="259" r:id="R0e3471b4d8cf4914"/>
    <p:sldId xmlns:r="http://schemas.openxmlformats.org/officeDocument/2006/relationships" id="260" r:id="R0c1a6325f0e74582"/>
    <p:sldId xmlns:r="http://schemas.openxmlformats.org/officeDocument/2006/relationships" id="261" r:id="R55359fe3a9b14160"/>
    <p:sldId xmlns:r="http://schemas.openxmlformats.org/officeDocument/2006/relationships" id="262" r:id="R89064bf0526f4201"/>
    <p:sldId xmlns:r="http://schemas.openxmlformats.org/officeDocument/2006/relationships" id="263" r:id="R36078dab78cd401b"/>
    <p:sldId xmlns:r="http://schemas.openxmlformats.org/officeDocument/2006/relationships" id="264" r:id="Rd2e900b06cd14aec"/>
    <p:sldId xmlns:r="http://schemas.openxmlformats.org/officeDocument/2006/relationships" id="265" r:id="R5416ab8362ff41fa"/>
    <p:sldId xmlns:r="http://schemas.openxmlformats.org/officeDocument/2006/relationships" id="266" r:id="Rf84797a5b65b49f1"/>
    <p:sldId xmlns:r="http://schemas.openxmlformats.org/officeDocument/2006/relationships" id="267" r:id="R31617c4fedae438f"/>
    <p:sldId xmlns:r="http://schemas.openxmlformats.org/officeDocument/2006/relationships" id="268" r:id="Rd5a39d2f523d4eaf"/>
    <p:sldId xmlns:r="http://schemas.openxmlformats.org/officeDocument/2006/relationships" id="269" r:id="R251fc95809ed42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1a188a730141c7" /><Relationship Type="http://schemas.openxmlformats.org/officeDocument/2006/relationships/slideMaster" Target="/ppt/slideMasters/slideMaster1.xml" Id="R870e7e907cd8418d" /><Relationship Type="http://schemas.openxmlformats.org/officeDocument/2006/relationships/notesMaster" Target="/ppt/notesMasters/notesMaster1.xml" Id="Rdcecd29a87444cb4" /><Relationship Type="http://schemas.openxmlformats.org/officeDocument/2006/relationships/presProps" Target="/ppt/presProps.xml" Id="Rb028fa4060ad417e" /><Relationship Type="http://schemas.openxmlformats.org/officeDocument/2006/relationships/tableStyles" Target="/ppt/tableStyles.xml" Id="R2e31ce82f6da45af" /><Relationship Type="http://schemas.openxmlformats.org/officeDocument/2006/relationships/slide" Target="/ppt/slides/slide1.xml" Id="Rddf8cc7e967b48ff" /><Relationship Type="http://schemas.openxmlformats.org/officeDocument/2006/relationships/slide" Target="/ppt/slides/slide2.xml" Id="Rdabcb8f75e4642bf" /><Relationship Type="http://schemas.openxmlformats.org/officeDocument/2006/relationships/slide" Target="/ppt/slides/slide3.xml" Id="Ra98b7575e69744ed" /><Relationship Type="http://schemas.openxmlformats.org/officeDocument/2006/relationships/slide" Target="/ppt/slides/slide4.xml" Id="R0e3471b4d8cf4914" /><Relationship Type="http://schemas.openxmlformats.org/officeDocument/2006/relationships/slide" Target="/ppt/slides/slide5.xml" Id="R0c1a6325f0e74582" /><Relationship Type="http://schemas.openxmlformats.org/officeDocument/2006/relationships/slide" Target="/ppt/slides/slide6.xml" Id="R55359fe3a9b14160" /><Relationship Type="http://schemas.openxmlformats.org/officeDocument/2006/relationships/slide" Target="/ppt/slides/slide7.xml" Id="R89064bf0526f4201" /><Relationship Type="http://schemas.openxmlformats.org/officeDocument/2006/relationships/slide" Target="/ppt/slides/slide8.xml" Id="R36078dab78cd401b" /><Relationship Type="http://schemas.openxmlformats.org/officeDocument/2006/relationships/slide" Target="/ppt/slides/slide9.xml" Id="Rd2e900b06cd14aec" /><Relationship Type="http://schemas.openxmlformats.org/officeDocument/2006/relationships/slide" Target="/ppt/slides/slide10.xml" Id="R5416ab8362ff41fa" /><Relationship Type="http://schemas.openxmlformats.org/officeDocument/2006/relationships/slide" Target="/ppt/slides/slide11.xml" Id="Rf84797a5b65b49f1" /><Relationship Type="http://schemas.openxmlformats.org/officeDocument/2006/relationships/slide" Target="/ppt/slides/slide12.xml" Id="R31617c4fedae438f" /><Relationship Type="http://schemas.openxmlformats.org/officeDocument/2006/relationships/slide" Target="/ppt/slides/slide13.xml" Id="Rd5a39d2f523d4eaf" /><Relationship Type="http://schemas.openxmlformats.org/officeDocument/2006/relationships/slide" Target="/ppt/slides/slide14.xml" Id="R251fc95809ed42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159013ba0044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mmittee — Times New Roman">
      <a:dk1>
        <a:srgbClr val="0B0B0F"/>
      </a:dk1>
      <a:lt1>
        <a:srgbClr val="FFFFFF"/>
      </a:lt1>
      <a:dk2>
        <a:srgbClr val="374151"/>
      </a:dk2>
      <a:lt2>
        <a:srgbClr val="F3F4F6"/>
      </a:lt2>
      <a:accent1>
        <a:srgbClr val="1D4E89"/>
      </a:accent1>
      <a:accent2>
        <a:srgbClr val="0F766E"/>
      </a:accent2>
      <a:accent3>
        <a:srgbClr val="B45309"/>
      </a:accent3>
      <a:accent4>
        <a:srgbClr val="A50026"/>
      </a:accent4>
      <a:accent5>
        <a:srgbClr val="5B4B7C"/>
      </a:accent5>
      <a:accent6>
        <a:srgbClr val="777777"/>
      </a:accent6>
      <a:hlink>
        <a:srgbClr val="1D4E89"/>
      </a:hlink>
      <a:folHlink>
        <a:srgbClr val="5B4B7C"/>
      </a:folHlink>
    </a:clrScheme>
    <a:fontScheme name="">
      <a:majorFont>
        <a:latin typeface="Times New Roman"/>
        <a:ea typeface=""/>
        <a:cs typeface=""/>
      </a:majorFont>
      <a:minorFont>
        <a:latin typeface="Times New Roman"/>
        <a:ea typeface=""/>
        <a:cs typeface=""/>
      </a:minorFont>
    </a:fontScheme>
    <a:fmtScheme name="Committee — Times New Roma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06d224acce4b6f" /><Relationship Type="http://schemas.openxmlformats.org/officeDocument/2006/relationships/notesMaster" Target="/ppt/notesMasters/notesMaster1.xml" Id="R2a0e5e03a72f46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0efa0ae12b4526" /><Relationship Type="http://schemas.openxmlformats.org/officeDocument/2006/relationships/notesMaster" Target="/ppt/notesMasters/notesMaster1.xml" Id="Ra901c49b6ccf49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6920ed0f974243" /><Relationship Type="http://schemas.openxmlformats.org/officeDocument/2006/relationships/notesMaster" Target="/ppt/notesMasters/notesMaster1.xml" Id="Rc0b94407338849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1cdb4ffd62475d" /><Relationship Type="http://schemas.openxmlformats.org/officeDocument/2006/relationships/notesMaster" Target="/ppt/notesMasters/notesMaster1.xml" Id="R76e1d025e8cc45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74c7ba7a37461f" /><Relationship Type="http://schemas.openxmlformats.org/officeDocument/2006/relationships/notesMaster" Target="/ppt/notesMasters/notesMaster1.xml" Id="R738351feef3b43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e9265ffa0c4016" /><Relationship Type="http://schemas.openxmlformats.org/officeDocument/2006/relationships/notesMaster" Target="/ppt/notesMasters/notesMaster1.xml" Id="R1a77680f022c49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ffaca4d9254fa0" /><Relationship Type="http://schemas.openxmlformats.org/officeDocument/2006/relationships/notesMaster" Target="/ppt/notesMasters/notesMaster1.xml" Id="Rcad6c65b41eb47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32a6365d224a1e" /><Relationship Type="http://schemas.openxmlformats.org/officeDocument/2006/relationships/notesMaster" Target="/ppt/notesMasters/notesMaster1.xml" Id="R892414adc51540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c17412c48d4f18" /><Relationship Type="http://schemas.openxmlformats.org/officeDocument/2006/relationships/notesMaster" Target="/ppt/notesMasters/notesMaster1.xml" Id="Rf8b15326f82846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29558b92764244" /><Relationship Type="http://schemas.openxmlformats.org/officeDocument/2006/relationships/notesMaster" Target="/ppt/notesMasters/notesMaster1.xml" Id="R34fdc7b2e64e47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2f6b24848784433" /><Relationship Type="http://schemas.openxmlformats.org/officeDocument/2006/relationships/notesMaster" Target="/ppt/notesMasters/notesMaster1.xml" Id="Rddcaed011fd145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cf49910eb1421d" /><Relationship Type="http://schemas.openxmlformats.org/officeDocument/2006/relationships/notesMaster" Target="/ppt/notesMasters/notesMaster1.xml" Id="Ra966a251109540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0e91f68a454e59" /><Relationship Type="http://schemas.openxmlformats.org/officeDocument/2006/relationships/notesMaster" Target="/ppt/notesMasters/notesMaster1.xml" Id="Radc12084f4f54fb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a9740d7fa14b94" /><Relationship Type="http://schemas.openxmlformats.org/officeDocument/2006/relationships/notesMaster" Target="/ppt/notesMasters/notesMaster1.xml" Id="Ra6ce8d55230741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50 seconds.</a:t>
            </a:r>
          </a:p>
          <a:p xmlns:a="http://schemas.openxmlformats.org/drawingml/2006/main">
            <a:r>
              <a:t/>
            </a:r>
          </a:p>
          <a:p xmlns:a="http://schemas.openxmlformats.org/drawingml/2006/main">
            <a:r>
              <a:t>PhysLiteBench studies whether a coding agent can build a physical model, rather than only fit the data it is given. Think of calibration as training data: it measures the system under a limited set of conditions. The hidden tests ask for predictions at other settings, where an incorrect physical assumption can become visible. Each agent receives a description of the physical setup, starter code, measurements with known noise, and public tests. It can replace the predictor as well as fit the unknown parameters. The evaluator checks calibration, parameter accuracy, hidden predictions, and completion within a fixed time budget. Our frozen suite has thirteen tasks. We selected them using GPT-5.6 Luna, so the results describe a deliberately challenging suite rather than a random sample of physics. I will use one particle experiment throughout the talk.</a:t>
            </a:r>
          </a:p>
          <a:p xmlns:a="http://schemas.openxmlformats.org/drawingml/2006/main">
            <a:r>
              <a:t/>
            </a:r>
          </a:p>
          <a:p xmlns:a="http://schemas.openxmlformats.org/drawingml/2006/main">
            <a:r>
              <a:t>Sources:</a:t>
            </a:r>
          </a:p>
          <a:p xmlns:a="http://schemas.openxmlformats.org/drawingml/2006/main">
            <a:r>
              <a:t>/Users/yp9846/Desktop/PhysLiteBench/README.md</a:t>
            </a:r>
          </a:p>
          <a:p xmlns:a="http://schemas.openxmlformats.org/drawingml/2006/main">
            <a:r>
              <a:t>/Users/yp9846/Desktop/PhysLiteBench/docs/BENCHMARK.md</a:t>
            </a:r>
          </a:p>
          <a:p xmlns:a="http://schemas.openxmlformats.org/drawingml/2006/main">
            <a:r>
              <a:t>/Users/yp9846/Desktop/PhysLiteBench/results/task-roster.json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100 seconds.</a:t>
            </a:r>
          </a:p>
          <a:p xmlns:a="http://schemas.openxmlformats.org/drawingml/2006/main">
            <a:r>
              <a:t/>
            </a:r>
          </a:p>
          <a:p xmlns:a="http://schemas.openxmlformats.org/drawingml/2006/main">
            <a:r>
              <a:t>Imagine beads in a channel so narrow that they cannot pass. The actual mathematical model uses point particles on an infinite line, but the channel picture captures the constraint. Each independent experimental repeat begins from exactly the same evenly spaced positions. We release the particles and track the orange one as random thermal motion moves it around. The order of the particles never changes. The unknown parameter D sets the movement scale. The calibration measures the orange particle's spread at a single time. The hidden task measures how its positions at two different times vary together across repetitions, called covariance or shared motion here. This is about statistical memory, not whether an individual trajectory looks plausible. The plot compares two formulas using the same fitted movement scale. They agree exactly when the two measurement times coincide. That is all calibration probes. When the times differ, the starter predicts substantially more shared motion than the correct model. The difficulty is that fixed starting positions leave a memory of the release time. The starter instead assumes stationary increments: the statistics of a displacement over a time window depend only on that window's length. An agent can therefore fit every calibration setting and still keep the wrong memory model. The curves show analytic normalized long-time coefficients, not finite-time measurements or simulated trajectories. Here the earlier multiplier is 0.5 and the later one ranges from 0.5 to 4, within the documented domain.</a:t>
            </a:r>
          </a:p>
          <a:p xmlns:a="http://schemas.openxmlformats.org/drawingml/2006/main">
            <a:r>
              <a:t/>
            </a: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65 seconds.</a:t>
            </a:r>
          </a:p>
          <a:p xmlns:a="http://schemas.openxmlformats.org/drawingml/2006/main">
            <a:r>
              <a:t/>
            </a:r>
          </a:p>
          <a:p xmlns:a="http://schemas.openxmlformats.org/drawingml/2006/main">
            <a:r>
              <a:t>We compare three prompt conditions while holding model and configured effort fixed. With no hint, the agent gets the original implementation request and public files. The general hint is exactly the sentence shown: check the implementation and test correctness before finishing. It asks for more care, without pointing to a particular physical mechanism. The physics hint is task-specific. For the particles, it says that fixed preparation does not imply stationary increments and suggests deriving the two-time covariance from correlated crossings of independent Brownian paths. In plain terms, the same random path contributes to both measurements, so the preparation and shared history matter. The row paraphrases that cue for this audience. It does not provide the final covariance formula or hidden answers. The little flow diagram is the conceptual relationship the hint asks the agent to consider. We have not yet established that the hint improves outcomes.</a:t>
            </a:r>
          </a:p>
          <a:p xmlns:a="http://schemas.openxmlformats.org/drawingml/2006/main">
            <a:r>
              <a:t/>
            </a:r>
          </a:p>
          <a:p xmlns:a="http://schemas.openxmlformats.org/drawingml/2006/main">
            <a:r>
              <a:t>Sources:</a:t>
            </a:r>
          </a:p>
          <a:p xmlns:a="http://schemas.openxmlformats.org/drawingml/2006/main">
            <a:r>
              <a:t>/Users/yp9846/Desktop/PhysLiteBench/results/hint-comparison-20261014/plan.json</a:t>
            </a:r>
          </a:p>
          <a:p xmlns:a="http://schemas.openxmlformats.org/drawingml/2006/main">
            <a:r>
              <a:t>/Users/yp9846/Desktop/PhysLiteBench/tasks/single-file-memory/hint.md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There are two distinct experiment cohorts. The completed no-hint sweep has fifteen model-effort settings, each covering thirteen tasks and three repeats, or five hundred eighty-five attempts. The hint study fixes effort at High for GPT-5.6 Luna, GPT-5.6 Terra, and DeepSeek V4.1 Flash. Nine model-condition settings make three hundred fifty-one logical observations. Those are different Luna generations, so their results should not be silently pooled. Both studies use the Harbor harness and a Codex agent, with ten minutes for the agent and one minute for verification. The files and grading stay frozen across the hint conditions. Thirty-eight Luna baselines were imported from historical matching-task runs with an older client and different concurrency. Thus the Luna hint comparison is descriptive and does not isolate a causal hint effect. Costs are API-equivalent estimates, not subscription usage.</a:t>
            </a:r>
          </a:p>
          <a:p xmlns:a="http://schemas.openxmlformats.org/drawingml/2006/main">
            <a:r>
              <a:t/>
            </a:r>
          </a:p>
          <a:p xmlns:a="http://schemas.openxmlformats.org/drawingml/2006/main">
            <a:r>
              <a:t>Sources:</a:t>
            </a:r>
          </a:p>
          <a:p xmlns:a="http://schemas.openxmlformats.org/drawingml/2006/main">
            <a:r>
              <a:t>/Users/yp9846/Desktop/PhysLiteBench/results/reasoning-sweep-20261011/README.md</a:t>
            </a:r>
          </a:p>
          <a:p xmlns:a="http://schemas.openxmlformats.org/drawingml/2006/main">
            <a:r>
              <a:t>/Users/yp9846/Desktop/PhysLiteBench/results/hint-comparison-20261014/plan.json</a:t>
            </a:r>
          </a:p>
          <a:p xmlns:a="http://schemas.openxmlformats.org/drawingml/2006/main">
            <a:r>
              <a:t>/Users/yp9846/Desktop/PhysLiteBench/results/hint-comparison-20261014/friend-reuse-amendment-20261015.json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75 seconds.</a:t>
            </a:r>
          </a:p>
          <a:p xmlns:a="http://schemas.openxmlformats.org/drawingml/2006/main">
            <a:r>
              <a:t/>
            </a:r>
          </a:p>
          <a:p xmlns:a="http://schemas.openxmlformats.org/drawingml/2006/main">
            <a:r>
              <a:t>This is the observed no-hint cost-success frontier. Every point contains thirty-nine attempts. Higher is better success, and left is lower estimated cost. A Pareto point is one that no other eligible setting beats on both quantities. The dashed line connects those non-dominated settings. GPT-6 Luna Low passes four of thirty-nine at about four tenths of a cent per attempt. Luna Extra High passes twelve at about one point three cents. GPT-6 Sol Low passes thirty-seven at about seven point seven cents. Sol High passes all thirty-nine at about nineteen point eight cents. The exact coordinates in the table help distinguish the low-cost points clustered near the origin. More expensive settings do not exceed that maximum observed score. DeepSeek costs are lower bounds because interrupted requests can have incomplete accounting, so those points do not determine the exact-cost frontier. This comparison describes the selected tasks and fixed runtime budget. Three repeats per task are too few to infer a universal model ranking.</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/Users/yp9846/Desktop/PhysLiteBench/output/reasoning-sweep-20261011/pareto-frontier.json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15 seconds.</a:t>
            </a:r>
          </a:p>
          <a:p xmlns:a="http://schemas.openxmlformats.org/drawingml/2006/main">
            <a:r>
              <a:t/>
            </a:r>
          </a:p>
          <a:p xmlns:a="http://schemas.openxmlformats.org/drawingml/2006/main">
            <a:r>
              <a:t>This slot will compare the three prompt conditions in the High-effort cohort. The full hint study and cost audit are still pending, so I am leaving the results blank.</a:t>
            </a:r>
          </a:p>
          <a:p xmlns:a="http://schemas.openxmlformats.org/drawingml/2006/main">
            <a:r>
              <a:t/>
            </a:r>
          </a:p>
          <a:p xmlns:a="http://schemas.openxmlformats.org/drawingml/2006/main">
            <a:r>
              <a:t>Sources:</a:t>
            </a:r>
          </a:p>
          <a:p xmlns:a="http://schemas.openxmlformats.org/drawingml/2006/main">
            <a:r>
              <a:t>/Users/yp9846/Desktop/PhysLiteBench/results/hint-comparison-20261014/status.json</a:t>
            </a:r>
          </a:p>
          <a:p xmlns:a="http://schemas.openxmlformats.org/drawingml/2006/main">
            <a:r>
              <a:t>/Users/yp9846/Desktop/PhysLiteBench/results/hint-comparison-20261014/plan.json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Here we hold each model fixed and compare its effort settings on the same task suite. Terra increases from four to nine to nineteen completed passes. Luna rises substantially at Extra High, although its Low-to-High change goes the other way. Sol already succeeds on almost every attempt at Low. The Astra Extra High setting loses two completed passes because of timeouts. Both saved checkpoints pass the verifier afterward, but completion within the allowed budget is part of the score. These are descriptive comparisons: each point has only three repeats per task, and the High settings include earlier matching observations. Configuring more reasoning can improve a model's predictions, but it can also consume its execution budget, so completed success need not increase monotonically.</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/Users/yp9846/Desktop/PhysLiteBench/results/trajectory-analysis-20261014/analysis.json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The trajectory analysis combines recorded tool actions, final programs, and verifier outcomes. It does not expose private reasoning. Each bar contains one hundred seventeen attempts across three efforts for that model. Of one hundred ninety-one normally completed failures, one hundred eighty-six fail only hidden prediction checks. At least one hundred forty-one of those also show public-test passes in the recorded actions. This is the calibration-to-prediction gap illustrated by the particle task. DeepSeek has a different dominant bottleneck: one hundred five of its one hundred seventeen attempts end with execution errors, including eighty-three timeouts. A zero overall pass rate therefore cannot be interpreted as one hundred seventeen physics mistakes. The aggregate categories tell us where failures appear. A saved program and a targeted intervention are needed to diagnose a particular physical mistake.</a:t>
            </a:r>
          </a:p>
          <a:p xmlns:a="http://schemas.openxmlformats.org/drawingml/2006/main">
            <a:r>
              <a:t/>
            </a:r>
          </a:p>
          <a:p xmlns:a="http://schemas.openxmlformats.org/drawingml/2006/main">
            <a:r>
              <a:t>Sources:</a:t>
            </a:r>
          </a:p>
          <a:p xmlns:a="http://schemas.openxmlformats.org/drawingml/2006/main">
            <a:r>
              <a:t>/Users/yp9846/Desktop/PhysLiteBench/results/trajectory-analysis-20261014/analysis.json</a:t>
            </a:r>
          </a:p>
          <a:p xmlns:a="http://schemas.openxmlformats.org/drawingml/2006/main">
            <a:r>
              <a:t>/Users/yp9846/Desktop/PhysLiteBench/output/trajectory-analysis-20261014/report.html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95 seconds.</a:t>
            </a:r>
          </a:p>
          <a:p xmlns:a="http://schemas.openxmlformats.org/drawingml/2006/main">
            <a:r>
              <a:t/>
            </a:r>
          </a:p>
          <a:p xmlns:a="http://schemas.openxmlformats.org/drawingml/2006/main">
            <a:r>
              <a:t>Return to the particles. This is one saved GPT-5.6 Terra High attempt without a hint, lasting about eighty seconds. The recorded actions show it reading the setup, accepting the starter covariance, fitting the movement scale, and running the public test. At step eight it writes, "The supplied covariance expression matches the deterministic (quenched) single-file limit." The source diff shows that it adds input validation and comments naming the fixed preparation but retains exactly the original time dependence. That is the red box in the flowchart. Its fitted movement parameter is accurate to about 0.0055 percent, and its public test passes. Equal-time hidden anchors are also accurate. Yet the errors grow to roughly thirty-seven, seventy-eight, and one hundred thirty-six percent when the later measurement is two, four, and eight times the earlier one. The four-percent prediction threshold is exceeded in each of these groups. This matches the task's intended trap: a familiar stationary-increment formula can reproduce all equal-time calibration while missing preparation-dependent memory. To test the diagnosis, the analyst replaces only the covariance formula in an in-memory copy and keeps the fitted parameter fixed. The largest group error falls to about 0.0028 percent. This intervention supports the identified source-level omission. It is not a hint-study outcome, and the original agent attempt still counts as a failure.</a:t>
            </a:r>
          </a:p>
          <a:p xmlns:a="http://schemas.openxmlformats.org/drawingml/2006/main">
            <a:r>
              <a:t/>
            </a:r>
          </a:p>
          <a:p xmlns:a="http://schemas.openxmlformats.org/drawingml/2006/main">
            <a:r>
              <a:t>Sources:</a:t>
            </a:r>
          </a:p>
          <a:p xmlns:a="http://schemas.openxmlformats.org/drawingml/2006/main">
            <a:r>
              <a:t>/Users/yp9846/Desktop/PhysLiteBench/results/trajectory-analysis-20261014/cases/single-file-memory__PC6LumP/review.json</a:t>
            </a:r>
          </a:p>
          <a:p xmlns:a="http://schemas.openxmlformats.org/drawingml/2006/main">
            <a:r>
              <a:t>/Users/yp9846/Desktop/PhysLiteBench/results/trajectory-analysis-20261014/cases/single-file-memory__PC6LumP/model.diff</a:t>
            </a:r>
          </a:p>
          <a:p xmlns:a="http://schemas.openxmlformats.org/drawingml/2006/main">
            <a:r>
              <a:t>/Users/yp9846/Desktop/PhysLiteBench/results/trajectory-analysis-20261014/cases/single-file-memory__PC6LumP/metrics.json</a:t>
            </a:r>
          </a:p>
          <a:p xmlns:a="http://schemas.openxmlformats.org/drawingml/2006/main">
            <a:r>
              <a:t>/Users/yp9846/Desktop/PhysLiteBench/results/trajectory-analysis-20261014/diagnostic-repairs.json</a:t>
            </a:r>
          </a:p>
          <a:p xmlns:a="http://schemas.openxmlformats.org/drawingml/2006/main">
            <a:r>
              <a:t>/Users/yp9846/Desktop/PhysLiteBench/jobs/pareto-gpt-5.6-terra-single-file-memory-20261011-135517/single-file-memory__PC6LumP/agent/trajectory.json</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35 seconds.</a:t>
            </a:r>
          </a:p>
          <a:p xmlns:a="http://schemas.openxmlformats.org/drawingml/2006/main">
            <a:r>
              <a:t/>
            </a:r>
          </a:p>
          <a:p xmlns:a="http://schemas.openxmlformats.org/drawingml/2006/main">
            <a:r>
              <a:t>The particle example shows why calibration accuracy alone cannot establish that a physical predictor is correct. The aggregate results reveal substantial differences in success per dollar, while the effort comparison shows that more reasoning also interacts with a fixed execution budget. The saved Terra program gives a concrete failure mechanism: the parameter fit is excellent, but the model retains the wrong temporal memory. The remaining experiment asks whether a targeted physics cue changes these outcomes more than a general request to check the code. That result stays open until the hint study is complete.</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/Users/yp9846/Desktop/PhysLiteBench/results/trajectory-analysis-20261014/analysis.json</a:t>
            </a:r>
          </a:p>
          <a:p xmlns:a="http://schemas.openxmlformats.org/drawingml/2006/main">
            <a:r>
              <a:t>/Users/yp9846/Desktop/PhysLiteBench/results/hint-comparison-20261014/plan.json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180 seconds.</a:t>
            </a:r>
          </a:p>
          <a:p xmlns:a="http://schemas.openxmlformats.org/drawingml/2006/main">
            <a:r>
              <a:t/>
            </a:r>
          </a:p>
          <a:p xmlns:a="http://schemas.openxmlformats.org/drawingml/2006/main">
            <a:r>
              <a:t>Suggested discussion prompts: How much does selecting tasks against Luna affect the ranking? How should timeout checkpoints enter a benchmark score? What evidence would isolate a causal hint effect? The backup slides give the full no-hint counts, the collaborator cohort and the task roster. Answer with the specific scope limits: selected tasks, three repeats per task, preserved failures, historical baselines and the time budget.</a:t>
            </a:r>
          </a:p>
          <a:p xmlns:a="http://schemas.openxmlformats.org/drawingml/2006/main">
            <a:r>
              <a:t/>
            </a:r>
          </a:p>
          <a:p xmlns:a="http://schemas.openxmlformats.org/drawingml/2006/main">
            <a:r>
              <a:t>Sources:</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Use this slide for exact-count questions. Astra Extra High has thirty-seven completed passes but thirty-nine passing checkpoints. Terra Extra High has nineteen completed passes and twenty passing checkpoints. Luna Extra High has twelve completed passes and thirteen passing checkpoints. DeepSeek Low, High and Max costs remain lower bounds because of interrupted-response accounting. Four historical Terra High attempts were affected by host sleep, and three started DeepSeek High connection failures overlapped host sleep. Those outcomes are preserved in the primary data.</a:t>
            </a:r>
          </a:p>
          <a:p xmlns:a="http://schemas.openxmlformats.org/drawingml/2006/main">
            <a:r>
              <a:t/>
            </a:r>
          </a:p>
          <a:p xmlns:a="http://schemas.openxmlformats.org/drawingml/2006/main">
            <a:r>
              <a:t>Sources:</a:t>
            </a:r>
          </a:p>
          <a:p xmlns:a="http://schemas.openxmlformats.org/drawingml/2006/main">
            <a:r>
              <a:t>/Users/yp9846/Desktop/PhysLiteBench/results/reasoning-sweep-20261011/summary.csv</a:t>
            </a:r>
          </a:p>
          <a:p xmlns:a="http://schemas.openxmlformats.org/drawingml/2006/main">
            <a:r>
              <a:t>/Users/yp9846/Desktop/PhysLiteBench/results/reasoning-sweep-20261011/README.md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The collaborator reports add a full GPT-5.6 Luna sweep with None, Low, Medium, High, Extra High and Max, plus GPT-5.6 Sol and Terra at Low and Medium. These are three hundred ninety unique published attempts. Their task and grading hashes match, but their client version and concurrency differ from the local experiment. They remain a separate cohort and are not silently pooled into the original GPT-6 frontier or trajectory totals. The current hint experiment reuses thirty-eight of the thirty-nine Luna High baseline observations. The one already completed local Luna slot remains local. Raw collaborator native logs were not available for independent trajectory review.</a:t>
            </a:r>
          </a:p>
          <a:p xmlns:a="http://schemas.openxmlformats.org/drawingml/2006/main">
            <a:r>
              <a:t/>
            </a:r>
          </a:p>
          <a:p xmlns:a="http://schemas.openxmlformats.org/drawingml/2006/main">
            <a:r>
              <a:t>Sources:</a:t>
            </a:r>
          </a:p>
          <a:p xmlns:a="http://schemas.openxmlformats.org/drawingml/2006/main">
            <a:r>
              <a:t>/Users/yp9846/Desktop/PhysLiteBench/results/hint-comparison-20261014/imported-friend-results-20261015/import-manifest.json</a:t>
            </a:r>
          </a:p>
          <a:p xmlns:a="http://schemas.openxmlformats.org/drawingml/2006/main">
            <a:r>
              <a:t>/Users/yp9846/Desktop/PhysLiteBench/results/hint-comparison-20261014/friend-reuse-amendment-20261015.json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r>
              <a:t/>
            </a:r>
          </a:p>
          <a:p xmlns:a="http://schemas.openxmlformats.org/drawingml/2006/main">
            <a:r>
              <a:t>This is the complete thirteen-task roster used in the current comparison. The inherited hydrodynamic-heating and thermoelastic-rod folders are outside the roster. The main experiment keeps task files, public instructions, grading and time limits fixed. The results describe this selected suite, and they do not establish population-wide success rates. A zero out of three observation also leaves substantial uncertainty about a task’s underlying pass probability.</a:t>
            </a:r>
          </a:p>
          <a:p xmlns:a="http://schemas.openxmlformats.org/drawingml/2006/main">
            <a:r>
              <a:t/>
            </a:r>
          </a:p>
          <a:p xmlns:a="http://schemas.openxmlformats.org/drawingml/2006/main">
            <a:r>
              <a:t>Sources:</a:t>
            </a:r>
          </a:p>
          <a:p xmlns:a="http://schemas.openxmlformats.org/drawingml/2006/main">
            <a:r>
              <a:t>/Users/yp9846/Desktop/PhysLiteBench/results/task-roster.json</a:t>
            </a:r>
          </a:p>
          <a:p xmlns:a="http://schemas.openxmlformats.org/drawingml/2006/main">
            <a:r>
              <a:t>/Users/yp9846/Desktop/PhysLiteBench/results/hint-comparison-20261014/plan.json</a:t>
            </a:r>
          </a:p>
          <a:p xmlns:a="http://schemas.openxmlformats.org/drawingml/2006/main">
            <a:r>
              <a:t>/Users/yp9846/Desktop/PhysLiteBench/AGENTS.md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d4745132b34c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6cd0a8f0dc45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cd7c00395f48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5bc969f62a47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dd8e4080834a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ab982023eb49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DAF00F-B395-4BB8-A439-9AA89BEDDA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16860D-B2BB-4679-95BC-EC17130D2C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704A9-9853-44A6-8B4A-4DC4DB9A47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E75D2A-E789-411F-A213-993328928F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EACEAE-9A1D-4507-A60D-2AE6FC7CF3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CEFAC2-A0C9-4F70-B012-77B95FAB7D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9C7553-1AB5-446B-B4C5-ABBCB0AC29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184D06-C74C-4068-BE3F-45139A68C7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7D4CBD-570B-4FE0-8AC2-C6CC842A2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CBB10A-755C-4118-A48F-8124498F7F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69f257f2244032" /><Relationship Type="http://schemas.openxmlformats.org/officeDocument/2006/relationships/slideLayout" Target="/ppt/slideLayouts/slideLayout1.xml" Id="R9f9fc13d6a164789" /><Relationship Type="http://schemas.openxmlformats.org/officeDocument/2006/relationships/slideLayout" Target="/ppt/slideLayouts/slideLayout2.xml" Id="R05afb9f23b0b4563" /><Relationship Type="http://schemas.openxmlformats.org/officeDocument/2006/relationships/slideLayout" Target="/ppt/slideLayouts/slideLayout3.xml" Id="R96e0234ba2814c31" /><Relationship Type="http://schemas.openxmlformats.org/officeDocument/2006/relationships/slideLayout" Target="/ppt/slideLayouts/slideLayout4.xml" Id="R9fba35e6ef294d51" /><Relationship Type="http://schemas.openxmlformats.org/officeDocument/2006/relationships/slideLayout" Target="/ppt/slideLayouts/slideLayout5.xml" Id="Rdd53c12d9fe4423f" /><Relationship Type="http://schemas.openxmlformats.org/officeDocument/2006/relationships/slideLayout" Target="/ppt/slideLayouts/slideLayout6.xml" Id="Rade7519913a040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9fc13d6a164789"/>
    <p:sldLayoutId xmlns:r="http://schemas.openxmlformats.org/officeDocument/2006/relationships" id="2147483650" r:id="R05afb9f23b0b4563"/>
    <p:sldLayoutId xmlns:r="http://schemas.openxmlformats.org/officeDocument/2006/relationships" id="2147483651" r:id="R96e0234ba2814c31"/>
    <p:sldLayoutId xmlns:r="http://schemas.openxmlformats.org/officeDocument/2006/relationships" id="2147483652" r:id="R9fba35e6ef294d51"/>
    <p:sldLayoutId xmlns:r="http://schemas.openxmlformats.org/officeDocument/2006/relationships" id="2147483653" r:id="Rdd53c12d9fe4423f"/>
    <p:sldLayoutId xmlns:r="http://schemas.openxmlformats.org/officeDocument/2006/relationships" id="2147483654" r:id="Rade7519913a040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d1259249c340cc" /><Relationship Type="http://schemas.openxmlformats.org/officeDocument/2006/relationships/notesSlide" Target="/ppt/notesSlides/notesSlide1.xml" Id="R57ad33c4aa8044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ed26e96559e43f9" /><Relationship Type="http://schemas.openxmlformats.org/officeDocument/2006/relationships/chart" Target="/ppt/slides/charts/chart1.xml" Id="R630fbc64dfc448d6" /><Relationship Type="http://schemas.openxmlformats.org/officeDocument/2006/relationships/notesSlide" Target="/ppt/notesSlides/notesSlide2.xml" Id="Re89b8f75eed34a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87da284964e48e4" /><Relationship Type="http://schemas.openxmlformats.org/officeDocument/2006/relationships/notesSlide" Target="/ppt/notesSlides/notesSlide3.xml" Id="R22799b3e9ae441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83460229c864e05" /><Relationship Type="http://schemas.openxmlformats.org/officeDocument/2006/relationships/notesSlide" Target="/ppt/notesSlides/notesSlide4.xml" Id="Re900b391c19240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7cb6513e24486e" /><Relationship Type="http://schemas.openxmlformats.org/officeDocument/2006/relationships/chart" Target="/ppt/slides/charts/chart2.xml" Id="Rcf4a92dc93bb404a" /><Relationship Type="http://schemas.openxmlformats.org/officeDocument/2006/relationships/notesSlide" Target="/ppt/notesSlides/notesSlide5.xml" Id="R4364ad208de148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d89749a3fd64c8c" /><Relationship Type="http://schemas.openxmlformats.org/officeDocument/2006/relationships/notesSlide" Target="/ppt/notesSlides/notesSlide6.xml" Id="Rc044bf2adf324e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40d6c3103154ebf" /><Relationship Type="http://schemas.openxmlformats.org/officeDocument/2006/relationships/chart" Target="/ppt/slides/charts/chart3.xml" Id="Rf37efaa434c345e4" /><Relationship Type="http://schemas.openxmlformats.org/officeDocument/2006/relationships/notesSlide" Target="/ppt/notesSlides/notesSlide7.xml" Id="Rfb70bb0d03844e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05e657c29cc4270" /><Relationship Type="http://schemas.openxmlformats.org/officeDocument/2006/relationships/chart" Target="/ppt/slides/charts/chart4.xml" Id="R365ec3fc808e4c1a" /><Relationship Type="http://schemas.openxmlformats.org/officeDocument/2006/relationships/notesSlide" Target="/ppt/notesSlides/notesSlide8.xml" Id="R6d1e553274414a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129d3dcc24c46ec" /><Relationship Type="http://schemas.openxmlformats.org/officeDocument/2006/relationships/notesSlide" Target="/ppt/notesSlides/notesSlide9.xml" Id="Re52f622095c547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b4d260c146f45a9" /><Relationship Type="http://schemas.openxmlformats.org/officeDocument/2006/relationships/notesSlide" Target="/ppt/notesSlides/notesSlide10.xml" Id="R55504ed2c72b4f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bbcf812f4d9466a" /><Relationship Type="http://schemas.openxmlformats.org/officeDocument/2006/relationships/notesSlide" Target="/ppt/notesSlides/notesSlide11.xml" Id="Ra66740de7e3843e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59a18a8ed324415" /><Relationship Type="http://schemas.openxmlformats.org/officeDocument/2006/relationships/notesSlide" Target="/ppt/notesSlides/notesSlide12.xml" Id="R0ea8becd9182424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9468f791dcf44ac" /><Relationship Type="http://schemas.openxmlformats.org/officeDocument/2006/relationships/notesSlide" Target="/ppt/notesSlides/notesSlide13.xml" Id="R009b7763cf2748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848ef1eab0343bc" /><Relationship Type="http://schemas.openxmlformats.org/officeDocument/2006/relationships/notesSlide" Target="/ppt/notesSlides/notesSlide14.xml" Id="R510ced3b9d9e413f" /></Relationships>
</file>

<file path=ppt/slides/charts/_rels/chart1.xml.rels><Relationships xmlns="http://schemas.openxmlformats.org/package/2006/relationships"><Relationship Id="rIdChartSnapshot1" Type="http://schemas.openxmlformats.org/officeDocument/2006/relationships/package" Target="../../embeddings/chart-data-snapshot-004.xlsx"/></Relationships>
</file>

<file path=ppt/slides/charts/_rels/chart2.xml.rels><Relationships xmlns="http://schemas.openxmlformats.org/package/2006/relationships"><Relationship Id="rIdChartSnapshot1" Type="http://schemas.openxmlformats.org/officeDocument/2006/relationships/package" Target="../../embeddings/chart-data-snapshot-001.xlsx"/></Relationships>
</file>

<file path=ppt/slides/charts/_rels/chart3.xml.rels><Relationships xmlns="http://schemas.openxmlformats.org/package/2006/relationships"><Relationship Id="rIdChartSnapshot1" Type="http://schemas.openxmlformats.org/officeDocument/2006/relationships/package" Target="../../embeddings/chart-data-snapshot-002.xlsx"/></Relationships>
</file>

<file path=ppt/slides/charts/_rels/chart4.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Starter formula</c:v>
          </c:tx>
          <c:spPr>
            <a:ln xmlns:a="http://schemas.openxmlformats.org/drawingml/2006/main" w="25718">
              <a:solidFill>
                <a:srgbClr val="A50026"/>
              </a:solidFill>
            </a:ln>
          </c:spPr>
          <c:marker>
            <c:symbol val="none"/>
          </c:marker>
          <c:dLbls>
            <c:txPr>
              <a:bodyPr xmlns:a="http://schemas.openxmlformats.org/drawingml/2006/main" anchorCtr="1"/>
              <a:lstStyle xmlns:a="http://schemas.openxmlformats.org/drawingml/2006/main"/>
              <a:p xmlns:a="http://schemas.openxmlformats.org/drawingml/2006/main">
                <a:pPr>
                  <a:defRPr sz="1350">
                    <a:latin typeface="Times New Roman"/>
                    <a:ea typeface="Times New Roman"/>
                    <a:cs typeface="Times New Roman"/>
                  </a:defRPr>
                </a:pPr>
              </a:p>
            </c:txPr>
            <c:showLegendKey val="0"/>
            <c:showVal val="0"/>
            <c:showCatName val="0"/>
            <c:showSerName val="0"/>
            <c:showPercent val="0"/>
            <c:showBubbleSize val="0"/>
            <c:showLeaderLines val="0"/>
          </c:dLbls>
          <c:xVal>
            <c:numRef>
              <c:f>'Chart Data'!$A$2:$A$58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Data'!$B$2:$B$58</c:f>
              <c:numCache>
                <c:formatCode>0.00</c:formatCode>
                <c:ptCount val="57"/>
                <c:pt idx="0">
                  <c:v>1</c:v>
                </c:pt>
                <c:pt idx="1">
                  <c:v>0.853553391</c:v>
                </c:pt>
                <c:pt idx="2">
                  <c:v>0.809016994</c:v>
                </c:pt>
                <c:pt idx="3">
                  <c:v>0.780115752</c:v>
                </c:pt>
                <c:pt idx="4">
                  <c:v>0.758819045</c:v>
                </c:pt>
                <c:pt idx="5">
                  <c:v>0.742092732</c:v>
                </c:pt>
                <c:pt idx="6">
                  <c:v>0.728425126</c:v>
                </c:pt>
                <c:pt idx="7">
                  <c:v>0.716946024</c:v>
                </c:pt>
                <c:pt idx="8">
                  <c:v>0.707106781</c:v>
                </c:pt>
                <c:pt idx="9">
                  <c:v>0.698538901</c:v>
                </c:pt>
                <c:pt idx="10">
                  <c:v>0.690983006</c:v>
                </c:pt>
                <c:pt idx="11">
                  <c:v>0.68424978</c:v>
                </c:pt>
                <c:pt idx="12">
                  <c:v>0.678196979</c:v>
                </c:pt>
                <c:pt idx="13">
                  <c:v>0.672715148</c:v>
                </c:pt>
                <c:pt idx="14">
                  <c:v>0.66771837</c:v>
                </c:pt>
                <c:pt idx="15">
                  <c:v>0.663138051</c:v>
                </c:pt>
                <c:pt idx="16">
                  <c:v>0.658918623</c:v>
                </c:pt>
                <c:pt idx="17">
                  <c:v>0.65501449</c:v>
                </c:pt>
                <c:pt idx="18">
                  <c:v>0.651387819</c:v>
                </c:pt>
                <c:pt idx="19">
                  <c:v>0.648006903</c:v>
                </c:pt>
                <c:pt idx="20">
                  <c:v>0.644844932</c:v>
                </c:pt>
                <c:pt idx="21">
                  <c:v>0.641879051</c:v>
                </c:pt>
                <c:pt idx="22">
                  <c:v>0.639089639</c:v>
                </c:pt>
                <c:pt idx="23">
                  <c:v>0.636459736</c:v>
                </c:pt>
                <c:pt idx="24">
                  <c:v>0.633974596</c:v>
                </c:pt>
                <c:pt idx="25">
                  <c:v>0.631621324</c:v>
                </c:pt>
                <c:pt idx="26">
                  <c:v>0.629388588</c:v>
                </c:pt>
                <c:pt idx="27">
                  <c:v>0.62726638</c:v>
                </c:pt>
                <c:pt idx="28">
                  <c:v>0.625245825</c:v>
                </c:pt>
                <c:pt idx="29">
                  <c:v>0.62331902</c:v>
                </c:pt>
                <c:pt idx="30">
                  <c:v>0.621478899</c:v>
                </c:pt>
                <c:pt idx="31">
                  <c:v>0.619719124</c:v>
                </c:pt>
                <c:pt idx="32">
                  <c:v>0.618033989</c:v>
                </c:pt>
                <c:pt idx="33">
                  <c:v>0.616418342</c:v>
                </c:pt>
                <c:pt idx="34">
                  <c:v>0.614867517</c:v>
                </c:pt>
                <c:pt idx="35">
                  <c:v>0.613377279</c:v>
                </c:pt>
                <c:pt idx="36">
                  <c:v>0.611943768</c:v>
                </c:pt>
                <c:pt idx="37">
                  <c:v>0.610563464</c:v>
                </c:pt>
                <c:pt idx="38">
                  <c:v>0.609233145</c:v>
                </c:pt>
                <c:pt idx="39">
                  <c:v>0.607949856</c:v>
                </c:pt>
                <c:pt idx="40">
                  <c:v>0.606710883</c:v>
                </c:pt>
                <c:pt idx="41">
                  <c:v>0.605513725</c:v>
                </c:pt>
                <c:pt idx="42">
                  <c:v>0.604356076</c:v>
                </c:pt>
                <c:pt idx="43">
                  <c:v>0.603235805</c:v>
                </c:pt>
                <c:pt idx="44">
                  <c:v>0.602150938</c:v>
                </c:pt>
                <c:pt idx="45">
                  <c:v>0.601099645</c:v>
                </c:pt>
                <c:pt idx="46">
                  <c:v>0.600080225</c:v>
                </c:pt>
                <c:pt idx="47">
                  <c:v>0.599091096</c:v>
                </c:pt>
                <c:pt idx="48">
                  <c:v>0.598130784</c:v>
                </c:pt>
                <c:pt idx="49">
                  <c:v>0.597197914</c:v>
                </c:pt>
                <c:pt idx="50">
                  <c:v>0.596291202</c:v>
                </c:pt>
                <c:pt idx="51">
                  <c:v>0.595409444</c:v>
                </c:pt>
                <c:pt idx="52">
                  <c:v>0.594551515</c:v>
                </c:pt>
                <c:pt idx="53">
                  <c:v>0.59371636</c:v>
                </c:pt>
                <c:pt idx="54">
                  <c:v>0.592902985</c:v>
                </c:pt>
                <c:pt idx="55">
                  <c:v>0.59211046</c:v>
                </c:pt>
                <c:pt idx="56">
                  <c:v>0.591337907</c:v>
                </c:pt>
              </c:numCache>
            </c:numRef>
          </c:yVal>
        </c:ser>
        <c:ser>
          <c:idx val="1"/>
          <c:order val="1"/>
          <c:tx>
            <c:v>Correct physics</c:v>
          </c:tx>
          <c:spPr>
            <a:ln xmlns:a="http://schemas.openxmlformats.org/drawingml/2006/main" w="25718">
              <a:solidFill>
                <a:srgbClr val="0F766E"/>
              </a:solidFill>
            </a:ln>
          </c:spPr>
          <c:marker>
            <c:symbol val="none"/>
          </c:marker>
          <c:dLbls>
            <c:txPr>
              <a:bodyPr xmlns:a="http://schemas.openxmlformats.org/drawingml/2006/main" anchorCtr="1"/>
              <a:lstStyle xmlns:a="http://schemas.openxmlformats.org/drawingml/2006/main"/>
              <a:p xmlns:a="http://schemas.openxmlformats.org/drawingml/2006/main">
                <a:pPr>
                  <a:defRPr sz="1350">
                    <a:latin typeface="Times New Roman"/>
                    <a:ea typeface="Times New Roman"/>
                    <a:cs typeface="Times New Roman"/>
                  </a:defRPr>
                </a:pPr>
              </a:p>
            </c:txPr>
            <c:showLegendKey val="0"/>
            <c:showVal val="0"/>
            <c:showCatName val="0"/>
            <c:showSerName val="0"/>
            <c:showPercent val="0"/>
            <c:showBubbleSize val="0"/>
            <c:showLeaderLines val="0"/>
          </c:dLbls>
          <c:xVal>
            <c:numRef>
              <c:f>'Chart Data'!$C$2:$C$58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Data'!$D$2:$D$58</c:f>
              <c:numCache>
                <c:formatCode>0.00</c:formatCode>
                <c:ptCount val="57"/>
                <c:pt idx="0">
                  <c:v>1</c:v>
                </c:pt>
                <c:pt idx="1">
                  <c:v>0.780776406</c:v>
                </c:pt>
                <c:pt idx="2">
                  <c:v>0.707106781</c:v>
                </c:pt>
                <c:pt idx="3">
                  <c:v>0.656712034</c:v>
                </c:pt>
                <c:pt idx="4">
                  <c:v>0.618033989</c:v>
                </c:pt>
                <c:pt idx="5">
                  <c:v>0.586626929</c:v>
                </c:pt>
                <c:pt idx="6">
                  <c:v>0.560231504</c:v>
                </c:pt>
                <c:pt idx="7">
                  <c:v>0.537520053</c:v>
                </c:pt>
                <c:pt idx="8">
                  <c:v>0.51763809</c:v>
                </c:pt>
                <c:pt idx="9">
                  <c:v>0.5</c:v>
                </c:pt>
                <c:pt idx="10">
                  <c:v>0.484185463</c:v>
                </c:pt>
                <c:pt idx="11">
                  <c:v>0.469881908</c:v>
                </c:pt>
                <c:pt idx="12">
                  <c:v>0.456850252</c:v>
                </c:pt>
                <c:pt idx="13">
                  <c:v>0.444903383</c:v>
                </c:pt>
                <c:pt idx="14">
                  <c:v>0.433892047</c:v>
                </c:pt>
                <c:pt idx="15">
                  <c:v>0.423695254</c:v>
                </c:pt>
                <c:pt idx="16">
                  <c:v>0.414213562</c:v>
                </c:pt>
                <c:pt idx="17">
                  <c:v>0.405364255</c:v>
                </c:pt>
                <c:pt idx="18">
                  <c:v>0.397077802</c:v>
                </c:pt>
                <c:pt idx="19">
                  <c:v>0.38929521</c:v>
                </c:pt>
                <c:pt idx="20">
                  <c:v>0.381966011</c:v>
                </c:pt>
                <c:pt idx="21">
                  <c:v>0.375046709</c:v>
                </c:pt>
                <c:pt idx="22">
                  <c:v>0.368499561</c:v>
                </c:pt>
                <c:pt idx="23">
                  <c:v>0.362291619</c:v>
                </c:pt>
                <c:pt idx="24">
                  <c:v>0.356393959</c:v>
                </c:pt>
                <c:pt idx="25">
                  <c:v>0.350781059</c:v>
                </c:pt>
                <c:pt idx="26">
                  <c:v>0.345430296</c:v>
                </c:pt>
                <c:pt idx="27">
                  <c:v>0.340321525</c:v>
                </c:pt>
                <c:pt idx="28">
                  <c:v>0.33543674</c:v>
                </c:pt>
                <c:pt idx="29">
                  <c:v>0.330759781</c:v>
                </c:pt>
                <c:pt idx="30">
                  <c:v>0.326276102</c:v>
                </c:pt>
                <c:pt idx="31">
                  <c:v>0.321972559</c:v>
                </c:pt>
                <c:pt idx="32">
                  <c:v>0.317837245</c:v>
                </c:pt>
                <c:pt idx="33">
                  <c:v>0.313859338</c:v>
                </c:pt>
                <c:pt idx="34">
                  <c:v>0.310028979</c:v>
                </c:pt>
                <c:pt idx="35">
                  <c:v>0.306337161</c:v>
                </c:pt>
                <c:pt idx="36">
                  <c:v>0.302775638</c:v>
                </c:pt>
                <c:pt idx="37">
                  <c:v>0.29933684</c:v>
                </c:pt>
                <c:pt idx="38">
                  <c:v>0.296013806</c:v>
                </c:pt>
                <c:pt idx="39">
                  <c:v>0.292800122</c:v>
                </c:pt>
                <c:pt idx="40">
                  <c:v>0.289689863</c:v>
                </c:pt>
                <c:pt idx="41">
                  <c:v>0.286677549</c:v>
                </c:pt>
                <c:pt idx="42">
                  <c:v>0.283758102</c:v>
                </c:pt>
                <c:pt idx="43">
                  <c:v>0.280926806</c:v>
                </c:pt>
                <c:pt idx="44">
                  <c:v>0.278179278</c:v>
                </c:pt>
                <c:pt idx="45">
                  <c:v>0.275511436</c:v>
                </c:pt>
                <c:pt idx="46">
                  <c:v>0.272919473</c:v>
                </c:pt>
                <c:pt idx="47">
                  <c:v>0.270399833</c:v>
                </c:pt>
                <c:pt idx="48">
                  <c:v>0.267949192</c:v>
                </c:pt>
                <c:pt idx="49">
                  <c:v>0.265564437</c:v>
                </c:pt>
                <c:pt idx="50">
                  <c:v>0.263242648</c:v>
                </c:pt>
                <c:pt idx="51">
                  <c:v>0.260981086</c:v>
                </c:pt>
                <c:pt idx="52">
                  <c:v>0.258777175</c:v>
                </c:pt>
                <c:pt idx="53">
                  <c:v>0.256628493</c:v>
                </c:pt>
                <c:pt idx="54">
                  <c:v>0.254532759</c:v>
                </c:pt>
                <c:pt idx="55">
                  <c:v>0.252487822</c:v>
                </c:pt>
                <c:pt idx="56">
                  <c:v>0.25049165</c:v>
                </c:pt>
              </c:numCache>
            </c:numRef>
          </c:yVal>
        </c:ser>
        <c:dLbls>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7620">
              <a:solidFill>
                <a:srgbClr val="D1D5DB"/>
              </a:solidFill>
              <a:prstDash val="solid"/>
            </a:ln>
          </c:spPr>
        </c:majorGridlines>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Shared motion (normalized)</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Times New Roman"/>
                <a:ea typeface="Times New Roman"/>
                <a:cs typeface="Times New Roman"/>
              </a:defRPr>
            </a:pPr>
          </a:p>
        </c:txPr>
        <c:crossAx val="48650112"/>
        <c:majorUnit val="0.25"/>
      </c:valAx>
      <c:valAx>
        <c:axId val="48650112"/>
        <c:scaling>
          <c:orientation val="minMax"/>
          <c:max val="8"/>
          <c:min val="1"/>
        </c:scaling>
        <c:delete val="0"/>
        <c:axPos val="b"/>
        <c:title>
          <c:tx>
            <c:rich>
              <a:bodyPr xmlns:a="http://schemas.openxmlformats.org/drawingml/2006/main"/>
              <a:lstStyle xmlns:a="http://schemas.openxmlformats.org/drawingml/2006/main"/>
              <a:p xmlns:a="http://schemas.openxmlformats.org/drawingml/2006/main">
                <a:r>
                  <a:rPr>
                    <a:latin typeface="Times New Roman"/>
                    <a:ea typeface="Times New Roman"/>
                    <a:cs typeface="Times New Roman"/>
                  </a:rPr>
                  <a:t>Later time / earlier time</a:t>
                </a:r>
              </a:p>
            </c:rich>
          </c:tx>
          <c:overlay val="0"/>
          <c:txPr>
            <a:bodyPr xmlns:a="http://schemas.openxmlformats.org/drawingml/2006/main" anchorCtr="1"/>
            <a:lstStyle xmlns:a="http://schemas.openxmlformats.org/drawingml/2006/main"/>
            <a:p xmlns:a="http://schemas.openxmlformats.org/drawingml/2006/main">
              <a:pPr>
                <a:defRPr>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Times New Roman"/>
                <a:ea typeface="Times New Roman"/>
                <a:cs typeface="Times New Roman"/>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a="http://schemas.openxmlformats.org/drawingml/2006/main" xmlns:c="http://schemas.openxmlformats.org/drawingml/2006/chart" xmlns:r="http://schemas.openxmlformats.org/officeDocument/2006/relationships">
  <c:lang val="en-US"/>
  <c:chart>
    <c:plotArea>
      <c:scatterChart>
        <c:scatterStyle val="lineMarker"/>
        <c:varyColors val="0"/>
        <c:ser>
          <c:idx val="0"/>
          <c:order val="0"/>
          <c:tx>
            <c:v>Observed frontier</c:v>
          </c:tx>
          <c:spPr>
            <a:ln w="19050">
              <a:solidFill>
                <a:srgbClr val="0F766E"/>
              </a:solidFill>
              <a:prstDash val="dash"/>
            </a:ln>
          </c:spPr>
          <c:marker>
            <c:symbol val="none"/>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Data'!$A$2:$A$5</c:f>
              <c:numCache>
                <c:formatCode>General</c:formatCode>
                <c:ptCount val="4"/>
                <c:pt idx="0">
                  <c:v>0.004017401</c:v>
                </c:pt>
                <c:pt idx="1">
                  <c:v>0.012608159</c:v>
                </c:pt>
                <c:pt idx="2">
                  <c:v>0.077331221</c:v>
                </c:pt>
                <c:pt idx="3">
                  <c:v>0.19754441</c:v>
                </c:pt>
              </c:numCache>
            </c:numRef>
          </c:xVal>
          <c:yVal>
            <c:numRef>
              <c:f>'Chart Data'!$B$2:$B$5</c:f>
              <c:numCache>
                <c:formatCode>0%</c:formatCode>
                <c:ptCount val="4"/>
                <c:pt idx="0">
                  <c:v>0.102564103</c:v>
                </c:pt>
                <c:pt idx="1">
                  <c:v>0.307692308</c:v>
                </c:pt>
                <c:pt idx="2">
                  <c:v>0.948717949</c:v>
                </c:pt>
                <c:pt idx="3">
                  <c:v>1</c:v>
                </c:pt>
              </c:numCache>
            </c:numRef>
          </c:yVal>
        </c:ser>
        <c:ser>
          <c:idx val="1"/>
          <c:order val="1"/>
          <c:tx>
            <c:v>GPT-6 Luna Low</c:v>
          </c:tx>
          <c:spPr>
            <a:ln w="0">
              <a:noFill/>
            </a:ln>
          </c:spPr>
          <c:marker>
            <c:symbol val="circle"/>
            <c:size val="12"/>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Data'!$C$2:$C$2</c:f>
              <c:numCache>
                <c:formatCode>General</c:formatCode>
                <c:ptCount val="1"/>
                <c:pt idx="0">
                  <c:v>0.004017401</c:v>
                </c:pt>
              </c:numCache>
            </c:numRef>
          </c:xVal>
          <c:yVal>
            <c:numRef>
              <c:f>'Chart Data'!$D$2:$D$2</c:f>
              <c:numCache>
                <c:formatCode>0%</c:formatCode>
                <c:ptCount val="1"/>
                <c:pt idx="0">
                  <c:v>0.102564103</c:v>
                </c:pt>
              </c:numCache>
            </c:numRef>
          </c:yVal>
        </c:ser>
        <c:ser>
          <c:idx val="2"/>
          <c:order val="2"/>
          <c:tx>
            <c:v>GPT-6 Luna High</c:v>
          </c:tx>
          <c:spPr>
            <a:ln w="0">
              <a:noFill/>
            </a:ln>
          </c:spPr>
          <c:marker>
            <c:symbol val="square"/>
            <c:size val="12"/>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Data'!$E$2:$E$2</c:f>
              <c:numCache>
                <c:formatCode>General</c:formatCode>
                <c:ptCount val="1"/>
                <c:pt idx="0">
                  <c:v>0.005174499</c:v>
                </c:pt>
              </c:numCache>
            </c:numRef>
          </c:xVal>
          <c:yVal>
            <c:numRef>
              <c:f>'Chart Data'!$F$2:$F$2</c:f>
              <c:numCache>
                <c:formatCode>0%</c:formatCode>
                <c:ptCount val="1"/>
                <c:pt idx="0">
                  <c:v>0.025641026</c:v>
                </c:pt>
              </c:numCache>
            </c:numRef>
          </c:yVal>
        </c:ser>
        <c:ser>
          <c:idx val="3"/>
          <c:order val="3"/>
          <c:tx>
            <c:v>GPT-6 Luna Extra High</c:v>
          </c:tx>
          <c:spPr>
            <a:ln w="0">
              <a:noFill/>
            </a:ln>
          </c:spPr>
          <c:marker>
            <c:symbol val="triangle"/>
            <c:size val="12"/>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Data'!$G$2:$G$2</c:f>
              <c:numCache>
                <c:formatCode>General</c:formatCode>
                <c:ptCount val="1"/>
                <c:pt idx="0">
                  <c:v>0.012608159</c:v>
                </c:pt>
              </c:numCache>
            </c:numRef>
          </c:xVal>
          <c:yVal>
            <c:numRef>
              <c:f>'Chart Data'!$H$2:$H$2</c:f>
              <c:numCache>
                <c:formatCode>0%</c:formatCode>
                <c:ptCount val="1"/>
                <c:pt idx="0">
                  <c:v>0.307692308</c:v>
                </c:pt>
              </c:numCache>
            </c:numRef>
          </c:yVal>
        </c:ser>
        <c:ser>
          <c:idx val="4"/>
          <c:order val="4"/>
          <c:tx>
            <c:v>GPT-6 Sol Low</c:v>
          </c:tx>
          <c:spPr>
            <a:ln w="0">
              <a:noFill/>
            </a:ln>
          </c:spPr>
          <c:marker>
            <c:symbol val="circle"/>
            <c:size val="12"/>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Data'!$I$2:$I$2</c:f>
              <c:numCache>
                <c:formatCode>General</c:formatCode>
                <c:ptCount val="1"/>
                <c:pt idx="0">
                  <c:v>0.077331221</c:v>
                </c:pt>
              </c:numCache>
            </c:numRef>
          </c:xVal>
          <c:yVal>
            <c:numRef>
              <c:f>'Chart Data'!$J$2:$J$2</c:f>
              <c:numCache>
                <c:formatCode>0%</c:formatCode>
                <c:ptCount val="1"/>
                <c:pt idx="0">
                  <c:v>0.948717949</c:v>
                </c:pt>
              </c:numCache>
            </c:numRef>
          </c:yVal>
        </c:ser>
        <c:ser>
          <c:idx val="5"/>
          <c:order val="5"/>
          <c:tx>
            <c:v>GPT-6 Sol High</c:v>
          </c:tx>
          <c:spPr>
            <a:ln w="0">
              <a:noFill/>
            </a:ln>
          </c:spPr>
          <c:marker>
            <c:symbol val="square"/>
            <c:size val="12"/>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Data'!$K$2:$K$2</c:f>
              <c:numCache>
                <c:formatCode>General</c:formatCode>
                <c:ptCount val="1"/>
                <c:pt idx="0">
                  <c:v>0.19754441</c:v>
                </c:pt>
              </c:numCache>
            </c:numRef>
          </c:xVal>
          <c:yVal>
            <c:numRef>
              <c:f>'Chart Data'!$L$2:$L$2</c:f>
              <c:numCache>
                <c:formatCode>0%</c:formatCode>
                <c:ptCount val="1"/>
                <c:pt idx="0">
                  <c:v>1</c:v>
                </c:pt>
              </c:numCache>
            </c:numRef>
          </c:yVal>
        </c:ser>
        <c:ser>
          <c:idx val="6"/>
          <c:order val="6"/>
          <c:tx>
            <c:v>GPT-6 Sol Extra High</c:v>
          </c:tx>
          <c:spPr>
            <a:ln w="0">
              <a:noFill/>
            </a:ln>
          </c:spPr>
          <c:marker>
            <c:symbol val="triangle"/>
            <c:size val="12"/>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Data'!$M$2:$M$2</c:f>
              <c:numCache>
                <c:formatCode>General</c:formatCode>
                <c:ptCount val="1"/>
                <c:pt idx="0">
                  <c:v>0.230608174</c:v>
                </c:pt>
              </c:numCache>
            </c:numRef>
          </c:xVal>
          <c:yVal>
            <c:numRef>
              <c:f>'Chart Data'!$N$2:$N$2</c:f>
              <c:numCache>
                <c:formatCode>0%</c:formatCode>
                <c:ptCount val="1"/>
                <c:pt idx="0">
                  <c:v>1</c:v>
                </c:pt>
              </c:numCache>
            </c:numRef>
          </c:yVal>
        </c:ser>
        <c:ser>
          <c:idx val="7"/>
          <c:order val="7"/>
          <c:tx>
            <c:v>GPT-5.6 Terra Low</c:v>
          </c:tx>
          <c:spPr>
            <a:ln w="0">
              <a:noFill/>
            </a:ln>
          </c:spPr>
          <c:marker>
            <c:symbol val="circle"/>
            <c:size val="12"/>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Data'!$O$2:$O$2</c:f>
              <c:numCache>
                <c:formatCode>General</c:formatCode>
                <c:ptCount val="1"/>
                <c:pt idx="0">
                  <c:v>0.110705877</c:v>
                </c:pt>
              </c:numCache>
            </c:numRef>
          </c:xVal>
          <c:yVal>
            <c:numRef>
              <c:f>'Chart Data'!$P$2:$P$2</c:f>
              <c:numCache>
                <c:formatCode>0%</c:formatCode>
                <c:ptCount val="1"/>
                <c:pt idx="0">
                  <c:v>0.102564103</c:v>
                </c:pt>
              </c:numCache>
            </c:numRef>
          </c:yVal>
        </c:ser>
        <c:ser>
          <c:idx val="8"/>
          <c:order val="8"/>
          <c:tx>
            <c:v>GPT-5.6 Terra High</c:v>
          </c:tx>
          <c:spPr>
            <a:ln w="0">
              <a:noFill/>
            </a:ln>
          </c:spPr>
          <c:marker>
            <c:symbol val="square"/>
            <c:size val="12"/>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Data'!$Q$2:$Q$2</c:f>
              <c:numCache>
                <c:formatCode>General</c:formatCode>
                <c:ptCount val="1"/>
                <c:pt idx="0">
                  <c:v>0.194193528</c:v>
                </c:pt>
              </c:numCache>
            </c:numRef>
          </c:xVal>
          <c:yVal>
            <c:numRef>
              <c:f>'Chart Data'!$R$2:$R$2</c:f>
              <c:numCache>
                <c:formatCode>0%</c:formatCode>
                <c:ptCount val="1"/>
                <c:pt idx="0">
                  <c:v>0.230769231</c:v>
                </c:pt>
              </c:numCache>
            </c:numRef>
          </c:yVal>
        </c:ser>
        <c:ser>
          <c:idx val="9"/>
          <c:order val="9"/>
          <c:tx>
            <c:v>GPT-5.6 Terra Extra High</c:v>
          </c:tx>
          <c:spPr>
            <a:ln w="0">
              <a:noFill/>
            </a:ln>
          </c:spPr>
          <c:marker>
            <c:symbol val="triangle"/>
            <c:size val="12"/>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Data'!$S$2:$S$2</c:f>
              <c:numCache>
                <c:formatCode>General</c:formatCode>
                <c:ptCount val="1"/>
                <c:pt idx="0">
                  <c:v>0.319629651</c:v>
                </c:pt>
              </c:numCache>
            </c:numRef>
          </c:xVal>
          <c:yVal>
            <c:numRef>
              <c:f>'Chart Data'!$T$2:$T$2</c:f>
              <c:numCache>
                <c:formatCode>0%</c:formatCode>
                <c:ptCount val="1"/>
                <c:pt idx="0">
                  <c:v>0.487179487</c:v>
                </c:pt>
              </c:numCache>
            </c:numRef>
          </c:yVal>
        </c:ser>
        <c:ser>
          <c:idx val="10"/>
          <c:order val="10"/>
          <c:tx>
            <c:v>GPT-6 Astra Low</c:v>
          </c:tx>
          <c:spPr>
            <a:ln w="0">
              <a:noFill/>
            </a:ln>
          </c:spPr>
          <c:marker>
            <c:symbol val="circle"/>
            <c:size val="12"/>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Data'!$U$2:$U$2</c:f>
              <c:numCache>
                <c:formatCode>General</c:formatCode>
                <c:ptCount val="1"/>
                <c:pt idx="0">
                  <c:v>0.445010154</c:v>
                </c:pt>
              </c:numCache>
            </c:numRef>
          </c:xVal>
          <c:yVal>
            <c:numRef>
              <c:f>'Chart Data'!$V$2:$V$2</c:f>
              <c:numCache>
                <c:formatCode>0%</c:formatCode>
                <c:ptCount val="1"/>
                <c:pt idx="0">
                  <c:v>1</c:v>
                </c:pt>
              </c:numCache>
            </c:numRef>
          </c:yVal>
        </c:ser>
        <c:ser>
          <c:idx val="11"/>
          <c:order val="11"/>
          <c:tx>
            <c:v>GPT-6 Astra High</c:v>
          </c:tx>
          <c:spPr>
            <a:ln w="0">
              <a:noFill/>
            </a:ln>
          </c:spPr>
          <c:marker>
            <c:symbol val="square"/>
            <c:size val="12"/>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Data'!$W$2:$W$2</c:f>
              <c:numCache>
                <c:formatCode>General</c:formatCode>
                <c:ptCount val="1"/>
                <c:pt idx="0">
                  <c:v>0.713228256</c:v>
                </c:pt>
              </c:numCache>
            </c:numRef>
          </c:xVal>
          <c:yVal>
            <c:numRef>
              <c:f>'Chart Data'!$X$2:$X$2</c:f>
              <c:numCache>
                <c:formatCode>0%</c:formatCode>
                <c:ptCount val="1"/>
                <c:pt idx="0">
                  <c:v>1</c:v>
                </c:pt>
              </c:numCache>
            </c:numRef>
          </c:yVal>
        </c:ser>
        <c:ser>
          <c:idx val="12"/>
          <c:order val="12"/>
          <c:tx>
            <c:v>GPT-6 Astra Extra High</c:v>
          </c:tx>
          <c:spPr>
            <a:ln w="0">
              <a:noFill/>
            </a:ln>
          </c:spPr>
          <c:marker>
            <c:symbol val="triangle"/>
            <c:size val="12"/>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Data'!$Y$2:$Y$2</c:f>
              <c:numCache>
                <c:formatCode>General</c:formatCode>
                <c:ptCount val="1"/>
                <c:pt idx="0">
                  <c:v>1.080135385</c:v>
                </c:pt>
              </c:numCache>
            </c:numRef>
          </c:xVal>
          <c:yVal>
            <c:numRef>
              <c:f>'Chart Data'!$Z$2:$Z$2</c:f>
              <c:numCache>
                <c:formatCode>0%</c:formatCode>
                <c:ptCount val="1"/>
                <c:pt idx="0">
                  <c:v>0.948717949</c:v>
                </c:pt>
              </c:numCache>
            </c:numRef>
          </c:yVal>
        </c:ser>
        <c:ser>
          <c:idx val="13"/>
          <c:order val="13"/>
          <c:tx>
            <c:v>DeepSeek V4.1 Flash High</c:v>
          </c:tx>
          <c:spPr>
            <a:ln w="0">
              <a:noFill/>
            </a:ln>
          </c:spPr>
          <c:marker>
            <c:symbol val="square"/>
            <c:size val="12"/>
            <c:spPr>
              <a:solidFill>
                <a:srgbClr val="A50026"/>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Data'!$AA$2:$AA$2</c:f>
              <c:numCache>
                <c:formatCode>General</c:formatCode>
                <c:ptCount val="1"/>
                <c:pt idx="0">
                  <c:v>0.150040014</c:v>
                </c:pt>
              </c:numCache>
            </c:numRef>
          </c:xVal>
          <c:yVal>
            <c:numRef>
              <c:f>'Chart Data'!$AB$2:$AB$2</c:f>
              <c:numCache>
                <c:formatCode>0%</c:formatCode>
                <c:ptCount val="1"/>
                <c:pt idx="0">
                  <c:v>0</c:v>
                </c:pt>
              </c:numCache>
            </c:numRef>
          </c:yVal>
        </c:ser>
        <c:ser>
          <c:idx val="14"/>
          <c:order val="14"/>
          <c:tx>
            <c:v>DeepSeek V4.1 Flash Low</c:v>
          </c:tx>
          <c:spPr>
            <a:ln w="0">
              <a:noFill/>
            </a:ln>
          </c:spPr>
          <c:marker>
            <c:symbol val="circle"/>
            <c:size val="12"/>
            <c:spPr>
              <a:solidFill>
                <a:srgbClr val="A50026"/>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Data'!$AC$2:$AC$2</c:f>
              <c:numCache>
                <c:formatCode>General</c:formatCode>
                <c:ptCount val="1"/>
                <c:pt idx="0">
                  <c:v>0.099535269</c:v>
                </c:pt>
              </c:numCache>
            </c:numRef>
          </c:xVal>
          <c:yVal>
            <c:numRef>
              <c:f>'Chart Data'!$AD$2:$AD$2</c:f>
              <c:numCache>
                <c:formatCode>0%</c:formatCode>
                <c:ptCount val="1"/>
                <c:pt idx="0">
                  <c:v>0</c:v>
                </c:pt>
              </c:numCache>
            </c:numRef>
          </c:yVal>
        </c:ser>
        <c:ser>
          <c:idx val="15"/>
          <c:order val="15"/>
          <c:tx>
            <c:v>DeepSeek V4.1 Flash Max</c:v>
          </c:tx>
          <c:spPr>
            <a:ln w="0">
              <a:noFill/>
            </a:ln>
          </c:spPr>
          <c:marker>
            <c:symbol val="diamond"/>
            <c:size val="12"/>
            <c:spPr>
              <a:solidFill>
                <a:srgbClr val="A50026"/>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xVal>
            <c:numRef>
              <c:f>'Chart Data'!$AE$2:$AE$2</c:f>
              <c:numCache>
                <c:formatCode>General</c:formatCode>
                <c:ptCount val="1"/>
                <c:pt idx="0">
                  <c:v>0.244972869</c:v>
                </c:pt>
              </c:numCache>
            </c:numRef>
          </c:xVal>
          <c:yVal>
            <c:numRef>
              <c:f>'Chart Data'!$AF$2:$AF$2</c:f>
              <c:numCache>
                <c:formatCode>0%</c:formatCode>
                <c:ptCount val="1"/>
                <c:pt idx="0">
                  <c:v>0</c:v>
                </c:pt>
              </c:numCache>
            </c:numRef>
          </c:yVal>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axId val="48650112"/>
        <c:axId val="48672768"/>
      </c:scatterChart>
      <c:valAx>
        <c:axId val="48672768"/>
        <c:scaling>
          <c:orientation val="minMax"/>
          <c:max val="1.06"/>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 rate</a:t>
                </a:r>
              </a:p>
            </c:rich>
          </c:tx>
          <c:overlay val="0"/>
          <c:txPr>
            <a:bodyPr anchorCtr="1"/>
            <a:lstStyle/>
            <a:p>
              <a:pPr>
                <a:defRPr sz="1575">
                  <a:solidFill>
                    <a:srgbClr val="444444"/>
                  </a:solidFill>
                  <a:latin typeface="Times New Roman"/>
                  <a:ea typeface="Times New Roman"/>
                  <a:cs typeface="Times New Roman"/>
                </a:defRPr>
              </a:pPr>
            </a:p>
          </c:txPr>
        </c:title>
        <c:numFmt formatCode="0%"/>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majorUnit val="0.25"/>
      </c:valAx>
      <c:valAx>
        <c:axId val="48650112"/>
        <c:scaling>
          <c:orientation val="minMax"/>
          <c:max val="1.15"/>
          <c:min val="0"/>
        </c:scaling>
        <c:delete val="0"/>
        <c:axPos val="b"/>
        <c:title>
          <c:tx>
            <c:rich>
              <a:bodyPr/>
              <a:lstStyle/>
              <a:p>
                <a:r>
                  <a:rPr sz="1575">
                    <a:solidFill>
                      <a:srgbClr val="444444"/>
                    </a:solidFill>
                    <a:latin typeface="Times New Roman"/>
                    <a:ea typeface="Times New Roman"/>
                    <a:cs typeface="Times New Roman"/>
                  </a:rPr>
                  <a:t>Estimated API cost per attempt (USD)</a:t>
                </a:r>
              </a:p>
            </c:rich>
          </c:tx>
          <c:overlay val="0"/>
          <c:txPr>
            <a:bodyPr anchorCtr="1"/>
            <a:lstStyle/>
            <a:p>
              <a:pPr>
                <a:defRPr sz="1575">
                  <a:solidFill>
                    <a:srgbClr val="444444"/>
                  </a:solidFill>
                  <a:latin typeface="Times New Roman"/>
                  <a:ea typeface="Times New Roman"/>
                  <a:cs typeface="Times New Roman"/>
                </a:defRPr>
              </a:pPr>
            </a:p>
          </c:txPr>
        </c:title>
        <c:numFmt formatCode="$0.00"/>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majorUnit val="0.2"/>
      </c:valAx>
      <c:spPr>
        <a:solidFill>
          <a:srgbClr val="FFFFFF"/>
        </a:solidFill>
      </c:spPr>
    </c:plotArea>
    <c:plotVisOnly val="1"/>
  </c:chart>
  <c:spPr>
    <a:solidFill>
      <a:srgbClr val="FFFFFF"/>
    </a:solidFill>
    <a:ln w="0">
      <a:noFill/>
    </a:ln>
  </c:spPr>
  <c:externalData r:id="rIdChartSnapshot1">
    <c:autoUpdate val="0"/>
  </c:externalData>
</c:chartSpace>
</file>

<file path=ppt/slides/charts/chart3.xml><?xml version="1.0" encoding="utf-8"?>
<c:chartSpace xmlns:a="http://schemas.openxmlformats.org/drawingml/2006/main" xmlns:c="http://schemas.openxmlformats.org/drawingml/2006/chart" xmlns:r="http://schemas.openxmlformats.org/officeDocument/2006/relationships">
  <c:lang val="en-US"/>
  <c:chart>
    <c:plotArea>
      <c:lineChart>
        <c:grouping val="standard"/>
        <c:varyColors val="0"/>
        <c:ser>
          <c:idx val="0"/>
          <c:order val="0"/>
          <c:tx>
            <c:v>GPT-6 Luna</c:v>
          </c:tx>
          <c:spPr>
            <a:ln w="28575">
              <a:solidFill>
                <a:srgbClr val="1D4E89"/>
              </a:solidFill>
            </a:ln>
          </c:spPr>
          <c:marker>
            <c:symbol val="circle"/>
            <c:size val="9"/>
            <c:spPr>
              <a:solidFill>
                <a:srgbClr val="1D4E89"/>
              </a:solidFill>
            </c:spPr>
          </c:marker>
          <c:dLbls>
            <c:txPr>
              <a:bodyPr anchorCtr="1"/>
              <a:lstStyle/>
              <a:p>
                <a:pPr>
                  <a:defRPr sz="1575">
                    <a:solidFill>
                      <a:srgbClr val="111111"/>
                    </a:solidFill>
                    <a:latin typeface="Times New Roman"/>
                    <a:ea typeface="Times New Roman"/>
                    <a:cs typeface="Times New Roman"/>
                  </a:defRPr>
                </a:pPr>
              </a:p>
            </c:txPr>
            <c:showLegendKey val="0"/>
            <c:showVal val="1"/>
            <c:showCatName val="0"/>
            <c:showSerName val="0"/>
            <c:showPercent val="0"/>
            <c:showBubbleSize val="0"/>
            <c:showLeaderLines val="0"/>
          </c:dLbls>
          <c:cat>
            <c:strRef>
              <c:f>'Chart Data'!$A$2:$A$4</c:f>
              <c:strCache>
                <c:ptCount val="3"/>
                <c:pt idx="0">
                  <c:v>Low</c:v>
                </c:pt>
                <c:pt idx="1">
                  <c:v>High</c:v>
                </c:pt>
                <c:pt idx="2">
                  <c:v>Extra High</c:v>
                </c:pt>
              </c:strCache>
            </c:strRef>
          </c:cat>
          <c:val>
            <c:numRef>
              <c:f>'Chart Data'!$B$2:$B$4</c:f>
              <c:numCache>
                <c:formatCode>General</c:formatCode>
                <c:ptCount val="3"/>
                <c:pt idx="0">
                  <c:v>4</c:v>
                </c:pt>
                <c:pt idx="1">
                  <c:v>1</c:v>
                </c:pt>
                <c:pt idx="2">
                  <c:v>12</c:v>
                </c:pt>
              </c:numCache>
            </c:numRef>
          </c:val>
          <c:smooth val="0"/>
        </c:ser>
        <c:ser>
          <c:idx val="1"/>
          <c:order val="1"/>
          <c:tx>
            <c:v>GPT-5.6 Terra</c:v>
          </c:tx>
          <c:spPr>
            <a:ln w="28575">
              <a:solidFill>
                <a:srgbClr val="B45309"/>
              </a:solidFill>
            </a:ln>
          </c:spPr>
          <c:marker>
            <c:symbol val="circle"/>
            <c:size val="9"/>
            <c:spPr>
              <a:solidFill>
                <a:srgbClr val="B45309"/>
              </a:solidFill>
            </c:spPr>
          </c:marker>
          <c:dLbls>
            <c:txPr>
              <a:bodyPr anchorCtr="1"/>
              <a:lstStyle/>
              <a:p>
                <a:pPr>
                  <a:defRPr sz="1575">
                    <a:solidFill>
                      <a:srgbClr val="111111"/>
                    </a:solidFill>
                    <a:latin typeface="Times New Roman"/>
                    <a:ea typeface="Times New Roman"/>
                    <a:cs typeface="Times New Roman"/>
                  </a:defRPr>
                </a:pPr>
              </a:p>
            </c:txPr>
            <c:showLegendKey val="0"/>
            <c:showVal val="1"/>
            <c:showCatName val="0"/>
            <c:showSerName val="0"/>
            <c:showPercent val="0"/>
            <c:showBubbleSize val="0"/>
            <c:showLeaderLines val="0"/>
          </c:dLbls>
          <c:cat>
            <c:strRef>
              <c:f>'Chart Data'!$C$2:$C$4</c:f>
              <c:strCache>
                <c:ptCount val="3"/>
                <c:pt idx="0">
                  <c:v>Low</c:v>
                </c:pt>
                <c:pt idx="1">
                  <c:v>High</c:v>
                </c:pt>
                <c:pt idx="2">
                  <c:v>Extra High</c:v>
                </c:pt>
              </c:strCache>
            </c:strRef>
          </c:cat>
          <c:val>
            <c:numRef>
              <c:f>'Chart Data'!$D$2:$D$4</c:f>
              <c:numCache>
                <c:formatCode>General</c:formatCode>
                <c:ptCount val="3"/>
                <c:pt idx="0">
                  <c:v>4</c:v>
                </c:pt>
                <c:pt idx="1">
                  <c:v>9</c:v>
                </c:pt>
                <c:pt idx="2">
                  <c:v>19</c:v>
                </c:pt>
              </c:numCache>
            </c:numRef>
          </c:val>
          <c:smooth val="0"/>
        </c:ser>
        <c:ser>
          <c:idx val="2"/>
          <c:order val="2"/>
          <c:tx>
            <c:v>GPT-6 Sol</c:v>
          </c:tx>
          <c:spPr>
            <a:ln w="28575">
              <a:solidFill>
                <a:srgbClr val="0F766E"/>
              </a:solidFill>
            </a:ln>
          </c:spPr>
          <c:marker>
            <c:symbol val="circle"/>
            <c:size val="9"/>
            <c:spPr>
              <a:solidFill>
                <a:srgbClr val="0F766E"/>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Data'!$E$2:$E$4</c:f>
              <c:strCache>
                <c:ptCount val="3"/>
                <c:pt idx="0">
                  <c:v>Low</c:v>
                </c:pt>
                <c:pt idx="1">
                  <c:v>High</c:v>
                </c:pt>
                <c:pt idx="2">
                  <c:v>Extra High</c:v>
                </c:pt>
              </c:strCache>
            </c:strRef>
          </c:cat>
          <c:val>
            <c:numRef>
              <c:f>'Chart Data'!$F$2:$F$4</c:f>
              <c:numCache>
                <c:formatCode>General</c:formatCode>
                <c:ptCount val="3"/>
                <c:pt idx="0">
                  <c:v>37</c:v>
                </c:pt>
                <c:pt idx="1">
                  <c:v>39</c:v>
                </c:pt>
                <c:pt idx="2">
                  <c:v>39</c:v>
                </c:pt>
              </c:numCache>
            </c:numRef>
          </c:val>
          <c:smooth val="0"/>
        </c:ser>
        <c:ser>
          <c:idx val="3"/>
          <c:order val="3"/>
          <c:tx>
            <c:v>GPT-6 Astra</c:v>
          </c:tx>
          <c:spPr>
            <a:ln w="28575">
              <a:solidFill>
                <a:srgbClr val="5B4B7C"/>
              </a:solidFill>
            </a:ln>
          </c:spPr>
          <c:marker>
            <c:symbol val="circle"/>
            <c:size val="9"/>
            <c:spPr>
              <a:solidFill>
                <a:srgbClr val="5B4B7C"/>
              </a:solidFill>
            </c:spPr>
          </c:marker>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Data'!$G$2:$G$4</c:f>
              <c:strCache>
                <c:ptCount val="3"/>
                <c:pt idx="0">
                  <c:v>Low</c:v>
                </c:pt>
                <c:pt idx="1">
                  <c:v>High</c:v>
                </c:pt>
                <c:pt idx="2">
                  <c:v>Extra High</c:v>
                </c:pt>
              </c:strCache>
            </c:strRef>
          </c:cat>
          <c:val>
            <c:numRef>
              <c:f>'Chart Data'!$H$2:$H$4</c:f>
              <c:numCache>
                <c:formatCode>General</c:formatCode>
                <c:ptCount val="3"/>
                <c:pt idx="0">
                  <c:v>39</c:v>
                </c:pt>
                <c:pt idx="1">
                  <c:v>39</c:v>
                </c:pt>
                <c:pt idx="2">
                  <c:v>37</c:v>
                </c:pt>
              </c:numCache>
            </c:numRef>
          </c:val>
          <c:smooth val="0"/>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catAx>
      <c:valAx>
        <c:axId val="48672768"/>
        <c:scaling>
          <c:orientation val="minMax"/>
          <c:max val="40"/>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passes</a:t>
                </a:r>
              </a:p>
            </c:rich>
          </c:tx>
          <c:overlay val="0"/>
          <c:txPr>
            <a:bodyPr anchorCtr="1"/>
            <a:lstStyle/>
            <a:p>
              <a:pPr>
                <a:defRPr sz="1575">
                  <a:solidFill>
                    <a:srgbClr val="444444"/>
                  </a:solidFill>
                  <a:latin typeface="Times New Roman"/>
                  <a:ea typeface="Times New Roman"/>
                  <a:cs typeface="Times New Roman"/>
                </a:defRPr>
              </a:pPr>
            </a:p>
          </c:txPr>
        </c:title>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crossBetween val="between"/>
        <c:majorUnit val="10"/>
      </c:valAx>
      <c:spPr>
        <a:solidFill>
          <a:srgbClr val="FFFFFF"/>
        </a:solidFill>
      </c:spPr>
    </c:plotArea>
    <c:legend>
      <c:legendPos val="b"/>
      <c:overlay val="0"/>
      <c:txPr>
        <a:bodyPr anchorCtr="1"/>
        <a:lstStyle/>
        <a:p>
          <a:pPr>
            <a:defRPr sz="1500">
              <a:solidFill>
                <a:srgbClr val="111111"/>
              </a:solidFill>
              <a:latin typeface="Times New Roman"/>
              <a:ea typeface="Times New Roman"/>
              <a:cs typeface="Times New Roman"/>
            </a:defRPr>
          </a:pPr>
        </a:p>
      </c:txPr>
    </c:legend>
    <c:plotVisOnly val="1"/>
  </c:chart>
  <c:spPr>
    <a:solidFill>
      <a:srgbClr val="FFFFFF"/>
    </a:solidFill>
    <a:ln w="0">
      <a:noFill/>
    </a:ln>
  </c:spPr>
  <c:externalData r:id="rIdChartSnapshot1">
    <c:autoUpdate val="0"/>
  </c:externalData>
</c:chartSpace>
</file>

<file path=ppt/slides/charts/chart4.xml><?xml version="1.0" encoding="utf-8"?>
<c:chartSpace xmlns:a="http://schemas.openxmlformats.org/drawingml/2006/main" xmlns:c="http://schemas.openxmlformats.org/drawingml/2006/chart" xmlns:r="http://schemas.openxmlformats.org/officeDocument/2006/relationships">
  <c:lang val="en-US"/>
  <c:chart>
    <c:plotArea>
      <c:barChart>
        <c:barDir val="bar"/>
        <c:grouping val="stacked"/>
        <c:varyColors val="0"/>
        <c:ser>
          <c:idx val="0"/>
          <c:order val="0"/>
          <c:tx>
            <c:v>Completed pass</c:v>
          </c:tx>
          <c:spPr>
            <a:solidFill>
              <a:srgbClr val="0F766E"/>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Data'!$A$2:$A$6</c:f>
              <c:strCache>
                <c:ptCount val="5"/>
                <c:pt idx="0">
                  <c:v>Luna 6</c:v>
                </c:pt>
                <c:pt idx="1">
                  <c:v>Terra 5.6</c:v>
                </c:pt>
                <c:pt idx="2">
                  <c:v>DeepSeek</c:v>
                </c:pt>
                <c:pt idx="3">
                  <c:v>Sol 6</c:v>
                </c:pt>
                <c:pt idx="4">
                  <c:v>Astra 6</c:v>
                </c:pt>
              </c:strCache>
            </c:strRef>
          </c:cat>
          <c:val>
            <c:numRef>
              <c:f>'Chart Data'!$B$2:$B$6</c:f>
              <c:numCache>
                <c:formatCode>General</c:formatCode>
                <c:ptCount val="5"/>
                <c:pt idx="0">
                  <c:v>17</c:v>
                </c:pt>
                <c:pt idx="1">
                  <c:v>32</c:v>
                </c:pt>
                <c:pt idx="2">
                  <c:v>0</c:v>
                </c:pt>
                <c:pt idx="3">
                  <c:v>115</c:v>
                </c:pt>
                <c:pt idx="4">
                  <c:v>115</c:v>
                </c:pt>
              </c:numCache>
            </c:numRef>
          </c:val>
        </c:ser>
        <c:ser>
          <c:idx val="1"/>
          <c:order val="1"/>
          <c:tx>
            <c:v>Prediction only</c:v>
          </c:tx>
          <c:spPr>
            <a:solidFill>
              <a:srgbClr val="B45309"/>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Data'!$C$2:$C$6</c:f>
              <c:strCache>
                <c:ptCount val="5"/>
                <c:pt idx="0">
                  <c:v>Luna 6</c:v>
                </c:pt>
                <c:pt idx="1">
                  <c:v>Terra 5.6</c:v>
                </c:pt>
                <c:pt idx="2">
                  <c:v>DeepSeek</c:v>
                </c:pt>
                <c:pt idx="3">
                  <c:v>Sol 6</c:v>
                </c:pt>
                <c:pt idx="4">
                  <c:v>Astra 6</c:v>
                </c:pt>
              </c:strCache>
            </c:strRef>
          </c:cat>
          <c:val>
            <c:numRef>
              <c:f>'Chart Data'!$D$2:$D$6</c:f>
              <c:numCache>
                <c:formatCode>General</c:formatCode>
                <c:ptCount val="5"/>
                <c:pt idx="0">
                  <c:v>91</c:v>
                </c:pt>
                <c:pt idx="1">
                  <c:v>81</c:v>
                </c:pt>
                <c:pt idx="2">
                  <c:v>12</c:v>
                </c:pt>
                <c:pt idx="3">
                  <c:v>2</c:v>
                </c:pt>
                <c:pt idx="4">
                  <c:v>0</c:v>
                </c:pt>
              </c:numCache>
            </c:numRef>
          </c:val>
        </c:ser>
        <c:ser>
          <c:idx val="2"/>
          <c:order val="2"/>
          <c:tx>
            <c:v>Other grading</c:v>
          </c:tx>
          <c:spPr>
            <a:solidFill>
              <a:srgbClr val="5B4B7C"/>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Data'!$E$2:$E$6</c:f>
              <c:strCache>
                <c:ptCount val="5"/>
                <c:pt idx="0">
                  <c:v>Luna 6</c:v>
                </c:pt>
                <c:pt idx="1">
                  <c:v>Terra 5.6</c:v>
                </c:pt>
                <c:pt idx="2">
                  <c:v>DeepSeek</c:v>
                </c:pt>
                <c:pt idx="3">
                  <c:v>Sol 6</c:v>
                </c:pt>
                <c:pt idx="4">
                  <c:v>Astra 6</c:v>
                </c:pt>
              </c:strCache>
            </c:strRef>
          </c:cat>
          <c:val>
            <c:numRef>
              <c:f>'Chart Data'!$F$2:$F$6</c:f>
              <c:numCache>
                <c:formatCode>General</c:formatCode>
                <c:ptCount val="5"/>
                <c:pt idx="0">
                  <c:v>5</c:v>
                </c:pt>
                <c:pt idx="1">
                  <c:v>0</c:v>
                </c:pt>
                <c:pt idx="2">
                  <c:v>0</c:v>
                </c:pt>
                <c:pt idx="3">
                  <c:v>0</c:v>
                </c:pt>
                <c:pt idx="4">
                  <c:v>0</c:v>
                </c:pt>
              </c:numCache>
            </c:numRef>
          </c:val>
        </c:ser>
        <c:ser>
          <c:idx val="3"/>
          <c:order val="3"/>
          <c:tx>
            <c:v>Timeout</c:v>
          </c:tx>
          <c:spPr>
            <a:solidFill>
              <a:srgbClr val="A50026"/>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Data'!$G$2:$G$6</c:f>
              <c:strCache>
                <c:ptCount val="5"/>
                <c:pt idx="0">
                  <c:v>Luna 6</c:v>
                </c:pt>
                <c:pt idx="1">
                  <c:v>Terra 5.6</c:v>
                </c:pt>
                <c:pt idx="2">
                  <c:v>DeepSeek</c:v>
                </c:pt>
                <c:pt idx="3">
                  <c:v>Sol 6</c:v>
                </c:pt>
                <c:pt idx="4">
                  <c:v>Astra 6</c:v>
                </c:pt>
              </c:strCache>
            </c:strRef>
          </c:cat>
          <c:val>
            <c:numRef>
              <c:f>'Chart Data'!$H$2:$H$6</c:f>
              <c:numCache>
                <c:formatCode>General</c:formatCode>
                <c:ptCount val="5"/>
                <c:pt idx="0">
                  <c:v>2</c:v>
                </c:pt>
                <c:pt idx="1">
                  <c:v>4</c:v>
                </c:pt>
                <c:pt idx="2">
                  <c:v>83</c:v>
                </c:pt>
                <c:pt idx="3">
                  <c:v>0</c:v>
                </c:pt>
                <c:pt idx="4">
                  <c:v>2</c:v>
                </c:pt>
              </c:numCache>
            </c:numRef>
          </c:val>
        </c:ser>
        <c:ser>
          <c:idx val="4"/>
          <c:order val="4"/>
          <c:tx>
            <c:v>Other execution</c:v>
          </c:tx>
          <c:spPr>
            <a:solidFill>
              <a:srgbClr val="AFB6BC"/>
            </a:solidFill>
          </c:spPr>
          <c:invertIfNegative val="0"/>
          <c:dLbls>
            <c:txPr>
              <a:bodyPr anchorCtr="1"/>
              <a:lstStyle/>
              <a:p>
                <a:pPr>
                  <a:defRPr sz="1575">
                    <a:solidFill>
                      <a:srgbClr val="111111"/>
                    </a:solidFill>
                    <a:latin typeface="Times New Roman"/>
                    <a:ea typeface="Times New Roman"/>
                    <a:cs typeface="Times New Roman"/>
                  </a:defRPr>
                </a:pPr>
              </a:p>
            </c:txPr>
            <c:showLegendKey val="0"/>
            <c:showVal val="0"/>
            <c:showCatName val="0"/>
            <c:showSerName val="0"/>
            <c:showPercent val="0"/>
            <c:showBubbleSize val="0"/>
            <c:showLeaderLines val="0"/>
          </c:dLbls>
          <c:cat>
            <c:strRef>
              <c:f>'Chart Data'!$I$2:$I$6</c:f>
              <c:strCache>
                <c:ptCount val="5"/>
                <c:pt idx="0">
                  <c:v>Luna 6</c:v>
                </c:pt>
                <c:pt idx="1">
                  <c:v>Terra 5.6</c:v>
                </c:pt>
                <c:pt idx="2">
                  <c:v>DeepSeek</c:v>
                </c:pt>
                <c:pt idx="3">
                  <c:v>Sol 6</c:v>
                </c:pt>
                <c:pt idx="4">
                  <c:v>Astra 6</c:v>
                </c:pt>
              </c:strCache>
            </c:strRef>
          </c:cat>
          <c:val>
            <c:numRef>
              <c:f>'Chart Data'!$J$2:$J$6</c:f>
              <c:numCache>
                <c:formatCode>General</c:formatCode>
                <c:ptCount val="5"/>
                <c:pt idx="0">
                  <c:v>2</c:v>
                </c:pt>
                <c:pt idx="1">
                  <c:v>0</c:v>
                </c:pt>
                <c:pt idx="2">
                  <c:v>22</c:v>
                </c:pt>
                <c:pt idx="3">
                  <c:v>0</c:v>
                </c:pt>
                <c:pt idx="4">
                  <c:v>0</c:v>
                </c:pt>
              </c:numCache>
            </c:numRef>
          </c:val>
        </c:ser>
        <c:dLbls>
          <c:txPr>
            <a:bodyPr anchorCtr="1"/>
            <a:lstStyle/>
            <a:p>
              <a:pPr>
                <a:defRPr>
                  <a:latin typeface="Times New Roman"/>
                  <a:ea typeface="Times New Roman"/>
                  <a:cs typeface="Times New Roman"/>
                </a:defRPr>
              </a:pPr>
            </a:p>
          </c:txPr>
          <c:showLegendKey val="0"/>
          <c:showVal val="0"/>
          <c:showCatName val="0"/>
          <c:showSerName val="0"/>
          <c:showPercent val="0"/>
          <c:showBubbleSize val="0"/>
          <c:showLeaderLines val="0"/>
        </c:dLbls>
        <c:gapWidth val="55"/>
        <c:overlap val="100"/>
        <c:axId val="48650112"/>
        <c:axId val="48672768"/>
      </c:barChart>
      <c:catAx>
        <c:axId val="48650112"/>
        <c:scaling>
          <c:orientation val="minMax"/>
        </c:scaling>
        <c:delete val="0"/>
        <c:axPos val="l"/>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72768"/>
      </c:catAx>
      <c:valAx>
        <c:axId val="48672768"/>
        <c:scaling>
          <c:orientation val="minMax"/>
          <c:max val="117"/>
          <c:min val="0"/>
        </c:scaling>
        <c:delete val="0"/>
        <c:axPos val="b"/>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Attempts across three effort settings</a:t>
                </a:r>
              </a:p>
            </c:rich>
          </c:tx>
          <c:overlay val="0"/>
          <c:txPr>
            <a:bodyPr anchorCtr="1"/>
            <a:lstStyle/>
            <a:p>
              <a:pPr>
                <a:defRPr sz="1575">
                  <a:solidFill>
                    <a:srgbClr val="444444"/>
                  </a:solidFill>
                  <a:latin typeface="Times New Roman"/>
                  <a:ea typeface="Times New Roman"/>
                  <a:cs typeface="Times New Roman"/>
                </a:defRPr>
              </a:pPr>
            </a:p>
          </c:txPr>
        </c:title>
        <c:numFmt formatCode="General"/>
        <c:majorTickMark val="none"/>
        <c:minorTickMark val="none"/>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p>
        </c:txPr>
        <c:crossAx val="48650112"/>
        <c:crossBetween val="between"/>
        <c:majorUnit val="39"/>
      </c:valAx>
      <c:spPr>
        <a:solidFill>
          <a:srgbClr val="FFFFFF"/>
        </a:solidFill>
      </c:spPr>
    </c:plotArea>
    <c:legend>
      <c:legendPos val="b"/>
      <c:overlay val="0"/>
      <c:txPr>
        <a:bodyPr anchorCtr="1"/>
        <a:lstStyle/>
        <a:p>
          <a:pPr>
            <a:defRPr sz="1425">
              <a:solidFill>
                <a:srgbClr val="111111"/>
              </a:solidFill>
              <a:latin typeface="Times New Roman"/>
              <a:ea typeface="Times New Roman"/>
              <a:cs typeface="Times New Roman"/>
            </a:defRPr>
          </a:pPr>
        </a:p>
      </c:txPr>
    </c:legend>
    <c:plotVisOnly val="1"/>
  </c:chart>
  <c:spPr>
    <a:solidFill>
      <a:srgbClr val="FFFFFF"/>
    </a:solidFill>
    <a:l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C09820-22BB-4372-A10F-CB42F1E32FB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PhysLiteBench: physics beyond a good fit</a:t>
            </a:r>
          </a:p>
        </p:txBody>
      </p:sp>
      <p:sp>
        <p:nvSpPr>
          <p:cNvPr id="2" name="">
            <a:extLst xmlns:a="http://schemas.openxmlformats.org/drawingml/2006/main">
              <a:ext uri="{FF2B5EF4-FFF2-40B4-BE49-F238E27FC236}">
                <a16:creationId xmlns:a16="http://schemas.microsoft.com/office/drawing/2014/main" id="{C4A9DD3B-B3F9-48AA-BE20-495804BE1615}"/>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Can a coding agent infer the right physical model from a description and limited data?</a:t>
            </a:r>
          </a:p>
        </p:txBody>
      </p:sp>
      <p:sp>
        <p:nvSpPr>
          <p:cNvPr id="3" name="">
            <a:extLst xmlns:a="http://schemas.openxmlformats.org/drawingml/2006/main">
              <a:ext uri="{FF2B5EF4-FFF2-40B4-BE49-F238E27FC236}">
                <a16:creationId xmlns:a16="http://schemas.microsoft.com/office/drawing/2014/main" id="{F602EE7E-B2AC-455C-8380-2B4D89323466}"/>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a:t>
            </a:r>
          </a:p>
        </p:txBody>
      </p:sp>
      <p:graphicFrame>
        <p:nvGraphicFramePr>
          <p:cNvPr id="4" name="">
            <a:extLst xmlns:a="http://schemas.openxmlformats.org/drawingml/2006/main">
              <a:ext uri="{FF2B5EF4-FFF2-40B4-BE49-F238E27FC236}">
                <a16:creationId xmlns:a16="http://schemas.microsoft.com/office/drawing/2014/main" id="{8C492C4C-25E0-4BD5-8617-3E77A4A73875}"/>
              </a:ext>
            </a:extLst>
          </p:cNvPr>
          <p:cNvGraphicFramePr/>
          <p:nvPr/>
        </p:nvGraphicFramePr>
        <p:xfrm>
          <a:off xmlns:a="http://schemas.openxmlformats.org/drawingml/2006/main" x="457200" y="1819275"/>
          <a:ext xmlns:a="http://schemas.openxmlformats.org/drawingml/2006/main" cx="11277600" cy="2714625"/>
        </p:xfrm>
        <a:graphic xmlns:a="http://schemas.openxmlformats.org/drawingml/2006/main">
          <a:graphicData uri="http://schemas.openxmlformats.org/drawingml/2006/table">
            <a:tbl>
              <a:tblPr/>
              <a:tblGrid>
                <a:gridCol w="5510869"/>
                <a:gridCol w="5766731"/>
              </a:tblGrid>
              <a:tr h="678656">
                <a:tc>
                  <a:txBody>
                    <a:bodyPr lIns="0" tIns="0" rIns="0" bIns="0"/>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2025" b="1">
                          <a:solidFill>
                            <a:srgbClr val="FFFFFF"/>
                          </a:solidFill>
                          <a:latin typeface="Times New Roman"/>
                          <a:ea typeface="Times New Roman"/>
                          <a:cs typeface="Times New Roman"/>
                        </a:rPr>
                        <a:t>What the evaluator checks</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78656">
                <a:tc>
                  <a:txBody>
                    <a:bodyPr lIns="0" tIns="0" rIns="0" bIns="0"/>
                    <a:lstStyle/>
                    <a:p>
                      <a:r>
                        <a:rPr sz="2025" b="0">
                          <a:solidFill>
                            <a:srgbClr val="111111"/>
                          </a:solidFill>
                          <a:latin typeface="Times New Roman"/>
                          <a:ea typeface="Times New Roman"/>
                          <a:cs typeface="Times New Roman"/>
                        </a:rPr>
                        <a:t>Physical setup and starter code</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Fit to observed data and model parameters</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678656">
                <a:tc>
                  <a:txBody>
                    <a:bodyPr lIns="0" tIns="0" rIns="0" bIns="0"/>
                    <a:lstStyle/>
                    <a:p>
                      <a:r>
                        <a:rPr sz="2025" b="0">
                          <a:solidFill>
                            <a:srgbClr val="111111"/>
                          </a:solidFill>
                          <a:latin typeface="Times New Roman"/>
                          <a:ea typeface="Times New Roman"/>
                          <a:cs typeface="Times New Roman"/>
                        </a:rPr>
                        <a:t>Calibration data and public tests</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2025" b="0">
                          <a:solidFill>
                            <a:srgbClr val="111111"/>
                          </a:solidFill>
                          <a:latin typeface="Times New Roman"/>
                          <a:ea typeface="Times New Roman"/>
                          <a:cs typeface="Times New Roman"/>
                        </a:rPr>
                        <a:t>Predictions beyond the calibration settings</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678656">
                <a:tc>
                  <a:txBody>
                    <a:bodyPr lIns="0" tIns="0" rIns="0" bIns="0"/>
                    <a:lstStyle/>
                    <a:p>
                      <a:r>
                        <a:rPr sz="2025" b="0">
                          <a:solidFill>
                            <a:srgbClr val="111111"/>
                          </a:solidFill>
                          <a:latin typeface="Times New Roman"/>
                          <a:ea typeface="Times New Roman"/>
                          <a:cs typeface="Times New Roman"/>
                        </a:rPr>
                        <a:t>A fixed software interface</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2025" b="0">
                          <a:solidFill>
                            <a:srgbClr val="111111"/>
                          </a:solidFill>
                          <a:latin typeface="Times New Roman"/>
                          <a:ea typeface="Times New Roman"/>
                          <a:cs typeface="Times New Roman"/>
                        </a:rPr>
                        <a:t>Completion within the time budget</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B8521B4-CF08-403D-8F9A-418747D0A182}"/>
              </a:ext>
            </a:extLst>
          </p:cNvPr>
          <p:cNvSpPr>
            <a:spLocks xmlns:a="http://schemas.openxmlformats.org/drawingml/2006/main" noGrp="1"/>
          </p:cNvSpPr>
          <p:nvPr/>
        </p:nvSpPr>
        <p:spPr>
          <a:xfrm xmlns:a="http://schemas.openxmlformats.org/drawingml/2006/main">
            <a:off x="457200" y="48577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350" b="1" i="0">
                <a:solidFill>
                  <a:srgbClr val="0F766E"/>
                </a:solidFill>
                <a:latin typeface="Times New Roman"/>
                <a:ea typeface="Times New Roman"/>
                <a:cs typeface="Times New Roman"/>
              </a:defRPr>
            </a:defPPr>
          </a:lstStyle>
          <a:p xmlns:a="http://schemas.openxmlformats.org/drawingml/2006/main">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
            <a:extLst xmlns:a="http://schemas.openxmlformats.org/drawingml/2006/main">
              <a:ext uri="{FF2B5EF4-FFF2-40B4-BE49-F238E27FC236}">
                <a16:creationId xmlns:a16="http://schemas.microsoft.com/office/drawing/2014/main" id="{FC56EB49-9538-451F-AFC3-9BECA96A74F8}"/>
              </a:ext>
            </a:extLst>
          </p:cNvPr>
          <p:cNvSpPr>
            <a:spLocks xmlns:a="http://schemas.openxmlformats.org/drawingml/2006/main" noGrp="1"/>
          </p:cNvSpPr>
          <p:nvPr/>
        </p:nvSpPr>
        <p:spPr>
          <a:xfrm xmlns:a="http://schemas.openxmlformats.org/drawingml/2006/main">
            <a:off x="2009775" y="4943475"/>
            <a:ext cx="8953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tasks: random motion, heat and particle flow,</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correlations, and quantum systems</a:t>
            </a:r>
          </a:p>
        </p:txBody>
      </p:sp>
      <p:sp>
        <p:nvSpPr>
          <p:cNvPr id="7" name="">
            <a:extLst xmlns:a="http://schemas.openxmlformats.org/drawingml/2006/main">
              <a:ext uri="{FF2B5EF4-FFF2-40B4-BE49-F238E27FC236}">
                <a16:creationId xmlns:a16="http://schemas.microsoft.com/office/drawing/2014/main" id="{6F3BA975-F7F4-4E43-B8D0-56A627FC5D11}"/>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Yue Pan, October 2026. Tasks were selected using GPT-5.6 Luna, so this is a deliberately challenging suite.</a:t>
            </a:r>
          </a:p>
        </p:txBody>
      </p:sp>
    </p:spTree>
    <p:extLst>
      <p:ext uri="{BB962C8B-B14F-4D97-AF65-F5344CB8AC3E}">
        <p14:creationId xmlns:p14="http://schemas.microsoft.com/office/powerpoint/2010/main" val="4607685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17B6CD4-DA5B-4A7F-A081-E2A2B31B441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Example: particles that cannot pass</a:t>
            </a:r>
          </a:p>
        </p:txBody>
      </p:sp>
      <p:sp>
        <p:nvSpPr>
          <p:cNvPr id="2" name="">
            <a:extLst xmlns:a="http://schemas.openxmlformats.org/drawingml/2006/main">
              <a:ext uri="{FF2B5EF4-FFF2-40B4-BE49-F238E27FC236}">
                <a16:creationId xmlns:a16="http://schemas.microsoft.com/office/drawing/2014/main" id="{D5E4B9E4-4CB2-45E9-BE61-2A76387824CA}"/>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narrow channel preserves particle order. Every experiment starts from the same positions.</a:t>
            </a:r>
          </a:p>
        </p:txBody>
      </p:sp>
      <p:sp>
        <p:nvSpPr>
          <p:cNvPr id="3" name="">
            <a:extLst xmlns:a="http://schemas.openxmlformats.org/drawingml/2006/main">
              <a:ext uri="{FF2B5EF4-FFF2-40B4-BE49-F238E27FC236}">
                <a16:creationId xmlns:a16="http://schemas.microsoft.com/office/drawing/2014/main" id="{D7084F74-4A77-424A-8676-E2C561AADB53}"/>
              </a:ext>
            </a:extLst>
          </p:cNvPr>
          <p:cNvSpPr>
            <a:spLocks xmlns:a="http://schemas.openxmlformats.org/drawingml/2006/main" noGrp="1"/>
          </p:cNvSpPr>
          <p:nvPr/>
        </p:nvSpPr>
        <p:spPr>
          <a:xfrm xmlns:a="http://schemas.openxmlformats.org/drawingml/2006/main">
            <a:off x="457200" y="1533525"/>
            <a:ext cx="490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Physical setup</a:t>
            </a:r>
          </a:p>
        </p:txBody>
      </p:sp>
      <p:sp>
        <p:nvSpPr>
          <p:cNvPr id="4" name="">
            <a:extLst xmlns:a="http://schemas.openxmlformats.org/drawingml/2006/main">
              <a:ext uri="{FF2B5EF4-FFF2-40B4-BE49-F238E27FC236}">
                <a16:creationId xmlns:a16="http://schemas.microsoft.com/office/drawing/2014/main" id="{6FA7336F-7C6A-4BCE-8251-D4E67C80EBA4}"/>
              </a:ext>
            </a:extLst>
          </p:cNvPr>
          <p:cNvSpPr>
            <a:spLocks xmlns:a="http://schemas.openxmlformats.org/drawingml/2006/main" noGrp="1"/>
          </p:cNvSpPr>
          <p:nvPr/>
        </p:nvSpPr>
        <p:spPr>
          <a:xfrm xmlns:a="http://schemas.openxmlformats.org/drawingml/2006/main">
            <a:off x="457200" y="1971675"/>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Reset to evenly spaced positions</a:t>
            </a:r>
          </a:p>
        </p:txBody>
      </p:sp>
      <p:sp>
        <p:nvSpPr>
          <p:cNvPr id="5" name="">
            <a:extLst xmlns:a="http://schemas.openxmlformats.org/drawingml/2006/main">
              <a:ext uri="{FF2B5EF4-FFF2-40B4-BE49-F238E27FC236}">
                <a16:creationId xmlns:a16="http://schemas.microsoft.com/office/drawing/2014/main" id="{87B85EBA-3D0E-4570-AB1C-A6DAAC2C6C19}"/>
              </a:ext>
            </a:extLst>
          </p:cNvPr>
          <p:cNvSpPr>
            <a:spLocks xmlns:a="http://schemas.openxmlformats.org/drawingml/2006/main" noGrp="1"/>
          </p:cNvSpPr>
          <p:nvPr/>
        </p:nvSpPr>
        <p:spPr>
          <a:xfrm xmlns:a="http://schemas.openxmlformats.org/drawingml/2006/main">
            <a:off x="457200" y="23812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6" name="">
            <a:extLst xmlns:a="http://schemas.openxmlformats.org/drawingml/2006/main">
              <a:ext uri="{FF2B5EF4-FFF2-40B4-BE49-F238E27FC236}">
                <a16:creationId xmlns:a16="http://schemas.microsoft.com/office/drawing/2014/main" id="{24CC1E4B-DA4A-4952-9357-94695F024E82}"/>
              </a:ext>
            </a:extLst>
          </p:cNvPr>
          <p:cNvSpPr>
            <a:spLocks xmlns:a="http://schemas.openxmlformats.org/drawingml/2006/main" noGrp="1"/>
          </p:cNvSpPr>
          <p:nvPr/>
        </p:nvSpPr>
        <p:spPr>
          <a:xfrm xmlns:a="http://schemas.openxmlformats.org/drawingml/2006/main">
            <a:off x="457200" y="29527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7" name="">
            <a:extLst xmlns:a="http://schemas.openxmlformats.org/drawingml/2006/main">
              <a:ext uri="{FF2B5EF4-FFF2-40B4-BE49-F238E27FC236}">
                <a16:creationId xmlns:a16="http://schemas.microsoft.com/office/drawing/2014/main" id="{C585912F-9C1E-4568-943F-CBE08EBBEEF3}"/>
              </a:ext>
            </a:extLst>
          </p:cNvPr>
          <p:cNvSpPr>
            <a:spLocks xmlns:a="http://schemas.openxmlformats.org/drawingml/2006/main" noGrp="1"/>
          </p:cNvSpPr>
          <p:nvPr/>
        </p:nvSpPr>
        <p:spPr>
          <a:xfrm xmlns:a="http://schemas.openxmlformats.org/drawingml/2006/main">
            <a:off x="8191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8" name="">
            <a:extLst xmlns:a="http://schemas.openxmlformats.org/drawingml/2006/main">
              <a:ext uri="{FF2B5EF4-FFF2-40B4-BE49-F238E27FC236}">
                <a16:creationId xmlns:a16="http://schemas.microsoft.com/office/drawing/2014/main" id="{573E44D9-9C6E-4C68-B21F-0E97F4A722A1}"/>
              </a:ext>
            </a:extLst>
          </p:cNvPr>
          <p:cNvSpPr>
            <a:spLocks xmlns:a="http://schemas.openxmlformats.org/drawingml/2006/main" noGrp="1"/>
          </p:cNvSpPr>
          <p:nvPr/>
        </p:nvSpPr>
        <p:spPr>
          <a:xfrm xmlns:a="http://schemas.openxmlformats.org/drawingml/2006/main">
            <a:off x="15430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35222835-3645-4478-B478-7C25458AA3AD}"/>
              </a:ext>
            </a:extLst>
          </p:cNvPr>
          <p:cNvSpPr>
            <a:spLocks xmlns:a="http://schemas.openxmlformats.org/drawingml/2006/main" noGrp="1"/>
          </p:cNvSpPr>
          <p:nvPr/>
        </p:nvSpPr>
        <p:spPr>
          <a:xfrm xmlns:a="http://schemas.openxmlformats.org/drawingml/2006/main">
            <a:off x="2266950" y="250507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0" name="">
            <a:extLst xmlns:a="http://schemas.openxmlformats.org/drawingml/2006/main">
              <a:ext uri="{FF2B5EF4-FFF2-40B4-BE49-F238E27FC236}">
                <a16:creationId xmlns:a16="http://schemas.microsoft.com/office/drawing/2014/main" id="{481EC8C4-2B3A-44A2-A2DF-D3B5BDC43513}"/>
              </a:ext>
            </a:extLst>
          </p:cNvPr>
          <p:cNvSpPr>
            <a:spLocks xmlns:a="http://schemas.openxmlformats.org/drawingml/2006/main" noGrp="1"/>
          </p:cNvSpPr>
          <p:nvPr/>
        </p:nvSpPr>
        <p:spPr>
          <a:xfrm xmlns:a="http://schemas.openxmlformats.org/drawingml/2006/main">
            <a:off x="29908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1" name="">
            <a:extLst xmlns:a="http://schemas.openxmlformats.org/drawingml/2006/main">
              <a:ext uri="{FF2B5EF4-FFF2-40B4-BE49-F238E27FC236}">
                <a16:creationId xmlns:a16="http://schemas.microsoft.com/office/drawing/2014/main" id="{DA0C0A62-E4A3-467B-A311-2D83BDF1B9AF}"/>
              </a:ext>
            </a:extLst>
          </p:cNvPr>
          <p:cNvSpPr>
            <a:spLocks xmlns:a="http://schemas.openxmlformats.org/drawingml/2006/main" noGrp="1"/>
          </p:cNvSpPr>
          <p:nvPr/>
        </p:nvSpPr>
        <p:spPr>
          <a:xfrm xmlns:a="http://schemas.openxmlformats.org/drawingml/2006/main">
            <a:off x="37147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2" name="">
            <a:extLst xmlns:a="http://schemas.openxmlformats.org/drawingml/2006/main">
              <a:ext uri="{FF2B5EF4-FFF2-40B4-BE49-F238E27FC236}">
                <a16:creationId xmlns:a16="http://schemas.microsoft.com/office/drawing/2014/main" id="{EACBA4F9-08AB-451A-A852-FD50A060CAF2}"/>
              </a:ext>
            </a:extLst>
          </p:cNvPr>
          <p:cNvSpPr>
            <a:spLocks xmlns:a="http://schemas.openxmlformats.org/drawingml/2006/main" noGrp="1"/>
          </p:cNvSpPr>
          <p:nvPr/>
        </p:nvSpPr>
        <p:spPr>
          <a:xfrm xmlns:a="http://schemas.openxmlformats.org/drawingml/2006/main">
            <a:off x="44386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3" name="">
            <a:extLst xmlns:a="http://schemas.openxmlformats.org/drawingml/2006/main">
              <a:ext uri="{FF2B5EF4-FFF2-40B4-BE49-F238E27FC236}">
                <a16:creationId xmlns:a16="http://schemas.microsoft.com/office/drawing/2014/main" id="{93CE4E81-AFEA-4EAF-B896-3C060B8A4437}"/>
              </a:ext>
            </a:extLst>
          </p:cNvPr>
          <p:cNvSpPr>
            <a:spLocks xmlns:a="http://schemas.openxmlformats.org/drawingml/2006/main" noGrp="1"/>
          </p:cNvSpPr>
          <p:nvPr/>
        </p:nvSpPr>
        <p:spPr>
          <a:xfrm xmlns:a="http://schemas.openxmlformats.org/drawingml/2006/main">
            <a:off x="457200" y="3333750"/>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Let the particles move randomly</a:t>
            </a:r>
          </a:p>
        </p:txBody>
      </p:sp>
      <p:sp>
        <p:nvSpPr>
          <p:cNvPr id="14" name="">
            <a:extLst xmlns:a="http://schemas.openxmlformats.org/drawingml/2006/main">
              <a:ext uri="{FF2B5EF4-FFF2-40B4-BE49-F238E27FC236}">
                <a16:creationId xmlns:a16="http://schemas.microsoft.com/office/drawing/2014/main" id="{B847700A-C0A6-4E12-9D00-0EE5AE9846DC}"/>
              </a:ext>
            </a:extLst>
          </p:cNvPr>
          <p:cNvSpPr>
            <a:spLocks xmlns:a="http://schemas.openxmlformats.org/drawingml/2006/main" noGrp="1"/>
          </p:cNvSpPr>
          <p:nvPr/>
        </p:nvSpPr>
        <p:spPr>
          <a:xfrm xmlns:a="http://schemas.openxmlformats.org/drawingml/2006/main">
            <a:off x="457200" y="37338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15" name="">
            <a:extLst xmlns:a="http://schemas.openxmlformats.org/drawingml/2006/main">
              <a:ext uri="{FF2B5EF4-FFF2-40B4-BE49-F238E27FC236}">
                <a16:creationId xmlns:a16="http://schemas.microsoft.com/office/drawing/2014/main" id="{AEEECDFF-1488-4898-89D7-95611235AE31}"/>
              </a:ext>
            </a:extLst>
          </p:cNvPr>
          <p:cNvSpPr>
            <a:spLocks xmlns:a="http://schemas.openxmlformats.org/drawingml/2006/main" noGrp="1"/>
          </p:cNvSpPr>
          <p:nvPr/>
        </p:nvSpPr>
        <p:spPr>
          <a:xfrm xmlns:a="http://schemas.openxmlformats.org/drawingml/2006/main">
            <a:off x="457200" y="43053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sp>
      <p:sp>
        <p:nvSpPr>
          <p:cNvPr id="16" name="">
            <a:extLst xmlns:a="http://schemas.openxmlformats.org/drawingml/2006/main">
              <a:ext uri="{FF2B5EF4-FFF2-40B4-BE49-F238E27FC236}">
                <a16:creationId xmlns:a16="http://schemas.microsoft.com/office/drawing/2014/main" id="{C3DD7281-A990-4437-A3F6-D1905D0C92FA}"/>
              </a:ext>
            </a:extLst>
          </p:cNvPr>
          <p:cNvSpPr>
            <a:spLocks xmlns:a="http://schemas.openxmlformats.org/drawingml/2006/main" noGrp="1"/>
          </p:cNvSpPr>
          <p:nvPr/>
        </p:nvSpPr>
        <p:spPr>
          <a:xfrm xmlns:a="http://schemas.openxmlformats.org/drawingml/2006/main">
            <a:off x="7048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7" name="">
            <a:extLst xmlns:a="http://schemas.openxmlformats.org/drawingml/2006/main">
              <a:ext uri="{FF2B5EF4-FFF2-40B4-BE49-F238E27FC236}">
                <a16:creationId xmlns:a16="http://schemas.microsoft.com/office/drawing/2014/main" id="{E4B66C14-9B22-4218-BF4E-66A109931AE8}"/>
              </a:ext>
            </a:extLst>
          </p:cNvPr>
          <p:cNvSpPr>
            <a:spLocks xmlns:a="http://schemas.openxmlformats.org/drawingml/2006/main" noGrp="1"/>
          </p:cNvSpPr>
          <p:nvPr/>
        </p:nvSpPr>
        <p:spPr>
          <a:xfrm xmlns:a="http://schemas.openxmlformats.org/drawingml/2006/main">
            <a:off x="1381125"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18" name="">
            <a:extLst xmlns:a="http://schemas.openxmlformats.org/drawingml/2006/main">
              <a:ext uri="{FF2B5EF4-FFF2-40B4-BE49-F238E27FC236}">
                <a16:creationId xmlns:a16="http://schemas.microsoft.com/office/drawing/2014/main" id="{8F84BEF1-1367-4E78-AA01-BC3889CEF4BC}"/>
              </a:ext>
            </a:extLst>
          </p:cNvPr>
          <p:cNvSpPr>
            <a:spLocks xmlns:a="http://schemas.openxmlformats.org/drawingml/2006/main" noGrp="1"/>
          </p:cNvSpPr>
          <p:nvPr/>
        </p:nvSpPr>
        <p:spPr>
          <a:xfrm xmlns:a="http://schemas.openxmlformats.org/drawingml/2006/main">
            <a:off x="2657475" y="385762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9" name="">
            <a:extLst xmlns:a="http://schemas.openxmlformats.org/drawingml/2006/main">
              <a:ext uri="{FF2B5EF4-FFF2-40B4-BE49-F238E27FC236}">
                <a16:creationId xmlns:a16="http://schemas.microsoft.com/office/drawing/2014/main" id="{EA9A95CF-FC14-4BD4-BAC7-E113A1CEFD24}"/>
              </a:ext>
            </a:extLst>
          </p:cNvPr>
          <p:cNvSpPr>
            <a:spLocks xmlns:a="http://schemas.openxmlformats.org/drawingml/2006/main" noGrp="1"/>
          </p:cNvSpPr>
          <p:nvPr/>
        </p:nvSpPr>
        <p:spPr>
          <a:xfrm xmlns:a="http://schemas.openxmlformats.org/drawingml/2006/main">
            <a:off x="31813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20" name="">
            <a:extLst xmlns:a="http://schemas.openxmlformats.org/drawingml/2006/main">
              <a:ext uri="{FF2B5EF4-FFF2-40B4-BE49-F238E27FC236}">
                <a16:creationId xmlns:a16="http://schemas.microsoft.com/office/drawing/2014/main" id="{1B62E78F-7E2D-4AF0-BA2D-8DF4AE712DA5}"/>
              </a:ext>
            </a:extLst>
          </p:cNvPr>
          <p:cNvSpPr>
            <a:spLocks xmlns:a="http://schemas.openxmlformats.org/drawingml/2006/main" noGrp="1"/>
          </p:cNvSpPr>
          <p:nvPr/>
        </p:nvSpPr>
        <p:spPr>
          <a:xfrm xmlns:a="http://schemas.openxmlformats.org/drawingml/2006/main">
            <a:off x="38862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21" name="">
            <a:extLst xmlns:a="http://schemas.openxmlformats.org/drawingml/2006/main">
              <a:ext uri="{FF2B5EF4-FFF2-40B4-BE49-F238E27FC236}">
                <a16:creationId xmlns:a16="http://schemas.microsoft.com/office/drawing/2014/main" id="{49E266AB-BC36-4FB6-AC5A-38A91A3CB61C}"/>
              </a:ext>
            </a:extLst>
          </p:cNvPr>
          <p:cNvSpPr>
            <a:spLocks xmlns:a="http://schemas.openxmlformats.org/drawingml/2006/main" noGrp="1"/>
          </p:cNvSpPr>
          <p:nvPr/>
        </p:nvSpPr>
        <p:spPr>
          <a:xfrm xmlns:a="http://schemas.openxmlformats.org/drawingml/2006/main">
            <a:off x="46101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r>
              <a:t/>
            </a:r>
          </a:p>
        </p:txBody>
      </p:sp>
      <p:sp>
        <p:nvSpPr>
          <p:cNvPr id="22" name="">
            <a:extLst xmlns:a="http://schemas.openxmlformats.org/drawingml/2006/main">
              <a:ext uri="{FF2B5EF4-FFF2-40B4-BE49-F238E27FC236}">
                <a16:creationId xmlns:a16="http://schemas.microsoft.com/office/drawing/2014/main" id="{59D743A1-E3D9-4428-B67C-E58F47681335}"/>
              </a:ext>
            </a:extLst>
          </p:cNvPr>
          <p:cNvSpPr>
            <a:spLocks xmlns:a="http://schemas.openxmlformats.org/drawingml/2006/main" noGrp="1"/>
          </p:cNvSpPr>
          <p:nvPr/>
        </p:nvSpPr>
        <p:spPr>
          <a:xfrm xmlns:a="http://schemas.openxmlformats.org/drawingml/2006/main">
            <a:off x="457200" y="45720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11111"/>
                </a:solidFill>
                <a:latin typeface="Times New Roman"/>
                <a:ea typeface="Times New Roman"/>
                <a:cs typeface="Times New Roman"/>
              </a:defRPr>
            </a:defPPr>
          </a:lstStyle>
          <a:p xmlns:a="http://schemas.openxmlformats.org/drawingml/2006/main">
            <a:pPr algn="l">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Track the orange particle in each repeat.</a:t>
            </a:r>
          </a:p>
          <a:p xmlns:a="http://schemas.openxmlformats.org/drawingml/2006/main">
            <a:pPr algn="l">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Particles collide but never overtake.</a:t>
            </a:r>
          </a:p>
        </p:txBody>
      </p:sp>
      <p:sp>
        <p:nvSpPr>
          <p:cNvPr id="23" name="">
            <a:extLst xmlns:a="http://schemas.openxmlformats.org/drawingml/2006/main">
              <a:ext uri="{FF2B5EF4-FFF2-40B4-BE49-F238E27FC236}">
                <a16:creationId xmlns:a16="http://schemas.microsoft.com/office/drawing/2014/main" id="{DBD48C7F-F0B6-4566-AD72-218593300322}"/>
              </a:ext>
            </a:extLst>
          </p:cNvPr>
          <p:cNvSpPr>
            <a:spLocks xmlns:a="http://schemas.openxmlformats.org/drawingml/2006/main" noGrp="1"/>
          </p:cNvSpPr>
          <p:nvPr/>
        </p:nvSpPr>
        <p:spPr>
          <a:xfrm xmlns:a="http://schemas.openxmlformats.org/drawingml/2006/main">
            <a:off x="6191250" y="1533525"/>
            <a:ext cx="554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Why fitting alone is insufficient</a:t>
            </a:r>
          </a:p>
        </p:txBody>
      </p:sp>
      <p:graphicFrame>
        <p:nvGraphicFramePr>
          <p:cNvPr id="24" name="Chart">
            <a:extLst xmlns:a="http://schemas.openxmlformats.org/drawingml/2006/main">
              <a:ext uri="{FF2B5EF4-FFF2-40B4-BE49-F238E27FC236}">
                <a16:creationId xmlns:a16="http://schemas.microsoft.com/office/drawing/2014/main" id="{BEF46884-C754-46C0-B1DB-381E335DF308}"/>
              </a:ext>
            </a:extLst>
          </p:cNvPr>
          <p:cNvGraphicFramePr/>
          <p:nvPr/>
        </p:nvGraphicFramePr>
        <p:xfrm>
          <a:off xmlns:a="http://schemas.openxmlformats.org/drawingml/2006/main" x="6105525" y="1971675"/>
          <a:ext xmlns:a="http://schemas.openxmlformats.org/drawingml/2006/main" cx="5629275" cy="3143250"/>
        </p:xfrm>
        <a:graphic xmlns:a="http://schemas.openxmlformats.org/drawingml/2006/main">
          <a:graphicData uri="http://schemas.openxmlformats.org/drawingml/2006/chart">
            <c:chart xmlns:r="http://schemas.openxmlformats.org/officeDocument/2006/relationships" xmlns:c="http://schemas.openxmlformats.org/drawingml/2006/chart" r:id="R630fbc64dfc448d6"/>
          </a:graphicData>
        </a:graphic>
      </p:graphicFrame>
      <p:sp>
        <p:nvSpPr>
          <p:cNvPr id="25" name="">
            <a:extLst xmlns:a="http://schemas.openxmlformats.org/drawingml/2006/main">
              <a:ext uri="{FF2B5EF4-FFF2-40B4-BE49-F238E27FC236}">
                <a16:creationId xmlns:a16="http://schemas.microsoft.com/office/drawing/2014/main" id="{4B241E38-7C47-46F8-8966-8D5D630DCA39}"/>
              </a:ext>
            </a:extLst>
          </p:cNvPr>
          <p:cNvSpPr>
            <a:spLocks xmlns:a="http://schemas.openxmlformats.org/drawingml/2006/main" noGrp="1"/>
          </p:cNvSpPr>
          <p:nvPr/>
        </p:nvSpPr>
        <p:spPr>
          <a:xfrm xmlns:a="http://schemas.openxmlformats.org/drawingml/2006/main">
            <a:off x="6191250" y="5248275"/>
            <a:ext cx="5543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111111"/>
                </a:solidFill>
                <a:latin typeface="Times New Roman"/>
                <a:ea typeface="Times New Roman"/>
                <a:cs typeface="Times New Roman"/>
              </a:defRPr>
            </a:defPPr>
          </a:lstStyle>
          <a:p xmlns:a="http://schemas.openxmlformats.org/drawingml/2006/main">
            <a:pPr algn="l">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Same time: both fit.</a:t>
            </a:r>
          </a:p>
          <a:p xmlns:a="http://schemas.openxmlformats.org/drawingml/2006/main">
            <a:pPr algn="l">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Different times: memory changes the prediction.</a:t>
            </a:r>
          </a:p>
        </p:txBody>
      </p:sp>
      <p:sp>
        <p:nvSpPr>
          <p:cNvPr id="26" name="">
            <a:extLst xmlns:a="http://schemas.openxmlformats.org/drawingml/2006/main">
              <a:ext uri="{FF2B5EF4-FFF2-40B4-BE49-F238E27FC236}">
                <a16:creationId xmlns:a16="http://schemas.microsoft.com/office/drawing/2014/main" id="{6D89FA9C-1AA0-4165-931E-D886C36E63EB}"/>
              </a:ext>
            </a:extLst>
          </p:cNvPr>
          <p:cNvSpPr>
            <a:spLocks xmlns:a="http://schemas.openxmlformats.org/drawingml/2006/main" noGrp="1"/>
          </p:cNvSpPr>
          <p:nvPr/>
        </p:nvSpPr>
        <p:spPr>
          <a:xfrm xmlns:a="http://schemas.openxmlformats.org/drawingml/2006/main">
            <a:off x="457200" y="5362575"/>
            <a:ext cx="5162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1">
                <a:solidFill>
                  <a:srgbClr val="1D4E89"/>
                </a:solidFill>
                <a:latin typeface="Times New Roman"/>
                <a:ea typeface="Times New Roman"/>
                <a:cs typeface="Times New Roman"/>
              </a:defRPr>
            </a:defPPr>
          </a:lstStyle>
          <a:p xmlns:a="http://schemas.openxmlformats.org/drawingml/2006/main">
            <a:pPr algn="l">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Agent task: fit the movement scale, then</a:t>
            </a:r>
          </a:p>
          <a:p xmlns:a="http://schemas.openxmlformats.org/drawingml/2006/main">
            <a:pPr algn="l">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predict how two measurement times are related.</a:t>
            </a:r>
          </a:p>
        </p:txBody>
      </p:sp>
      <p:sp>
        <p:nvSpPr>
          <p:cNvPr id="27" name="">
            <a:extLst xmlns:a="http://schemas.openxmlformats.org/drawingml/2006/main">
              <a:ext uri="{FF2B5EF4-FFF2-40B4-BE49-F238E27FC236}">
                <a16:creationId xmlns:a16="http://schemas.microsoft.com/office/drawing/2014/main" id="{451EDAC5-84AF-4886-ABB5-00F5489CD4A3}"/>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Schematic and analytic curves, not measured trajectories. “Shared motion” means covariance. The task asks for its long-time scaling coefficient.</a:t>
            </a:r>
          </a:p>
        </p:txBody>
      </p:sp>
      <p:sp>
        <p:nvSpPr>
          <p:cNvPr id="28" name="">
            <a:extLst xmlns:a="http://schemas.openxmlformats.org/drawingml/2006/main">
              <a:ext uri="{FF2B5EF4-FFF2-40B4-BE49-F238E27FC236}">
                <a16:creationId xmlns:a16="http://schemas.microsoft.com/office/drawing/2014/main" id="{578E8603-C278-42DA-971C-BE599E2F30B1}"/>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2</a:t>
            </a:r>
          </a:p>
        </p:txBody>
      </p:sp>
    </p:spTree>
    <p:extLst>
      <p:ext uri="{BB962C8B-B14F-4D97-AF65-F5344CB8AC3E}">
        <p14:creationId xmlns:p14="http://schemas.microsoft.com/office/powerpoint/2010/main" val="5242040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CB528379-3A68-4583-8BD9-46560A555629}"/>
              </a:ext>
            </a:extLst>
          </p:cNvPr>
          <p:cNvCxnSpPr>
            <a:stCxn xmlns:a="http://schemas.openxmlformats.org/drawingml/2006/main" id="6" idx="3"/>
            <a:endCxn xmlns:a="http://schemas.openxmlformats.org/drawingml/2006/main" id="7" idx="1"/>
          </p:cNvCxnSpPr>
          <p:nvPr/>
        </p:nvCxnSpPr>
        <p:spPr>
          <a:xfrm xmlns:a="http://schemas.openxmlformats.org/drawingml/2006/main">
            <a:off x="7620000" y="5562600"/>
            <a:ext cx="10668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30FB6027-01E0-402B-9412-88FF77838F73}"/>
              </a:ext>
            </a:extLst>
          </p:cNvPr>
          <p:cNvCxnSpPr>
            <a:stCxn xmlns:a="http://schemas.openxmlformats.org/drawingml/2006/main" id="5" idx="3"/>
            <a:endCxn xmlns:a="http://schemas.openxmlformats.org/drawingml/2006/main" id="6" idx="1"/>
          </p:cNvCxnSpPr>
          <p:nvPr/>
        </p:nvCxnSpPr>
        <p:spPr>
          <a:xfrm xmlns:a="http://schemas.openxmlformats.org/drawingml/2006/main">
            <a:off x="3505200" y="5562600"/>
            <a:ext cx="10668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sp>
        <p:nvSpPr>
          <p:cNvPr id="15" name="">
            <a:extLst xmlns:a="http://schemas.openxmlformats.org/drawingml/2006/main">
              <a:ext uri="{FF2B5EF4-FFF2-40B4-BE49-F238E27FC236}">
                <a16:creationId xmlns:a16="http://schemas.microsoft.com/office/drawing/2014/main" id="{113DC508-AE84-47F8-81A1-A545CB0C6981}"/>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Three prompt conditions</a:t>
            </a:r>
          </a:p>
        </p:txBody>
      </p:sp>
      <p:sp>
        <p:nvSpPr>
          <p:cNvPr id="2" name="">
            <a:extLst xmlns:a="http://schemas.openxmlformats.org/drawingml/2006/main">
              <a:ext uri="{FF2B5EF4-FFF2-40B4-BE49-F238E27FC236}">
                <a16:creationId xmlns:a16="http://schemas.microsoft.com/office/drawing/2014/main" id="{E5353C49-3736-4D64-9C7C-6F1FACF8617B}"/>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same example shows the difference between checking code and checking the physical assumption.</a:t>
            </a:r>
          </a:p>
        </p:txBody>
      </p:sp>
      <p:graphicFrame>
        <p:nvGraphicFramePr>
          <p:cNvPr id="3" name="">
            <a:extLst xmlns:a="http://schemas.openxmlformats.org/drawingml/2006/main">
              <a:ext uri="{FF2B5EF4-FFF2-40B4-BE49-F238E27FC236}">
                <a16:creationId xmlns:a16="http://schemas.microsoft.com/office/drawing/2014/main" id="{26667298-08EF-4295-AA64-EDABDF51DE17}"/>
              </a:ext>
            </a:extLst>
          </p:cNvPr>
          <p:cNvGraphicFramePr/>
          <p:nvPr/>
        </p:nvGraphicFramePr>
        <p:xfrm>
          <a:off xmlns:a="http://schemas.openxmlformats.org/drawingml/2006/main" x="457200" y="1571625"/>
          <a:ext xmlns:a="http://schemas.openxmlformats.org/drawingml/2006/main" cx="11277600" cy="2876550"/>
        </p:xfrm>
        <a:graphic xmlns:a="http://schemas.openxmlformats.org/drawingml/2006/main">
          <a:graphicData uri="http://schemas.openxmlformats.org/drawingml/2006/table">
            <a:tbl>
              <a:tblPr/>
              <a:tblGrid>
                <a:gridCol w="2247900"/>
                <a:gridCol w="9029700"/>
              </a:tblGrid>
              <a:tr h="719138">
                <a:tc>
                  <a:txBody>
                    <a:bodyPr wrap="square"/>
                    <a:lstStyle/>
                    <a:p>
                      <a:r>
                        <a:rPr sz="1950" b="1">
                          <a:solidFill>
                            <a:srgbClr val="FFFFFF"/>
                          </a:solidFill>
                          <a:latin typeface="Times New Roman"/>
                          <a:ea typeface="Times New Roman"/>
                          <a:cs typeface="Times New Roman"/>
                        </a:rPr>
                        <a:t>Condition</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wrap="square"/>
                    <a:lstStyle/>
                    <a:p>
                      <a:r>
                        <a:rPr sz="1950" b="1">
                          <a:solidFill>
                            <a:srgbClr val="FFFFFF"/>
                          </a:solidFill>
                          <a:latin typeface="Times New Roman"/>
                          <a:ea typeface="Times New Roman"/>
                          <a:cs typeface="Times New Roman"/>
                        </a:rPr>
                        <a:t>Instruction or added guidance</a:t>
                      </a:r>
                    </a:p>
                  </a:txBody>
                  <a:tcPr marL="114300" marR="114300" marT="76200" marB="76200" anchor="ctr">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r>
              <a:tr h="719138">
                <a:tc>
                  <a:txBody>
                    <a:bodyPr wrap="square"/>
                    <a:lstStyle/>
                    <a:p>
                      <a:r>
                        <a:rPr sz="1950"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B w="7620">
                      <a:solidFill>
                        <a:srgbClr val="D1D5DB"/>
                      </a:solidFill>
                      <a:prstDash val="solid"/>
                    </a:lnB>
                    <a:solidFill>
                      <a:srgbClr val="FFFFFF"/>
                    </a:solidFill>
                  </a:tcPr>
                </a:tc>
                <a:tc>
                  <a:txBody>
                    <a:bodyPr wrap="square"/>
                    <a:lstStyle/>
                    <a:p>
                      <a:r>
                        <a:rPr sz="1950" b="0">
                          <a:solidFill>
                            <a:srgbClr val="111111"/>
                          </a:solidFill>
                          <a:latin typeface="Times New Roman"/>
                          <a:ea typeface="Times New Roman"/>
                          <a:cs typeface="Times New Roman"/>
                        </a:rPr>
                        <a:t>Implement the model using the setup and calibration data.</a:t>
                      </a:r>
                    </a:p>
                  </a:txBody>
                  <a:tcPr marL="114300" marR="114300" marT="76200" marB="76200" anchor="ctr">
                    <a:lnR w="7620">
                      <a:solidFill>
                        <a:srgbClr val="D1D5DB"/>
                      </a:solidFill>
                      <a:prstDash val="solid"/>
                    </a:lnR>
                    <a:lnB w="7620">
                      <a:solidFill>
                        <a:srgbClr val="D1D5DB"/>
                      </a:solidFill>
                      <a:prstDash val="solid"/>
                    </a:lnB>
                    <a:solidFill>
                      <a:srgbClr val="FFFFFF"/>
                    </a:solidFill>
                  </a:tcPr>
                </a:tc>
              </a:tr>
              <a:tr h="719138">
                <a:tc>
                  <a:txBody>
                    <a:bodyPr wrap="square"/>
                    <a:lstStyle/>
                    <a:p>
                      <a:r>
                        <a:rPr sz="1950" b="0">
                          <a:solidFill>
                            <a:srgbClr val="111111"/>
                          </a:solidFill>
                          <a:latin typeface="Times New Roman"/>
                          <a:ea typeface="Times New Roman"/>
                          <a:cs typeface="Times New Roman"/>
                        </a:rPr>
                        <a:t>General hint</a:t>
                      </a:r>
                    </a:p>
                  </a:txBody>
                  <a:tcPr marL="114300" marR="114300" marT="76200" marB="76200" anchor="ctr">
                    <a:lnL w="7620">
                      <a:solidFill>
                        <a:srgbClr val="D1D5DB"/>
                      </a:solidFill>
                      <a:prstDash val="solid"/>
                    </a:lnL>
                    <a:lnR w="7620">
                      <a:solidFill>
                        <a:srgbClr val="D1D5DB"/>
                      </a:solidFill>
                      <a:prstDash val="solid"/>
                    </a:lnR>
                    <a:lnB w="7620">
                      <a:solidFill>
                        <a:srgbClr val="D1D5DB"/>
                      </a:solidFill>
                      <a:prstDash val="solid"/>
                    </a:lnB>
                    <a:solidFill>
                      <a:srgbClr val="F3F4F6"/>
                    </a:solidFill>
                  </a:tcPr>
                </a:tc>
                <a:tc>
                  <a:txBody>
                    <a:bodyPr wrap="square"/>
                    <a:lstStyle/>
                    <a:p>
                      <a:r>
                        <a:rPr sz="1950" b="0">
                          <a:solidFill>
                            <a:srgbClr val="111111"/>
                          </a:solidFill>
                          <a:latin typeface="Times New Roman"/>
                          <a:ea typeface="Times New Roman"/>
                          <a:cs typeface="Times New Roman"/>
                        </a:rPr>
                        <a:t>“Check your implementation carefully and test its correctness</a:t>
                      </a:r>
                    </a:p>
                    <a:p>
                      <a:r>
                        <a:rPr sz="1950" b="0">
                          <a:solidFill>
                            <a:srgbClr val="111111"/>
                          </a:solidFill>
                          <a:latin typeface="Times New Roman"/>
                          <a:ea typeface="Times New Roman"/>
                          <a:cs typeface="Times New Roman"/>
                        </a:rPr>
                        <a:t>before finishing.”</a:t>
                      </a:r>
                    </a:p>
                  </a:txBody>
                  <a:tcPr marL="114300" marR="114300" marT="76200" marB="76200" anchor="ctr">
                    <a:lnR w="7620">
                      <a:solidFill>
                        <a:srgbClr val="D1D5DB"/>
                      </a:solidFill>
                      <a:prstDash val="solid"/>
                    </a:lnR>
                    <a:lnB w="7620">
                      <a:solidFill>
                        <a:srgbClr val="D1D5DB"/>
                      </a:solidFill>
                      <a:prstDash val="solid"/>
                    </a:lnB>
                    <a:solidFill>
                      <a:srgbClr val="F3F4F6"/>
                    </a:solidFill>
                  </a:tcPr>
                </a:tc>
              </a:tr>
              <a:tr h="719138">
                <a:tc>
                  <a:txBody>
                    <a:bodyPr wrap="square"/>
                    <a:lstStyle/>
                    <a:p>
                      <a:r>
                        <a:rPr sz="1950" b="0">
                          <a:solidFill>
                            <a:srgbClr val="111111"/>
                          </a:solidFill>
                          <a:latin typeface="Times New Roman"/>
                          <a:ea typeface="Times New Roman"/>
                          <a:cs typeface="Times New Roman"/>
                        </a:rPr>
                        <a:t>Physics hint</a:t>
                      </a:r>
                    </a:p>
                  </a:txBody>
                  <a:tcPr marL="114300" marR="114300" marT="76200" marB="76200" anchor="ctr">
                    <a:lnL w="7620">
                      <a:solidFill>
                        <a:srgbClr val="D1D5DB"/>
                      </a:solidFill>
                      <a:prstDash val="solid"/>
                    </a:lnL>
                    <a:lnR w="7620">
                      <a:solidFill>
                        <a:srgbClr val="D1D5DB"/>
                      </a:solidFill>
                      <a:prstDash val="solid"/>
                    </a:lnR>
                    <a:lnB w="7620">
                      <a:solidFill>
                        <a:srgbClr val="D1D5DB"/>
                      </a:solidFill>
                      <a:prstDash val="solid"/>
                    </a:lnB>
                    <a:solidFill>
                      <a:srgbClr val="FFFFFF"/>
                    </a:solidFill>
                  </a:tcPr>
                </a:tc>
                <a:tc>
                  <a:txBody>
                    <a:bodyPr wrap="square"/>
                    <a:lstStyle/>
                    <a:p>
                      <a:r>
                        <a:rPr sz="1950" b="0">
                          <a:solidFill>
                            <a:srgbClr val="111111"/>
                          </a:solidFill>
                          <a:latin typeface="Times New Roman"/>
                          <a:ea typeface="Times New Roman"/>
                          <a:cs typeface="Times New Roman"/>
                        </a:rPr>
                        <a:t>Fixed starting positions leave a memory. Count crossings of a</a:t>
                      </a:r>
                    </a:p>
                    <a:p>
                      <a:r>
                        <a:rPr sz="1950" b="0">
                          <a:solidFill>
                            <a:srgbClr val="111111"/>
                          </a:solidFill>
                          <a:latin typeface="Times New Roman"/>
                          <a:ea typeface="Times New Roman"/>
                          <a:cs typeface="Times New Roman"/>
                        </a:rPr>
                        <a:t>fixed location and retain their correlation between two times.</a:t>
                      </a:r>
                    </a:p>
                  </a:txBody>
                  <a:tcPr marL="114300" marR="114300" marT="76200" marB="76200" anchor="ctr">
                    <a:lnR w="7620">
                      <a:solidFill>
                        <a:srgbClr val="D1D5DB"/>
                      </a:solidFill>
                      <a:prstDash val="solid"/>
                    </a:lnR>
                    <a:lnB w="7620">
                      <a:solidFill>
                        <a:srgbClr val="D1D5D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522CAC1-24BA-42C1-BF5E-22426FF21442}"/>
              </a:ext>
            </a:extLst>
          </p:cNvPr>
          <p:cNvSpPr>
            <a:spLocks xmlns:a="http://schemas.openxmlformats.org/drawingml/2006/main" noGrp="1"/>
          </p:cNvSpPr>
          <p:nvPr/>
        </p:nvSpPr>
        <p:spPr>
          <a:xfrm xmlns:a="http://schemas.openxmlformats.org/drawingml/2006/main">
            <a:off x="457200" y="47625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What the physics hint changes in this example</a:t>
            </a:r>
          </a:p>
        </p:txBody>
      </p:sp>
      <p:sp>
        <p:nvSpPr>
          <p:cNvPr id="5" name="">
            <a:extLst xmlns:a="http://schemas.openxmlformats.org/drawingml/2006/main">
              <a:ext uri="{FF2B5EF4-FFF2-40B4-BE49-F238E27FC236}">
                <a16:creationId xmlns:a16="http://schemas.microsoft.com/office/drawing/2014/main" id="{B6F2EE8A-AE99-4BAF-B299-D98D6CD2A70E}"/>
              </a:ext>
            </a:extLst>
          </p:cNvPr>
          <p:cNvSpPr>
            <a:spLocks xmlns:a="http://schemas.openxmlformats.org/drawingml/2006/main" noGrp="1"/>
          </p:cNvSpPr>
          <p:nvPr/>
        </p:nvSpPr>
        <p:spPr>
          <a:xfrm xmlns:a="http://schemas.openxmlformats.org/drawingml/2006/main">
            <a:off x="457200" y="5286375"/>
            <a:ext cx="3048000" cy="552450"/>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6" name="">
            <a:extLst xmlns:a="http://schemas.openxmlformats.org/drawingml/2006/main">
              <a:ext uri="{FF2B5EF4-FFF2-40B4-BE49-F238E27FC236}">
                <a16:creationId xmlns:a16="http://schemas.microsoft.com/office/drawing/2014/main" id="{677521B3-E815-4356-A692-D4DF887EEF8F}"/>
              </a:ext>
            </a:extLst>
          </p:cNvPr>
          <p:cNvSpPr>
            <a:spLocks xmlns:a="http://schemas.openxmlformats.org/drawingml/2006/main" noGrp="1"/>
          </p:cNvSpPr>
          <p:nvPr/>
        </p:nvSpPr>
        <p:spPr>
          <a:xfrm xmlns:a="http://schemas.openxmlformats.org/drawingml/2006/main">
            <a:off x="4572000" y="5286375"/>
            <a:ext cx="3048000" cy="552450"/>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7" name="">
            <a:extLst xmlns:a="http://schemas.openxmlformats.org/drawingml/2006/main">
              <a:ext uri="{FF2B5EF4-FFF2-40B4-BE49-F238E27FC236}">
                <a16:creationId xmlns:a16="http://schemas.microsoft.com/office/drawing/2014/main" id="{BE55F3B3-C02E-4231-B4D4-050C87D6F174}"/>
              </a:ext>
            </a:extLst>
          </p:cNvPr>
          <p:cNvSpPr>
            <a:spLocks xmlns:a="http://schemas.openxmlformats.org/drawingml/2006/main" noGrp="1"/>
          </p:cNvSpPr>
          <p:nvPr/>
        </p:nvSpPr>
        <p:spPr>
          <a:xfrm xmlns:a="http://schemas.openxmlformats.org/drawingml/2006/main">
            <a:off x="8686800" y="5286375"/>
            <a:ext cx="3048000" cy="552450"/>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8" name="">
            <a:extLst xmlns:a="http://schemas.openxmlformats.org/drawingml/2006/main">
              <a:ext uri="{FF2B5EF4-FFF2-40B4-BE49-F238E27FC236}">
                <a16:creationId xmlns:a16="http://schemas.microsoft.com/office/drawing/2014/main" id="{B9B5DB76-ED3A-454A-B14F-085301F77BAF}"/>
              </a:ext>
            </a:extLst>
          </p:cNvPr>
          <p:cNvSpPr>
            <a:spLocks xmlns:a="http://schemas.openxmlformats.org/drawingml/2006/main" noGrp="1"/>
          </p:cNvSpPr>
          <p:nvPr/>
        </p:nvSpPr>
        <p:spPr>
          <a:xfrm xmlns:a="http://schemas.openxmlformats.org/drawingml/2006/main">
            <a:off x="581025" y="544830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725" b="0">
                <a:solidFill>
                  <a:srgbClr val="111111"/>
                </a:solidFill>
                <a:latin typeface="Times New Roman"/>
                <a:ea typeface="Times New Roman"/>
                <a:cs typeface="Times New Roman"/>
              </a:defRPr>
            </a:defPPr>
          </a:lstStyle>
          <a:p xmlns:a="http://schemas.openxmlformats.org/drawingml/2006/main">
            <a:pPr algn="ctr">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Identical starting positions</a:t>
            </a:r>
          </a:p>
        </p:txBody>
      </p:sp>
      <p:sp>
        <p:nvSpPr>
          <p:cNvPr id="9" name="">
            <a:extLst xmlns:a="http://schemas.openxmlformats.org/drawingml/2006/main">
              <a:ext uri="{FF2B5EF4-FFF2-40B4-BE49-F238E27FC236}">
                <a16:creationId xmlns:a16="http://schemas.microsoft.com/office/drawing/2014/main" id="{DFE6421D-029A-422E-96D6-4F998DA7C746}"/>
              </a:ext>
            </a:extLst>
          </p:cNvPr>
          <p:cNvSpPr>
            <a:spLocks xmlns:a="http://schemas.openxmlformats.org/drawingml/2006/main" noGrp="1"/>
          </p:cNvSpPr>
          <p:nvPr/>
        </p:nvSpPr>
        <p:spPr>
          <a:xfrm xmlns:a="http://schemas.openxmlformats.org/drawingml/2006/main">
            <a:off x="4695825" y="544830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725" b="0">
                <a:solidFill>
                  <a:srgbClr val="111111"/>
                </a:solidFill>
                <a:latin typeface="Times New Roman"/>
                <a:ea typeface="Times New Roman"/>
                <a:cs typeface="Times New Roman"/>
              </a:defRPr>
            </a:defPPr>
          </a:lstStyle>
          <a:p xmlns:a="http://schemas.openxmlformats.org/drawingml/2006/main">
            <a:pPr algn="ctr">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Same path at two times</a:t>
            </a:r>
          </a:p>
        </p:txBody>
      </p:sp>
      <p:sp>
        <p:nvSpPr>
          <p:cNvPr id="10" name="">
            <a:extLst xmlns:a="http://schemas.openxmlformats.org/drawingml/2006/main">
              <a:ext uri="{FF2B5EF4-FFF2-40B4-BE49-F238E27FC236}">
                <a16:creationId xmlns:a16="http://schemas.microsoft.com/office/drawing/2014/main" id="{0D83F724-C228-4209-B616-6C7A37D78F32}"/>
              </a:ext>
            </a:extLst>
          </p:cNvPr>
          <p:cNvSpPr>
            <a:spLocks xmlns:a="http://schemas.openxmlformats.org/drawingml/2006/main" noGrp="1"/>
          </p:cNvSpPr>
          <p:nvPr/>
        </p:nvSpPr>
        <p:spPr>
          <a:xfrm xmlns:a="http://schemas.openxmlformats.org/drawingml/2006/main">
            <a:off x="8810625" y="5448300"/>
            <a:ext cx="2800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725" b="0">
                <a:solidFill>
                  <a:srgbClr val="111111"/>
                </a:solidFill>
                <a:latin typeface="Times New Roman"/>
                <a:ea typeface="Times New Roman"/>
                <a:cs typeface="Times New Roman"/>
              </a:defRPr>
            </a:defPPr>
          </a:lstStyle>
          <a:p xmlns:a="http://schemas.openxmlformats.org/drawingml/2006/main">
            <a:pPr algn="ctr">
              <a:defRPr sz="1725" b="0">
                <a:solidFill>
                  <a:srgbClr val="111111"/>
                </a:solidFill>
                <a:latin typeface="Times New Roman"/>
                <a:ea typeface="Times New Roman"/>
                <a:cs typeface="Times New Roman"/>
              </a:defRPr>
            </a:pPr>
            <a:r>
              <a:rPr sz="1725" b="0">
                <a:solidFill>
                  <a:srgbClr val="111111"/>
                </a:solidFill>
                <a:latin typeface="Times New Roman"/>
                <a:ea typeface="Times New Roman"/>
                <a:cs typeface="Times New Roman"/>
              </a:rPr>
              <a:t>Preparation affects memory</a:t>
            </a:r>
          </a:p>
        </p:txBody>
      </p:sp>
      <p:sp>
        <p:nvSpPr>
          <p:cNvPr id="13" name="">
            <a:extLst xmlns:a="http://schemas.openxmlformats.org/drawingml/2006/main">
              <a:ext uri="{FF2B5EF4-FFF2-40B4-BE49-F238E27FC236}">
                <a16:creationId xmlns:a16="http://schemas.microsoft.com/office/drawing/2014/main" id="{2C40DD58-B079-41B9-8912-1C0157D9752B}"/>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No-hint instruction shortened. General hint quoted exactly. Physics hint paraphrased from the frozen task prompt.</a:t>
            </a:r>
          </a:p>
        </p:txBody>
      </p:sp>
      <p:sp>
        <p:nvSpPr>
          <p:cNvPr id="14" name="">
            <a:extLst xmlns:a="http://schemas.openxmlformats.org/drawingml/2006/main">
              <a:ext uri="{FF2B5EF4-FFF2-40B4-BE49-F238E27FC236}">
                <a16:creationId xmlns:a16="http://schemas.microsoft.com/office/drawing/2014/main" id="{2EE7999B-7A7E-49D5-82F9-90BB1666FF7C}"/>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16970246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EDFE61-F640-44E1-A39C-A8BF6BCC993A}"/>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Experiment and evaluation</a:t>
            </a:r>
          </a:p>
        </p:txBody>
      </p:sp>
      <p:sp>
        <p:nvSpPr>
          <p:cNvPr id="2" name="">
            <a:extLst xmlns:a="http://schemas.openxmlformats.org/drawingml/2006/main">
              <a:ext uri="{FF2B5EF4-FFF2-40B4-BE49-F238E27FC236}">
                <a16:creationId xmlns:a16="http://schemas.microsoft.com/office/drawing/2014/main" id="{1EA837F5-49FF-4083-8C0E-E2809BEDA85C}"/>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13 frozen tasks, 3 repeats per setting. A pass requires all grading gates and timely completion.</a:t>
            </a:r>
          </a:p>
        </p:txBody>
      </p:sp>
      <p:graphicFrame>
        <p:nvGraphicFramePr>
          <p:cNvPr id="3" name="">
            <a:extLst xmlns:a="http://schemas.openxmlformats.org/drawingml/2006/main">
              <a:ext uri="{FF2B5EF4-FFF2-40B4-BE49-F238E27FC236}">
                <a16:creationId xmlns:a16="http://schemas.microsoft.com/office/drawing/2014/main" id="{8F108B41-661B-4861-A413-FED2DFCA8528}"/>
              </a:ext>
            </a:extLst>
          </p:cNvPr>
          <p:cNvGraphicFramePr/>
          <p:nvPr/>
        </p:nvGraphicFramePr>
        <p:xfrm>
          <a:off xmlns:a="http://schemas.openxmlformats.org/drawingml/2006/main" x="457200" y="1562100"/>
          <a:ext xmlns:a="http://schemas.openxmlformats.org/drawingml/2006/main" cx="11277600" cy="2781300"/>
        </p:xfrm>
        <a:graphic xmlns:a="http://schemas.openxmlformats.org/drawingml/2006/main">
          <a:graphicData uri="http://schemas.openxmlformats.org/drawingml/2006/table">
            <a:tbl>
              <a:tblPr/>
              <a:tblGrid>
                <a:gridCol w="2124075"/>
                <a:gridCol w="6219825"/>
                <a:gridCol w="2933700"/>
              </a:tblGrid>
              <a:tr h="927100">
                <a:tc>
                  <a:txBody>
                    <a:bodyPr wrap="square"/>
                    <a:lstStyle/>
                    <a:p>
                      <a:r>
                        <a:rPr sz="1875" b="1">
                          <a:solidFill>
                            <a:srgbClr val="FFFFFF"/>
                          </a:solidFill>
                          <a:latin typeface="Times New Roman"/>
                          <a:ea typeface="Times New Roman"/>
                          <a:cs typeface="Times New Roman"/>
                        </a:rPr>
                        <a:t>Study</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wrap="square"/>
                    <a:lstStyle/>
                    <a:p>
                      <a:r>
                        <a:rPr sz="1875" b="1">
                          <a:solidFill>
                            <a:srgbClr val="FFFFFF"/>
                          </a:solidFill>
                          <a:latin typeface="Times New Roman"/>
                          <a:ea typeface="Times New Roman"/>
                          <a:cs typeface="Times New Roman"/>
                        </a:rPr>
                        <a:t>Models and reasoning settings</a:t>
                      </a:r>
                    </a:p>
                  </a:txBody>
                  <a:tcPr marL="114300" marR="114300" marT="76200" marB="76200" anchor="ctr">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wrap="square"/>
                    <a:lstStyle/>
                    <a:p>
                      <a:r>
                        <a:rPr sz="1875" b="1">
                          <a:solidFill>
                            <a:srgbClr val="FFFFFF"/>
                          </a:solidFill>
                          <a:latin typeface="Times New Roman"/>
                          <a:ea typeface="Times New Roman"/>
                          <a:cs typeface="Times New Roman"/>
                        </a:rPr>
                        <a:t>Planned observations</a:t>
                      </a:r>
                    </a:p>
                  </a:txBody>
                  <a:tcPr marL="114300" marR="114300" marT="76200" marB="76200" anchor="ctr">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r>
              <a:tr h="927100">
                <a:tc>
                  <a:txBody>
                    <a:bodyPr wrap="square"/>
                    <a:lstStyle/>
                    <a:p>
                      <a:r>
                        <a:rPr sz="187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B w="7620">
                      <a:solidFill>
                        <a:srgbClr val="D1D5DB"/>
                      </a:solidFill>
                      <a:prstDash val="solid"/>
                    </a:lnB>
                    <a:solidFill>
                      <a:srgbClr val="FFFFFF"/>
                    </a:solidFill>
                  </a:tcPr>
                </a:tc>
                <a:tc>
                  <a:txBody>
                    <a:bodyPr wrap="square"/>
                    <a:lstStyle/>
                    <a:p>
                      <a:r>
                        <a:rPr sz="1875" b="0">
                          <a:solidFill>
                            <a:srgbClr val="111111"/>
                          </a:solidFill>
                          <a:latin typeface="Times New Roman"/>
                          <a:ea typeface="Times New Roman"/>
                          <a:cs typeface="Times New Roman"/>
                        </a:rPr>
                        <a:t>GPT-6 Luna / Sol / Astra; GPT-5.6 Terra</a:t>
                      </a:r>
                    </a:p>
                    <a:p>
                      <a:r>
                        <a:rPr sz="1875" b="0">
                          <a:solidFill>
                            <a:srgbClr val="111111"/>
                          </a:solidFill>
                          <a:latin typeface="Times New Roman"/>
                          <a:ea typeface="Times New Roman"/>
                          <a:cs typeface="Times New Roman"/>
                        </a:rPr>
                        <a:t>Low, High, Extra High</a:t>
                      </a:r>
                    </a:p>
                    <a:p>
                      <a:r>
                        <a:rPr sz="1875" b="0">
                          <a:solidFill>
                            <a:srgbClr val="111111"/>
                          </a:solidFill>
                          <a:latin typeface="Times New Roman"/>
                          <a:ea typeface="Times New Roman"/>
                          <a:cs typeface="Times New Roman"/>
                        </a:rPr>
                        <a:t>DeepSeek V4.1 Flash: Low, High, Max</a:t>
                      </a:r>
                    </a:p>
                  </a:txBody>
                  <a:tcPr marL="114300" marR="114300" marT="76200" marB="76200" anchor="ctr">
                    <a:lnR w="7620">
                      <a:solidFill>
                        <a:srgbClr val="D1D5DB"/>
                      </a:solidFill>
                      <a:prstDash val="solid"/>
                    </a:lnR>
                    <a:lnB w="7620">
                      <a:solidFill>
                        <a:srgbClr val="D1D5DB"/>
                      </a:solidFill>
                      <a:prstDash val="solid"/>
                    </a:lnB>
                    <a:solidFill>
                      <a:srgbClr val="FFFFFF"/>
                    </a:solidFill>
                  </a:tcPr>
                </a:tc>
                <a:tc>
                  <a:txBody>
                    <a:bodyPr wrap="square"/>
                    <a:lstStyle/>
                    <a:p>
                      <a:r>
                        <a:rPr sz="1875" b="0">
                          <a:solidFill>
                            <a:srgbClr val="111111"/>
                          </a:solidFill>
                          <a:latin typeface="Times New Roman"/>
                          <a:ea typeface="Times New Roman"/>
                          <a:cs typeface="Times New Roman"/>
                        </a:rPr>
                        <a:t>15 settings × 39 = 585</a:t>
                      </a:r>
                    </a:p>
                  </a:txBody>
                  <a:tcPr marL="114300" marR="114300" marT="76200" marB="76200" anchor="ctr">
                    <a:lnR w="7620">
                      <a:solidFill>
                        <a:srgbClr val="D1D5DB"/>
                      </a:solidFill>
                      <a:prstDash val="solid"/>
                    </a:lnR>
                    <a:lnB w="7620">
                      <a:solidFill>
                        <a:srgbClr val="D1D5DB"/>
                      </a:solidFill>
                      <a:prstDash val="solid"/>
                    </a:lnB>
                    <a:solidFill>
                      <a:srgbClr val="FFFFFF"/>
                    </a:solidFill>
                  </a:tcPr>
                </a:tc>
              </a:tr>
              <a:tr h="927100">
                <a:tc>
                  <a:txBody>
                    <a:bodyPr wrap="square"/>
                    <a:lstStyle/>
                    <a:p>
                      <a:r>
                        <a:rPr sz="1875" b="0">
                          <a:solidFill>
                            <a:srgbClr val="111111"/>
                          </a:solidFill>
                          <a:latin typeface="Times New Roman"/>
                          <a:ea typeface="Times New Roman"/>
                          <a:cs typeface="Times New Roman"/>
                        </a:rPr>
                        <a:t>Hint comparison</a:t>
                      </a:r>
                    </a:p>
                  </a:txBody>
                  <a:tcPr marL="114300" marR="114300" marT="76200" marB="76200" anchor="ctr">
                    <a:lnL w="7620">
                      <a:solidFill>
                        <a:srgbClr val="D1D5DB"/>
                      </a:solidFill>
                      <a:prstDash val="solid"/>
                    </a:lnL>
                    <a:lnR w="7620">
                      <a:solidFill>
                        <a:srgbClr val="D1D5DB"/>
                      </a:solidFill>
                      <a:prstDash val="solid"/>
                    </a:lnR>
                    <a:lnB w="7620">
                      <a:solidFill>
                        <a:srgbClr val="D1D5DB"/>
                      </a:solidFill>
                      <a:prstDash val="solid"/>
                    </a:lnB>
                    <a:solidFill>
                      <a:srgbClr val="F3F4F6"/>
                    </a:solidFill>
                  </a:tcPr>
                </a:tc>
                <a:tc>
                  <a:txBody>
                    <a:bodyPr wrap="square"/>
                    <a:lstStyle/>
                    <a:p>
                      <a:r>
                        <a:rPr sz="1875" b="0">
                          <a:solidFill>
                            <a:srgbClr val="111111"/>
                          </a:solidFill>
                          <a:latin typeface="Times New Roman"/>
                          <a:ea typeface="Times New Roman"/>
                          <a:cs typeface="Times New Roman"/>
                        </a:rPr>
                        <a:t>GPT-5.6 Luna / Terra; DeepSeek V4.1 Flash</a:t>
                      </a:r>
                    </a:p>
                    <a:p>
                      <a:r>
                        <a:rPr sz="1875" b="0">
                          <a:solidFill>
                            <a:srgbClr val="111111"/>
                          </a:solidFill>
                          <a:latin typeface="Times New Roman"/>
                          <a:ea typeface="Times New Roman"/>
                          <a:cs typeface="Times New Roman"/>
                        </a:rPr>
                        <a:t>High only, with 3 prompt conditions</a:t>
                      </a:r>
                    </a:p>
                  </a:txBody>
                  <a:tcPr marL="114300" marR="114300" marT="76200" marB="76200" anchor="ctr">
                    <a:lnR w="7620">
                      <a:solidFill>
                        <a:srgbClr val="D1D5DB"/>
                      </a:solidFill>
                      <a:prstDash val="solid"/>
                    </a:lnR>
                    <a:lnB w="7620">
                      <a:solidFill>
                        <a:srgbClr val="D1D5DB"/>
                      </a:solidFill>
                      <a:prstDash val="solid"/>
                    </a:lnB>
                    <a:solidFill>
                      <a:srgbClr val="F3F4F6"/>
                    </a:solidFill>
                  </a:tcPr>
                </a:tc>
                <a:tc>
                  <a:txBody>
                    <a:bodyPr wrap="square"/>
                    <a:lstStyle/>
                    <a:p>
                      <a:r>
                        <a:rPr sz="1875" b="0">
                          <a:solidFill>
                            <a:srgbClr val="111111"/>
                          </a:solidFill>
                          <a:latin typeface="Times New Roman"/>
                          <a:ea typeface="Times New Roman"/>
                          <a:cs typeface="Times New Roman"/>
                        </a:rPr>
                        <a:t>9 settings × 39 = 351</a:t>
                      </a:r>
                    </a:p>
                  </a:txBody>
                  <a:tcPr marL="114300" marR="114300" marT="76200" marB="76200" anchor="ctr">
                    <a:lnR w="7620">
                      <a:solidFill>
                        <a:srgbClr val="D1D5DB"/>
                      </a:solidFill>
                      <a:prstDash val="solid"/>
                    </a:lnR>
                    <a:lnB w="7620">
                      <a:solidFill>
                        <a:srgbClr val="D1D5DB"/>
                      </a:solidFill>
                      <a:prstDash val="solid"/>
                    </a:lnB>
                    <a:solidFill>
                      <a:srgbClr val="F3F4F6"/>
                    </a:solidFill>
                  </a:tcPr>
                </a:tc>
              </a:tr>
            </a:tbl>
          </a:graphicData>
        </a:graphic>
      </p:graphicFrame>
      <p:sp>
        <p:nvSpPr>
          <p:cNvPr id="4" name="">
            <a:extLst xmlns:a="http://schemas.openxmlformats.org/drawingml/2006/main">
              <a:ext uri="{FF2B5EF4-FFF2-40B4-BE49-F238E27FC236}">
                <a16:creationId xmlns:a16="http://schemas.microsoft.com/office/drawing/2014/main" id="{60523C90-4975-4A2D-A3C0-77A2CACDD7F8}"/>
              </a:ext>
            </a:extLst>
          </p:cNvPr>
          <p:cNvSpPr>
            <a:spLocks xmlns:a="http://schemas.openxmlformats.org/drawingml/2006/main" noGrp="1"/>
          </p:cNvSpPr>
          <p:nvPr/>
        </p:nvSpPr>
        <p:spPr>
          <a:xfrm xmlns:a="http://schemas.openxmlformats.org/drawingml/2006/main">
            <a:off x="457200" y="46482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Same task files and grading across prompt conditions</a:t>
            </a:r>
          </a:p>
        </p:txBody>
      </p:sp>
      <p:sp>
        <p:nvSpPr>
          <p:cNvPr id="5" name="">
            <a:extLst xmlns:a="http://schemas.openxmlformats.org/drawingml/2006/main">
              <a:ext uri="{FF2B5EF4-FFF2-40B4-BE49-F238E27FC236}">
                <a16:creationId xmlns:a16="http://schemas.microsoft.com/office/drawing/2014/main" id="{DF89E35C-FE1B-4E68-A3B7-F4BF6C3BDEBB}"/>
              </a:ext>
            </a:extLst>
          </p:cNvPr>
          <p:cNvSpPr>
            <a:spLocks xmlns:a="http://schemas.openxmlformats.org/drawingml/2006/main" noGrp="1"/>
          </p:cNvSpPr>
          <p:nvPr/>
        </p:nvSpPr>
        <p:spPr>
          <a:xfrm xmlns:a="http://schemas.openxmlformats.org/drawingml/2006/main">
            <a:off x="457200" y="51530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11111"/>
                </a:solidFill>
                <a:latin typeface="Times New Roman"/>
                <a:ea typeface="Times New Roman"/>
                <a:cs typeface="Times New Roman"/>
              </a:defRPr>
            </a:defPPr>
          </a:lstStyle>
          <a:p xmlns:a="http://schemas.openxmlformats.org/drawingml/2006/main">
            <a:pPr algn="l">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Harbor 0.21.0 + Codex agent   /   600 s agent   /   60 s verifier</a:t>
            </a:r>
          </a:p>
        </p:txBody>
      </p:sp>
      <p:sp>
        <p:nvSpPr>
          <p:cNvPr id="6" name="">
            <a:extLst xmlns:a="http://schemas.openxmlformats.org/drawingml/2006/main">
              <a:ext uri="{FF2B5EF4-FFF2-40B4-BE49-F238E27FC236}">
                <a16:creationId xmlns:a16="http://schemas.microsoft.com/office/drawing/2014/main" id="{CF7CE253-0BE1-438E-BE35-658EB1979A32}"/>
              </a:ext>
            </a:extLst>
          </p:cNvPr>
          <p:cNvSpPr>
            <a:spLocks xmlns:a="http://schemas.openxmlformats.org/drawingml/2006/main" noGrp="1"/>
          </p:cNvSpPr>
          <p:nvPr/>
        </p:nvSpPr>
        <p:spPr>
          <a:xfrm xmlns:a="http://schemas.openxmlformats.org/drawingml/2006/main">
            <a:off x="457200" y="5619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a:solidFill>
                  <a:srgbClr val="444444"/>
                </a:solidFill>
                <a:latin typeface="Times New Roman"/>
                <a:ea typeface="Times New Roman"/>
                <a:cs typeface="Times New Roman"/>
              </a:defRPr>
            </a:defPPr>
          </a:lstStyle>
          <a:p xmlns:a="http://schemas.openxmlformats.org/drawingml/2006/main">
            <a:pPr algn="l">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Cost axis: estimated API cost per attempt. Execution errors count as non-passes.</a:t>
            </a:r>
          </a:p>
        </p:txBody>
      </p:sp>
      <p:sp>
        <p:nvSpPr>
          <p:cNvPr id="7" name="">
            <a:extLst xmlns:a="http://schemas.openxmlformats.org/drawingml/2006/main">
              <a:ext uri="{FF2B5EF4-FFF2-40B4-BE49-F238E27FC236}">
                <a16:creationId xmlns:a16="http://schemas.microsoft.com/office/drawing/2014/main" id="{1C95A617-5DE4-4C84-8066-2B498553D96A}"/>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38 Luna hint-study baselines are historical: client 0.154.0 / concurrency 4 versus local 0.160.0 / 3. Hint differences are descriptive.</a:t>
            </a:r>
          </a:p>
        </p:txBody>
      </p:sp>
      <p:sp>
        <p:nvSpPr>
          <p:cNvPr id="8" name="">
            <a:extLst xmlns:a="http://schemas.openxmlformats.org/drawingml/2006/main">
              <a:ext uri="{FF2B5EF4-FFF2-40B4-BE49-F238E27FC236}">
                <a16:creationId xmlns:a16="http://schemas.microsoft.com/office/drawing/2014/main" id="{3A587F30-23FB-460A-A316-862C5767649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1041282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9F7872-6721-4E61-909A-D72DFA54E882}"/>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No-hint Pareto frontier</a:t>
            </a:r>
          </a:p>
        </p:txBody>
      </p:sp>
      <p:sp>
        <p:nvSpPr>
          <p:cNvPr id="2" name="">
            <a:extLst xmlns:a="http://schemas.openxmlformats.org/drawingml/2006/main">
              <a:ext uri="{FF2B5EF4-FFF2-40B4-BE49-F238E27FC236}">
                <a16:creationId xmlns:a16="http://schemas.microsoft.com/office/drawing/2014/main" id="{3FF4C2A8-9BF0-420F-9840-D4124FD4447B}"/>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Upper left is better: more passes at lower cost. Each point contains 39 attempts.</a:t>
            </a:r>
          </a:p>
        </p:txBody>
      </p:sp>
      <p:sp>
        <p:nvSpPr>
          <p:cNvPr id="3" name="">
            <a:extLst xmlns:a="http://schemas.openxmlformats.org/drawingml/2006/main">
              <a:ext uri="{FF2B5EF4-FFF2-40B4-BE49-F238E27FC236}">
                <a16:creationId xmlns:a16="http://schemas.microsoft.com/office/drawing/2014/main" id="{35890AFB-C021-42FE-98CC-DA3146AA982C}"/>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5</a:t>
            </a:r>
          </a:p>
        </p:txBody>
      </p:sp>
      <p:graphicFrame>
        <p:nvGraphicFramePr>
          <p:cNvPr id="4" name="Chart">
            <a:extLst xmlns:a="http://schemas.openxmlformats.org/drawingml/2006/main">
              <a:ext uri="{FF2B5EF4-FFF2-40B4-BE49-F238E27FC236}">
                <a16:creationId xmlns:a16="http://schemas.microsoft.com/office/drawing/2014/main" id="{97A627BE-6EF7-4B7C-9D4E-3EA6E68809B7}"/>
              </a:ext>
            </a:extLst>
          </p:cNvPr>
          <p:cNvGraphicFramePr/>
          <p:nvPr/>
        </p:nvGraphicFramePr>
        <p:xfrm>
          <a:off xmlns:a="http://schemas.openxmlformats.org/drawingml/2006/main" x="457200" y="1581150"/>
          <a:ext xmlns:a="http://schemas.openxmlformats.org/drawingml/2006/main" cx="7429500" cy="4171950"/>
        </p:xfrm>
        <a:graphic xmlns:a="http://schemas.openxmlformats.org/drawingml/2006/main">
          <a:graphicData uri="http://schemas.openxmlformats.org/drawingml/2006/chart">
            <c:chart xmlns:r="http://schemas.openxmlformats.org/officeDocument/2006/relationships" xmlns:c="http://schemas.openxmlformats.org/drawingml/2006/chart" r:id="Rcf4a92dc93bb404a"/>
          </a:graphicData>
        </a:graphic>
      </p:graphicFrame>
      <p:sp>
        <p:nvSpPr>
          <p:cNvPr id="5" name="">
            <a:extLst xmlns:a="http://schemas.openxmlformats.org/drawingml/2006/main">
              <a:ext uri="{FF2B5EF4-FFF2-40B4-BE49-F238E27FC236}">
                <a16:creationId xmlns:a16="http://schemas.microsoft.com/office/drawing/2014/main" id="{42202847-E1E1-4E1F-A845-3226CD26728D}"/>
              </a:ext>
            </a:extLst>
          </p:cNvPr>
          <p:cNvSpPr>
            <a:spLocks xmlns:a="http://schemas.openxmlformats.org/drawingml/2006/main" noGrp="1"/>
          </p:cNvSpPr>
          <p:nvPr/>
        </p:nvSpPr>
        <p:spPr>
          <a:xfrm xmlns:a="http://schemas.openxmlformats.org/drawingml/2006/main">
            <a:off x="8248650" y="1600200"/>
            <a:ext cx="3486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i="0">
                <a:solidFill>
                  <a:srgbClr val="111111"/>
                </a:solidFill>
                <a:latin typeface="Times New Roman"/>
                <a:ea typeface="Times New Roman"/>
                <a:cs typeface="Times New Roman"/>
              </a:defRPr>
            </a:defPPr>
          </a:lstStyle>
          <a:p xmlns:a="http://schemas.openxmlformats.org/drawingml/2006/main">
            <a:pPr algn="l">
              <a:buNone/>
              <a:defRPr sz="2100" b="1" i="0">
                <a:solidFill>
                  <a:srgbClr val="111111"/>
                </a:solidFill>
                <a:latin typeface="Times New Roman"/>
                <a:ea typeface="Times New Roman"/>
                <a:cs typeface="Times New Roman"/>
              </a:defRPr>
            </a:pPr>
            <a:r>
              <a:rPr sz="2100" b="1" i="0">
                <a:solidFill>
                  <a:srgbClr val="111111"/>
                </a:solidFill>
                <a:latin typeface="Times New Roman"/>
                <a:ea typeface="Times New Roman"/>
                <a:cs typeface="Times New Roman"/>
              </a:rPr>
              <a:t>Frontier settings</a:t>
            </a:r>
          </a:p>
        </p:txBody>
      </p:sp>
      <p:graphicFrame>
        <p:nvGraphicFramePr>
          <p:cNvPr id="6" name="">
            <a:extLst xmlns:a="http://schemas.openxmlformats.org/drawingml/2006/main">
              <a:ext uri="{FF2B5EF4-FFF2-40B4-BE49-F238E27FC236}">
                <a16:creationId xmlns:a16="http://schemas.microsoft.com/office/drawing/2014/main" id="{B839490E-9DE9-409A-9040-DA5C1808651E}"/>
              </a:ext>
            </a:extLst>
          </p:cNvPr>
          <p:cNvGraphicFramePr/>
          <p:nvPr/>
        </p:nvGraphicFramePr>
        <p:xfrm>
          <a:off xmlns:a="http://schemas.openxmlformats.org/drawingml/2006/main" x="8191500" y="2085975"/>
          <a:ext xmlns:a="http://schemas.openxmlformats.org/drawingml/2006/main" cx="3543300" cy="2257425"/>
        </p:xfrm>
        <a:graphic xmlns:a="http://schemas.openxmlformats.org/drawingml/2006/main">
          <a:graphicData uri="http://schemas.openxmlformats.org/drawingml/2006/table">
            <a:tbl>
              <a:tblPr/>
              <a:tblGrid>
                <a:gridCol w="1859743"/>
                <a:gridCol w="812414"/>
                <a:gridCol w="871143"/>
              </a:tblGrid>
              <a:tr h="451485">
                <a:tc>
                  <a:txBody>
                    <a:bodyPr lIns="0" tIns="0" rIns="0" bIns="0"/>
                    <a:lstStyle/>
                    <a:p>
                      <a:r>
                        <a:rPr sz="1575" b="1">
                          <a:solidFill>
                            <a:srgbClr val="FFFFFF"/>
                          </a:solidFill>
                          <a:latin typeface="Times New Roman"/>
                          <a:ea typeface="Times New Roman"/>
                          <a:cs typeface="Times New Roman"/>
                        </a:rPr>
                        <a:t>Setting</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75" b="1">
                          <a:solidFill>
                            <a:srgbClr val="FFFFFF"/>
                          </a:solidFill>
                          <a:latin typeface="Times New Roman"/>
                          <a:ea typeface="Times New Roman"/>
                          <a:cs typeface="Times New Roman"/>
                        </a:rPr>
                        <a:t>Pass</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75" b="1">
                          <a:solidFill>
                            <a:srgbClr val="FFFFFF"/>
                          </a:solidFill>
                          <a:latin typeface="Times New Roman"/>
                          <a:ea typeface="Times New Roman"/>
                          <a:cs typeface="Times New Roman"/>
                        </a:rPr>
                        <a:t>USD</a:t>
                      </a:r>
                    </a:p>
                  </a:txBody>
                  <a:tcPr marL="114300" marR="114300" marT="66675" marB="66675"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451485">
                <a:tc>
                  <a:txBody>
                    <a:bodyPr lIns="0" tIns="0" rIns="0" bIns="0"/>
                    <a:lstStyle/>
                    <a:p>
                      <a:r>
                        <a:rPr sz="1575" b="0">
                          <a:solidFill>
                            <a:srgbClr val="111111"/>
                          </a:solidFill>
                          <a:latin typeface="Times New Roman"/>
                          <a:ea typeface="Times New Roman"/>
                          <a:cs typeface="Times New Roman"/>
                        </a:rPr>
                        <a:t>Luna 6 Low</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4/39</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.0040</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451485">
                <a:tc>
                  <a:txBody>
                    <a:bodyPr lIns="0" tIns="0" rIns="0" bIns="0"/>
                    <a:lstStyle/>
                    <a:p>
                      <a:r>
                        <a:rPr sz="1575" b="0">
                          <a:solidFill>
                            <a:srgbClr val="111111"/>
                          </a:solidFill>
                          <a:latin typeface="Times New Roman"/>
                          <a:ea typeface="Times New Roman"/>
                          <a:cs typeface="Times New Roman"/>
                        </a:rPr>
                        <a:t>Luna 6 Extra High</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12/39</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.0126</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r h="451485">
                <a:tc>
                  <a:txBody>
                    <a:bodyPr lIns="0" tIns="0" rIns="0" bIns="0"/>
                    <a:lstStyle/>
                    <a:p>
                      <a:r>
                        <a:rPr sz="1575" b="0">
                          <a:solidFill>
                            <a:srgbClr val="111111"/>
                          </a:solidFill>
                          <a:latin typeface="Times New Roman"/>
                          <a:ea typeface="Times New Roman"/>
                          <a:cs typeface="Times New Roman"/>
                        </a:rPr>
                        <a:t>Sol 6 Low</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37/39</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75" b="0">
                          <a:solidFill>
                            <a:srgbClr val="111111"/>
                          </a:solidFill>
                          <a:latin typeface="Times New Roman"/>
                          <a:ea typeface="Times New Roman"/>
                          <a:cs typeface="Times New Roman"/>
                        </a:rPr>
                        <a:t>.0773</a:t>
                      </a:r>
                    </a:p>
                  </a:txBody>
                  <a:tcPr marL="114300" marR="114300" marT="66675" marB="66675" anchor="ctr">
                    <a:lnR w="5715">
                      <a:solidFill>
                        <a:srgbClr val="C7CBD1"/>
                      </a:solidFill>
                      <a:prstDash val="solid"/>
                    </a:lnR>
                    <a:lnB w="5715">
                      <a:solidFill>
                        <a:srgbClr val="C7CBD1"/>
                      </a:solidFill>
                      <a:prstDash val="solid"/>
                    </a:lnB>
                    <a:solidFill>
                      <a:srgbClr val="FFFFFF"/>
                    </a:solidFill>
                  </a:tcPr>
                </a:tc>
              </a:tr>
              <a:tr h="451485">
                <a:tc>
                  <a:txBody>
                    <a:bodyPr lIns="0" tIns="0" rIns="0" bIns="0"/>
                    <a:lstStyle/>
                    <a:p>
                      <a:r>
                        <a:rPr sz="1575" b="0">
                          <a:solidFill>
                            <a:srgbClr val="111111"/>
                          </a:solidFill>
                          <a:latin typeface="Times New Roman"/>
                          <a:ea typeface="Times New Roman"/>
                          <a:cs typeface="Times New Roman"/>
                        </a:rPr>
                        <a:t>Sol 6 High</a:t>
                      </a:r>
                    </a:p>
                  </a:txBody>
                  <a:tcPr marL="114300" marR="114300" marT="66675" marB="66675"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39/39</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75" b="0">
                          <a:solidFill>
                            <a:srgbClr val="111111"/>
                          </a:solidFill>
                          <a:latin typeface="Times New Roman"/>
                          <a:ea typeface="Times New Roman"/>
                          <a:cs typeface="Times New Roman"/>
                        </a:rPr>
                        <a:t>.1975</a:t>
                      </a:r>
                    </a:p>
                  </a:txBody>
                  <a:tcPr marL="114300" marR="114300" marT="66675" marB="66675" anchor="ctr">
                    <a:lnR w="5715">
                      <a:solidFill>
                        <a:srgbClr val="C7CBD1"/>
                      </a:solidFill>
                      <a:prstDash val="solid"/>
                    </a:lnR>
                    <a:lnB w="5715">
                      <a:solidFill>
                        <a:srgbClr val="C7CBD1"/>
                      </a:solidFill>
                      <a:prstDash val="solid"/>
                    </a:lnB>
                    <a:solidFill>
                      <a:srgbClr val="F3F4F6"/>
                    </a:solidFill>
                  </a:tcPr>
                </a:tc>
              </a:tr>
            </a:tbl>
          </a:graphicData>
        </a:graphic>
      </p:graphicFrame>
      <p:sp>
        <p:nvSpPr>
          <p:cNvPr id="7" name="">
            <a:extLst xmlns:a="http://schemas.openxmlformats.org/drawingml/2006/main">
              <a:ext uri="{FF2B5EF4-FFF2-40B4-BE49-F238E27FC236}">
                <a16:creationId xmlns:a16="http://schemas.microsoft.com/office/drawing/2014/main" id="{AF81E9BA-8FF2-438C-A496-E9A150FB445B}"/>
              </a:ext>
            </a:extLst>
          </p:cNvPr>
          <p:cNvSpPr>
            <a:spLocks xmlns:a="http://schemas.openxmlformats.org/drawingml/2006/main" noGrp="1"/>
          </p:cNvSpPr>
          <p:nvPr/>
        </p:nvSpPr>
        <p:spPr>
          <a:xfrm xmlns:a="http://schemas.openxmlformats.org/drawingml/2006/main">
            <a:off x="8286750" y="46005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1D4E89"/>
                </a:solidFill>
                <a:latin typeface="Times New Roman"/>
                <a:ea typeface="Times New Roman"/>
                <a:cs typeface="Times New Roman"/>
              </a:defRPr>
            </a:defPPr>
          </a:lstStyle>
          <a:p xmlns:a="http://schemas.openxmlformats.org/drawingml/2006/main">
            <a:pPr algn="l">
              <a:buNone/>
              <a:defRPr sz="1575" b="1" i="0">
                <a:solidFill>
                  <a:srgbClr val="1D4E89"/>
                </a:solidFill>
                <a:latin typeface="Times New Roman"/>
                <a:ea typeface="Times New Roman"/>
                <a:cs typeface="Times New Roman"/>
              </a:defRPr>
            </a:pPr>
            <a:r>
              <a:rPr sz="1575" b="1" i="0">
                <a:solidFill>
                  <a:srgbClr val="1D4E89"/>
                </a:solidFill>
                <a:latin typeface="Times New Roman"/>
                <a:ea typeface="Times New Roman"/>
                <a:cs typeface="Times New Roman"/>
              </a:rPr>
              <a:t>GPT-6 Luna</a:t>
            </a:r>
          </a:p>
        </p:txBody>
      </p:sp>
      <p:sp>
        <p:nvSpPr>
          <p:cNvPr id="8" name="">
            <a:extLst xmlns:a="http://schemas.openxmlformats.org/drawingml/2006/main">
              <a:ext uri="{FF2B5EF4-FFF2-40B4-BE49-F238E27FC236}">
                <a16:creationId xmlns:a16="http://schemas.microsoft.com/office/drawing/2014/main" id="{CEC49F00-D148-458B-81B1-9BA26FDF690C}"/>
              </a:ext>
            </a:extLst>
          </p:cNvPr>
          <p:cNvSpPr>
            <a:spLocks xmlns:a="http://schemas.openxmlformats.org/drawingml/2006/main" noGrp="1"/>
          </p:cNvSpPr>
          <p:nvPr/>
        </p:nvSpPr>
        <p:spPr>
          <a:xfrm xmlns:a="http://schemas.openxmlformats.org/drawingml/2006/main">
            <a:off x="8286750" y="48291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0F766E"/>
                </a:solidFill>
                <a:latin typeface="Times New Roman"/>
                <a:ea typeface="Times New Roman"/>
                <a:cs typeface="Times New Roman"/>
              </a:defRPr>
            </a:defPPr>
          </a:lstStyle>
          <a:p xmlns:a="http://schemas.openxmlformats.org/drawingml/2006/main">
            <a:pPr algn="l">
              <a:buNone/>
              <a:defRPr sz="1575" b="1" i="0">
                <a:solidFill>
                  <a:srgbClr val="0F766E"/>
                </a:solidFill>
                <a:latin typeface="Times New Roman"/>
                <a:ea typeface="Times New Roman"/>
                <a:cs typeface="Times New Roman"/>
              </a:defRPr>
            </a:pPr>
            <a:r>
              <a:rPr sz="1575" b="1" i="0">
                <a:solidFill>
                  <a:srgbClr val="0F766E"/>
                </a:solidFill>
                <a:latin typeface="Times New Roman"/>
                <a:ea typeface="Times New Roman"/>
                <a:cs typeface="Times New Roman"/>
              </a:rPr>
              <a:t>GPT-6 Sol</a:t>
            </a:r>
          </a:p>
        </p:txBody>
      </p:sp>
      <p:sp>
        <p:nvSpPr>
          <p:cNvPr id="9" name="">
            <a:extLst xmlns:a="http://schemas.openxmlformats.org/drawingml/2006/main">
              <a:ext uri="{FF2B5EF4-FFF2-40B4-BE49-F238E27FC236}">
                <a16:creationId xmlns:a16="http://schemas.microsoft.com/office/drawing/2014/main" id="{D98A3FDB-39FB-412B-865A-7FFD8450E45B}"/>
              </a:ext>
            </a:extLst>
          </p:cNvPr>
          <p:cNvSpPr>
            <a:spLocks xmlns:a="http://schemas.openxmlformats.org/drawingml/2006/main" noGrp="1"/>
          </p:cNvSpPr>
          <p:nvPr/>
        </p:nvSpPr>
        <p:spPr>
          <a:xfrm xmlns:a="http://schemas.openxmlformats.org/drawingml/2006/main">
            <a:off x="8286750" y="50577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B45309"/>
                </a:solidFill>
                <a:latin typeface="Times New Roman"/>
                <a:ea typeface="Times New Roman"/>
                <a:cs typeface="Times New Roman"/>
              </a:defRPr>
            </a:defPPr>
          </a:lstStyle>
          <a:p xmlns:a="http://schemas.openxmlformats.org/drawingml/2006/main">
            <a:pPr algn="l">
              <a:buNone/>
              <a:defRPr sz="1575" b="1" i="0">
                <a:solidFill>
                  <a:srgbClr val="B45309"/>
                </a:solidFill>
                <a:latin typeface="Times New Roman"/>
                <a:ea typeface="Times New Roman"/>
                <a:cs typeface="Times New Roman"/>
              </a:defRPr>
            </a:pPr>
            <a:r>
              <a:rPr sz="1575" b="1" i="0">
                <a:solidFill>
                  <a:srgbClr val="B45309"/>
                </a:solidFill>
                <a:latin typeface="Times New Roman"/>
                <a:ea typeface="Times New Roman"/>
                <a:cs typeface="Times New Roman"/>
              </a:rPr>
              <a:t>GPT-5.6 Terra</a:t>
            </a:r>
          </a:p>
        </p:txBody>
      </p:sp>
      <p:sp>
        <p:nvSpPr>
          <p:cNvPr id="10" name="">
            <a:extLst xmlns:a="http://schemas.openxmlformats.org/drawingml/2006/main">
              <a:ext uri="{FF2B5EF4-FFF2-40B4-BE49-F238E27FC236}">
                <a16:creationId xmlns:a16="http://schemas.microsoft.com/office/drawing/2014/main" id="{08722D94-DD0B-4B6E-8AA3-66219E01A722}"/>
              </a:ext>
            </a:extLst>
          </p:cNvPr>
          <p:cNvSpPr>
            <a:spLocks xmlns:a="http://schemas.openxmlformats.org/drawingml/2006/main" noGrp="1"/>
          </p:cNvSpPr>
          <p:nvPr/>
        </p:nvSpPr>
        <p:spPr>
          <a:xfrm xmlns:a="http://schemas.openxmlformats.org/drawingml/2006/main">
            <a:off x="8286750" y="52863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5B4B7C"/>
                </a:solidFill>
                <a:latin typeface="Times New Roman"/>
                <a:ea typeface="Times New Roman"/>
                <a:cs typeface="Times New Roman"/>
              </a:defRPr>
            </a:defPPr>
          </a:lstStyle>
          <a:p xmlns:a="http://schemas.openxmlformats.org/drawingml/2006/main">
            <a:pPr algn="l">
              <a:buNone/>
              <a:defRPr sz="1575" b="1" i="0">
                <a:solidFill>
                  <a:srgbClr val="5B4B7C"/>
                </a:solidFill>
                <a:latin typeface="Times New Roman"/>
                <a:ea typeface="Times New Roman"/>
                <a:cs typeface="Times New Roman"/>
              </a:defRPr>
            </a:pPr>
            <a:r>
              <a:rPr sz="1575" b="1" i="0">
                <a:solidFill>
                  <a:srgbClr val="5B4B7C"/>
                </a:solidFill>
                <a:latin typeface="Times New Roman"/>
                <a:ea typeface="Times New Roman"/>
                <a:cs typeface="Times New Roman"/>
              </a:rPr>
              <a:t>GPT-6 Astra</a:t>
            </a:r>
          </a:p>
        </p:txBody>
      </p:sp>
      <p:sp>
        <p:nvSpPr>
          <p:cNvPr id="11" name="">
            <a:extLst xmlns:a="http://schemas.openxmlformats.org/drawingml/2006/main">
              <a:ext uri="{FF2B5EF4-FFF2-40B4-BE49-F238E27FC236}">
                <a16:creationId xmlns:a16="http://schemas.microsoft.com/office/drawing/2014/main" id="{127F6F18-1298-4922-9195-87FC90F3D4AA}"/>
              </a:ext>
            </a:extLst>
          </p:cNvPr>
          <p:cNvSpPr>
            <a:spLocks xmlns:a="http://schemas.openxmlformats.org/drawingml/2006/main" noGrp="1"/>
          </p:cNvSpPr>
          <p:nvPr/>
        </p:nvSpPr>
        <p:spPr>
          <a:xfrm xmlns:a="http://schemas.openxmlformats.org/drawingml/2006/main">
            <a:off x="8286750" y="55149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1" i="0">
                <a:solidFill>
                  <a:srgbClr val="A50026"/>
                </a:solidFill>
                <a:latin typeface="Times New Roman"/>
                <a:ea typeface="Times New Roman"/>
                <a:cs typeface="Times New Roman"/>
              </a:defRPr>
            </a:defPPr>
          </a:lstStyle>
          <a:p xmlns:a="http://schemas.openxmlformats.org/drawingml/2006/main">
            <a:pPr algn="l">
              <a:buNone/>
              <a:defRPr sz="1575" b="1" i="0">
                <a:solidFill>
                  <a:srgbClr val="A50026"/>
                </a:solidFill>
                <a:latin typeface="Times New Roman"/>
                <a:ea typeface="Times New Roman"/>
                <a:cs typeface="Times New Roman"/>
              </a:defRPr>
            </a:pPr>
            <a:r>
              <a:rPr sz="1575" b="1" i="0">
                <a:solidFill>
                  <a:srgbClr val="A50026"/>
                </a:solidFill>
                <a:latin typeface="Times New Roman"/>
                <a:ea typeface="Times New Roman"/>
                <a:cs typeface="Times New Roman"/>
              </a:rPr>
              <a:t>DeepSeek V4.1 Flash</a:t>
            </a:r>
          </a:p>
        </p:txBody>
      </p:sp>
      <p:sp>
        <p:nvSpPr>
          <p:cNvPr id="12" name="">
            <a:extLst xmlns:a="http://schemas.openxmlformats.org/drawingml/2006/main">
              <a:ext uri="{FF2B5EF4-FFF2-40B4-BE49-F238E27FC236}">
                <a16:creationId xmlns:a16="http://schemas.microsoft.com/office/drawing/2014/main" id="{DF91C501-0CBF-49C9-B1B5-425E80660737}"/>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Circle = Low, square = High, triangle = Extra High, diamond = Max. DeepSeek costs are lower bounds.</a:t>
            </a:r>
          </a:p>
        </p:txBody>
      </p:sp>
    </p:spTree>
    <p:extLst>
      <p:ext uri="{BB962C8B-B14F-4D97-AF65-F5344CB8AC3E}">
        <p14:creationId xmlns:p14="http://schemas.microsoft.com/office/powerpoint/2010/main" val="5612252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65D60F-3D9A-473F-B43E-56E192AFB8D6}"/>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Pareto frontiers with hints</a:t>
            </a:r>
          </a:p>
        </p:txBody>
      </p:sp>
      <p:sp>
        <p:nvSpPr>
          <p:cNvPr id="2" name="">
            <a:extLst xmlns:a="http://schemas.openxmlformats.org/drawingml/2006/main">
              <a:ext uri="{FF2B5EF4-FFF2-40B4-BE49-F238E27FC236}">
                <a16:creationId xmlns:a16="http://schemas.microsoft.com/office/drawing/2014/main" id="{BB2A8970-A62A-4BAA-A955-AC4DE743245E}"/>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No hint, general hint, and physics hint, with reasoning effort fixed at High.</a:t>
            </a:r>
          </a:p>
        </p:txBody>
      </p:sp>
      <p:sp>
        <p:nvSpPr>
          <p:cNvPr id="3" name="">
            <a:extLst xmlns:a="http://schemas.openxmlformats.org/drawingml/2006/main">
              <a:ext uri="{FF2B5EF4-FFF2-40B4-BE49-F238E27FC236}">
                <a16:creationId xmlns:a16="http://schemas.microsoft.com/office/drawing/2014/main" id="{882DF7A5-80DD-4EB6-90D7-50DCDB13DA99}"/>
              </a:ext>
            </a:extLst>
          </p:cNvPr>
          <p:cNvSpPr>
            <a:spLocks xmlns:a="http://schemas.openxmlformats.org/drawingml/2006/main" noGrp="1"/>
          </p:cNvSpPr>
          <p:nvPr/>
        </p:nvSpPr>
        <p:spPr>
          <a:xfrm xmlns:a="http://schemas.openxmlformats.org/drawingml/2006/main">
            <a:off x="457200" y="178117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1">
                <a:solidFill>
                  <a:srgbClr val="444444"/>
                </a:solidFill>
                <a:latin typeface="Times New Roman"/>
                <a:ea typeface="Times New Roman"/>
                <a:cs typeface="Times New Roman"/>
              </a:defRPr>
            </a:defPPr>
          </a:lstStyle>
          <a:p xmlns:a="http://schemas.openxmlformats.org/drawingml/2006/main">
            <a:pPr algn="l">
              <a:defRPr sz="2850" b="1">
                <a:solidFill>
                  <a:srgbClr val="444444"/>
                </a:solidFill>
                <a:latin typeface="Times New Roman"/>
                <a:ea typeface="Times New Roman"/>
                <a:cs typeface="Times New Roman"/>
              </a:defRPr>
            </a:pPr>
            <a:r>
              <a:rPr sz="2850" b="1">
                <a:solidFill>
                  <a:srgbClr val="444444"/>
                </a:solidFill>
                <a:latin typeface="Times New Roman"/>
                <a:ea typeface="Times New Roman"/>
                <a:cs typeface="Times New Roman"/>
              </a:rPr>
              <a:t>Pending completion</a:t>
            </a:r>
          </a:p>
        </p:txBody>
      </p:sp>
      <p:sp>
        <p:nvSpPr>
          <p:cNvPr id="4" name="">
            <a:extLst xmlns:a="http://schemas.openxmlformats.org/drawingml/2006/main">
              <a:ext uri="{FF2B5EF4-FFF2-40B4-BE49-F238E27FC236}">
                <a16:creationId xmlns:a16="http://schemas.microsoft.com/office/drawing/2014/main" id="{1B72F584-5536-4531-A6BC-85D41953B791}"/>
              </a:ext>
            </a:extLst>
          </p:cNvPr>
          <p:cNvSpPr>
            <a:spLocks xmlns:a="http://schemas.openxmlformats.org/drawingml/2006/main" noGrp="1"/>
          </p:cNvSpPr>
          <p:nvPr/>
        </p:nvSpPr>
        <p:spPr>
          <a:xfrm xmlns:a="http://schemas.openxmlformats.org/drawingml/2006/main">
            <a:off x="457200" y="272415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Reserved for the completed 3-condition cost–success comparison</a:t>
            </a:r>
          </a:p>
        </p:txBody>
      </p:sp>
      <p:sp>
        <p:nvSpPr>
          <p:cNvPr id="5" name="">
            <a:extLst xmlns:a="http://schemas.openxmlformats.org/drawingml/2006/main">
              <a:ext uri="{FF2B5EF4-FFF2-40B4-BE49-F238E27FC236}">
                <a16:creationId xmlns:a16="http://schemas.microsoft.com/office/drawing/2014/main" id="{7A6FC086-13E3-44A8-8727-98CDE35D2D27}"/>
              </a:ext>
            </a:extLst>
          </p:cNvPr>
          <p:cNvSpPr>
            <a:spLocks xmlns:a="http://schemas.openxmlformats.org/drawingml/2006/main" noGrp="1"/>
          </p:cNvSpPr>
          <p:nvPr/>
        </p:nvSpPr>
        <p:spPr>
          <a:xfrm xmlns:a="http://schemas.openxmlformats.org/drawingml/2006/main">
            <a:off x="457200" y="34385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444444"/>
                </a:solidFill>
                <a:latin typeface="Times New Roman"/>
                <a:ea typeface="Times New Roman"/>
                <a:cs typeface="Times New Roman"/>
              </a:defRPr>
            </a:defPPr>
          </a:lstStyle>
          <a:p xmlns:a="http://schemas.openxmlformats.org/drawingml/2006/main">
            <a:pPr algn="l">
              <a:defRPr sz="2025" b="0">
                <a:solidFill>
                  <a:srgbClr val="444444"/>
                </a:solidFill>
                <a:latin typeface="Times New Roman"/>
                <a:ea typeface="Times New Roman"/>
                <a:cs typeface="Times New Roman"/>
              </a:defRPr>
            </a:pPr>
            <a:r>
              <a:rPr sz="2025" b="0">
                <a:solidFill>
                  <a:srgbClr val="444444"/>
                </a:solidFill>
                <a:latin typeface="Times New Roman"/>
                <a:ea typeface="Times New Roman"/>
                <a:cs typeface="Times New Roman"/>
              </a:rPr>
              <a:t>GPT-5.6 Luna, GPT-5.6 Terra, DeepSeek V4.1 Flash</a:t>
            </a:r>
          </a:p>
        </p:txBody>
      </p:sp>
      <p:sp>
        <p:nvSpPr>
          <p:cNvPr id="6" name="">
            <a:extLst xmlns:a="http://schemas.openxmlformats.org/drawingml/2006/main">
              <a:ext uri="{FF2B5EF4-FFF2-40B4-BE49-F238E27FC236}">
                <a16:creationId xmlns:a16="http://schemas.microsoft.com/office/drawing/2014/main" id="{11C8BC45-6F3D-40F6-B47C-B66176413D4C}"/>
              </a:ext>
            </a:extLst>
          </p:cNvPr>
          <p:cNvSpPr>
            <a:spLocks xmlns:a="http://schemas.openxmlformats.org/drawingml/2006/main" noGrp="1"/>
          </p:cNvSpPr>
          <p:nvPr/>
        </p:nvSpPr>
        <p:spPr>
          <a:xfrm xmlns:a="http://schemas.openxmlformats.org/drawingml/2006/main">
            <a:off x="457200" y="403860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444444"/>
                </a:solidFill>
                <a:latin typeface="Times New Roman"/>
                <a:ea typeface="Times New Roman"/>
                <a:cs typeface="Times New Roman"/>
              </a:defRPr>
            </a:defPPr>
          </a:lstStyle>
          <a:p xmlns:a="http://schemas.openxmlformats.org/drawingml/2006/main">
            <a:pPr algn="l">
              <a:defRPr sz="2025" b="0">
                <a:solidFill>
                  <a:srgbClr val="444444"/>
                </a:solidFill>
                <a:latin typeface="Times New Roman"/>
                <a:ea typeface="Times New Roman"/>
                <a:cs typeface="Times New Roman"/>
              </a:defRPr>
            </a:pPr>
            <a:r>
              <a:rPr sz="2025" b="0">
                <a:solidFill>
                  <a:srgbClr val="444444"/>
                </a:solidFill>
                <a:latin typeface="Times New Roman"/>
                <a:ea typeface="Times New Roman"/>
                <a:cs typeface="Times New Roman"/>
              </a:rPr>
              <a:t>39 observations per model and prompt condition</a:t>
            </a:r>
          </a:p>
        </p:txBody>
      </p:sp>
      <p:sp>
        <p:nvSpPr>
          <p:cNvPr id="7" name="">
            <a:extLst xmlns:a="http://schemas.openxmlformats.org/drawingml/2006/main">
              <a:ext uri="{FF2B5EF4-FFF2-40B4-BE49-F238E27FC236}">
                <a16:creationId xmlns:a16="http://schemas.microsoft.com/office/drawing/2014/main" id="{1E20C6EE-0907-4B72-A1FB-E1DC4A1AB8A8}"/>
              </a:ext>
            </a:extLst>
          </p:cNvPr>
          <p:cNvSpPr>
            <a:spLocks xmlns:a="http://schemas.openxmlformats.org/drawingml/2006/main" noGrp="1"/>
          </p:cNvSpPr>
          <p:nvPr/>
        </p:nvSpPr>
        <p:spPr>
          <a:xfrm xmlns:a="http://schemas.openxmlformats.org/drawingml/2006/main">
            <a:off x="457200" y="507682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D4E89"/>
                </a:solidFill>
                <a:latin typeface="Times New Roman"/>
                <a:ea typeface="Times New Roman"/>
                <a:cs typeface="Times New Roman"/>
              </a:defRPr>
            </a:defPPr>
          </a:lstStyle>
          <a:p xmlns:a="http://schemas.openxmlformats.org/drawingml/2006/main">
            <a:pPr algn="l">
              <a:defRPr sz="2025" b="0">
                <a:solidFill>
                  <a:srgbClr val="1D4E89"/>
                </a:solidFill>
                <a:latin typeface="Times New Roman"/>
                <a:ea typeface="Times New Roman"/>
                <a:cs typeface="Times New Roman"/>
              </a:defRPr>
            </a:pPr>
            <a:r>
              <a:rPr sz="2025" b="0">
                <a:solidFill>
                  <a:srgbClr val="1D4E89"/>
                </a:solidFill>
                <a:latin typeface="Times New Roman"/>
                <a:ea typeface="Times New Roman"/>
                <a:cs typeface="Times New Roman"/>
              </a:rPr>
              <a:t>The final plot will compare these conditions within this cohort.</a:t>
            </a:r>
          </a:p>
        </p:txBody>
      </p:sp>
      <p:sp>
        <p:nvSpPr>
          <p:cNvPr id="8" name="">
            <a:extLst xmlns:a="http://schemas.openxmlformats.org/drawingml/2006/main">
              <a:ext uri="{FF2B5EF4-FFF2-40B4-BE49-F238E27FC236}">
                <a16:creationId xmlns:a16="http://schemas.microsoft.com/office/drawing/2014/main" id="{9E6160E5-E91E-4322-B158-E88404567319}"/>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Results stay blank until all 351 observations and cost records are audited. Historical Luna controls limit causal interpretation.</a:t>
            </a:r>
          </a:p>
        </p:txBody>
      </p:sp>
      <p:sp>
        <p:nvSpPr>
          <p:cNvPr id="9" name="">
            <a:extLst xmlns:a="http://schemas.openxmlformats.org/drawingml/2006/main">
              <a:ext uri="{FF2B5EF4-FFF2-40B4-BE49-F238E27FC236}">
                <a16:creationId xmlns:a16="http://schemas.microsoft.com/office/drawing/2014/main" id="{F15E2EBA-83FE-4876-A759-B4DFDF93F52A}"/>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6</a:t>
            </a:r>
          </a:p>
        </p:txBody>
      </p:sp>
    </p:spTree>
    <p:extLst>
      <p:ext uri="{BB962C8B-B14F-4D97-AF65-F5344CB8AC3E}">
        <p14:creationId xmlns:p14="http://schemas.microsoft.com/office/powerpoint/2010/main" val="11293886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CB2C6E-7277-4057-92F4-D20AB1351AFD}"/>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Fixed model, different reasoning effort</a:t>
            </a:r>
          </a:p>
        </p:txBody>
      </p:sp>
      <p:sp>
        <p:nvSpPr>
          <p:cNvPr id="2" name="">
            <a:extLst xmlns:a="http://schemas.openxmlformats.org/drawingml/2006/main">
              <a:ext uri="{FF2B5EF4-FFF2-40B4-BE49-F238E27FC236}">
                <a16:creationId xmlns:a16="http://schemas.microsoft.com/office/drawing/2014/main" id="{6CDF1242-97DD-416C-80CD-7C84872B5567}"/>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Completed passes out of 39, with model and task suite held fixed.</a:t>
            </a:r>
          </a:p>
        </p:txBody>
      </p:sp>
      <p:sp>
        <p:nvSpPr>
          <p:cNvPr id="3" name="">
            <a:extLst xmlns:a="http://schemas.openxmlformats.org/drawingml/2006/main">
              <a:ext uri="{FF2B5EF4-FFF2-40B4-BE49-F238E27FC236}">
                <a16:creationId xmlns:a16="http://schemas.microsoft.com/office/drawing/2014/main" id="{74BA436D-FF7E-42C2-81B6-4A30D9ABDA5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7</a:t>
            </a:r>
          </a:p>
        </p:txBody>
      </p:sp>
      <p:graphicFrame>
        <p:nvGraphicFramePr>
          <p:cNvPr id="4" name="Chart">
            <a:extLst xmlns:a="http://schemas.openxmlformats.org/drawingml/2006/main">
              <a:ext uri="{FF2B5EF4-FFF2-40B4-BE49-F238E27FC236}">
                <a16:creationId xmlns:a16="http://schemas.microsoft.com/office/drawing/2014/main" id="{4D6DEA0A-1967-4C0A-8645-72CCE4E207C5}"/>
              </a:ext>
            </a:extLst>
          </p:cNvPr>
          <p:cNvGraphicFramePr/>
          <p:nvPr/>
        </p:nvGraphicFramePr>
        <p:xfrm>
          <a:off xmlns:a="http://schemas.openxmlformats.org/drawingml/2006/main" x="457200" y="15811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f37efaa434c345e4"/>
          </a:graphicData>
        </a:graphic>
      </p:graphicFrame>
      <p:sp>
        <p:nvSpPr>
          <p:cNvPr id="5" name="">
            <a:extLst xmlns:a="http://schemas.openxmlformats.org/drawingml/2006/main">
              <a:ext uri="{FF2B5EF4-FFF2-40B4-BE49-F238E27FC236}">
                <a16:creationId xmlns:a16="http://schemas.microsoft.com/office/drawing/2014/main" id="{780A35DB-01C4-4099-A34A-DEB48391A03B}"/>
              </a:ext>
            </a:extLst>
          </p:cNvPr>
          <p:cNvSpPr>
            <a:spLocks xmlns:a="http://schemas.openxmlformats.org/drawingml/2006/main" noGrp="1"/>
          </p:cNvSpPr>
          <p:nvPr/>
        </p:nvSpPr>
        <p:spPr>
          <a:xfrm xmlns:a="http://schemas.openxmlformats.org/drawingml/2006/main">
            <a:off x="8763000" y="20383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i="0">
                <a:solidFill>
                  <a:srgbClr val="B45309"/>
                </a:solidFill>
                <a:latin typeface="Times New Roman"/>
                <a:ea typeface="Times New Roman"/>
                <a:cs typeface="Times New Roman"/>
              </a:defRPr>
            </a:defPPr>
          </a:lstStyle>
          <a:p xmlns:a="http://schemas.openxmlformats.org/drawingml/2006/main">
            <a:pPr algn="l">
              <a:buNone/>
              <a:defRPr sz="2025" b="1" i="0">
                <a:solidFill>
                  <a:srgbClr val="B45309"/>
                </a:solidFill>
                <a:latin typeface="Times New Roman"/>
                <a:ea typeface="Times New Roman"/>
                <a:cs typeface="Times New Roman"/>
              </a:defRPr>
            </a:pPr>
            <a:r>
              <a:rPr sz="2025" b="1" i="0">
                <a:solidFill>
                  <a:srgbClr val="B45309"/>
                </a:solidFill>
                <a:latin typeface="Times New Roman"/>
                <a:ea typeface="Times New Roman"/>
                <a:cs typeface="Times New Roman"/>
              </a:rPr>
              <a:t>Terra 5.6</a:t>
            </a:r>
          </a:p>
        </p:txBody>
      </p:sp>
      <p:sp>
        <p:nvSpPr>
          <p:cNvPr id="6" name="">
            <a:extLst xmlns:a="http://schemas.openxmlformats.org/drawingml/2006/main">
              <a:ext uri="{FF2B5EF4-FFF2-40B4-BE49-F238E27FC236}">
                <a16:creationId xmlns:a16="http://schemas.microsoft.com/office/drawing/2014/main" id="{FAB21FD1-8149-49A1-B62D-20549B8C274F}"/>
              </a:ext>
            </a:extLst>
          </p:cNvPr>
          <p:cNvSpPr>
            <a:spLocks xmlns:a="http://schemas.openxmlformats.org/drawingml/2006/main" noGrp="1"/>
          </p:cNvSpPr>
          <p:nvPr/>
        </p:nvSpPr>
        <p:spPr>
          <a:xfrm xmlns:a="http://schemas.openxmlformats.org/drawingml/2006/main">
            <a:off x="8763000" y="247650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4, 9, 19 passes</a:t>
            </a:r>
          </a:p>
        </p:txBody>
      </p:sp>
      <p:sp>
        <p:nvSpPr>
          <p:cNvPr id="7" name="">
            <a:extLst xmlns:a="http://schemas.openxmlformats.org/drawingml/2006/main">
              <a:ext uri="{FF2B5EF4-FFF2-40B4-BE49-F238E27FC236}">
                <a16:creationId xmlns:a16="http://schemas.microsoft.com/office/drawing/2014/main" id="{EF64A771-CEEB-4F4B-8604-6CBD810FF994}"/>
              </a:ext>
            </a:extLst>
          </p:cNvPr>
          <p:cNvSpPr>
            <a:spLocks xmlns:a="http://schemas.openxmlformats.org/drawingml/2006/main" noGrp="1"/>
          </p:cNvSpPr>
          <p:nvPr/>
        </p:nvSpPr>
        <p:spPr>
          <a:xfrm xmlns:a="http://schemas.openxmlformats.org/drawingml/2006/main">
            <a:off x="8763000" y="34575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i="0">
                <a:solidFill>
                  <a:srgbClr val="5B4B7C"/>
                </a:solidFill>
                <a:latin typeface="Times New Roman"/>
                <a:ea typeface="Times New Roman"/>
                <a:cs typeface="Times New Roman"/>
              </a:defRPr>
            </a:defPPr>
          </a:lstStyle>
          <a:p xmlns:a="http://schemas.openxmlformats.org/drawingml/2006/main">
            <a:pPr algn="l">
              <a:buNone/>
              <a:defRPr sz="2025" b="1" i="0">
                <a:solidFill>
                  <a:srgbClr val="5B4B7C"/>
                </a:solidFill>
                <a:latin typeface="Times New Roman"/>
                <a:ea typeface="Times New Roman"/>
                <a:cs typeface="Times New Roman"/>
              </a:defRPr>
            </a:pPr>
            <a:r>
              <a:rPr sz="2025" b="1" i="0">
                <a:solidFill>
                  <a:srgbClr val="5B4B7C"/>
                </a:solidFill>
                <a:latin typeface="Times New Roman"/>
                <a:ea typeface="Times New Roman"/>
                <a:cs typeface="Times New Roman"/>
              </a:rPr>
              <a:t>Astra Extra High</a:t>
            </a:r>
          </a:p>
        </p:txBody>
      </p:sp>
      <p:sp>
        <p:nvSpPr>
          <p:cNvPr id="8" name="">
            <a:extLst xmlns:a="http://schemas.openxmlformats.org/drawingml/2006/main">
              <a:ext uri="{FF2B5EF4-FFF2-40B4-BE49-F238E27FC236}">
                <a16:creationId xmlns:a16="http://schemas.microsoft.com/office/drawing/2014/main" id="{AB07E48E-D3EB-4329-B686-D24EFD20298E}"/>
              </a:ext>
            </a:extLst>
          </p:cNvPr>
          <p:cNvSpPr>
            <a:spLocks xmlns:a="http://schemas.openxmlformats.org/drawingml/2006/main" noGrp="1"/>
          </p:cNvSpPr>
          <p:nvPr/>
        </p:nvSpPr>
        <p:spPr>
          <a:xfrm xmlns:a="http://schemas.openxmlformats.org/drawingml/2006/main">
            <a:off x="8763000" y="4229100"/>
            <a:ext cx="295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111111"/>
                </a:solidFill>
                <a:latin typeface="Times New Roman"/>
                <a:ea typeface="Times New Roman"/>
                <a:cs typeface="Times New Roman"/>
              </a:defRPr>
            </a:defPPr>
          </a:lstStyle>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2 timeouts</a:t>
            </a:r>
          </a:p>
          <a:p xmlns:a="http://schemas.openxmlformats.org/drawingml/2006/main">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Both checkpoints passed</a:t>
            </a:r>
          </a:p>
        </p:txBody>
      </p:sp>
      <p:sp>
        <p:nvSpPr>
          <p:cNvPr id="9" name="">
            <a:extLst xmlns:a="http://schemas.openxmlformats.org/drawingml/2006/main">
              <a:ext uri="{FF2B5EF4-FFF2-40B4-BE49-F238E27FC236}">
                <a16:creationId xmlns:a16="http://schemas.microsoft.com/office/drawing/2014/main" id="{E3C707DE-9EBF-46C9-AF4D-C458D0B24515}"/>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Descriptive comparison on selected tasks. High reuses earlier observations. Timeout checkpoints do not count as completed passes.</a:t>
            </a:r>
          </a:p>
        </p:txBody>
      </p:sp>
    </p:spTree>
    <p:extLst>
      <p:ext uri="{BB962C8B-B14F-4D97-AF65-F5344CB8AC3E}">
        <p14:creationId xmlns:p14="http://schemas.microsoft.com/office/powerpoint/2010/main" val="8481716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3A8EB5-DDCE-49F7-85D1-7223D386B087}"/>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Where the agents fail</a:t>
            </a:r>
          </a:p>
        </p:txBody>
      </p:sp>
      <p:sp>
        <p:nvSpPr>
          <p:cNvPr id="2" name="">
            <a:extLst xmlns:a="http://schemas.openxmlformats.org/drawingml/2006/main">
              <a:ext uri="{FF2B5EF4-FFF2-40B4-BE49-F238E27FC236}">
                <a16:creationId xmlns:a16="http://schemas.microsoft.com/office/drawing/2014/main" id="{B49328EB-D8A5-451B-869F-8FD13B246D88}"/>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585 no-hint attempts. Saved actions, submitted code, and verifier results separate the failure types.</a:t>
            </a:r>
          </a:p>
        </p:txBody>
      </p:sp>
      <p:sp>
        <p:nvSpPr>
          <p:cNvPr id="3" name="">
            <a:extLst xmlns:a="http://schemas.openxmlformats.org/drawingml/2006/main">
              <a:ext uri="{FF2B5EF4-FFF2-40B4-BE49-F238E27FC236}">
                <a16:creationId xmlns:a16="http://schemas.microsoft.com/office/drawing/2014/main" id="{DBDB5771-57AB-4416-9FC4-BFA7D8EC5C0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8</a:t>
            </a:r>
          </a:p>
        </p:txBody>
      </p:sp>
      <p:graphicFrame>
        <p:nvGraphicFramePr>
          <p:cNvPr id="4" name="Chart">
            <a:extLst xmlns:a="http://schemas.openxmlformats.org/drawingml/2006/main">
              <a:ext uri="{FF2B5EF4-FFF2-40B4-BE49-F238E27FC236}">
                <a16:creationId xmlns:a16="http://schemas.microsoft.com/office/drawing/2014/main" id="{1D226DA3-7104-424B-AEF4-54B32F561847}"/>
              </a:ext>
            </a:extLst>
          </p:cNvPr>
          <p:cNvGraphicFramePr/>
          <p:nvPr/>
        </p:nvGraphicFramePr>
        <p:xfrm>
          <a:off xmlns:a="http://schemas.openxmlformats.org/drawingml/2006/main" x="457200" y="1581150"/>
          <a:ext xmlns:a="http://schemas.openxmlformats.org/drawingml/2006/main" cx="7810500" cy="4171950"/>
        </p:xfrm>
        <a:graphic xmlns:a="http://schemas.openxmlformats.org/drawingml/2006/main">
          <a:graphicData uri="http://schemas.openxmlformats.org/drawingml/2006/chart">
            <c:chart xmlns:r="http://schemas.openxmlformats.org/officeDocument/2006/relationships" xmlns:c="http://schemas.openxmlformats.org/drawingml/2006/chart" r:id="R365ec3fc808e4c1a"/>
          </a:graphicData>
        </a:graphic>
      </p:graphicFrame>
      <p:sp>
        <p:nvSpPr>
          <p:cNvPr id="5" name="">
            <a:extLst xmlns:a="http://schemas.openxmlformats.org/drawingml/2006/main">
              <a:ext uri="{FF2B5EF4-FFF2-40B4-BE49-F238E27FC236}">
                <a16:creationId xmlns:a16="http://schemas.microsoft.com/office/drawing/2014/main" id="{F2D96288-71B3-4E25-9F6C-1BB5F3E6CB1A}"/>
              </a:ext>
            </a:extLst>
          </p:cNvPr>
          <p:cNvSpPr>
            <a:spLocks xmlns:a="http://schemas.openxmlformats.org/drawingml/2006/main" noGrp="1"/>
          </p:cNvSpPr>
          <p:nvPr/>
        </p:nvSpPr>
        <p:spPr>
          <a:xfrm xmlns:a="http://schemas.openxmlformats.org/drawingml/2006/main">
            <a:off x="8648700" y="194310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750" b="1" i="0">
                <a:solidFill>
                  <a:srgbClr val="B45309"/>
                </a:solidFill>
                <a:latin typeface="Times New Roman"/>
                <a:ea typeface="Times New Roman"/>
                <a:cs typeface="Times New Roman"/>
              </a:defRPr>
            </a:defPPr>
          </a:lstStyle>
          <a:p xmlns:a="http://schemas.openxmlformats.org/drawingml/2006/main">
            <a:pPr algn="l">
              <a:buNone/>
              <a:defRPr sz="3750" b="1" i="0">
                <a:solidFill>
                  <a:srgbClr val="B45309"/>
                </a:solidFill>
                <a:latin typeface="Times New Roman"/>
                <a:ea typeface="Times New Roman"/>
                <a:cs typeface="Times New Roman"/>
              </a:defRPr>
            </a:pPr>
            <a:r>
              <a:rPr sz="3750" b="1" i="0">
                <a:solidFill>
                  <a:srgbClr val="B45309"/>
                </a:solidFill>
                <a:latin typeface="Times New Roman"/>
                <a:ea typeface="Times New Roman"/>
                <a:cs typeface="Times New Roman"/>
              </a:rPr>
              <a:t>186 / 191</a:t>
            </a:r>
          </a:p>
        </p:txBody>
      </p:sp>
      <p:sp>
        <p:nvSpPr>
          <p:cNvPr id="6" name="">
            <a:extLst xmlns:a="http://schemas.openxmlformats.org/drawingml/2006/main">
              <a:ext uri="{FF2B5EF4-FFF2-40B4-BE49-F238E27FC236}">
                <a16:creationId xmlns:a16="http://schemas.microsoft.com/office/drawing/2014/main" id="{332E1CDF-1E53-48FC-875C-1D23408D90FF}"/>
              </a:ext>
            </a:extLst>
          </p:cNvPr>
          <p:cNvSpPr>
            <a:spLocks xmlns:a="http://schemas.openxmlformats.org/drawingml/2006/main" noGrp="1"/>
          </p:cNvSpPr>
          <p:nvPr/>
        </p:nvSpPr>
        <p:spPr>
          <a:xfrm xmlns:a="http://schemas.openxmlformats.org/drawingml/2006/main">
            <a:off x="8648700" y="2638425"/>
            <a:ext cx="3086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Normally completed failures</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failed only hidden predictions</a:t>
            </a:r>
          </a:p>
        </p:txBody>
      </p:sp>
      <p:sp>
        <p:nvSpPr>
          <p:cNvPr id="7" name="">
            <a:extLst xmlns:a="http://schemas.openxmlformats.org/drawingml/2006/main">
              <a:ext uri="{FF2B5EF4-FFF2-40B4-BE49-F238E27FC236}">
                <a16:creationId xmlns:a16="http://schemas.microsoft.com/office/drawing/2014/main" id="{12C4D2AB-7951-41B3-8FE2-A2005C68A079}"/>
              </a:ext>
            </a:extLst>
          </p:cNvPr>
          <p:cNvSpPr>
            <a:spLocks xmlns:a="http://schemas.openxmlformats.org/drawingml/2006/main" noGrp="1"/>
          </p:cNvSpPr>
          <p:nvPr/>
        </p:nvSpPr>
        <p:spPr>
          <a:xfrm xmlns:a="http://schemas.openxmlformats.org/drawingml/2006/main">
            <a:off x="8648700" y="384810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750" b="1" i="0">
                <a:solidFill>
                  <a:srgbClr val="A50026"/>
                </a:solidFill>
                <a:latin typeface="Times New Roman"/>
                <a:ea typeface="Times New Roman"/>
                <a:cs typeface="Times New Roman"/>
              </a:defRPr>
            </a:defPPr>
          </a:lstStyle>
          <a:p xmlns:a="http://schemas.openxmlformats.org/drawingml/2006/main">
            <a:pPr algn="l">
              <a:buNone/>
              <a:defRPr sz="3750" b="1" i="0">
                <a:solidFill>
                  <a:srgbClr val="A50026"/>
                </a:solidFill>
                <a:latin typeface="Times New Roman"/>
                <a:ea typeface="Times New Roman"/>
                <a:cs typeface="Times New Roman"/>
              </a:defRPr>
            </a:pPr>
            <a:r>
              <a:rPr sz="3750" b="1" i="0">
                <a:solidFill>
                  <a:srgbClr val="A50026"/>
                </a:solidFill>
                <a:latin typeface="Times New Roman"/>
                <a:ea typeface="Times New Roman"/>
                <a:cs typeface="Times New Roman"/>
              </a:rPr>
              <a:t>105 / 117</a:t>
            </a:r>
          </a:p>
        </p:txBody>
      </p:sp>
      <p:sp>
        <p:nvSpPr>
          <p:cNvPr id="8" name="">
            <a:extLst xmlns:a="http://schemas.openxmlformats.org/drawingml/2006/main">
              <a:ext uri="{FF2B5EF4-FFF2-40B4-BE49-F238E27FC236}">
                <a16:creationId xmlns:a16="http://schemas.microsoft.com/office/drawing/2014/main" id="{1BC68402-3368-46B8-ADCC-4D87B60E3C86}"/>
              </a:ext>
            </a:extLst>
          </p:cNvPr>
          <p:cNvSpPr>
            <a:spLocks xmlns:a="http://schemas.openxmlformats.org/drawingml/2006/main" noGrp="1"/>
          </p:cNvSpPr>
          <p:nvPr/>
        </p:nvSpPr>
        <p:spPr>
          <a:xfrm xmlns:a="http://schemas.openxmlformats.org/drawingml/2006/main">
            <a:off x="8648700" y="4543425"/>
            <a:ext cx="3086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DeepSeek attempts ended</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with execution errors</a:t>
            </a:r>
          </a:p>
        </p:txBody>
      </p:sp>
      <p:sp>
        <p:nvSpPr>
          <p:cNvPr id="9" name="">
            <a:extLst xmlns:a="http://schemas.openxmlformats.org/drawingml/2006/main">
              <a:ext uri="{FF2B5EF4-FFF2-40B4-BE49-F238E27FC236}">
                <a16:creationId xmlns:a16="http://schemas.microsoft.com/office/drawing/2014/main" id="{F966C5D2-2C0D-49CA-82C3-5166CF87B915}"/>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At least 141 of the 186 prediction-only failures show public-test passes. Errors alone do not establish a physics mistake.</a:t>
            </a:r>
          </a:p>
        </p:txBody>
      </p:sp>
    </p:spTree>
    <p:extLst>
      <p:ext uri="{BB962C8B-B14F-4D97-AF65-F5344CB8AC3E}">
        <p14:creationId xmlns:p14="http://schemas.microsoft.com/office/powerpoint/2010/main" val="591641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820A4C5E-BCCD-4318-92A2-746731695F82}"/>
              </a:ext>
            </a:extLst>
          </p:cNvPr>
          <p:cNvCxnSpPr>
            <a:stCxn xmlns:a="http://schemas.openxmlformats.org/drawingml/2006/main" id="9" idx="3"/>
            <a:endCxn xmlns:a="http://schemas.openxmlformats.org/drawingml/2006/main" id="12" idx="1"/>
          </p:cNvCxnSpPr>
          <p:nvPr/>
        </p:nvCxnSpPr>
        <p:spPr>
          <a:xfrm xmlns:a="http://schemas.openxmlformats.org/drawingml/2006/main">
            <a:off x="8782050" y="2081213"/>
            <a:ext cx="5334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57CAE044-5CE0-43AD-A6D0-1404039FF03A}"/>
              </a:ext>
            </a:extLst>
          </p:cNvPr>
          <p:cNvCxnSpPr>
            <a:stCxn xmlns:a="http://schemas.openxmlformats.org/drawingml/2006/main" id="6" idx="3"/>
            <a:endCxn xmlns:a="http://schemas.openxmlformats.org/drawingml/2006/main" id="9" idx="1"/>
          </p:cNvCxnSpPr>
          <p:nvPr/>
        </p:nvCxnSpPr>
        <p:spPr>
          <a:xfrm xmlns:a="http://schemas.openxmlformats.org/drawingml/2006/main">
            <a:off x="5829300" y="2081213"/>
            <a:ext cx="5334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5F47D930-C8C0-4683-9A74-7422BF1531C5}"/>
              </a:ext>
            </a:extLst>
          </p:cNvPr>
          <p:cNvCxnSpPr>
            <a:stCxn xmlns:a="http://schemas.openxmlformats.org/drawingml/2006/main" id="3" idx="3"/>
            <a:endCxn xmlns:a="http://schemas.openxmlformats.org/drawingml/2006/main" id="6" idx="1"/>
          </p:cNvCxnSpPr>
          <p:nvPr/>
        </p:nvCxnSpPr>
        <p:spPr>
          <a:xfrm xmlns:a="http://schemas.openxmlformats.org/drawingml/2006/main">
            <a:off x="2876550" y="2081213"/>
            <a:ext cx="533400" cy="0"/>
          </a:xfrm>
          <a:prstGeom xmlns:a="http://schemas.openxmlformats.org/drawingml/2006/main" prst="straightConnector1">
            <a:avLst/>
          </a:prstGeom>
          <a:ln xmlns:a="http://schemas.openxmlformats.org/drawingml/2006/main" w="19050">
            <a:solidFill>
              <a:srgbClr val="111111"/>
            </a:solidFill>
            <a:prstDash val="solid"/>
            <a:tailEnd type="triangle" w="sm" len="sm"/>
          </a:ln>
        </p:spPr>
      </p:cxnSp>
      <p:sp>
        <p:nvSpPr>
          <p:cNvPr id="30" name="">
            <a:extLst xmlns:a="http://schemas.openxmlformats.org/drawingml/2006/main">
              <a:ext uri="{FF2B5EF4-FFF2-40B4-BE49-F238E27FC236}">
                <a16:creationId xmlns:a16="http://schemas.microsoft.com/office/drawing/2014/main" id="{B1F28BE4-070F-4B14-924A-A96C4FBA54FF}"/>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The example again: the wrong memory rule</a:t>
            </a:r>
          </a:p>
        </p:txBody>
      </p:sp>
      <p:sp>
        <p:nvSpPr>
          <p:cNvPr id="2" name="">
            <a:extLst xmlns:a="http://schemas.openxmlformats.org/drawingml/2006/main">
              <a:ext uri="{FF2B5EF4-FFF2-40B4-BE49-F238E27FC236}">
                <a16:creationId xmlns:a16="http://schemas.microsoft.com/office/drawing/2014/main" id="{19BD97AB-A92A-4E95-8FDE-AF15FDBF482E}"/>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Terra High, no hint, 80 seconds. Evidence from the saved actions and submitted code.</a:t>
            </a:r>
          </a:p>
        </p:txBody>
      </p:sp>
      <p:sp>
        <p:nvSpPr>
          <p:cNvPr id="3" name="">
            <a:extLst xmlns:a="http://schemas.openxmlformats.org/drawingml/2006/main">
              <a:ext uri="{FF2B5EF4-FFF2-40B4-BE49-F238E27FC236}">
                <a16:creationId xmlns:a16="http://schemas.microsoft.com/office/drawing/2014/main" id="{77E51E5F-1E89-4B34-88A5-1E387BF4D88B}"/>
              </a:ext>
            </a:extLst>
          </p:cNvPr>
          <p:cNvSpPr>
            <a:spLocks xmlns:a="http://schemas.openxmlformats.org/drawingml/2006/main" noGrp="1"/>
          </p:cNvSpPr>
          <p:nvPr/>
        </p:nvSpPr>
        <p:spPr>
          <a:xfrm xmlns:a="http://schemas.openxmlformats.org/drawingml/2006/main">
            <a:off x="457200" y="1571625"/>
            <a:ext cx="2419350" cy="1019175"/>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4" name="">
            <a:extLst xmlns:a="http://schemas.openxmlformats.org/drawingml/2006/main">
              <a:ext uri="{FF2B5EF4-FFF2-40B4-BE49-F238E27FC236}">
                <a16:creationId xmlns:a16="http://schemas.microsoft.com/office/drawing/2014/main" id="{A1F7D358-492A-42FB-87EF-6B5CF7E453C5}"/>
              </a:ext>
            </a:extLst>
          </p:cNvPr>
          <p:cNvSpPr>
            <a:spLocks xmlns:a="http://schemas.openxmlformats.org/drawingml/2006/main" noGrp="1"/>
          </p:cNvSpPr>
          <p:nvPr/>
        </p:nvSpPr>
        <p:spPr>
          <a:xfrm xmlns:a="http://schemas.openxmlformats.org/drawingml/2006/main">
            <a:off x="571500" y="1714500"/>
            <a:ext cx="2190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11111"/>
                </a:solidFill>
                <a:latin typeface="Times New Roman"/>
                <a:ea typeface="Times New Roman"/>
                <a:cs typeface="Times New Roman"/>
              </a:defRPr>
            </a:defPPr>
          </a:lstStyle>
          <a:p xmlns:a="http://schemas.openxmlformats.org/drawingml/2006/main">
            <a:pPr algn="l">
              <a:defRPr sz="1875" b="1">
                <a:solidFill>
                  <a:srgbClr val="111111"/>
                </a:solidFill>
                <a:latin typeface="Times New Roman"/>
                <a:ea typeface="Times New Roman"/>
                <a:cs typeface="Times New Roman"/>
              </a:defRPr>
            </a:pPr>
            <a:r>
              <a:rPr sz="1875" b="1">
                <a:solidFill>
                  <a:srgbClr val="111111"/>
                </a:solidFill>
                <a:latin typeface="Times New Roman"/>
                <a:ea typeface="Times New Roman"/>
                <a:cs typeface="Times New Roman"/>
              </a:rPr>
              <a:t>Read the setup</a:t>
            </a:r>
          </a:p>
        </p:txBody>
      </p:sp>
      <p:sp>
        <p:nvSpPr>
          <p:cNvPr id="5" name="">
            <a:extLst xmlns:a="http://schemas.openxmlformats.org/drawingml/2006/main">
              <a:ext uri="{FF2B5EF4-FFF2-40B4-BE49-F238E27FC236}">
                <a16:creationId xmlns:a16="http://schemas.microsoft.com/office/drawing/2014/main" id="{D89481C6-58AA-4B87-8C21-1AF3869A1539}"/>
              </a:ext>
            </a:extLst>
          </p:cNvPr>
          <p:cNvSpPr>
            <a:spLocks xmlns:a="http://schemas.openxmlformats.org/drawingml/2006/main" noGrp="1"/>
          </p:cNvSpPr>
          <p:nvPr/>
        </p:nvSpPr>
        <p:spPr>
          <a:xfrm xmlns:a="http://schemas.openxmlformats.org/drawingml/2006/main">
            <a:off x="571500" y="21526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111111"/>
                </a:solidFill>
                <a:latin typeface="Times New Roman"/>
                <a:ea typeface="Times New Roman"/>
                <a:cs typeface="Times New Roman"/>
              </a:defRPr>
            </a:defPPr>
          </a:lstStyle>
          <a:p xmlns:a="http://schemas.openxmlformats.org/drawingml/2006/main">
            <a:pPr algn="l">
              <a:defRPr sz="1575" b="0">
                <a:solidFill>
                  <a:srgbClr val="111111"/>
                </a:solidFill>
                <a:latin typeface="Times New Roman"/>
                <a:ea typeface="Times New Roman"/>
                <a:cs typeface="Times New Roman"/>
              </a:defRPr>
            </a:pPr>
            <a:r>
              <a:rPr sz="1575" b="0">
                <a:solidFill>
                  <a:srgbClr val="111111"/>
                </a:solidFill>
                <a:latin typeface="Times New Roman"/>
                <a:ea typeface="Times New Roman"/>
                <a:cs typeface="Times New Roman"/>
              </a:rPr>
              <a:t>Fixed initial positions</a:t>
            </a:r>
          </a:p>
        </p:txBody>
      </p:sp>
      <p:sp>
        <p:nvSpPr>
          <p:cNvPr id="6" name="">
            <a:extLst xmlns:a="http://schemas.openxmlformats.org/drawingml/2006/main">
              <a:ext uri="{FF2B5EF4-FFF2-40B4-BE49-F238E27FC236}">
                <a16:creationId xmlns:a16="http://schemas.microsoft.com/office/drawing/2014/main" id="{9F76DE90-F584-4246-8F5A-42991B34D604}"/>
              </a:ext>
            </a:extLst>
          </p:cNvPr>
          <p:cNvSpPr>
            <a:spLocks xmlns:a="http://schemas.openxmlformats.org/drawingml/2006/main" noGrp="1"/>
          </p:cNvSpPr>
          <p:nvPr/>
        </p:nvSpPr>
        <p:spPr>
          <a:xfrm xmlns:a="http://schemas.openxmlformats.org/drawingml/2006/main">
            <a:off x="3409950" y="1571625"/>
            <a:ext cx="2419350" cy="1019175"/>
          </a:xfrm>
          <a:prstGeom xmlns:a="http://schemas.openxmlformats.org/drawingml/2006/main" prst="rect">
            <a:avLst/>
          </a:prstGeom>
          <a:solidFill xmlns:a="http://schemas.openxmlformats.org/drawingml/2006/main">
            <a:srgbClr val="F9E7EB"/>
          </a:solidFill>
          <a:ln xmlns:a="http://schemas.openxmlformats.org/drawingml/2006/main" w="13335">
            <a:solidFill>
              <a:srgbClr val="A50026"/>
            </a:solidFill>
            <a:prstDash val="solid"/>
          </a:ln>
        </p:spPr>
      </p:sp>
      <p:sp>
        <p:nvSpPr>
          <p:cNvPr id="7" name="">
            <a:extLst xmlns:a="http://schemas.openxmlformats.org/drawingml/2006/main">
              <a:ext uri="{FF2B5EF4-FFF2-40B4-BE49-F238E27FC236}">
                <a16:creationId xmlns:a16="http://schemas.microsoft.com/office/drawing/2014/main" id="{2ED6B22B-1922-4AE5-878B-103C8FB7408E}"/>
              </a:ext>
            </a:extLst>
          </p:cNvPr>
          <p:cNvSpPr>
            <a:spLocks xmlns:a="http://schemas.openxmlformats.org/drawingml/2006/main" noGrp="1"/>
          </p:cNvSpPr>
          <p:nvPr/>
        </p:nvSpPr>
        <p:spPr>
          <a:xfrm xmlns:a="http://schemas.openxmlformats.org/drawingml/2006/main">
            <a:off x="3524250" y="1714500"/>
            <a:ext cx="2190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A50026"/>
                </a:solidFill>
                <a:latin typeface="Times New Roman"/>
                <a:ea typeface="Times New Roman"/>
                <a:cs typeface="Times New Roman"/>
              </a:defRPr>
            </a:defPPr>
          </a:lstStyle>
          <a:p xmlns:a="http://schemas.openxmlformats.org/drawingml/2006/main">
            <a:pPr algn="l">
              <a:defRPr sz="1875" b="1">
                <a:solidFill>
                  <a:srgbClr val="A50026"/>
                </a:solidFill>
                <a:latin typeface="Times New Roman"/>
                <a:ea typeface="Times New Roman"/>
                <a:cs typeface="Times New Roman"/>
              </a:defRPr>
            </a:pPr>
            <a:r>
              <a:rPr sz="1875" b="1">
                <a:solidFill>
                  <a:srgbClr val="A50026"/>
                </a:solidFill>
                <a:latin typeface="Times New Roman"/>
                <a:ea typeface="Times New Roman"/>
                <a:cs typeface="Times New Roman"/>
              </a:rPr>
              <a:t>Keep starter formula</a:t>
            </a:r>
          </a:p>
        </p:txBody>
      </p:sp>
      <p:sp>
        <p:nvSpPr>
          <p:cNvPr id="8" name="">
            <a:extLst xmlns:a="http://schemas.openxmlformats.org/drawingml/2006/main">
              <a:ext uri="{FF2B5EF4-FFF2-40B4-BE49-F238E27FC236}">
                <a16:creationId xmlns:a16="http://schemas.microsoft.com/office/drawing/2014/main" id="{1CFF3076-8EA0-4F45-9F48-2E3760D976AA}"/>
              </a:ext>
            </a:extLst>
          </p:cNvPr>
          <p:cNvSpPr>
            <a:spLocks xmlns:a="http://schemas.openxmlformats.org/drawingml/2006/main" noGrp="1"/>
          </p:cNvSpPr>
          <p:nvPr/>
        </p:nvSpPr>
        <p:spPr>
          <a:xfrm xmlns:a="http://schemas.openxmlformats.org/drawingml/2006/main">
            <a:off x="3524250" y="21526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111111"/>
                </a:solidFill>
                <a:latin typeface="Times New Roman"/>
                <a:ea typeface="Times New Roman"/>
                <a:cs typeface="Times New Roman"/>
              </a:defRPr>
            </a:defPPr>
          </a:lstStyle>
          <a:p xmlns:a="http://schemas.openxmlformats.org/drawingml/2006/main">
            <a:pPr algn="l">
              <a:defRPr sz="1575" b="0">
                <a:solidFill>
                  <a:srgbClr val="111111"/>
                </a:solidFill>
                <a:latin typeface="Times New Roman"/>
                <a:ea typeface="Times New Roman"/>
                <a:cs typeface="Times New Roman"/>
              </a:defRPr>
            </a:pPr>
            <a:r>
              <a:rPr sz="1575" b="0">
                <a:solidFill>
                  <a:srgbClr val="111111"/>
                </a:solidFill>
                <a:latin typeface="Times New Roman"/>
                <a:ea typeface="Times New Roman"/>
                <a:cs typeface="Times New Roman"/>
              </a:rPr>
              <a:t>Memory assumption fails</a:t>
            </a:r>
          </a:p>
        </p:txBody>
      </p:sp>
      <p:sp>
        <p:nvSpPr>
          <p:cNvPr id="9" name="">
            <a:extLst xmlns:a="http://schemas.openxmlformats.org/drawingml/2006/main">
              <a:ext uri="{FF2B5EF4-FFF2-40B4-BE49-F238E27FC236}">
                <a16:creationId xmlns:a16="http://schemas.microsoft.com/office/drawing/2014/main" id="{B2B508E5-3139-428B-830E-A0A52099C99C}"/>
              </a:ext>
            </a:extLst>
          </p:cNvPr>
          <p:cNvSpPr>
            <a:spLocks xmlns:a="http://schemas.openxmlformats.org/drawingml/2006/main" noGrp="1"/>
          </p:cNvSpPr>
          <p:nvPr/>
        </p:nvSpPr>
        <p:spPr>
          <a:xfrm xmlns:a="http://schemas.openxmlformats.org/drawingml/2006/main">
            <a:off x="6362700" y="1571625"/>
            <a:ext cx="2419350" cy="1019175"/>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10" name="">
            <a:extLst xmlns:a="http://schemas.openxmlformats.org/drawingml/2006/main">
              <a:ext uri="{FF2B5EF4-FFF2-40B4-BE49-F238E27FC236}">
                <a16:creationId xmlns:a16="http://schemas.microsoft.com/office/drawing/2014/main" id="{D68AD305-DE82-4600-B51A-27E23A89C0A4}"/>
              </a:ext>
            </a:extLst>
          </p:cNvPr>
          <p:cNvSpPr>
            <a:spLocks xmlns:a="http://schemas.openxmlformats.org/drawingml/2006/main" noGrp="1"/>
          </p:cNvSpPr>
          <p:nvPr/>
        </p:nvSpPr>
        <p:spPr>
          <a:xfrm xmlns:a="http://schemas.openxmlformats.org/drawingml/2006/main">
            <a:off x="6477000" y="1714500"/>
            <a:ext cx="2190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11111"/>
                </a:solidFill>
                <a:latin typeface="Times New Roman"/>
                <a:ea typeface="Times New Roman"/>
                <a:cs typeface="Times New Roman"/>
              </a:defRPr>
            </a:defPPr>
          </a:lstStyle>
          <a:p xmlns:a="http://schemas.openxmlformats.org/drawingml/2006/main">
            <a:pPr algn="l">
              <a:defRPr sz="1875" b="1">
                <a:solidFill>
                  <a:srgbClr val="111111"/>
                </a:solidFill>
                <a:latin typeface="Times New Roman"/>
                <a:ea typeface="Times New Roman"/>
                <a:cs typeface="Times New Roman"/>
              </a:defRPr>
            </a:pPr>
            <a:r>
              <a:rPr sz="1875" b="1">
                <a:solidFill>
                  <a:srgbClr val="111111"/>
                </a:solidFill>
                <a:latin typeface="Times New Roman"/>
                <a:ea typeface="Times New Roman"/>
                <a:cs typeface="Times New Roman"/>
              </a:rPr>
              <a:t>Fit movement scale</a:t>
            </a:r>
          </a:p>
        </p:txBody>
      </p:sp>
      <p:sp>
        <p:nvSpPr>
          <p:cNvPr id="11" name="">
            <a:extLst xmlns:a="http://schemas.openxmlformats.org/drawingml/2006/main">
              <a:ext uri="{FF2B5EF4-FFF2-40B4-BE49-F238E27FC236}">
                <a16:creationId xmlns:a16="http://schemas.microsoft.com/office/drawing/2014/main" id="{F7A4A37C-CA4A-442A-B814-9DBB134903EB}"/>
              </a:ext>
            </a:extLst>
          </p:cNvPr>
          <p:cNvSpPr>
            <a:spLocks xmlns:a="http://schemas.openxmlformats.org/drawingml/2006/main" noGrp="1"/>
          </p:cNvSpPr>
          <p:nvPr/>
        </p:nvSpPr>
        <p:spPr>
          <a:xfrm xmlns:a="http://schemas.openxmlformats.org/drawingml/2006/main">
            <a:off x="6477000" y="21526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111111"/>
                </a:solidFill>
                <a:latin typeface="Times New Roman"/>
                <a:ea typeface="Times New Roman"/>
                <a:cs typeface="Times New Roman"/>
              </a:defRPr>
            </a:defPPr>
          </a:lstStyle>
          <a:p xmlns:a="http://schemas.openxmlformats.org/drawingml/2006/main">
            <a:pPr algn="l">
              <a:defRPr sz="1575" b="0">
                <a:solidFill>
                  <a:srgbClr val="111111"/>
                </a:solidFill>
                <a:latin typeface="Times New Roman"/>
                <a:ea typeface="Times New Roman"/>
                <a:cs typeface="Times New Roman"/>
              </a:defRPr>
            </a:pPr>
            <a:r>
              <a:rPr sz="1575" b="0">
                <a:solidFill>
                  <a:srgbClr val="111111"/>
                </a:solidFill>
                <a:latin typeface="Times New Roman"/>
                <a:ea typeface="Times New Roman"/>
                <a:cs typeface="Times New Roman"/>
              </a:rPr>
              <a:t>Parameter error 0.0055%</a:t>
            </a:r>
          </a:p>
        </p:txBody>
      </p:sp>
      <p:sp>
        <p:nvSpPr>
          <p:cNvPr id="12" name="">
            <a:extLst xmlns:a="http://schemas.openxmlformats.org/drawingml/2006/main">
              <a:ext uri="{FF2B5EF4-FFF2-40B4-BE49-F238E27FC236}">
                <a16:creationId xmlns:a16="http://schemas.microsoft.com/office/drawing/2014/main" id="{4E8D8F65-8961-472F-B77D-673042644BAE}"/>
              </a:ext>
            </a:extLst>
          </p:cNvPr>
          <p:cNvSpPr>
            <a:spLocks xmlns:a="http://schemas.openxmlformats.org/drawingml/2006/main" noGrp="1"/>
          </p:cNvSpPr>
          <p:nvPr/>
        </p:nvSpPr>
        <p:spPr>
          <a:xfrm xmlns:a="http://schemas.openxmlformats.org/drawingml/2006/main">
            <a:off x="9315450" y="1571625"/>
            <a:ext cx="2419350" cy="1019175"/>
          </a:xfrm>
          <a:prstGeom xmlns:a="http://schemas.openxmlformats.org/drawingml/2006/main" prst="rect">
            <a:avLst/>
          </a:prstGeom>
          <a:solidFill xmlns:a="http://schemas.openxmlformats.org/drawingml/2006/main">
            <a:srgbClr val="F3F4F6"/>
          </a:solidFill>
          <a:ln xmlns:a="http://schemas.openxmlformats.org/drawingml/2006/main" w="13335">
            <a:solidFill>
              <a:srgbClr val="D1D5DB"/>
            </a:solidFill>
            <a:prstDash val="solid"/>
          </a:ln>
        </p:spPr>
      </p:sp>
      <p:sp>
        <p:nvSpPr>
          <p:cNvPr id="13" name="">
            <a:extLst xmlns:a="http://schemas.openxmlformats.org/drawingml/2006/main">
              <a:ext uri="{FF2B5EF4-FFF2-40B4-BE49-F238E27FC236}">
                <a16:creationId xmlns:a16="http://schemas.microsoft.com/office/drawing/2014/main" id="{4368C2E6-DC3B-4903-A53C-50B8F59FDFF2}"/>
              </a:ext>
            </a:extLst>
          </p:cNvPr>
          <p:cNvSpPr>
            <a:spLocks xmlns:a="http://schemas.openxmlformats.org/drawingml/2006/main" noGrp="1"/>
          </p:cNvSpPr>
          <p:nvPr/>
        </p:nvSpPr>
        <p:spPr>
          <a:xfrm xmlns:a="http://schemas.openxmlformats.org/drawingml/2006/main">
            <a:off x="9429750" y="1714500"/>
            <a:ext cx="2190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11111"/>
                </a:solidFill>
                <a:latin typeface="Times New Roman"/>
                <a:ea typeface="Times New Roman"/>
                <a:cs typeface="Times New Roman"/>
              </a:defRPr>
            </a:defPPr>
          </a:lstStyle>
          <a:p xmlns:a="http://schemas.openxmlformats.org/drawingml/2006/main">
            <a:pPr algn="l">
              <a:defRPr sz="1875" b="1">
                <a:solidFill>
                  <a:srgbClr val="111111"/>
                </a:solidFill>
                <a:latin typeface="Times New Roman"/>
                <a:ea typeface="Times New Roman"/>
                <a:cs typeface="Times New Roman"/>
              </a:defRPr>
            </a:pPr>
            <a:r>
              <a:rPr sz="1875" b="1">
                <a:solidFill>
                  <a:srgbClr val="111111"/>
                </a:solidFill>
                <a:latin typeface="Times New Roman"/>
                <a:ea typeface="Times New Roman"/>
                <a:cs typeface="Times New Roman"/>
              </a:rPr>
              <a:t>Run public test</a:t>
            </a:r>
          </a:p>
        </p:txBody>
      </p:sp>
      <p:sp>
        <p:nvSpPr>
          <p:cNvPr id="14" name="">
            <a:extLst xmlns:a="http://schemas.openxmlformats.org/drawingml/2006/main">
              <a:ext uri="{FF2B5EF4-FFF2-40B4-BE49-F238E27FC236}">
                <a16:creationId xmlns:a16="http://schemas.microsoft.com/office/drawing/2014/main" id="{0942925C-4322-4E4D-BBCC-616205346CA4}"/>
              </a:ext>
            </a:extLst>
          </p:cNvPr>
          <p:cNvSpPr>
            <a:spLocks xmlns:a="http://schemas.openxmlformats.org/drawingml/2006/main" noGrp="1"/>
          </p:cNvSpPr>
          <p:nvPr/>
        </p:nvSpPr>
        <p:spPr>
          <a:xfrm xmlns:a="http://schemas.openxmlformats.org/drawingml/2006/main">
            <a:off x="9429750" y="21526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575" b="0">
                <a:solidFill>
                  <a:srgbClr val="111111"/>
                </a:solidFill>
                <a:latin typeface="Times New Roman"/>
                <a:ea typeface="Times New Roman"/>
                <a:cs typeface="Times New Roman"/>
              </a:defRPr>
            </a:defPPr>
          </a:lstStyle>
          <a:p xmlns:a="http://schemas.openxmlformats.org/drawingml/2006/main">
            <a:pPr algn="l">
              <a:defRPr sz="1575" b="0">
                <a:solidFill>
                  <a:srgbClr val="111111"/>
                </a:solidFill>
                <a:latin typeface="Times New Roman"/>
                <a:ea typeface="Times New Roman"/>
                <a:cs typeface="Times New Roman"/>
              </a:defRPr>
            </a:pPr>
            <a:r>
              <a:rPr sz="1575" b="0">
                <a:solidFill>
                  <a:srgbClr val="111111"/>
                </a:solidFill>
                <a:latin typeface="Times New Roman"/>
                <a:ea typeface="Times New Roman"/>
                <a:cs typeface="Times New Roman"/>
              </a:rPr>
              <a:t>1 test passed</a:t>
            </a:r>
          </a:p>
        </p:txBody>
      </p:sp>
      <p:sp>
        <p:nvSpPr>
          <p:cNvPr id="18" name="">
            <a:extLst xmlns:a="http://schemas.openxmlformats.org/drawingml/2006/main">
              <a:ext uri="{FF2B5EF4-FFF2-40B4-BE49-F238E27FC236}">
                <a16:creationId xmlns:a16="http://schemas.microsoft.com/office/drawing/2014/main" id="{7999DF41-FB86-4276-A86A-150CA10BCEC6}"/>
              </a:ext>
            </a:extLst>
          </p:cNvPr>
          <p:cNvSpPr>
            <a:spLocks xmlns:a="http://schemas.openxmlformats.org/drawingml/2006/main" noGrp="1"/>
          </p:cNvSpPr>
          <p:nvPr/>
        </p:nvSpPr>
        <p:spPr>
          <a:xfrm xmlns:a="http://schemas.openxmlformats.org/drawingml/2006/main">
            <a:off x="457200" y="2962275"/>
            <a:ext cx="5467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A50026"/>
                </a:solidFill>
                <a:latin typeface="Times New Roman"/>
                <a:ea typeface="Times New Roman"/>
                <a:cs typeface="Times New Roman"/>
              </a:defRPr>
            </a:defPPr>
          </a:lstStyle>
          <a:p xmlns:a="http://schemas.openxmlformats.org/drawingml/2006/main">
            <a:pPr algn="l">
              <a:defRPr sz="2175" b="1">
                <a:solidFill>
                  <a:srgbClr val="A50026"/>
                </a:solidFill>
                <a:latin typeface="Times New Roman"/>
                <a:ea typeface="Times New Roman"/>
                <a:cs typeface="Times New Roman"/>
              </a:defRPr>
            </a:pPr>
            <a:r>
              <a:rPr sz="2175" b="1">
                <a:solidFill>
                  <a:srgbClr val="A50026"/>
                </a:solidFill>
                <a:latin typeface="Times New Roman"/>
                <a:ea typeface="Times New Roman"/>
                <a:cs typeface="Times New Roman"/>
              </a:rPr>
              <a:t>The incorrect assumption</a:t>
            </a:r>
          </a:p>
        </p:txBody>
      </p:sp>
      <p:sp>
        <p:nvSpPr>
          <p:cNvPr id="19" name="">
            <a:extLst xmlns:a="http://schemas.openxmlformats.org/drawingml/2006/main">
              <a:ext uri="{FF2B5EF4-FFF2-40B4-BE49-F238E27FC236}">
                <a16:creationId xmlns:a16="http://schemas.microsoft.com/office/drawing/2014/main" id="{1CFCB80F-EEB2-43E9-B51C-A354741C3D06}"/>
              </a:ext>
            </a:extLst>
          </p:cNvPr>
          <p:cNvSpPr>
            <a:spLocks xmlns:a="http://schemas.openxmlformats.org/drawingml/2006/main" noGrp="1"/>
          </p:cNvSpPr>
          <p:nvPr/>
        </p:nvSpPr>
        <p:spPr>
          <a:xfrm xmlns:a="http://schemas.openxmlformats.org/drawingml/2006/main">
            <a:off x="457200" y="3419475"/>
            <a:ext cx="5476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Shifting the measurement window leaves</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statistics of position changes unchanged.</a:t>
            </a:r>
          </a:p>
        </p:txBody>
      </p:sp>
      <p:sp>
        <p:nvSpPr>
          <p:cNvPr id="20" name="">
            <a:extLst xmlns:a="http://schemas.openxmlformats.org/drawingml/2006/main">
              <a:ext uri="{FF2B5EF4-FFF2-40B4-BE49-F238E27FC236}">
                <a16:creationId xmlns:a16="http://schemas.microsoft.com/office/drawing/2014/main" id="{7645EEEF-23E5-49BD-B7BA-0DBC19DB9469}"/>
              </a:ext>
            </a:extLst>
          </p:cNvPr>
          <p:cNvSpPr>
            <a:spLocks xmlns:a="http://schemas.openxmlformats.org/drawingml/2006/main" noGrp="1"/>
          </p:cNvSpPr>
          <p:nvPr/>
        </p:nvSpPr>
        <p:spPr>
          <a:xfrm xmlns:a="http://schemas.openxmlformats.org/drawingml/2006/main">
            <a:off x="457200" y="4333875"/>
            <a:ext cx="5476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But the repeated fixed starting positions</a:t>
            </a:r>
          </a:p>
          <a:p xmlns:a="http://schemas.openxmlformats.org/drawingml/2006/main">
            <a:pPr algn="l">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leave a memory of the release time.</a:t>
            </a:r>
          </a:p>
        </p:txBody>
      </p:sp>
      <p:sp>
        <p:nvSpPr>
          <p:cNvPr id="21" name="">
            <a:extLst xmlns:a="http://schemas.openxmlformats.org/drawingml/2006/main">
              <a:ext uri="{FF2B5EF4-FFF2-40B4-BE49-F238E27FC236}">
                <a16:creationId xmlns:a16="http://schemas.microsoft.com/office/drawing/2014/main" id="{A27D6B16-70D5-47FB-B8E5-DFA08B7A0E62}"/>
              </a:ext>
            </a:extLst>
          </p:cNvPr>
          <p:cNvSpPr>
            <a:spLocks xmlns:a="http://schemas.openxmlformats.org/drawingml/2006/main" noGrp="1"/>
          </p:cNvSpPr>
          <p:nvPr/>
        </p:nvSpPr>
        <p:spPr>
          <a:xfrm xmlns:a="http://schemas.openxmlformats.org/drawingml/2006/main">
            <a:off x="457200" y="5238750"/>
            <a:ext cx="5476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0">
                <a:solidFill>
                  <a:srgbClr val="444444"/>
                </a:solidFill>
                <a:latin typeface="Times New Roman"/>
                <a:ea typeface="Times New Roman"/>
                <a:cs typeface="Times New Roman"/>
              </a:defRPr>
            </a:defPPr>
          </a:lstStyle>
          <a:p xmlns:a="http://schemas.openxmlformats.org/drawingml/2006/main">
            <a:pPr algn="l">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The agent names the fixed preparation</a:t>
            </a:r>
          </a:p>
          <a:p xmlns:a="http://schemas.openxmlformats.org/drawingml/2006/main">
            <a:pPr algn="l">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in its comments, but retains the wrong formula.</a:t>
            </a:r>
          </a:p>
        </p:txBody>
      </p:sp>
      <p:sp>
        <p:nvSpPr>
          <p:cNvPr id="22" name="">
            <a:extLst xmlns:a="http://schemas.openxmlformats.org/drawingml/2006/main">
              <a:ext uri="{FF2B5EF4-FFF2-40B4-BE49-F238E27FC236}">
                <a16:creationId xmlns:a16="http://schemas.microsoft.com/office/drawing/2014/main" id="{D1B1B6C3-5EB1-4DE4-949A-343E92950C01}"/>
              </a:ext>
            </a:extLst>
          </p:cNvPr>
          <p:cNvSpPr>
            <a:spLocks xmlns:a="http://schemas.openxmlformats.org/drawingml/2006/main" noGrp="1"/>
          </p:cNvSpPr>
          <p:nvPr/>
        </p:nvSpPr>
        <p:spPr>
          <a:xfrm xmlns:a="http://schemas.openxmlformats.org/drawingml/2006/main">
            <a:off x="6457950" y="2962275"/>
            <a:ext cx="5276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Hidden prediction error</a:t>
            </a:r>
          </a:p>
        </p:txBody>
      </p:sp>
      <p:graphicFrame>
        <p:nvGraphicFramePr>
          <p:cNvPr id="23" name="">
            <a:extLst xmlns:a="http://schemas.openxmlformats.org/drawingml/2006/main">
              <a:ext uri="{FF2B5EF4-FFF2-40B4-BE49-F238E27FC236}">
                <a16:creationId xmlns:a16="http://schemas.microsoft.com/office/drawing/2014/main" id="{3016B146-72FC-4680-B21C-D2AF2DF8CE5B}"/>
              </a:ext>
            </a:extLst>
          </p:cNvPr>
          <p:cNvGraphicFramePr/>
          <p:nvPr/>
        </p:nvGraphicFramePr>
        <p:xfrm>
          <a:off xmlns:a="http://schemas.openxmlformats.org/drawingml/2006/main" x="6457950" y="3400425"/>
          <a:ext xmlns:a="http://schemas.openxmlformats.org/drawingml/2006/main" cx="5276850" cy="1495425"/>
        </p:xfrm>
        <a:graphic xmlns:a="http://schemas.openxmlformats.org/drawingml/2006/main">
          <a:graphicData uri="http://schemas.openxmlformats.org/drawingml/2006/table">
            <a:tbl>
              <a:tblPr/>
              <a:tblGrid>
                <a:gridCol w="2257425"/>
                <a:gridCol w="3019425"/>
              </a:tblGrid>
              <a:tr h="498475">
                <a:tc>
                  <a:txBody>
                    <a:bodyPr wrap="square"/>
                    <a:lstStyle/>
                    <a:p>
                      <a:r>
                        <a:rPr sz="1725" b="1">
                          <a:solidFill>
                            <a:srgbClr val="FFFFFF"/>
                          </a:solidFill>
                          <a:latin typeface="Times New Roman"/>
                          <a:ea typeface="Times New Roman"/>
                          <a:cs typeface="Times New Roman"/>
                        </a:rPr>
                        <a:t>Later / earlier time</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wrap="square"/>
                    <a:lstStyle/>
                    <a:p>
                      <a:r>
                        <a:rPr sz="1725" b="1">
                          <a:solidFill>
                            <a:srgbClr val="FFFFFF"/>
                          </a:solidFill>
                          <a:latin typeface="Times New Roman"/>
                          <a:ea typeface="Times New Roman"/>
                          <a:cs typeface="Times New Roman"/>
                        </a:rPr>
                        <a:t>Group error</a:t>
                      </a:r>
                    </a:p>
                  </a:txBody>
                  <a:tcPr marL="114300" marR="114300" marT="76200" marB="76200" anchor="ctr">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r>
              <a:tr h="498475">
                <a:tc>
                  <a:txBody>
                    <a:bodyPr wrap="square"/>
                    <a:lstStyle/>
                    <a:p>
                      <a:r>
                        <a:rPr sz="1725" b="0">
                          <a:solidFill>
                            <a:srgbClr val="111111"/>
                          </a:solidFill>
                          <a:latin typeface="Times New Roman"/>
                          <a:ea typeface="Times New Roman"/>
                          <a:cs typeface="Times New Roman"/>
                        </a:rPr>
                        <a:t>1 (equal times)</a:t>
                      </a:r>
                    </a:p>
                  </a:txBody>
                  <a:tcPr marL="114300" marR="114300" marT="76200" marB="76200" anchor="ctr">
                    <a:lnL w="7620">
                      <a:solidFill>
                        <a:srgbClr val="D1D5DB"/>
                      </a:solidFill>
                      <a:prstDash val="solid"/>
                    </a:lnL>
                    <a:lnR w="7620">
                      <a:solidFill>
                        <a:srgbClr val="D1D5DB"/>
                      </a:solidFill>
                      <a:prstDash val="solid"/>
                    </a:lnR>
                    <a:lnB w="7620">
                      <a:solidFill>
                        <a:srgbClr val="D1D5DB"/>
                      </a:solidFill>
                      <a:prstDash val="solid"/>
                    </a:lnB>
                    <a:solidFill>
                      <a:srgbClr val="FFFFFF"/>
                    </a:solidFill>
                  </a:tcPr>
                </a:tc>
                <a:tc>
                  <a:txBody>
                    <a:bodyPr wrap="square"/>
                    <a:lstStyle/>
                    <a:p>
                      <a:r>
                        <a:rPr sz="1725" b="0">
                          <a:solidFill>
                            <a:srgbClr val="111111"/>
                          </a:solidFill>
                          <a:latin typeface="Times New Roman"/>
                          <a:ea typeface="Times New Roman"/>
                          <a:cs typeface="Times New Roman"/>
                        </a:rPr>
                        <a:t>0.0028%</a:t>
                      </a:r>
                    </a:p>
                  </a:txBody>
                  <a:tcPr marL="114300" marR="114300" marT="76200" marB="76200" anchor="ctr">
                    <a:lnR w="7620">
                      <a:solidFill>
                        <a:srgbClr val="D1D5DB"/>
                      </a:solidFill>
                      <a:prstDash val="solid"/>
                    </a:lnR>
                    <a:lnB w="7620">
                      <a:solidFill>
                        <a:srgbClr val="D1D5DB"/>
                      </a:solidFill>
                      <a:prstDash val="solid"/>
                    </a:lnB>
                    <a:solidFill>
                      <a:srgbClr val="FFFFFF"/>
                    </a:solidFill>
                  </a:tcPr>
                </a:tc>
              </a:tr>
              <a:tr h="498475">
                <a:tc>
                  <a:txBody>
                    <a:bodyPr wrap="square"/>
                    <a:lstStyle/>
                    <a:p>
                      <a:r>
                        <a:rPr sz="1725" b="0">
                          <a:solidFill>
                            <a:srgbClr val="111111"/>
                          </a:solidFill>
                          <a:latin typeface="Times New Roman"/>
                          <a:ea typeface="Times New Roman"/>
                          <a:cs typeface="Times New Roman"/>
                        </a:rPr>
                        <a:t>2 / 4 / 8</a:t>
                      </a:r>
                    </a:p>
                  </a:txBody>
                  <a:tcPr marL="114300" marR="114300" marT="76200" marB="76200" anchor="ctr">
                    <a:lnL w="7620">
                      <a:solidFill>
                        <a:srgbClr val="D1D5DB"/>
                      </a:solidFill>
                      <a:prstDash val="solid"/>
                    </a:lnL>
                    <a:lnR w="7620">
                      <a:solidFill>
                        <a:srgbClr val="D1D5DB"/>
                      </a:solidFill>
                      <a:prstDash val="solid"/>
                    </a:lnR>
                    <a:lnB w="7620">
                      <a:solidFill>
                        <a:srgbClr val="D1D5DB"/>
                      </a:solidFill>
                      <a:prstDash val="solid"/>
                    </a:lnB>
                    <a:solidFill>
                      <a:srgbClr val="F3F4F6"/>
                    </a:solidFill>
                  </a:tcPr>
                </a:tc>
                <a:tc>
                  <a:txBody>
                    <a:bodyPr wrap="square"/>
                    <a:lstStyle/>
                    <a:p>
                      <a:r>
                        <a:rPr sz="1725" b="0">
                          <a:solidFill>
                            <a:srgbClr val="111111"/>
                          </a:solidFill>
                          <a:latin typeface="Times New Roman"/>
                          <a:ea typeface="Times New Roman"/>
                          <a:cs typeface="Times New Roman"/>
                        </a:rPr>
                        <a:t>36.60% / 77.88% / 136.06%</a:t>
                      </a:r>
                    </a:p>
                  </a:txBody>
                  <a:tcPr marL="114300" marR="114300" marT="76200" marB="76200" anchor="ctr">
                    <a:lnR w="7620">
                      <a:solidFill>
                        <a:srgbClr val="D1D5DB"/>
                      </a:solidFill>
                      <a:prstDash val="solid"/>
                    </a:lnR>
                    <a:lnB w="7620">
                      <a:solidFill>
                        <a:srgbClr val="D1D5DB"/>
                      </a:solidFill>
                      <a:prstDash val="solid"/>
                    </a:lnB>
                    <a:solidFill>
                      <a:srgbClr val="F3F4F6"/>
                    </a:solidFill>
                  </a:tcPr>
                </a:tc>
              </a:tr>
            </a:tbl>
          </a:graphicData>
        </a:graphic>
      </p:graphicFrame>
      <p:sp>
        <p:nvSpPr>
          <p:cNvPr id="24" name="">
            <a:extLst xmlns:a="http://schemas.openxmlformats.org/drawingml/2006/main">
              <a:ext uri="{FF2B5EF4-FFF2-40B4-BE49-F238E27FC236}">
                <a16:creationId xmlns:a16="http://schemas.microsoft.com/office/drawing/2014/main" id="{66C55DFC-69D2-47F1-B05B-DBE20037FCB2}"/>
              </a:ext>
            </a:extLst>
          </p:cNvPr>
          <p:cNvSpPr>
            <a:spLocks xmlns:a="http://schemas.openxmlformats.org/drawingml/2006/main" noGrp="1"/>
          </p:cNvSpPr>
          <p:nvPr/>
        </p:nvSpPr>
        <p:spPr>
          <a:xfrm xmlns:a="http://schemas.openxmlformats.org/drawingml/2006/main">
            <a:off x="6457950" y="5114925"/>
            <a:ext cx="5276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111111"/>
                </a:solidFill>
                <a:latin typeface="Times New Roman"/>
                <a:ea typeface="Times New Roman"/>
                <a:cs typeface="Times New Roman"/>
              </a:defRPr>
            </a:defPPr>
          </a:lstStyle>
          <a:p xmlns:a="http://schemas.openxmlformats.org/drawingml/2006/main">
            <a:pPr algn="l">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Replace only the memory formula</a:t>
            </a:r>
          </a:p>
        </p:txBody>
      </p:sp>
      <p:sp>
        <p:nvSpPr>
          <p:cNvPr id="25" name="">
            <a:extLst xmlns:a="http://schemas.openxmlformats.org/drawingml/2006/main">
              <a:ext uri="{FF2B5EF4-FFF2-40B4-BE49-F238E27FC236}">
                <a16:creationId xmlns:a16="http://schemas.microsoft.com/office/drawing/2014/main" id="{29999ACD-2F81-4130-837B-EFB0094DEA40}"/>
              </a:ext>
            </a:extLst>
          </p:cNvPr>
          <p:cNvSpPr>
            <a:spLocks xmlns:a="http://schemas.openxmlformats.org/drawingml/2006/main" noGrp="1"/>
          </p:cNvSpPr>
          <p:nvPr/>
        </p:nvSpPr>
        <p:spPr>
          <a:xfrm xmlns:a="http://schemas.openxmlformats.org/drawingml/2006/main">
            <a:off x="6457950" y="5524500"/>
            <a:ext cx="1857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625" b="1">
                <a:solidFill>
                  <a:srgbClr val="A50026"/>
                </a:solidFill>
                <a:latin typeface="Times New Roman"/>
                <a:ea typeface="Times New Roman"/>
                <a:cs typeface="Times New Roman"/>
              </a:defRPr>
            </a:defPPr>
          </a:lstStyle>
          <a:p xmlns:a="http://schemas.openxmlformats.org/drawingml/2006/main">
            <a:pPr algn="l">
              <a:defRPr sz="2625" b="1">
                <a:solidFill>
                  <a:srgbClr val="A50026"/>
                </a:solidFill>
                <a:latin typeface="Times New Roman"/>
                <a:ea typeface="Times New Roman"/>
                <a:cs typeface="Times New Roman"/>
              </a:defRPr>
            </a:pPr>
            <a:r>
              <a:rPr sz="2625" b="1">
                <a:solidFill>
                  <a:srgbClr val="A50026"/>
                </a:solidFill>
                <a:latin typeface="Times New Roman"/>
                <a:ea typeface="Times New Roman"/>
                <a:cs typeface="Times New Roman"/>
              </a:rPr>
              <a:t>136.06%</a:t>
            </a:r>
          </a:p>
        </p:txBody>
      </p:sp>
      <p:sp>
        <p:nvSpPr>
          <p:cNvPr id="26" name="">
            <a:extLst xmlns:a="http://schemas.openxmlformats.org/drawingml/2006/main">
              <a:ext uri="{FF2B5EF4-FFF2-40B4-BE49-F238E27FC236}">
                <a16:creationId xmlns:a16="http://schemas.microsoft.com/office/drawing/2014/main" id="{5E34889A-94B4-4FC5-95E5-20EDCB48DD08}"/>
              </a:ext>
            </a:extLst>
          </p:cNvPr>
          <p:cNvSpPr>
            <a:spLocks xmlns:a="http://schemas.openxmlformats.org/drawingml/2006/main" noGrp="1"/>
          </p:cNvSpPr>
          <p:nvPr/>
        </p:nvSpPr>
        <p:spPr>
          <a:xfrm xmlns:a="http://schemas.openxmlformats.org/drawingml/2006/main">
            <a:off x="8439150" y="5657850"/>
            <a:ext cx="619125" cy="152400"/>
          </a:xfrm>
          <a:prstGeom xmlns:a="http://schemas.openxmlformats.org/drawingml/2006/main" prst="rightArrow">
            <a:avLst/>
          </a:prstGeom>
          <a:solidFill xmlns:a="http://schemas.openxmlformats.org/drawingml/2006/main">
            <a:srgbClr val="77777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9F729B3-B72E-418C-A294-FF5CBCF8F606}"/>
              </a:ext>
            </a:extLst>
          </p:cNvPr>
          <p:cNvSpPr>
            <a:spLocks xmlns:a="http://schemas.openxmlformats.org/drawingml/2006/main" noGrp="1"/>
          </p:cNvSpPr>
          <p:nvPr/>
        </p:nvSpPr>
        <p:spPr>
          <a:xfrm xmlns:a="http://schemas.openxmlformats.org/drawingml/2006/main">
            <a:off x="9296400" y="5524500"/>
            <a:ext cx="243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625" b="1">
                <a:solidFill>
                  <a:srgbClr val="0F766E"/>
                </a:solidFill>
                <a:latin typeface="Times New Roman"/>
                <a:ea typeface="Times New Roman"/>
                <a:cs typeface="Times New Roman"/>
              </a:defRPr>
            </a:defPPr>
          </a:lstStyle>
          <a:p xmlns:a="http://schemas.openxmlformats.org/drawingml/2006/main">
            <a:pPr algn="l">
              <a:defRPr sz="2625" b="1">
                <a:solidFill>
                  <a:srgbClr val="0F766E"/>
                </a:solidFill>
                <a:latin typeface="Times New Roman"/>
                <a:ea typeface="Times New Roman"/>
                <a:cs typeface="Times New Roman"/>
              </a:defRPr>
            </a:pPr>
            <a:r>
              <a:rPr sz="2625" b="1">
                <a:solidFill>
                  <a:srgbClr val="0F766E"/>
                </a:solidFill>
                <a:latin typeface="Times New Roman"/>
                <a:ea typeface="Times New Roman"/>
                <a:cs typeface="Times New Roman"/>
              </a:rPr>
              <a:t>0.0028%</a:t>
            </a:r>
          </a:p>
        </p:txBody>
      </p:sp>
      <p:sp>
        <p:nvSpPr>
          <p:cNvPr id="28" name="">
            <a:extLst xmlns:a="http://schemas.openxmlformats.org/drawingml/2006/main">
              <a:ext uri="{FF2B5EF4-FFF2-40B4-BE49-F238E27FC236}">
                <a16:creationId xmlns:a16="http://schemas.microsoft.com/office/drawing/2014/main" id="{6E91F28A-0CCE-490F-93E6-198EA761F35C}"/>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Analyst diagnostic with the fitted parameter fixed. Largest group error falls below the 4% tolerance. The original attempt remains a failure.</a:t>
            </a:r>
          </a:p>
        </p:txBody>
      </p:sp>
      <p:sp>
        <p:nvSpPr>
          <p:cNvPr id="29" name="">
            <a:extLst xmlns:a="http://schemas.openxmlformats.org/drawingml/2006/main">
              <a:ext uri="{FF2B5EF4-FFF2-40B4-BE49-F238E27FC236}">
                <a16:creationId xmlns:a16="http://schemas.microsoft.com/office/drawing/2014/main" id="{2C9BE4F0-CF78-403A-904A-45204FF0EB08}"/>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spTree>
    <p:extLst>
      <p:ext uri="{BB962C8B-B14F-4D97-AF65-F5344CB8AC3E}">
        <p14:creationId xmlns:p14="http://schemas.microsoft.com/office/powerpoint/2010/main" val="7878986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E50B44-48E6-416C-9860-3C03878314C7}"/>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Conclusions</a:t>
            </a:r>
          </a:p>
        </p:txBody>
      </p:sp>
      <p:sp>
        <p:nvSpPr>
          <p:cNvPr id="2" name="">
            <a:extLst xmlns:a="http://schemas.openxmlformats.org/drawingml/2006/main">
              <a:ext uri="{FF2B5EF4-FFF2-40B4-BE49-F238E27FC236}">
                <a16:creationId xmlns:a16="http://schemas.microsoft.com/office/drawing/2014/main" id="{9AFB84F0-75DD-4F99-9444-0BF9DFCD2BEB}"/>
              </a:ext>
            </a:extLst>
          </p:cNvPr>
          <p:cNvSpPr>
            <a:spLocks xmlns:a="http://schemas.openxmlformats.org/drawingml/2006/main" noGrp="1"/>
          </p:cNvSpPr>
          <p:nvPr/>
        </p:nvSpPr>
        <p:spPr>
          <a:xfrm xmlns:a="http://schemas.openxmlformats.org/drawingml/2006/main">
            <a:off x="609600" y="16097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Calibration can hide the wrong physical model</a:t>
            </a:r>
          </a:p>
        </p:txBody>
      </p:sp>
      <p:sp>
        <p:nvSpPr>
          <p:cNvPr id="3" name="">
            <a:extLst xmlns:a="http://schemas.openxmlformats.org/drawingml/2006/main">
              <a:ext uri="{FF2B5EF4-FFF2-40B4-BE49-F238E27FC236}">
                <a16:creationId xmlns:a16="http://schemas.microsoft.com/office/drawing/2014/main" id="{0B2C7386-EAD4-4C99-88E7-41B295B555FC}"/>
              </a:ext>
            </a:extLst>
          </p:cNvPr>
          <p:cNvSpPr>
            <a:spLocks xmlns:a="http://schemas.openxmlformats.org/drawingml/2006/main" noGrp="1"/>
          </p:cNvSpPr>
          <p:nvPr/>
        </p:nvSpPr>
        <p:spPr>
          <a:xfrm xmlns:a="http://schemas.openxmlformats.org/drawingml/2006/main">
            <a:off x="609600" y="2219325"/>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The particle example fits equal-time motion but misses memory between times.</a:t>
            </a:r>
          </a:p>
        </p:txBody>
      </p:sp>
      <p:sp>
        <p:nvSpPr>
          <p:cNvPr id="4" name="">
            <a:extLst xmlns:a="http://schemas.openxmlformats.org/drawingml/2006/main">
              <a:ext uri="{FF2B5EF4-FFF2-40B4-BE49-F238E27FC236}">
                <a16:creationId xmlns:a16="http://schemas.microsoft.com/office/drawing/2014/main" id="{6ACA5743-0522-4422-A526-56BBA71F09D6}"/>
              </a:ext>
            </a:extLst>
          </p:cNvPr>
          <p:cNvSpPr>
            <a:spLocks xmlns:a="http://schemas.openxmlformats.org/drawingml/2006/main" noGrp="1"/>
          </p:cNvSpPr>
          <p:nvPr/>
        </p:nvSpPr>
        <p:spPr>
          <a:xfrm xmlns:a="http://schemas.openxmlformats.org/drawingml/2006/main">
            <a:off x="609600" y="3257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Cost, reasoning effort, and completion all matter</a:t>
            </a:r>
          </a:p>
        </p:txBody>
      </p:sp>
      <p:sp>
        <p:nvSpPr>
          <p:cNvPr id="5" name="">
            <a:extLst xmlns:a="http://schemas.openxmlformats.org/drawingml/2006/main">
              <a:ext uri="{FF2B5EF4-FFF2-40B4-BE49-F238E27FC236}">
                <a16:creationId xmlns:a16="http://schemas.microsoft.com/office/drawing/2014/main" id="{2B6D1906-A7F2-4178-AA65-A670BAAA2EE4}"/>
              </a:ext>
            </a:extLst>
          </p:cNvPr>
          <p:cNvSpPr>
            <a:spLocks xmlns:a="http://schemas.openxmlformats.org/drawingml/2006/main" noGrp="1"/>
          </p:cNvSpPr>
          <p:nvPr/>
        </p:nvSpPr>
        <p:spPr>
          <a:xfrm xmlns:a="http://schemas.openxmlformats.org/drawingml/2006/main">
            <a:off x="609600" y="3867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Sol 6 Low and High reach the high-success end of the observed no-hint frontier.</a:t>
            </a:r>
          </a:p>
        </p:txBody>
      </p:sp>
      <p:sp>
        <p:nvSpPr>
          <p:cNvPr id="6" name="">
            <a:extLst xmlns:a="http://schemas.openxmlformats.org/drawingml/2006/main">
              <a:ext uri="{FF2B5EF4-FFF2-40B4-BE49-F238E27FC236}">
                <a16:creationId xmlns:a16="http://schemas.microsoft.com/office/drawing/2014/main" id="{5D605833-9C79-493D-84E5-16F6E9A05EBF}"/>
              </a:ext>
            </a:extLst>
          </p:cNvPr>
          <p:cNvSpPr>
            <a:spLocks xmlns:a="http://schemas.openxmlformats.org/drawingml/2006/main" noGrp="1"/>
          </p:cNvSpPr>
          <p:nvPr/>
        </p:nvSpPr>
        <p:spPr>
          <a:xfrm xmlns:a="http://schemas.openxmlformats.org/drawingml/2006/main">
            <a:off x="609600" y="490537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The hint comparison is the remaining experiment</a:t>
            </a:r>
          </a:p>
        </p:txBody>
      </p:sp>
      <p:sp>
        <p:nvSpPr>
          <p:cNvPr id="7" name="">
            <a:extLst xmlns:a="http://schemas.openxmlformats.org/drawingml/2006/main">
              <a:ext uri="{FF2B5EF4-FFF2-40B4-BE49-F238E27FC236}">
                <a16:creationId xmlns:a16="http://schemas.microsoft.com/office/drawing/2014/main" id="{4FB740C6-2A78-43B4-94E0-F1DA4CC2609E}"/>
              </a:ext>
            </a:extLst>
          </p:cNvPr>
          <p:cNvSpPr>
            <a:spLocks xmlns:a="http://schemas.openxmlformats.org/drawingml/2006/main" noGrp="1"/>
          </p:cNvSpPr>
          <p:nvPr/>
        </p:nvSpPr>
        <p:spPr>
          <a:xfrm xmlns:a="http://schemas.openxmlformats.org/drawingml/2006/main">
            <a:off x="609600" y="551497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We will test whether targeted physical guidance improves success per dollar.</a:t>
            </a:r>
          </a:p>
        </p:txBody>
      </p:sp>
      <p:sp>
        <p:nvSpPr>
          <p:cNvPr id="8" name="">
            <a:extLst xmlns:a="http://schemas.openxmlformats.org/drawingml/2006/main">
              <a:ext uri="{FF2B5EF4-FFF2-40B4-BE49-F238E27FC236}">
                <a16:creationId xmlns:a16="http://schemas.microsoft.com/office/drawing/2014/main" id="{1648397D-5094-4F90-8043-E35F5FC8D2B7}"/>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10</a:t>
            </a:r>
          </a:p>
        </p:txBody>
      </p:sp>
    </p:spTree>
    <p:extLst>
      <p:ext uri="{BB962C8B-B14F-4D97-AF65-F5344CB8AC3E}">
        <p14:creationId xmlns:p14="http://schemas.microsoft.com/office/powerpoint/2010/main" val="549842823"/>
      </p:ext>
    </p:extLst>
  </p:cSld>
</p:sld>
</file>

<file path=ppt/slides/slide11.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9447901-9249-469C-A67F-257239997CC0}"/>
              </a:ext>
            </a:extLst>
          </p:cNvPr>
          <p:cNvSpPr>
            <a:spLocks xmlns:a="http://schemas.openxmlformats.org/drawingml/2006/main" noGrp="1"/>
          </p:cNvSpPr>
          <p:nvPr/>
        </p:nvSpPr>
        <p:spPr>
          <a:xfrm xmlns:a="http://schemas.openxmlformats.org/drawingml/2006/main">
            <a:off x="609600" y="2333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i="0">
                <a:solidFill>
                  <a:srgbClr val="FFFFFF"/>
                </a:solidFill>
                <a:latin typeface="Times New Roman"/>
                <a:ea typeface="Times New Roman"/>
                <a:cs typeface="Times New Roman"/>
              </a:defRPr>
            </a:defPPr>
          </a:lstStyle>
          <a:p xmlns:a="http://schemas.openxmlformats.org/drawingml/2006/main">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
            <a:extLst xmlns:a="http://schemas.openxmlformats.org/drawingml/2006/main">
              <a:ext uri="{FF2B5EF4-FFF2-40B4-BE49-F238E27FC236}">
                <a16:creationId xmlns:a16="http://schemas.microsoft.com/office/drawing/2014/main" id="{2AE705A4-0FC6-405B-B3A2-4281C7C3DE5F}"/>
              </a:ext>
            </a:extLst>
          </p:cNvPr>
          <p:cNvSpPr>
            <a:spLocks xmlns:a="http://schemas.openxmlformats.org/drawingml/2006/main" noGrp="1"/>
          </p:cNvSpPr>
          <p:nvPr/>
        </p:nvSpPr>
        <p:spPr>
          <a:xfrm xmlns:a="http://schemas.openxmlformats.org/drawingml/2006/main">
            <a:off x="609600" y="36671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i="0">
                <a:solidFill>
                  <a:srgbClr val="D1D5DB"/>
                </a:solidFill>
                <a:latin typeface="Times New Roman"/>
                <a:ea typeface="Times New Roman"/>
                <a:cs typeface="Times New Roman"/>
              </a:defRPr>
            </a:defPPr>
          </a:lstStyle>
          <a:p xmlns:a="http://schemas.openxmlformats.org/drawingml/2006/main">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47441D-9E7C-446E-9907-F2E07DAC68B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all complete no-hint settings</a:t>
            </a:r>
          </a:p>
        </p:txBody>
      </p:sp>
      <p:sp>
        <p:nvSpPr>
          <p:cNvPr id="2" name="">
            <a:extLst xmlns:a="http://schemas.openxmlformats.org/drawingml/2006/main">
              <a:ext uri="{FF2B5EF4-FFF2-40B4-BE49-F238E27FC236}">
                <a16:creationId xmlns:a16="http://schemas.microsoft.com/office/drawing/2014/main" id="{615984E6-F9CE-4148-9384-268D33D7F223}"/>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Original sweep only. Costs are estimated USD per attempt.</a:t>
            </a:r>
          </a:p>
        </p:txBody>
      </p:sp>
      <p:sp>
        <p:nvSpPr>
          <p:cNvPr id="3" name="">
            <a:extLst xmlns:a="http://schemas.openxmlformats.org/drawingml/2006/main">
              <a:ext uri="{FF2B5EF4-FFF2-40B4-BE49-F238E27FC236}">
                <a16:creationId xmlns:a16="http://schemas.microsoft.com/office/drawing/2014/main" id="{90AC3634-A29C-49EF-BA8C-2275011734C7}"/>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12</a:t>
            </a:r>
          </a:p>
        </p:txBody>
      </p:sp>
      <p:graphicFrame>
        <p:nvGraphicFramePr>
          <p:cNvPr id="4" name="">
            <a:extLst xmlns:a="http://schemas.openxmlformats.org/drawingml/2006/main">
              <a:ext uri="{FF2B5EF4-FFF2-40B4-BE49-F238E27FC236}">
                <a16:creationId xmlns:a16="http://schemas.microsoft.com/office/drawing/2014/main" id="{76B32566-5AF0-4991-BD08-00FD9C5731E4}"/>
              </a:ext>
            </a:extLst>
          </p:cNvPr>
          <p:cNvGraphicFramePr/>
          <p:nvPr/>
        </p:nvGraphicFramePr>
        <p:xfrm>
          <a:off xmlns:a="http://schemas.openxmlformats.org/drawingml/2006/main" x="457200" y="1533525"/>
          <a:ext xmlns:a="http://schemas.openxmlformats.org/drawingml/2006/main" cx="11277600" cy="4267200"/>
        </p:xfrm>
        <a:graphic xmlns:a="http://schemas.openxmlformats.org/drawingml/2006/main">
          <a:graphicData uri="http://schemas.openxmlformats.org/drawingml/2006/table">
            <a:tbl>
              <a:tblPr/>
              <a:tblGrid>
                <a:gridCol w="3483657"/>
                <a:gridCol w="2066576"/>
                <a:gridCol w="1377717"/>
                <a:gridCol w="2332279"/>
                <a:gridCol w="2017372"/>
              </a:tblGrid>
              <a:tr h="266700">
                <a:tc>
                  <a:txBody>
                    <a:bodyPr lIns="0" tIns="0" rIns="0" bIns="0"/>
                    <a:lstStyle/>
                    <a:p>
                      <a:r>
                        <a:rPr sz="15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Effort</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Passes</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Execution errors</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500" b="1">
                          <a:solidFill>
                            <a:srgbClr val="FFFFFF"/>
                          </a:solidFill>
                          <a:latin typeface="Times New Roman"/>
                          <a:ea typeface="Times New Roman"/>
                          <a:cs typeface="Times New Roman"/>
                        </a:rPr>
                        <a:t>Mean cost</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266700">
                <a:tc>
                  <a:txBody>
                    <a:bodyPr lIns="0" tIns="0" rIns="0" bIns="0"/>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$0.0040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1/39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$0.0052</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12/39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$0.0126</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37/39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$0.0773</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$0.1975</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$0.2306</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$0.1107</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9/39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$0.1942</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19/39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4</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$0.3196</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$0.4450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39/39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$0.7132</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37/39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2</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$1.0801</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34</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 $0.1500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266700">
                <a:tc>
                  <a:txBody>
                    <a:bodyPr lIns="0" tIns="0" rIns="0" bIns="0"/>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0/39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33</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500" b="0">
                          <a:solidFill>
                            <a:srgbClr val="111111"/>
                          </a:solidFill>
                          <a:latin typeface="Times New Roman"/>
                          <a:ea typeface="Times New Roman"/>
                          <a:cs typeface="Times New Roman"/>
                        </a:rPr>
                        <a:t>≥ $0.0995</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266700">
                <a:tc>
                  <a:txBody>
                    <a:bodyPr lIns="0" tIns="0" rIns="0" bIns="0"/>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Max</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0/39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38</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500" b="0">
                          <a:solidFill>
                            <a:srgbClr val="111111"/>
                          </a:solidFill>
                          <a:latin typeface="Times New Roman"/>
                          <a:ea typeface="Times New Roman"/>
                          <a:cs typeface="Times New Roman"/>
                        </a:rPr>
                        <a:t>≥ $0.2450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770164C-450E-4724-BF61-A374BD500079}"/>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DeepSeek None is partial at 3/39 and excluded. API-equivalent estimates differ from subscription usage.</a:t>
            </a:r>
          </a:p>
        </p:txBody>
      </p:sp>
    </p:spTree>
    <p:extLst>
      <p:ext uri="{BB962C8B-B14F-4D97-AF65-F5344CB8AC3E}">
        <p14:creationId xmlns:p14="http://schemas.microsoft.com/office/powerpoint/2010/main" val="18609724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893FD5-19C5-4725-9012-D0BB7596899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collaborator results remain separate</a:t>
            </a:r>
          </a:p>
        </p:txBody>
      </p:sp>
      <p:sp>
        <p:nvSpPr>
          <p:cNvPr id="2" name="">
            <a:extLst xmlns:a="http://schemas.openxmlformats.org/drawingml/2006/main">
              <a:ext uri="{FF2B5EF4-FFF2-40B4-BE49-F238E27FC236}">
                <a16:creationId xmlns:a16="http://schemas.microsoft.com/office/drawing/2014/main" id="{A9CE83C5-C343-47FE-884F-5B1A3DB6AEEC}"/>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390 published no-hint trials on the matching 13-task snapshot.</a:t>
            </a:r>
          </a:p>
        </p:txBody>
      </p:sp>
      <p:sp>
        <p:nvSpPr>
          <p:cNvPr id="3" name="">
            <a:extLst xmlns:a="http://schemas.openxmlformats.org/drawingml/2006/main">
              <a:ext uri="{FF2B5EF4-FFF2-40B4-BE49-F238E27FC236}">
                <a16:creationId xmlns:a16="http://schemas.microsoft.com/office/drawing/2014/main" id="{32E3F1E8-36E8-41EF-BF64-0E3B2B63708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13</a:t>
            </a:r>
          </a:p>
        </p:txBody>
      </p:sp>
      <p:graphicFrame>
        <p:nvGraphicFramePr>
          <p:cNvPr id="4" name="">
            <a:extLst xmlns:a="http://schemas.openxmlformats.org/drawingml/2006/main">
              <a:ext uri="{FF2B5EF4-FFF2-40B4-BE49-F238E27FC236}">
                <a16:creationId xmlns:a16="http://schemas.microsoft.com/office/drawing/2014/main" id="{5EDF9B84-3334-481C-BFF7-0D6D373040C2}"/>
              </a:ext>
            </a:extLst>
          </p:cNvPr>
          <p:cNvGraphicFramePr/>
          <p:nvPr/>
        </p:nvGraphicFramePr>
        <p:xfrm>
          <a:off xmlns:a="http://schemas.openxmlformats.org/drawingml/2006/main" x="457200" y="1657350"/>
          <a:ext xmlns:a="http://schemas.openxmlformats.org/drawingml/2006/main" cx="11277600" cy="3876675"/>
        </p:xfrm>
        <a:graphic xmlns:a="http://schemas.openxmlformats.org/drawingml/2006/main">
          <a:graphicData uri="http://schemas.openxmlformats.org/drawingml/2006/table">
            <a:tbl>
              <a:tblPr/>
              <a:tblGrid>
                <a:gridCol w="4083948"/>
                <a:gridCol w="2755435"/>
                <a:gridCol w="2263393"/>
                <a:gridCol w="2174825"/>
              </a:tblGrid>
              <a:tr h="352425">
                <a:tc>
                  <a:txBody>
                    <a:bodyPr lIns="0" tIns="0" rIns="0" bIns="0"/>
                    <a:lstStyle/>
                    <a:p>
                      <a:r>
                        <a:rPr sz="18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800" b="1">
                          <a:solidFill>
                            <a:srgbClr val="FFFFFF"/>
                          </a:solidFill>
                          <a:latin typeface="Times New Roman"/>
                          <a:ea typeface="Times New Roman"/>
                          <a:cs typeface="Times New Roman"/>
                        </a:rPr>
                        <a:t>Effort</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800" b="1">
                          <a:solidFill>
                            <a:srgbClr val="FFFFFF"/>
                          </a:solidFill>
                          <a:latin typeface="Times New Roman"/>
                          <a:ea typeface="Times New Roman"/>
                          <a:cs typeface="Times New Roman"/>
                        </a:rPr>
                        <a:t>Passes / 39</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lIns="0" tIns="0" rIns="0" bIns="0"/>
                    <a:lstStyle/>
                    <a:p>
                      <a:r>
                        <a:rPr sz="1800" b="1">
                          <a:solidFill>
                            <a:srgbClr val="FFFFFF"/>
                          </a:solidFill>
                          <a:latin typeface="Times New Roman"/>
                          <a:ea typeface="Times New Roman"/>
                          <a:cs typeface="Times New Roman"/>
                        </a:rPr>
                        <a:t>Execution errors</a:t>
                      </a:r>
                    </a:p>
                  </a:txBody>
                  <a:tcPr marL="114300" marR="114300" marT="19050" marB="19050" anchor="ctr">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None</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1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Medium</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High</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4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1</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Extra High</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6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1</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Max</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8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24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Sol</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Medium</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31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r h="352425">
                <a:tc>
                  <a:txBody>
                    <a:bodyPr lIns="0" tIns="0" rIns="0" bIns="0"/>
                    <a:lstStyle/>
                    <a:p>
                      <a:r>
                        <a:rPr sz="18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Low</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5 / 39</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FFFFF"/>
                    </a:solidFill>
                  </a:tcPr>
                </a:tc>
              </a:tr>
              <a:tr h="352425">
                <a:tc>
                  <a:txBody>
                    <a:bodyPr lIns="0" tIns="0" rIns="0" bIns="0"/>
                    <a:lstStyle/>
                    <a:p>
                      <a:r>
                        <a:rPr sz="18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Medium</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5 / 39</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c>
                  <a:txBody>
                    <a:bodyPr lIns="0" tIns="0" rIns="0" bIns="0"/>
                    <a:lstStyle/>
                    <a:p>
                      <a:r>
                        <a:rPr sz="1800" b="0">
                          <a:solidFill>
                            <a:srgbClr val="111111"/>
                          </a:solidFill>
                          <a:latin typeface="Times New Roman"/>
                          <a:ea typeface="Times New Roman"/>
                          <a:cs typeface="Times New Roman"/>
                        </a:rPr>
                        <a:t>0</a:t>
                      </a:r>
                    </a:p>
                  </a:txBody>
                  <a:tcPr marL="114300" marR="114300" marT="19050" marB="19050" anchor="ctr">
                    <a:lnR w="5715">
                      <a:solidFill>
                        <a:srgbClr val="C7CBD1"/>
                      </a:solidFill>
                      <a:prstDash val="solid"/>
                    </a:lnR>
                    <a:lnB w="5715">
                      <a:solidFill>
                        <a:srgbClr val="C7CBD1"/>
                      </a:solidFill>
                      <a:prstDash val="solid"/>
                    </a:lnB>
                    <a:solidFill>
                      <a:srgbClr val="F3F4F6"/>
                    </a:solidFill>
                  </a:tcPr>
                </a:tc>
              </a:tr>
            </a:tbl>
          </a:graphicData>
        </a:graphic>
      </p:graphicFrame>
      <p:sp>
        <p:nvSpPr>
          <p:cNvPr id="5" name="">
            <a:extLst xmlns:a="http://schemas.openxmlformats.org/drawingml/2006/main">
              <a:ext uri="{FF2B5EF4-FFF2-40B4-BE49-F238E27FC236}">
                <a16:creationId xmlns:a16="http://schemas.microsoft.com/office/drawing/2014/main" id="{116D0D02-17BA-4929-B054-012E70EF32FB}"/>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Codex 0.154.0 and concurrency 4, versus 0.160.0 and concurrency 3 locally. Model generations are distinct.</a:t>
            </a:r>
          </a:p>
        </p:txBody>
      </p:sp>
    </p:spTree>
    <p:extLst>
      <p:ext uri="{BB962C8B-B14F-4D97-AF65-F5344CB8AC3E}">
        <p14:creationId xmlns:p14="http://schemas.microsoft.com/office/powerpoint/2010/main" val="20268277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6BA0FF3-04EA-4212-BFD6-BA0891C308E1}"/>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2" name="">
            <a:extLst xmlns:a="http://schemas.openxmlformats.org/drawingml/2006/main">
              <a:ext uri="{FF2B5EF4-FFF2-40B4-BE49-F238E27FC236}">
                <a16:creationId xmlns:a16="http://schemas.microsoft.com/office/drawing/2014/main" id="{4BF6459B-0E86-4649-80A6-970E6685C675}"/>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i="0">
                <a:solidFill>
                  <a:srgbClr val="777777"/>
                </a:solidFill>
                <a:latin typeface="Times New Roman"/>
                <a:ea typeface="Times New Roman"/>
                <a:cs typeface="Times New Roman"/>
              </a:defRPr>
            </a:defPPr>
          </a:lstStyle>
          <a:p xmlns:a="http://schemas.openxmlformats.org/drawingml/2006/main">
            <a:pPr algn="l">
              <a:buNone/>
              <a:defRPr sz="1200" b="0" i="0">
                <a:solidFill>
                  <a:srgbClr val="777777"/>
                </a:solidFill>
                <a:latin typeface="Times New Roman"/>
                <a:ea typeface="Times New Roman"/>
                <a:cs typeface="Times New Roman"/>
              </a:defRPr>
            </a:pPr>
            <a:r>
              <a:rPr sz="1200" b="0" i="0">
                <a:solidFill>
                  <a:srgbClr val="777777"/>
                </a:solidFill>
                <a:latin typeface="Times New Roman"/>
                <a:ea typeface="Times New Roman"/>
                <a:cs typeface="Times New Roman"/>
              </a:rPr>
              <a:t>14</a:t>
            </a:r>
          </a:p>
        </p:txBody>
      </p:sp>
      <p:sp>
        <p:nvSpPr>
          <p:cNvPr id="3" name="">
            <a:extLst xmlns:a="http://schemas.openxmlformats.org/drawingml/2006/main">
              <a:ext uri="{FF2B5EF4-FFF2-40B4-BE49-F238E27FC236}">
                <a16:creationId xmlns:a16="http://schemas.microsoft.com/office/drawing/2014/main" id="{1B617954-181A-4A23-BF2D-053035054F7D}"/>
              </a:ext>
            </a:extLst>
          </p:cNvPr>
          <p:cNvSpPr>
            <a:spLocks xmlns:a="http://schemas.openxmlformats.org/drawingml/2006/main" noGrp="1"/>
          </p:cNvSpPr>
          <p:nvPr/>
        </p:nvSpPr>
        <p:spPr>
          <a:xfrm xmlns:a="http://schemas.openxmlformats.org/drawingml/2006/main">
            <a:off x="4572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
            <a:extLst xmlns:a="http://schemas.openxmlformats.org/drawingml/2006/main">
              <a:ext uri="{FF2B5EF4-FFF2-40B4-BE49-F238E27FC236}">
                <a16:creationId xmlns:a16="http://schemas.microsoft.com/office/drawing/2014/main" id="{E184659C-ED43-48C5-9DD3-A617939BA21B}"/>
              </a:ext>
            </a:extLst>
          </p:cNvPr>
          <p:cNvSpPr>
            <a:spLocks xmlns:a="http://schemas.openxmlformats.org/drawingml/2006/main" noGrp="1"/>
          </p:cNvSpPr>
          <p:nvPr/>
        </p:nvSpPr>
        <p:spPr>
          <a:xfrm xmlns:a="http://schemas.openxmlformats.org/drawingml/2006/main">
            <a:off x="4572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
            <a:extLst xmlns:a="http://schemas.openxmlformats.org/drawingml/2006/main">
              <a:ext uri="{FF2B5EF4-FFF2-40B4-BE49-F238E27FC236}">
                <a16:creationId xmlns:a16="http://schemas.microsoft.com/office/drawing/2014/main" id="{ACEAC897-E548-4A51-9467-D4512B3E482F}"/>
              </a:ext>
            </a:extLst>
          </p:cNvPr>
          <p:cNvSpPr>
            <a:spLocks xmlns:a="http://schemas.openxmlformats.org/drawingml/2006/main" noGrp="1"/>
          </p:cNvSpPr>
          <p:nvPr/>
        </p:nvSpPr>
        <p:spPr>
          <a:xfrm xmlns:a="http://schemas.openxmlformats.org/drawingml/2006/main">
            <a:off x="4572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
            <a:extLst xmlns:a="http://schemas.openxmlformats.org/drawingml/2006/main">
              <a:ext uri="{FF2B5EF4-FFF2-40B4-BE49-F238E27FC236}">
                <a16:creationId xmlns:a16="http://schemas.microsoft.com/office/drawing/2014/main" id="{8109EB7F-43D7-488D-8A62-D803A593F497}"/>
              </a:ext>
            </a:extLst>
          </p:cNvPr>
          <p:cNvSpPr>
            <a:spLocks xmlns:a="http://schemas.openxmlformats.org/drawingml/2006/main" noGrp="1"/>
          </p:cNvSpPr>
          <p:nvPr/>
        </p:nvSpPr>
        <p:spPr>
          <a:xfrm xmlns:a="http://schemas.openxmlformats.org/drawingml/2006/main">
            <a:off x="4572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
            <a:extLst xmlns:a="http://schemas.openxmlformats.org/drawingml/2006/main">
              <a:ext uri="{FF2B5EF4-FFF2-40B4-BE49-F238E27FC236}">
                <a16:creationId xmlns:a16="http://schemas.microsoft.com/office/drawing/2014/main" id="{FFB1FA39-94CE-431E-9645-61A0CC786757}"/>
              </a:ext>
            </a:extLst>
          </p:cNvPr>
          <p:cNvSpPr>
            <a:spLocks xmlns:a="http://schemas.openxmlformats.org/drawingml/2006/main" noGrp="1"/>
          </p:cNvSpPr>
          <p:nvPr/>
        </p:nvSpPr>
        <p:spPr>
          <a:xfrm xmlns:a="http://schemas.openxmlformats.org/drawingml/2006/main">
            <a:off x="4572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
            <a:extLst xmlns:a="http://schemas.openxmlformats.org/drawingml/2006/main">
              <a:ext uri="{FF2B5EF4-FFF2-40B4-BE49-F238E27FC236}">
                <a16:creationId xmlns:a16="http://schemas.microsoft.com/office/drawing/2014/main" id="{C417F617-88C4-4E5F-8408-0643D2B6A682}"/>
              </a:ext>
            </a:extLst>
          </p:cNvPr>
          <p:cNvSpPr>
            <a:spLocks xmlns:a="http://schemas.openxmlformats.org/drawingml/2006/main" noGrp="1"/>
          </p:cNvSpPr>
          <p:nvPr/>
        </p:nvSpPr>
        <p:spPr>
          <a:xfrm xmlns:a="http://schemas.openxmlformats.org/drawingml/2006/main">
            <a:off x="4572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
            <a:extLst xmlns:a="http://schemas.openxmlformats.org/drawingml/2006/main">
              <a:ext uri="{FF2B5EF4-FFF2-40B4-BE49-F238E27FC236}">
                <a16:creationId xmlns:a16="http://schemas.microsoft.com/office/drawing/2014/main" id="{911F5FFF-8663-471A-98CE-29B1F1D9B568}"/>
              </a:ext>
            </a:extLst>
          </p:cNvPr>
          <p:cNvSpPr>
            <a:spLocks xmlns:a="http://schemas.openxmlformats.org/drawingml/2006/main" noGrp="1"/>
          </p:cNvSpPr>
          <p:nvPr/>
        </p:nvSpPr>
        <p:spPr>
          <a:xfrm xmlns:a="http://schemas.openxmlformats.org/drawingml/2006/main">
            <a:off x="457200" y="4619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
            <a:extLst xmlns:a="http://schemas.openxmlformats.org/drawingml/2006/main">
              <a:ext uri="{FF2B5EF4-FFF2-40B4-BE49-F238E27FC236}">
                <a16:creationId xmlns:a16="http://schemas.microsoft.com/office/drawing/2014/main" id="{B86DA223-D697-451A-A51A-91BE7366B2E3}"/>
              </a:ext>
            </a:extLst>
          </p:cNvPr>
          <p:cNvSpPr>
            <a:spLocks xmlns:a="http://schemas.openxmlformats.org/drawingml/2006/main" noGrp="1"/>
          </p:cNvSpPr>
          <p:nvPr/>
        </p:nvSpPr>
        <p:spPr>
          <a:xfrm xmlns:a="http://schemas.openxmlformats.org/drawingml/2006/main">
            <a:off x="63627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
            <a:extLst xmlns:a="http://schemas.openxmlformats.org/drawingml/2006/main">
              <a:ext uri="{FF2B5EF4-FFF2-40B4-BE49-F238E27FC236}">
                <a16:creationId xmlns:a16="http://schemas.microsoft.com/office/drawing/2014/main" id="{7808C839-AEFA-4D36-B29C-420F636341B5}"/>
              </a:ext>
            </a:extLst>
          </p:cNvPr>
          <p:cNvSpPr>
            <a:spLocks xmlns:a="http://schemas.openxmlformats.org/drawingml/2006/main" noGrp="1"/>
          </p:cNvSpPr>
          <p:nvPr/>
        </p:nvSpPr>
        <p:spPr>
          <a:xfrm xmlns:a="http://schemas.openxmlformats.org/drawingml/2006/main">
            <a:off x="63627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
            <a:extLst xmlns:a="http://schemas.openxmlformats.org/drawingml/2006/main">
              <a:ext uri="{FF2B5EF4-FFF2-40B4-BE49-F238E27FC236}">
                <a16:creationId xmlns:a16="http://schemas.microsoft.com/office/drawing/2014/main" id="{7A716844-98DE-4D97-BD8E-850B5CC8A603}"/>
              </a:ext>
            </a:extLst>
          </p:cNvPr>
          <p:cNvSpPr>
            <a:spLocks xmlns:a="http://schemas.openxmlformats.org/drawingml/2006/main" noGrp="1"/>
          </p:cNvSpPr>
          <p:nvPr/>
        </p:nvSpPr>
        <p:spPr>
          <a:xfrm xmlns:a="http://schemas.openxmlformats.org/drawingml/2006/main">
            <a:off x="63627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
            <a:extLst xmlns:a="http://schemas.openxmlformats.org/drawingml/2006/main">
              <a:ext uri="{FF2B5EF4-FFF2-40B4-BE49-F238E27FC236}">
                <a16:creationId xmlns:a16="http://schemas.microsoft.com/office/drawing/2014/main" id="{8E313484-B01D-4662-9B77-A526F38FCA36}"/>
              </a:ext>
            </a:extLst>
          </p:cNvPr>
          <p:cNvSpPr>
            <a:spLocks xmlns:a="http://schemas.openxmlformats.org/drawingml/2006/main" noGrp="1"/>
          </p:cNvSpPr>
          <p:nvPr/>
        </p:nvSpPr>
        <p:spPr>
          <a:xfrm xmlns:a="http://schemas.openxmlformats.org/drawingml/2006/main">
            <a:off x="63627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
            <a:extLst xmlns:a="http://schemas.openxmlformats.org/drawingml/2006/main">
              <a:ext uri="{FF2B5EF4-FFF2-40B4-BE49-F238E27FC236}">
                <a16:creationId xmlns:a16="http://schemas.microsoft.com/office/drawing/2014/main" id="{CB4180C1-0E47-4AC5-8EB7-942852E1E2D0}"/>
              </a:ext>
            </a:extLst>
          </p:cNvPr>
          <p:cNvSpPr>
            <a:spLocks xmlns:a="http://schemas.openxmlformats.org/drawingml/2006/main" noGrp="1"/>
          </p:cNvSpPr>
          <p:nvPr/>
        </p:nvSpPr>
        <p:spPr>
          <a:xfrm xmlns:a="http://schemas.openxmlformats.org/drawingml/2006/main">
            <a:off x="63627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
            <a:extLst xmlns:a="http://schemas.openxmlformats.org/drawingml/2006/main">
              <a:ext uri="{FF2B5EF4-FFF2-40B4-BE49-F238E27FC236}">
                <a16:creationId xmlns:a16="http://schemas.microsoft.com/office/drawing/2014/main" id="{A97A6698-C261-42DF-A038-2BFF43D3125B}"/>
              </a:ext>
            </a:extLst>
          </p:cNvPr>
          <p:cNvSpPr>
            <a:spLocks xmlns:a="http://schemas.openxmlformats.org/drawingml/2006/main" noGrp="1"/>
          </p:cNvSpPr>
          <p:nvPr/>
        </p:nvSpPr>
        <p:spPr>
          <a:xfrm xmlns:a="http://schemas.openxmlformats.org/drawingml/2006/main">
            <a:off x="63627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
            <a:extLst xmlns:a="http://schemas.openxmlformats.org/drawingml/2006/main">
              <a:ext uri="{FF2B5EF4-FFF2-40B4-BE49-F238E27FC236}">
                <a16:creationId xmlns:a16="http://schemas.microsoft.com/office/drawing/2014/main" id="{ABF92BC6-A106-4C0F-883D-9CF630DDC338}"/>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Tree>
    <p:extLst>
      <p:ext uri="{BB962C8B-B14F-4D97-AF65-F5344CB8AC3E}">
        <p14:creationId xmlns:p14="http://schemas.microsoft.com/office/powerpoint/2010/main" val="1828126196"/>
      </p:ext>
    </p:extLst>
  </p:cSld>
</p:sld>
</file>

<file path=ppt/theme/theme1.xml><?xml version="1.0" encoding="utf-8"?>
<a:theme xmlns:a="http://schemas.openxmlformats.org/drawingml/2006/main" name="ChatGPT">
  <a:themeElements>
    <a:clrScheme name="Committee — Times New Roman">
      <a:dk1>
        <a:srgbClr val="0B0B0F"/>
      </a:dk1>
      <a:lt1>
        <a:srgbClr val="FFFFFF"/>
      </a:lt1>
      <a:dk2>
        <a:srgbClr val="374151"/>
      </a:dk2>
      <a:lt2>
        <a:srgbClr val="F3F4F6"/>
      </a:lt2>
      <a:accent1>
        <a:srgbClr val="1D4E89"/>
      </a:accent1>
      <a:accent2>
        <a:srgbClr val="0F766E"/>
      </a:accent2>
      <a:accent3>
        <a:srgbClr val="B45309"/>
      </a:accent3>
      <a:accent4>
        <a:srgbClr val="A50026"/>
      </a:accent4>
      <a:accent5>
        <a:srgbClr val="5B4B7C"/>
      </a:accent5>
      <a:accent6>
        <a:srgbClr val="777777"/>
      </a:accent6>
      <a:hlink>
        <a:srgbClr val="1D4E89"/>
      </a:hlink>
      <a:folHlink>
        <a:srgbClr val="5B4B7C"/>
      </a:folHlink>
    </a:clrScheme>
    <a:fontScheme name="">
      <a:majorFont>
        <a:latin typeface="Times New Roman"/>
        <a:ea typeface=""/>
        <a:cs typeface=""/>
      </a:majorFont>
      <a:minorFont>
        <a:latin typeface="Times New Roman"/>
        <a:ea typeface=""/>
        <a:cs typeface=""/>
      </a:minorFont>
    </a:fontScheme>
    <a:fmtScheme name="Committee — Times New Roma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2026-10-15T03:08:31.2910000Z</dcterms:created>
  <dcterms:modified xsi:type="dcterms:W3CDTF">2026-10-15T03:08:31.2910000Z</dcterms:modified>
</coreProperties>
</file>