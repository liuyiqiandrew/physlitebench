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fd227079f144bb5" /><Relationship Type="http://schemas.openxmlformats.org/officeDocument/2006/relationships/extended-properties" Target="/docProps/app.xml" Id="Rad1ff78c2ac6438a" /><Relationship Type="http://schemas.openxmlformats.org/officeDocument/2006/relationships/officeDocument" Target="/ppt/presentation.xml" Id="Rce0b1c6eace44a28" /></Relationships>
</file>

<file path=ppt/presentation.xml><?xml version="1.0" encoding="utf-8"?>
<p:presentation xmlns:p="http://schemas.openxmlformats.org/presentationml/2006/main">
  <p:sldMasterIdLst>
    <p:sldMasterId xmlns:r="http://schemas.openxmlformats.org/officeDocument/2006/relationships" id="2147483648" r:id="Re2bf9ba57a034b19"/>
  </p:sldMasterIdLst>
  <p:notesMasterIdLst>
    <p:notesMasterId xmlns:r="http://schemas.openxmlformats.org/officeDocument/2006/relationships" r:id="R1e8c63abe91d438e"/>
  </p:notesMasterIdLst>
  <p:sldIdLst>
    <p:sldId xmlns:r="http://schemas.openxmlformats.org/officeDocument/2006/relationships" id="256" r:id="Rfb0a1f4ba29e43ea"/>
    <p:sldId xmlns:r="http://schemas.openxmlformats.org/officeDocument/2006/relationships" id="257" r:id="R1b0ca19ea0364cce"/>
    <p:sldId xmlns:r="http://schemas.openxmlformats.org/officeDocument/2006/relationships" id="258" r:id="R72abdd5b83de42cf"/>
    <p:sldId xmlns:r="http://schemas.openxmlformats.org/officeDocument/2006/relationships" id="259" r:id="Raa3df8da6356453d"/>
    <p:sldId xmlns:r="http://schemas.openxmlformats.org/officeDocument/2006/relationships" id="260" r:id="R31963c4418d747fa"/>
    <p:sldId xmlns:r="http://schemas.openxmlformats.org/officeDocument/2006/relationships" id="261" r:id="Rf7da646771e74786"/>
    <p:sldId xmlns:r="http://schemas.openxmlformats.org/officeDocument/2006/relationships" id="262" r:id="Rabbe9d839e464b77"/>
    <p:sldId xmlns:r="http://schemas.openxmlformats.org/officeDocument/2006/relationships" id="263" r:id="R4b239f0f66a84a90"/>
    <p:sldId xmlns:r="http://schemas.openxmlformats.org/officeDocument/2006/relationships" id="264" r:id="R730d62effb934252"/>
    <p:sldId xmlns:r="http://schemas.openxmlformats.org/officeDocument/2006/relationships" id="265" r:id="Rfc317bdff6544322"/>
    <p:sldId xmlns:r="http://schemas.openxmlformats.org/officeDocument/2006/relationships" id="266" r:id="R17fb86c7973d45c6"/>
    <p:sldId xmlns:r="http://schemas.openxmlformats.org/officeDocument/2006/relationships" id="267" r:id="R4372d96215284e03"/>
    <p:sldId xmlns:r="http://schemas.openxmlformats.org/officeDocument/2006/relationships" id="268" r:id="R081cd43598214666"/>
    <p:sldId xmlns:r="http://schemas.openxmlformats.org/officeDocument/2006/relationships" id="269" r:id="Ra541a36bb6584ed2"/>
    <p:sldId xmlns:r="http://schemas.openxmlformats.org/officeDocument/2006/relationships" id="270" r:id="R5ef40e8c006f45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94ed88a1a74522" /><Relationship Type="http://schemas.openxmlformats.org/officeDocument/2006/relationships/slideMaster" Target="/ppt/slideMasters/slideMaster1.xml" Id="Re2bf9ba57a034b19" /><Relationship Type="http://schemas.openxmlformats.org/officeDocument/2006/relationships/notesMaster" Target="/ppt/notesMasters/notesMaster1.xml" Id="R1e8c63abe91d438e" /><Relationship Type="http://schemas.openxmlformats.org/officeDocument/2006/relationships/presProps" Target="/ppt/presProps.xml" Id="R62317c750c7242e6" /><Relationship Type="http://schemas.openxmlformats.org/officeDocument/2006/relationships/tableStyles" Target="/ppt/tableStyles.xml" Id="R265867a370d04db6" /><Relationship Type="http://schemas.openxmlformats.org/officeDocument/2006/relationships/slide" Target="/ppt/slides/slide1.xml" Id="Rfb0a1f4ba29e43ea" /><Relationship Type="http://schemas.openxmlformats.org/officeDocument/2006/relationships/slide" Target="/ppt/slides/slide2.xml" Id="R1b0ca19ea0364cce" /><Relationship Type="http://schemas.openxmlformats.org/officeDocument/2006/relationships/slide" Target="/ppt/slides/slide3.xml" Id="R72abdd5b83de42cf" /><Relationship Type="http://schemas.openxmlformats.org/officeDocument/2006/relationships/slide" Target="/ppt/slides/slide4.xml" Id="Raa3df8da6356453d" /><Relationship Type="http://schemas.openxmlformats.org/officeDocument/2006/relationships/slide" Target="/ppt/slides/slide5.xml" Id="R31963c4418d747fa" /><Relationship Type="http://schemas.openxmlformats.org/officeDocument/2006/relationships/slide" Target="/ppt/slides/slide6.xml" Id="Rf7da646771e74786" /><Relationship Type="http://schemas.openxmlformats.org/officeDocument/2006/relationships/slide" Target="/ppt/slides/slide7.xml" Id="Rabbe9d839e464b77" /><Relationship Type="http://schemas.openxmlformats.org/officeDocument/2006/relationships/slide" Target="/ppt/slides/slide8.xml" Id="R4b239f0f66a84a90" /><Relationship Type="http://schemas.openxmlformats.org/officeDocument/2006/relationships/slide" Target="/ppt/slides/slide9.xml" Id="R730d62effb934252" /><Relationship Type="http://schemas.openxmlformats.org/officeDocument/2006/relationships/slide" Target="/ppt/slides/slide10.xml" Id="Rfc317bdff6544322" /><Relationship Type="http://schemas.openxmlformats.org/officeDocument/2006/relationships/slide" Target="/ppt/slides/slide11.xml" Id="R17fb86c7973d45c6" /><Relationship Type="http://schemas.openxmlformats.org/officeDocument/2006/relationships/slide" Target="/ppt/slides/slide12.xml" Id="R4372d96215284e03" /><Relationship Type="http://schemas.openxmlformats.org/officeDocument/2006/relationships/slide" Target="/ppt/slides/slide13.xml" Id="R081cd43598214666" /><Relationship Type="http://schemas.openxmlformats.org/officeDocument/2006/relationships/slide" Target="/ppt/slides/slide14.xml" Id="Ra541a36bb6584ed2" /><Relationship Type="http://schemas.openxmlformats.org/officeDocument/2006/relationships/slide" Target="/ppt/slides/slide15.xml" Id="R5ef40e8c006f45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78b50c051244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8d7373f72d401c" /><Relationship Type="http://schemas.openxmlformats.org/officeDocument/2006/relationships/notesMaster" Target="/ppt/notesMasters/notesMaster1.xml" Id="R397f613006204a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11b2fc4034bc3" /><Relationship Type="http://schemas.openxmlformats.org/officeDocument/2006/relationships/notesMaster" Target="/ppt/notesMasters/notesMaster1.xml" Id="R921b2de601fb42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f6ee858c1d4667" /><Relationship Type="http://schemas.openxmlformats.org/officeDocument/2006/relationships/notesMaster" Target="/ppt/notesMasters/notesMaster1.xml" Id="R691291d2f24c40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25576473e14b4a" /><Relationship Type="http://schemas.openxmlformats.org/officeDocument/2006/relationships/notesMaster" Target="/ppt/notesMasters/notesMaster1.xml" Id="R8ed0ee7ceae841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e90d8f3efd4d74" /><Relationship Type="http://schemas.openxmlformats.org/officeDocument/2006/relationships/notesMaster" Target="/ppt/notesMasters/notesMaster1.xml" Id="Raa9dc4d8ba8f42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278411c15e4135" /><Relationship Type="http://schemas.openxmlformats.org/officeDocument/2006/relationships/notesMaster" Target="/ppt/notesMasters/notesMaster1.xml" Id="Rbdb3a7d2af9448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8590c65c1b4544" /><Relationship Type="http://schemas.openxmlformats.org/officeDocument/2006/relationships/notesMaster" Target="/ppt/notesMasters/notesMaster1.xml" Id="R8208be478a5845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2df2eafffd40f3" /><Relationship Type="http://schemas.openxmlformats.org/officeDocument/2006/relationships/notesMaster" Target="/ppt/notesMasters/notesMaster1.xml" Id="R2adce58acdab48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c7b803176d42ae" /><Relationship Type="http://schemas.openxmlformats.org/officeDocument/2006/relationships/notesMaster" Target="/ppt/notesMasters/notesMaster1.xml" Id="R48ddff1ac16e47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99f9b290d04c44" /><Relationship Type="http://schemas.openxmlformats.org/officeDocument/2006/relationships/notesMaster" Target="/ppt/notesMasters/notesMaster1.xml" Id="Rff641e211a0a42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bc3eac02f047a3" /><Relationship Type="http://schemas.openxmlformats.org/officeDocument/2006/relationships/notesMaster" Target="/ppt/notesMasters/notesMaster1.xml" Id="R63fa8a9b02ad4a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8a0e3d26dc41e7" /><Relationship Type="http://schemas.openxmlformats.org/officeDocument/2006/relationships/notesMaster" Target="/ppt/notesMasters/notesMaster1.xml" Id="Rbdd8d169dd264d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8bfa94fa084da5" /><Relationship Type="http://schemas.openxmlformats.org/officeDocument/2006/relationships/notesMaster" Target="/ppt/notesMasters/notesMaster1.xml" Id="R499d8c7d7f2a48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1f3dae73bf4cef" /><Relationship Type="http://schemas.openxmlformats.org/officeDocument/2006/relationships/notesMaster" Target="/ppt/notesMasters/notesMaster1.xml" Id="R53d3b5ffb65f41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10ae4fce00447c" /><Relationship Type="http://schemas.openxmlformats.org/officeDocument/2006/relationships/notesMaster" Target="/ppt/notesMasters/notesMaster1.xml" Id="R1f4cb8d6a09b4a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This study asks how much reliable physics coding we get for the model compute we spend. I will show the cost–success frontier on thirteen frozen tasks, then use saved tool actions and final programs to locate failure modes. A separate experiment is testing whether general and physics hints change these outcomes.</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benchmark separates parameter fitting from physical extrapolation. The agent receives an apparatus description, calibration observations, a starter program and public tests. The hidden evaluator checks the fit and parameter, but also asks for behavior beyond the calibration regime. A successful numerical fit can therefore coexist with an incorrect physical model. The thirteen tasks include transport, stochastic dynamics, constrained fluctuations and quantum or statistical systems. Private tests, reference solutions and physics hints stay outside the ordinary agent image. One important limitation is task selection: the roster was developed against GPT-5.6 Luna. We should interpret this as a deliberately challenging selected suite, not a random sample of all physics problems. A historical zero out of three selection result is also not a permanent guarantee of failure.</a:t>
            </a:r>
          </a:p>
          <a:p xmlns:a="http://schemas.openxmlformats.org/drawingml/2006/main">
            <a:r>
              <a:t/>
            </a:r>
          </a:p>
          <a:p xmlns:a="http://schemas.openxmlformats.org/drawingml/2006/main">
            <a:r>
              <a:t>Sources:</a:t>
            </a:r>
          </a:p>
          <a:p xmlns:a="http://schemas.openxmlformats.org/drawingml/2006/main">
            <a:r>
              <a:t>/Users/yp9846/Desktop/PhysLiteBench/AGENTS.md</a:t>
            </a:r>
          </a:p>
          <a:p xmlns:a="http://schemas.openxmlformats.org/drawingml/2006/main">
            <a:r>
              <a:t>/Users/yp9846/Desktop/PhysLiteBench/results/task-roster.json</a:t>
            </a:r>
          </a:p>
          <a:p xmlns:a="http://schemas.openxmlformats.org/drawingml/2006/main">
            <a:r>
              <a:t>/Users/yp9846/Desktop/PhysLiteBench/TASKS.md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The complete comparison has fifteen settings and thirty-nine started attempts per setting, for five hundred eighty-five attempts. There are another three DeepSeek None observations, which are excluded from the complete-panel plots. All complete settings use the same Codex client and the same ten-minute agent and one-minute verifier budgets. Low and Extra High are fresh cohorts. The OpenAI High settings reuse thirty matching trials from the earlier ten-task comparison and add nine for the new tasks. The primary success metric requires normal completion and passing verification. A passing checkpoint saved before a timeout does not change that score. Costs are token-based API-equivalent estimates, not subscription charges.</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a:p xmlns:a="http://schemas.openxmlformats.org/drawingml/2006/main">
            <a:r>
              <a:t>/Users/yp9846/Desktop/PhysLiteBench/results/reasoning-sweep-20261011/summary.csv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90 seconds.</a:t>
            </a:r>
          </a:p>
          <a:p xmlns:a="http://schemas.openxmlformats.org/drawingml/2006/main">
            <a:r>
              <a:t/>
            </a:r>
          </a:p>
          <a:p xmlns:a="http://schemas.openxmlformats.org/drawingml/2006/main">
            <a:r>
              <a:t>The vertical axis is the fraction of completed passes and the horizontal axis is estimated API cost per attempt. Upper left is desirable. The dashed curve connects settings that no other eligible setting beats on both cost and observed success. Four settings lie on this observed frontier. GPT-6 Luna Low costs about four tenths of a cent per attempt and passes four of thirty-nine. Luna Extra High increases that to twelve passes for about one point three cents. GPT-6 Sol Low passes thirty-seven at about seven point seven cents. Sol High reaches thirty-nine at about nineteen point eight cents. Sol Extra High and Astra cost more without improving the observed score over Sol High on this suite. The low-cost Luna points cluster at the left edge, so the adjacent table gives their exact coordinates. DeepSeek is shown for context, but its interrupted requests make these costs lower bounds, and those points do not enter the exact-cost frontier. This is an empirical frontier on a selected suite, not a universal model ranking. Three repeats per task give limited precision, and normal completion is part of the metric.</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Here the cost axis is removed to show the relationship between configured effort and completed success. Terra improves from four to nine to nineteen passes, and Luna improves substantially at Extra High, although its Low-to-High change goes the other way. These are small samples, and the High cohort includes earlier observations, so I would not claim a precise causal response to the effort setting. Sol already performs strongly at Low. Astra Extra High drops from thirty-nine to thirty-seven completed passes because two attempts time out. Both saved checkpoints pass the verifier, so the apparent loss is about completing inside the prescribed budget. Keeping the original metric avoids changing the rules after seeing the result. That distinction motivates the trajectory analysis.</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p>
          <a:p xmlns:a="http://schemas.openxmlformats.org/drawingml/2006/main">
            <a:r>
              <a:t>The stacked bars aggregate three complete effort settings per model, so every row contains one hundred seventeen attempts. Green means normal completion with a pass. Gold means the agent completed, fit calibration and the parameter correctly, and failed only hidden predictions. Almost every normally completed failure is in that category: one hundred eighty-six of one hundred ninety-one, or ninety-seven point four percent. At least one hundred forty-one of those also show a public-test pass in the tool record. This is strong evidence that fitting and public tests do not validate the extrapolated model. DeepSeek has a different dominant bottleneck: one hundred five execution errors in one hundred seventeen attempts, including eighty-three timeouts. Only twelve attempts complete normally, and those twelve fail predictions. A zero pass rate therefore combines physical errors with failures to deliver a completed solution. We must separate those causes before drawing conclusions about physics ability.</a:t>
            </a:r>
          </a:p>
          <a:p xmlns:a="http://schemas.openxmlformats.org/drawingml/2006/main">
            <a:r>
              <a:t/>
            </a: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80 seconds.</a:t>
            </a:r>
          </a:p>
          <a:p xmlns:a="http://schemas.openxmlformats.org/drawingml/2006/main">
            <a:r>
              <a:t/>
            </a:r>
          </a:p>
          <a:p xmlns:a="http://schemas.openxmlformats.org/drawingml/2006/main">
            <a:r>
              <a:t>This case makes the aggregate pattern concrete. In one GPT-6 Luna Low run, the model reads the apparatus, constructs a friction scan, implements a weighted least-squares fit and runs the public tests. Both public tests pass. The saved source shows that the physical predictor is unchanged. In particular, the first correction to the conditional contact population remains identically zero. This matters because equal stationary probabilities for the valve do not guarantee equal position-conditioned contact residence in the finite-mass correction. The final program fits the observed parameter but misses that contribution to the extrapolated entropy response. The largest hidden-group error is seventy-seven point four percent. To check that this is the relevant omission, the diagnostic analysis holds the fitted friction fixed and restores only the population correction in an in-memory copy. The largest tested error then drops below five hundredths of a percent. That intervention supports the failure location in this saved program. It is an analyst diagnosis, not a new model success, and the original reward remains unchanged.</a:t>
            </a:r>
          </a:p>
          <a:p xmlns:a="http://schemas.openxmlformats.org/drawingml/2006/main">
            <a:r>
              <a:t/>
            </a:r>
          </a:p>
          <a:p xmlns:a="http://schemas.openxmlformats.org/drawingml/2006/main">
            <a:r>
              <a:t>Sources:</a:t>
            </a:r>
          </a:p>
          <a:p xmlns:a="http://schemas.openxmlformats.org/drawingml/2006/main">
            <a:r>
              <a:t>/Users/yp9846/Desktop/PhysLiteBench/results/trajectory-analysis-20261014/cases/entropy-anomaly__6yBuZGL/review.json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70 seconds.</a:t>
            </a:r>
          </a:p>
          <a:p xmlns:a="http://schemas.openxmlformats.org/drawingml/2006/main">
            <a:r>
              <a:t/>
            </a:r>
          </a:p>
          <a:p xmlns:a="http://schemas.openxmlformats.org/drawingml/2006/main">
            <a:r>
              <a:t>The same diagnostic procedure was applied to four selected failures. First, it reproduced the saved errors. Then it changed one identified physical ingredient while holding the fitted parameter fixed. For entropy, that is the conditional contact population. For magnetic tracer, it is the mixed diffusion term that couples longitudinal motion and detector noise. For single-file memory, it is the two-time covariance appropriate to deterministic preparation. For reaction–diffusion, it is the charge-conditioned initial covariance instead of independent constituent counts. All tested groups fall below their original tolerances after the correction. This makes the physical diagnosis stronger than a qualitative reading of the source alone. The scope remains limited: these are four chosen cases, and the reaction–diffusion intervention checks only the fluctuation groups. It does not rerun the unchanged mean-transport solver. No benchmark result or submitted source was altered, and these repairs are not additional model passes.</a:t>
            </a:r>
          </a:p>
          <a:p xmlns:a="http://schemas.openxmlformats.org/drawingml/2006/main">
            <a:r>
              <a:t/>
            </a:r>
          </a:p>
          <a:p xmlns:a="http://schemas.openxmlformats.org/drawingml/2006/main">
            <a:r>
              <a:t>Sources:</a:t>
            </a:r>
          </a:p>
          <a:p xmlns:a="http://schemas.openxmlformats.org/drawingml/2006/main">
            <a:r>
              <a:t>/Users/yp9846/Desktop/PhysLiteBench/results/trajectory-analysis-20261014/diagnostic-repairs.json</a:t>
            </a:r>
          </a:p>
          <a:p xmlns:a="http://schemas.openxmlformats.org/drawingml/2006/main">
            <a:r>
              <a:t>/Users/yp9846/Desktop/PhysLiteBench/results/trajectory-analysis-20261014/audit.json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next experiment asks whether guidance helps the agent repair the missing physics. It uses GPT-5.6 Luna, GPT-5.6 Terra and DeepSeek, always at High effort. Please note the generation difference: the earlier frontier used GPT-6 Luna. For each task and model there are three repeats under the original instruction, a general correctness reminder and a task-specific physics hint. The environment, task data and grading remain frozen. The total is three hundred fifty-one observations. To avoid duplicate spending, thirty-eight Luna baseline slots reuse the matching results supplied by our collaborator, and one already completed local baseline is preserved. Those imported trials use an older Codex client, so Luna is a comparison against historical controls, not a perfectly isolated causal hint experiment. The results slide is intentionally empty while the runs continue.</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Reserved for the completed and audited hint comparison. No partial outcomes or estimates are shown. Skip this slide during the current talk. The final timing plan reserves sixty seconds here by shortening the Pareto, failure, trajectory and diagnostic discussions by fifteen seconds each. The result must report pass counts and execution errors separately, retain historical-control labels, and distinguish the GPT-5.6 Luna model from GPT-6 Luna in the original sweep.</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 completed experiments support three conclusions. First, model choice and configured effort create a wide cost–success tradeoff on this frozen suite. The observed frontier reaches high success with GPT-6 Sol Low and High, while lower-cost Luna settings trade away substantial success. Second, a completed program can fit calibration and pass public tests while preserving an inappropriate physical approximation. The trajectory analysis identifies concrete examples, and controlled diagnostic corrections support four of those diagnoses. Third, execution reliability is a separate component of benchmark success, especially in the DeepSeek results and in the Astra Extra High timeouts. These distinctions are useful for interpreting the pending hint study. A gain from a physics hint would be most informative if it changed the final physical implementation, rather than only increasing tool use or time. The current data do not yet tell us whether that happens. The result remains open until the comparison is complete.</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xmlns:a="http://schemas.openxmlformats.org/drawingml/2006/main">
            <a:r>
              <a:t/>
            </a:r>
          </a:p>
          <a:p xmlns:a="http://schemas.openxmlformats.org/drawingml/2006/main">
            <a:r>
              <a:t>Sources:</a:t>
            </a:r>
          </a:p>
          <a:p xmlns:a="http://schemas.openxmlformats.org/drawingml/2006/main">
            <a:r>
              <a:t>/Users/yp9846/Desktop/PhysLiteBench/results/hint-comparison-20261014/imported-friend-results-20261015/import-manifest.json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b8fc0305284a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965d7d921044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5b8900bf0144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d0f0e245fe4b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32bbf5c4c47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7af52e9db1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a0c1be6edf4339" /><Relationship Type="http://schemas.openxmlformats.org/officeDocument/2006/relationships/slideLayout" Target="/ppt/slideLayouts/slideLayout1.xml" Id="Re3cab5ed55cc4f2a" /><Relationship Type="http://schemas.openxmlformats.org/officeDocument/2006/relationships/slideLayout" Target="/ppt/slideLayouts/slideLayout2.xml" Id="Rd02259af4327493a" /><Relationship Type="http://schemas.openxmlformats.org/officeDocument/2006/relationships/slideLayout" Target="/ppt/slideLayouts/slideLayout3.xml" Id="Rfb5f5237f5e34127" /><Relationship Type="http://schemas.openxmlformats.org/officeDocument/2006/relationships/slideLayout" Target="/ppt/slideLayouts/slideLayout4.xml" Id="R62d7fa7eb96f485a" /><Relationship Type="http://schemas.openxmlformats.org/officeDocument/2006/relationships/slideLayout" Target="/ppt/slideLayouts/slideLayout5.xml" Id="R0f325377fe5e4f70" /><Relationship Type="http://schemas.openxmlformats.org/officeDocument/2006/relationships/slideLayout" Target="/ppt/slideLayouts/slideLayout6.xml" Id="R2d391da3fae14c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cab5ed55cc4f2a"/>
    <p:sldLayoutId xmlns:r="http://schemas.openxmlformats.org/officeDocument/2006/relationships" id="2147483650" r:id="Rd02259af4327493a"/>
    <p:sldLayoutId xmlns:r="http://schemas.openxmlformats.org/officeDocument/2006/relationships" id="2147483651" r:id="Rfb5f5237f5e34127"/>
    <p:sldLayoutId xmlns:r="http://schemas.openxmlformats.org/officeDocument/2006/relationships" id="2147483652" r:id="R62d7fa7eb96f485a"/>
    <p:sldLayoutId xmlns:r="http://schemas.openxmlformats.org/officeDocument/2006/relationships" id="2147483653" r:id="R0f325377fe5e4f70"/>
    <p:sldLayoutId xmlns:r="http://schemas.openxmlformats.org/officeDocument/2006/relationships" id="2147483654" r:id="R2d391da3fae14c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1ed5bd1d864251" /><Relationship Type="http://schemas.openxmlformats.org/officeDocument/2006/relationships/notesSlide" Target="/ppt/notesSlides/notesSlide1.xml" Id="R128c8a5243bb46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0b0b39d0ff4425" /><Relationship Type="http://schemas.openxmlformats.org/officeDocument/2006/relationships/notesSlide" Target="/ppt/notesSlides/notesSlide2.xml" Id="R6eb4fbe98da342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74c0723cf74a55" /><Relationship Type="http://schemas.openxmlformats.org/officeDocument/2006/relationships/notesSlide" Target="/ppt/notesSlides/notesSlide3.xml" Id="R6609468ddd514a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aa7b68d0154f5b" /><Relationship Type="http://schemas.openxmlformats.org/officeDocument/2006/relationships/chart" Target="/ppt/slides/charts/chart1.xml" Id="Ra2a323e0b6804316" /><Relationship Type="http://schemas.openxmlformats.org/officeDocument/2006/relationships/notesSlide" Target="/ppt/notesSlides/notesSlide4.xml" Id="Rcc42c206df3740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bc5a0befc046b7" /><Relationship Type="http://schemas.openxmlformats.org/officeDocument/2006/relationships/chart" Target="/ppt/slides/charts/chart2.xml" Id="R7093d3610fc3458c" /><Relationship Type="http://schemas.openxmlformats.org/officeDocument/2006/relationships/notesSlide" Target="/ppt/notesSlides/notesSlide5.xml" Id="Ra1434d530b6f49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aca4ca2f1442dc" /><Relationship Type="http://schemas.openxmlformats.org/officeDocument/2006/relationships/chart" Target="/ppt/slides/charts/chart3.xml" Id="R696c14925ed646d5" /><Relationship Type="http://schemas.openxmlformats.org/officeDocument/2006/relationships/notesSlide" Target="/ppt/notesSlides/notesSlide6.xml" Id="Re07bdf4d540b41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15901f43984890" /><Relationship Type="http://schemas.openxmlformats.org/officeDocument/2006/relationships/notesSlide" Target="/ppt/notesSlides/notesSlide7.xml" Id="Rb8ba53c1be244a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9551697c454439" /><Relationship Type="http://schemas.openxmlformats.org/officeDocument/2006/relationships/notesSlide" Target="/ppt/notesSlides/notesSlide8.xml" Id="R2f2f6a02587043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c649633903d47eb" /><Relationship Type="http://schemas.openxmlformats.org/officeDocument/2006/relationships/notesSlide" Target="/ppt/notesSlides/notesSlide9.xml" Id="R7241e7da80b64f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be5412362c4c00" /><Relationship Type="http://schemas.openxmlformats.org/officeDocument/2006/relationships/notesSlide" Target="/ppt/notesSlides/notesSlide10.xml" Id="Re5173952aac347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4a3d8fdb6e54a21" /><Relationship Type="http://schemas.openxmlformats.org/officeDocument/2006/relationships/notesSlide" Target="/ppt/notesSlides/notesSlide11.xml" Id="R076cc5c8f62f43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93b527528e48fa" /><Relationship Type="http://schemas.openxmlformats.org/officeDocument/2006/relationships/notesSlide" Target="/ppt/notesSlides/notesSlide12.xml" Id="R516e5853cd3d47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215a380b934474" /><Relationship Type="http://schemas.openxmlformats.org/officeDocument/2006/relationships/notesSlide" Target="/ppt/notesSlides/notesSlide13.xml" Id="Re67cf335849341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b9d7914da154f09" /><Relationship Type="http://schemas.openxmlformats.org/officeDocument/2006/relationships/notesSlide" Target="/ppt/notesSlides/notesSlide14.xml" Id="R70080414b7da40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4ba29e0ec4546f5" /><Relationship Type="http://schemas.openxmlformats.org/officeDocument/2006/relationships/notesSlide" Target="/ppt/notesSlides/notesSlide15.xml" Id="Rcd7a7f084c1044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frontier</c:v>
          </c:tx>
          <c:spPr>
            <a:ln xmlns:a="http://schemas.openxmlformats.org/drawingml/2006/main" w="19050">
              <a:solidFill>
                <a:srgbClr val="007E80"/>
              </a:solidFill>
              <a:prstDash val="dash"/>
            </a:ln>
          </c:spPr>
          <c:marker>
            <c:symbol val="none"/>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xmlns:a="http://schemas.openxmlformats.org/drawingml/2006/main" w="0">
              <a:noFill/>
            </a:ln>
          </c:spPr>
          <c:marker>
            <c:symbol val="circle"/>
            <c:size val="12"/>
            <c:spPr>
              <a:solidFill xmlns:a="http://schemas.openxmlformats.org/drawingml/2006/main">
                <a:srgbClr val="406EA6"/>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xmlns:a="http://schemas.openxmlformats.org/drawingml/2006/main" w="0">
              <a:noFill/>
            </a:ln>
          </c:spPr>
          <c:marker>
            <c:symbol val="square"/>
            <c:size val="12"/>
            <c:spPr>
              <a:solidFill xmlns:a="http://schemas.openxmlformats.org/drawingml/2006/main">
                <a:srgbClr val="406EA6"/>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xmlns:a="http://schemas.openxmlformats.org/drawingml/2006/main" w="0">
              <a:noFill/>
            </a:ln>
          </c:spPr>
          <c:marker>
            <c:symbol val="triangle"/>
            <c:size val="12"/>
            <c:spPr>
              <a:solidFill xmlns:a="http://schemas.openxmlformats.org/drawingml/2006/main">
                <a:srgbClr val="406EA6"/>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xmlns:a="http://schemas.openxmlformats.org/drawingml/2006/main" w="0">
              <a:noFill/>
            </a:ln>
          </c:spPr>
          <c:marker>
            <c:symbol val="circle"/>
            <c:size val="12"/>
            <c:spPr>
              <a:solidFill xmlns:a="http://schemas.openxmlformats.org/drawingml/2006/main">
                <a:srgbClr val="007E80"/>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xmlns:a="http://schemas.openxmlformats.org/drawingml/2006/main" w="0">
              <a:noFill/>
            </a:ln>
          </c:spPr>
          <c:marker>
            <c:symbol val="square"/>
            <c:size val="12"/>
            <c:spPr>
              <a:solidFill xmlns:a="http://schemas.openxmlformats.org/drawingml/2006/main">
                <a:srgbClr val="007E80"/>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xmlns:a="http://schemas.openxmlformats.org/drawingml/2006/main" w="0">
              <a:noFill/>
            </a:ln>
          </c:spPr>
          <c:marker>
            <c:symbol val="triangle"/>
            <c:size val="12"/>
            <c:spPr>
              <a:solidFill xmlns:a="http://schemas.openxmlformats.org/drawingml/2006/main">
                <a:srgbClr val="007E80"/>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xmlns:a="http://schemas.openxmlformats.org/drawingml/2006/main" w="0">
              <a:noFill/>
            </a:ln>
          </c:spPr>
          <c:marker>
            <c:symbol val="circle"/>
            <c:size val="12"/>
            <c:spPr>
              <a:solidFill xmlns:a="http://schemas.openxmlformats.org/drawingml/2006/main">
                <a:srgbClr val="B57C18"/>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xmlns:a="http://schemas.openxmlformats.org/drawingml/2006/main" w="0">
              <a:noFill/>
            </a:ln>
          </c:spPr>
          <c:marker>
            <c:symbol val="square"/>
            <c:size val="12"/>
            <c:spPr>
              <a:solidFill xmlns:a="http://schemas.openxmlformats.org/drawingml/2006/main">
                <a:srgbClr val="B57C18"/>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xmlns:a="http://schemas.openxmlformats.org/drawingml/2006/main" w="0">
              <a:noFill/>
            </a:ln>
          </c:spPr>
          <c:marker>
            <c:symbol val="triangle"/>
            <c:size val="12"/>
            <c:spPr>
              <a:solidFill xmlns:a="http://schemas.openxmlformats.org/drawingml/2006/main">
                <a:srgbClr val="B57C18"/>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xmlns:a="http://schemas.openxmlformats.org/drawingml/2006/main" w="0">
              <a:noFill/>
            </a:ln>
          </c:spPr>
          <c:marker>
            <c:symbol val="circle"/>
            <c:size val="12"/>
            <c:spPr>
              <a:solidFill xmlns:a="http://schemas.openxmlformats.org/drawingml/2006/main">
                <a:srgbClr val="79648E"/>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xmlns:a="http://schemas.openxmlformats.org/drawingml/2006/main" w="0">
              <a:noFill/>
            </a:ln>
          </c:spPr>
          <c:marker>
            <c:symbol val="square"/>
            <c:size val="12"/>
            <c:spPr>
              <a:solidFill xmlns:a="http://schemas.openxmlformats.org/drawingml/2006/main">
                <a:srgbClr val="79648E"/>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xmlns:a="http://schemas.openxmlformats.org/drawingml/2006/main" w="0">
              <a:noFill/>
            </a:ln>
          </c:spPr>
          <c:marker>
            <c:symbol val="triangle"/>
            <c:size val="12"/>
            <c:spPr>
              <a:solidFill xmlns:a="http://schemas.openxmlformats.org/drawingml/2006/main">
                <a:srgbClr val="79648E"/>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xmlns:a="http://schemas.openxmlformats.org/drawingml/2006/main" w="0">
              <a:noFill/>
            </a:ln>
          </c:spPr>
          <c:marker>
            <c:symbol val="square"/>
            <c:size val="12"/>
            <c:spPr>
              <a:solidFill xmlns:a="http://schemas.openxmlformats.org/drawingml/2006/main">
                <a:srgbClr val="AE4E45"/>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xmlns:a="http://schemas.openxmlformats.org/drawingml/2006/main" w="0">
              <a:noFill/>
            </a:ln>
          </c:spPr>
          <c:marker>
            <c:symbol val="circle"/>
            <c:size val="12"/>
            <c:spPr>
              <a:solidFill xmlns:a="http://schemas.openxmlformats.org/drawingml/2006/main">
                <a:srgbClr val="AE4E45"/>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xmlns:a="http://schemas.openxmlformats.org/drawingml/2006/main" w="0">
              <a:noFill/>
            </a:ln>
          </c:spPr>
          <c:marker>
            <c:symbol val="diamond"/>
            <c:size val="12"/>
            <c:spPr>
              <a:solidFill xmlns:a="http://schemas.openxmlformats.org/drawingml/2006/main">
                <a:srgbClr val="AE4E45"/>
              </a:solidFill>
            </c:spPr>
          </c:mark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xmlns:a="http://schemas.openxmlformats.org/drawingml/2006/main" w="9525">
              <a:solidFill>
                <a:srgbClr val="DFE4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Completed pass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96A73"/>
                </a:solidFill>
                <a:latin typeface="Arial"/>
                <a:ea typeface="Arial"/>
                <a:cs typeface="Arial"/>
              </a:defRPr>
            </a:pPr>
          </a:p>
        </c:txPr>
        <c:crossAx val="48650112"/>
        <c:majorUnit val="0.25"/>
      </c:valAx>
      <c:valAx>
        <c:axId val="48650112"/>
        <c:scaling>
          <c:orientation val="minMax"/>
          <c:max val="1.15"/>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Estimated API cost per attempt (USD)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96A73"/>
                </a:solidFill>
                <a:latin typeface="Arial"/>
                <a:ea typeface="Arial"/>
                <a:cs typeface="Arial"/>
              </a:defRPr>
            </a:pPr>
          </a:p>
        </c:txPr>
        <c:crossAx val="48672768"/>
        <c:majorUnit val="0.2"/>
      </c:valAx>
      <c:spPr>
        <a:solidFill xmlns:a="http://schemas.openxmlformats.org/drawingml/2006/main">
          <a:srgbClr val="FCFBF8"/>
        </a:solidFill>
      </c:spPr>
    </c:plotArea>
    <c:plotVisOnly val="1"/>
  </c:chart>
  <c:spPr>
    <a:solidFill xmlns:a="http://schemas.openxmlformats.org/drawingml/2006/main">
      <a:srgbClr val="FCFB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GPT-6 Luna</c:v>
          </c:tx>
          <c:spPr>
            <a:ln xmlns:a="http://schemas.openxmlformats.org/drawingml/2006/main" w="28575">
              <a:solidFill>
                <a:srgbClr val="406EA6"/>
              </a:solidFill>
            </a:ln>
          </c:spPr>
          <c:marker>
            <c:symbol val="circle"/>
            <c:size val="9"/>
            <c:spPr>
              <a:solidFill xmlns:a="http://schemas.openxmlformats.org/drawingml/2006/main">
                <a:srgbClr val="406EA6"/>
              </a:solidFill>
            </c:spPr>
          </c:marker>
          <c:dLbls>
            <c:txPr>
              <a:bodyPr xmlns:a="http://schemas.openxmlformats.org/drawingml/2006/main" anchorCtr="1"/>
              <a:lstStyle xmlns:a="http://schemas.openxmlformats.org/drawingml/2006/main"/>
              <a:p xmlns:a="http://schemas.openxmlformats.org/drawingml/2006/main">
                <a:pPr>
                  <a:defRPr sz="1500">
                    <a:solidFill>
                      <a:srgbClr val="182B35"/>
                    </a:solidFill>
                    <a:latin typeface="Arial"/>
                    <a:ea typeface="Arial"/>
                    <a:cs typeface="Arial"/>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xmlns:a="http://schemas.openxmlformats.org/drawingml/2006/main" w="28575">
              <a:solidFill>
                <a:srgbClr val="B57C18"/>
              </a:solidFill>
            </a:ln>
          </c:spPr>
          <c:marker>
            <c:symbol val="circle"/>
            <c:size val="9"/>
            <c:spPr>
              <a:solidFill xmlns:a="http://schemas.openxmlformats.org/drawingml/2006/main">
                <a:srgbClr val="B57C18"/>
              </a:solidFill>
            </c:spPr>
          </c:marker>
          <c:dLbls>
            <c:txPr>
              <a:bodyPr xmlns:a="http://schemas.openxmlformats.org/drawingml/2006/main" anchorCtr="1"/>
              <a:lstStyle xmlns:a="http://schemas.openxmlformats.org/drawingml/2006/main"/>
              <a:p xmlns:a="http://schemas.openxmlformats.org/drawingml/2006/main">
                <a:pPr>
                  <a:defRPr sz="1500">
                    <a:solidFill>
                      <a:srgbClr val="182B35"/>
                    </a:solidFill>
                    <a:latin typeface="Arial"/>
                    <a:ea typeface="Arial"/>
                    <a:cs typeface="Arial"/>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xmlns:a="http://schemas.openxmlformats.org/drawingml/2006/main" w="28575">
              <a:solidFill>
                <a:srgbClr val="007E80"/>
              </a:solidFill>
            </a:ln>
          </c:spPr>
          <c:marker>
            <c:symbol val="circle"/>
            <c:size val="9"/>
            <c:spPr>
              <a:solidFill xmlns:a="http://schemas.openxmlformats.org/drawingml/2006/main">
                <a:srgbClr val="007E80"/>
              </a:solidFill>
            </c:spPr>
          </c:marker>
          <c:dLbls>
            <c:txPr>
              <a:bodyPr xmlns:a="http://schemas.openxmlformats.org/drawingml/2006/main" anchorCtr="1"/>
              <a:lstStyle xmlns:a="http://schemas.openxmlformats.org/drawingml/2006/main"/>
              <a:p xmlns:a="http://schemas.openxmlformats.org/drawingml/2006/main">
                <a:pPr>
                  <a:defRPr sz="1500">
                    <a:solidFill>
                      <a:srgbClr val="182B35"/>
                    </a:solidFill>
                    <a:latin typeface="Arial"/>
                    <a:ea typeface="Arial"/>
                    <a:cs typeface="Arial"/>
                  </a:defRPr>
                </a:pPr>
              </a:p>
            </c:txPr>
            <c:showLegendKey val="0"/>
            <c:showVal val="0"/>
            <c:showCatName val="0"/>
            <c:showSerName val="0"/>
            <c:showPercent val="0"/>
            <c:showBubbleSize val="0"/>
            <c:showLeaderLines val="0"/>
          </c:dLbls>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xmlns:a="http://schemas.openxmlformats.org/drawingml/2006/main" w="28575">
              <a:solidFill>
                <a:srgbClr val="79648E"/>
              </a:solidFill>
            </a:ln>
          </c:spPr>
          <c:marker>
            <c:symbol val="circle"/>
            <c:size val="9"/>
            <c:spPr>
              <a:solidFill xmlns:a="http://schemas.openxmlformats.org/drawingml/2006/main">
                <a:srgbClr val="79648E"/>
              </a:solidFill>
            </c:spPr>
          </c:marker>
          <c:dLbls>
            <c:txPr>
              <a:bodyPr xmlns:a="http://schemas.openxmlformats.org/drawingml/2006/main" anchorCtr="1"/>
              <a:lstStyle xmlns:a="http://schemas.openxmlformats.org/drawingml/2006/main"/>
              <a:p xmlns:a="http://schemas.openxmlformats.org/drawingml/2006/main">
                <a:pPr>
                  <a:defRPr sz="1500">
                    <a:solidFill>
                      <a:srgbClr val="182B35"/>
                    </a:solidFill>
                    <a:latin typeface="Arial"/>
                    <a:ea typeface="Arial"/>
                    <a:cs typeface="Arial"/>
                  </a:defRPr>
                </a:pPr>
              </a:p>
            </c:txPr>
            <c:showLegendKey val="0"/>
            <c:showVal val="0"/>
            <c:showCatName val="0"/>
            <c:showSerName val="0"/>
            <c:showPercent val="0"/>
            <c:showBubbleSize val="0"/>
            <c:showLeaderLines val="0"/>
          </c:dLbls>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96A73"/>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FE4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Completed passes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96A73"/>
                </a:solidFill>
                <a:latin typeface="Arial"/>
                <a:ea typeface="Arial"/>
                <a:cs typeface="Arial"/>
              </a:defRPr>
            </a:pPr>
          </a:p>
        </c:txPr>
        <c:crossAx val="48650112"/>
        <c:crossBetween val="between"/>
        <c:majorUnit val="10"/>
      </c:valAx>
      <c:spPr>
        <a:solidFill xmlns:a="http://schemas.openxmlformats.org/drawingml/2006/main">
          <a:srgbClr val="FC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CFBF8"/>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Completed pass</c:v>
          </c:tx>
          <c:spPr>
            <a:solidFill xmlns:a="http://schemas.openxmlformats.org/drawingml/2006/main">
              <a:srgbClr val="007E80"/>
            </a:solidFill>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xmlns:a="http://schemas.openxmlformats.org/drawingml/2006/main">
              <a:srgbClr val="B57C18"/>
            </a:solidFill>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xmlns:a="http://schemas.openxmlformats.org/drawingml/2006/main">
              <a:srgbClr val="79648E"/>
            </a:solidFill>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xmlns:a="http://schemas.openxmlformats.org/drawingml/2006/main">
              <a:srgbClr val="AE4E45"/>
            </a:solidFill>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xmlns:a="http://schemas.openxmlformats.org/drawingml/2006/main">
              <a:srgbClr val="AFB6BC"/>
            </a:solidFill>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82B35"/>
                </a:solidFill>
                <a:latin typeface="Arial"/>
                <a:ea typeface="Arial"/>
                <a:cs typeface="Arial"/>
              </a:defRPr>
            </a:pPr>
          </a:p>
        </c:txPr>
        <c:crossAx val="48672768"/>
      </c:catAx>
      <c:valAx>
        <c:axId val="48672768"/>
        <c:scaling>
          <c:orientation val="minMax"/>
          <c:max val="117"/>
          <c:min val="0"/>
        </c:scaling>
        <c:delete val="0"/>
        <c:axPos val="b"/>
        <c:majorGridlines>
          <c:spPr>
            <a:ln xmlns:a="http://schemas.openxmlformats.org/drawingml/2006/main" w="9525">
              <a:solidFill>
                <a:srgbClr val="DFE4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Attempts across three effort settings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96A73"/>
                </a:solidFill>
                <a:latin typeface="Arial"/>
                <a:ea typeface="Arial"/>
                <a:cs typeface="Arial"/>
              </a:defRPr>
            </a:pPr>
          </a:p>
        </c:txPr>
        <c:crossAx val="48650112"/>
        <c:crossBetween val="between"/>
        <c:majorUnit val="39"/>
      </c:valAx>
      <c:spPr>
        <a:solidFill xmlns:a="http://schemas.openxmlformats.org/drawingml/2006/main">
          <a:srgbClr val="FC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CFB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FBF446-891E-406E-8AEA-AF28E3889CA0}"/>
              </a:ext>
            </a:extLst>
          </p:cNvPr>
          <p:cNvSpPr>
            <a:spLocks xmlns:a="http://schemas.openxmlformats.org/drawingml/2006/main" noGrp="1"/>
          </p:cNvSpPr>
          <p:nvPr/>
        </p:nvSpPr>
        <p:spPr>
          <a:xfrm xmlns:a="http://schemas.openxmlformats.org/drawingml/2006/main">
            <a:off x="685800" y="17145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850" b="1">
                <a:solidFill>
                  <a:srgbClr val="FFFFFF"/>
                </a:solidFill>
                <a:latin typeface="Arial"/>
                <a:ea typeface="Arial"/>
                <a:cs typeface="Arial"/>
              </a:defRPr>
            </a:defPPr>
          </a:lstStyle>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PhysLiteBench</a:t>
            </a:r>
          </a:p>
        </p:txBody>
      </p:sp>
      <p:sp>
        <p:nvSpPr>
          <p:cNvPr id="2" name="">
            <a:extLst xmlns:a="http://schemas.openxmlformats.org/drawingml/2006/main">
              <a:ext uri="{FF2B5EF4-FFF2-40B4-BE49-F238E27FC236}">
                <a16:creationId xmlns:a16="http://schemas.microsoft.com/office/drawing/2014/main" id="{7128109D-88C7-4566-97FD-BD25A731F3A8}"/>
              </a:ext>
            </a:extLst>
          </p:cNvPr>
          <p:cNvSpPr>
            <a:spLocks xmlns:a="http://schemas.openxmlformats.org/drawingml/2006/main" noGrp="1"/>
          </p:cNvSpPr>
          <p:nvPr/>
        </p:nvSpPr>
        <p:spPr>
          <a:xfrm xmlns:a="http://schemas.openxmlformats.org/drawingml/2006/main">
            <a:off x="723900" y="3067050"/>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0">
                <a:solidFill>
                  <a:srgbClr val="D6E4E6"/>
                </a:solidFill>
                <a:latin typeface="Arial"/>
                <a:ea typeface="Arial"/>
                <a:cs typeface="Arial"/>
              </a:defRPr>
            </a:defPPr>
          </a:lstStyle>
          <a:p xmlns:a="http://schemas.openxmlformats.org/drawingml/2006/main">
            <a:pPr>
              <a:defRPr sz="2625" b="0">
                <a:solidFill>
                  <a:srgbClr val="D6E4E6"/>
                </a:solidFill>
                <a:latin typeface="Arial"/>
                <a:ea typeface="Arial"/>
                <a:cs typeface="Arial"/>
              </a:defRPr>
            </a:pPr>
            <a:r>
              <a:rPr sz="2625" b="0">
                <a:solidFill>
                  <a:srgbClr val="D6E4E6"/>
                </a:solidFill>
                <a:latin typeface="Arial"/>
                <a:ea typeface="Arial"/>
                <a:cs typeface="Arial"/>
              </a:rPr>
              <a:t>Cost, reasoning effort, and physics failure modes</a:t>
            </a:r>
          </a:p>
        </p:txBody>
      </p:sp>
      <p:sp>
        <p:nvSpPr>
          <p:cNvPr id="3" name="">
            <a:extLst xmlns:a="http://schemas.openxmlformats.org/drawingml/2006/main">
              <a:ext uri="{FF2B5EF4-FFF2-40B4-BE49-F238E27FC236}">
                <a16:creationId xmlns:a16="http://schemas.microsoft.com/office/drawing/2014/main" id="{1EF53E99-7586-45FB-8000-B614B8385506}"/>
              </a:ext>
            </a:extLst>
          </p:cNvPr>
          <p:cNvSpPr>
            <a:spLocks xmlns:a="http://schemas.openxmlformats.org/drawingml/2006/main" noGrp="1"/>
          </p:cNvSpPr>
          <p:nvPr/>
        </p:nvSpPr>
        <p:spPr>
          <a:xfrm xmlns:a="http://schemas.openxmlformats.org/drawingml/2006/main">
            <a:off x="7239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8DD3CE"/>
                </a:solidFill>
                <a:latin typeface="Arial"/>
                <a:ea typeface="Arial"/>
                <a:cs typeface="Arial"/>
              </a:defRPr>
            </a:defPPr>
          </a:lstStyle>
          <a:p xmlns:a="http://schemas.openxmlformats.org/drawingml/2006/main">
            <a:pPr>
              <a:defRPr sz="1875" b="0">
                <a:solidFill>
                  <a:srgbClr val="8DD3CE"/>
                </a:solidFill>
                <a:latin typeface="Arial"/>
                <a:ea typeface="Arial"/>
                <a:cs typeface="Arial"/>
              </a:defRPr>
            </a:pPr>
            <a:r>
              <a:rPr sz="1875" b="0">
                <a:solidFill>
                  <a:srgbClr val="8DD3CE"/>
                </a:solidFill>
                <a:latin typeface="Arial"/>
                <a:ea typeface="Arial"/>
                <a:cs typeface="Arial"/>
              </a:rPr>
              <a:t>13 frozen tasks</a:t>
            </a:r>
          </a:p>
        </p:txBody>
      </p:sp>
      <p:sp>
        <p:nvSpPr>
          <p:cNvPr id="4" name="">
            <a:extLst xmlns:a="http://schemas.openxmlformats.org/drawingml/2006/main">
              <a:ext uri="{FF2B5EF4-FFF2-40B4-BE49-F238E27FC236}">
                <a16:creationId xmlns:a16="http://schemas.microsoft.com/office/drawing/2014/main" id="{7126B5C4-86E1-47BC-AA73-2C85CFCFACD7}"/>
              </a:ext>
            </a:extLst>
          </p:cNvPr>
          <p:cNvSpPr>
            <a:spLocks xmlns:a="http://schemas.openxmlformats.org/drawingml/2006/main" noGrp="1"/>
          </p:cNvSpPr>
          <p:nvPr/>
        </p:nvSpPr>
        <p:spPr>
          <a:xfrm xmlns:a="http://schemas.openxmlformats.org/drawingml/2006/main">
            <a:off x="723900" y="564832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D6E4E6"/>
                </a:solidFill>
                <a:latin typeface="Arial"/>
                <a:ea typeface="Arial"/>
                <a:cs typeface="Arial"/>
              </a:defRPr>
            </a:defPPr>
          </a:lstStyle>
          <a:p xmlns:a="http://schemas.openxmlformats.org/drawingml/2006/main">
            <a:pPr>
              <a:defRPr sz="1725" b="0">
                <a:solidFill>
                  <a:srgbClr val="D6E4E6"/>
                </a:solidFill>
                <a:latin typeface="Arial"/>
                <a:ea typeface="Arial"/>
                <a:cs typeface="Arial"/>
              </a:defRPr>
            </a:pPr>
            <a:r>
              <a:rPr sz="1725" b="0">
                <a:solidFill>
                  <a:srgbClr val="D6E4E6"/>
                </a:solidFill>
                <a:latin typeface="Arial"/>
                <a:ea typeface="Arial"/>
                <a:cs typeface="Arial"/>
              </a:rPr>
              <a:t>Yue Pan   /   October 2026</a:t>
            </a:r>
          </a:p>
        </p:txBody>
      </p:sp>
    </p:spTree>
    <p:extLst>
      <p:ext uri="{BB962C8B-B14F-4D97-AF65-F5344CB8AC3E}">
        <p14:creationId xmlns:p14="http://schemas.microsoft.com/office/powerpoint/2010/main" val="662994025"/>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Physics beyond the calibration regime</a:t>
            </a:r>
          </a:p>
        </p:txBody>
      </p:sp>
      <p:sp>
        <p:nvSpPr>
          <p:cNvPr id="2" name="">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A model must fit the apparatus and predict behavior that calibration does not identify.</a:t>
            </a:r>
          </a:p>
        </p:txBody>
      </p:sp>
      <p:sp>
        <p:nvSpPr>
          <p:cNvPr id="3" name="">
            <a:extLst xmlns:a="http://schemas.openxmlformats.org/drawingml/2006/main">
              <a:ext uri="{FF2B5EF4-FFF2-40B4-BE49-F238E27FC236}">
                <a16:creationId xmlns:a16="http://schemas.microsoft.com/office/drawing/2014/main" id="{F602EE7E-B2AC-455C-8380-2B4D89323466}"/>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D7F727CA-8F99-4D1E-9F94-2C6254CCB6C2}"/>
              </a:ext>
            </a:extLst>
          </p:cNvPr>
          <p:cNvGraphicFramePr/>
          <p:nvPr/>
        </p:nvGraphicFramePr>
        <p:xfrm>
          <a:off xmlns:a="http://schemas.openxmlformats.org/drawingml/2006/main" x="628650" y="1971675"/>
          <a:ext xmlns:a="http://schemas.openxmlformats.org/drawingml/2006/main" cx="10915650" cy="2714625"/>
        </p:xfrm>
        <a:graphic xmlns:a="http://schemas.openxmlformats.org/drawingml/2006/main">
          <a:graphicData uri="http://schemas.openxmlformats.org/drawingml/2006/table">
            <a:tbl>
              <a:tblPr/>
              <a:tblGrid>
                <a:gridCol w="5334000"/>
                <a:gridCol w="5581650"/>
              </a:tblGrid>
              <a:tr h="678656">
                <a:tc>
                  <a:txBody>
                    <a:bodyPr lIns="95250" tIns="95250" rIns="95250" bIns="95250"/>
                    <a:lstStyle/>
                    <a:p>
                      <a:r>
                        <a:rPr sz="1950" b="1">
                          <a:solidFill>
                            <a:srgbClr val="FFFFFF"/>
                          </a:solidFill>
                          <a:latin typeface="Arial"/>
                          <a:ea typeface="Arial"/>
                          <a:cs typeface="Arial"/>
                        </a:rPr>
                        <a:t>Available to the agent</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950" b="1">
                          <a:solidFill>
                            <a:srgbClr val="FFFFFF"/>
                          </a:solidFill>
                          <a:latin typeface="Arial"/>
                          <a:ea typeface="Arial"/>
                          <a:cs typeface="Arial"/>
                        </a:rPr>
                        <a:t>What the evaluator checks</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678656">
                <a:tc>
                  <a:txBody>
                    <a:bodyPr lIns="95250" tIns="95250" rIns="95250" bIns="95250"/>
                    <a:lstStyle/>
                    <a:p>
                      <a:r>
                        <a:rPr sz="1950" b="0">
                          <a:solidFill>
                            <a:srgbClr val="182B35"/>
                          </a:solidFill>
                          <a:latin typeface="Arial"/>
                          <a:ea typeface="Arial"/>
                          <a:cs typeface="Arial"/>
                        </a:rPr>
                        <a:t>Apparatus description and starter code</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950" b="0">
                          <a:solidFill>
                            <a:srgbClr val="182B35"/>
                          </a:solidFill>
                          <a:latin typeface="Arial"/>
                          <a:ea typeface="Arial"/>
                          <a:cs typeface="Arial"/>
                        </a:rPr>
                        <a:t>Calibration fit and fitted parameters</a:t>
                      </a:r>
                    </a:p>
                  </a:txBody>
                  <a:tcPr marL="91440" marR="91440" marT="45720" marB="45720">
                    <a:lnR w="0">
                      <a:solidFill>
                        <a:srgbClr val="FCFBF8"/>
                      </a:solidFill>
                      <a:prstDash val="solid"/>
                    </a:lnR>
                    <a:lnB w="0">
                      <a:solidFill>
                        <a:srgbClr val="FCFBF8"/>
                      </a:solidFill>
                      <a:prstDash val="solid"/>
                    </a:lnB>
                    <a:solidFill>
                      <a:srgbClr val="FFFFFF"/>
                    </a:solidFill>
                  </a:tcPr>
                </a:tc>
              </a:tr>
              <a:tr h="678656">
                <a:tc>
                  <a:txBody>
                    <a:bodyPr lIns="95250" tIns="95250" rIns="95250" bIns="95250"/>
                    <a:lstStyle/>
                    <a:p>
                      <a:r>
                        <a:rPr sz="1950" b="0">
                          <a:solidFill>
                            <a:srgbClr val="182B35"/>
                          </a:solidFill>
                          <a:latin typeface="Arial"/>
                          <a:ea typeface="Arial"/>
                          <a:cs typeface="Arial"/>
                        </a:rPr>
                        <a:t>Public calibration data and tests</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950" b="0">
                          <a:solidFill>
                            <a:srgbClr val="182B35"/>
                          </a:solidFill>
                          <a:latin typeface="Arial"/>
                          <a:ea typeface="Arial"/>
                          <a:cs typeface="Arial"/>
                        </a:rPr>
                        <a:t>Predictions in held-out physical regimes</a:t>
                      </a:r>
                    </a:p>
                  </a:txBody>
                  <a:tcPr marL="91440" marR="91440" marT="45720" marB="45720">
                    <a:lnR w="0">
                      <a:solidFill>
                        <a:srgbClr val="FCFBF8"/>
                      </a:solidFill>
                      <a:prstDash val="solid"/>
                    </a:lnR>
                    <a:lnB w="0">
                      <a:solidFill>
                        <a:srgbClr val="FCFBF8"/>
                      </a:solidFill>
                      <a:prstDash val="solid"/>
                    </a:lnB>
                    <a:solidFill>
                      <a:srgbClr val="FCFBF8"/>
                    </a:solidFill>
                  </a:tcPr>
                </a:tc>
              </a:tr>
              <a:tr h="678656">
                <a:tc>
                  <a:txBody>
                    <a:bodyPr lIns="95250" tIns="95250" rIns="95250" bIns="95250"/>
                    <a:lstStyle/>
                    <a:p>
                      <a:r>
                        <a:rPr sz="1950" b="0">
                          <a:solidFill>
                            <a:srgbClr val="182B35"/>
                          </a:solidFill>
                          <a:latin typeface="Arial"/>
                          <a:ea typeface="Arial"/>
                          <a:cs typeface="Arial"/>
                        </a:rPr>
                        <a:t>A fixed software interface</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950" b="0">
                          <a:solidFill>
                            <a:srgbClr val="182B35"/>
                          </a:solidFill>
                          <a:latin typeface="Arial"/>
                          <a:ea typeface="Arial"/>
                          <a:cs typeface="Arial"/>
                        </a:rPr>
                        <a:t>Completion within the time budget</a:t>
                      </a:r>
                    </a:p>
                  </a:txBody>
                  <a:tcPr marL="91440" marR="91440" marT="45720" marB="45720">
                    <a:lnR w="0">
                      <a:solidFill>
                        <a:srgbClr val="FCFBF8"/>
                      </a:solidFill>
                      <a:prstDash val="solid"/>
                    </a:lnR>
                    <a:lnB w="0">
                      <a:solidFill>
                        <a:srgbClr val="FCFBF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666750" y="50101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350" b="1">
                <a:solidFill>
                  <a:srgbClr val="007E80"/>
                </a:solidFill>
                <a:latin typeface="Arial"/>
                <a:ea typeface="Arial"/>
                <a:cs typeface="Arial"/>
              </a:defRPr>
            </a:defPPr>
          </a:lstStyle>
          <a:p xmlns:a="http://schemas.openxmlformats.org/drawingml/2006/main">
            <a:pPr>
              <a:defRPr sz="4350" b="1">
                <a:solidFill>
                  <a:srgbClr val="007E80"/>
                </a:solidFill>
                <a:latin typeface="Arial"/>
                <a:ea typeface="Arial"/>
                <a:cs typeface="Arial"/>
              </a:defRPr>
            </a:pPr>
            <a:r>
              <a:rPr sz="4350" b="1">
                <a:solidFill>
                  <a:srgbClr val="007E80"/>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50958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tasks spanning stochastic dynamics, transport,</a:t>
            </a:r>
          </a:p>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correlations, and quantum or statistical systems</a:t>
            </a:r>
          </a:p>
        </p:txBody>
      </p:sp>
      <p:sp>
        <p:nvSpPr>
          <p:cNvPr id="7" name="">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The roster was selected using GPT-5.6 Luna. Selection results and later evaluation results are separate.</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C94C5A-A706-4C14-AE6E-02866E82A4FA}"/>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The no-hint sweep</a:t>
            </a:r>
          </a:p>
        </p:txBody>
      </p:sp>
      <p:sp>
        <p:nvSpPr>
          <p:cNvPr id="2" name="">
            <a:extLst xmlns:a="http://schemas.openxmlformats.org/drawingml/2006/main">
              <a:ext uri="{FF2B5EF4-FFF2-40B4-BE49-F238E27FC236}">
                <a16:creationId xmlns:a16="http://schemas.microsoft.com/office/drawing/2014/main" id="{4811DE83-E5BF-4F8A-9317-CA677275D53A}"/>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15 complete model–effort settings, each with 13 tasks and 3 repeats.</a:t>
            </a:r>
          </a:p>
        </p:txBody>
      </p:sp>
      <p:sp>
        <p:nvSpPr>
          <p:cNvPr id="3" name="">
            <a:extLst xmlns:a="http://schemas.openxmlformats.org/drawingml/2006/main">
              <a:ext uri="{FF2B5EF4-FFF2-40B4-BE49-F238E27FC236}">
                <a16:creationId xmlns:a16="http://schemas.microsoft.com/office/drawing/2014/main" id="{4170204A-AFA3-49B4-83AC-E0A70FF5A1E6}"/>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D93043DF-0DFA-40E5-84C8-0834A234DB44}"/>
              </a:ext>
            </a:extLst>
          </p:cNvPr>
          <p:cNvGraphicFramePr/>
          <p:nvPr/>
        </p:nvGraphicFramePr>
        <p:xfrm>
          <a:off xmlns:a="http://schemas.openxmlformats.org/drawingml/2006/main" x="628650" y="1809750"/>
          <a:ext xmlns:a="http://schemas.openxmlformats.org/drawingml/2006/main" cx="10915650" cy="2647950"/>
        </p:xfrm>
        <a:graphic xmlns:a="http://schemas.openxmlformats.org/drawingml/2006/main">
          <a:graphicData uri="http://schemas.openxmlformats.org/drawingml/2006/table">
            <a:tbl>
              <a:tblPr/>
              <a:tblGrid>
                <a:gridCol w="5905500"/>
                <a:gridCol w="5010150"/>
              </a:tblGrid>
              <a:tr h="661988">
                <a:tc>
                  <a:txBody>
                    <a:bodyPr lIns="95250" tIns="95250" rIns="95250" bIns="95250"/>
                    <a:lstStyle/>
                    <a:p>
                      <a:r>
                        <a:rPr sz="1875" b="1">
                          <a:solidFill>
                            <a:srgbClr val="FFFFFF"/>
                          </a:solidFill>
                          <a:latin typeface="Arial"/>
                          <a:ea typeface="Arial"/>
                          <a:cs typeface="Arial"/>
                        </a:rPr>
                        <a:t>Model</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875" b="1">
                          <a:solidFill>
                            <a:srgbClr val="FFFFFF"/>
                          </a:solidFill>
                          <a:latin typeface="Arial"/>
                          <a:ea typeface="Arial"/>
                          <a:cs typeface="Arial"/>
                        </a:rPr>
                        <a:t>Reasoning settings</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661988">
                <a:tc>
                  <a:txBody>
                    <a:bodyPr lIns="95250" tIns="95250" rIns="95250" bIns="95250"/>
                    <a:lstStyle/>
                    <a:p>
                      <a:r>
                        <a:rPr sz="1875" b="0">
                          <a:solidFill>
                            <a:srgbClr val="182B35"/>
                          </a:solidFill>
                          <a:latin typeface="Arial"/>
                          <a:ea typeface="Arial"/>
                          <a:cs typeface="Arial"/>
                        </a:rPr>
                        <a:t>GPT-6 Luna, Sol, Astra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Low, High, Extra High</a:t>
                      </a:r>
                    </a:p>
                  </a:txBody>
                  <a:tcPr marL="91440" marR="91440" marT="45720" marB="45720">
                    <a:lnR w="0">
                      <a:solidFill>
                        <a:srgbClr val="FCFBF8"/>
                      </a:solidFill>
                      <a:prstDash val="solid"/>
                    </a:lnR>
                    <a:lnB w="0">
                      <a:solidFill>
                        <a:srgbClr val="FCFBF8"/>
                      </a:solidFill>
                      <a:prstDash val="solid"/>
                    </a:lnB>
                    <a:solidFill>
                      <a:srgbClr val="FFFFFF"/>
                    </a:solidFill>
                  </a:tcPr>
                </a:tc>
              </a:tr>
              <a:tr h="661988">
                <a:tc>
                  <a:txBody>
                    <a:bodyPr lIns="95250" tIns="95250" rIns="95250" bIns="95250"/>
                    <a:lstStyle/>
                    <a:p>
                      <a:r>
                        <a:rPr sz="1875" b="0">
                          <a:solidFill>
                            <a:srgbClr val="182B35"/>
                          </a:solidFill>
                          <a:latin typeface="Arial"/>
                          <a:ea typeface="Arial"/>
                          <a:cs typeface="Arial"/>
                        </a:rPr>
                        <a:t>GPT-5.6 Terra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Low, High, Extra High</a:t>
                      </a:r>
                    </a:p>
                  </a:txBody>
                  <a:tcPr marL="91440" marR="91440" marT="45720" marB="45720">
                    <a:lnR w="0">
                      <a:solidFill>
                        <a:srgbClr val="FCFBF8"/>
                      </a:solidFill>
                      <a:prstDash val="solid"/>
                    </a:lnR>
                    <a:lnB w="0">
                      <a:solidFill>
                        <a:srgbClr val="FCFBF8"/>
                      </a:solidFill>
                      <a:prstDash val="solid"/>
                    </a:lnB>
                    <a:solidFill>
                      <a:srgbClr val="FCFBF8"/>
                    </a:solidFill>
                  </a:tcPr>
                </a:tc>
              </a:tr>
              <a:tr h="661988">
                <a:tc>
                  <a:txBody>
                    <a:bodyPr lIns="95250" tIns="95250" rIns="95250" bIns="95250"/>
                    <a:lstStyle/>
                    <a:p>
                      <a:r>
                        <a:rPr sz="1875" b="0">
                          <a:solidFill>
                            <a:srgbClr val="182B35"/>
                          </a:solidFill>
                          <a:latin typeface="Arial"/>
                          <a:ea typeface="Arial"/>
                          <a:cs typeface="Arial"/>
                        </a:rPr>
                        <a:t>DeepSeek V4.1 Flash</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Low, High, Max</a:t>
                      </a:r>
                    </a:p>
                  </a:txBody>
                  <a:tcPr marL="91440" marR="91440" marT="45720" marB="45720">
                    <a:lnR w="0">
                      <a:solidFill>
                        <a:srgbClr val="FCFBF8"/>
                      </a:solidFill>
                      <a:prstDash val="solid"/>
                    </a:lnR>
                    <a:lnB w="0">
                      <a:solidFill>
                        <a:srgbClr val="FCFBF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2CDF0C7-818E-4B47-B9CF-9237B4AD9F0F}"/>
              </a:ext>
            </a:extLst>
          </p:cNvPr>
          <p:cNvSpPr>
            <a:spLocks xmlns:a="http://schemas.openxmlformats.org/drawingml/2006/main" noGrp="1"/>
          </p:cNvSpPr>
          <p:nvPr/>
        </p:nvSpPr>
        <p:spPr>
          <a:xfrm xmlns:a="http://schemas.openxmlformats.org/drawingml/2006/main">
            <a:off x="666750" y="4857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007E80"/>
                </a:solidFill>
                <a:latin typeface="Arial"/>
                <a:ea typeface="Arial"/>
                <a:cs typeface="Arial"/>
              </a:defRPr>
            </a:defPPr>
          </a:lstStyle>
          <a:p xmlns:a="http://schemas.openxmlformats.org/drawingml/2006/main">
            <a:pPr>
              <a:defRPr sz="2700" b="1">
                <a:solidFill>
                  <a:srgbClr val="007E80"/>
                </a:solidFill>
                <a:latin typeface="Arial"/>
                <a:ea typeface="Arial"/>
                <a:cs typeface="Arial"/>
              </a:defRPr>
            </a:pPr>
            <a:r>
              <a:rPr sz="2700" b="1">
                <a:solidFill>
                  <a:srgbClr val="007E80"/>
                </a:solidFill>
                <a:latin typeface="Arial"/>
                <a:ea typeface="Arial"/>
                <a:cs typeface="Arial"/>
              </a:rPr>
              <a:t>585 completed-panel attempts</a:t>
            </a:r>
          </a:p>
        </p:txBody>
      </p:sp>
      <p:sp>
        <p:nvSpPr>
          <p:cNvPr id="6" name="">
            <a:extLst xmlns:a="http://schemas.openxmlformats.org/drawingml/2006/main">
              <a:ext uri="{FF2B5EF4-FFF2-40B4-BE49-F238E27FC236}">
                <a16:creationId xmlns:a16="http://schemas.microsoft.com/office/drawing/2014/main" id="{43E848FD-D7C5-4868-921C-29D80EC13718}"/>
              </a:ext>
            </a:extLst>
          </p:cNvPr>
          <p:cNvSpPr>
            <a:spLocks xmlns:a="http://schemas.openxmlformats.org/drawingml/2006/main" noGrp="1"/>
          </p:cNvSpPr>
          <p:nvPr/>
        </p:nvSpPr>
        <p:spPr>
          <a:xfrm xmlns:a="http://schemas.openxmlformats.org/drawingml/2006/main">
            <a:off x="666750" y="5429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2B35"/>
                </a:solidFill>
                <a:latin typeface="Arial"/>
                <a:ea typeface="Arial"/>
                <a:cs typeface="Arial"/>
              </a:defRPr>
            </a:defPPr>
          </a:lstStyle>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600 s agent limit   /   60 s verifier limit   /   Codex 0.160.0</a:t>
            </a:r>
          </a:p>
        </p:txBody>
      </p:sp>
      <p:sp>
        <p:nvSpPr>
          <p:cNvPr id="7" name="">
            <a:extLst xmlns:a="http://schemas.openxmlformats.org/drawingml/2006/main">
              <a:ext uri="{FF2B5EF4-FFF2-40B4-BE49-F238E27FC236}">
                <a16:creationId xmlns:a16="http://schemas.microsoft.com/office/drawing/2014/main" id="{C54F9E1E-2AE6-4AE4-BCD2-DEFF233BE12F}"/>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Three DeepSeek None attempts form a separate partial panel. OpenAI High includes 30 reused observations per model.</a:t>
            </a:r>
          </a:p>
        </p:txBody>
      </p:sp>
    </p:spTree>
    <p:extLst>
      <p:ext uri="{BB962C8B-B14F-4D97-AF65-F5344CB8AC3E}">
        <p14:creationId xmlns:p14="http://schemas.microsoft.com/office/powerpoint/2010/main" val="1104128249"/>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Observed cost–success frontier</a:t>
            </a:r>
          </a:p>
        </p:txBody>
      </p:sp>
      <p:sp>
        <p:nvSpPr>
          <p:cNvPr id="2" name="">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Each point contains 39 attempts. The frontier uses complete panels with reconciled costs.</a:t>
            </a:r>
          </a:p>
        </p:txBody>
      </p:sp>
      <p:sp>
        <p:nvSpPr>
          <p:cNvPr id="3" name="">
            <a:extLst xmlns:a="http://schemas.openxmlformats.org/drawingml/2006/main">
              <a:ext uri="{FF2B5EF4-FFF2-40B4-BE49-F238E27FC236}">
                <a16:creationId xmlns:a16="http://schemas.microsoft.com/office/drawing/2014/main" id="{35890AFB-C021-42FE-98CC-DA3146AA982C}"/>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04</a:t>
            </a:r>
          </a:p>
        </p:txBody>
      </p:sp>
      <p:graphicFrame>
        <p:nvGraphicFramePr>
          <p:cNvPr id="4" name="Chart">
            <a:extLst xmlns:a="http://schemas.openxmlformats.org/drawingml/2006/main">
              <a:ext uri="{FF2B5EF4-FFF2-40B4-BE49-F238E27FC236}">
                <a16:creationId xmlns:a16="http://schemas.microsoft.com/office/drawing/2014/main" id="{9A3B4487-F961-464D-A0F9-8F5F2D69A2D5}"/>
              </a:ext>
            </a:extLst>
          </p:cNvPr>
          <p:cNvGraphicFramePr/>
          <p:nvPr/>
        </p:nvGraphicFramePr>
        <p:xfrm>
          <a:off xmlns:a="http://schemas.openxmlformats.org/drawingml/2006/main" x="619125" y="1809750"/>
          <a:ext xmlns:a="http://schemas.openxmlformats.org/drawingml/2006/main" cx="7239000" cy="3914775"/>
        </p:xfrm>
        <a:graphic xmlns:a="http://schemas.openxmlformats.org/drawingml/2006/main">
          <a:graphicData uri="http://schemas.openxmlformats.org/drawingml/2006/chart">
            <c:chart xmlns:r="http://schemas.openxmlformats.org/officeDocument/2006/relationships" xmlns:c="http://schemas.openxmlformats.org/drawingml/2006/chart" r:id="Ra2a323e0b6804316"/>
          </a:graphicData>
        </a:graphic>
      </p:graphicFrame>
      <p:sp>
        <p:nvSpPr>
          <p:cNvPr id="5" name="">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172450" y="180975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007E80"/>
                </a:solidFill>
                <a:latin typeface="Arial"/>
                <a:ea typeface="Arial"/>
                <a:cs typeface="Arial"/>
              </a:defRPr>
            </a:defPPr>
          </a:lstStyle>
          <a:p xmlns:a="http://schemas.openxmlformats.org/drawingml/2006/main">
            <a:pPr>
              <a:defRPr sz="1950" b="1">
                <a:solidFill>
                  <a:srgbClr val="007E80"/>
                </a:solidFill>
                <a:latin typeface="Arial"/>
                <a:ea typeface="Arial"/>
                <a:cs typeface="Arial"/>
              </a:defRPr>
            </a:pPr>
            <a:r>
              <a:rPr sz="1950" b="1">
                <a:solidFill>
                  <a:srgbClr val="007E80"/>
                </a:solidFill>
                <a:latin typeface="Arial"/>
                <a:ea typeface="Arial"/>
                <a:cs typeface="Arial"/>
              </a:rPr>
              <a:t>Frontier settings</a:t>
            </a:r>
          </a:p>
        </p:txBody>
      </p:sp>
      <p:graphicFrame>
        <p:nvGraphicFramePr>
          <p:cNvPr id="6" name="">
            <a:extLst xmlns:a="http://schemas.openxmlformats.org/drawingml/2006/main">
              <a:ext uri="{FF2B5EF4-FFF2-40B4-BE49-F238E27FC236}">
                <a16:creationId xmlns:a16="http://schemas.microsoft.com/office/drawing/2014/main" id="{FA1C5D38-03E6-489B-9620-9AC92C4034AC}"/>
              </a:ext>
            </a:extLst>
          </p:cNvPr>
          <p:cNvGraphicFramePr/>
          <p:nvPr/>
        </p:nvGraphicFramePr>
        <p:xfrm>
          <a:off xmlns:a="http://schemas.openxmlformats.org/drawingml/2006/main" x="8096250" y="2238375"/>
          <a:ext xmlns:a="http://schemas.openxmlformats.org/drawingml/2006/main" cx="3448050" cy="2257425"/>
        </p:xfrm>
        <a:graphic xmlns:a="http://schemas.openxmlformats.org/drawingml/2006/main">
          <a:graphicData uri="http://schemas.openxmlformats.org/drawingml/2006/table">
            <a:tbl>
              <a:tblPr/>
              <a:tblGrid>
                <a:gridCol w="1809750"/>
                <a:gridCol w="790575"/>
                <a:gridCol w="847725"/>
              </a:tblGrid>
              <a:tr h="451485">
                <a:tc>
                  <a:txBody>
                    <a:bodyPr lIns="95250" tIns="95250" rIns="95250" bIns="95250"/>
                    <a:lstStyle/>
                    <a:p>
                      <a:r>
                        <a:rPr sz="1425" b="1">
                          <a:solidFill>
                            <a:srgbClr val="FFFFFF"/>
                          </a:solidFill>
                          <a:latin typeface="Arial"/>
                          <a:ea typeface="Arial"/>
                          <a:cs typeface="Arial"/>
                        </a:rPr>
                        <a:t>Setting</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425" b="1">
                          <a:solidFill>
                            <a:srgbClr val="FFFFFF"/>
                          </a:solidFill>
                          <a:latin typeface="Arial"/>
                          <a:ea typeface="Arial"/>
                          <a:cs typeface="Arial"/>
                        </a:rPr>
                        <a:t>Pass</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425" b="1">
                          <a:solidFill>
                            <a:srgbClr val="FFFFFF"/>
                          </a:solidFill>
                          <a:latin typeface="Arial"/>
                          <a:ea typeface="Arial"/>
                          <a:cs typeface="Arial"/>
                        </a:rPr>
                        <a:t>USD</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451485">
                <a:tc>
                  <a:txBody>
                    <a:bodyPr lIns="95250" tIns="95250" rIns="95250" bIns="95250"/>
                    <a:lstStyle/>
                    <a:p>
                      <a:r>
                        <a:rPr sz="1425" b="0">
                          <a:solidFill>
                            <a:srgbClr val="182B35"/>
                          </a:solidFill>
                          <a:latin typeface="Arial"/>
                          <a:ea typeface="Arial"/>
                          <a:cs typeface="Arial"/>
                        </a:rPr>
                        <a:t>Luna 6 Low</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425" b="0">
                          <a:solidFill>
                            <a:srgbClr val="182B35"/>
                          </a:solidFill>
                          <a:latin typeface="Arial"/>
                          <a:ea typeface="Arial"/>
                          <a:cs typeface="Arial"/>
                        </a:rPr>
                        <a:t>4/39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425" b="0">
                          <a:solidFill>
                            <a:srgbClr val="182B35"/>
                          </a:solidFill>
                          <a:latin typeface="Arial"/>
                          <a:ea typeface="Arial"/>
                          <a:cs typeface="Arial"/>
                        </a:rPr>
                        <a:t>.0040</a:t>
                      </a:r>
                    </a:p>
                  </a:txBody>
                  <a:tcPr marL="91440" marR="91440" marT="45720" marB="45720">
                    <a:lnR w="0">
                      <a:solidFill>
                        <a:srgbClr val="FCFBF8"/>
                      </a:solidFill>
                      <a:prstDash val="solid"/>
                    </a:lnR>
                    <a:lnB w="0">
                      <a:solidFill>
                        <a:srgbClr val="FCFBF8"/>
                      </a:solidFill>
                      <a:prstDash val="solid"/>
                    </a:lnB>
                    <a:solidFill>
                      <a:srgbClr val="FFFFFF"/>
                    </a:solidFill>
                  </a:tcPr>
                </a:tc>
              </a:tr>
              <a:tr h="451485">
                <a:tc>
                  <a:txBody>
                    <a:bodyPr lIns="95250" tIns="95250" rIns="95250" bIns="95250"/>
                    <a:lstStyle/>
                    <a:p>
                      <a:r>
                        <a:rPr sz="1425" b="0">
                          <a:solidFill>
                            <a:srgbClr val="182B35"/>
                          </a:solidFill>
                          <a:latin typeface="Arial"/>
                          <a:ea typeface="Arial"/>
                          <a:cs typeface="Arial"/>
                        </a:rPr>
                        <a:t>Luna 6 Extra High</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425" b="0">
                          <a:solidFill>
                            <a:srgbClr val="182B35"/>
                          </a:solidFill>
                          <a:latin typeface="Arial"/>
                          <a:ea typeface="Arial"/>
                          <a:cs typeface="Arial"/>
                        </a:rPr>
                        <a:t>12/39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425" b="0">
                          <a:solidFill>
                            <a:srgbClr val="182B35"/>
                          </a:solidFill>
                          <a:latin typeface="Arial"/>
                          <a:ea typeface="Arial"/>
                          <a:cs typeface="Arial"/>
                        </a:rPr>
                        <a:t>.0126</a:t>
                      </a:r>
                    </a:p>
                  </a:txBody>
                  <a:tcPr marL="91440" marR="91440" marT="45720" marB="45720">
                    <a:lnR w="0">
                      <a:solidFill>
                        <a:srgbClr val="FCFBF8"/>
                      </a:solidFill>
                      <a:prstDash val="solid"/>
                    </a:lnR>
                    <a:lnB w="0">
                      <a:solidFill>
                        <a:srgbClr val="FCFBF8"/>
                      </a:solidFill>
                      <a:prstDash val="solid"/>
                    </a:lnB>
                    <a:solidFill>
                      <a:srgbClr val="FCFBF8"/>
                    </a:solidFill>
                  </a:tcPr>
                </a:tc>
              </a:tr>
              <a:tr h="451485">
                <a:tc>
                  <a:txBody>
                    <a:bodyPr lIns="95250" tIns="95250" rIns="95250" bIns="95250"/>
                    <a:lstStyle/>
                    <a:p>
                      <a:r>
                        <a:rPr sz="1425" b="0">
                          <a:solidFill>
                            <a:srgbClr val="182B35"/>
                          </a:solidFill>
                          <a:latin typeface="Arial"/>
                          <a:ea typeface="Arial"/>
                          <a:cs typeface="Arial"/>
                        </a:rPr>
                        <a:t>Sol 6 Low</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425" b="0">
                          <a:solidFill>
                            <a:srgbClr val="182B35"/>
                          </a:solidFill>
                          <a:latin typeface="Arial"/>
                          <a:ea typeface="Arial"/>
                          <a:cs typeface="Arial"/>
                        </a:rPr>
                        <a:t>37/39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425" b="0">
                          <a:solidFill>
                            <a:srgbClr val="182B35"/>
                          </a:solidFill>
                          <a:latin typeface="Arial"/>
                          <a:ea typeface="Arial"/>
                          <a:cs typeface="Arial"/>
                        </a:rPr>
                        <a:t>.0773</a:t>
                      </a:r>
                    </a:p>
                  </a:txBody>
                  <a:tcPr marL="91440" marR="91440" marT="45720" marB="45720">
                    <a:lnR w="0">
                      <a:solidFill>
                        <a:srgbClr val="FCFBF8"/>
                      </a:solidFill>
                      <a:prstDash val="solid"/>
                    </a:lnR>
                    <a:lnB w="0">
                      <a:solidFill>
                        <a:srgbClr val="FCFBF8"/>
                      </a:solidFill>
                      <a:prstDash val="solid"/>
                    </a:lnB>
                    <a:solidFill>
                      <a:srgbClr val="FFFFFF"/>
                    </a:solidFill>
                  </a:tcPr>
                </a:tc>
              </a:tr>
              <a:tr h="451485">
                <a:tc>
                  <a:txBody>
                    <a:bodyPr lIns="95250" tIns="95250" rIns="95250" bIns="95250"/>
                    <a:lstStyle/>
                    <a:p>
                      <a:r>
                        <a:rPr sz="1425" b="0">
                          <a:solidFill>
                            <a:srgbClr val="182B35"/>
                          </a:solidFill>
                          <a:latin typeface="Arial"/>
                          <a:ea typeface="Arial"/>
                          <a:cs typeface="Arial"/>
                        </a:rPr>
                        <a:t>Sol 6 High</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425" b="0">
                          <a:solidFill>
                            <a:srgbClr val="182B35"/>
                          </a:solidFill>
                          <a:latin typeface="Arial"/>
                          <a:ea typeface="Arial"/>
                          <a:cs typeface="Arial"/>
                        </a:rPr>
                        <a:t>39/39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425" b="0">
                          <a:solidFill>
                            <a:srgbClr val="182B35"/>
                          </a:solidFill>
                          <a:latin typeface="Arial"/>
                          <a:ea typeface="Arial"/>
                          <a:cs typeface="Arial"/>
                        </a:rPr>
                        <a:t>.1975</a:t>
                      </a:r>
                    </a:p>
                  </a:txBody>
                  <a:tcPr marL="91440" marR="91440" marT="45720" marB="45720">
                    <a:lnR w="0">
                      <a:solidFill>
                        <a:srgbClr val="FCFBF8"/>
                      </a:solidFill>
                      <a:prstDash val="solid"/>
                    </a:lnR>
                    <a:lnB w="0">
                      <a:solidFill>
                        <a:srgbClr val="FCFBF8"/>
                      </a:solidFill>
                      <a:prstDash val="solid"/>
                    </a:lnB>
                    <a:solidFill>
                      <a:srgbClr val="FCFBF8"/>
                    </a:solidFill>
                  </a:tcPr>
                </a:tc>
              </a:tr>
            </a:tbl>
          </a:graphicData>
        </a:graphic>
      </p:graphicFrame>
      <p:sp>
        <p:nvSpPr>
          <p:cNvPr id="7" name="">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191500" y="47148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406EA6"/>
                </a:solidFill>
                <a:latin typeface="Arial"/>
                <a:ea typeface="Arial"/>
                <a:cs typeface="Arial"/>
              </a:defRPr>
            </a:defPPr>
          </a:lstStyle>
          <a:p xmlns:a="http://schemas.openxmlformats.org/drawingml/2006/main">
            <a:pPr>
              <a:defRPr sz="1350" b="1">
                <a:solidFill>
                  <a:srgbClr val="406EA6"/>
                </a:solidFill>
                <a:latin typeface="Arial"/>
                <a:ea typeface="Arial"/>
                <a:cs typeface="Arial"/>
              </a:defRPr>
            </a:pPr>
            <a:r>
              <a:rPr sz="1350" b="1">
                <a:solidFill>
                  <a:srgbClr val="406EA6"/>
                </a:solidFill>
                <a:latin typeface="Arial"/>
                <a:ea typeface="Arial"/>
                <a:cs typeface="Arial"/>
              </a:rPr>
              <a:t>GPT-6 Luna</a:t>
            </a:r>
          </a:p>
        </p:txBody>
      </p:sp>
      <p:sp>
        <p:nvSpPr>
          <p:cNvPr id="8" name="">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191500" y="49434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007E80"/>
                </a:solidFill>
                <a:latin typeface="Arial"/>
                <a:ea typeface="Arial"/>
                <a:cs typeface="Arial"/>
              </a:defRPr>
            </a:defPPr>
          </a:lstStyle>
          <a:p xmlns:a="http://schemas.openxmlformats.org/drawingml/2006/main">
            <a:pPr>
              <a:defRPr sz="1350" b="1">
                <a:solidFill>
                  <a:srgbClr val="007E80"/>
                </a:solidFill>
                <a:latin typeface="Arial"/>
                <a:ea typeface="Arial"/>
                <a:cs typeface="Arial"/>
              </a:defRPr>
            </a:pPr>
            <a:r>
              <a:rPr sz="1350" b="1">
                <a:solidFill>
                  <a:srgbClr val="007E80"/>
                </a:solidFill>
                <a:latin typeface="Arial"/>
                <a:ea typeface="Arial"/>
                <a:cs typeface="Arial"/>
              </a:rPr>
              <a:t>GPT-6 Sol</a:t>
            </a:r>
          </a:p>
        </p:txBody>
      </p:sp>
      <p:sp>
        <p:nvSpPr>
          <p:cNvPr id="9" name="">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191500" y="51720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B57C18"/>
                </a:solidFill>
                <a:latin typeface="Arial"/>
                <a:ea typeface="Arial"/>
                <a:cs typeface="Arial"/>
              </a:defRPr>
            </a:defPPr>
          </a:lstStyle>
          <a:p xmlns:a="http://schemas.openxmlformats.org/drawingml/2006/main">
            <a:pPr>
              <a:defRPr sz="1350" b="1">
                <a:solidFill>
                  <a:srgbClr val="B57C18"/>
                </a:solidFill>
                <a:latin typeface="Arial"/>
                <a:ea typeface="Arial"/>
                <a:cs typeface="Arial"/>
              </a:defRPr>
            </a:pPr>
            <a:r>
              <a:rPr sz="1350" b="1">
                <a:solidFill>
                  <a:srgbClr val="B57C18"/>
                </a:solidFill>
                <a:latin typeface="Arial"/>
                <a:ea typeface="Arial"/>
                <a:cs typeface="Arial"/>
              </a:rPr>
              <a:t>GPT-5.6 Terra</a:t>
            </a:r>
          </a:p>
        </p:txBody>
      </p:sp>
      <p:sp>
        <p:nvSpPr>
          <p:cNvPr id="10" name="">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191500" y="54006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79648E"/>
                </a:solidFill>
                <a:latin typeface="Arial"/>
                <a:ea typeface="Arial"/>
                <a:cs typeface="Arial"/>
              </a:defRPr>
            </a:defPPr>
          </a:lstStyle>
          <a:p xmlns:a="http://schemas.openxmlformats.org/drawingml/2006/main">
            <a:pPr>
              <a:defRPr sz="1350" b="1">
                <a:solidFill>
                  <a:srgbClr val="79648E"/>
                </a:solidFill>
                <a:latin typeface="Arial"/>
                <a:ea typeface="Arial"/>
                <a:cs typeface="Arial"/>
              </a:defRPr>
            </a:pPr>
            <a:r>
              <a:rPr sz="1350" b="1">
                <a:solidFill>
                  <a:srgbClr val="79648E"/>
                </a:solidFill>
                <a:latin typeface="Arial"/>
                <a:ea typeface="Arial"/>
                <a:cs typeface="Arial"/>
              </a:rPr>
              <a:t>GPT-6 Astra</a:t>
            </a:r>
          </a:p>
        </p:txBody>
      </p:sp>
      <p:sp>
        <p:nvSpPr>
          <p:cNvPr id="11" name="">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191500" y="56292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AE4E45"/>
                </a:solidFill>
                <a:latin typeface="Arial"/>
                <a:ea typeface="Arial"/>
                <a:cs typeface="Arial"/>
              </a:defRPr>
            </a:defPPr>
          </a:lstStyle>
          <a:p xmlns:a="http://schemas.openxmlformats.org/drawingml/2006/main">
            <a:pPr>
              <a:defRPr sz="1350" b="1">
                <a:solidFill>
                  <a:srgbClr val="AE4E45"/>
                </a:solidFill>
                <a:latin typeface="Arial"/>
                <a:ea typeface="Arial"/>
                <a:cs typeface="Arial"/>
              </a:defRPr>
            </a:pPr>
            <a:r>
              <a:rPr sz="1350" b="1">
                <a:solidFill>
                  <a:srgbClr val="AE4E45"/>
                </a:solidFill>
                <a:latin typeface="Arial"/>
                <a:ea typeface="Arial"/>
                <a:cs typeface="Arial"/>
              </a:rPr>
              <a:t>DeepSeek V4.1 Flash</a:t>
            </a:r>
          </a:p>
        </p:txBody>
      </p:sp>
      <p:sp>
        <p:nvSpPr>
          <p:cNvPr id="12" name="">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Circle = Low, square = High, triangle = Extra High, diamond = Max. DeepSeek costs are lower bounds.</a:t>
            </a:r>
          </a:p>
        </p:txBody>
      </p:sp>
    </p:spTree>
    <p:extLst>
      <p:ext uri="{BB962C8B-B14F-4D97-AF65-F5344CB8AC3E}">
        <p14:creationId xmlns:p14="http://schemas.microsoft.com/office/powerpoint/2010/main" val="561225207"/>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More reasoning does not guarantee more passes</a:t>
            </a:r>
          </a:p>
        </p:txBody>
      </p:sp>
      <p:sp>
        <p:nvSpPr>
          <p:cNvPr id="2" name="">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Completed passes out of 39, with model and task suite held fixed.</a:t>
            </a:r>
          </a:p>
        </p:txBody>
      </p:sp>
      <p:sp>
        <p:nvSpPr>
          <p:cNvPr id="3" name="">
            <a:extLst xmlns:a="http://schemas.openxmlformats.org/drawingml/2006/main">
              <a:ext uri="{FF2B5EF4-FFF2-40B4-BE49-F238E27FC236}">
                <a16:creationId xmlns:a16="http://schemas.microsoft.com/office/drawing/2014/main" id="{74BA436D-FF7E-42C2-81B6-4A30D9ABDA50}"/>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2E2DEA2D-1402-4896-AFB9-55CD997ACE78}"/>
              </a:ext>
            </a:extLst>
          </p:cNvPr>
          <p:cNvGraphicFramePr/>
          <p:nvPr/>
        </p:nvGraphicFramePr>
        <p:xfrm>
          <a:off xmlns:a="http://schemas.openxmlformats.org/drawingml/2006/main" x="685800" y="1857375"/>
          <a:ext xmlns:a="http://schemas.openxmlformats.org/drawingml/2006/main" cx="7620000" cy="3905250"/>
        </p:xfrm>
        <a:graphic xmlns:a="http://schemas.openxmlformats.org/drawingml/2006/main">
          <a:graphicData uri="http://schemas.openxmlformats.org/drawingml/2006/chart">
            <c:chart xmlns:r="http://schemas.openxmlformats.org/officeDocument/2006/relationships" xmlns:c="http://schemas.openxmlformats.org/drawingml/2006/chart" r:id="R7093d3610fc3458c"/>
          </a:graphicData>
        </a:graphic>
      </p:graphicFrame>
      <p:sp>
        <p:nvSpPr>
          <p:cNvPr id="5" name="">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24900" y="21907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B57C18"/>
                </a:solidFill>
                <a:latin typeface="Arial"/>
                <a:ea typeface="Arial"/>
                <a:cs typeface="Arial"/>
              </a:defRPr>
            </a:defPPr>
          </a:lstStyle>
          <a:p xmlns:a="http://schemas.openxmlformats.org/drawingml/2006/main">
            <a:pPr>
              <a:defRPr sz="2025" b="1">
                <a:solidFill>
                  <a:srgbClr val="B57C18"/>
                </a:solidFill>
                <a:latin typeface="Arial"/>
                <a:ea typeface="Arial"/>
                <a:cs typeface="Arial"/>
              </a:defRPr>
            </a:pPr>
            <a:r>
              <a:rPr sz="2025" b="1">
                <a:solidFill>
                  <a:srgbClr val="B57C18"/>
                </a:solidFill>
                <a:latin typeface="Arial"/>
                <a:ea typeface="Arial"/>
                <a:cs typeface="Arial"/>
              </a:rPr>
              <a:t>Terra 5.6</a:t>
            </a:r>
          </a:p>
        </p:txBody>
      </p:sp>
      <p:sp>
        <p:nvSpPr>
          <p:cNvPr id="6" name="">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24900" y="2628900"/>
            <a:ext cx="271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4, 9, 19 passes</a:t>
            </a:r>
          </a:p>
        </p:txBody>
      </p:sp>
      <p:sp>
        <p:nvSpPr>
          <p:cNvPr id="7" name="">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24900" y="3609975"/>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79648E"/>
                </a:solidFill>
                <a:latin typeface="Arial"/>
                <a:ea typeface="Arial"/>
                <a:cs typeface="Arial"/>
              </a:defRPr>
            </a:defPPr>
          </a:lstStyle>
          <a:p xmlns:a="http://schemas.openxmlformats.org/drawingml/2006/main">
            <a:pPr>
              <a:defRPr sz="2025" b="1">
                <a:solidFill>
                  <a:srgbClr val="79648E"/>
                </a:solidFill>
                <a:latin typeface="Arial"/>
                <a:ea typeface="Arial"/>
                <a:cs typeface="Arial"/>
              </a:defRPr>
            </a:pPr>
            <a:r>
              <a:rPr sz="2025" b="1">
                <a:solidFill>
                  <a:srgbClr val="79648E"/>
                </a:solidFill>
                <a:latin typeface="Arial"/>
                <a:ea typeface="Arial"/>
                <a:cs typeface="Arial"/>
              </a:rPr>
              <a:t>Astra Extra High</a:t>
            </a:r>
          </a:p>
        </p:txBody>
      </p:sp>
      <p:sp>
        <p:nvSpPr>
          <p:cNvPr id="8" name="">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24900" y="4381500"/>
            <a:ext cx="271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2B35"/>
                </a:solidFill>
                <a:latin typeface="Arial"/>
                <a:ea typeface="Arial"/>
                <a:cs typeface="Arial"/>
              </a:defRPr>
            </a:defPPr>
          </a:lstStyle>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2 timeouts</a:t>
            </a:r>
          </a:p>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Both checkpoints passed</a:t>
            </a:r>
          </a:p>
        </p:txBody>
      </p:sp>
      <p:sp>
        <p:nvSpPr>
          <p:cNvPr id="9" name="">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Descriptive comparison on selected tasks. High reuses earlier observations. Timeout checkpoints do not count as completed passes.</a:t>
            </a:r>
          </a:p>
        </p:txBody>
      </p:sp>
    </p:spTree>
    <p:extLst>
      <p:ext uri="{BB962C8B-B14F-4D97-AF65-F5344CB8AC3E}">
        <p14:creationId xmlns:p14="http://schemas.microsoft.com/office/powerpoint/2010/main" val="848171683"/>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The failure modes differ sharply by model</a:t>
            </a:r>
          </a:p>
        </p:txBody>
      </p:sp>
      <p:sp>
        <p:nvSpPr>
          <p:cNvPr id="2" name="">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Recorded tool actions, saved programs, and verifier outcomes explain different bottlenecks.</a:t>
            </a:r>
          </a:p>
        </p:txBody>
      </p:sp>
      <p:sp>
        <p:nvSpPr>
          <p:cNvPr id="3" name="">
            <a:extLst xmlns:a="http://schemas.openxmlformats.org/drawingml/2006/main">
              <a:ext uri="{FF2B5EF4-FFF2-40B4-BE49-F238E27FC236}">
                <a16:creationId xmlns:a16="http://schemas.microsoft.com/office/drawing/2014/main" id="{DBDB5771-57AB-4416-9FC4-BFA7D8EC5C04}"/>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6A98BA2F-E957-4A3C-8A0F-728208B144E8}"/>
              </a:ext>
            </a:extLst>
          </p:cNvPr>
          <p:cNvGraphicFramePr/>
          <p:nvPr/>
        </p:nvGraphicFramePr>
        <p:xfrm>
          <a:off xmlns:a="http://schemas.openxmlformats.org/drawingml/2006/main" x="666750" y="1847850"/>
          <a:ext xmlns:a="http://schemas.openxmlformats.org/drawingml/2006/main" cx="7524750" cy="3952875"/>
        </p:xfrm>
        <a:graphic xmlns:a="http://schemas.openxmlformats.org/drawingml/2006/main">
          <a:graphicData uri="http://schemas.openxmlformats.org/drawingml/2006/chart">
            <c:chart xmlns:r="http://schemas.openxmlformats.org/officeDocument/2006/relationships" xmlns:c="http://schemas.openxmlformats.org/drawingml/2006/chart" r:id="R696c14925ed646d5"/>
          </a:graphicData>
        </a:graphic>
      </p:graphicFrame>
      <p:sp>
        <p:nvSpPr>
          <p:cNvPr id="5" name="">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57250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B57C18"/>
                </a:solidFill>
                <a:latin typeface="Arial"/>
                <a:ea typeface="Arial"/>
                <a:cs typeface="Arial"/>
              </a:defRPr>
            </a:defPPr>
          </a:lstStyle>
          <a:p xmlns:a="http://schemas.openxmlformats.org/drawingml/2006/main">
            <a:pPr>
              <a:defRPr sz="3600" b="1">
                <a:solidFill>
                  <a:srgbClr val="B57C18"/>
                </a:solidFill>
                <a:latin typeface="Arial"/>
                <a:ea typeface="Arial"/>
                <a:cs typeface="Arial"/>
              </a:defRPr>
            </a:pPr>
            <a:r>
              <a:rPr sz="3600" b="1">
                <a:solidFill>
                  <a:srgbClr val="B57C18"/>
                </a:solidFill>
                <a:latin typeface="Arial"/>
                <a:ea typeface="Arial"/>
                <a:cs typeface="Arial"/>
              </a:rPr>
              <a:t>186 / 191</a:t>
            </a:r>
          </a:p>
        </p:txBody>
      </p:sp>
      <p:sp>
        <p:nvSpPr>
          <p:cNvPr id="6" name="">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01075" y="279082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2B35"/>
                </a:solidFill>
                <a:latin typeface="Arial"/>
                <a:ea typeface="Arial"/>
                <a:cs typeface="Arial"/>
              </a:defRPr>
            </a:defPPr>
          </a:lstStyle>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Normally completed failures</a:t>
            </a:r>
          </a:p>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failed only hidden predictions</a:t>
            </a:r>
          </a:p>
        </p:txBody>
      </p:sp>
      <p:sp>
        <p:nvSpPr>
          <p:cNvPr id="7" name="">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572500" y="4000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AE4E45"/>
                </a:solidFill>
                <a:latin typeface="Arial"/>
                <a:ea typeface="Arial"/>
                <a:cs typeface="Arial"/>
              </a:defRPr>
            </a:defPPr>
          </a:lstStyle>
          <a:p xmlns:a="http://schemas.openxmlformats.org/drawingml/2006/main">
            <a:pPr>
              <a:defRPr sz="3600" b="1">
                <a:solidFill>
                  <a:srgbClr val="AE4E45"/>
                </a:solidFill>
                <a:latin typeface="Arial"/>
                <a:ea typeface="Arial"/>
                <a:cs typeface="Arial"/>
              </a:defRPr>
            </a:pPr>
            <a:r>
              <a:rPr sz="3600" b="1">
                <a:solidFill>
                  <a:srgbClr val="AE4E45"/>
                </a:solidFill>
                <a:latin typeface="Arial"/>
                <a:ea typeface="Arial"/>
                <a:cs typeface="Arial"/>
              </a:rPr>
              <a:t>105 / 117</a:t>
            </a:r>
          </a:p>
        </p:txBody>
      </p:sp>
      <p:sp>
        <p:nvSpPr>
          <p:cNvPr id="8" name="">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01075" y="4695825"/>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2B35"/>
                </a:solidFill>
                <a:latin typeface="Arial"/>
                <a:ea typeface="Arial"/>
                <a:cs typeface="Arial"/>
              </a:defRPr>
            </a:defPPr>
          </a:lstStyle>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DeepSeek attempts ended</a:t>
            </a:r>
          </a:p>
          <a:p xmlns:a="http://schemas.openxmlformats.org/drawingml/2006/main">
            <a:pPr>
              <a:defRPr sz="1875" b="0">
                <a:solidFill>
                  <a:srgbClr val="182B35"/>
                </a:solidFill>
                <a:latin typeface="Arial"/>
                <a:ea typeface="Arial"/>
                <a:cs typeface="Arial"/>
              </a:defRPr>
            </a:pPr>
            <a:r>
              <a:rPr sz="1875" b="0">
                <a:solidFill>
                  <a:srgbClr val="182B35"/>
                </a:solidFill>
                <a:latin typeface="Arial"/>
                <a:ea typeface="Arial"/>
                <a:cs typeface="Arial"/>
              </a:rPr>
              <a:t>with execution errors</a:t>
            </a:r>
          </a:p>
        </p:txBody>
      </p:sp>
      <p:sp>
        <p:nvSpPr>
          <p:cNvPr id="9" name="">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At least 141 of the 186 prediction-only failures show public-test passes. Errors alone do not establish a physics mistake.</a:t>
            </a:r>
          </a:p>
        </p:txBody>
      </p:sp>
    </p:spTree>
    <p:extLst>
      <p:ext uri="{BB962C8B-B14F-4D97-AF65-F5344CB8AC3E}">
        <p14:creationId xmlns:p14="http://schemas.microsoft.com/office/powerpoint/2010/main" val="59164192"/>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5EE338-B56B-481D-B6A6-0B3CEF152CFC}"/>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A successful fit can leave the wrong physics untouched</a:t>
            </a:r>
          </a:p>
        </p:txBody>
      </p:sp>
      <p:sp>
        <p:nvSpPr>
          <p:cNvPr id="2" name="">
            <a:extLst xmlns:a="http://schemas.openxmlformats.org/drawingml/2006/main">
              <a:ext uri="{FF2B5EF4-FFF2-40B4-BE49-F238E27FC236}">
                <a16:creationId xmlns:a16="http://schemas.microsoft.com/office/drawing/2014/main" id="{1C45CC69-D4F1-4E3C-BC52-A6B7C129DBDC}"/>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Entropy anomaly, GPT-6 Luna Low, one reviewed 21.6-second trajectory.</a:t>
            </a:r>
          </a:p>
        </p:txBody>
      </p:sp>
      <p:sp>
        <p:nvSpPr>
          <p:cNvPr id="3" name="">
            <a:extLst xmlns:a="http://schemas.openxmlformats.org/drawingml/2006/main">
              <a:ext uri="{FF2B5EF4-FFF2-40B4-BE49-F238E27FC236}">
                <a16:creationId xmlns:a16="http://schemas.microsoft.com/office/drawing/2014/main" id="{78085C52-C676-42E8-ABB4-3186FE1D6E09}"/>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41DFBBE4-F088-48D5-9D3B-13DFCCBE8782}"/>
              </a:ext>
            </a:extLst>
          </p:cNvPr>
          <p:cNvGraphicFramePr/>
          <p:nvPr/>
        </p:nvGraphicFramePr>
        <p:xfrm>
          <a:off xmlns:a="http://schemas.openxmlformats.org/drawingml/2006/main" x="628650" y="1838325"/>
          <a:ext xmlns:a="http://schemas.openxmlformats.org/drawingml/2006/main" cx="10915650" cy="2762250"/>
        </p:xfrm>
        <a:graphic xmlns:a="http://schemas.openxmlformats.org/drawingml/2006/main">
          <a:graphicData uri="http://schemas.openxmlformats.org/drawingml/2006/table">
            <a:tbl>
              <a:tblPr/>
              <a:tblGrid>
                <a:gridCol w="4762500"/>
                <a:gridCol w="6153150"/>
              </a:tblGrid>
              <a:tr h="552450">
                <a:tc>
                  <a:txBody>
                    <a:bodyPr lIns="95250" tIns="95250" rIns="95250" bIns="95250"/>
                    <a:lstStyle/>
                    <a:p>
                      <a:r>
                        <a:rPr sz="1875" b="1">
                          <a:solidFill>
                            <a:srgbClr val="FFFFFF"/>
                          </a:solidFill>
                          <a:latin typeface="Arial"/>
                          <a:ea typeface="Arial"/>
                          <a:cs typeface="Arial"/>
                        </a:rPr>
                        <a:t>Observed action</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875" b="1">
                          <a:solidFill>
                            <a:srgbClr val="FFFFFF"/>
                          </a:solidFill>
                          <a:latin typeface="Arial"/>
                          <a:ea typeface="Arial"/>
                          <a:cs typeface="Arial"/>
                        </a:rPr>
                        <a:t>Evidence</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552450">
                <a:tc>
                  <a:txBody>
                    <a:bodyPr lIns="95250" tIns="95250" rIns="95250" bIns="95250"/>
                    <a:lstStyle/>
                    <a:p>
                      <a:r>
                        <a:rPr sz="1875" b="0">
                          <a:solidFill>
                            <a:srgbClr val="182B35"/>
                          </a:solidFill>
                          <a:latin typeface="Arial"/>
                          <a:ea typeface="Arial"/>
                          <a:cs typeface="Arial"/>
                        </a:rPr>
                        <a:t>Read the apparatus and starter</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Saved tool call</a:t>
                      </a:r>
                    </a:p>
                  </a:txBody>
                  <a:tcPr marL="91440" marR="91440" marT="45720" marB="45720">
                    <a:lnR w="0">
                      <a:solidFill>
                        <a:srgbClr val="FCFBF8"/>
                      </a:solidFill>
                      <a:prstDash val="solid"/>
                    </a:lnR>
                    <a:lnB w="0">
                      <a:solidFill>
                        <a:srgbClr val="FCFBF8"/>
                      </a:solidFill>
                      <a:prstDash val="solid"/>
                    </a:lnB>
                    <a:solidFill>
                      <a:srgbClr val="FFFFFF"/>
                    </a:solidFill>
                  </a:tcPr>
                </a:tc>
              </a:tr>
              <a:tr h="552450">
                <a:tc>
                  <a:txBody>
                    <a:bodyPr lIns="95250" tIns="95250" rIns="95250" bIns="95250"/>
                    <a:lstStyle/>
                    <a:p>
                      <a:r>
                        <a:rPr sz="1875" b="0">
                          <a:solidFill>
                            <a:srgbClr val="182B35"/>
                          </a:solidFill>
                          <a:latin typeface="Arial"/>
                          <a:ea typeface="Arial"/>
                          <a:cs typeface="Arial"/>
                        </a:rPr>
                        <a:t>Fit the friction parameter</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Only fit() changed</a:t>
                      </a:r>
                    </a:p>
                  </a:txBody>
                  <a:tcPr marL="91440" marR="91440" marT="45720" marB="45720">
                    <a:lnR w="0">
                      <a:solidFill>
                        <a:srgbClr val="FCFBF8"/>
                      </a:solidFill>
                      <a:prstDash val="solid"/>
                    </a:lnR>
                    <a:lnB w="0">
                      <a:solidFill>
                        <a:srgbClr val="FCFBF8"/>
                      </a:solidFill>
                      <a:prstDash val="solid"/>
                    </a:lnB>
                    <a:solidFill>
                      <a:srgbClr val="FCFBF8"/>
                    </a:solidFill>
                  </a:tcPr>
                </a:tc>
              </a:tr>
              <a:tr h="552450">
                <a:tc>
                  <a:txBody>
                    <a:bodyPr lIns="95250" tIns="95250" rIns="95250" bIns="95250"/>
                    <a:lstStyle/>
                    <a:p>
                      <a:r>
                        <a:rPr sz="1875" b="0">
                          <a:solidFill>
                            <a:srgbClr val="182B35"/>
                          </a:solidFill>
                          <a:latin typeface="Arial"/>
                          <a:ea typeface="Arial"/>
                          <a:cs typeface="Arial"/>
                        </a:rPr>
                        <a:t>Run the public tests</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2 tests passed</a:t>
                      </a:r>
                    </a:p>
                  </a:txBody>
                  <a:tcPr marL="91440" marR="91440" marT="45720" marB="45720">
                    <a:lnR w="0">
                      <a:solidFill>
                        <a:srgbClr val="FCFBF8"/>
                      </a:solidFill>
                      <a:prstDash val="solid"/>
                    </a:lnR>
                    <a:lnB w="0">
                      <a:solidFill>
                        <a:srgbClr val="FCFBF8"/>
                      </a:solidFill>
                      <a:prstDash val="solid"/>
                    </a:lnB>
                    <a:solidFill>
                      <a:srgbClr val="FFFFFF"/>
                    </a:solidFill>
                  </a:tcPr>
                </a:tc>
              </a:tr>
              <a:tr h="552450">
                <a:tc>
                  <a:txBody>
                    <a:bodyPr lIns="95250" tIns="95250" rIns="95250" bIns="95250"/>
                    <a:lstStyle/>
                    <a:p>
                      <a:r>
                        <a:rPr sz="1875" b="0">
                          <a:solidFill>
                            <a:srgbClr val="182B35"/>
                          </a:solidFill>
                          <a:latin typeface="Arial"/>
                          <a:ea typeface="Arial"/>
                          <a:cs typeface="Arial"/>
                        </a:rPr>
                        <a:t>Submit the existing predictor</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Conditional population correction stayed zero</a:t>
                      </a:r>
                    </a:p>
                  </a:txBody>
                  <a:tcPr marL="91440" marR="91440" marT="45720" marB="45720">
                    <a:lnR w="0">
                      <a:solidFill>
                        <a:srgbClr val="FCFBF8"/>
                      </a:solidFill>
                      <a:prstDash val="solid"/>
                    </a:lnR>
                    <a:lnB w="0">
                      <a:solidFill>
                        <a:srgbClr val="FCFBF8"/>
                      </a:solidFill>
                      <a:prstDash val="solid"/>
                    </a:lnB>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B5D75F1E-98EA-4E81-ABFB-442F6CA78C91}"/>
              </a:ext>
            </a:extLst>
          </p:cNvPr>
          <p:cNvSpPr>
            <a:spLocks xmlns:a="http://schemas.openxmlformats.org/drawingml/2006/main" noGrp="1"/>
          </p:cNvSpPr>
          <p:nvPr/>
        </p:nvSpPr>
        <p:spPr>
          <a:xfrm xmlns:a="http://schemas.openxmlformats.org/drawingml/2006/main">
            <a:off x="685800" y="501015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AE4E45"/>
                </a:solidFill>
                <a:latin typeface="Arial"/>
                <a:ea typeface="Arial"/>
                <a:cs typeface="Arial"/>
              </a:defRPr>
            </a:defPPr>
          </a:lstStyle>
          <a:p xmlns:a="http://schemas.openxmlformats.org/drawingml/2006/main">
            <a:pPr>
              <a:defRPr sz="3825" b="1">
                <a:solidFill>
                  <a:srgbClr val="AE4E45"/>
                </a:solidFill>
                <a:latin typeface="Arial"/>
                <a:ea typeface="Arial"/>
                <a:cs typeface="Arial"/>
              </a:defRPr>
            </a:pPr>
            <a:r>
              <a:rPr sz="3825" b="1">
                <a:solidFill>
                  <a:srgbClr val="AE4E45"/>
                </a:solidFill>
                <a:latin typeface="Arial"/>
                <a:ea typeface="Arial"/>
                <a:cs typeface="Arial"/>
              </a:rPr>
              <a:t>77.38%</a:t>
            </a:r>
          </a:p>
        </p:txBody>
      </p:sp>
      <p:sp>
        <p:nvSpPr>
          <p:cNvPr id="6" name="">
            <a:extLst xmlns:a="http://schemas.openxmlformats.org/drawingml/2006/main">
              <a:ext uri="{FF2B5EF4-FFF2-40B4-BE49-F238E27FC236}">
                <a16:creationId xmlns:a16="http://schemas.microsoft.com/office/drawing/2014/main" id="{FE085421-B76F-422C-9A3F-F2BB753CD409}"/>
              </a:ext>
            </a:extLst>
          </p:cNvPr>
          <p:cNvSpPr>
            <a:spLocks xmlns:a="http://schemas.openxmlformats.org/drawingml/2006/main" noGrp="1"/>
          </p:cNvSpPr>
          <p:nvPr/>
        </p:nvSpPr>
        <p:spPr>
          <a:xfrm xmlns:a="http://schemas.openxmlformats.org/drawingml/2006/main">
            <a:off x="3638550" y="510540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2B35"/>
                </a:solidFill>
                <a:latin typeface="Arial"/>
                <a:ea typeface="Arial"/>
                <a:cs typeface="Arial"/>
              </a:defRPr>
            </a:defPPr>
          </a:lstStyle>
          <a:p xmlns:a="http://schemas.openxmlformats.org/drawingml/2006/main">
            <a:pPr>
              <a:defRPr sz="2100" b="0">
                <a:solidFill>
                  <a:srgbClr val="182B35"/>
                </a:solidFill>
                <a:latin typeface="Arial"/>
                <a:ea typeface="Arial"/>
                <a:cs typeface="Arial"/>
              </a:defRPr>
            </a:pPr>
            <a:r>
              <a:rPr sz="2100" b="0">
                <a:solidFill>
                  <a:srgbClr val="182B35"/>
                </a:solidFill>
                <a:latin typeface="Arial"/>
                <a:ea typeface="Arial"/>
                <a:cs typeface="Arial"/>
              </a:rPr>
              <a:t>largest hidden-group error</a:t>
            </a:r>
          </a:p>
          <a:p xmlns:a="http://schemas.openxmlformats.org/drawingml/2006/main">
            <a:pPr>
              <a:defRPr sz="2100" b="0">
                <a:solidFill>
                  <a:srgbClr val="182B35"/>
                </a:solidFill>
                <a:latin typeface="Arial"/>
                <a:ea typeface="Arial"/>
                <a:cs typeface="Arial"/>
              </a:defRPr>
            </a:pPr>
            <a:r>
              <a:rPr sz="2100" b="0">
                <a:solidFill>
                  <a:srgbClr val="182B35"/>
                </a:solidFill>
                <a:latin typeface="Arial"/>
                <a:ea typeface="Arial"/>
                <a:cs typeface="Arial"/>
              </a:rPr>
              <a:t>in the saved submission</a:t>
            </a:r>
          </a:p>
        </p:txBody>
      </p:sp>
      <p:sp>
        <p:nvSpPr>
          <p:cNvPr id="7" name="">
            <a:extLst xmlns:a="http://schemas.openxmlformats.org/drawingml/2006/main">
              <a:ext uri="{FF2B5EF4-FFF2-40B4-BE49-F238E27FC236}">
                <a16:creationId xmlns:a16="http://schemas.microsoft.com/office/drawing/2014/main" id="{9AE0FFFB-693A-46A2-86AF-5B479DB0ACBB}"/>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After an analyst restores the missing contact-population term with friction fixed, the largest tested error is 0.0443%.</a:t>
            </a:r>
          </a:p>
        </p:txBody>
      </p:sp>
    </p:spTree>
    <p:extLst>
      <p:ext uri="{BB962C8B-B14F-4D97-AF65-F5344CB8AC3E}">
        <p14:creationId xmlns:p14="http://schemas.microsoft.com/office/powerpoint/2010/main" val="1861731263"/>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47DC7D-E321-4143-969B-DB0424C2866C}"/>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Four targeted corrections isolate physical omissions</a:t>
            </a:r>
          </a:p>
        </p:txBody>
      </p:sp>
      <p:sp>
        <p:nvSpPr>
          <p:cNvPr id="2" name="">
            <a:extLst xmlns:a="http://schemas.openxmlformats.org/drawingml/2006/main">
              <a:ext uri="{FF2B5EF4-FFF2-40B4-BE49-F238E27FC236}">
                <a16:creationId xmlns:a16="http://schemas.microsoft.com/office/drawing/2014/main" id="{C2C2A964-D5BB-4AFD-B2D4-93F734E05092}"/>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Largest tested prediction-group error before and after an analyst intervention.</a:t>
            </a:r>
          </a:p>
        </p:txBody>
      </p:sp>
      <p:sp>
        <p:nvSpPr>
          <p:cNvPr id="3" name="">
            <a:extLst xmlns:a="http://schemas.openxmlformats.org/drawingml/2006/main">
              <a:ext uri="{FF2B5EF4-FFF2-40B4-BE49-F238E27FC236}">
                <a16:creationId xmlns:a16="http://schemas.microsoft.com/office/drawing/2014/main" id="{985DB285-4B36-4265-A344-1B5BF0911570}"/>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0419E46F-8F80-4829-B6FD-D7A7F28080EF}"/>
              </a:ext>
            </a:extLst>
          </p:cNvPr>
          <p:cNvGraphicFramePr/>
          <p:nvPr/>
        </p:nvGraphicFramePr>
        <p:xfrm>
          <a:off xmlns:a="http://schemas.openxmlformats.org/drawingml/2006/main" x="628650" y="1847850"/>
          <a:ext xmlns:a="http://schemas.openxmlformats.org/drawingml/2006/main" cx="10915650" cy="3238500"/>
        </p:xfrm>
        <a:graphic xmlns:a="http://schemas.openxmlformats.org/drawingml/2006/main">
          <a:graphicData uri="http://schemas.openxmlformats.org/drawingml/2006/table">
            <a:tbl>
              <a:tblPr/>
              <a:tblGrid>
                <a:gridCol w="7105650"/>
                <a:gridCol w="1809750"/>
                <a:gridCol w="2000250"/>
              </a:tblGrid>
              <a:tr h="647700">
                <a:tc>
                  <a:txBody>
                    <a:bodyPr lIns="95250" tIns="95250" rIns="95250" bIns="95250"/>
                    <a:lstStyle/>
                    <a:p>
                      <a:r>
                        <a:rPr sz="1875" b="1">
                          <a:solidFill>
                            <a:srgbClr val="FFFFFF"/>
                          </a:solidFill>
                          <a:latin typeface="Arial"/>
                          <a:ea typeface="Arial"/>
                          <a:cs typeface="Arial"/>
                        </a:rPr>
                        <a:t>Task / missing ingredient</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875" b="1">
                          <a:solidFill>
                            <a:srgbClr val="FFFFFF"/>
                          </a:solidFill>
                          <a:latin typeface="Arial"/>
                          <a:ea typeface="Arial"/>
                          <a:cs typeface="Arial"/>
                        </a:rPr>
                        <a:t>Before</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875" b="1">
                          <a:solidFill>
                            <a:srgbClr val="FFFFFF"/>
                          </a:solidFill>
                          <a:latin typeface="Arial"/>
                          <a:ea typeface="Arial"/>
                          <a:cs typeface="Arial"/>
                        </a:rPr>
                        <a:t>After</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647700">
                <a:tc>
                  <a:txBody>
                    <a:bodyPr lIns="95250" tIns="95250" rIns="95250" bIns="95250"/>
                    <a:lstStyle/>
                    <a:p>
                      <a:r>
                        <a:rPr sz="1875" b="0">
                          <a:solidFill>
                            <a:srgbClr val="182B35"/>
                          </a:solidFill>
                          <a:latin typeface="Arial"/>
                          <a:ea typeface="Arial"/>
                          <a:cs typeface="Arial"/>
                        </a:rPr>
                        <a:t>Entropy / conditional contact population</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77.38%</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0.0443%</a:t>
                      </a:r>
                    </a:p>
                  </a:txBody>
                  <a:tcPr marL="91440" marR="91440" marT="45720" marB="45720">
                    <a:lnR w="0">
                      <a:solidFill>
                        <a:srgbClr val="FCFBF8"/>
                      </a:solidFill>
                      <a:prstDash val="solid"/>
                    </a:lnR>
                    <a:lnB w="0">
                      <a:solidFill>
                        <a:srgbClr val="FCFBF8"/>
                      </a:solidFill>
                      <a:prstDash val="solid"/>
                    </a:lnB>
                    <a:solidFill>
                      <a:srgbClr val="FFFFFF"/>
                    </a:solidFill>
                  </a:tcPr>
                </a:tc>
              </a:tr>
              <a:tr h="647700">
                <a:tc>
                  <a:txBody>
                    <a:bodyPr lIns="95250" tIns="95250" rIns="95250" bIns="95250"/>
                    <a:lstStyle/>
                    <a:p>
                      <a:r>
                        <a:rPr sz="1875" b="0">
                          <a:solidFill>
                            <a:srgbClr val="182B35"/>
                          </a:solidFill>
                          <a:latin typeface="Arial"/>
                          <a:ea typeface="Arial"/>
                          <a:cs typeface="Arial"/>
                        </a:rPr>
                        <a:t>Magnetic tracer / mixed diffusion</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101.10%</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0.0638%</a:t>
                      </a:r>
                    </a:p>
                  </a:txBody>
                  <a:tcPr marL="91440" marR="91440" marT="45720" marB="45720">
                    <a:lnR w="0">
                      <a:solidFill>
                        <a:srgbClr val="FCFBF8"/>
                      </a:solidFill>
                      <a:prstDash val="solid"/>
                    </a:lnR>
                    <a:lnB w="0">
                      <a:solidFill>
                        <a:srgbClr val="FCFBF8"/>
                      </a:solidFill>
                      <a:prstDash val="solid"/>
                    </a:lnB>
                    <a:solidFill>
                      <a:srgbClr val="FCFBF8"/>
                    </a:solidFill>
                  </a:tcPr>
                </a:tc>
              </a:tr>
              <a:tr h="647700">
                <a:tc>
                  <a:txBody>
                    <a:bodyPr lIns="95250" tIns="95250" rIns="95250" bIns="95250"/>
                    <a:lstStyle/>
                    <a:p>
                      <a:r>
                        <a:rPr sz="1875" b="0">
                          <a:solidFill>
                            <a:srgbClr val="182B35"/>
                          </a:solidFill>
                          <a:latin typeface="Arial"/>
                          <a:ea typeface="Arial"/>
                          <a:cs typeface="Arial"/>
                        </a:rPr>
                        <a:t>Single-file memory / preparation covariance</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136.06%</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875" b="0">
                          <a:solidFill>
                            <a:srgbClr val="182B35"/>
                          </a:solidFill>
                          <a:latin typeface="Arial"/>
                          <a:ea typeface="Arial"/>
                          <a:cs typeface="Arial"/>
                        </a:rPr>
                        <a:t>0.0028%</a:t>
                      </a:r>
                    </a:p>
                  </a:txBody>
                  <a:tcPr marL="91440" marR="91440" marT="45720" marB="45720">
                    <a:lnR w="0">
                      <a:solidFill>
                        <a:srgbClr val="FCFBF8"/>
                      </a:solidFill>
                      <a:prstDash val="solid"/>
                    </a:lnR>
                    <a:lnB w="0">
                      <a:solidFill>
                        <a:srgbClr val="FCFBF8"/>
                      </a:solidFill>
                      <a:prstDash val="solid"/>
                    </a:lnB>
                    <a:solidFill>
                      <a:srgbClr val="FFFFFF"/>
                    </a:solidFill>
                  </a:tcPr>
                </a:tc>
              </a:tr>
              <a:tr h="647700">
                <a:tc>
                  <a:txBody>
                    <a:bodyPr lIns="95250" tIns="95250" rIns="95250" bIns="95250"/>
                    <a:lstStyle/>
                    <a:p>
                      <a:r>
                        <a:rPr sz="1875" b="0">
                          <a:solidFill>
                            <a:srgbClr val="182B35"/>
                          </a:solidFill>
                          <a:latin typeface="Arial"/>
                          <a:ea typeface="Arial"/>
                          <a:cs typeface="Arial"/>
                        </a:rPr>
                        <a:t>Reaction–diffusion / constrained covariance</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59.41%</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875" b="0">
                          <a:solidFill>
                            <a:srgbClr val="182B35"/>
                          </a:solidFill>
                          <a:latin typeface="Arial"/>
                          <a:ea typeface="Arial"/>
                          <a:cs typeface="Arial"/>
                        </a:rPr>
                        <a:t>0.0031%</a:t>
                      </a:r>
                    </a:p>
                  </a:txBody>
                  <a:tcPr marL="91440" marR="91440" marT="45720" marB="45720">
                    <a:lnR w="0">
                      <a:solidFill>
                        <a:srgbClr val="FCFBF8"/>
                      </a:solidFill>
                      <a:prstDash val="solid"/>
                    </a:lnR>
                    <a:lnB w="0">
                      <a:solidFill>
                        <a:srgbClr val="FCFBF8"/>
                      </a:solidFill>
                      <a:prstDash val="solid"/>
                    </a:lnB>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0D37F269-2D08-4960-A8A6-6981F554EC6A}"/>
              </a:ext>
            </a:extLst>
          </p:cNvPr>
          <p:cNvSpPr>
            <a:spLocks xmlns:a="http://schemas.openxmlformats.org/drawingml/2006/main" noGrp="1"/>
          </p:cNvSpPr>
          <p:nvPr/>
        </p:nvSpPr>
        <p:spPr>
          <a:xfrm xmlns:a="http://schemas.openxmlformats.org/drawingml/2006/main">
            <a:off x="666750" y="5410200"/>
            <a:ext cx="1064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E80"/>
                </a:solidFill>
                <a:latin typeface="Arial"/>
                <a:ea typeface="Arial"/>
                <a:cs typeface="Arial"/>
              </a:defRPr>
            </a:defPPr>
          </a:lstStyle>
          <a:p xmlns:a="http://schemas.openxmlformats.org/drawingml/2006/main">
            <a:pPr>
              <a:defRPr sz="2025" b="1">
                <a:solidFill>
                  <a:srgbClr val="007E80"/>
                </a:solidFill>
                <a:latin typeface="Arial"/>
                <a:ea typeface="Arial"/>
                <a:cs typeface="Arial"/>
              </a:defRPr>
            </a:pPr>
            <a:r>
              <a:rPr sz="2025" b="1">
                <a:solidFill>
                  <a:srgbClr val="007E80"/>
                </a:solidFill>
                <a:latin typeface="Arial"/>
                <a:ea typeface="Arial"/>
                <a:cs typeface="Arial"/>
              </a:rPr>
              <a:t>Fitted parameters stayed fixed. All tested groups fell below their original tolerances.</a:t>
            </a:r>
          </a:p>
        </p:txBody>
      </p:sp>
      <p:sp>
        <p:nvSpPr>
          <p:cNvPr id="6" name="">
            <a:extLst xmlns:a="http://schemas.openxmlformats.org/drawingml/2006/main">
              <a:ext uri="{FF2B5EF4-FFF2-40B4-BE49-F238E27FC236}">
                <a16:creationId xmlns:a16="http://schemas.microsoft.com/office/drawing/2014/main" id="{3AD4F74C-3AB6-42F0-A8BA-DEAA6852CC5E}"/>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Diagnostic interventions do not add benchmark passes. Reaction–diffusion covers fluctuation groups only.</a:t>
            </a:r>
          </a:p>
        </p:txBody>
      </p:sp>
    </p:spTree>
    <p:extLst>
      <p:ext uri="{BB962C8B-B14F-4D97-AF65-F5344CB8AC3E}">
        <p14:creationId xmlns:p14="http://schemas.microsoft.com/office/powerpoint/2010/main" val="1379978109"/>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6C902-9820-4B12-8C0A-9238CDD7EBFB}"/>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The hint comparison holds effort at High</a:t>
            </a:r>
          </a:p>
        </p:txBody>
      </p:sp>
      <p:sp>
        <p:nvSpPr>
          <p:cNvPr id="2" name="">
            <a:extLst xmlns:a="http://schemas.openxmlformats.org/drawingml/2006/main">
              <a:ext uri="{FF2B5EF4-FFF2-40B4-BE49-F238E27FC236}">
                <a16:creationId xmlns:a16="http://schemas.microsoft.com/office/drawing/2014/main" id="{B703EA6D-3DAD-46F2-BE7A-82DDD3A9140F}"/>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GPT-5.6 Luna, GPT-5.6 Terra, and DeepSeek V4.1 Flash across the same 13 tasks.</a:t>
            </a:r>
          </a:p>
        </p:txBody>
      </p:sp>
      <p:sp>
        <p:nvSpPr>
          <p:cNvPr id="3" name="">
            <a:extLst xmlns:a="http://schemas.openxmlformats.org/drawingml/2006/main">
              <a:ext uri="{FF2B5EF4-FFF2-40B4-BE49-F238E27FC236}">
                <a16:creationId xmlns:a16="http://schemas.microsoft.com/office/drawing/2014/main" id="{7AAD95E7-A507-466C-8D99-3DEC880976BB}"/>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A8A24CE0-7B8C-4504-9F64-E9E567D1A19D}"/>
              </a:ext>
            </a:extLst>
          </p:cNvPr>
          <p:cNvGraphicFramePr/>
          <p:nvPr/>
        </p:nvGraphicFramePr>
        <p:xfrm>
          <a:off xmlns:a="http://schemas.openxmlformats.org/drawingml/2006/main" x="628650" y="1838325"/>
          <a:ext xmlns:a="http://schemas.openxmlformats.org/drawingml/2006/main" cx="10915650" cy="2705100"/>
        </p:xfrm>
        <a:graphic xmlns:a="http://schemas.openxmlformats.org/drawingml/2006/main">
          <a:graphicData uri="http://schemas.openxmlformats.org/drawingml/2006/table">
            <a:tbl>
              <a:tblPr/>
              <a:tblGrid>
                <a:gridCol w="3505200"/>
                <a:gridCol w="7410450"/>
              </a:tblGrid>
              <a:tr h="676275">
                <a:tc>
                  <a:txBody>
                    <a:bodyPr lIns="95250" tIns="95250" rIns="95250" bIns="95250"/>
                    <a:lstStyle/>
                    <a:p>
                      <a:r>
                        <a:rPr sz="1950" b="1">
                          <a:solidFill>
                            <a:srgbClr val="FFFFFF"/>
                          </a:solidFill>
                          <a:latin typeface="Arial"/>
                          <a:ea typeface="Arial"/>
                          <a:cs typeface="Arial"/>
                        </a:rPr>
                        <a:t>Prompt condition</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950" b="1">
                          <a:solidFill>
                            <a:srgbClr val="FFFFFF"/>
                          </a:solidFill>
                          <a:latin typeface="Arial"/>
                          <a:ea typeface="Arial"/>
                          <a:cs typeface="Arial"/>
                        </a:rPr>
                        <a:t>Additional guidance</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676275">
                <a:tc>
                  <a:txBody>
                    <a:bodyPr lIns="95250" tIns="95250" rIns="95250" bIns="95250"/>
                    <a:lstStyle/>
                    <a:p>
                      <a:r>
                        <a:rPr sz="1950" b="0">
                          <a:solidFill>
                            <a:srgbClr val="182B35"/>
                          </a:solidFill>
                          <a:latin typeface="Arial"/>
                          <a:ea typeface="Arial"/>
                          <a:cs typeface="Arial"/>
                        </a:rPr>
                        <a:t>No hint</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950" b="0">
                          <a:solidFill>
                            <a:srgbClr val="182B35"/>
                          </a:solidFill>
                          <a:latin typeface="Arial"/>
                          <a:ea typeface="Arial"/>
                          <a:cs typeface="Arial"/>
                        </a:rPr>
                        <a:t>Original instruction</a:t>
                      </a:r>
                    </a:p>
                  </a:txBody>
                  <a:tcPr marL="91440" marR="91440" marT="45720" marB="45720">
                    <a:lnR w="0">
                      <a:solidFill>
                        <a:srgbClr val="FCFBF8"/>
                      </a:solidFill>
                      <a:prstDash val="solid"/>
                    </a:lnR>
                    <a:lnB w="0">
                      <a:solidFill>
                        <a:srgbClr val="FCFBF8"/>
                      </a:solidFill>
                      <a:prstDash val="solid"/>
                    </a:lnB>
                    <a:solidFill>
                      <a:srgbClr val="FFFFFF"/>
                    </a:solidFill>
                  </a:tcPr>
                </a:tc>
              </a:tr>
              <a:tr h="676275">
                <a:tc>
                  <a:txBody>
                    <a:bodyPr lIns="95250" tIns="95250" rIns="95250" bIns="95250"/>
                    <a:lstStyle/>
                    <a:p>
                      <a:r>
                        <a:rPr sz="1950" b="0">
                          <a:solidFill>
                            <a:srgbClr val="182B35"/>
                          </a:solidFill>
                          <a:latin typeface="Arial"/>
                          <a:ea typeface="Arial"/>
                          <a:cs typeface="Arial"/>
                        </a:rPr>
                        <a:t>General hint</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950" b="0">
                          <a:solidFill>
                            <a:srgbClr val="182B35"/>
                          </a:solidFill>
                          <a:latin typeface="Arial"/>
                          <a:ea typeface="Arial"/>
                          <a:cs typeface="Arial"/>
                        </a:rPr>
                        <a:t>Check the implementation and test correctness</a:t>
                      </a:r>
                    </a:p>
                  </a:txBody>
                  <a:tcPr marL="91440" marR="91440" marT="45720" marB="45720">
                    <a:lnR w="0">
                      <a:solidFill>
                        <a:srgbClr val="FCFBF8"/>
                      </a:solidFill>
                      <a:prstDash val="solid"/>
                    </a:lnR>
                    <a:lnB w="0">
                      <a:solidFill>
                        <a:srgbClr val="FCFBF8"/>
                      </a:solidFill>
                      <a:prstDash val="solid"/>
                    </a:lnB>
                    <a:solidFill>
                      <a:srgbClr val="FCFBF8"/>
                    </a:solidFill>
                  </a:tcPr>
                </a:tc>
              </a:tr>
              <a:tr h="676275">
                <a:tc>
                  <a:txBody>
                    <a:bodyPr lIns="95250" tIns="95250" rIns="95250" bIns="95250"/>
                    <a:lstStyle/>
                    <a:p>
                      <a:r>
                        <a:rPr sz="1950" b="0">
                          <a:solidFill>
                            <a:srgbClr val="182B35"/>
                          </a:solidFill>
                          <a:latin typeface="Arial"/>
                          <a:ea typeface="Arial"/>
                          <a:cs typeface="Arial"/>
                        </a:rPr>
                        <a:t>Physics hint</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950" b="0">
                          <a:solidFill>
                            <a:srgbClr val="182B35"/>
                          </a:solidFill>
                          <a:latin typeface="Arial"/>
                          <a:ea typeface="Arial"/>
                          <a:cs typeface="Arial"/>
                        </a:rPr>
                        <a:t>A task-specific conceptual physics cue</a:t>
                      </a:r>
                    </a:p>
                  </a:txBody>
                  <a:tcPr marL="91440" marR="91440" marT="45720" marB="45720">
                    <a:lnR w="0">
                      <a:solidFill>
                        <a:srgbClr val="FCFBF8"/>
                      </a:solidFill>
                      <a:prstDash val="solid"/>
                    </a:lnR>
                    <a:lnB w="0">
                      <a:solidFill>
                        <a:srgbClr val="FCFBF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7C9476-0784-49EB-A2FE-060A33C5837D}"/>
              </a:ext>
            </a:extLst>
          </p:cNvPr>
          <p:cNvSpPr>
            <a:spLocks xmlns:a="http://schemas.openxmlformats.org/drawingml/2006/main" noGrp="1"/>
          </p:cNvSpPr>
          <p:nvPr/>
        </p:nvSpPr>
        <p:spPr>
          <a:xfrm xmlns:a="http://schemas.openxmlformats.org/drawingml/2006/main">
            <a:off x="666750" y="496252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E80"/>
                </a:solidFill>
                <a:latin typeface="Arial"/>
                <a:ea typeface="Arial"/>
                <a:cs typeface="Arial"/>
              </a:defRPr>
            </a:defPPr>
          </a:lstStyle>
          <a:p xmlns:a="http://schemas.openxmlformats.org/drawingml/2006/main">
            <a:pPr>
              <a:defRPr sz="2550" b="1">
                <a:solidFill>
                  <a:srgbClr val="007E80"/>
                </a:solidFill>
                <a:latin typeface="Arial"/>
                <a:ea typeface="Arial"/>
                <a:cs typeface="Arial"/>
              </a:defRPr>
            </a:pPr>
            <a:r>
              <a:rPr sz="2550" b="1">
                <a:solidFill>
                  <a:srgbClr val="007E80"/>
                </a:solidFill>
                <a:latin typeface="Arial"/>
                <a:ea typeface="Arial"/>
                <a:cs typeface="Arial"/>
              </a:rPr>
              <a:t>3 models × 13 tasks × 3 conditions × 3 repeats</a:t>
            </a:r>
          </a:p>
        </p:txBody>
      </p:sp>
      <p:sp>
        <p:nvSpPr>
          <p:cNvPr id="6" name="">
            <a:extLst xmlns:a="http://schemas.openxmlformats.org/drawingml/2006/main">
              <a:ext uri="{FF2B5EF4-FFF2-40B4-BE49-F238E27FC236}">
                <a16:creationId xmlns:a16="http://schemas.microsoft.com/office/drawing/2014/main" id="{758033C6-D542-48F5-8F74-D1D8B660AB2E}"/>
              </a:ext>
            </a:extLst>
          </p:cNvPr>
          <p:cNvSpPr>
            <a:spLocks xmlns:a="http://schemas.openxmlformats.org/drawingml/2006/main" noGrp="1"/>
          </p:cNvSpPr>
          <p:nvPr/>
        </p:nvSpPr>
        <p:spPr>
          <a:xfrm xmlns:a="http://schemas.openxmlformats.org/drawingml/2006/main">
            <a:off x="666750" y="5534025"/>
            <a:ext cx="10648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351 observations planned. Results remain pending.</a:t>
            </a:r>
          </a:p>
        </p:txBody>
      </p:sp>
      <p:sp>
        <p:nvSpPr>
          <p:cNvPr id="7" name="">
            <a:extLst xmlns:a="http://schemas.openxmlformats.org/drawingml/2006/main">
              <a:ext uri="{FF2B5EF4-FFF2-40B4-BE49-F238E27FC236}">
                <a16:creationId xmlns:a16="http://schemas.microsoft.com/office/drawing/2014/main" id="{CF6A43BE-26BB-4D7E-AA3A-8B6F4E7852FC}"/>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38 Luna baselines use a matching historical cohort with an older client. The Luna comparison therefore has a client-version confound.</a:t>
            </a:r>
          </a:p>
        </p:txBody>
      </p:sp>
    </p:spTree>
    <p:extLst>
      <p:ext uri="{BB962C8B-B14F-4D97-AF65-F5344CB8AC3E}">
        <p14:creationId xmlns:p14="http://schemas.microsoft.com/office/powerpoint/2010/main" val="1645427644"/>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E3F9F83-9F94-4C92-8A0A-244C61A1FCD9}"/>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Hint comparison results</a:t>
            </a:r>
          </a:p>
        </p:txBody>
      </p:sp>
      <p:sp>
        <p:nvSpPr>
          <p:cNvPr id="2" name="">
            <a:extLst xmlns:a="http://schemas.openxmlformats.org/drawingml/2006/main">
              <a:ext uri="{FF2B5EF4-FFF2-40B4-BE49-F238E27FC236}">
                <a16:creationId xmlns:a16="http://schemas.microsoft.com/office/drawing/2014/main" id="{52415A58-090B-402B-B0D6-9BFA9A517C62}"/>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14098BD-562E-4674-85AF-711C1244CD98}"/>
              </a:ext>
            </a:extLst>
          </p:cNvPr>
          <p:cNvSpPr>
            <a:spLocks xmlns:a="http://schemas.openxmlformats.org/drawingml/2006/main" noGrp="1"/>
          </p:cNvSpPr>
          <p:nvPr/>
        </p:nvSpPr>
        <p:spPr>
          <a:xfrm xmlns:a="http://schemas.openxmlformats.org/drawingml/2006/main">
            <a:off x="628650" y="14763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96A73"/>
                </a:solidFill>
                <a:latin typeface="Arial"/>
                <a:ea typeface="Arial"/>
                <a:cs typeface="Arial"/>
              </a:defRPr>
            </a:defPPr>
          </a:lstStyle>
          <a:p xmlns:a="http://schemas.openxmlformats.org/drawingml/2006/main">
            <a:pPr>
              <a:defRPr sz="1800" b="0">
                <a:solidFill>
                  <a:srgbClr val="596A73"/>
                </a:solidFill>
                <a:latin typeface="Arial"/>
                <a:ea typeface="Arial"/>
                <a:cs typeface="Arial"/>
              </a:defRPr>
            </a:pPr>
            <a:r>
              <a:rPr sz="1800" b="0">
                <a:solidFill>
                  <a:srgbClr val="596A73"/>
                </a:solidFill>
                <a:latin typeface="Arial"/>
                <a:ea typeface="Arial"/>
                <a:cs typeface="Arial"/>
              </a:rPr>
              <a:t>Pending completion</a:t>
            </a:r>
          </a:p>
        </p:txBody>
      </p:sp>
    </p:spTree>
    <p:extLst>
      <p:ext uri="{BB962C8B-B14F-4D97-AF65-F5344CB8AC3E}">
        <p14:creationId xmlns:p14="http://schemas.microsoft.com/office/powerpoint/2010/main" val="17409634"/>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A8647C-1BCE-4277-B856-B523D348B539}"/>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What the completed experiments establish</a:t>
            </a:r>
          </a:p>
        </p:txBody>
      </p:sp>
      <p:sp>
        <p:nvSpPr>
          <p:cNvPr id="2" name="">
            <a:extLst xmlns:a="http://schemas.openxmlformats.org/drawingml/2006/main">
              <a:ext uri="{FF2B5EF4-FFF2-40B4-BE49-F238E27FC236}">
                <a16:creationId xmlns:a16="http://schemas.microsoft.com/office/drawing/2014/main" id="{E4A8BC43-1594-4963-BD55-0FFF61FCB8E4}"/>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4C8A740-0CE0-4ACB-A646-FCBF630B2D97}"/>
              </a:ext>
            </a:extLst>
          </p:cNvPr>
          <p:cNvSpPr>
            <a:spLocks xmlns:a="http://schemas.openxmlformats.org/drawingml/2006/main" noGrp="1"/>
          </p:cNvSpPr>
          <p:nvPr/>
        </p:nvSpPr>
        <p:spPr>
          <a:xfrm xmlns:a="http://schemas.openxmlformats.org/drawingml/2006/main">
            <a:off x="666750" y="17811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E80"/>
                </a:solidFill>
                <a:latin typeface="Arial"/>
                <a:ea typeface="Arial"/>
                <a:cs typeface="Arial"/>
              </a:defRPr>
            </a:defPPr>
          </a:lstStyle>
          <a:p xmlns:a="http://schemas.openxmlformats.org/drawingml/2006/main">
            <a:pPr>
              <a:defRPr sz="2550" b="1">
                <a:solidFill>
                  <a:srgbClr val="007E80"/>
                </a:solidFill>
                <a:latin typeface="Arial"/>
                <a:ea typeface="Arial"/>
                <a:cs typeface="Arial"/>
              </a:defRPr>
            </a:pPr>
            <a:r>
              <a:rPr sz="2550" b="1">
                <a:solidFill>
                  <a:srgbClr val="007E80"/>
                </a:solidFill>
                <a:latin typeface="Arial"/>
                <a:ea typeface="Arial"/>
                <a:cs typeface="Arial"/>
              </a:rPr>
              <a:t>Cost and success vary substantially across settings</a:t>
            </a:r>
          </a:p>
        </p:txBody>
      </p:sp>
      <p:sp>
        <p:nvSpPr>
          <p:cNvPr id="4" name="">
            <a:extLst xmlns:a="http://schemas.openxmlformats.org/drawingml/2006/main">
              <a:ext uri="{FF2B5EF4-FFF2-40B4-BE49-F238E27FC236}">
                <a16:creationId xmlns:a16="http://schemas.microsoft.com/office/drawing/2014/main" id="{8CE2A48D-BB76-4BDE-B408-28074888E0F6}"/>
              </a:ext>
            </a:extLst>
          </p:cNvPr>
          <p:cNvSpPr>
            <a:spLocks xmlns:a="http://schemas.openxmlformats.org/drawingml/2006/main" noGrp="1"/>
          </p:cNvSpPr>
          <p:nvPr/>
        </p:nvSpPr>
        <p:spPr>
          <a:xfrm xmlns:a="http://schemas.openxmlformats.org/drawingml/2006/main">
            <a:off x="666750" y="2428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2B35"/>
                </a:solidFill>
                <a:latin typeface="Arial"/>
                <a:ea typeface="Arial"/>
                <a:cs typeface="Arial"/>
              </a:defRPr>
            </a:defPPr>
          </a:lstStyle>
          <a:p xmlns:a="http://schemas.openxmlformats.org/drawingml/2006/main">
            <a:pPr>
              <a:defRPr sz="2100" b="0">
                <a:solidFill>
                  <a:srgbClr val="182B35"/>
                </a:solidFill>
                <a:latin typeface="Arial"/>
                <a:ea typeface="Arial"/>
                <a:cs typeface="Arial"/>
              </a:defRPr>
            </a:pPr>
            <a:r>
              <a:rPr sz="2100" b="0">
                <a:solidFill>
                  <a:srgbClr val="182B35"/>
                </a:solidFill>
                <a:latin typeface="Arial"/>
                <a:ea typeface="Arial"/>
                <a:cs typeface="Arial"/>
              </a:rPr>
              <a:t>Sol 6 Low and High occupy the high-success end of the observed frontier.</a:t>
            </a:r>
          </a:p>
        </p:txBody>
      </p:sp>
      <p:sp>
        <p:nvSpPr>
          <p:cNvPr id="5" name="">
            <a:extLst xmlns:a="http://schemas.openxmlformats.org/drawingml/2006/main">
              <a:ext uri="{FF2B5EF4-FFF2-40B4-BE49-F238E27FC236}">
                <a16:creationId xmlns:a16="http://schemas.microsoft.com/office/drawing/2014/main" id="{6817FE84-66B0-4971-B347-B5051A10FA8B}"/>
              </a:ext>
            </a:extLst>
          </p:cNvPr>
          <p:cNvSpPr>
            <a:spLocks xmlns:a="http://schemas.openxmlformats.org/drawingml/2006/main" noGrp="1"/>
          </p:cNvSpPr>
          <p:nvPr/>
        </p:nvSpPr>
        <p:spPr>
          <a:xfrm xmlns:a="http://schemas.openxmlformats.org/drawingml/2006/main">
            <a:off x="666750" y="33813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B57C18"/>
                </a:solidFill>
                <a:latin typeface="Arial"/>
                <a:ea typeface="Arial"/>
                <a:cs typeface="Arial"/>
              </a:defRPr>
            </a:defPPr>
          </a:lstStyle>
          <a:p xmlns:a="http://schemas.openxmlformats.org/drawingml/2006/main">
            <a:pPr>
              <a:defRPr sz="2550" b="1">
                <a:solidFill>
                  <a:srgbClr val="B57C18"/>
                </a:solidFill>
                <a:latin typeface="Arial"/>
                <a:ea typeface="Arial"/>
                <a:cs typeface="Arial"/>
              </a:defRPr>
            </a:pPr>
            <a:r>
              <a:rPr sz="2550" b="1">
                <a:solidFill>
                  <a:srgbClr val="B57C18"/>
                </a:solidFill>
                <a:latin typeface="Arial"/>
                <a:ea typeface="Arial"/>
                <a:cs typeface="Arial"/>
              </a:rPr>
              <a:t>Most completed failures concern hidden predictions</a:t>
            </a:r>
          </a:p>
        </p:txBody>
      </p:sp>
      <p:sp>
        <p:nvSpPr>
          <p:cNvPr id="6" name="">
            <a:extLst xmlns:a="http://schemas.openxmlformats.org/drawingml/2006/main">
              <a:ext uri="{FF2B5EF4-FFF2-40B4-BE49-F238E27FC236}">
                <a16:creationId xmlns:a16="http://schemas.microsoft.com/office/drawing/2014/main" id="{0EFB6DA2-FC05-4AC6-B743-747F753CA58F}"/>
              </a:ext>
            </a:extLst>
          </p:cNvPr>
          <p:cNvSpPr>
            <a:spLocks xmlns:a="http://schemas.openxmlformats.org/drawingml/2006/main" noGrp="1"/>
          </p:cNvSpPr>
          <p:nvPr/>
        </p:nvSpPr>
        <p:spPr>
          <a:xfrm xmlns:a="http://schemas.openxmlformats.org/drawingml/2006/main">
            <a:off x="666750" y="40386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2B35"/>
                </a:solidFill>
                <a:latin typeface="Arial"/>
                <a:ea typeface="Arial"/>
                <a:cs typeface="Arial"/>
              </a:defRPr>
            </a:defPPr>
          </a:lstStyle>
          <a:p xmlns:a="http://schemas.openxmlformats.org/drawingml/2006/main">
            <a:pPr>
              <a:defRPr sz="2100" b="0">
                <a:solidFill>
                  <a:srgbClr val="182B35"/>
                </a:solidFill>
                <a:latin typeface="Arial"/>
                <a:ea typeface="Arial"/>
                <a:cs typeface="Arial"/>
              </a:defRPr>
            </a:pPr>
            <a:r>
              <a:rPr sz="2100" b="0">
                <a:solidFill>
                  <a:srgbClr val="182B35"/>
                </a:solidFill>
                <a:latin typeface="Arial"/>
                <a:ea typeface="Arial"/>
                <a:cs typeface="Arial"/>
              </a:rPr>
              <a:t>Source review and targeted corrections identify concrete physical omissions.</a:t>
            </a:r>
          </a:p>
        </p:txBody>
      </p:sp>
      <p:sp>
        <p:nvSpPr>
          <p:cNvPr id="7" name="">
            <a:extLst xmlns:a="http://schemas.openxmlformats.org/drawingml/2006/main">
              <a:ext uri="{FF2B5EF4-FFF2-40B4-BE49-F238E27FC236}">
                <a16:creationId xmlns:a16="http://schemas.microsoft.com/office/drawing/2014/main" id="{38CBF97E-AD00-46BF-A0ED-220B51CA237B}"/>
              </a:ext>
            </a:extLst>
          </p:cNvPr>
          <p:cNvSpPr>
            <a:spLocks xmlns:a="http://schemas.openxmlformats.org/drawingml/2006/main" noGrp="1"/>
          </p:cNvSpPr>
          <p:nvPr/>
        </p:nvSpPr>
        <p:spPr>
          <a:xfrm xmlns:a="http://schemas.openxmlformats.org/drawingml/2006/main">
            <a:off x="666750" y="49720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AE4E45"/>
                </a:solidFill>
                <a:latin typeface="Arial"/>
                <a:ea typeface="Arial"/>
                <a:cs typeface="Arial"/>
              </a:defRPr>
            </a:defPPr>
          </a:lstStyle>
          <a:p xmlns:a="http://schemas.openxmlformats.org/drawingml/2006/main">
            <a:pPr>
              <a:defRPr sz="2550" b="1">
                <a:solidFill>
                  <a:srgbClr val="AE4E45"/>
                </a:solidFill>
                <a:latin typeface="Arial"/>
                <a:ea typeface="Arial"/>
                <a:cs typeface="Arial"/>
              </a:defRPr>
            </a:pPr>
            <a:r>
              <a:rPr sz="2550" b="1">
                <a:solidFill>
                  <a:srgbClr val="AE4E45"/>
                </a:solidFill>
                <a:latin typeface="Arial"/>
                <a:ea typeface="Arial"/>
                <a:cs typeface="Arial"/>
              </a:rPr>
              <a:t>Execution failures need their own interpretation</a:t>
            </a:r>
          </a:p>
        </p:txBody>
      </p:sp>
      <p:sp>
        <p:nvSpPr>
          <p:cNvPr id="8" name="">
            <a:extLst xmlns:a="http://schemas.openxmlformats.org/drawingml/2006/main">
              <a:ext uri="{FF2B5EF4-FFF2-40B4-BE49-F238E27FC236}">
                <a16:creationId xmlns:a16="http://schemas.microsoft.com/office/drawing/2014/main" id="{F44ED60C-318C-437E-8FA4-E06FE78BEF42}"/>
              </a:ext>
            </a:extLst>
          </p:cNvPr>
          <p:cNvSpPr>
            <a:spLocks xmlns:a="http://schemas.openxmlformats.org/drawingml/2006/main" noGrp="1"/>
          </p:cNvSpPr>
          <p:nvPr/>
        </p:nvSpPr>
        <p:spPr>
          <a:xfrm xmlns:a="http://schemas.openxmlformats.org/drawingml/2006/main">
            <a:off x="666750" y="55816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The hint experiment will test whether guidance changes these outcomes.</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182B3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7239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550" b="1">
                <a:solidFill>
                  <a:srgbClr val="FFFFFF"/>
                </a:solidFill>
                <a:latin typeface="Arial"/>
                <a:ea typeface="Arial"/>
                <a:cs typeface="Arial"/>
              </a:defRPr>
            </a:def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Questions</a:t>
            </a:r>
          </a:p>
        </p:txBody>
      </p:sp>
      <p:sp>
        <p:nvSpPr>
          <p:cNvPr id="2" name="">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7620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8DD3CE"/>
                </a:solidFill>
                <a:latin typeface="Arial"/>
                <a:ea typeface="Arial"/>
                <a:cs typeface="Arial"/>
              </a:defRPr>
            </a:defPPr>
          </a:lstStyle>
          <a:p xmlns:a="http://schemas.openxmlformats.org/drawingml/2006/main">
            <a:pPr>
              <a:defRPr sz="2250" b="0">
                <a:solidFill>
                  <a:srgbClr val="8DD3CE"/>
                </a:solidFill>
                <a:latin typeface="Arial"/>
                <a:ea typeface="Arial"/>
                <a:cs typeface="Arial"/>
              </a:defRPr>
            </a:pPr>
            <a:r>
              <a:rPr sz="2250" b="0">
                <a:solidFill>
                  <a:srgbClr val="8DD3CE"/>
                </a:solidFill>
                <a:latin typeface="Arial"/>
                <a:ea typeface="Arial"/>
                <a:cs typeface="Arial"/>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Backup: all complete no-hint settings</a:t>
            </a:r>
          </a:p>
        </p:txBody>
      </p:sp>
      <p:sp>
        <p:nvSpPr>
          <p:cNvPr id="2" name="">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Original sweep only. Costs are estimated USD per attempt.</a:t>
            </a:r>
          </a:p>
        </p:txBody>
      </p:sp>
      <p:sp>
        <p:nvSpPr>
          <p:cNvPr id="3" name="">
            <a:extLst xmlns:a="http://schemas.openxmlformats.org/drawingml/2006/main">
              <a:ext uri="{FF2B5EF4-FFF2-40B4-BE49-F238E27FC236}">
                <a16:creationId xmlns:a16="http://schemas.microsoft.com/office/drawing/2014/main" id="{90AC3634-A29C-49EF-BA8C-2275011734C7}"/>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45299DF1-BD3D-47A0-9AAB-347A5C54FA04}"/>
              </a:ext>
            </a:extLst>
          </p:cNvPr>
          <p:cNvGraphicFramePr/>
          <p:nvPr/>
        </p:nvGraphicFramePr>
        <p:xfrm>
          <a:off xmlns:a="http://schemas.openxmlformats.org/drawingml/2006/main" x="628650" y="1657350"/>
          <a:ext xmlns:a="http://schemas.openxmlformats.org/drawingml/2006/main" cx="10915650" cy="4124325"/>
        </p:xfrm>
        <a:graphic xmlns:a="http://schemas.openxmlformats.org/drawingml/2006/main">
          <a:graphicData uri="http://schemas.openxmlformats.org/drawingml/2006/table">
            <a:tbl>
              <a:tblPr/>
              <a:tblGrid>
                <a:gridCol w="3371850"/>
                <a:gridCol w="2000250"/>
                <a:gridCol w="1333500"/>
                <a:gridCol w="2257425"/>
                <a:gridCol w="1952625"/>
              </a:tblGrid>
              <a:tr h="257175">
                <a:tc>
                  <a:txBody>
                    <a:bodyPr lIns="95250" tIns="95250" rIns="95250" bIns="95250"/>
                    <a:lstStyle/>
                    <a:p>
                      <a:r>
                        <a:rPr sz="1350" b="1">
                          <a:solidFill>
                            <a:srgbClr val="FFFFFF"/>
                          </a:solidFill>
                          <a:latin typeface="Arial"/>
                          <a:ea typeface="Arial"/>
                          <a:cs typeface="Arial"/>
                        </a:rPr>
                        <a:t>Model</a:t>
                      </a:r>
                    </a:p>
                  </a:txBody>
                  <a:tcPr marL="76200" marR="76200" marT="19050" marB="1905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350" b="1">
                          <a:solidFill>
                            <a:srgbClr val="FFFFFF"/>
                          </a:solidFill>
                          <a:latin typeface="Arial"/>
                          <a:ea typeface="Arial"/>
                          <a:cs typeface="Arial"/>
                        </a:rPr>
                        <a:t>Effort</a:t>
                      </a:r>
                    </a:p>
                  </a:txBody>
                  <a:tcPr marL="76200" marR="76200" marT="19050" marB="1905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350" b="1">
                          <a:solidFill>
                            <a:srgbClr val="FFFFFF"/>
                          </a:solidFill>
                          <a:latin typeface="Arial"/>
                          <a:ea typeface="Arial"/>
                          <a:cs typeface="Arial"/>
                        </a:rPr>
                        <a:t>Passes</a:t>
                      </a:r>
                    </a:p>
                  </a:txBody>
                  <a:tcPr marL="76200" marR="76200" marT="19050" marB="1905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350" b="1">
                          <a:solidFill>
                            <a:srgbClr val="FFFFFF"/>
                          </a:solidFill>
                          <a:latin typeface="Arial"/>
                          <a:ea typeface="Arial"/>
                          <a:cs typeface="Arial"/>
                        </a:rPr>
                        <a:t>Execution errors</a:t>
                      </a:r>
                    </a:p>
                  </a:txBody>
                  <a:tcPr marL="76200" marR="76200" marT="19050" marB="1905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350" b="1">
                          <a:solidFill>
                            <a:srgbClr val="FFFFFF"/>
                          </a:solidFill>
                          <a:latin typeface="Arial"/>
                          <a:ea typeface="Arial"/>
                          <a:cs typeface="Arial"/>
                        </a:rPr>
                        <a:t>Mean cost</a:t>
                      </a:r>
                    </a:p>
                  </a:txBody>
                  <a:tcPr marL="76200" marR="76200" marT="19050" marB="1905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257175">
                <a:tc>
                  <a:txBody>
                    <a:bodyPr lIns="95250" tIns="95250" rIns="95250" bIns="95250"/>
                    <a:lstStyle/>
                    <a:p>
                      <a:r>
                        <a:rPr sz="1350" b="0">
                          <a:solidFill>
                            <a:srgbClr val="182B35"/>
                          </a:solidFill>
                          <a:latin typeface="Arial"/>
                          <a:ea typeface="Arial"/>
                          <a:cs typeface="Arial"/>
                        </a:rPr>
                        <a:t>GPT-6 Luna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Low</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4/39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$0.0040</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GPT-6 Luna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High</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1/39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$0.0052</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GPT-6 Luna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Extra High</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12/39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4</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$0.0126</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GPT-6 Sol</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Low</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37/39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$0.0773</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GPT-6 Sol</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High</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39/39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$0.1975</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GPT-6 Sol</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Extra High</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39/39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$0.2306</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GPT-5.6 Terra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Low</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4/39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$0.1107</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GPT-5.6 Terra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High</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9/39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$0.1942</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GPT-5.6 Terra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Extra High</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19/39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4</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$0.3196</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GPT-6 Astra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Low</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39/39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$0.4450</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GPT-6 Astra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High</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39/39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$0.7132</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GPT-6 Astra</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Extra High</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37/39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2</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$1.0801</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DeepSeek V4.1 Flash</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High</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34</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 $0.1500</a:t>
                      </a:r>
                    </a:p>
                  </a:txBody>
                  <a:tcPr marL="76200" marR="76200" marT="19050" marB="19050">
                    <a:lnR w="0">
                      <a:solidFill>
                        <a:srgbClr val="FCFBF8"/>
                      </a:solidFill>
                      <a:prstDash val="solid"/>
                    </a:lnR>
                    <a:lnB w="0">
                      <a:solidFill>
                        <a:srgbClr val="FCFBF8"/>
                      </a:solidFill>
                      <a:prstDash val="solid"/>
                    </a:lnB>
                    <a:solidFill>
                      <a:srgbClr val="FFFFFF"/>
                    </a:solidFill>
                  </a:tcPr>
                </a:tc>
              </a:tr>
              <a:tr h="257175">
                <a:tc>
                  <a:txBody>
                    <a:bodyPr lIns="95250" tIns="95250" rIns="95250" bIns="95250"/>
                    <a:lstStyle/>
                    <a:p>
                      <a:r>
                        <a:rPr sz="1350" b="0">
                          <a:solidFill>
                            <a:srgbClr val="182B35"/>
                          </a:solidFill>
                          <a:latin typeface="Arial"/>
                          <a:ea typeface="Arial"/>
                          <a:cs typeface="Arial"/>
                        </a:rPr>
                        <a:t>DeepSeek V4.1 Flash</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Low</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0/39</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33</a:t>
                      </a:r>
                    </a:p>
                  </a:txBody>
                  <a:tcPr marL="76200" marR="76200" marT="19050" marB="1905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350" b="0">
                          <a:solidFill>
                            <a:srgbClr val="182B35"/>
                          </a:solidFill>
                          <a:latin typeface="Arial"/>
                          <a:ea typeface="Arial"/>
                          <a:cs typeface="Arial"/>
                        </a:rPr>
                        <a:t>≥ $0.0995</a:t>
                      </a:r>
                    </a:p>
                  </a:txBody>
                  <a:tcPr marL="76200" marR="76200" marT="19050" marB="19050">
                    <a:lnR w="0">
                      <a:solidFill>
                        <a:srgbClr val="FCFBF8"/>
                      </a:solidFill>
                      <a:prstDash val="solid"/>
                    </a:lnR>
                    <a:lnB w="0">
                      <a:solidFill>
                        <a:srgbClr val="FCFBF8"/>
                      </a:solidFill>
                      <a:prstDash val="solid"/>
                    </a:lnB>
                    <a:solidFill>
                      <a:srgbClr val="FCFBF8"/>
                    </a:solidFill>
                  </a:tcPr>
                </a:tc>
              </a:tr>
              <a:tr h="257175">
                <a:tc>
                  <a:txBody>
                    <a:bodyPr lIns="95250" tIns="95250" rIns="95250" bIns="95250"/>
                    <a:lstStyle/>
                    <a:p>
                      <a:r>
                        <a:rPr sz="1350" b="0">
                          <a:solidFill>
                            <a:srgbClr val="182B35"/>
                          </a:solidFill>
                          <a:latin typeface="Arial"/>
                          <a:ea typeface="Arial"/>
                          <a:cs typeface="Arial"/>
                        </a:rPr>
                        <a:t>DeepSeek V4.1 Flash</a:t>
                      </a:r>
                    </a:p>
                  </a:txBody>
                  <a:tcPr marL="76200" marR="76200" marT="19050" marB="1905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Max</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0/39</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38</a:t>
                      </a:r>
                    </a:p>
                  </a:txBody>
                  <a:tcPr marL="76200" marR="76200" marT="19050" marB="1905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350" b="0">
                          <a:solidFill>
                            <a:srgbClr val="182B35"/>
                          </a:solidFill>
                          <a:latin typeface="Arial"/>
                          <a:ea typeface="Arial"/>
                          <a:cs typeface="Arial"/>
                        </a:rPr>
                        <a:t>≥ $0.2450</a:t>
                      </a:r>
                    </a:p>
                  </a:txBody>
                  <a:tcPr marL="76200" marR="76200" marT="19050" marB="19050">
                    <a:lnR w="0">
                      <a:solidFill>
                        <a:srgbClr val="FCFBF8"/>
                      </a:solidFill>
                      <a:prstDash val="solid"/>
                    </a:lnR>
                    <a:lnB w="0">
                      <a:solidFill>
                        <a:srgbClr val="FCFBF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DeepSeek None is partial at 3/39 and excluded. API-equivalent estimates differ from subscription usage.</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893FD5-19C5-4725-9012-D0BB7596899B}"/>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Backup: collaborator results remain a separate cohort</a:t>
            </a:r>
          </a:p>
        </p:txBody>
      </p:sp>
      <p:sp>
        <p:nvSpPr>
          <p:cNvPr id="2" name="">
            <a:extLst xmlns:a="http://schemas.openxmlformats.org/drawingml/2006/main">
              <a:ext uri="{FF2B5EF4-FFF2-40B4-BE49-F238E27FC236}">
                <a16:creationId xmlns:a16="http://schemas.microsoft.com/office/drawing/2014/main" id="{A9CE83C5-C343-47FE-884F-5B1A3DB6AEEC}"/>
              </a:ext>
            </a:extLst>
          </p:cNvPr>
          <p:cNvSpPr>
            <a:spLocks xmlns:a="http://schemas.openxmlformats.org/drawingml/2006/main" noGrp="1"/>
          </p:cNvSpPr>
          <p:nvPr/>
        </p:nvSpPr>
        <p:spPr>
          <a:xfrm xmlns:a="http://schemas.openxmlformats.org/drawingml/2006/main">
            <a:off x="628650" y="11334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96A73"/>
                </a:solidFill>
                <a:latin typeface="Arial"/>
                <a:ea typeface="Arial"/>
                <a:cs typeface="Arial"/>
              </a:defRPr>
            </a:defPPr>
          </a:lstStyle>
          <a:p xmlns:a="http://schemas.openxmlformats.org/drawingml/2006/main">
            <a:pPr>
              <a:defRPr sz="1725" b="0">
                <a:solidFill>
                  <a:srgbClr val="596A73"/>
                </a:solidFill>
                <a:latin typeface="Arial"/>
                <a:ea typeface="Arial"/>
                <a:cs typeface="Arial"/>
              </a:defRPr>
            </a:pPr>
            <a:r>
              <a:rPr sz="1725" b="0">
                <a:solidFill>
                  <a:srgbClr val="596A73"/>
                </a:solidFill>
                <a:latin typeface="Arial"/>
                <a:ea typeface="Arial"/>
                <a:cs typeface="Arial"/>
              </a:rPr>
              <a:t>390 published no-hint trials on the matching 13-task snapshot.</a:t>
            </a:r>
          </a:p>
        </p:txBody>
      </p:sp>
      <p:sp>
        <p:nvSpPr>
          <p:cNvPr id="3" name="">
            <a:extLst xmlns:a="http://schemas.openxmlformats.org/drawingml/2006/main">
              <a:ext uri="{FF2B5EF4-FFF2-40B4-BE49-F238E27FC236}">
                <a16:creationId xmlns:a16="http://schemas.microsoft.com/office/drawing/2014/main" id="{32E3F1E8-36E8-41EF-BF64-0E3B2B637080}"/>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D7FCFDB9-6C95-488C-A193-70F3700658AB}"/>
              </a:ext>
            </a:extLst>
          </p:cNvPr>
          <p:cNvGraphicFramePr/>
          <p:nvPr/>
        </p:nvGraphicFramePr>
        <p:xfrm>
          <a:off xmlns:a="http://schemas.openxmlformats.org/drawingml/2006/main" x="628650" y="1809750"/>
          <a:ext xmlns:a="http://schemas.openxmlformats.org/drawingml/2006/main" cx="10915650" cy="3619500"/>
        </p:xfrm>
        <a:graphic xmlns:a="http://schemas.openxmlformats.org/drawingml/2006/main">
          <a:graphicData uri="http://schemas.openxmlformats.org/drawingml/2006/table">
            <a:tbl>
              <a:tblPr/>
              <a:tblGrid>
                <a:gridCol w="3952875"/>
                <a:gridCol w="2667000"/>
                <a:gridCol w="2190750"/>
                <a:gridCol w="2105025"/>
              </a:tblGrid>
              <a:tr h="329045">
                <a:tc>
                  <a:txBody>
                    <a:bodyPr lIns="95250" tIns="95250" rIns="95250" bIns="95250"/>
                    <a:lstStyle/>
                    <a:p>
                      <a:r>
                        <a:rPr sz="1650" b="1">
                          <a:solidFill>
                            <a:srgbClr val="FFFFFF"/>
                          </a:solidFill>
                          <a:latin typeface="Arial"/>
                          <a:ea typeface="Arial"/>
                          <a:cs typeface="Arial"/>
                        </a:rPr>
                        <a:t>Model</a:t>
                      </a:r>
                    </a:p>
                  </a:txBody>
                  <a:tcPr marL="91440" marR="91440" marT="45720" marB="45720">
                    <a:lnL w="0">
                      <a:solidFill>
                        <a:srgbClr val="FCFBF8"/>
                      </a:solidFill>
                      <a:prstDash val="solid"/>
                    </a:lnL>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650" b="1">
                          <a:solidFill>
                            <a:srgbClr val="FFFFFF"/>
                          </a:solidFill>
                          <a:latin typeface="Arial"/>
                          <a:ea typeface="Arial"/>
                          <a:cs typeface="Arial"/>
                        </a:rPr>
                        <a:t>Effort</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650" b="1">
                          <a:solidFill>
                            <a:srgbClr val="FFFFFF"/>
                          </a:solidFill>
                          <a:latin typeface="Arial"/>
                          <a:ea typeface="Arial"/>
                          <a:cs typeface="Arial"/>
                        </a:rPr>
                        <a:t>Passes / 39</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c>
                  <a:txBody>
                    <a:bodyPr lIns="95250" tIns="95250" rIns="95250" bIns="95250"/>
                    <a:lstStyle/>
                    <a:p>
                      <a:r>
                        <a:rPr sz="1650" b="1">
                          <a:solidFill>
                            <a:srgbClr val="FFFFFF"/>
                          </a:solidFill>
                          <a:latin typeface="Arial"/>
                          <a:ea typeface="Arial"/>
                          <a:cs typeface="Arial"/>
                        </a:rPr>
                        <a:t>Execution errors</a:t>
                      </a:r>
                    </a:p>
                  </a:txBody>
                  <a:tcPr marL="91440" marR="91440" marT="45720" marB="45720">
                    <a:lnR w="0">
                      <a:solidFill>
                        <a:srgbClr val="FCFBF8"/>
                      </a:solidFill>
                      <a:prstDash val="solid"/>
                    </a:lnR>
                    <a:lnT w="0">
                      <a:solidFill>
                        <a:srgbClr val="FCFBF8"/>
                      </a:solidFill>
                      <a:prstDash val="solid"/>
                    </a:lnT>
                    <a:lnB w="0">
                      <a:solidFill>
                        <a:srgbClr val="FCFBF8"/>
                      </a:solidFill>
                      <a:prstDash val="solid"/>
                    </a:lnB>
                    <a:solidFill>
                      <a:srgbClr val="182B35"/>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None</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1 / 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FFFFF"/>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Low</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0 / 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CFBF8"/>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Medium</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0 / 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FFFFF"/>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High</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4 / 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1</a:t>
                      </a:r>
                    </a:p>
                  </a:txBody>
                  <a:tcPr marL="91440" marR="91440" marT="45720" marB="45720">
                    <a:lnR w="0">
                      <a:solidFill>
                        <a:srgbClr val="FCFBF8"/>
                      </a:solidFill>
                      <a:prstDash val="solid"/>
                    </a:lnR>
                    <a:lnB w="0">
                      <a:solidFill>
                        <a:srgbClr val="FCFBF8"/>
                      </a:solidFill>
                      <a:prstDash val="solid"/>
                    </a:lnB>
                    <a:solidFill>
                      <a:srgbClr val="FCFBF8"/>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Extra High</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6 / 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1</a:t>
                      </a:r>
                    </a:p>
                  </a:txBody>
                  <a:tcPr marL="91440" marR="91440" marT="45720" marB="45720">
                    <a:lnR w="0">
                      <a:solidFill>
                        <a:srgbClr val="FCFBF8"/>
                      </a:solidFill>
                      <a:prstDash val="solid"/>
                    </a:lnR>
                    <a:lnB w="0">
                      <a:solidFill>
                        <a:srgbClr val="FCFBF8"/>
                      </a:solidFill>
                      <a:prstDash val="solid"/>
                    </a:lnB>
                    <a:solidFill>
                      <a:srgbClr val="FFFFFF"/>
                    </a:solidFill>
                  </a:tcPr>
                </a:tc>
              </a:tr>
              <a:tr h="329045">
                <a:tc>
                  <a:txBody>
                    <a:bodyPr lIns="95250" tIns="95250" rIns="95250" bIns="95250"/>
                    <a:lstStyle/>
                    <a:p>
                      <a:r>
                        <a:rPr sz="1650" b="0">
                          <a:solidFill>
                            <a:srgbClr val="182B35"/>
                          </a:solidFill>
                          <a:latin typeface="Arial"/>
                          <a:ea typeface="Arial"/>
                          <a:cs typeface="Arial"/>
                        </a:rPr>
                        <a:t>GPT-5.6 Luna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Max</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8 / 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CFBF8"/>
                    </a:solidFill>
                  </a:tcPr>
                </a:tc>
              </a:tr>
              <a:tr h="329045">
                <a:tc>
                  <a:txBody>
                    <a:bodyPr lIns="95250" tIns="95250" rIns="95250" bIns="95250"/>
                    <a:lstStyle/>
                    <a:p>
                      <a:r>
                        <a:rPr sz="1650" b="0">
                          <a:solidFill>
                            <a:srgbClr val="182B35"/>
                          </a:solidFill>
                          <a:latin typeface="Arial"/>
                          <a:ea typeface="Arial"/>
                          <a:cs typeface="Arial"/>
                        </a:rPr>
                        <a:t>GPT-5.6 Sol</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Low</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24 / 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FFFFF"/>
                    </a:solidFill>
                  </a:tcPr>
                </a:tc>
              </a:tr>
              <a:tr h="329045">
                <a:tc>
                  <a:txBody>
                    <a:bodyPr lIns="95250" tIns="95250" rIns="95250" bIns="95250"/>
                    <a:lstStyle/>
                    <a:p>
                      <a:r>
                        <a:rPr sz="1650" b="0">
                          <a:solidFill>
                            <a:srgbClr val="182B35"/>
                          </a:solidFill>
                          <a:latin typeface="Arial"/>
                          <a:ea typeface="Arial"/>
                          <a:cs typeface="Arial"/>
                        </a:rPr>
                        <a:t>GPT-5.6 Sol</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Medium</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31 / 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CFBF8"/>
                    </a:solidFill>
                  </a:tcPr>
                </a:tc>
              </a:tr>
              <a:tr h="329045">
                <a:tc>
                  <a:txBody>
                    <a:bodyPr lIns="95250" tIns="95250" rIns="95250" bIns="95250"/>
                    <a:lstStyle/>
                    <a:p>
                      <a:r>
                        <a:rPr sz="1650" b="0">
                          <a:solidFill>
                            <a:srgbClr val="182B35"/>
                          </a:solidFill>
                          <a:latin typeface="Arial"/>
                          <a:ea typeface="Arial"/>
                          <a:cs typeface="Arial"/>
                        </a:rPr>
                        <a:t>GPT-5.6 Terra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Low</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5 / 39</a:t>
                      </a:r>
                    </a:p>
                  </a:txBody>
                  <a:tcPr marL="91440" marR="91440" marT="45720" marB="45720">
                    <a:lnR w="0">
                      <a:solidFill>
                        <a:srgbClr val="FCFBF8"/>
                      </a:solidFill>
                      <a:prstDash val="solid"/>
                    </a:lnR>
                    <a:lnB w="0">
                      <a:solidFill>
                        <a:srgbClr val="FCFBF8"/>
                      </a:solidFill>
                      <a:prstDash val="solid"/>
                    </a:lnB>
                    <a:solidFill>
                      <a:srgbClr val="FFFFFF"/>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FFFFF"/>
                    </a:solidFill>
                  </a:tcPr>
                </a:tc>
              </a:tr>
              <a:tr h="329045">
                <a:tc>
                  <a:txBody>
                    <a:bodyPr lIns="95250" tIns="95250" rIns="95250" bIns="95250"/>
                    <a:lstStyle/>
                    <a:p>
                      <a:r>
                        <a:rPr sz="1650" b="0">
                          <a:solidFill>
                            <a:srgbClr val="182B35"/>
                          </a:solidFill>
                          <a:latin typeface="Arial"/>
                          <a:ea typeface="Arial"/>
                          <a:cs typeface="Arial"/>
                        </a:rPr>
                        <a:t>GPT-5.6 Terra</a:t>
                      </a:r>
                    </a:p>
                  </a:txBody>
                  <a:tcPr marL="91440" marR="91440" marT="45720" marB="45720">
                    <a:lnL w="0">
                      <a:solidFill>
                        <a:srgbClr val="FCFBF8"/>
                      </a:solidFill>
                      <a:prstDash val="solid"/>
                    </a:lnL>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Medium</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5 / 39</a:t>
                      </a:r>
                    </a:p>
                  </a:txBody>
                  <a:tcPr marL="91440" marR="91440" marT="45720" marB="45720">
                    <a:lnR w="0">
                      <a:solidFill>
                        <a:srgbClr val="FCFBF8"/>
                      </a:solidFill>
                      <a:prstDash val="solid"/>
                    </a:lnR>
                    <a:lnB w="0">
                      <a:solidFill>
                        <a:srgbClr val="FCFBF8"/>
                      </a:solidFill>
                      <a:prstDash val="solid"/>
                    </a:lnB>
                    <a:solidFill>
                      <a:srgbClr val="FCFBF8"/>
                    </a:solidFill>
                  </a:tcPr>
                </a:tc>
                <a:tc>
                  <a:txBody>
                    <a:bodyPr lIns="95250" tIns="95250" rIns="95250" bIns="95250"/>
                    <a:lstStyle/>
                    <a:p>
                      <a:r>
                        <a:rPr sz="1650" b="0">
                          <a:solidFill>
                            <a:srgbClr val="182B35"/>
                          </a:solidFill>
                          <a:latin typeface="Arial"/>
                          <a:ea typeface="Arial"/>
                          <a:cs typeface="Arial"/>
                        </a:rPr>
                        <a:t>0</a:t>
                      </a:r>
                    </a:p>
                  </a:txBody>
                  <a:tcPr marL="91440" marR="91440" marT="45720" marB="45720">
                    <a:lnR w="0">
                      <a:solidFill>
                        <a:srgbClr val="FCFBF8"/>
                      </a:solidFill>
                      <a:prstDash val="solid"/>
                    </a:lnR>
                    <a:lnB w="0">
                      <a:solidFill>
                        <a:srgbClr val="FCFBF8"/>
                      </a:solidFill>
                      <a:prstDash val="solid"/>
                    </a:lnB>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116D0D02-17BA-4929-B054-012E70EF32FB}"/>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Codex 0.154.0 and concurrency 4, versus 0.160.0 and concurrency 3 locally. Model generations are distinct.</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82B35"/>
                </a:solidFill>
                <a:latin typeface="Arial"/>
                <a:ea typeface="Arial"/>
                <a:cs typeface="Arial"/>
              </a:defRPr>
            </a:defPPr>
          </a:lstStyle>
          <a:p xmlns:a="http://schemas.openxmlformats.org/drawingml/2006/main">
            <a:pPr>
              <a:defRPr sz="3225" b="1">
                <a:solidFill>
                  <a:srgbClr val="182B35"/>
                </a:solidFill>
                <a:latin typeface="Arial"/>
                <a:ea typeface="Arial"/>
                <a:cs typeface="Arial"/>
              </a:defRPr>
            </a:pPr>
            <a:r>
              <a:rPr sz="3225" b="1">
                <a:solidFill>
                  <a:srgbClr val="182B35"/>
                </a:solidFill>
                <a:latin typeface="Arial"/>
                <a:ea typeface="Arial"/>
                <a:cs typeface="Arial"/>
              </a:rPr>
              <a:t>Backup: the frozen 13-task roster</a:t>
            </a:r>
          </a:p>
        </p:txBody>
      </p:sp>
      <p:sp>
        <p:nvSpPr>
          <p:cNvPr id="2" name="">
            <a:extLst xmlns:a="http://schemas.openxmlformats.org/drawingml/2006/main">
              <a:ext uri="{FF2B5EF4-FFF2-40B4-BE49-F238E27FC236}">
                <a16:creationId xmlns:a16="http://schemas.microsoft.com/office/drawing/2014/main" id="{4BF6459B-0E86-4649-80A6-970E6685C675}"/>
              </a:ext>
            </a:extLst>
          </p:cNvPr>
          <p:cNvSpPr>
            <a:spLocks xmlns:a="http://schemas.openxmlformats.org/drawingml/2006/main" noGrp="1"/>
          </p:cNvSpPr>
          <p:nvPr/>
        </p:nvSpPr>
        <p:spPr>
          <a:xfrm xmlns:a="http://schemas.openxmlformats.org/drawingml/2006/main">
            <a:off x="11182350" y="6448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96A73"/>
                </a:solidFill>
                <a:latin typeface="Arial"/>
                <a:ea typeface="Arial"/>
                <a:cs typeface="Arial"/>
              </a:defRPr>
            </a:defPPr>
          </a:lstStyle>
          <a:p xmlns:a="http://schemas.openxmlformats.org/drawingml/2006/main">
            <a:pPr>
              <a:defRPr sz="1200" b="0">
                <a:solidFill>
                  <a:srgbClr val="596A73"/>
                </a:solidFill>
                <a:latin typeface="Arial"/>
                <a:ea typeface="Arial"/>
                <a:cs typeface="Arial"/>
              </a:defRPr>
            </a:pPr>
            <a:r>
              <a:rPr sz="1200" b="0">
                <a:solidFill>
                  <a:srgbClr val="596A73"/>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723900" y="15716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entropy-anomaly</a:t>
            </a:r>
          </a:p>
        </p:txBody>
      </p:sp>
      <p:sp>
        <p:nvSpPr>
          <p:cNvPr id="4" name="">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723900" y="21050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finite-layer-phoresis</a:t>
            </a:r>
          </a:p>
        </p:txBody>
      </p:sp>
      <p:sp>
        <p:nvSpPr>
          <p:cNvPr id="5" name="">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723900" y="26384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hierarchical-glass-overlaps</a:t>
            </a:r>
          </a:p>
        </p:txBody>
      </p:sp>
      <p:sp>
        <p:nvSpPr>
          <p:cNvPr id="6" name="">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723900" y="31718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insulating-mhd-duct</a:t>
            </a:r>
          </a:p>
        </p:txBody>
      </p:sp>
      <p:sp>
        <p:nvSpPr>
          <p:cNvPr id="7" name="">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723900" y="37052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magnetic-tracer</a:t>
            </a:r>
          </a:p>
        </p:txBody>
      </p:sp>
      <p:sp>
        <p:nvSpPr>
          <p:cNvPr id="8" name="">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723900" y="42386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reaction-diffusion</a:t>
            </a:r>
          </a:p>
        </p:txBody>
      </p:sp>
      <p:sp>
        <p:nvSpPr>
          <p:cNvPr id="9" name="">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723900" y="47720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ring-current-fluctuations</a:t>
            </a:r>
          </a:p>
        </p:txBody>
      </p:sp>
      <p:sp>
        <p:nvSpPr>
          <p:cNvPr id="10" name="">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24600" y="15716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rotating-reservoir</a:t>
            </a:r>
          </a:p>
        </p:txBody>
      </p:sp>
      <p:sp>
        <p:nvSpPr>
          <p:cNvPr id="11" name="">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24600" y="21050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single-file-memory</a:t>
            </a:r>
          </a:p>
        </p:txBody>
      </p:sp>
      <p:sp>
        <p:nvSpPr>
          <p:cNvPr id="12" name="">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24600" y="26384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superconducting-heat</a:t>
            </a:r>
          </a:p>
        </p:txBody>
      </p:sp>
      <p:sp>
        <p:nvSpPr>
          <p:cNvPr id="13" name="">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24600" y="31718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swirling-heat-tails</a:t>
            </a:r>
          </a:p>
        </p:txBody>
      </p:sp>
      <p:sp>
        <p:nvSpPr>
          <p:cNvPr id="14" name="">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24600" y="37052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hard-rod-current</a:t>
            </a:r>
          </a:p>
        </p:txBody>
      </p:sp>
      <p:sp>
        <p:nvSpPr>
          <p:cNvPr id="15" name="">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24600" y="42386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2B35"/>
                </a:solidFill>
                <a:latin typeface="Arial"/>
                <a:ea typeface="Arial"/>
                <a:cs typeface="Arial"/>
              </a:defRPr>
            </a:defPPr>
          </a:lstStyle>
          <a:p xmlns:a="http://schemas.openxmlformats.org/drawingml/2006/main">
            <a:pPr>
              <a:defRPr sz="2025" b="0">
                <a:solidFill>
                  <a:srgbClr val="182B35"/>
                </a:solidFill>
                <a:latin typeface="Arial"/>
                <a:ea typeface="Arial"/>
                <a:cs typeface="Arial"/>
              </a:defRPr>
            </a:pPr>
            <a:r>
              <a:rPr sz="2025" b="0">
                <a:solidFill>
                  <a:srgbClr val="182B35"/>
                </a:solidFill>
                <a:latin typeface="Arial"/>
                <a:ea typeface="Arial"/>
                <a:cs typeface="Arial"/>
              </a:rPr>
              <a:t>finite-ion-cloud</a:t>
            </a:r>
          </a:p>
        </p:txBody>
      </p:sp>
      <p:sp>
        <p:nvSpPr>
          <p:cNvPr id="16" name="">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628650" y="60388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96A73"/>
                </a:solidFill>
                <a:latin typeface="Arial"/>
                <a:ea typeface="Arial"/>
                <a:cs typeface="Arial"/>
              </a:defRPr>
            </a:defPPr>
          </a:lstStyle>
          <a:p xmlns:a="http://schemas.openxmlformats.org/drawingml/2006/main">
            <a:pPr>
              <a:defRPr sz="1275" b="0">
                <a:solidFill>
                  <a:srgbClr val="596A73"/>
                </a:solidFill>
                <a:latin typeface="Arial"/>
                <a:ea typeface="Arial"/>
                <a:cs typeface="Arial"/>
              </a:defRPr>
            </a:pPr>
            <a:r>
              <a:rPr sz="1275" b="0">
                <a:solidFill>
                  <a:srgbClr val="596A73"/>
                </a:solidFill>
                <a:latin typeface="Arial"/>
                <a:ea typeface="Arial"/>
                <a:cs typeface="Arial"/>
              </a:rPr>
              <a:t>Frozen snapshot: 34dedfbbd8ff. Task selection against GPT-5.6 Luna limits generalization to a broader physics population.</a:t>
            </a:r>
          </a:p>
        </p:txBody>
      </p:sp>
    </p:spTree>
    <p:extLst>
      <p:ext uri="{BB962C8B-B14F-4D97-AF65-F5344CB8AC3E}">
        <p14:creationId xmlns:p14="http://schemas.microsoft.com/office/powerpoint/2010/main" val="18281261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2026-10-15T02:08:59.9150000Z</dcterms:created>
  <dcterms:modified xsi:type="dcterms:W3CDTF">2026-10-15T02:08:59.9150000Z</dcterms:modified>
</coreProperties>
</file>